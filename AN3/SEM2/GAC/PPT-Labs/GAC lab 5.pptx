
<file path=[Content_Types].xml><?xml version="1.0" encoding="utf-8"?>
<Types xmlns="http://schemas.openxmlformats.org/package/2006/content-types">
  <Default Extension="gif" ContentType="image/gif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9"/>
  </p:notesMasterIdLst>
  <p:sldIdLst>
    <p:sldId id="256" r:id="rId2"/>
    <p:sldId id="296" r:id="rId3"/>
    <p:sldId id="257" r:id="rId4"/>
    <p:sldId id="403" r:id="rId5"/>
    <p:sldId id="258" r:id="rId6"/>
    <p:sldId id="260" r:id="rId7"/>
    <p:sldId id="404" r:id="rId8"/>
    <p:sldId id="405" r:id="rId9"/>
    <p:sldId id="406" r:id="rId10"/>
    <p:sldId id="418" r:id="rId11"/>
    <p:sldId id="416" r:id="rId12"/>
    <p:sldId id="420" r:id="rId13"/>
    <p:sldId id="417" r:id="rId14"/>
    <p:sldId id="261" r:id="rId15"/>
    <p:sldId id="263" r:id="rId16"/>
    <p:sldId id="408" r:id="rId17"/>
    <p:sldId id="410" r:id="rId18"/>
    <p:sldId id="407" r:id="rId19"/>
    <p:sldId id="267" r:id="rId20"/>
    <p:sldId id="412" r:id="rId21"/>
    <p:sldId id="411" r:id="rId22"/>
    <p:sldId id="419" r:id="rId23"/>
    <p:sldId id="265" r:id="rId24"/>
    <p:sldId id="266" r:id="rId25"/>
    <p:sldId id="264" r:id="rId26"/>
    <p:sldId id="424" r:id="rId27"/>
    <p:sldId id="268" r:id="rId28"/>
    <p:sldId id="421" r:id="rId29"/>
    <p:sldId id="422" r:id="rId30"/>
    <p:sldId id="274" r:id="rId31"/>
    <p:sldId id="318" r:id="rId32"/>
    <p:sldId id="396" r:id="rId33"/>
    <p:sldId id="413" r:id="rId34"/>
    <p:sldId id="397" r:id="rId35"/>
    <p:sldId id="414" r:id="rId36"/>
    <p:sldId id="398" r:id="rId37"/>
    <p:sldId id="423" r:id="rId3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1F3D4CF-906D-4A2B-A884-17E1ADF724F4}" v="30" dt="2024-09-14T18:53:25.73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002" autoAdjust="0"/>
    <p:restoredTop sz="94660"/>
  </p:normalViewPr>
  <p:slideViewPr>
    <p:cSldViewPr snapToGrid="0">
      <p:cViewPr>
        <p:scale>
          <a:sx n="50" d="100"/>
          <a:sy n="50" d="100"/>
        </p:scale>
        <p:origin x="1320" y="3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8T14:59:29.517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264 1 24575,'14'1'0,"1"0"0,-1 1 0,18 5 0,5 1 0,339 28 0,-269-28 0,457 1 0,-354-10 0,-206 1 0,4-1 0,1 2 0,0-1 0,0 1 0,14 3 0,-22-3 0,0-1 0,0 0 0,-1 0 0,1 1 0,0-1 0,0 0 0,0 1 0,-1-1 0,1 1 0,0-1 0,-1 1 0,1-1 0,-1 1 0,1 0 0,0-1 0,-1 1 0,1 0 0,-1-1 0,1 1 0,-1 0 0,0 0 0,1 1 0,-1 0 0,0-1 0,0 1 0,-1-1 0,1 1 0,0-1 0,-1 1 0,1-1 0,-1 1 0,0-1 0,1 1 0,-1-1 0,0 0 0,0 0 0,0 1 0,0-1 0,0 0 0,-2 2 0,-21 20 0,-1-1 0,0-1 0,-2-1 0,0-1 0,-41 21 0,-155 62 0,176-84 0,-1-2 0,-1-2 0,0-3 0,-1-1 0,0-3 0,0-1 0,-80-3 0,-475-6 0,406 4 0,334-2 0,469 20 0,-330 15 0,58 5 0,-221-35 0,-70-4 0,70 9 0,-109-9 0,0 0 0,-1 0 0,1 1 0,0-1 0,-1 0 0,1 1 0,0 0 0,-1-1 0,1 1 0,0 0 0,-1 0 0,1 0 0,-1 0 0,0 0 0,1 0 0,1 3 0,-3-4 0,0 0 0,1 1 0,-1-1 0,0 1 0,0-1 0,0 0 0,0 1 0,0-1 0,0 1 0,0-1 0,0 1 0,0-1 0,0 0 0,0 1 0,0-1 0,0 1 0,-1-1 0,1 0 0,0 1 0,0-1 0,0 1 0,-1-1 0,1 0 0,-1 1 0,-15 11 0,-3-3 0,-1-2 0,1-1 0,-2 0 0,-33 5 0,36-9 0,1 1 0,0 1 0,0 1 0,1 0 0,-1 1 0,1 1 0,-24 14 0,10 0 52,-79 49 221,91-60-611,1-1 0,-2-1 0,1-1 0,-30 8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8T14:59:35.58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 24575,'0'2'0,"0"4"0,0 2 0,0 6 0,0 2 0,0-2-8191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28T15:02:03.210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1,'902'0,"-872"1,38 7,-37-4,36 1,487-5,-438 9,-11 0,54 1,-73-3,-70-7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28T15:02:05.317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1,'1890'0,"-1874"0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28T15:02:10.580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0,'2050'0,"-2033"0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28T15:02:17.188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0,'1422'0,"-1408"0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28T15:02:20.685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29,'508'0,"-413"-7,3-1,8 1,2 0,947 8,-962 6,5 1,-87-9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8T15:02:23.463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 0,'2187'28'0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8T15:02:27.183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 0,'1722'13'0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28T15:02:46.940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1,'902'0,"-759"8,-20 1,558-7,-347-3,77 1,-396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8T15:02:50.799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 0,'2664'0'0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28T15:02:53.648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38,'529'0,"-374"-11,-65 3,-2 2,158-6,808 13,-577-2,-459 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28T15:02:57.460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1,'2657'0,"-2639"0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9T16:32:32.48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24 24575,'1'3'0,"0"0"0,1 0 0,-1 0 0,0 0 0,0 0 0,-1 1 0,1-1 0,-1 0 0,1 0 0,-1 6 0,0 6 0,-1-21 0,0-11 0,1 12 0,-1-1 0,1 1 0,0 0 0,0 0 0,1 0 0,1-8 0,2 49 0,-5-17 0,2 0 0,2-21 0,3-13 0,-2 5-455,-1-1 0,3-20 0,-4 15-6371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9T16:32:35.00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8 24575,'0'31'0,"0"32"0,17-91 0,-15 3 0,-2 21 0,0 0 0,0 0 0,1 1 0,-1-1 0,1 0 0,0 1 0,0-1 0,0 0 0,0 1 0,0-1 0,3-3 0,-4 42 0,-3 11 0,3-30 0,0-21 0,1-9 0,0 1 0,0 0 0,7-23 0,-6 98 0,-5-34 0,2-24 0,0-17 0,2-38-1365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9T16:32:38.54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19 24575,'0'52'0,"0"-33"0,0-27 0,0-52 0,0 42 0,0 15 0,0 6 0,0 104 0,0-189-1365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9T16:32:40.23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9 19 24575,'-1'2'0,"0"0"0,0 0 0,0 0 0,0 0 0,1 1 0,-1-1 0,0 0 0,1 0 0,0 0 0,-1 0 0,1 1 0,0 3 0,0-5 0,-1 21 0,2-38 0,-1-26 0,0 26 0,0 24 0,6 47-1365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9T16:32:41.69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 1 24575,'0'0'0,"-1"1"0,0 1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9T16:32:43.20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8 24575,'1'1'0,"0"1"0,0-1 0,0 1 0,0 0 0,0 0 0,-1-1 0,1 1 0,0 0 0,-1 0 0,0 0 0,1 0 0,-1 0 0,0 2 0,0 29 0,0-25 0,-1 13 0,3-38 0,-1 1-341,1 1 0,1-1-1,6-17 1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9T16:35:52.20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0 24575,'0'2'0,"1"3"0,0 2 0,0 1 0,0 1 0,0-1 0,0-1 0,-1 0 0,0 0 0,0-3 0,0-4 0,1-4 0,1-4 0,2-3 0,-1 0 0,0 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9T16:35:54.03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0 24575,'1'0'0,"1"2"0,-1 2 0,0 1 0,0 2 0,-1 2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9T16:35:58.43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7 0 24575,'-6'107'0,"5"-100"171,1-21 0,3-25-1878,-2 31-5119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9T16:36:00.54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 24575,'0'1'0,"0"1"0,0 3 0,0 1 0,0 0 0,0 1 0,0 0 0,0 0 0,0-1 0,0 0 0,0 0 0,0 0 0,0 0 0,0 0 0,0 0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8T16:48:43.749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1 24575,'0'0'-8191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8T16:48:44.311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1 24575,'0'0'-8191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8T16:48:45.13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0 24575,'0'0'-8191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8T16:48:53.762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0 657 24575,'1858'0'-1024,"-3029"0"2048,1253 0-1039,645-3-977,2-21 135,-551 14 835,980-68-405,-1090 72 427,112-24 0,-149 21 0,-31 9 0,0 0-1,1 0 1,-1 0-1,0 0 0,1 0 1,-1 0-1,0 0 1,0-1-1,1 1 0,-1 0 1,0 0-1,0 0 1,1 0-1,-1 0 0,0-1 1,0 1-1,0 0 1,1 0-1,-1 0 0,0-1 1,0 1-1,0 0 1,1 0-1,-1 0 0,0-1 1,0 1-1,0 0 1,0-1-1,0 1 0,0 0 1,0 0-1,0-1 1,0 1-1,-9-4-20,-19 1 226,-397 3 1161,100 1-583,512 0-783,37-1 0,67 0-164,394-2-1496,797 4-1970,-1415-1 3498,-19-2 125,1 2 0,88 14-1,-136-15 8,1 0 0,-1 1 0,0-1 0,1 0 0,-1 1 0,1-1 0,-1 1 0,0 0 0,1-1 0,-1 1 0,0 0 0,3 2 0,-4-3 0,0 0 0,0 0 0,0 1 0,0-1 0,0 0 0,0 1 0,0-1 0,0 0 0,0 1 0,0-1 0,0 0 0,0 0 0,-1 1 0,1-1 0,0 0 0,0 0 0,0 1 0,0-1 0,0 0 0,-1 0 0,1 1 0,0-1 0,0 0 0,-1 0 0,1 0 0,0 1 0,0-1 0,-1 0 0,1 0 0,0 0 0,0 0 0,-1 0 0,1 1 0,0-1 0,-1 0 0,-37 12 0,-261 39 1495,220-40-1024,-91 10 1350,-335-3 0,505-18-1821,0 0 0,0-1 0,0 1 0,0 0 0,0 0 0,0 0 0,0 0 0,1 0 0,-1 0 0,0-1 0,0 1 0,0 0 0,0 0 0,0 0 0,0 0 0,0-1 0,0 1 0,0 0 0,0 0 0,0 0 0,0 0 0,0 0 0,0-1 0,0 1 0,0 0 0,0 0 0,0 0 0,0 0 0,0-1 0,0 1 0,0 0 0,0 0 0,0 0 0,0 0 0,-1 0 0,1-1 0,0 1 0,0 0 0,0 0 0,0 0 0,0 0 0,0 0 0,0 0 0,-1 0 0,1 0 0,0-1 0,0 1 0,0 0 0,0 0 0,0 0 0,-1 0 0,22-11 0,28-9 0,0 2 0,54-13 0,111-13 0,-167 36 0,1 3 0,54-1 0,-97 6 0,-1 0 0,0 0 0,1 1 0,-1 0 0,1-1 0,-1 2 0,0-1 0,1 0 0,-1 1 0,0 0 0,5 2 0,-7-2 0,-1-1 0,1 1 0,0 0 0,0 0 0,-1-1 0,1 1 0,-1 0 0,0 0 0,1 0 0,-1 1 0,0-1 0,0 0 0,-1 0 0,1 0 0,0 1 0,-1-1 0,1 1 0,-1-1 0,0 0 0,1 1 0,-2 2 0,1 10 0,-2 0 0,0 0 0,0 0 0,-2 0 0,0-1 0,-10 26 0,-2-5 0,-30 49 0,16-37 0,12-20 0,1 1 0,2 1 0,-16 39 0,21-36 0,1 1 0,2-1 0,1 2 0,-1 42 0,5 136 0,4-153 0,-2-50 0,0-4 0,1 0 0,-1 0 0,-1 0 0,1 0 0,-3 10 0,3-15 0,0 1 0,0-1 0,0 0 0,0 1 0,-1-1 0,1 0 0,0 1 0,0-1 0,0 0 0,-1 1 0,1-1 0,0 0 0,0 0 0,-1 1 0,1-1 0,0 0 0,-1 0 0,1 1 0,0-1 0,-1 0 0,1 0 0,0 0 0,-1 0 0,1 0 0,-1 0 0,1 1 0,0-1 0,-1 0 0,1 0 0,0 0 0,-1 0 0,-1-1 0,0 0 0,1 1 0,-1-1 0,1 0 0,-1 0 0,1 0 0,-1 0 0,1 0 0,-1 0 0,1 0 0,-2-3 0,-14-16 0,1-1 0,1 0 0,0-1 0,2-1 0,-16-36 0,6 12 0,-304-584 0,313 605 0,-1 0 0,-1 0 0,-21-25 0,35 49 0,1 0 0,-1 1 0,1-1 0,-1 1 0,1-1 0,-1 1 0,0 0 0,0 0 0,0 0 0,0 0 0,0 0 0,0 0 0,0 0 0,0 0 0,-3 0 0,4 1 0,0 0 0,-1 0 0,1 1 0,0-1 0,0 0 0,0 1 0,-1-1 0,1 0 0,0 1 0,0-1 0,0 1 0,0 0 0,0-1 0,0 1 0,0 0 0,0 0 0,0-1 0,0 1 0,1 0 0,-2 1 0,-2 4 0,1 0 0,0 1 0,0-1 0,0 0 0,1 1 0,0 0 0,-3 12 0,-2 25 0,1 0 0,1 59 0,10 94 0,0-80 0,-5-103 0,0 1 0,1-29 0,0-16 0,25-347 0,-13 227 0,3-8 0,43-192 0,-57 341 0,-1 5 0,0 0 0,0-1 0,0 1 0,0 0 0,1 0 0,3-6 0,-5 9 0,0 1 0,1-1 0,-1 1 0,0 0 0,1-1 0,-1 1 0,0 0 0,1 0 0,-1-1 0,0 1 0,1 0 0,-1 0 0,1 0 0,-1-1 0,0 1 0,1 0 0,-1 0 0,1 0 0,-1 0 0,1 0 0,-1 0 0,0 0 0,1 0 0,-1 0 0,1 0 0,0 0 0,0 1 0,1-1 0,-1 1 0,1 0 0,-1 0 0,0 0 0,1 0 0,-1 0 0,0 0 0,0 0 0,0 0 0,2 3 0,17 25 0,-2 1 0,-1 0 0,17 44 0,-18-41 0,180 417 6,-125-283-176,235 664-1352,-302-814 1522,-4-17 0,0 0 0,0 0 0,0 0 0,0 0 0,0 0 0,0 0 0,0 0 0,0 0 0,0 0 0,0 0 0,0 0 0,0 0 0,0 0 0,0 0 0,0 0 0,0 0 0,-1 0 0,1 0 0,0 0 0,0 0 0,0 0 0,0 0 0,0 0 0,0 0 0,0 0 0,0 0 0,0 0 0,0 0 0,0 0 0,0 0 0,0 0 0,0 0 0,0 0 0,0 0 0,0 0 0,0 0 0,-1 0 0,1 0 0,0 0 0,0 0 0,0 0 0,0 0 0,0 1 0,0-1 0,0 0 0,0 0 0,0 0 0,0 0 0,0 0 0,0 0 0,-14-25 0,10 18 0,-164-323 248,-166-292 406,278 536-654,52 81 0,0-1 0,0 1 0,0 0 0,-10-8 0,14 13 0,-1-1 0,1 1 0,0 0 0,0 0 0,0 0 0,-1 0 0,1 0 0,0-1 0,0 1 0,-1 0 0,1 0 0,0 0 0,-1 0 0,1 0 0,0 0 0,0 0 0,-1 0 0,1 0 0,0 0 0,0 0 0,-1 0 0,1 0 0,0 0 0,0 0 0,-1 1 0,1-1 0,0 0 0,0 0 0,-1 0 0,1 0 0,0 0 0,0 0 0,-1 1 0,1-1 0,0 0 0,0 0 0,0 0 0,-1 1 0,1-1 0,0 0 0,0 0 0,0 1 0,0-1 0,0 0 0,0 0 0,0 1 0,-1-1 0,1 0 0,0 0 0,0 1 0,0-1 0,0 0 0,0 1 0,0-1 0,0 0 0,0 1 0,0 5 17,0 1 0,0-1 0,0 1 1,0-1-1,1 0 0,3 13 0,16 44 256,-5-12-13,-14-50-251,6 24 22,-1 0-1,-2 1 1,3 50-1,-9-73-30,-2-7 0,-4-11 0,-4-19-1365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8T16:48:57.285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0 245 24575,'3'0'0,"0"1"0,-1 0 0,1 0 0,0 0 0,-1 0 0,1 0 0,-1 1 0,3 1 0,8 4 0,203 78 0,-182-75 0,1-1 0,0-1 0,1-2 0,51 2 0,338-8 0,-189-2 0,-126 4 0,124-5 0,-102-18 0,-44 4 0,212-25 0,29 13 0,-107 14 0,581-130 0,-709 122 0,137-27 0,-124 36 0,111-1 0,112 15 0,-143 2 0,656-2 0,-2489 0 0,1352-17-1365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8T16:48:48.002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0 376 24575,'154'7'0,"222"39"0,-207-22 0,-11-2-121,470 52-1020,195-42 286,1-34-389,-538 0 900,679 0 4049,-1174-1-3705,-351-49 0,-666-124-983,73 74-319,1053 95 1275,-133-26 0,48-2 234,-25-4 569,193 32 154,39 3-566,117 2-296,-95 2-74,284 0-212,1762 4-4479,-34 43-218,-1916-41 4024,-128-6 774,19 3-29,-60 0 864,-613 45 4159,222-52-2627,-540-76-1,883 70-2249,-308-54 0,371 61 37,0-2 0,0 0 0,-14-6 0,27 10-22,0 1-1,0-1 0,0 1 0,0-1 0,0 1 1,0-1-1,0 0 0,0 1 0,0-1 0,1 0 0,-1 0 1,0 1-1,0-1 0,1 0 0,-1 0 0,0-2 1,1 3-7,0-1 1,0 1-1,0-1 1,0 1 0,0 0-1,0-1 1,0 1-1,0-1 1,1 1 0,-1-1-1,0 1 1,0 0-1,1-1 1,-1 1 0,0 0-1,0-1 1,1 1 0,-1 0-1,0-1 1,1 1-1,-1 0 1,0 0 0,1-1-1,-1 1 1,1 0-1,-1 0 1,1-1 0,4-1 43,1 0-1,-1 1 1,1-1 0,11-1 0,92-6-132,167 8 0,-178 3-1125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8T16:48:50.007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240 488 24575,'0'-1'0,"1"0"0,-1 1 0,0-1 0,1 0 0,-1 0 0,1 0 0,-1 0 0,1 1 0,-1-1 0,1 0 0,0 1 0,-1-1 0,1 0 0,0 1 0,-1-1 0,1 1 0,0-1 0,0 1 0,0-1 0,-1 1 0,1-1 0,0 1 0,0 0 0,0 0 0,1-1 0,0 1 0,15-6 0,1 1 0,1 1 0,-1 1 0,31-2 0,-45 5 0,640-19-648,-497 19 340,542 1-600,139 0 966,-1028 7-58,38 0 0,-1105 2-162,369-8 149,779 3 13,113-4 0,1-1 0,-1 1 0,1 0 0,-1 0 0,1 1 0,-6 2 0,11-4 0,0 0 0,-1 0 0,1 0 0,0 0 0,0 0 0,0 0 0,0 0 0,0 0 0,0 0 0,0 1 0,0-1 0,-1 0 0,1 0 0,0 0 0,0 0 0,0 0 0,0 1 0,0-1 0,0 0 0,0 0 0,0 0 0,0 0 0,0 0 0,0 1 0,0-1 0,0 0 0,0 0 0,0 0 0,0 0 0,0 0 0,0 1 0,0-1 0,0 0 0,0 0 0,0 0 0,0 0 0,0 0 0,1 1 0,-1-1 0,0 0 0,0 0 0,0 0 0,0 0 0,0 0 0,0 0 0,0 0 0,1 0 0,-1 1 0,0-1 0,0 0 0,0 0 0,0 0 0,0 0 0,0 0 0,1 0 0,-1 0 0,0 0 0,0 0 0,0 0 0,27 7 0,50 3 0,87-1 0,-147-8 0,205 5-164,1654 0-3461,-1214-8 2206,-178 3 1013,408-3 1538,-1443-19 4611,78-29-5023,376 36-720,93 13 0,1 1 0,-1-1 0,1 0 0,-1 0 0,1-1 0,-1 1 0,1 0 0,0-1 0,-5-3 0,8 5 0,0-1 0,0 1 0,0 0 0,0 0 0,-1-1 0,1 1 0,0 0 0,0 0 0,0-1 0,0 1 0,0 0 0,0 0 0,0-1 0,0 1 0,0 0 0,0 0 0,0-1 0,0 1 0,1 0 0,-1 0 0,0 0 0,0-1 0,0 1 0,0 0 0,0 0 0,0 0 0,1-1 0,-1 1 0,0 0 0,0 0 0,0 0 0,0-1 0,1 1 0,-1 0 0,0 0 0,0 0 0,0 0 0,1 0 0,-1 0 0,0 0 0,0-1 0,1 1 0,28-8 0,88-6 0,85-3 0,81 0-164,72 2-655,810-11-1794,-191 6-672,-890 16 2299,-677 2 5848,286 4-4102,28 0-429,-365-6 203,485-9-482,148 12-11,-1-1 0,1 0 0,-1 0 0,-20-9 0,31 11-40,1 0 0,0 0 0,0 0 0,-1-1 0,1 1-1,0 0 1,0 0 0,0 0 0,-1 0 0,1 0 0,0 0-1,0 0 1,0-1 0,0 1 0,-1 0 0,1 0 0,0 0-1,0 0 1,0-1 0,0 1 0,0 0 0,0 0 0,0 0-1,-1-1 1,1 1 0,0 0 0,0 0 0,0-1 0,0 1-1,0 0 1,0 0 0,0 0 0,0-1 0,0 1-1,0 0 1,0 0 0,0-1 0,0 1 0,0 0 0,1 0-1,-1 0 1,0-1 0,0 1 0,0 0 0,0 0 0,0 0-1,0-1 1,0 1 0,1 0 0,-1 0 0,0 0 0,0 0-1,0-1 1,25-8 6,104-12-7,97-4 0,79-1-164,1241-85-3602,-1246 93 2828,-83 3 261,-85 5 548,-85 4 88,-55 4 82,-26 2 123,-100 3 655,-83 4 66,-6 2-202,-1435 33 1016,2195-71-1535,-376 11 1563,-133 12-1211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8T16:49:04.46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602 615 24575,'0'4'0,"-1"1"0,0-1 0,0 0 0,-1 0 0,1 0 0,-1 0 0,0 0 0,0 0 0,-3 5 0,-6 12 0,4-1 0,1-1 0,1 1 0,1 0 0,1 0 0,0 1 0,2 39 0,5-43 0,-4-17 0,0 0 0,1 0 0,-1 0 0,0 0 0,0 1 0,0-1 0,1 0 0,-1 0 0,0 0 0,1 0 0,-1 0 0,0 0 0,0 0 0,1 0 0,-1 0 0,0 0 0,1 0 0,-1 0 0,0 0 0,0 0 0,1 0 0,-1 0 0,0 0 0,1 0 0,-1 0 0,0 0 0,0 0 0,1 0 0,-1 0 0,1-1 0,1-1 0,1 0 0,-1 0 0,0 0 0,1-1 0,-1 1 0,0-1 0,2-3 0,33-45 0,1 3 0,59-58 0,102-75 0,-195 177 0,5-4 0,0 1 0,0 0 0,18-10 0,-25 16 0,1-1 0,0 1 0,0 0 0,0 0 0,-1 1 0,1-1 0,0 0 0,0 1 0,0 0 0,0-1 0,0 1 0,0 1 0,0-1 0,0 0 0,0 1 0,0-1 0,0 1 0,0 0 0,4 2 0,3 2 0,0 1 0,0 0 0,-1 1 0,0 0 0,0 0 0,-1 1 0,0 0 0,0 0 0,-1 1 0,0 0 0,-1 1 0,0-1 0,0 1 0,-1 0 0,0 1 0,4 11 0,-2 2 0,0 0 0,-2 0 0,-1 1 0,-1-1 0,0 1 0,-3 34 0,0-57 0,0 1 0,1 0 0,-1-1 0,0 1 0,1 0 0,0-1 0,-1 1 0,1-1 0,0 1 0,0-1 0,1 1 0,-1-1 0,0 0 0,1 0 0,-1 1 0,1-1 0,0 0 0,0 0 0,0-1 0,0 1 0,0 0 0,0-1 0,0 1 0,1-1 0,-1 0 0,0 1 0,1-1 0,-1 0 0,1-1 0,-1 1 0,6 1 0,8 0 0,-1 0 0,1 0 0,-1-2 0,22-1 0,-21 1 0,63-3 0,-78 3 0,0 0 0,1 0 0,-1 0 0,1 0 0,-1 0 0,0 1 0,1-1 0,-1 0 0,0 1 0,1-1 0,-1 1 0,0-1 0,0 1 0,1 0 0,0 0 0,-2 0 0,1 0 0,-1 0 0,0-1 0,0 1 0,1 0 0,-1 0 0,0 0 0,0-1 0,0 1 0,0 0 0,0 0 0,0 0 0,0-1 0,-1 1 0,1 0 0,0 0 0,0 0 0,-1-1 0,1 1 0,0 0 0,-1 0 0,1-1 0,-1 1 0,1 0 0,0-1 0,-1 1 0,0-1 0,0 2 0,-7 8 0,-1 0 0,0-1 0,0 0 0,-19 14 0,-48 28 0,55-38 0,-37 23 0,-100 46 0,127-64 0,54-25 0,32-13 0,-11 3 0,155-56 0,215-76 0,-357 129 0,-42 14 0,-17 5 0,-24 7 0,26-6 0,-142 37 0,-183 37 0,196-58 0,0-6 0,-148-8 0,267-2 0,0-1 0,-1 0 0,1-1 0,0 0 0,0-1 0,-15-5 0,22 7 0,1 0 0,0 0 0,0 0 0,0 0 0,0-1 0,0 1 0,0-1 0,0 1 0,0-1 0,1 0 0,-1 1 0,1-1 0,-1 0 0,1 0 0,-1 0 0,1 0 0,0 0 0,0-1 0,0 1 0,1 0 0,-1 0 0,0-1 0,1 1 0,-1 0 0,1-1 0,0 1 0,0-1 0,0 1 0,0 0 0,0-1 0,1 1 0,0-4 0,0-1 0,1-1 0,1 0 0,-1 1 0,1 0 0,1-1 0,-1 1 0,1 1 0,1-1 0,4-6 0,-9 13 0,0-1 0,0 1 0,1 0 0,-1 0 0,0 0 0,0-1 0,0 1 0,1 0 0,-1 0 0,0 0 0,0-1 0,1 1 0,-1 0 0,0 0 0,0 0 0,1 0 0,-1 0 0,0 0 0,0-1 0,1 1 0,-1 0 0,0 0 0,1 0 0,-1 0 0,0 0 0,0 0 0,1 0 0,-1 0 0,0 0 0,1 1 0,-1-1 0,0 0 0,0 0 0,1 0 0,-1 0 0,0 0 0,0 0 0,1 1 0,-1-1 0,0 0 0,0 0 0,1 0 0,-1 0 0,0 1 0,0-1 0,0 0 0,1 0 0,-1 1 0,0-1 0,0 1 0,5 15 0,-5-15 0,4 26 0,-2-1 0,-2 1 0,0-1 0,-1 1 0,-2-1 0,-10 43 0,13-67 0,-1 5 0,-1 0 0,1 1 0,-2-1 0,1 0 0,-4 7 0,5-13 0,0 0 0,1 1 0,-1-1 0,0 0 0,0 0 0,0 0 0,0 0 0,0 0 0,0 0 0,0 0 0,0 0 0,-1 0 0,1 0 0,0 0 0,0-1 0,-1 1 0,1-1 0,-1 1 0,1-1 0,0 1 0,-1-1 0,1 0 0,-1 0 0,1 0 0,-1 0 0,1 0 0,-1 0 0,1 0 0,-1 0 0,1 0 0,-2-1 0,-9-4 0,1 0 0,1 0 0,-1-1 0,1 0 0,0-1 0,0 0 0,-13-13 0,19 17 0,-154-151 0,31 26 0,95 99 0,12 9 0,-2 1 0,0 1 0,-1 1 0,-44-25 0,63 40 0,0 0 0,-1 0 0,1 1 0,0-1 0,0 1 0,-1 0 0,1 0 0,-1 1 0,1-1 0,-1 1 0,1 0 0,-1 1 0,-7 0 0,9 0 0,-1 0 0,1 1 0,0-1 0,0 0 0,0 1 0,0 0 0,0 0 0,0 0 0,0 0 0,1 0 0,-1 1 0,1-1 0,0 1 0,-1 0 0,1-1 0,0 1 0,-2 5 0,-2 5 0,0 0 0,1 0 0,0 0 0,1 1 0,1-1 0,0 1 0,0 0 0,0 23 0,3-30 0,1 0 0,-1 0 0,1 1 0,0-1 0,1 0 0,0 0 0,0 0 0,3 7 0,-3-10 0,0 0 0,0 0 0,1 0 0,-1-1 0,1 1 0,0-1 0,0 0 0,0 1 0,0-1 0,1-1 0,-1 1 0,1 0 0,0-1 0,4 2 0,-7-3 0,1 0 0,-1 0 0,0-1 0,1 1 0,-1-1 0,1 1 0,-1-1 0,1 0 0,0 1 0,-1-1 0,1 0 0,-1 0 0,1 0 0,-1 0 0,1 0 0,0 0 0,-1-1 0,1 1 0,-1-1 0,1 1 0,-1-1 0,1 1 0,1-2 0,-1 0 0,0 1 0,-1-1 0,1 0 0,0 0 0,-1 0 0,1 0 0,-1 0 0,0 0 0,0-1 0,1 1 0,-2 0 0,1-1 0,1-2 0,1-9 0,-1 0 0,0 0 0,-1 0 0,0-17 0,-6-48 0,-3 1 0,-24-105 0,9 57 0,20 109 0,8 40 0,49 224 0,-41-202 0,1-1 0,3-1 0,32 64 0,-47-105 0,3 8 0,1-1 0,0 1 0,0-1 0,11 11 0,-16-19 0,0 0 0,-1 0 0,1 0 0,0 0 0,0-1 0,0 1 0,0 0 0,0 0 0,0-1 0,0 1 0,0-1 0,0 1 0,0-1 0,1 1 0,-1-1 0,0 0 0,0 0 0,0 1 0,1-1 0,-1 0 0,0 0 0,0 0 0,0 0 0,1 0 0,-1-1 0,0 1 0,0 0 0,0 0 0,1-1 0,-1 1 0,0-1 0,0 1 0,0-1 0,0 0 0,0 1 0,0-1 0,0 0 0,0 1 0,0-1 0,-1 0 0,1 0 0,0 0 0,0 0 0,-1 0 0,1 0 0,0 0 0,-1 0 0,1 0 0,-1 0 0,1-2 0,9-19 0,-1-1 0,10-34 0,-6 15 0,30-96 0,38-106 0,-59 189 0,2 0 0,39-65 0,-54 106 0,1 0 0,0 0 0,1 1 0,0 0 0,1 1 0,1 0 0,16-11 0,-23 18 0,0 1 0,0 0 0,1 0 0,-1 1 0,1 0 0,0 0 0,0 1 0,0 0 0,0 0 0,1 0 0,-1 1 0,0 0 0,1 1 0,-1-1 0,1 2 0,-1-1 0,1 1 0,12 3 0,-12-2 0,-1 1 0,-1 1 0,1-1 0,0 1 0,-1 0 0,0 1 0,0 0 0,0 0 0,-1 0 0,1 0 0,-1 1 0,5 8 0,9 12 0,23 44 0,-34-56 0,110 237 337,-16-29-2039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8T16:49:07.105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1 24575,'0'0'-8191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8T16:49:09.247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30 24575,'24'7'0,"1"-1"0,0 0 0,44 2 0,77-5 0,-100-3 0,39 2 0,-14 0 0,114-12 0,-161 5 0,1 0 0,24-10 0,-30 8 0,1 1 0,1 1 0,34-4 0,206 7 0,-125 5 0,549-4-1365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9T16:32:32.48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24 24575,'1'3'0,"0"0"0,1 0 0,-1 0 0,0 0 0,0 0 0,-1 1 0,1-1 0,-1 0 0,1 0 0,-1 6 0,0 6 0,-1-21 0,0-11 0,1 12 0,-1-1 0,1 1 0,0 0 0,0 0 0,1 0 0,1-8 0,2 49 0,-5-17 0,2 0 0,2-21 0,3-13 0,-2 5-455,-1-1 0,3-20 0,-4 15-6371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9T16:32:35.00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8 24575,'0'31'0,"0"32"0,17-91 0,-15 3 0,-2 21 0,0 0 0,0 0 0,1 1 0,-1-1 0,1 0 0,0 1 0,0-1 0,0 0 0,0 1 0,0-1 0,3-3 0,-4 42 0,-3 11 0,3-30 0,0-21 0,1-9 0,0 1 0,0 0 0,7-23 0,-6 98 0,-5-34 0,2-24 0,0-17 0,2-38-1365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9T16:32:38.54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19 24575,'0'52'0,"0"-33"0,0-27 0,0-52 0,0 42 0,0 15 0,0 6 0,0 104 0,0-189-1365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9T16:32:40.23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9 19 24575,'-1'2'0,"0"0"0,0 0 0,0 0 0,0 0 0,1 1 0,-1-1 0,0 0 0,1 0 0,0 0 0,-1 0 0,1 1 0,0 3 0,0-5 0,-1 21 0,2-38 0,-1-26 0,0 26 0,0 24 0,6 47-1365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9T16:32:41.69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 1 24575,'0'0'0,"-1"1"0,0 1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9T16:32:43.20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8 24575,'1'1'0,"0"1"0,0-1 0,0 1 0,0 0 0,0 0 0,-1-1 0,1 1 0,0 0 0,-1 0 0,0 0 0,1 0 0,-1 0 0,0 2 0,0 29 0,0-25 0,-1 13 0,3-38 0,-1 1-341,1 1 0,1-1-1,6-17 1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9T16:35:52.20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0 24575,'0'2'0,"1"3"0,0 2 0,0 1 0,0 1 0,0-1 0,0-1 0,-1 0 0,0 0 0,0-3 0,0-4 0,1-4 0,1-4 0,2-3 0,-1 0 0,0 0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9T16:35:54.03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0 24575,'1'0'0,"1"2"0,-1 2 0,0 1 0,0 2 0,-1 2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9T16:35:58.43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7 0 24575,'-6'107'0,"5"-100"171,1-21 0,3-25-1878,-2 31-5119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9T16:36:00.54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 24575,'0'1'0,"0"1"0,0 3 0,0 1 0,0 0 0,0 1 0,0 0 0,0 0 0,0-1 0,0 0 0,0 0 0,0 0 0,0 0 0,0 0 0,0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6C7FD6-3FE5-4A5F-960E-8984DBB8385E}" type="datetimeFigureOut">
              <a:rPr lang="ro-RO" smtClean="0"/>
              <a:t>27.03.2026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2FE60D-9D23-4696-9690-79486EB8BF94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3146973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0CD663-098D-96A9-5133-28EBC7C7C5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8765198-6FF8-C4B4-0EB1-B2F84401E6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8252265-70C8-CB2E-A404-2267F81CDA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6CE2E7-DA51-709E-5896-C29812D5B62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746883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B92DE1-A13A-9683-7C1F-74304AD6EB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81DDFB5-8C0C-FF22-6CA4-4A221975D0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B59D48-7BBC-D907-54B1-F7BC412B35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A420DD-7D48-DEFA-D39A-58BAECB2211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516861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697010-7F27-C36B-1A5F-DD78A936F2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AD5A77A-2B43-9C80-3C60-D6D67BD285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E55E61C-7498-1C31-F5BD-7C2B3EC631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DB02DE-0296-7898-2202-8BCBE56D77D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494950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DBAE06-7038-F27B-AEC7-7F9DC4D5AD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B42D02B-D2BC-14E5-CA6B-A029E9188C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3313E67-AF8E-B708-9B68-F01E32C22E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D6E339-77A4-C68D-DBB3-9907D3CA62B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134842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BFCBFD-040D-8893-6F92-ED088CC5CD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FAEE475-ECC3-0E39-67CC-C0080B284B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480DEAD-CD3E-34A6-661A-4FA9864FD3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4C6B57-5562-B826-0DE6-144B71E1F86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599678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BE9A69-3073-266D-8F90-A7D501CA24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3F54A3C-E2DE-D544-E092-C39B23AB90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2C02986-7169-BBEC-6487-94FFEF7F06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DC379B-EBCA-3EC8-B4A8-532B8023B64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533521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0F4709-75F3-7D14-361F-DE99A7BF18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A206D92-1C16-985D-3F1B-A7C0CA10DA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D0FF33E-04AA-FFAF-E754-1275BCE50E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D8F60A-ECF8-2FFA-0B4D-8FFF3834F33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107803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DF7964-2516-16CD-3538-940E3AF825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5748F74-EE69-8659-00B8-31D0E3535E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174DF3-7318-CB7B-0C64-C725830C9E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65F81F-6601-A56F-1C5C-75549FD6021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770157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07A713-F947-C4E3-6369-17570D23AB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F26959E-F302-32DF-1CC0-D83416264A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06D0EC2-BCC1-CAAC-76A5-5AFA4663ED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B541DC-DAFD-A2D4-049C-5A059E32D3D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175685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428179-041B-A8AB-292F-2FA1BDE2F6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6680C34-24DF-99B3-AF67-F641A15743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B5E17DF-CA4F-D359-A4EF-B2A9073735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DA7E3B-C95F-12C2-7847-1B6DDF7156C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425103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D13919-867F-1C4C-5801-3FB9487911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781CF0F-A030-DD4D-71E6-688CA84682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0FC5D0B-5849-F819-48B5-8989D1A0C8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76B3CB-0398-6EA0-3E27-284CCDD7EBA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091196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1F88C4-F297-E4FA-851F-3854D8DC27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4C3659-6630-9BEC-82D7-7F6EAEE1F3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A2E9538-3459-3860-89EF-A82D0A0D42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13CE1A-780F-DF82-F941-5CF095D68CA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495865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E678DA-749B-C01A-F272-627F589F18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BCD2454-C4FE-3714-E27C-0F845D104A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E037A13-30B3-F7B1-7ACB-E276DDE7F7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4712EC-3E33-0395-790E-78F44D8F71D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667582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26DC91-654C-6DD9-E159-719FAD7E1E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7305727-E638-0EFF-5BA2-3CB7420D68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F7E7D9F-EA5A-5F9D-5970-F05EEE7FF3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BA5477-5A80-23E9-825D-C021BCD5312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939024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4135B6-174F-9DC1-447A-E80CAF956B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190B3B8-4ED2-6E87-5D9E-87B1191065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DBBF9CE-54ED-E3D7-663B-6992FD6318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65FA9A-89D5-5176-043F-E4D8FAC76BA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932657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A54CF6-F725-F90F-8905-F8FD462938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9EB8E0F-434E-957C-62E0-44274AB928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9632896-A504-DEE8-703A-5F244C99EC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3B8615-0DD7-89C2-38BB-4451321D06B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589873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14B74C-F641-94E1-6CC4-C475EB70CC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48882CA-CC39-9116-AA0F-68BB2C2CA0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425BAC-CC0A-7127-4B3D-3E6EA9DECA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787CB5-88B2-5940-643C-17F18466E61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8933990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E27209-1573-7DB4-9C71-7B0E9ADEF5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AA70AA8-5AA3-6883-890B-550858BBA7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7BFBA66-02F2-C337-7867-686B9FEA7D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BAA29E-A931-6244-82E9-97085EE964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29928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893515-BFE0-7B25-7F0B-32260BB53F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608A0DC-5A8E-0E3C-3826-007CFBB152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51F19F-7538-6987-B450-FE2F5F6491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CDD99F-EB8C-4284-A1FF-6A8FAD5F29B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D55DCE-30C4-D761-DAF6-51D8B58AA3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BE2389-25DB-1FB6-513C-618A054F48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6FE916-C29D-4283-ABA6-E3D372BD3E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36930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0817A5-7342-D2E4-F868-8B47BB9F5D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2221C5-2045-1B0A-D2BF-188A2E61A3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79F058-BBFF-5CAB-CC6D-94D514C03B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CDD99F-EB8C-4284-A1FF-6A8FAD5F29B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6BEC2B-48AA-5F12-535B-67C035E936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3D0081-0992-0625-8D5E-D57F4461C4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6FE916-C29D-4283-ABA6-E3D372BD3E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2529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7659B8-49CB-3E76-C5E7-C5A92D2294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E7EAA7-2CA6-EEEA-6E6F-C44BFDA073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A3902E-C8D4-EAA7-81F7-10FFD5669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CDD99F-EB8C-4284-A1FF-6A8FAD5F29B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A22FB0-8B9A-CBF7-321C-481E1297B1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3B2E63-0C39-0A1B-3F07-0610ABD58A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6FE916-C29D-4283-ABA6-E3D372BD3E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26080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4E26B0-8F8B-3240-6C98-6C67E0A0A8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0137B1-03F3-BE84-95C9-758FAC90DD0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99A3D0-BF22-648C-3983-9974F8B3F1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CA61B3-6E35-B596-0872-114A25A5F5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CDD99F-EB8C-4284-A1FF-6A8FAD5F29B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14AEC8-0542-13AF-2BB3-4FF2BB0ACB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A2C0C5-0CFD-C094-3239-C54E5CE1E8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6FE916-C29D-4283-ABA6-E3D372BD3E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14129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057E4C-F6D0-33E9-7A8C-9FD77931BF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7B0CF4-609B-E0A1-FAC6-1BFED52477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9993A1-C36B-2A5A-3A20-88B716578B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0577821-B0A9-048E-3802-3C20DA9D475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2BF9B33-E74B-3ACC-8A14-DBC9A546236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4B4D3E6-EEF7-FC2E-6A9E-299F93884B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CDD99F-EB8C-4284-A1FF-6A8FAD5F29B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D3737C6-3E0F-3C05-A1D5-D3D812EABB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D214843-AFA6-1381-287E-7381AB6F4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6FE916-C29D-4283-ABA6-E3D372BD3E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09250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AA713A-C285-62F8-FF8B-2500E1E7E3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919304-A5D7-828B-DE08-29C2EFCBB7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CDD99F-EB8C-4284-A1FF-6A8FAD5F29B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AC68B91-ABE1-1264-FD5B-5A68D518B2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C852361-74D9-BD99-44F7-86366D3BFC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6FE916-C29D-4283-ABA6-E3D372BD3E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22760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0F187FC-EC45-E1B7-C765-E1CA042280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CDD99F-EB8C-4284-A1FF-6A8FAD5F29B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CC53A21-7D71-1EDA-2C2E-3163C4D9E1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99BD65-2A37-FBEA-AA7E-7DCC1CFFBB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6FE916-C29D-4283-ABA6-E3D372BD3E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76156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3D2B7B-8244-B427-632C-E4BADD2315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46EC17-4AB3-FE8C-37E2-549B311734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3B5036-D51E-C813-C4DC-42DBB9299D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086E1B-ED14-4DD8-D450-47796C8AE8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CDD99F-EB8C-4284-A1FF-6A8FAD5F29B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E2D815-945C-01E3-E522-3B1563533C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929CD3-3BCC-509E-7E18-FBE7BDCEFF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6FE916-C29D-4283-ABA6-E3D372BD3E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7366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6BDEE9-E1F2-A7B7-7387-D94579520D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0E8F011-B056-465D-D499-C91BAED175E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087D3A-793D-5493-E4AE-7E156CEBC8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0FD8F4-FE3E-2564-582F-D9ED561E57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CDD99F-EB8C-4284-A1FF-6A8FAD5F29B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217821-7F27-7B5B-F516-CDDD4D326B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F200FC-B01C-CD78-9585-59CD6F9E15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6FE916-C29D-4283-ABA6-E3D372BD3E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60206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AF3C79-6514-827E-9B05-D39301F284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71B4939-3A1C-7789-83ED-705872C7FA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CD7480-1B82-8DC5-F3A2-A2DD1CC13C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CDD99F-EB8C-4284-A1FF-6A8FAD5F29B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B32D53-7276-EB49-B3EF-D792631C1F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04F04F-B346-50FB-B677-4BFA12D0A2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6FE916-C29D-4283-ABA6-E3D372BD3E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30682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45FE6BE-0116-01AA-D59A-2998208A7EE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402BD1D-C6C5-78E2-FFAD-4B3A9F6FF0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5363ED-1E78-49E4-A0C5-08435E72A4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CDD99F-EB8C-4284-A1FF-6A8FAD5F29B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54C6DF-5541-FE0F-5366-C62807AC72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90F133-9AEA-AD29-1DB8-DBFC63D87B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6FE916-C29D-4283-ABA6-E3D372BD3E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0186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67648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0169C6A-2F2F-7DFF-F209-5978BE0813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1CD4C4-F7B9-F59A-6371-1D9137B3C1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007F3C-CEF5-246C-6364-3400EE320B6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CDD99F-EB8C-4284-A1FF-6A8FAD5F29B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EB2E7C-1B58-FF56-9254-13AC936CFC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7CFB4B-65BD-C19B-674C-8E8E05BD62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66FE916-C29D-4283-ABA6-E3D372BD3E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12464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1.png"/><Relationship Id="rId7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hyperlink" Target="https://huggingface.co/docs/diffusers/index" TargetMode="External"/><Relationship Id="rId11" Type="http://schemas.openxmlformats.org/officeDocument/2006/relationships/image" Target="../media/image8.png"/><Relationship Id="rId5" Type="http://schemas.openxmlformats.org/officeDocument/2006/relationships/image" Target="../media/image3.png"/><Relationship Id="rId10" Type="http://schemas.openxmlformats.org/officeDocument/2006/relationships/image" Target="../media/image7.png"/><Relationship Id="rId4" Type="http://schemas.openxmlformats.org/officeDocument/2006/relationships/image" Target="../media/image2.png"/><Relationship Id="rId9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customXml" Target="../ink/ink5.xml"/><Relationship Id="rId18" Type="http://schemas.openxmlformats.org/officeDocument/2006/relationships/image" Target="../media/image19.png"/><Relationship Id="rId26" Type="http://schemas.openxmlformats.org/officeDocument/2006/relationships/image" Target="../media/image23.png"/><Relationship Id="rId3" Type="http://schemas.openxmlformats.org/officeDocument/2006/relationships/image" Target="../media/image12.png"/><Relationship Id="rId21" Type="http://schemas.openxmlformats.org/officeDocument/2006/relationships/customXml" Target="../ink/ink9.xml"/><Relationship Id="rId7" Type="http://schemas.openxmlformats.org/officeDocument/2006/relationships/customXml" Target="../ink/ink2.xml"/><Relationship Id="rId12" Type="http://schemas.openxmlformats.org/officeDocument/2006/relationships/image" Target="../media/image16.png"/><Relationship Id="rId17" Type="http://schemas.openxmlformats.org/officeDocument/2006/relationships/customXml" Target="../ink/ink7.xml"/><Relationship Id="rId25" Type="http://schemas.openxmlformats.org/officeDocument/2006/relationships/customXml" Target="../ink/ink11.xml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18.png"/><Relationship Id="rId20" Type="http://schemas.openxmlformats.org/officeDocument/2006/relationships/image" Target="../media/image20.png"/><Relationship Id="rId29" Type="http://schemas.openxmlformats.org/officeDocument/2006/relationships/customXml" Target="../ink/ink1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3.png"/><Relationship Id="rId11" Type="http://schemas.openxmlformats.org/officeDocument/2006/relationships/customXml" Target="../ink/ink4.xml"/><Relationship Id="rId24" Type="http://schemas.openxmlformats.org/officeDocument/2006/relationships/image" Target="../media/image22.png"/><Relationship Id="rId5" Type="http://schemas.openxmlformats.org/officeDocument/2006/relationships/customXml" Target="../ink/ink1.xml"/><Relationship Id="rId15" Type="http://schemas.openxmlformats.org/officeDocument/2006/relationships/customXml" Target="../ink/ink6.xml"/><Relationship Id="rId23" Type="http://schemas.openxmlformats.org/officeDocument/2006/relationships/customXml" Target="../ink/ink10.xml"/><Relationship Id="rId28" Type="http://schemas.openxmlformats.org/officeDocument/2006/relationships/image" Target="../media/image24.png"/><Relationship Id="rId10" Type="http://schemas.openxmlformats.org/officeDocument/2006/relationships/image" Target="../media/image15.png"/><Relationship Id="rId19" Type="http://schemas.openxmlformats.org/officeDocument/2006/relationships/customXml" Target="../ink/ink8.xml"/><Relationship Id="rId31" Type="http://schemas.openxmlformats.org/officeDocument/2006/relationships/image" Target="../media/image26.png"/><Relationship Id="rId4" Type="http://schemas.openxmlformats.org/officeDocument/2006/relationships/image" Target="../media/image10.png"/><Relationship Id="rId9" Type="http://schemas.openxmlformats.org/officeDocument/2006/relationships/customXml" Target="../ink/ink3.xml"/><Relationship Id="rId14" Type="http://schemas.openxmlformats.org/officeDocument/2006/relationships/image" Target="../media/image17.png"/><Relationship Id="rId22" Type="http://schemas.openxmlformats.org/officeDocument/2006/relationships/image" Target="../media/image21.png"/><Relationship Id="rId27" Type="http://schemas.openxmlformats.org/officeDocument/2006/relationships/customXml" Target="../ink/ink12.xml"/><Relationship Id="rId30" Type="http://schemas.openxmlformats.org/officeDocument/2006/relationships/image" Target="../media/image2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gi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2207.12598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9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13" Type="http://schemas.openxmlformats.org/officeDocument/2006/relationships/customXml" Target="../ink/ink18.xml"/><Relationship Id="rId18" Type="http://schemas.openxmlformats.org/officeDocument/2006/relationships/image" Target="../media/image36.png"/><Relationship Id="rId26" Type="http://schemas.openxmlformats.org/officeDocument/2006/relationships/image" Target="../media/image41.png"/><Relationship Id="rId3" Type="http://schemas.openxmlformats.org/officeDocument/2006/relationships/image" Target="../media/image2.png"/><Relationship Id="rId21" Type="http://schemas.openxmlformats.org/officeDocument/2006/relationships/customXml" Target="../ink/ink22.xml"/><Relationship Id="rId7" Type="http://schemas.openxmlformats.org/officeDocument/2006/relationships/customXml" Target="../ink/ink15.xml"/><Relationship Id="rId12" Type="http://schemas.openxmlformats.org/officeDocument/2006/relationships/image" Target="../media/image33.png"/><Relationship Id="rId17" Type="http://schemas.openxmlformats.org/officeDocument/2006/relationships/customXml" Target="../ink/ink20.xml"/><Relationship Id="rId25" Type="http://schemas.openxmlformats.org/officeDocument/2006/relationships/image" Target="../media/image40.png"/><Relationship Id="rId2" Type="http://schemas.openxmlformats.org/officeDocument/2006/relationships/notesSlide" Target="../notesSlides/notesSlide11.xml"/><Relationship Id="rId16" Type="http://schemas.openxmlformats.org/officeDocument/2006/relationships/image" Target="../media/image35.png"/><Relationship Id="rId20" Type="http://schemas.openxmlformats.org/officeDocument/2006/relationships/image" Target="../media/image37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0.png"/><Relationship Id="rId11" Type="http://schemas.openxmlformats.org/officeDocument/2006/relationships/customXml" Target="../ink/ink17.xml"/><Relationship Id="rId24" Type="http://schemas.openxmlformats.org/officeDocument/2006/relationships/image" Target="../media/image39.png"/><Relationship Id="rId5" Type="http://schemas.openxmlformats.org/officeDocument/2006/relationships/customXml" Target="../ink/ink14.xml"/><Relationship Id="rId15" Type="http://schemas.openxmlformats.org/officeDocument/2006/relationships/customXml" Target="../ink/ink19.xml"/><Relationship Id="rId23" Type="http://schemas.openxmlformats.org/officeDocument/2006/relationships/customXml" Target="../ink/ink23.xml"/><Relationship Id="rId10" Type="http://schemas.openxmlformats.org/officeDocument/2006/relationships/image" Target="../media/image32.png"/><Relationship Id="rId19" Type="http://schemas.openxmlformats.org/officeDocument/2006/relationships/customXml" Target="../ink/ink21.xml"/><Relationship Id="rId4" Type="http://schemas.openxmlformats.org/officeDocument/2006/relationships/image" Target="../media/image1.png"/><Relationship Id="rId9" Type="http://schemas.openxmlformats.org/officeDocument/2006/relationships/customXml" Target="../ink/ink16.xml"/><Relationship Id="rId14" Type="http://schemas.openxmlformats.org/officeDocument/2006/relationships/image" Target="../media/image34.png"/><Relationship Id="rId22" Type="http://schemas.openxmlformats.org/officeDocument/2006/relationships/image" Target="../media/image38.png"/><Relationship Id="rId27" Type="http://schemas.openxmlformats.org/officeDocument/2006/relationships/image" Target="../media/image42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gif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9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customXml" Target="../ink/ink27.xml"/><Relationship Id="rId13" Type="http://schemas.openxmlformats.org/officeDocument/2006/relationships/image" Target="../media/image49.png"/><Relationship Id="rId18" Type="http://schemas.openxmlformats.org/officeDocument/2006/relationships/customXml" Target="../ink/ink32.xml"/><Relationship Id="rId3" Type="http://schemas.openxmlformats.org/officeDocument/2006/relationships/image" Target="../media/image45.png"/><Relationship Id="rId7" Type="http://schemas.openxmlformats.org/officeDocument/2006/relationships/customXml" Target="../ink/ink26.xml"/><Relationship Id="rId12" Type="http://schemas.openxmlformats.org/officeDocument/2006/relationships/customXml" Target="../ink/ink29.xml"/><Relationship Id="rId17" Type="http://schemas.openxmlformats.org/officeDocument/2006/relationships/image" Target="../media/image51.png"/><Relationship Id="rId2" Type="http://schemas.openxmlformats.org/officeDocument/2006/relationships/notesSlide" Target="../notesSlides/notesSlide18.xml"/><Relationship Id="rId16" Type="http://schemas.openxmlformats.org/officeDocument/2006/relationships/customXml" Target="../ink/ink31.xml"/><Relationship Id="rId20" Type="http://schemas.openxmlformats.org/officeDocument/2006/relationships/image" Target="../media/image52.png"/><Relationship Id="rId1" Type="http://schemas.openxmlformats.org/officeDocument/2006/relationships/slideLayout" Target="../slideLayouts/slideLayout12.xml"/><Relationship Id="rId6" Type="http://schemas.openxmlformats.org/officeDocument/2006/relationships/customXml" Target="../ink/ink25.xml"/><Relationship Id="rId11" Type="http://schemas.openxmlformats.org/officeDocument/2006/relationships/image" Target="../media/image48.png"/><Relationship Id="rId5" Type="http://schemas.openxmlformats.org/officeDocument/2006/relationships/image" Target="../media/image46.png"/><Relationship Id="rId15" Type="http://schemas.openxmlformats.org/officeDocument/2006/relationships/image" Target="../media/image50.png"/><Relationship Id="rId10" Type="http://schemas.openxmlformats.org/officeDocument/2006/relationships/customXml" Target="../ink/ink28.xml"/><Relationship Id="rId19" Type="http://schemas.openxmlformats.org/officeDocument/2006/relationships/customXml" Target="../ink/ink33.xml"/><Relationship Id="rId4" Type="http://schemas.openxmlformats.org/officeDocument/2006/relationships/customXml" Target="../ink/ink24.xml"/><Relationship Id="rId9" Type="http://schemas.openxmlformats.org/officeDocument/2006/relationships/image" Target="../media/image47.png"/><Relationship Id="rId14" Type="http://schemas.openxmlformats.org/officeDocument/2006/relationships/customXml" Target="../ink/ink30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55.png"/><Relationship Id="rId4" Type="http://schemas.openxmlformats.org/officeDocument/2006/relationships/notesSlide" Target="../notesSlides/notesSlide2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13" Type="http://schemas.openxmlformats.org/officeDocument/2006/relationships/customXml" Target="../ink/ink38.xml"/><Relationship Id="rId18" Type="http://schemas.openxmlformats.org/officeDocument/2006/relationships/image" Target="../media/image36.png"/><Relationship Id="rId26" Type="http://schemas.openxmlformats.org/officeDocument/2006/relationships/image" Target="../media/image41.png"/><Relationship Id="rId3" Type="http://schemas.openxmlformats.org/officeDocument/2006/relationships/image" Target="../media/image2.png"/><Relationship Id="rId21" Type="http://schemas.openxmlformats.org/officeDocument/2006/relationships/customXml" Target="../ink/ink42.xml"/><Relationship Id="rId7" Type="http://schemas.openxmlformats.org/officeDocument/2006/relationships/customXml" Target="../ink/ink35.xml"/><Relationship Id="rId12" Type="http://schemas.openxmlformats.org/officeDocument/2006/relationships/image" Target="../media/image33.png"/><Relationship Id="rId17" Type="http://schemas.openxmlformats.org/officeDocument/2006/relationships/customXml" Target="../ink/ink40.xml"/><Relationship Id="rId25" Type="http://schemas.openxmlformats.org/officeDocument/2006/relationships/image" Target="../media/image40.png"/><Relationship Id="rId2" Type="http://schemas.openxmlformats.org/officeDocument/2006/relationships/notesSlide" Target="../notesSlides/notesSlide25.xml"/><Relationship Id="rId16" Type="http://schemas.openxmlformats.org/officeDocument/2006/relationships/image" Target="../media/image35.png"/><Relationship Id="rId20" Type="http://schemas.openxmlformats.org/officeDocument/2006/relationships/image" Target="../media/image37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0.png"/><Relationship Id="rId11" Type="http://schemas.openxmlformats.org/officeDocument/2006/relationships/customXml" Target="../ink/ink37.xml"/><Relationship Id="rId24" Type="http://schemas.openxmlformats.org/officeDocument/2006/relationships/image" Target="../media/image39.png"/><Relationship Id="rId5" Type="http://schemas.openxmlformats.org/officeDocument/2006/relationships/customXml" Target="../ink/ink34.xml"/><Relationship Id="rId15" Type="http://schemas.openxmlformats.org/officeDocument/2006/relationships/customXml" Target="../ink/ink39.xml"/><Relationship Id="rId23" Type="http://schemas.openxmlformats.org/officeDocument/2006/relationships/customXml" Target="../ink/ink43.xml"/><Relationship Id="rId10" Type="http://schemas.openxmlformats.org/officeDocument/2006/relationships/image" Target="../media/image32.png"/><Relationship Id="rId19" Type="http://schemas.openxmlformats.org/officeDocument/2006/relationships/customXml" Target="../ink/ink41.xml"/><Relationship Id="rId4" Type="http://schemas.openxmlformats.org/officeDocument/2006/relationships/image" Target="../media/image1.png"/><Relationship Id="rId9" Type="http://schemas.openxmlformats.org/officeDocument/2006/relationships/customXml" Target="../ink/ink36.xml"/><Relationship Id="rId14" Type="http://schemas.openxmlformats.org/officeDocument/2006/relationships/image" Target="../media/image34.png"/><Relationship Id="rId22" Type="http://schemas.openxmlformats.org/officeDocument/2006/relationships/image" Target="../media/image38.png"/><Relationship Id="rId27" Type="http://schemas.openxmlformats.org/officeDocument/2006/relationships/image" Target="../media/image4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8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jpe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CA87E9-1A2B-E074-95D6-F62A25193F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297880" cy="2387600"/>
          </a:xfrm>
        </p:spPr>
        <p:txBody>
          <a:bodyPr/>
          <a:lstStyle/>
          <a:p>
            <a:r>
              <a:rPr lang="en-US" dirty="0" err="1"/>
              <a:t>Grafică</a:t>
            </a:r>
            <a:r>
              <a:rPr lang="en-US" dirty="0"/>
              <a:t> </a:t>
            </a:r>
            <a:r>
              <a:rPr lang="en-US" dirty="0" err="1"/>
              <a:t>asistată</a:t>
            </a:r>
            <a:r>
              <a:rPr lang="en-US" dirty="0"/>
              <a:t> de calculator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C37E701-8695-5CB0-A905-07547C6513F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/>
              <a:t>Laborator</a:t>
            </a:r>
            <a:r>
              <a:rPr lang="en-US" dirty="0"/>
              <a:t> – Grigore </a:t>
            </a:r>
            <a:r>
              <a:rPr lang="en-US" dirty="0" err="1"/>
              <a:t>Ionuț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46443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853440" y="975360"/>
            <a:ext cx="85344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Laboratory 5</a:t>
            </a:r>
            <a:endParaRPr lang="en-US" sz="2800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853440" y="1524000"/>
            <a:ext cx="9144000" cy="2682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6133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What</a:t>
            </a:r>
          </a:p>
          <a:p>
            <a:r>
              <a:rPr lang="en-US" sz="6133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 to Generate</a:t>
            </a:r>
          </a:p>
          <a:p>
            <a:r>
              <a:rPr lang="en-US" sz="6133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Diffusion Models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7536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87680" y="170688"/>
            <a:ext cx="1121664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933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Overview</a:t>
            </a:r>
            <a:endParaRPr lang="en-US" sz="2933" dirty="0"/>
          </a:p>
        </p:txBody>
      </p:sp>
      <p:sp>
        <p:nvSpPr>
          <p:cNvPr id="4" name="Shape 2"/>
          <p:cNvSpPr/>
          <p:nvPr/>
        </p:nvSpPr>
        <p:spPr>
          <a:xfrm>
            <a:off x="463296" y="999744"/>
            <a:ext cx="5559552" cy="1633728"/>
          </a:xfrm>
          <a:prstGeom prst="rect">
            <a:avLst/>
          </a:prstGeom>
          <a:solidFill>
            <a:srgbClr val="FFFFFF"/>
          </a:solidFill>
          <a:ln w="6350">
            <a:solidFill>
              <a:srgbClr val="D0D9E8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63296" y="999744"/>
            <a:ext cx="877824" cy="163372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63296" y="999744"/>
            <a:ext cx="877824" cy="1633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9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933" dirty="0"/>
          </a:p>
        </p:txBody>
      </p:sp>
      <p:sp>
        <p:nvSpPr>
          <p:cNvPr id="7" name="Text 5"/>
          <p:cNvSpPr/>
          <p:nvPr/>
        </p:nvSpPr>
        <p:spPr>
          <a:xfrm>
            <a:off x="1487424" y="1146048"/>
            <a:ext cx="4389120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33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Inputs</a:t>
            </a:r>
          </a:p>
        </p:txBody>
      </p:sp>
      <p:sp>
        <p:nvSpPr>
          <p:cNvPr id="8" name="Text 6"/>
          <p:cNvSpPr/>
          <p:nvPr/>
        </p:nvSpPr>
        <p:spPr>
          <a:xfrm>
            <a:off x="1487424" y="1609344"/>
            <a:ext cx="438912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67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 time steps and class labels into vector embeddings for the U-Net</a:t>
            </a:r>
          </a:p>
        </p:txBody>
      </p:sp>
      <p:sp>
        <p:nvSpPr>
          <p:cNvPr id="9" name="Shape 7"/>
          <p:cNvSpPr/>
          <p:nvPr/>
        </p:nvSpPr>
        <p:spPr>
          <a:xfrm>
            <a:off x="6339840" y="999744"/>
            <a:ext cx="5559552" cy="1633728"/>
          </a:xfrm>
          <a:prstGeom prst="rect">
            <a:avLst/>
          </a:prstGeom>
          <a:solidFill>
            <a:srgbClr val="FFFFFF"/>
          </a:solidFill>
          <a:ln w="6350">
            <a:solidFill>
              <a:srgbClr val="D0D9E8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339840" y="999744"/>
            <a:ext cx="877824" cy="163372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39840" y="999744"/>
            <a:ext cx="877824" cy="1633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9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933" dirty="0"/>
          </a:p>
        </p:txBody>
      </p:sp>
      <p:sp>
        <p:nvSpPr>
          <p:cNvPr id="12" name="Text 10"/>
          <p:cNvSpPr/>
          <p:nvPr/>
        </p:nvSpPr>
        <p:spPr>
          <a:xfrm>
            <a:off x="7363968" y="1146048"/>
            <a:ext cx="4389120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33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U-Net from Scratch</a:t>
            </a:r>
          </a:p>
        </p:txBody>
      </p:sp>
      <p:sp>
        <p:nvSpPr>
          <p:cNvPr id="13" name="Text 11"/>
          <p:cNvSpPr/>
          <p:nvPr/>
        </p:nvSpPr>
        <p:spPr>
          <a:xfrm>
            <a:off x="7363968" y="1609344"/>
            <a:ext cx="438912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67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 the encoder, decoder and skip connections from scratch — understanding each piece.</a:t>
            </a:r>
          </a:p>
        </p:txBody>
      </p:sp>
      <p:sp>
        <p:nvSpPr>
          <p:cNvPr id="14" name="Shape 12"/>
          <p:cNvSpPr/>
          <p:nvPr/>
        </p:nvSpPr>
        <p:spPr>
          <a:xfrm>
            <a:off x="463296" y="2852928"/>
            <a:ext cx="5559552" cy="1633728"/>
          </a:xfrm>
          <a:prstGeom prst="rect">
            <a:avLst/>
          </a:prstGeom>
          <a:solidFill>
            <a:srgbClr val="FFFFFF"/>
          </a:solidFill>
          <a:ln w="6350">
            <a:solidFill>
              <a:srgbClr val="D0D9E8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3296" y="2852928"/>
            <a:ext cx="877824" cy="163372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3296" y="2852928"/>
            <a:ext cx="877824" cy="1633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9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933" dirty="0"/>
          </a:p>
        </p:txBody>
      </p:sp>
      <p:sp>
        <p:nvSpPr>
          <p:cNvPr id="17" name="Text 15"/>
          <p:cNvSpPr/>
          <p:nvPr/>
        </p:nvSpPr>
        <p:spPr>
          <a:xfrm>
            <a:off x="1487424" y="2999232"/>
            <a:ext cx="4389120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33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Classifier-Free Guidance</a:t>
            </a:r>
          </a:p>
        </p:txBody>
      </p:sp>
      <p:sp>
        <p:nvSpPr>
          <p:cNvPr id="18" name="Text 16"/>
          <p:cNvSpPr/>
          <p:nvPr/>
        </p:nvSpPr>
        <p:spPr>
          <a:xfrm>
            <a:off x="1487424" y="3462528"/>
            <a:ext cx="438912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67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one model to work both with and without conditioning, enabling controlled generation.</a:t>
            </a:r>
          </a:p>
        </p:txBody>
      </p:sp>
      <p:sp>
        <p:nvSpPr>
          <p:cNvPr id="19" name="Shape 17"/>
          <p:cNvSpPr/>
          <p:nvPr/>
        </p:nvSpPr>
        <p:spPr>
          <a:xfrm>
            <a:off x="6339840" y="2852928"/>
            <a:ext cx="5559552" cy="1633728"/>
          </a:xfrm>
          <a:prstGeom prst="rect">
            <a:avLst/>
          </a:prstGeom>
          <a:solidFill>
            <a:srgbClr val="FFFFFF"/>
          </a:solidFill>
          <a:ln w="6350">
            <a:solidFill>
              <a:srgbClr val="D0D9E8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339840" y="2852928"/>
            <a:ext cx="877824" cy="163372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39840" y="2852928"/>
            <a:ext cx="877824" cy="1633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9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933" dirty="0"/>
          </a:p>
        </p:txBody>
      </p:sp>
      <p:sp>
        <p:nvSpPr>
          <p:cNvPr id="22" name="Text 20"/>
          <p:cNvSpPr/>
          <p:nvPr/>
        </p:nvSpPr>
        <p:spPr>
          <a:xfrm>
            <a:off x="7363968" y="2999232"/>
            <a:ext cx="4389120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33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DDPM Process</a:t>
            </a:r>
          </a:p>
        </p:txBody>
      </p:sp>
      <p:sp>
        <p:nvSpPr>
          <p:cNvPr id="23" name="Text 21"/>
          <p:cNvSpPr/>
          <p:nvPr/>
        </p:nvSpPr>
        <p:spPr>
          <a:xfrm>
            <a:off x="7363968" y="3462528"/>
            <a:ext cx="438912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67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the forward (noising) and reverse (denoising) diffusion processes from scratch.</a:t>
            </a:r>
          </a:p>
        </p:txBody>
      </p:sp>
      <p:sp>
        <p:nvSpPr>
          <p:cNvPr id="24" name="Shape 22"/>
          <p:cNvSpPr/>
          <p:nvPr/>
        </p:nvSpPr>
        <p:spPr>
          <a:xfrm>
            <a:off x="463296" y="4706112"/>
            <a:ext cx="5559552" cy="1633728"/>
          </a:xfrm>
          <a:prstGeom prst="rect">
            <a:avLst/>
          </a:prstGeom>
          <a:solidFill>
            <a:srgbClr val="FFFFFF"/>
          </a:solidFill>
          <a:ln w="6350">
            <a:solidFill>
              <a:srgbClr val="D0D9E8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3296" y="4706112"/>
            <a:ext cx="877824" cy="163372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3296" y="4706112"/>
            <a:ext cx="877824" cy="1633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9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933" dirty="0"/>
          </a:p>
        </p:txBody>
      </p:sp>
      <p:sp>
        <p:nvSpPr>
          <p:cNvPr id="27" name="Text 25"/>
          <p:cNvSpPr/>
          <p:nvPr/>
        </p:nvSpPr>
        <p:spPr>
          <a:xfrm>
            <a:off x="1487424" y="4852416"/>
            <a:ext cx="4389120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33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the Model</a:t>
            </a:r>
          </a:p>
        </p:txBody>
      </p:sp>
      <p:sp>
        <p:nvSpPr>
          <p:cNvPr id="28" name="Text 26"/>
          <p:cNvSpPr/>
          <p:nvPr/>
        </p:nvSpPr>
        <p:spPr>
          <a:xfrm>
            <a:off x="1487424" y="5315712"/>
            <a:ext cx="438912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67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20 epochs on Fashion MNIS</a:t>
            </a:r>
            <a:r>
              <a:rPr lang="ro-RO" sz="1267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T.</a:t>
            </a:r>
            <a:endParaRPr lang="en-US" sz="1267" dirty="0">
              <a:solidFill>
                <a:srgbClr val="555555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6339840" y="4706112"/>
            <a:ext cx="5559552" cy="1633728"/>
          </a:xfrm>
          <a:prstGeom prst="rect">
            <a:avLst/>
          </a:prstGeom>
          <a:solidFill>
            <a:srgbClr val="FFFFFF"/>
          </a:solidFill>
          <a:ln w="6350">
            <a:solidFill>
              <a:srgbClr val="D0D9E8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339840" y="4706112"/>
            <a:ext cx="877824" cy="163372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39840" y="4706112"/>
            <a:ext cx="877824" cy="1633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9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933" dirty="0"/>
          </a:p>
        </p:txBody>
      </p:sp>
      <p:sp>
        <p:nvSpPr>
          <p:cNvPr id="32" name="Text 30"/>
          <p:cNvSpPr/>
          <p:nvPr/>
        </p:nvSpPr>
        <p:spPr>
          <a:xfrm>
            <a:off x="7363968" y="4852416"/>
            <a:ext cx="4389120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33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Generating &amp; Evaluating</a:t>
            </a:r>
          </a:p>
        </p:txBody>
      </p:sp>
      <p:sp>
        <p:nvSpPr>
          <p:cNvPr id="33" name="Text 31"/>
          <p:cNvSpPr/>
          <p:nvPr/>
        </p:nvSpPr>
        <p:spPr>
          <a:xfrm>
            <a:off x="7363968" y="5315712"/>
            <a:ext cx="438912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67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images for each class and explore how the guidance strength controls quality vs diversity.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206307-F0DE-9B38-E51E-03349CFD46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8823BD7-F751-A3E1-E291-79AB13E916A1}"/>
              </a:ext>
            </a:extLst>
          </p:cNvPr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E1561C3-386F-D70D-4B09-F0F89226DD81}"/>
              </a:ext>
            </a:extLst>
          </p:cNvPr>
          <p:cNvSpPr/>
          <p:nvPr/>
        </p:nvSpPr>
        <p:spPr>
          <a:xfrm>
            <a:off x="548640" y="146304"/>
            <a:ext cx="11094720" cy="755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467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— What Problem Are We Solving?</a:t>
            </a:r>
            <a:endParaRPr lang="en-US" sz="3467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2C7093B3-0553-385E-C6A5-F24299EA9A21}"/>
              </a:ext>
            </a:extLst>
          </p:cNvPr>
          <p:cNvSpPr/>
          <p:nvPr/>
        </p:nvSpPr>
        <p:spPr>
          <a:xfrm>
            <a:off x="426720" y="880249"/>
            <a:ext cx="5303520" cy="512064"/>
          </a:xfrm>
          <a:prstGeom prst="rect">
            <a:avLst/>
          </a:prstGeom>
          <a:solidFill>
            <a:srgbClr val="1F5BAD"/>
          </a:solidFill>
          <a:ln w="12700">
            <a:solidFill>
              <a:srgbClr val="1F5BAD"/>
            </a:solidFill>
            <a:prstDash val="solid"/>
          </a:ln>
        </p:spPr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C77AF397-81DC-7BA5-5E23-2941139EBD24}"/>
              </a:ext>
            </a:extLst>
          </p:cNvPr>
          <p:cNvSpPr/>
          <p:nvPr/>
        </p:nvSpPr>
        <p:spPr>
          <a:xfrm>
            <a:off x="426720" y="880249"/>
            <a:ext cx="53035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7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4 — What we had</a:t>
            </a:r>
            <a:endParaRPr lang="en-US" sz="1733" dirty="0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A6D57A47-37FB-3140-6AC9-9CEF13E7548E}"/>
              </a:ext>
            </a:extLst>
          </p:cNvPr>
          <p:cNvSpPr/>
          <p:nvPr/>
        </p:nvSpPr>
        <p:spPr>
          <a:xfrm>
            <a:off x="6522720" y="880249"/>
            <a:ext cx="5242560" cy="512064"/>
          </a:xfrm>
          <a:prstGeom prst="rect">
            <a:avLst/>
          </a:prstGeom>
          <a:solidFill>
            <a:srgbClr val="1B6B60"/>
          </a:solidFill>
          <a:ln w="12700">
            <a:solidFill>
              <a:srgbClr val="1B6B60"/>
            </a:solidFill>
            <a:prstDash val="solid"/>
          </a:ln>
        </p:spPr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79311D1D-8EA5-1A40-126D-BE21FAC55F6C}"/>
              </a:ext>
            </a:extLst>
          </p:cNvPr>
          <p:cNvSpPr/>
          <p:nvPr/>
        </p:nvSpPr>
        <p:spPr>
          <a:xfrm>
            <a:off x="6522720" y="880249"/>
            <a:ext cx="52425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7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5 — What we want</a:t>
            </a:r>
            <a:endParaRPr lang="en-US" sz="1733" dirty="0"/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BB96A4D5-A905-DBAF-5F42-274F042B3B58}"/>
              </a:ext>
            </a:extLst>
          </p:cNvPr>
          <p:cNvSpPr/>
          <p:nvPr/>
        </p:nvSpPr>
        <p:spPr>
          <a:xfrm>
            <a:off x="426720" y="6208956"/>
            <a:ext cx="11338560" cy="585216"/>
          </a:xfrm>
          <a:prstGeom prst="rect">
            <a:avLst/>
          </a:prstGeom>
          <a:solidFill>
            <a:srgbClr val="D6E4F7"/>
          </a:solidFill>
          <a:ln w="12700">
            <a:solidFill>
              <a:srgbClr val="1F5BAD"/>
            </a:solidFill>
            <a:prstDash val="solid"/>
          </a:ln>
        </p:spPr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D45A247F-74F2-8ADB-ADCD-540340D77832}"/>
              </a:ext>
            </a:extLst>
          </p:cNvPr>
          <p:cNvSpPr/>
          <p:nvPr/>
        </p:nvSpPr>
        <p:spPr>
          <a:xfrm>
            <a:off x="609600" y="6208956"/>
            <a:ext cx="109728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lab is the foundation for text-to-image generation — in later labs, the class label is replaced by a text prompt.</a:t>
            </a:r>
            <a:endParaRPr lang="en-US" dirty="0"/>
          </a:p>
        </p:txBody>
      </p:sp>
      <p:pic>
        <p:nvPicPr>
          <p:cNvPr id="31" name="Picture 6" descr="U-NET: Computer Vision's neural network ...">
            <a:extLst>
              <a:ext uri="{FF2B5EF4-FFF2-40B4-BE49-F238E27FC236}">
                <a16:creationId xmlns:a16="http://schemas.microsoft.com/office/drawing/2014/main" id="{1A2B4FCC-6D1C-3A83-553D-E9FF56F129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9125" y="1599098"/>
            <a:ext cx="1735818" cy="9509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6B0756CD-5C30-E635-B338-703B43CD2361}"/>
              </a:ext>
            </a:extLst>
          </p:cNvPr>
          <p:cNvSpPr txBox="1"/>
          <p:nvPr/>
        </p:nvSpPr>
        <p:spPr>
          <a:xfrm>
            <a:off x="1535861" y="2328308"/>
            <a:ext cx="68800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encoder</a:t>
            </a:r>
            <a:endParaRPr lang="ro-RO" sz="1100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19AFC36-E9DA-9D62-61EB-C731558E4B5F}"/>
              </a:ext>
            </a:extLst>
          </p:cNvPr>
          <p:cNvSpPr txBox="1"/>
          <p:nvPr/>
        </p:nvSpPr>
        <p:spPr>
          <a:xfrm>
            <a:off x="2710198" y="2328308"/>
            <a:ext cx="68800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decoder</a:t>
            </a:r>
            <a:endParaRPr lang="ro-RO" sz="110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54ABC4A-CD10-BE2C-A0F1-1AD277E0E1A7}"/>
              </a:ext>
            </a:extLst>
          </p:cNvPr>
          <p:cNvSpPr txBox="1"/>
          <p:nvPr/>
        </p:nvSpPr>
        <p:spPr>
          <a:xfrm>
            <a:off x="1949103" y="1686951"/>
            <a:ext cx="103586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/>
              <a:t>skip connections</a:t>
            </a:r>
            <a:endParaRPr lang="ro-RO" sz="900" dirty="0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480114BC-094F-C61E-4560-6FB06DC20E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7874" y="1665193"/>
            <a:ext cx="688008" cy="818786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58AB91FB-0AC8-3D2E-F72D-9A8B392F2D9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93777" y="1631034"/>
            <a:ext cx="736463" cy="887103"/>
          </a:xfrm>
          <a:prstGeom prst="rect">
            <a:avLst/>
          </a:prstGeom>
        </p:spPr>
      </p:pic>
      <p:sp>
        <p:nvSpPr>
          <p:cNvPr id="37" name="Rectangle 36">
            <a:extLst>
              <a:ext uri="{FF2B5EF4-FFF2-40B4-BE49-F238E27FC236}">
                <a16:creationId xmlns:a16="http://schemas.microsoft.com/office/drawing/2014/main" id="{EB642BD8-63EF-F528-FCE7-D4F6800E6A2D}"/>
              </a:ext>
            </a:extLst>
          </p:cNvPr>
          <p:cNvSpPr/>
          <p:nvPr/>
        </p:nvSpPr>
        <p:spPr>
          <a:xfrm>
            <a:off x="83196" y="2093150"/>
            <a:ext cx="416113" cy="30432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1C2095B4-F170-1EE7-8A98-C1651C5BA05F}"/>
              </a:ext>
            </a:extLst>
          </p:cNvPr>
          <p:cNvCxnSpPr>
            <a:stCxn id="35" idx="3"/>
            <a:endCxn id="31" idx="1"/>
          </p:cNvCxnSpPr>
          <p:nvPr/>
        </p:nvCxnSpPr>
        <p:spPr>
          <a:xfrm>
            <a:off x="1185882" y="2074586"/>
            <a:ext cx="41324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28E0DD13-EC7C-115F-2888-4D854FDDE6D2}"/>
              </a:ext>
            </a:extLst>
          </p:cNvPr>
          <p:cNvSpPr txBox="1"/>
          <p:nvPr/>
        </p:nvSpPr>
        <p:spPr>
          <a:xfrm>
            <a:off x="3774537" y="1612921"/>
            <a:ext cx="77964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o-RO" i="1" dirty="0"/>
              <a:t>many steps...</a:t>
            </a:r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C75111D2-E8D7-71D1-B474-D1401974757D}"/>
              </a:ext>
            </a:extLst>
          </p:cNvPr>
          <p:cNvCxnSpPr>
            <a:stCxn id="31" idx="3"/>
            <a:endCxn id="41" idx="1"/>
          </p:cNvCxnSpPr>
          <p:nvPr/>
        </p:nvCxnSpPr>
        <p:spPr>
          <a:xfrm>
            <a:off x="3334943" y="2074586"/>
            <a:ext cx="43959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523B4D35-96BF-DA16-17C2-DF8D84FD6876}"/>
              </a:ext>
            </a:extLst>
          </p:cNvPr>
          <p:cNvCxnSpPr>
            <a:stCxn id="41" idx="3"/>
            <a:endCxn id="36" idx="1"/>
          </p:cNvCxnSpPr>
          <p:nvPr/>
        </p:nvCxnSpPr>
        <p:spPr>
          <a:xfrm>
            <a:off x="4554183" y="2074586"/>
            <a:ext cx="43959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14852CA5-091D-E78D-D637-FEE02D8E21A8}"/>
              </a:ext>
            </a:extLst>
          </p:cNvPr>
          <p:cNvSpPr txBox="1"/>
          <p:nvPr/>
        </p:nvSpPr>
        <p:spPr>
          <a:xfrm>
            <a:off x="287873" y="3725073"/>
            <a:ext cx="544650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 diffusion model that generates clothing images</a:t>
            </a:r>
            <a:endParaRPr lang="en-US" sz="1800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99E22563-7459-2B39-A1A8-810C7D460315}"/>
              </a:ext>
            </a:extLst>
          </p:cNvPr>
          <p:cNvSpPr txBox="1"/>
          <p:nvPr/>
        </p:nvSpPr>
        <p:spPr>
          <a:xfrm>
            <a:off x="287873" y="4218198"/>
            <a:ext cx="61024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595959"/>
                </a:solidFill>
                <a:highlight>
                  <a:srgbClr val="FFFF00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▸  The model randomly picks one of 10 categories</a:t>
            </a:r>
            <a:endParaRPr lang="en-US" sz="1800" dirty="0">
              <a:highlight>
                <a:srgbClr val="FFFF00"/>
              </a:highlight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3C94C42-D63E-BE8B-A53E-98E6732ECE6A}"/>
              </a:ext>
            </a:extLst>
          </p:cNvPr>
          <p:cNvSpPr txBox="1"/>
          <p:nvPr/>
        </p:nvSpPr>
        <p:spPr>
          <a:xfrm>
            <a:off x="287873" y="4708848"/>
            <a:ext cx="61024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595959"/>
                </a:solidFill>
                <a:highlight>
                  <a:srgbClr val="FFFF00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▸  No way to say "generate a sandal" or "generate a coat"</a:t>
            </a:r>
            <a:endParaRPr lang="en-US" sz="1800" dirty="0">
              <a:highlight>
                <a:srgbClr val="FFFF00"/>
              </a:highlight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FE40862B-8841-EFEA-8294-2CACB8B77282}"/>
              </a:ext>
            </a:extLst>
          </p:cNvPr>
          <p:cNvSpPr txBox="1"/>
          <p:nvPr/>
        </p:nvSpPr>
        <p:spPr>
          <a:xfrm>
            <a:off x="287873" y="5142650"/>
            <a:ext cx="61024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The U-Net was a black box from the </a:t>
            </a:r>
            <a:r>
              <a:rPr lang="en-US" sz="18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/>
              </a:rPr>
              <a:t>diffusers</a:t>
            </a:r>
            <a:r>
              <a:rPr lang="en-US" sz="18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library</a:t>
            </a:r>
            <a:endParaRPr lang="en-US" sz="1800" dirty="0"/>
          </a:p>
        </p:txBody>
      </p:sp>
      <p:pic>
        <p:nvPicPr>
          <p:cNvPr id="1026" name="Picture 2" descr="Diffusers · Hugging Face">
            <a:extLst>
              <a:ext uri="{FF2B5EF4-FFF2-40B4-BE49-F238E27FC236}">
                <a16:creationId xmlns:a16="http://schemas.microsoft.com/office/drawing/2014/main" id="{828C7231-8BD8-53B9-0E54-76CCF0DD26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2345" y="5615435"/>
            <a:ext cx="2132297" cy="5021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0" name="Picture 6" descr="U-NET: Computer Vision's neural network ...">
            <a:extLst>
              <a:ext uri="{FF2B5EF4-FFF2-40B4-BE49-F238E27FC236}">
                <a16:creationId xmlns:a16="http://schemas.microsoft.com/office/drawing/2014/main" id="{516FE9E7-0D67-F6C8-8BCE-FFA0024E95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34165" y="1607282"/>
            <a:ext cx="1735818" cy="9509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1" name="TextBox 60">
            <a:extLst>
              <a:ext uri="{FF2B5EF4-FFF2-40B4-BE49-F238E27FC236}">
                <a16:creationId xmlns:a16="http://schemas.microsoft.com/office/drawing/2014/main" id="{AAF4D255-F752-A012-F0FB-D9481B67DC19}"/>
              </a:ext>
            </a:extLst>
          </p:cNvPr>
          <p:cNvSpPr txBox="1"/>
          <p:nvPr/>
        </p:nvSpPr>
        <p:spPr>
          <a:xfrm>
            <a:off x="7570901" y="2336492"/>
            <a:ext cx="68800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encoder</a:t>
            </a:r>
            <a:endParaRPr lang="ro-RO" sz="1100"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3441BE99-36CA-1C06-6B12-A84251BF0406}"/>
              </a:ext>
            </a:extLst>
          </p:cNvPr>
          <p:cNvSpPr txBox="1"/>
          <p:nvPr/>
        </p:nvSpPr>
        <p:spPr>
          <a:xfrm>
            <a:off x="8745238" y="2336492"/>
            <a:ext cx="68800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decoder</a:t>
            </a:r>
            <a:endParaRPr lang="ro-RO" sz="1100" dirty="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6E98200F-ADB1-A40D-1B02-F723E9C03DBF}"/>
              </a:ext>
            </a:extLst>
          </p:cNvPr>
          <p:cNvSpPr txBox="1"/>
          <p:nvPr/>
        </p:nvSpPr>
        <p:spPr>
          <a:xfrm>
            <a:off x="7984143" y="1695135"/>
            <a:ext cx="103586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/>
              <a:t>skip connections</a:t>
            </a:r>
            <a:endParaRPr lang="ro-RO" sz="900" dirty="0"/>
          </a:p>
        </p:txBody>
      </p:sp>
      <p:pic>
        <p:nvPicPr>
          <p:cNvPr id="1024" name="Picture 1023">
            <a:extLst>
              <a:ext uri="{FF2B5EF4-FFF2-40B4-BE49-F238E27FC236}">
                <a16:creationId xmlns:a16="http://schemas.microsoft.com/office/drawing/2014/main" id="{5195A875-ED41-4374-81FC-68F9B0239C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2914" y="1673377"/>
            <a:ext cx="688008" cy="818786"/>
          </a:xfrm>
          <a:prstGeom prst="rect">
            <a:avLst/>
          </a:prstGeom>
        </p:spPr>
      </p:pic>
      <p:pic>
        <p:nvPicPr>
          <p:cNvPr id="1025" name="Picture 1024">
            <a:extLst>
              <a:ext uri="{FF2B5EF4-FFF2-40B4-BE49-F238E27FC236}">
                <a16:creationId xmlns:a16="http://schemas.microsoft.com/office/drawing/2014/main" id="{5CAB4A39-DD91-6F05-F854-3A230121C5C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28817" y="1639218"/>
            <a:ext cx="736463" cy="887103"/>
          </a:xfrm>
          <a:prstGeom prst="rect">
            <a:avLst/>
          </a:prstGeom>
        </p:spPr>
      </p:pic>
      <p:sp>
        <p:nvSpPr>
          <p:cNvPr id="1027" name="Rectangle 1026">
            <a:extLst>
              <a:ext uri="{FF2B5EF4-FFF2-40B4-BE49-F238E27FC236}">
                <a16:creationId xmlns:a16="http://schemas.microsoft.com/office/drawing/2014/main" id="{6C4CEFD4-88A9-1E41-4A32-814D59F119AE}"/>
              </a:ext>
            </a:extLst>
          </p:cNvPr>
          <p:cNvSpPr/>
          <p:nvPr/>
        </p:nvSpPr>
        <p:spPr>
          <a:xfrm>
            <a:off x="6118236" y="2101334"/>
            <a:ext cx="416113" cy="30432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cxnSp>
        <p:nvCxnSpPr>
          <p:cNvPr id="1028" name="Straight Arrow Connector 1027">
            <a:extLst>
              <a:ext uri="{FF2B5EF4-FFF2-40B4-BE49-F238E27FC236}">
                <a16:creationId xmlns:a16="http://schemas.microsoft.com/office/drawing/2014/main" id="{DCA65BD3-DAFD-1FD8-A76D-797912A6CD3D}"/>
              </a:ext>
            </a:extLst>
          </p:cNvPr>
          <p:cNvCxnSpPr>
            <a:stCxn id="1024" idx="3"/>
            <a:endCxn id="60" idx="1"/>
          </p:cNvCxnSpPr>
          <p:nvPr/>
        </p:nvCxnSpPr>
        <p:spPr>
          <a:xfrm>
            <a:off x="7220922" y="2082770"/>
            <a:ext cx="41324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9" name="TextBox 1028">
            <a:extLst>
              <a:ext uri="{FF2B5EF4-FFF2-40B4-BE49-F238E27FC236}">
                <a16:creationId xmlns:a16="http://schemas.microsoft.com/office/drawing/2014/main" id="{C95AAF9F-AED4-F336-EB73-57F5ECDE66B5}"/>
              </a:ext>
            </a:extLst>
          </p:cNvPr>
          <p:cNvSpPr txBox="1"/>
          <p:nvPr/>
        </p:nvSpPr>
        <p:spPr>
          <a:xfrm>
            <a:off x="9809577" y="1621105"/>
            <a:ext cx="77964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o-RO" i="1" dirty="0"/>
              <a:t>many steps...</a:t>
            </a:r>
          </a:p>
        </p:txBody>
      </p:sp>
      <p:cxnSp>
        <p:nvCxnSpPr>
          <p:cNvPr id="1030" name="Straight Arrow Connector 1029">
            <a:extLst>
              <a:ext uri="{FF2B5EF4-FFF2-40B4-BE49-F238E27FC236}">
                <a16:creationId xmlns:a16="http://schemas.microsoft.com/office/drawing/2014/main" id="{348B9FD4-AFE4-3D30-C45B-76CE4781B185}"/>
              </a:ext>
            </a:extLst>
          </p:cNvPr>
          <p:cNvCxnSpPr>
            <a:stCxn id="60" idx="3"/>
            <a:endCxn id="1029" idx="1"/>
          </p:cNvCxnSpPr>
          <p:nvPr/>
        </p:nvCxnSpPr>
        <p:spPr>
          <a:xfrm>
            <a:off x="9369983" y="2082770"/>
            <a:ext cx="43959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1" name="Straight Arrow Connector 1030">
            <a:extLst>
              <a:ext uri="{FF2B5EF4-FFF2-40B4-BE49-F238E27FC236}">
                <a16:creationId xmlns:a16="http://schemas.microsoft.com/office/drawing/2014/main" id="{366D5796-1895-0BD5-4D70-BFCFAA04B405}"/>
              </a:ext>
            </a:extLst>
          </p:cNvPr>
          <p:cNvCxnSpPr>
            <a:stCxn id="1029" idx="3"/>
            <a:endCxn id="1025" idx="1"/>
          </p:cNvCxnSpPr>
          <p:nvPr/>
        </p:nvCxnSpPr>
        <p:spPr>
          <a:xfrm>
            <a:off x="10589223" y="2082770"/>
            <a:ext cx="43959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3" name="TextBox 1032">
            <a:extLst>
              <a:ext uri="{FF2B5EF4-FFF2-40B4-BE49-F238E27FC236}">
                <a16:creationId xmlns:a16="http://schemas.microsoft.com/office/drawing/2014/main" id="{6000B321-3E1B-F148-CD86-E8BEFF2B2836}"/>
              </a:ext>
            </a:extLst>
          </p:cNvPr>
          <p:cNvSpPr txBox="1"/>
          <p:nvPr/>
        </p:nvSpPr>
        <p:spPr>
          <a:xfrm>
            <a:off x="6465900" y="4203373"/>
            <a:ext cx="61024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595959"/>
                </a:solidFill>
                <a:highlight>
                  <a:srgbClr val="FFFF00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▸  Condition the model on a class label</a:t>
            </a:r>
            <a:endParaRPr lang="en-US" sz="1800" dirty="0">
              <a:highlight>
                <a:srgbClr val="FFFF00"/>
              </a:highlight>
            </a:endParaRPr>
          </a:p>
        </p:txBody>
      </p:sp>
      <p:sp>
        <p:nvSpPr>
          <p:cNvPr id="1035" name="TextBox 1034">
            <a:extLst>
              <a:ext uri="{FF2B5EF4-FFF2-40B4-BE49-F238E27FC236}">
                <a16:creationId xmlns:a16="http://schemas.microsoft.com/office/drawing/2014/main" id="{C8772E61-DB24-BBFB-C1B2-9C517FB1EF7D}"/>
              </a:ext>
            </a:extLst>
          </p:cNvPr>
          <p:cNvSpPr txBox="1"/>
          <p:nvPr/>
        </p:nvSpPr>
        <p:spPr>
          <a:xfrm>
            <a:off x="6465900" y="4654175"/>
            <a:ext cx="62804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595959"/>
                </a:solidFill>
                <a:highlight>
                  <a:srgbClr val="FFFF00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▸  Ask for a specific item → get that item</a:t>
            </a:r>
            <a:endParaRPr lang="en-US" sz="1800" dirty="0">
              <a:highlight>
                <a:srgbClr val="FFFF00"/>
              </a:highlight>
            </a:endParaRPr>
          </a:p>
        </p:txBody>
      </p:sp>
      <p:sp>
        <p:nvSpPr>
          <p:cNvPr id="1037" name="TextBox 1036">
            <a:extLst>
              <a:ext uri="{FF2B5EF4-FFF2-40B4-BE49-F238E27FC236}">
                <a16:creationId xmlns:a16="http://schemas.microsoft.com/office/drawing/2014/main" id="{E6917470-F8E4-C4D5-B338-B4A551072D74}"/>
              </a:ext>
            </a:extLst>
          </p:cNvPr>
          <p:cNvSpPr txBox="1"/>
          <p:nvPr/>
        </p:nvSpPr>
        <p:spPr>
          <a:xfrm>
            <a:off x="6465900" y="5177549"/>
            <a:ext cx="63719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Build the U-Net from scratch to understand it</a:t>
            </a:r>
            <a:endParaRPr lang="en-US" sz="1800" dirty="0"/>
          </a:p>
        </p:txBody>
      </p:sp>
      <p:pic>
        <p:nvPicPr>
          <p:cNvPr id="1047" name="Picture 1046">
            <a:extLst>
              <a:ext uri="{FF2B5EF4-FFF2-40B4-BE49-F238E27FC236}">
                <a16:creationId xmlns:a16="http://schemas.microsoft.com/office/drawing/2014/main" id="{6D15AB29-88D5-456B-1CDD-8780D806D06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044753" y="1782650"/>
            <a:ext cx="762106" cy="771633"/>
          </a:xfrm>
          <a:prstGeom prst="rect">
            <a:avLst/>
          </a:prstGeom>
        </p:spPr>
      </p:pic>
      <p:pic>
        <p:nvPicPr>
          <p:cNvPr id="1049" name="Picture 1048">
            <a:extLst>
              <a:ext uri="{FF2B5EF4-FFF2-40B4-BE49-F238E27FC236}">
                <a16:creationId xmlns:a16="http://schemas.microsoft.com/office/drawing/2014/main" id="{6D68CF9C-9EDD-04FF-0746-953ACB98677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86314" y="1810950"/>
            <a:ext cx="733527" cy="771633"/>
          </a:xfrm>
          <a:prstGeom prst="rect">
            <a:avLst/>
          </a:prstGeom>
        </p:spPr>
      </p:pic>
      <p:pic>
        <p:nvPicPr>
          <p:cNvPr id="1050" name="Picture 4" descr="Dexter's Laboratory Dexter Sticker - Sticker Mania">
            <a:extLst>
              <a:ext uri="{FF2B5EF4-FFF2-40B4-BE49-F238E27FC236}">
                <a16:creationId xmlns:a16="http://schemas.microsoft.com/office/drawing/2014/main" id="{A47DE4C2-5034-3D6E-69A6-3B97D3C7D5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60997" y="5595841"/>
            <a:ext cx="587141" cy="5871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5" name="Picture 1054">
            <a:extLst>
              <a:ext uri="{FF2B5EF4-FFF2-40B4-BE49-F238E27FC236}">
                <a16:creationId xmlns:a16="http://schemas.microsoft.com/office/drawing/2014/main" id="{EAB99B57-CE41-D164-D457-A5ACF120CE9B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557133" y="2841663"/>
            <a:ext cx="1889882" cy="1205661"/>
          </a:xfrm>
          <a:prstGeom prst="rect">
            <a:avLst/>
          </a:prstGeom>
        </p:spPr>
      </p:pic>
      <p:cxnSp>
        <p:nvCxnSpPr>
          <p:cNvPr id="1057" name="Straight Arrow Connector 1056">
            <a:extLst>
              <a:ext uri="{FF2B5EF4-FFF2-40B4-BE49-F238E27FC236}">
                <a16:creationId xmlns:a16="http://schemas.microsoft.com/office/drawing/2014/main" id="{5D465485-FB17-4B6D-CBF1-517CBF88D5F2}"/>
              </a:ext>
            </a:extLst>
          </p:cNvPr>
          <p:cNvCxnSpPr>
            <a:stCxn id="1055" idx="0"/>
            <a:endCxn id="60" idx="2"/>
          </p:cNvCxnSpPr>
          <p:nvPr/>
        </p:nvCxnSpPr>
        <p:spPr>
          <a:xfrm flipV="1">
            <a:off x="8502074" y="2558258"/>
            <a:ext cx="0" cy="28340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0" name="Shape 0">
            <a:extLst>
              <a:ext uri="{FF2B5EF4-FFF2-40B4-BE49-F238E27FC236}">
                <a16:creationId xmlns:a16="http://schemas.microsoft.com/office/drawing/2014/main" id="{8CCC956B-B27B-C400-8595-B5666485A96D}"/>
              </a:ext>
            </a:extLst>
          </p:cNvPr>
          <p:cNvSpPr/>
          <p:nvPr/>
        </p:nvSpPr>
        <p:spPr>
          <a:xfrm>
            <a:off x="0" y="0"/>
            <a:ext cx="12192000" cy="97536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41861875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64096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4E4FA7AF-1148-52A1-5E00-E78A6BD255E0}"/>
              </a:ext>
            </a:extLst>
          </p:cNvPr>
          <p:cNvSpPr/>
          <p:nvPr/>
        </p:nvSpPr>
        <p:spPr>
          <a:xfrm>
            <a:off x="853440" y="1706880"/>
            <a:ext cx="9753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</a:t>
            </a:r>
            <a:endParaRPr lang="en-US" sz="1867" dirty="0"/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C1239377-AFAE-8459-D692-5946FB8E2BB9}"/>
              </a:ext>
            </a:extLst>
          </p:cNvPr>
          <p:cNvSpPr/>
          <p:nvPr/>
        </p:nvSpPr>
        <p:spPr>
          <a:xfrm>
            <a:off x="853440" y="2255520"/>
            <a:ext cx="103632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0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Different Components</a:t>
            </a:r>
          </a:p>
          <a:p>
            <a:r>
              <a:rPr lang="en-US" sz="60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of a Denoising U-Net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87680" y="219456"/>
            <a:ext cx="1121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467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Step &amp; Label Embedding</a:t>
            </a:r>
            <a:endParaRPr lang="en-US" sz="3467" dirty="0"/>
          </a:p>
        </p:txBody>
      </p:sp>
      <p:sp>
        <p:nvSpPr>
          <p:cNvPr id="17" name="Shape 15"/>
          <p:cNvSpPr/>
          <p:nvPr/>
        </p:nvSpPr>
        <p:spPr>
          <a:xfrm>
            <a:off x="118468" y="1392765"/>
            <a:ext cx="7184136" cy="5172422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4771" y="1490301"/>
            <a:ext cx="7184136" cy="411063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267" dirty="0">
                <a:solidFill>
                  <a:srgbClr val="D4E6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EmbedLayer(nn.Module):</a:t>
            </a:r>
            <a:endParaRPr lang="en-US" sz="1267" dirty="0"/>
          </a:p>
          <a:p>
            <a:r>
              <a:rPr lang="en-US" sz="1267" dirty="0">
                <a:solidFill>
                  <a:srgbClr val="D4E6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__</a:t>
            </a:r>
            <a:r>
              <a:rPr lang="en-US" sz="1267" dirty="0" err="1">
                <a:solidFill>
                  <a:srgbClr val="D4E6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init</a:t>
            </a:r>
            <a:r>
              <a:rPr lang="en-US" sz="1267" dirty="0">
                <a:solidFill>
                  <a:srgbClr val="D4E6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__(self, </a:t>
            </a:r>
            <a:r>
              <a:rPr lang="en-US" sz="1267" dirty="0" err="1">
                <a:solidFill>
                  <a:srgbClr val="D4E6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input_dim</a:t>
            </a:r>
            <a:r>
              <a:rPr lang="en-US" sz="1267" dirty="0">
                <a:solidFill>
                  <a:srgbClr val="D4E6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267" dirty="0" err="1">
                <a:solidFill>
                  <a:srgbClr val="D4E6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emb_dim</a:t>
            </a:r>
            <a:r>
              <a:rPr lang="en-US" sz="1267" dirty="0">
                <a:solidFill>
                  <a:srgbClr val="D4E6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):</a:t>
            </a:r>
            <a:endParaRPr lang="en-US" sz="1267" dirty="0"/>
          </a:p>
          <a:p>
            <a:r>
              <a:rPr lang="en-US" sz="1267" dirty="0">
                <a:solidFill>
                  <a:srgbClr val="D4E6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...</a:t>
            </a:r>
            <a:endParaRPr lang="en-US" sz="1267" dirty="0"/>
          </a:p>
          <a:p>
            <a:endParaRPr lang="en-US" sz="1267" dirty="0"/>
          </a:p>
          <a:p>
            <a:endParaRPr lang="en-US" sz="1267" dirty="0"/>
          </a:p>
          <a:p>
            <a:endParaRPr lang="en-US" sz="1267" dirty="0"/>
          </a:p>
          <a:p>
            <a:r>
              <a:rPr lang="en-US" sz="1267" dirty="0">
                <a:solidFill>
                  <a:srgbClr val="D4E6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── Time embeddings ──────────────────────────────────────────────────</a:t>
            </a:r>
            <a:endParaRPr lang="en-US" sz="1267" dirty="0"/>
          </a:p>
          <a:p>
            <a:r>
              <a:rPr lang="en-US" sz="1267" dirty="0">
                <a:solidFill>
                  <a:srgbClr val="D4E6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timeembed1 = EmbedLayer(1, 512)          # input: 1 scalar  →  512 dim</a:t>
            </a:r>
            <a:endParaRPr lang="en-US" sz="1267" dirty="0"/>
          </a:p>
          <a:p>
            <a:r>
              <a:rPr lang="en-US" sz="1267" dirty="0">
                <a:solidFill>
                  <a:srgbClr val="D4E6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timeembed2 = EmbedLayer(1, 256)          # input: 1 scalar  →  256-dim</a:t>
            </a:r>
            <a:endParaRPr lang="en-US" sz="1267" dirty="0"/>
          </a:p>
          <a:p>
            <a:r>
              <a:rPr lang="en-US" sz="1267" dirty="0">
                <a:solidFill>
                  <a:srgbClr val="D4E6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 = torch.tensor([25]).long() / 1000     # normalise to [0, 1]</a:t>
            </a:r>
            <a:endParaRPr lang="en-US" sz="1267" dirty="0"/>
          </a:p>
          <a:p>
            <a:r>
              <a:rPr lang="en-US" sz="1267" dirty="0">
                <a:solidFill>
                  <a:srgbClr val="D4E6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temb1 = timeembed1(t).view(-1, 512, 1, 1)</a:t>
            </a:r>
            <a:endParaRPr lang="en-US" sz="1267" dirty="0"/>
          </a:p>
          <a:p>
            <a:r>
              <a:rPr lang="en-US" sz="1267" dirty="0">
                <a:solidFill>
                  <a:srgbClr val="D4E6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temb2 = timeembed2(t).view(-1, 256, 1, 1)</a:t>
            </a:r>
          </a:p>
          <a:p>
            <a:endParaRPr lang="en-US" sz="1267" dirty="0">
              <a:solidFill>
                <a:srgbClr val="D4E6F1"/>
              </a:solidFill>
              <a:latin typeface="Courier New" pitchFamily="34" charset="0"/>
              <a:cs typeface="Courier New" pitchFamily="34" charset="-120"/>
            </a:endParaRPr>
          </a:p>
          <a:p>
            <a:r>
              <a:rPr lang="en-US" sz="1267" dirty="0">
                <a:solidFill>
                  <a:srgbClr val="D4E6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── Label embeddings ─────────────────────────────────────────────────</a:t>
            </a:r>
            <a:endParaRPr lang="en-US" sz="1267" dirty="0">
              <a:solidFill>
                <a:srgbClr val="D4E6F1"/>
              </a:solidFill>
              <a:latin typeface="Courier New" pitchFamily="34" charset="0"/>
              <a:cs typeface="Courier New" pitchFamily="34" charset="-120"/>
            </a:endParaRPr>
          </a:p>
          <a:p>
            <a:r>
              <a:rPr lang="en-US" sz="1400" dirty="0" err="1">
                <a:solidFill>
                  <a:srgbClr val="D4E6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n_classes</a:t>
            </a:r>
            <a:r>
              <a:rPr lang="en-US" sz="1400" dirty="0">
                <a:solidFill>
                  <a:srgbClr val="D4E6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10</a:t>
            </a:r>
            <a:endParaRPr lang="en-US" sz="1400" dirty="0"/>
          </a:p>
          <a:p>
            <a:r>
              <a:rPr lang="en-US" sz="1400" dirty="0">
                <a:solidFill>
                  <a:srgbClr val="D4E6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labelembed1 = </a:t>
            </a:r>
            <a:r>
              <a:rPr lang="en-US" sz="1400" dirty="0" err="1">
                <a:solidFill>
                  <a:srgbClr val="D4E6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EmbedLayer</a:t>
            </a:r>
            <a:r>
              <a:rPr lang="en-US" sz="1400" dirty="0">
                <a:solidFill>
                  <a:srgbClr val="D4E6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400" dirty="0" err="1">
                <a:solidFill>
                  <a:srgbClr val="D4E6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n_classes</a:t>
            </a:r>
            <a:r>
              <a:rPr lang="en-US" sz="1400" dirty="0">
                <a:solidFill>
                  <a:srgbClr val="D4E6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512)</a:t>
            </a:r>
            <a:endParaRPr lang="en-US" sz="1400" dirty="0"/>
          </a:p>
          <a:p>
            <a:r>
              <a:rPr lang="en-US" sz="1400" dirty="0">
                <a:solidFill>
                  <a:srgbClr val="D4E6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labelembed2 = </a:t>
            </a:r>
            <a:r>
              <a:rPr lang="en-US" sz="1400" dirty="0" err="1">
                <a:solidFill>
                  <a:srgbClr val="D4E6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EmbedLayer</a:t>
            </a:r>
            <a:r>
              <a:rPr lang="en-US" sz="1400" dirty="0">
                <a:solidFill>
                  <a:srgbClr val="D4E6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400" dirty="0" err="1">
                <a:solidFill>
                  <a:srgbClr val="D4E6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n_classes</a:t>
            </a:r>
            <a:r>
              <a:rPr lang="en-US" sz="1400" dirty="0">
                <a:solidFill>
                  <a:srgbClr val="D4E6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256)</a:t>
            </a:r>
            <a:endParaRPr lang="ro-RO" sz="1400" dirty="0">
              <a:solidFill>
                <a:srgbClr val="D4E6F1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r>
              <a:rPr lang="ro-RO" sz="1400" dirty="0">
                <a:solidFill>
                  <a:srgbClr val="D4E6F1"/>
                </a:solidFill>
                <a:latin typeface="Courier New" pitchFamily="34" charset="0"/>
                <a:cs typeface="Courier New" pitchFamily="34" charset="-120"/>
              </a:rPr>
              <a:t>label = torch.tensor(</a:t>
            </a:r>
            <a:r>
              <a:rPr lang="en-US" sz="1400" dirty="0">
                <a:solidFill>
                  <a:srgbClr val="D4E6F1"/>
                </a:solidFill>
                <a:latin typeface="Courier New" pitchFamily="34" charset="0"/>
                <a:cs typeface="Courier New" pitchFamily="34" charset="-120"/>
              </a:rPr>
              <a:t>[2]</a:t>
            </a:r>
            <a:r>
              <a:rPr lang="ro-RO" sz="1400" dirty="0">
                <a:solidFill>
                  <a:srgbClr val="D4E6F1"/>
                </a:solidFill>
                <a:latin typeface="Courier New" pitchFamily="34" charset="0"/>
                <a:cs typeface="Courier New" pitchFamily="34" charset="-120"/>
              </a:rPr>
              <a:t>).long()</a:t>
            </a:r>
            <a:r>
              <a:rPr lang="en-US" sz="1400" dirty="0">
                <a:solidFill>
                  <a:srgbClr val="D4E6F1"/>
                </a:solidFill>
                <a:latin typeface="Courier New" pitchFamily="34" charset="0"/>
                <a:cs typeface="Courier New" pitchFamily="34" charset="-120"/>
              </a:rPr>
              <a:t> </a:t>
            </a:r>
            <a:endParaRPr lang="en-US" sz="1400" dirty="0"/>
          </a:p>
          <a:p>
            <a:r>
              <a:rPr lang="en-US" sz="1400" dirty="0">
                <a:solidFill>
                  <a:srgbClr val="D4E6F1"/>
                </a:solidFill>
                <a:latin typeface="Courier New" pitchFamily="34" charset="0"/>
                <a:cs typeface="Courier New" pitchFamily="34" charset="-120"/>
              </a:rPr>
              <a:t># ... other details ...</a:t>
            </a:r>
            <a:endParaRPr lang="en-US" sz="1400" dirty="0"/>
          </a:p>
          <a:p>
            <a:r>
              <a:rPr lang="en-US" sz="1400" dirty="0">
                <a:solidFill>
                  <a:srgbClr val="D4E6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lemb1 = labelembed1(c).view(-1, 512, 1, 1)  </a:t>
            </a:r>
            <a:endParaRPr lang="en-US" sz="1400" dirty="0"/>
          </a:p>
          <a:p>
            <a:r>
              <a:rPr lang="en-US" sz="1400" dirty="0">
                <a:solidFill>
                  <a:srgbClr val="D4E6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lemb2 = labelembed2(c).view(-1, 256, 1, 1) </a:t>
            </a:r>
            <a:endParaRPr lang="en-US" sz="1400" dirty="0"/>
          </a:p>
          <a:p>
            <a:endParaRPr lang="en-US" sz="1267" dirty="0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45666818-7159-E392-40FF-842742ACB3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834" y="2140644"/>
            <a:ext cx="1254673" cy="235505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A47E4261-1749-6670-D796-6D549460F1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02605" y="1410965"/>
            <a:ext cx="4889396" cy="4150710"/>
          </a:xfrm>
          <a:prstGeom prst="rect">
            <a:avLst/>
          </a:prstGeom>
        </p:spPr>
      </p:pic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B2D81270-2DB3-1A25-B6B5-8061CB4D2EF8}"/>
              </a:ext>
            </a:extLst>
          </p:cNvPr>
          <p:cNvSpPr/>
          <p:nvPr/>
        </p:nvSpPr>
        <p:spPr>
          <a:xfrm>
            <a:off x="9458961" y="2140644"/>
            <a:ext cx="1097280" cy="511116"/>
          </a:xfrm>
          <a:prstGeom prst="roundRect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7BE7512E-8D87-F15A-FC65-0F4EA49D85F7}"/>
              </a:ext>
            </a:extLst>
          </p:cNvPr>
          <p:cNvSpPr/>
          <p:nvPr/>
        </p:nvSpPr>
        <p:spPr>
          <a:xfrm>
            <a:off x="9458961" y="1464901"/>
            <a:ext cx="1097280" cy="511116"/>
          </a:xfrm>
          <a:prstGeom prst="roundRect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C12D02E9-B1C2-5747-7F94-7723C0386415}"/>
              </a:ext>
            </a:extLst>
          </p:cNvPr>
          <p:cNvSpPr/>
          <p:nvPr/>
        </p:nvSpPr>
        <p:spPr>
          <a:xfrm>
            <a:off x="9458961" y="4312746"/>
            <a:ext cx="1097280" cy="511116"/>
          </a:xfrm>
          <a:prstGeom prst="roundRect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98CFA6E2-F9F8-4C4B-9364-7D462944AF38}"/>
              </a:ext>
            </a:extLst>
          </p:cNvPr>
          <p:cNvSpPr/>
          <p:nvPr/>
        </p:nvSpPr>
        <p:spPr>
          <a:xfrm>
            <a:off x="9458961" y="5024222"/>
            <a:ext cx="1097280" cy="511116"/>
          </a:xfrm>
          <a:prstGeom prst="roundRect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1415394F-D321-9D6B-ECD4-A89B6A211214}"/>
              </a:ext>
            </a:extLst>
          </p:cNvPr>
          <p:cNvSpPr/>
          <p:nvPr/>
        </p:nvSpPr>
        <p:spPr>
          <a:xfrm>
            <a:off x="264769" y="1464901"/>
            <a:ext cx="4326481" cy="1028042"/>
          </a:xfrm>
          <a:prstGeom prst="roundRect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38" name="Shape 0">
            <a:extLst>
              <a:ext uri="{FF2B5EF4-FFF2-40B4-BE49-F238E27FC236}">
                <a16:creationId xmlns:a16="http://schemas.microsoft.com/office/drawing/2014/main" id="{9897FE38-F52E-E74B-579B-7E83A099DE85}"/>
              </a:ext>
            </a:extLst>
          </p:cNvPr>
          <p:cNvSpPr/>
          <p:nvPr/>
        </p:nvSpPr>
        <p:spPr>
          <a:xfrm>
            <a:off x="0" y="0"/>
            <a:ext cx="12192000" cy="97536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3DAB9A-D0F2-9FC8-B38A-A49593E747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E48EF80-C6EF-BB2D-340B-F0A4B846CDB5}"/>
              </a:ext>
            </a:extLst>
          </p:cNvPr>
          <p:cNvSpPr/>
          <p:nvPr/>
        </p:nvSpPr>
        <p:spPr>
          <a:xfrm>
            <a:off x="0" y="0"/>
            <a:ext cx="12192000" cy="97536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DC36D82-65A5-5F75-5EDE-20E35CB3E5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52205" y="1085523"/>
            <a:ext cx="7087589" cy="4686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30033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E49CC9-A43A-C8FF-CF94-07559533F2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647FFAD-5E05-92EF-7CC2-D559033D812C}"/>
              </a:ext>
            </a:extLst>
          </p:cNvPr>
          <p:cNvSpPr/>
          <p:nvPr/>
        </p:nvSpPr>
        <p:spPr>
          <a:xfrm>
            <a:off x="0" y="0"/>
            <a:ext cx="12192000" cy="97536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7B32DF7-43E0-23FB-0262-B20197559D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96247" y="1064490"/>
            <a:ext cx="6995753" cy="495504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4662803-2F45-0E7D-7F95-2B9147D631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84021"/>
            <a:ext cx="4174038" cy="3543427"/>
          </a:xfrm>
          <a:prstGeom prst="rect">
            <a:avLst/>
          </a:prstGeom>
        </p:spPr>
      </p:pic>
      <p:sp>
        <p:nvSpPr>
          <p:cNvPr id="7" name="Right Brace 6">
            <a:extLst>
              <a:ext uri="{FF2B5EF4-FFF2-40B4-BE49-F238E27FC236}">
                <a16:creationId xmlns:a16="http://schemas.microsoft.com/office/drawing/2014/main" id="{A48B79F1-C755-E8F8-3469-F976A23F1EDF}"/>
              </a:ext>
            </a:extLst>
          </p:cNvPr>
          <p:cNvSpPr/>
          <p:nvPr/>
        </p:nvSpPr>
        <p:spPr>
          <a:xfrm>
            <a:off x="4018590" y="324712"/>
            <a:ext cx="155448" cy="3402736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FEDC80D3-BDE2-0CFB-E093-792F3CF1B6F7}"/>
                  </a:ext>
                </a:extLst>
              </p14:cNvPr>
              <p14:cNvContentPartPr/>
              <p14:nvPr/>
            </p14:nvContentPartPr>
            <p14:xfrm>
              <a:off x="5154240" y="2133293"/>
              <a:ext cx="615600" cy="29520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FEDC80D3-BDE2-0CFB-E093-792F3CF1B6F7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091600" y="2070653"/>
                <a:ext cx="741240" cy="420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6EC5FD40-199E-F577-3119-3CAD8F9746DB}"/>
                  </a:ext>
                </a:extLst>
              </p14:cNvPr>
              <p14:cNvContentPartPr/>
              <p14:nvPr/>
            </p14:nvContentPartPr>
            <p14:xfrm>
              <a:off x="5912760" y="2036880"/>
              <a:ext cx="360" cy="2232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6EC5FD40-199E-F577-3119-3CAD8F9746DB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904120" y="2028240"/>
                <a:ext cx="18000" cy="39960"/>
              </a:xfrm>
              <a:prstGeom prst="rect">
                <a:avLst/>
              </a:prstGeom>
            </p:spPr>
          </p:pic>
        </mc:Fallback>
      </mc:AlternateContent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CD180D0F-3FA0-AD79-B133-D6E7ED9E738F}"/>
              </a:ext>
            </a:extLst>
          </p:cNvPr>
          <p:cNvCxnSpPr>
            <a:stCxn id="7" idx="1"/>
          </p:cNvCxnSpPr>
          <p:nvPr/>
        </p:nvCxnSpPr>
        <p:spPr>
          <a:xfrm>
            <a:off x="4174038" y="2026080"/>
            <a:ext cx="90139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6B9D1460-C818-01EC-12A6-15DA26648919}"/>
                  </a:ext>
                </a:extLst>
              </p14:cNvPr>
              <p14:cNvContentPartPr/>
              <p14:nvPr/>
            </p14:nvContentPartPr>
            <p14:xfrm>
              <a:off x="3035100" y="361690"/>
              <a:ext cx="768600" cy="1980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6B9D1460-C818-01EC-12A6-15DA26648919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2999100" y="289690"/>
                <a:ext cx="840240" cy="163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0A97ED90-30CB-07BE-1E4E-4761FA91EBFA}"/>
                  </a:ext>
                </a:extLst>
              </p14:cNvPr>
              <p14:cNvContentPartPr/>
              <p14:nvPr/>
            </p14:nvContentPartPr>
            <p14:xfrm>
              <a:off x="3035100" y="380770"/>
              <a:ext cx="686160" cy="360"/>
            </p14:xfrm>
          </p:contentPart>
        </mc:Choice>
        <mc:Fallback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0A97ED90-30CB-07BE-1E4E-4761FA91EBFA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2999100" y="308770"/>
                <a:ext cx="757800" cy="14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1638CAD3-870F-5715-B330-C2F367B5F397}"/>
                  </a:ext>
                </a:extLst>
              </p14:cNvPr>
              <p14:cNvContentPartPr/>
              <p14:nvPr/>
            </p14:nvContentPartPr>
            <p14:xfrm>
              <a:off x="3047880" y="980400"/>
              <a:ext cx="744120" cy="360"/>
            </p14:xfrm>
          </p:contentPart>
        </mc:Choice>
        <mc:Fallback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1638CAD3-870F-5715-B330-C2F367B5F397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3011880" y="908400"/>
                <a:ext cx="815760" cy="14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DA93FF70-36DE-F652-F9CA-653FAA4B4AE1}"/>
                  </a:ext>
                </a:extLst>
              </p14:cNvPr>
              <p14:cNvContentPartPr/>
              <p14:nvPr/>
            </p14:nvContentPartPr>
            <p14:xfrm>
              <a:off x="2870040" y="1579800"/>
              <a:ext cx="517320" cy="360"/>
            </p14:xfrm>
          </p:contentPart>
        </mc:Choice>
        <mc:Fallback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DA93FF70-36DE-F652-F9CA-653FAA4B4AE1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2834400" y="1507800"/>
                <a:ext cx="588960" cy="14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4205F0B1-E1BB-270A-E6BC-ECA3EFA7A5BE}"/>
                  </a:ext>
                </a:extLst>
              </p14:cNvPr>
              <p14:cNvContentPartPr/>
              <p14:nvPr/>
            </p14:nvContentPartPr>
            <p14:xfrm>
              <a:off x="3042480" y="2798760"/>
              <a:ext cx="782280" cy="10800"/>
            </p14:xfrm>
          </p:contentPart>
        </mc:Choice>
        <mc:Fallback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4205F0B1-E1BB-270A-E6BC-ECA3EFA7A5BE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3006840" y="2726760"/>
                <a:ext cx="853920" cy="154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8F3F2175-1168-8057-EFFF-DFBEEA4F41ED}"/>
                  </a:ext>
                </a:extLst>
              </p14:cNvPr>
              <p14:cNvContentPartPr/>
              <p14:nvPr/>
            </p14:nvContentPartPr>
            <p14:xfrm>
              <a:off x="3017280" y="3423720"/>
              <a:ext cx="787680" cy="10440"/>
            </p14:xfrm>
          </p:contentPart>
        </mc:Choice>
        <mc:Fallback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8F3F2175-1168-8057-EFFF-DFBEEA4F41ED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2981280" y="3351720"/>
                <a:ext cx="859320" cy="15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C8EA99B3-463B-3E79-2DD6-7FEFA5149E0D}"/>
                  </a:ext>
                </a:extLst>
              </p14:cNvPr>
              <p14:cNvContentPartPr/>
              <p14:nvPr/>
            </p14:nvContentPartPr>
            <p14:xfrm>
              <a:off x="5252520" y="2006400"/>
              <a:ext cx="619920" cy="5040"/>
            </p14:xfrm>
          </p:contentPart>
        </mc:Choice>
        <mc:Fallback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C8EA99B3-463B-3E79-2DD6-7FEFA5149E0D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5216520" y="1934760"/>
                <a:ext cx="691560" cy="148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BE1AF7F2-771C-2B40-5ADF-DF539E1DB90E}"/>
                  </a:ext>
                </a:extLst>
              </p14:cNvPr>
              <p14:cNvContentPartPr/>
              <p14:nvPr/>
            </p14:nvContentPartPr>
            <p14:xfrm>
              <a:off x="11061350" y="2806540"/>
              <a:ext cx="939600" cy="7560"/>
            </p14:xfrm>
          </p:contentPart>
        </mc:Choice>
        <mc:Fallback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BE1AF7F2-771C-2B40-5ADF-DF539E1DB90E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11025710" y="2734540"/>
                <a:ext cx="1011240" cy="151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A55A56B5-1899-209C-680D-174C0AE64CCF}"/>
                  </a:ext>
                </a:extLst>
              </p14:cNvPr>
              <p14:cNvContentPartPr/>
              <p14:nvPr/>
            </p14:nvContentPartPr>
            <p14:xfrm>
              <a:off x="11048750" y="3174820"/>
              <a:ext cx="959400" cy="360"/>
            </p14:xfrm>
          </p:contentPart>
        </mc:Choice>
        <mc:Fallback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A55A56B5-1899-209C-680D-174C0AE64CCF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11012750" y="3102820"/>
                <a:ext cx="1031040" cy="14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22087687-D2C9-399F-B1D1-A9666E4C6588}"/>
                  </a:ext>
                </a:extLst>
              </p14:cNvPr>
              <p14:cNvContentPartPr/>
              <p14:nvPr/>
            </p14:nvContentPartPr>
            <p14:xfrm>
              <a:off x="11036150" y="3714100"/>
              <a:ext cx="957240" cy="13680"/>
            </p14:xfrm>
          </p:contentPart>
        </mc:Choice>
        <mc:Fallback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22087687-D2C9-399F-B1D1-A9666E4C6588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11000510" y="3642460"/>
                <a:ext cx="1028880" cy="157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7E0C675E-1B12-9E43-2557-B13A8E80214C}"/>
                  </a:ext>
                </a:extLst>
              </p14:cNvPr>
              <p14:cNvContentPartPr/>
              <p14:nvPr/>
            </p14:nvContentPartPr>
            <p14:xfrm>
              <a:off x="11048750" y="4095700"/>
              <a:ext cx="963720" cy="360"/>
            </p14:xfrm>
          </p:contentPart>
        </mc:Choice>
        <mc:Fallback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7E0C675E-1B12-9E43-2557-B13A8E80214C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11013110" y="4023700"/>
                <a:ext cx="1035360" cy="144000"/>
              </a:xfrm>
              <a:prstGeom prst="rect">
                <a:avLst/>
              </a:prstGeom>
            </p:spPr>
          </p:pic>
        </mc:Fallback>
      </mc:AlternateContent>
      <p:sp>
        <p:nvSpPr>
          <p:cNvPr id="35" name="Right Brace 34">
            <a:extLst>
              <a:ext uri="{FF2B5EF4-FFF2-40B4-BE49-F238E27FC236}">
                <a16:creationId xmlns:a16="http://schemas.microsoft.com/office/drawing/2014/main" id="{D63511A8-395A-A751-C4A3-16F7A0172D4F}"/>
              </a:ext>
            </a:extLst>
          </p:cNvPr>
          <p:cNvSpPr/>
          <p:nvPr/>
        </p:nvSpPr>
        <p:spPr>
          <a:xfrm rot="5400000">
            <a:off x="8322316" y="3644710"/>
            <a:ext cx="138238" cy="4824064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7F4EAD83-3536-516B-3A5F-CC021F71DAC4}"/>
              </a:ext>
            </a:extLst>
          </p:cNvPr>
          <p:cNvSpPr txBox="1"/>
          <p:nvPr/>
        </p:nvSpPr>
        <p:spPr>
          <a:xfrm>
            <a:off x="5979402" y="6327529"/>
            <a:ext cx="577304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          This is the                           U-Net model</a:t>
            </a:r>
            <a:endParaRPr lang="ro-RO" sz="2000" dirty="0"/>
          </a:p>
        </p:txBody>
      </p:sp>
      <p:pic>
        <p:nvPicPr>
          <p:cNvPr id="49" name="Picture 48">
            <a:extLst>
              <a:ext uri="{FF2B5EF4-FFF2-40B4-BE49-F238E27FC236}">
                <a16:creationId xmlns:a16="http://schemas.microsoft.com/office/drawing/2014/main" id="{4AB62B04-ED04-BF4D-00EF-607E4F0A442B}"/>
              </a:ext>
            </a:extLst>
      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7809103" y="6205512"/>
            <a:ext cx="1164664" cy="644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76890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A0CDE2-656A-A416-C1E2-554E169CD6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AEAE0484-B893-1D37-275F-94388EF6AA49}"/>
              </a:ext>
            </a:extLst>
          </p:cNvPr>
          <p:cNvSpPr/>
          <p:nvPr/>
        </p:nvSpPr>
        <p:spPr>
          <a:xfrm>
            <a:off x="0" y="0"/>
            <a:ext cx="12192000" cy="97536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pic>
        <p:nvPicPr>
          <p:cNvPr id="14340" name="Picture 4" descr="Its Not Easy GIFs | Tenor">
            <a:extLst>
              <a:ext uri="{FF2B5EF4-FFF2-40B4-BE49-F238E27FC236}">
                <a16:creationId xmlns:a16="http://schemas.microsoft.com/office/drawing/2014/main" id="{4244E2E8-8A3A-659F-9439-C0B84D1516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02237" y="1535237"/>
            <a:ext cx="3787525" cy="3787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332494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46304"/>
            <a:ext cx="11094720" cy="755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467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Embedding &amp; Classifier-Free Guidance</a:t>
            </a:r>
            <a:endParaRPr lang="en-US" sz="3467" dirty="0"/>
          </a:p>
        </p:txBody>
      </p:sp>
      <p:sp>
        <p:nvSpPr>
          <p:cNvPr id="4" name="Text 2"/>
          <p:cNvSpPr/>
          <p:nvPr/>
        </p:nvSpPr>
        <p:spPr>
          <a:xfrm>
            <a:off x="548640" y="950976"/>
            <a:ext cx="1109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Tells the U-Net which clothing item to generate — and sometimes deliberately hides that information.</a:t>
            </a:r>
            <a:endParaRPr lang="en-US" sz="1733" dirty="0"/>
          </a:p>
        </p:txBody>
      </p:sp>
      <p:sp>
        <p:nvSpPr>
          <p:cNvPr id="5" name="Shape 3"/>
          <p:cNvSpPr/>
          <p:nvPr/>
        </p:nvSpPr>
        <p:spPr>
          <a:xfrm>
            <a:off x="426720" y="1316736"/>
            <a:ext cx="5486400" cy="463296"/>
          </a:xfrm>
          <a:prstGeom prst="rect">
            <a:avLst/>
          </a:prstGeom>
          <a:solidFill>
            <a:srgbClr val="1F5BAD"/>
          </a:solidFill>
          <a:ln w="12700">
            <a:solidFill>
              <a:srgbClr val="1F5BA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6720" y="1316736"/>
            <a:ext cx="548640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Embedding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26720" y="1877568"/>
            <a:ext cx="5486400" cy="682752"/>
          </a:xfrm>
          <a:prstGeom prst="rect">
            <a:avLst/>
          </a:prstGeom>
          <a:solidFill>
            <a:srgbClr val="EEF3FB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85216" y="1877568"/>
            <a:ext cx="5169408" cy="682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Labels 0–9 are converted to a one-hot vector (10 values, all 0 except a single 1).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26720" y="2633472"/>
            <a:ext cx="5486400" cy="68275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85216" y="2633472"/>
            <a:ext cx="5169408" cy="682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This vector passes through EmbedLayer, giving a (B, 512, 1, 1) tensor.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26720" y="3389376"/>
            <a:ext cx="5486400" cy="682752"/>
          </a:xfrm>
          <a:prstGeom prst="rect">
            <a:avLst/>
          </a:prstGeom>
          <a:solidFill>
            <a:srgbClr val="EEF3FB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85216" y="3389376"/>
            <a:ext cx="5169408" cy="682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The label embedding is multiplied with the decoder feature maps, steering image generation.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278880" y="1316736"/>
            <a:ext cx="5486400" cy="463296"/>
          </a:xfrm>
          <a:prstGeom prst="rect">
            <a:avLst/>
          </a:prstGeom>
          <a:solidFill>
            <a:srgbClr val="1B6B60"/>
          </a:solidFill>
          <a:ln w="12700">
            <a:solidFill>
              <a:srgbClr val="1B6B6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78880" y="1316736"/>
            <a:ext cx="548640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Classifier-Free Guidance (CFG)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278880" y="1877568"/>
            <a:ext cx="5486400" cy="682752"/>
          </a:xfrm>
          <a:prstGeom prst="rect">
            <a:avLst/>
          </a:prstGeom>
          <a:solidFill>
            <a:srgbClr val="E8F5E9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37376" y="1877568"/>
            <a:ext cx="5169408" cy="682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Introduced by </a:t>
            </a:r>
            <a:r>
              <a:rPr lang="en-US" sz="14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/>
              </a:rPr>
              <a:t>Ho &amp; Salimans (2022). 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278880" y="2633472"/>
            <a:ext cx="5486400" cy="68275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37376" y="2633472"/>
            <a:ext cx="5169408" cy="682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During training: label is hidden with 10% probability → model also learns unconditional generation.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278880" y="3389376"/>
            <a:ext cx="5486400" cy="682752"/>
          </a:xfrm>
          <a:prstGeom prst="rect">
            <a:avLst/>
          </a:prstGeom>
          <a:solidFill>
            <a:srgbClr val="E8F5E9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37376" y="3389376"/>
            <a:ext cx="5169408" cy="682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At inference: blend conditional + unconditional predictions using </a:t>
            </a:r>
            <a:r>
              <a:rPr lang="en-US" sz="1400" dirty="0" err="1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guide_w</a:t>
            </a:r>
            <a:r>
              <a:rPr lang="en-US" sz="14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parameter.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26720" y="4242816"/>
            <a:ext cx="11338560" cy="1243584"/>
          </a:xfrm>
          <a:prstGeom prst="rect">
            <a:avLst/>
          </a:prstGeom>
          <a:solidFill>
            <a:srgbClr val="FEF9E7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09600" y="431596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b="1" dirty="0">
                <a:solidFill>
                  <a:srgbClr val="8B6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CFG Sampling Formula</a:t>
            </a: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609600" y="4706112"/>
            <a:ext cx="10972800" cy="682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400" i="1" dirty="0">
                <a:solidFill>
                  <a:srgbClr val="8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ε_final  =  (1 + guide_w) × ε_conditional  −  guide_w × ε_unconditional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426720" y="5583936"/>
            <a:ext cx="1133856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 of guide_w</a:t>
            </a:r>
            <a:endParaRPr lang="en-US" sz="1600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4F609FA-2CEA-0650-3607-72C2419693C5}"/>
              </a:ext>
            </a:extLst>
          </p:cNvPr>
          <p:cNvSpPr txBox="1"/>
          <p:nvPr/>
        </p:nvSpPr>
        <p:spPr>
          <a:xfrm>
            <a:off x="334960" y="5754624"/>
            <a:ext cx="1143032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TL;DR</a:t>
            </a:r>
            <a:r>
              <a:rPr lang="en-US" dirty="0"/>
              <a:t>: </a:t>
            </a:r>
          </a:p>
          <a:p>
            <a:r>
              <a:rPr lang="en-US" i="1" dirty="0">
                <a:highlight>
                  <a:srgbClr val="FFFF00"/>
                </a:highlight>
              </a:rPr>
              <a:t>When the value of </a:t>
            </a:r>
            <a:r>
              <a:rPr lang="en-US" b="1" i="1" dirty="0" err="1">
                <a:highlight>
                  <a:srgbClr val="FFFF00"/>
                </a:highlight>
              </a:rPr>
              <a:t>guide_w</a:t>
            </a:r>
            <a:r>
              <a:rPr lang="en-US" i="1" dirty="0">
                <a:highlight>
                  <a:srgbClr val="FFFF00"/>
                </a:highlight>
              </a:rPr>
              <a:t> is large, the generated images match the labels well but lack diversity. </a:t>
            </a:r>
          </a:p>
          <a:p>
            <a:r>
              <a:rPr lang="en-US" i="1" dirty="0">
                <a:highlight>
                  <a:srgbClr val="FFFF00"/>
                </a:highlight>
              </a:rPr>
              <a:t>When </a:t>
            </a:r>
            <a:r>
              <a:rPr lang="en-US" b="1" i="1" dirty="0" err="1">
                <a:highlight>
                  <a:srgbClr val="FFFF00"/>
                </a:highlight>
              </a:rPr>
              <a:t>guide_w</a:t>
            </a:r>
            <a:r>
              <a:rPr lang="en-US" i="1" dirty="0">
                <a:highlight>
                  <a:srgbClr val="FFFF00"/>
                </a:highlight>
              </a:rPr>
              <a:t> is small, you see more diversity, but the generated images may not match the labels closely. </a:t>
            </a:r>
            <a:endParaRPr lang="ro-RO" i="1" dirty="0">
              <a:highlight>
                <a:srgbClr val="FFFF00"/>
              </a:highlight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E20133-3374-FD0F-C7D9-DE90A79C89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A2074A2-FC6D-2241-5469-7CDEA08EADD6}"/>
              </a:ext>
            </a:extLst>
          </p:cNvPr>
          <p:cNvSpPr/>
          <p:nvPr/>
        </p:nvSpPr>
        <p:spPr>
          <a:xfrm>
            <a:off x="0" y="0"/>
            <a:ext cx="12192000" cy="97536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4" name="Shape 19">
            <a:extLst>
              <a:ext uri="{FF2B5EF4-FFF2-40B4-BE49-F238E27FC236}">
                <a16:creationId xmlns:a16="http://schemas.microsoft.com/office/drawing/2014/main" id="{3C8557C8-8D02-48F1-DF6B-EE000021F2BB}"/>
              </a:ext>
            </a:extLst>
          </p:cNvPr>
          <p:cNvSpPr/>
          <p:nvPr/>
        </p:nvSpPr>
        <p:spPr>
          <a:xfrm>
            <a:off x="3264747" y="1465410"/>
            <a:ext cx="1950720" cy="585216"/>
          </a:xfrm>
          <a:prstGeom prst="rect">
            <a:avLst/>
          </a:prstGeom>
          <a:solidFill>
            <a:srgbClr val="1F5BAD"/>
          </a:solidFill>
          <a:ln w="12700">
            <a:solidFill>
              <a:srgbClr val="1F5BAD"/>
            </a:solidFill>
            <a:prstDash val="solid"/>
          </a:ln>
        </p:spPr>
      </p:sp>
      <p:sp>
        <p:nvSpPr>
          <p:cNvPr id="15" name="Text 20">
            <a:extLst>
              <a:ext uri="{FF2B5EF4-FFF2-40B4-BE49-F238E27FC236}">
                <a16:creationId xmlns:a16="http://schemas.microsoft.com/office/drawing/2014/main" id="{51C56C68-FE7E-7AC3-1780-B2167733D6F4}"/>
              </a:ext>
            </a:extLst>
          </p:cNvPr>
          <p:cNvSpPr/>
          <p:nvPr/>
        </p:nvSpPr>
        <p:spPr>
          <a:xfrm>
            <a:off x="3264747" y="1465410"/>
            <a:ext cx="19507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= 3</a:t>
            </a:r>
            <a:endParaRPr lang="en-US" sz="1333" dirty="0"/>
          </a:p>
        </p:txBody>
      </p:sp>
      <p:sp>
        <p:nvSpPr>
          <p:cNvPr id="16" name="Shape 21">
            <a:extLst>
              <a:ext uri="{FF2B5EF4-FFF2-40B4-BE49-F238E27FC236}">
                <a16:creationId xmlns:a16="http://schemas.microsoft.com/office/drawing/2014/main" id="{C94E3575-E4A7-CB8F-B800-8FF7D583C476}"/>
              </a:ext>
            </a:extLst>
          </p:cNvPr>
          <p:cNvSpPr/>
          <p:nvPr/>
        </p:nvSpPr>
        <p:spPr>
          <a:xfrm>
            <a:off x="5252043" y="1465410"/>
            <a:ext cx="3319649" cy="585216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</p:sp>
      <p:sp>
        <p:nvSpPr>
          <p:cNvPr id="17" name="Text 22">
            <a:extLst>
              <a:ext uri="{FF2B5EF4-FFF2-40B4-BE49-F238E27FC236}">
                <a16:creationId xmlns:a16="http://schemas.microsoft.com/office/drawing/2014/main" id="{843963C5-1992-44F2-79E2-4B51F9C09633}"/>
              </a:ext>
            </a:extLst>
          </p:cNvPr>
          <p:cNvSpPr/>
          <p:nvPr/>
        </p:nvSpPr>
        <p:spPr>
          <a:xfrm>
            <a:off x="5337387" y="1465410"/>
            <a:ext cx="3319649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dirty="0">
                <a:solidFill>
                  <a:srgbClr val="D4E6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[0, 0, 0, 1, 0, 0, 0, 0, 0, 0]</a:t>
            </a:r>
            <a:endParaRPr lang="en-US" sz="1333" dirty="0"/>
          </a:p>
        </p:txBody>
      </p:sp>
      <p:sp>
        <p:nvSpPr>
          <p:cNvPr id="19" name="Shape 24">
            <a:extLst>
              <a:ext uri="{FF2B5EF4-FFF2-40B4-BE49-F238E27FC236}">
                <a16:creationId xmlns:a16="http://schemas.microsoft.com/office/drawing/2014/main" id="{64101506-B09D-6CB2-6742-9E70C74B66DC}"/>
              </a:ext>
            </a:extLst>
          </p:cNvPr>
          <p:cNvSpPr/>
          <p:nvPr/>
        </p:nvSpPr>
        <p:spPr>
          <a:xfrm>
            <a:off x="548640" y="4664744"/>
            <a:ext cx="1950720" cy="585216"/>
          </a:xfrm>
          <a:prstGeom prst="rect">
            <a:avLst/>
          </a:prstGeom>
          <a:solidFill>
            <a:srgbClr val="1F5BAD"/>
          </a:solidFill>
          <a:ln w="12700">
            <a:solidFill>
              <a:srgbClr val="1F5BAD"/>
            </a:solidFill>
            <a:prstDash val="solid"/>
          </a:ln>
        </p:spPr>
      </p:sp>
      <p:sp>
        <p:nvSpPr>
          <p:cNvPr id="20" name="Text 25">
            <a:extLst>
              <a:ext uri="{FF2B5EF4-FFF2-40B4-BE49-F238E27FC236}">
                <a16:creationId xmlns:a16="http://schemas.microsoft.com/office/drawing/2014/main" id="{B19C29FC-1574-8469-DD1F-E1098D6EFA9D}"/>
              </a:ext>
            </a:extLst>
          </p:cNvPr>
          <p:cNvSpPr/>
          <p:nvPr/>
        </p:nvSpPr>
        <p:spPr>
          <a:xfrm>
            <a:off x="548640" y="4664744"/>
            <a:ext cx="19507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</a:t>
            </a:r>
            <a:endParaRPr lang="en-US" sz="1333" dirty="0"/>
          </a:p>
        </p:txBody>
      </p:sp>
      <p:sp>
        <p:nvSpPr>
          <p:cNvPr id="21" name="Shape 26">
            <a:extLst>
              <a:ext uri="{FF2B5EF4-FFF2-40B4-BE49-F238E27FC236}">
                <a16:creationId xmlns:a16="http://schemas.microsoft.com/office/drawing/2014/main" id="{0A9CEBC8-997C-E5D0-E187-D4CCB77CF996}"/>
              </a:ext>
            </a:extLst>
          </p:cNvPr>
          <p:cNvSpPr/>
          <p:nvPr/>
        </p:nvSpPr>
        <p:spPr>
          <a:xfrm>
            <a:off x="2535936" y="4664744"/>
            <a:ext cx="3319649" cy="585216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</p:sp>
      <p:sp>
        <p:nvSpPr>
          <p:cNvPr id="22" name="Text 27">
            <a:extLst>
              <a:ext uri="{FF2B5EF4-FFF2-40B4-BE49-F238E27FC236}">
                <a16:creationId xmlns:a16="http://schemas.microsoft.com/office/drawing/2014/main" id="{4041865E-AC38-9699-175A-C554BD08FC28}"/>
              </a:ext>
            </a:extLst>
          </p:cNvPr>
          <p:cNvSpPr/>
          <p:nvPr/>
        </p:nvSpPr>
        <p:spPr>
          <a:xfrm>
            <a:off x="2621280" y="4664744"/>
            <a:ext cx="3425613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dirty="0">
                <a:solidFill>
                  <a:srgbClr val="D4E6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[1, 1, 1, 1, 1, 1, 1, 1, 1, 1]</a:t>
            </a:r>
            <a:endParaRPr lang="en-US" sz="1333" dirty="0"/>
          </a:p>
        </p:txBody>
      </p:sp>
      <p:sp>
        <p:nvSpPr>
          <p:cNvPr id="24" name="Shape 29">
            <a:extLst>
              <a:ext uri="{FF2B5EF4-FFF2-40B4-BE49-F238E27FC236}">
                <a16:creationId xmlns:a16="http://schemas.microsoft.com/office/drawing/2014/main" id="{9D41FA45-62F5-12D5-6CFF-32BDEDCC4E56}"/>
              </a:ext>
            </a:extLst>
          </p:cNvPr>
          <p:cNvSpPr/>
          <p:nvPr/>
        </p:nvSpPr>
        <p:spPr>
          <a:xfrm>
            <a:off x="548640" y="5323112"/>
            <a:ext cx="1950720" cy="585216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5" name="Text 30">
            <a:extLst>
              <a:ext uri="{FF2B5EF4-FFF2-40B4-BE49-F238E27FC236}">
                <a16:creationId xmlns:a16="http://schemas.microsoft.com/office/drawing/2014/main" id="{71AAF6DB-3208-FC41-414A-A8127A020A08}"/>
              </a:ext>
            </a:extLst>
          </p:cNvPr>
          <p:cNvSpPr/>
          <p:nvPr/>
        </p:nvSpPr>
        <p:spPr>
          <a:xfrm>
            <a:off x="548640" y="5323112"/>
            <a:ext cx="19507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= onehot × mask</a:t>
            </a:r>
            <a:endParaRPr lang="en-US" sz="1333" dirty="0"/>
          </a:p>
        </p:txBody>
      </p:sp>
      <p:sp>
        <p:nvSpPr>
          <p:cNvPr id="26" name="Shape 31">
            <a:extLst>
              <a:ext uri="{FF2B5EF4-FFF2-40B4-BE49-F238E27FC236}">
                <a16:creationId xmlns:a16="http://schemas.microsoft.com/office/drawing/2014/main" id="{97283813-4F74-BE27-7645-D3FDBD200B99}"/>
              </a:ext>
            </a:extLst>
          </p:cNvPr>
          <p:cNvSpPr/>
          <p:nvPr/>
        </p:nvSpPr>
        <p:spPr>
          <a:xfrm>
            <a:off x="2535936" y="5323112"/>
            <a:ext cx="3319649" cy="585216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</p:sp>
      <p:sp>
        <p:nvSpPr>
          <p:cNvPr id="27" name="Text 32">
            <a:extLst>
              <a:ext uri="{FF2B5EF4-FFF2-40B4-BE49-F238E27FC236}">
                <a16:creationId xmlns:a16="http://schemas.microsoft.com/office/drawing/2014/main" id="{63205047-DAD1-EA7E-D244-70662618B3A1}"/>
              </a:ext>
            </a:extLst>
          </p:cNvPr>
          <p:cNvSpPr/>
          <p:nvPr/>
        </p:nvSpPr>
        <p:spPr>
          <a:xfrm>
            <a:off x="2621280" y="5323112"/>
            <a:ext cx="3425613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dirty="0">
                <a:solidFill>
                  <a:srgbClr val="D4E6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[0, 0, 0, 1, 0, 0, 0, 0, 0, 0]</a:t>
            </a:r>
            <a:endParaRPr lang="en-US" sz="1333" dirty="0"/>
          </a:p>
        </p:txBody>
      </p:sp>
      <p:sp>
        <p:nvSpPr>
          <p:cNvPr id="11" name="Shape 24">
            <a:extLst>
              <a:ext uri="{FF2B5EF4-FFF2-40B4-BE49-F238E27FC236}">
                <a16:creationId xmlns:a16="http://schemas.microsoft.com/office/drawing/2014/main" id="{BC7C108E-092E-4BEE-FDA4-D1349A0CBD80}"/>
              </a:ext>
            </a:extLst>
          </p:cNvPr>
          <p:cNvSpPr/>
          <p:nvPr/>
        </p:nvSpPr>
        <p:spPr>
          <a:xfrm>
            <a:off x="6441403" y="4664744"/>
            <a:ext cx="1950720" cy="585216"/>
          </a:xfrm>
          <a:prstGeom prst="rect">
            <a:avLst/>
          </a:prstGeom>
          <a:solidFill>
            <a:srgbClr val="1F5BAD"/>
          </a:solidFill>
          <a:ln w="12700">
            <a:solidFill>
              <a:srgbClr val="1F5BAD"/>
            </a:solidFill>
            <a:prstDash val="solid"/>
          </a:ln>
        </p:spPr>
      </p:sp>
      <p:sp>
        <p:nvSpPr>
          <p:cNvPr id="12" name="Text 25">
            <a:extLst>
              <a:ext uri="{FF2B5EF4-FFF2-40B4-BE49-F238E27FC236}">
                <a16:creationId xmlns:a16="http://schemas.microsoft.com/office/drawing/2014/main" id="{596A52E8-1BB3-D556-95A4-2F49632EBD54}"/>
              </a:ext>
            </a:extLst>
          </p:cNvPr>
          <p:cNvSpPr/>
          <p:nvPr/>
        </p:nvSpPr>
        <p:spPr>
          <a:xfrm>
            <a:off x="6441403" y="4664744"/>
            <a:ext cx="19507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</a:t>
            </a:r>
            <a:endParaRPr lang="en-US" sz="1333" dirty="0"/>
          </a:p>
        </p:txBody>
      </p:sp>
      <p:sp>
        <p:nvSpPr>
          <p:cNvPr id="13" name="Shape 26">
            <a:extLst>
              <a:ext uri="{FF2B5EF4-FFF2-40B4-BE49-F238E27FC236}">
                <a16:creationId xmlns:a16="http://schemas.microsoft.com/office/drawing/2014/main" id="{68C71523-F1D1-3E7A-26A1-83A25FE95009}"/>
              </a:ext>
            </a:extLst>
          </p:cNvPr>
          <p:cNvSpPr/>
          <p:nvPr/>
        </p:nvSpPr>
        <p:spPr>
          <a:xfrm>
            <a:off x="8428699" y="4664744"/>
            <a:ext cx="3319649" cy="585216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CB24425F-E070-BEBC-07A1-8EA0850B55BC}"/>
              </a:ext>
            </a:extLst>
          </p:cNvPr>
          <p:cNvSpPr/>
          <p:nvPr/>
        </p:nvSpPr>
        <p:spPr>
          <a:xfrm>
            <a:off x="8514043" y="4664744"/>
            <a:ext cx="3425613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dirty="0">
                <a:solidFill>
                  <a:srgbClr val="D4E6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[0, 0, 0, 0, 0, 0, 0, 0, 0, 0]</a:t>
            </a:r>
            <a:endParaRPr lang="en-US" sz="1333" dirty="0"/>
          </a:p>
        </p:txBody>
      </p:sp>
      <p:sp>
        <p:nvSpPr>
          <p:cNvPr id="30" name="Shape 29">
            <a:extLst>
              <a:ext uri="{FF2B5EF4-FFF2-40B4-BE49-F238E27FC236}">
                <a16:creationId xmlns:a16="http://schemas.microsoft.com/office/drawing/2014/main" id="{6E172CBA-5083-AE8D-CF63-893C6E256D56}"/>
              </a:ext>
            </a:extLst>
          </p:cNvPr>
          <p:cNvSpPr/>
          <p:nvPr/>
        </p:nvSpPr>
        <p:spPr>
          <a:xfrm>
            <a:off x="6441403" y="5323112"/>
            <a:ext cx="1950720" cy="585216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1" name="Text 30">
            <a:extLst>
              <a:ext uri="{FF2B5EF4-FFF2-40B4-BE49-F238E27FC236}">
                <a16:creationId xmlns:a16="http://schemas.microsoft.com/office/drawing/2014/main" id="{79BDA703-9761-7242-A261-323AEE272BFF}"/>
              </a:ext>
            </a:extLst>
          </p:cNvPr>
          <p:cNvSpPr/>
          <p:nvPr/>
        </p:nvSpPr>
        <p:spPr>
          <a:xfrm>
            <a:off x="6441403" y="5323112"/>
            <a:ext cx="19507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= onehot × mask</a:t>
            </a:r>
            <a:endParaRPr lang="en-US" sz="1333" dirty="0"/>
          </a:p>
        </p:txBody>
      </p:sp>
      <p:sp>
        <p:nvSpPr>
          <p:cNvPr id="32" name="Shape 31">
            <a:extLst>
              <a:ext uri="{FF2B5EF4-FFF2-40B4-BE49-F238E27FC236}">
                <a16:creationId xmlns:a16="http://schemas.microsoft.com/office/drawing/2014/main" id="{858D298E-ABDD-FAC5-18D7-22EE1C61841D}"/>
              </a:ext>
            </a:extLst>
          </p:cNvPr>
          <p:cNvSpPr/>
          <p:nvPr/>
        </p:nvSpPr>
        <p:spPr>
          <a:xfrm>
            <a:off x="8428699" y="5323112"/>
            <a:ext cx="3319649" cy="585216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</p:sp>
      <p:sp>
        <p:nvSpPr>
          <p:cNvPr id="33" name="Text 32">
            <a:extLst>
              <a:ext uri="{FF2B5EF4-FFF2-40B4-BE49-F238E27FC236}">
                <a16:creationId xmlns:a16="http://schemas.microsoft.com/office/drawing/2014/main" id="{C7879BDE-D8D0-6B5E-47D7-46DAA4749237}"/>
              </a:ext>
            </a:extLst>
          </p:cNvPr>
          <p:cNvSpPr/>
          <p:nvPr/>
        </p:nvSpPr>
        <p:spPr>
          <a:xfrm>
            <a:off x="8514043" y="5323112"/>
            <a:ext cx="3425613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dirty="0">
                <a:solidFill>
                  <a:srgbClr val="D4E6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[0, 0, 0, 0, 0, 0, 0, 0, 0, 0]</a:t>
            </a:r>
            <a:endParaRPr lang="en-US" sz="1333" dirty="0"/>
          </a:p>
        </p:txBody>
      </p:sp>
      <p:sp>
        <p:nvSpPr>
          <p:cNvPr id="34" name="Text 1">
            <a:extLst>
              <a:ext uri="{FF2B5EF4-FFF2-40B4-BE49-F238E27FC236}">
                <a16:creationId xmlns:a16="http://schemas.microsoft.com/office/drawing/2014/main" id="{CADFC06A-D8AB-B87A-4DCC-40A96C2BBB19}"/>
              </a:ext>
            </a:extLst>
          </p:cNvPr>
          <p:cNvSpPr/>
          <p:nvPr/>
        </p:nvSpPr>
        <p:spPr>
          <a:xfrm>
            <a:off x="548640" y="146304"/>
            <a:ext cx="11094720" cy="755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467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During Training …</a:t>
            </a:r>
            <a:endParaRPr lang="en-US" sz="3467" dirty="0"/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0D84724A-E0B7-8945-E671-05E487CAE0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3320" y="2456591"/>
            <a:ext cx="1613443" cy="1312137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4105731F-D850-2203-5ED2-7BB1665C6A16}"/>
              </a:ext>
            </a:extLst>
          </p:cNvPr>
          <p:cNvSpPr txBox="1"/>
          <p:nvPr/>
        </p:nvSpPr>
        <p:spPr>
          <a:xfrm>
            <a:off x="1650911" y="6100263"/>
            <a:ext cx="36864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highlight>
                  <a:srgbClr val="FFFF00"/>
                </a:highlight>
              </a:rPr>
              <a:t>Keep the label information</a:t>
            </a:r>
            <a:endParaRPr lang="ro-RO" sz="2000" b="1" dirty="0">
              <a:highlight>
                <a:srgbClr val="FFFF00"/>
              </a:highlight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5EA5A68-FD7E-5459-25AA-C5097F616442}"/>
              </a:ext>
            </a:extLst>
          </p:cNvPr>
          <p:cNvSpPr txBox="1"/>
          <p:nvPr/>
        </p:nvSpPr>
        <p:spPr>
          <a:xfrm>
            <a:off x="7416763" y="6100263"/>
            <a:ext cx="36864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highlight>
                  <a:srgbClr val="FFFF00"/>
                </a:highlight>
              </a:rPr>
              <a:t>Discard the label information</a:t>
            </a:r>
            <a:endParaRPr lang="ro-RO" sz="2000" b="1" dirty="0">
              <a:highlight>
                <a:srgbClr val="FFFF00"/>
              </a:highlight>
            </a:endParaRPr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9A0944EA-6BEC-79D6-EA74-93897F4603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29017" y="2462170"/>
            <a:ext cx="1463039" cy="1304336"/>
          </a:xfrm>
          <a:prstGeom prst="rect">
            <a:avLst/>
          </a:prstGeom>
        </p:spPr>
      </p:pic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863F9D16-70F9-833F-638D-978DDE5246F4}"/>
              </a:ext>
            </a:extLst>
          </p:cNvPr>
          <p:cNvCxnSpPr/>
          <p:nvPr/>
        </p:nvCxnSpPr>
        <p:spPr>
          <a:xfrm>
            <a:off x="5692056" y="2050626"/>
            <a:ext cx="0" cy="40596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462FBCDD-7386-81BB-979D-5B191AC127F5}"/>
              </a:ext>
            </a:extLst>
          </p:cNvPr>
          <p:cNvCxnSpPr/>
          <p:nvPr/>
        </p:nvCxnSpPr>
        <p:spPr>
          <a:xfrm flipH="1">
            <a:off x="3485136" y="3766506"/>
            <a:ext cx="2265462" cy="89823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C2FE1830-316C-C1B3-8E19-A1ACDBAEFE7E}"/>
              </a:ext>
            </a:extLst>
          </p:cNvPr>
          <p:cNvCxnSpPr/>
          <p:nvPr/>
        </p:nvCxnSpPr>
        <p:spPr>
          <a:xfrm>
            <a:off x="5750598" y="3766506"/>
            <a:ext cx="2527919" cy="89823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2ECE7A66-1A0B-94E0-D132-00BFB1690F51}"/>
              </a:ext>
            </a:extLst>
          </p:cNvPr>
          <p:cNvSpPr txBox="1"/>
          <p:nvPr/>
        </p:nvSpPr>
        <p:spPr>
          <a:xfrm>
            <a:off x="3826437" y="3961469"/>
            <a:ext cx="17850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90%</a:t>
            </a:r>
            <a:endParaRPr lang="ro-RO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1F48B99-654D-98F4-E40D-DF7967D03221}"/>
              </a:ext>
            </a:extLst>
          </p:cNvPr>
          <p:cNvSpPr txBox="1"/>
          <p:nvPr/>
        </p:nvSpPr>
        <p:spPr>
          <a:xfrm>
            <a:off x="7219767" y="3961469"/>
            <a:ext cx="17850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10%</a:t>
            </a:r>
            <a:endParaRPr lang="ro-RO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36BC0E47-7DA3-111E-A128-4E5BE1C39F51}"/>
              </a:ext>
            </a:extLst>
          </p:cNvPr>
          <p:cNvSpPr txBox="1"/>
          <p:nvPr/>
        </p:nvSpPr>
        <p:spPr>
          <a:xfrm>
            <a:off x="8657036" y="1567845"/>
            <a:ext cx="24648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- one hot encoding</a:t>
            </a:r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992639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E4CFEE-313E-2820-807B-15A4C7C2DE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D3DB0C0-C381-86FE-A7BD-73B79493DE90}"/>
              </a:ext>
            </a:extLst>
          </p:cNvPr>
          <p:cNvSpPr/>
          <p:nvPr/>
        </p:nvSpPr>
        <p:spPr>
          <a:xfrm>
            <a:off x="0" y="0"/>
            <a:ext cx="12192000" cy="97536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4" name="Text 1">
            <a:extLst>
              <a:ext uri="{FF2B5EF4-FFF2-40B4-BE49-F238E27FC236}">
                <a16:creationId xmlns:a16="http://schemas.microsoft.com/office/drawing/2014/main" id="{DF071BFD-F528-C917-4E17-59048D19E60C}"/>
              </a:ext>
            </a:extLst>
          </p:cNvPr>
          <p:cNvSpPr/>
          <p:nvPr/>
        </p:nvSpPr>
        <p:spPr>
          <a:xfrm>
            <a:off x="548640" y="146304"/>
            <a:ext cx="11094720" cy="755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467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During Inference …</a:t>
            </a:r>
            <a:endParaRPr lang="en-US" sz="3467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A612FBE-69C0-13F2-1997-B5AE0B1877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99178" y="905353"/>
            <a:ext cx="828255" cy="985691"/>
          </a:xfrm>
          <a:prstGeom prst="rect">
            <a:avLst/>
          </a:prstGeom>
        </p:spPr>
      </p:pic>
      <p:sp>
        <p:nvSpPr>
          <p:cNvPr id="6" name="Shape 19">
            <a:extLst>
              <a:ext uri="{FF2B5EF4-FFF2-40B4-BE49-F238E27FC236}">
                <a16:creationId xmlns:a16="http://schemas.microsoft.com/office/drawing/2014/main" id="{9F1A0780-3033-A3D6-75AA-A3E3E3875DD8}"/>
              </a:ext>
            </a:extLst>
          </p:cNvPr>
          <p:cNvSpPr/>
          <p:nvPr/>
        </p:nvSpPr>
        <p:spPr>
          <a:xfrm>
            <a:off x="1731042" y="2077988"/>
            <a:ext cx="954861" cy="247084"/>
          </a:xfrm>
          <a:prstGeom prst="rect">
            <a:avLst/>
          </a:prstGeom>
          <a:solidFill>
            <a:srgbClr val="1F5BAD"/>
          </a:solidFill>
          <a:ln w="12700">
            <a:solidFill>
              <a:srgbClr val="1F5BAD"/>
            </a:solidFill>
            <a:prstDash val="solid"/>
          </a:ln>
        </p:spPr>
      </p:sp>
      <p:sp>
        <p:nvSpPr>
          <p:cNvPr id="7" name="Text 20">
            <a:extLst>
              <a:ext uri="{FF2B5EF4-FFF2-40B4-BE49-F238E27FC236}">
                <a16:creationId xmlns:a16="http://schemas.microsoft.com/office/drawing/2014/main" id="{860F2313-A08A-734E-0A39-29480CDE93A1}"/>
              </a:ext>
            </a:extLst>
          </p:cNvPr>
          <p:cNvSpPr/>
          <p:nvPr/>
        </p:nvSpPr>
        <p:spPr>
          <a:xfrm>
            <a:off x="1731042" y="2077988"/>
            <a:ext cx="954861" cy="2470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= 3</a:t>
            </a:r>
            <a:endParaRPr lang="en-US" sz="1100" dirty="0"/>
          </a:p>
        </p:txBody>
      </p:sp>
      <p:sp>
        <p:nvSpPr>
          <p:cNvPr id="8" name="Shape 21">
            <a:extLst>
              <a:ext uri="{FF2B5EF4-FFF2-40B4-BE49-F238E27FC236}">
                <a16:creationId xmlns:a16="http://schemas.microsoft.com/office/drawing/2014/main" id="{DE609201-C0CA-93CC-32C3-BC09200B6D61}"/>
              </a:ext>
            </a:extLst>
          </p:cNvPr>
          <p:cNvSpPr/>
          <p:nvPr/>
        </p:nvSpPr>
        <p:spPr>
          <a:xfrm>
            <a:off x="2713405" y="2079046"/>
            <a:ext cx="2350776" cy="247084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</p:sp>
      <p:sp>
        <p:nvSpPr>
          <p:cNvPr id="9" name="Text 22">
            <a:extLst>
              <a:ext uri="{FF2B5EF4-FFF2-40B4-BE49-F238E27FC236}">
                <a16:creationId xmlns:a16="http://schemas.microsoft.com/office/drawing/2014/main" id="{31AAEDFB-2AC2-4378-095C-8E5A00F11AB9}"/>
              </a:ext>
            </a:extLst>
          </p:cNvPr>
          <p:cNvSpPr/>
          <p:nvPr/>
        </p:nvSpPr>
        <p:spPr>
          <a:xfrm>
            <a:off x="2641453" y="2062113"/>
            <a:ext cx="2494681" cy="285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dirty="0">
                <a:solidFill>
                  <a:srgbClr val="D4E6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[0, 0, 0, 1, 0, 0, 0, 0, 0, 0]</a:t>
            </a:r>
            <a:endParaRPr lang="en-US" sz="10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179ECA2-89A1-093E-7D43-507FCD803C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902208"/>
            <a:ext cx="830685" cy="988583"/>
          </a:xfrm>
          <a:prstGeom prst="rect">
            <a:avLst/>
          </a:prstGeom>
        </p:spPr>
      </p:pic>
      <p:sp>
        <p:nvSpPr>
          <p:cNvPr id="23" name="Shape 21">
            <a:extLst>
              <a:ext uri="{FF2B5EF4-FFF2-40B4-BE49-F238E27FC236}">
                <a16:creationId xmlns:a16="http://schemas.microsoft.com/office/drawing/2014/main" id="{19DC1DF1-2559-450A-2F60-7A124838D288}"/>
              </a:ext>
            </a:extLst>
          </p:cNvPr>
          <p:cNvSpPr/>
          <p:nvPr/>
        </p:nvSpPr>
        <p:spPr>
          <a:xfrm>
            <a:off x="5335955" y="2079046"/>
            <a:ext cx="2350776" cy="247084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</p:sp>
      <p:sp>
        <p:nvSpPr>
          <p:cNvPr id="28" name="Text 22">
            <a:extLst>
              <a:ext uri="{FF2B5EF4-FFF2-40B4-BE49-F238E27FC236}">
                <a16:creationId xmlns:a16="http://schemas.microsoft.com/office/drawing/2014/main" id="{C3F86AEE-1D62-1539-154D-E4FEB8CB15EE}"/>
              </a:ext>
            </a:extLst>
          </p:cNvPr>
          <p:cNvSpPr/>
          <p:nvPr/>
        </p:nvSpPr>
        <p:spPr>
          <a:xfrm>
            <a:off x="5264003" y="2062113"/>
            <a:ext cx="2494681" cy="285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dirty="0">
                <a:solidFill>
                  <a:srgbClr val="D4E6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[0, 0, 0, 1, 0, 0, 0, 0, 0, 0]</a:t>
            </a:r>
            <a:endParaRPr lang="en-US" sz="1000" dirty="0"/>
          </a:p>
        </p:txBody>
      </p:sp>
      <p:sp>
        <p:nvSpPr>
          <p:cNvPr id="53" name="Shape 19">
            <a:extLst>
              <a:ext uri="{FF2B5EF4-FFF2-40B4-BE49-F238E27FC236}">
                <a16:creationId xmlns:a16="http://schemas.microsoft.com/office/drawing/2014/main" id="{34C5B7E2-B5DD-B387-D5AB-FDB7F523C102}"/>
              </a:ext>
            </a:extLst>
          </p:cNvPr>
          <p:cNvSpPr/>
          <p:nvPr/>
        </p:nvSpPr>
        <p:spPr>
          <a:xfrm>
            <a:off x="1731042" y="2379047"/>
            <a:ext cx="954861" cy="247084"/>
          </a:xfrm>
          <a:prstGeom prst="rect">
            <a:avLst/>
          </a:prstGeom>
          <a:solidFill>
            <a:srgbClr val="1F5BAD"/>
          </a:solidFill>
          <a:ln w="12700">
            <a:solidFill>
              <a:srgbClr val="1F5BAD"/>
            </a:solidFill>
            <a:prstDash val="solid"/>
          </a:ln>
        </p:spPr>
      </p:sp>
      <p:sp>
        <p:nvSpPr>
          <p:cNvPr id="54" name="Text 20">
            <a:extLst>
              <a:ext uri="{FF2B5EF4-FFF2-40B4-BE49-F238E27FC236}">
                <a16:creationId xmlns:a16="http://schemas.microsoft.com/office/drawing/2014/main" id="{B9639DA1-643C-275F-3F7F-23D79CA05D9D}"/>
              </a:ext>
            </a:extLst>
          </p:cNvPr>
          <p:cNvSpPr/>
          <p:nvPr/>
        </p:nvSpPr>
        <p:spPr>
          <a:xfrm>
            <a:off x="1731042" y="2379047"/>
            <a:ext cx="954861" cy="2470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</a:t>
            </a:r>
            <a:endParaRPr lang="en-US" sz="1100" dirty="0"/>
          </a:p>
        </p:txBody>
      </p:sp>
      <p:sp>
        <p:nvSpPr>
          <p:cNvPr id="55" name="Shape 21">
            <a:extLst>
              <a:ext uri="{FF2B5EF4-FFF2-40B4-BE49-F238E27FC236}">
                <a16:creationId xmlns:a16="http://schemas.microsoft.com/office/drawing/2014/main" id="{10B8C823-06E7-3244-3163-7257D968214B}"/>
              </a:ext>
            </a:extLst>
          </p:cNvPr>
          <p:cNvSpPr/>
          <p:nvPr/>
        </p:nvSpPr>
        <p:spPr>
          <a:xfrm>
            <a:off x="2713405" y="2380105"/>
            <a:ext cx="2350776" cy="247084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</p:sp>
      <p:sp>
        <p:nvSpPr>
          <p:cNvPr id="56" name="Text 22">
            <a:extLst>
              <a:ext uri="{FF2B5EF4-FFF2-40B4-BE49-F238E27FC236}">
                <a16:creationId xmlns:a16="http://schemas.microsoft.com/office/drawing/2014/main" id="{056B4B69-5E9F-D4DF-378D-A2188A2B40F7}"/>
              </a:ext>
            </a:extLst>
          </p:cNvPr>
          <p:cNvSpPr/>
          <p:nvPr/>
        </p:nvSpPr>
        <p:spPr>
          <a:xfrm>
            <a:off x="2641453" y="2363172"/>
            <a:ext cx="2494681" cy="285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dirty="0">
                <a:solidFill>
                  <a:srgbClr val="D4E6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[1, 1, 1, 1, 1, 1, 1, 1, 1, 1]</a:t>
            </a:r>
            <a:endParaRPr lang="en-US" sz="1000" dirty="0"/>
          </a:p>
        </p:txBody>
      </p:sp>
      <p:sp>
        <p:nvSpPr>
          <p:cNvPr id="57" name="Shape 19">
            <a:extLst>
              <a:ext uri="{FF2B5EF4-FFF2-40B4-BE49-F238E27FC236}">
                <a16:creationId xmlns:a16="http://schemas.microsoft.com/office/drawing/2014/main" id="{22A9B638-EE49-5E30-1BF5-92ADDA964308}"/>
              </a:ext>
            </a:extLst>
          </p:cNvPr>
          <p:cNvSpPr/>
          <p:nvPr/>
        </p:nvSpPr>
        <p:spPr>
          <a:xfrm>
            <a:off x="1731042" y="2680106"/>
            <a:ext cx="954861" cy="247084"/>
          </a:xfrm>
          <a:prstGeom prst="rect">
            <a:avLst/>
          </a:prstGeom>
          <a:solidFill>
            <a:srgbClr val="1F5BAD"/>
          </a:solidFill>
          <a:ln w="12700">
            <a:solidFill>
              <a:srgbClr val="1F5BAD"/>
            </a:solidFill>
            <a:prstDash val="solid"/>
          </a:ln>
        </p:spPr>
      </p:sp>
      <p:sp>
        <p:nvSpPr>
          <p:cNvPr id="58" name="Text 20">
            <a:extLst>
              <a:ext uri="{FF2B5EF4-FFF2-40B4-BE49-F238E27FC236}">
                <a16:creationId xmlns:a16="http://schemas.microsoft.com/office/drawing/2014/main" id="{73FE0EF3-F127-49E9-DC6A-D94CD93EFDC1}"/>
              </a:ext>
            </a:extLst>
          </p:cNvPr>
          <p:cNvSpPr/>
          <p:nvPr/>
        </p:nvSpPr>
        <p:spPr>
          <a:xfrm>
            <a:off x="1731042" y="2680106"/>
            <a:ext cx="954861" cy="2470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= 3</a:t>
            </a:r>
            <a:endParaRPr lang="en-US" sz="1100" dirty="0"/>
          </a:p>
        </p:txBody>
      </p:sp>
      <p:sp>
        <p:nvSpPr>
          <p:cNvPr id="59" name="Shape 21">
            <a:extLst>
              <a:ext uri="{FF2B5EF4-FFF2-40B4-BE49-F238E27FC236}">
                <a16:creationId xmlns:a16="http://schemas.microsoft.com/office/drawing/2014/main" id="{1D8C0711-7053-5791-31B2-F164D5FBACA8}"/>
              </a:ext>
            </a:extLst>
          </p:cNvPr>
          <p:cNvSpPr/>
          <p:nvPr/>
        </p:nvSpPr>
        <p:spPr>
          <a:xfrm>
            <a:off x="2713405" y="2681164"/>
            <a:ext cx="2350776" cy="247084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</p:sp>
      <p:sp>
        <p:nvSpPr>
          <p:cNvPr id="60" name="Text 22">
            <a:extLst>
              <a:ext uri="{FF2B5EF4-FFF2-40B4-BE49-F238E27FC236}">
                <a16:creationId xmlns:a16="http://schemas.microsoft.com/office/drawing/2014/main" id="{AAEB22B4-F62F-E135-77B5-B1006797BA8D}"/>
              </a:ext>
            </a:extLst>
          </p:cNvPr>
          <p:cNvSpPr/>
          <p:nvPr/>
        </p:nvSpPr>
        <p:spPr>
          <a:xfrm>
            <a:off x="2641453" y="2664231"/>
            <a:ext cx="2494681" cy="285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dirty="0">
                <a:solidFill>
                  <a:srgbClr val="D4E6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[0, 0, 0, 1, 0, 0, 0, 0, 0, 0]</a:t>
            </a:r>
            <a:endParaRPr lang="en-US" sz="1000" dirty="0"/>
          </a:p>
        </p:txBody>
      </p:sp>
      <p:sp>
        <p:nvSpPr>
          <p:cNvPr id="65" name="Shape 21">
            <a:extLst>
              <a:ext uri="{FF2B5EF4-FFF2-40B4-BE49-F238E27FC236}">
                <a16:creationId xmlns:a16="http://schemas.microsoft.com/office/drawing/2014/main" id="{0F61F2B1-4204-5ECA-96B5-587A3558281E}"/>
              </a:ext>
            </a:extLst>
          </p:cNvPr>
          <p:cNvSpPr/>
          <p:nvPr/>
        </p:nvSpPr>
        <p:spPr>
          <a:xfrm>
            <a:off x="5335955" y="2380105"/>
            <a:ext cx="2350776" cy="247084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</p:sp>
      <p:sp>
        <p:nvSpPr>
          <p:cNvPr id="66" name="Text 22">
            <a:extLst>
              <a:ext uri="{FF2B5EF4-FFF2-40B4-BE49-F238E27FC236}">
                <a16:creationId xmlns:a16="http://schemas.microsoft.com/office/drawing/2014/main" id="{BDE7813E-7F6C-5ED8-5DBA-A159BD0CA510}"/>
              </a:ext>
            </a:extLst>
          </p:cNvPr>
          <p:cNvSpPr/>
          <p:nvPr/>
        </p:nvSpPr>
        <p:spPr>
          <a:xfrm>
            <a:off x="5264003" y="2363172"/>
            <a:ext cx="2494681" cy="285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dirty="0">
                <a:solidFill>
                  <a:srgbClr val="D4E6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[0, 0, 0, 0, 0, 0, 0, 0, 0, 0]</a:t>
            </a:r>
            <a:endParaRPr lang="en-US" sz="1000" dirty="0"/>
          </a:p>
        </p:txBody>
      </p:sp>
      <p:sp>
        <p:nvSpPr>
          <p:cNvPr id="67" name="Shape 21">
            <a:extLst>
              <a:ext uri="{FF2B5EF4-FFF2-40B4-BE49-F238E27FC236}">
                <a16:creationId xmlns:a16="http://schemas.microsoft.com/office/drawing/2014/main" id="{2FD2C075-52B3-7FAB-0F2B-DC82BAC5C8ED}"/>
              </a:ext>
            </a:extLst>
          </p:cNvPr>
          <p:cNvSpPr/>
          <p:nvPr/>
        </p:nvSpPr>
        <p:spPr>
          <a:xfrm>
            <a:off x="5335955" y="2680106"/>
            <a:ext cx="2350776" cy="247084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</p:sp>
      <p:sp>
        <p:nvSpPr>
          <p:cNvPr id="68" name="Text 22">
            <a:extLst>
              <a:ext uri="{FF2B5EF4-FFF2-40B4-BE49-F238E27FC236}">
                <a16:creationId xmlns:a16="http://schemas.microsoft.com/office/drawing/2014/main" id="{F37E4320-43CB-5E5A-7B70-6913488062AE}"/>
              </a:ext>
            </a:extLst>
          </p:cNvPr>
          <p:cNvSpPr/>
          <p:nvPr/>
        </p:nvSpPr>
        <p:spPr>
          <a:xfrm>
            <a:off x="5264003" y="2663173"/>
            <a:ext cx="2494681" cy="285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dirty="0">
                <a:solidFill>
                  <a:srgbClr val="D4E6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[0, 0, 0, 0, 0, 0, 0, 0, 0, 0]</a:t>
            </a:r>
            <a:endParaRPr lang="en-US" sz="1000" dirty="0"/>
          </a:p>
        </p:txBody>
      </p:sp>
      <p:pic>
        <p:nvPicPr>
          <p:cNvPr id="69" name="Picture 6" descr="U-NET: Computer Vision's neural network ...">
            <a:extLst>
              <a:ext uri="{FF2B5EF4-FFF2-40B4-BE49-F238E27FC236}">
                <a16:creationId xmlns:a16="http://schemas.microsoft.com/office/drawing/2014/main" id="{A7E5FC55-0D26-75CD-4642-2CD7E7E86B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67195" y="3444934"/>
            <a:ext cx="1735818" cy="9509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0" name="TextBox 69">
            <a:extLst>
              <a:ext uri="{FF2B5EF4-FFF2-40B4-BE49-F238E27FC236}">
                <a16:creationId xmlns:a16="http://schemas.microsoft.com/office/drawing/2014/main" id="{9BD7828A-E2E3-2C53-501B-23EA24E49B48}"/>
              </a:ext>
            </a:extLst>
          </p:cNvPr>
          <p:cNvSpPr txBox="1"/>
          <p:nvPr/>
        </p:nvSpPr>
        <p:spPr>
          <a:xfrm>
            <a:off x="4303931" y="4174144"/>
            <a:ext cx="68800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encoder</a:t>
            </a:r>
            <a:endParaRPr lang="ro-RO" sz="1100" dirty="0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9B69433C-2CAC-5004-6CE0-4C3038BF4706}"/>
              </a:ext>
            </a:extLst>
          </p:cNvPr>
          <p:cNvSpPr txBox="1"/>
          <p:nvPr/>
        </p:nvSpPr>
        <p:spPr>
          <a:xfrm>
            <a:off x="5478268" y="4174144"/>
            <a:ext cx="68800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decoder</a:t>
            </a:r>
            <a:endParaRPr lang="ro-RO" sz="1100" dirty="0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D378B462-E7AF-763E-E0C0-0C9D306926C6}"/>
              </a:ext>
            </a:extLst>
          </p:cNvPr>
          <p:cNvSpPr txBox="1"/>
          <p:nvPr/>
        </p:nvSpPr>
        <p:spPr>
          <a:xfrm>
            <a:off x="4717173" y="3532787"/>
            <a:ext cx="103586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/>
              <a:t>skip connections</a:t>
            </a:r>
            <a:endParaRPr lang="ro-RO" sz="900" dirty="0"/>
          </a:p>
        </p:txBody>
      </p:sp>
      <p:sp>
        <p:nvSpPr>
          <p:cNvPr id="74" name="Shape 29">
            <a:extLst>
              <a:ext uri="{FF2B5EF4-FFF2-40B4-BE49-F238E27FC236}">
                <a16:creationId xmlns:a16="http://schemas.microsoft.com/office/drawing/2014/main" id="{BF2926D5-64B4-8246-31C5-C3F3FB500C2A}"/>
              </a:ext>
            </a:extLst>
          </p:cNvPr>
          <p:cNvSpPr/>
          <p:nvPr/>
        </p:nvSpPr>
        <p:spPr>
          <a:xfrm>
            <a:off x="1731042" y="2680106"/>
            <a:ext cx="954861" cy="24708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ro-RO" sz="800" dirty="0"/>
          </a:p>
        </p:txBody>
      </p:sp>
      <p:sp>
        <p:nvSpPr>
          <p:cNvPr id="75" name="Text 30">
            <a:extLst>
              <a:ext uri="{FF2B5EF4-FFF2-40B4-BE49-F238E27FC236}">
                <a16:creationId xmlns:a16="http://schemas.microsoft.com/office/drawing/2014/main" id="{C286D599-4AD1-0C35-5CB7-0B77A8B147A4}"/>
              </a:ext>
            </a:extLst>
          </p:cNvPr>
          <p:cNvSpPr/>
          <p:nvPr/>
        </p:nvSpPr>
        <p:spPr>
          <a:xfrm>
            <a:off x="-48475" y="5632265"/>
            <a:ext cx="19507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endParaRPr lang="en-US" sz="1333" dirty="0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8F1F4FDD-A91A-7886-6572-DAC2CE09FA6F}"/>
              </a:ext>
            </a:extLst>
          </p:cNvPr>
          <p:cNvSpPr txBox="1"/>
          <p:nvPr/>
        </p:nvSpPr>
        <p:spPr>
          <a:xfrm>
            <a:off x="327447" y="2050722"/>
            <a:ext cx="1740031" cy="2851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one hot encoding - </a:t>
            </a:r>
            <a:endParaRPr lang="ro-RO" sz="1200" dirty="0"/>
          </a:p>
        </p:txBody>
      </p:sp>
      <p:sp>
        <p:nvSpPr>
          <p:cNvPr id="79" name="Text 30">
            <a:extLst>
              <a:ext uri="{FF2B5EF4-FFF2-40B4-BE49-F238E27FC236}">
                <a16:creationId xmlns:a16="http://schemas.microsoft.com/office/drawing/2014/main" id="{2A1BC6F4-ED12-C05F-91A2-C3CBC88216D6}"/>
              </a:ext>
            </a:extLst>
          </p:cNvPr>
          <p:cNvSpPr/>
          <p:nvPr/>
        </p:nvSpPr>
        <p:spPr>
          <a:xfrm>
            <a:off x="1639821" y="2733544"/>
            <a:ext cx="1092854" cy="15074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= onehot × mask</a:t>
            </a:r>
            <a:endParaRPr lang="en-US" sz="850" dirty="0"/>
          </a:p>
        </p:txBody>
      </p: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C83FB9B1-55C4-0FAF-5BA5-447C24033939}"/>
              </a:ext>
            </a:extLst>
          </p:cNvPr>
          <p:cNvCxnSpPr>
            <a:stCxn id="60" idx="2"/>
            <a:endCxn id="69" idx="0"/>
          </p:cNvCxnSpPr>
          <p:nvPr/>
        </p:nvCxnSpPr>
        <p:spPr>
          <a:xfrm>
            <a:off x="3888794" y="2949415"/>
            <a:ext cx="1346310" cy="49551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009C44FA-EB48-D964-D96F-E3563819E215}"/>
              </a:ext>
            </a:extLst>
          </p:cNvPr>
          <p:cNvCxnSpPr>
            <a:stCxn id="68" idx="2"/>
            <a:endCxn id="69" idx="0"/>
          </p:cNvCxnSpPr>
          <p:nvPr/>
        </p:nvCxnSpPr>
        <p:spPr>
          <a:xfrm flipH="1">
            <a:off x="5235104" y="2948357"/>
            <a:ext cx="1276240" cy="49657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85" name="Ink 84">
                <a:extLst>
                  <a:ext uri="{FF2B5EF4-FFF2-40B4-BE49-F238E27FC236}">
                    <a16:creationId xmlns:a16="http://schemas.microsoft.com/office/drawing/2014/main" id="{8F5127A3-34CE-90F9-5B42-490DF91DE4D9}"/>
                  </a:ext>
                </a:extLst>
              </p14:cNvPr>
              <p14:cNvContentPartPr/>
              <p14:nvPr/>
            </p14:nvContentPartPr>
            <p14:xfrm>
              <a:off x="3347181" y="1465713"/>
              <a:ext cx="13680" cy="30960"/>
            </p14:xfrm>
          </p:contentPart>
        </mc:Choice>
        <mc:Fallback>
          <p:pic>
            <p:nvPicPr>
              <p:cNvPr id="85" name="Ink 84">
                <a:extLst>
                  <a:ext uri="{FF2B5EF4-FFF2-40B4-BE49-F238E27FC236}">
                    <a16:creationId xmlns:a16="http://schemas.microsoft.com/office/drawing/2014/main" id="{8F5127A3-34CE-90F9-5B42-490DF91DE4D9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338541" y="1457073"/>
                <a:ext cx="31320" cy="48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86" name="Ink 85">
                <a:extLst>
                  <a:ext uri="{FF2B5EF4-FFF2-40B4-BE49-F238E27FC236}">
                    <a16:creationId xmlns:a16="http://schemas.microsoft.com/office/drawing/2014/main" id="{9EA5D46F-3BA4-44EF-3A64-B6B4232D3E24}"/>
                  </a:ext>
                </a:extLst>
              </p14:cNvPr>
              <p14:cNvContentPartPr/>
              <p14:nvPr/>
            </p14:nvContentPartPr>
            <p14:xfrm>
              <a:off x="3342141" y="1674873"/>
              <a:ext cx="14760" cy="39960"/>
            </p14:xfrm>
          </p:contentPart>
        </mc:Choice>
        <mc:Fallback>
          <p:pic>
            <p:nvPicPr>
              <p:cNvPr id="86" name="Ink 85">
                <a:extLst>
                  <a:ext uri="{FF2B5EF4-FFF2-40B4-BE49-F238E27FC236}">
                    <a16:creationId xmlns:a16="http://schemas.microsoft.com/office/drawing/2014/main" id="{9EA5D46F-3BA4-44EF-3A64-B6B4232D3E24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333501" y="1666233"/>
                <a:ext cx="32400" cy="57600"/>
              </a:xfrm>
              <a:prstGeom prst="rect">
                <a:avLst/>
              </a:prstGeom>
            </p:spPr>
          </p:pic>
        </mc:Fallback>
      </mc:AlternateContent>
      <p:grpSp>
        <p:nvGrpSpPr>
          <p:cNvPr id="91" name="Group 90">
            <a:extLst>
              <a:ext uri="{FF2B5EF4-FFF2-40B4-BE49-F238E27FC236}">
                <a16:creationId xmlns:a16="http://schemas.microsoft.com/office/drawing/2014/main" id="{801CF53A-BB61-818B-4DCD-D120049E6F03}"/>
              </a:ext>
            </a:extLst>
          </p:cNvPr>
          <p:cNvGrpSpPr/>
          <p:nvPr/>
        </p:nvGrpSpPr>
        <p:grpSpPr>
          <a:xfrm>
            <a:off x="5930181" y="1462833"/>
            <a:ext cx="16200" cy="39960"/>
            <a:chOff x="7164345" y="1153680"/>
            <a:chExt cx="16200" cy="39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7ABE1B1D-9F69-F5B5-762A-B10344512AF7}"/>
                    </a:ext>
                  </a:extLst>
                </p14:cNvPr>
                <p14:cNvContentPartPr/>
                <p14:nvPr/>
              </p14:nvContentPartPr>
              <p14:xfrm>
                <a:off x="7164345" y="1153680"/>
                <a:ext cx="360" cy="3996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7ABE1B1D-9F69-F5B5-762A-B10344512AF7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7155345" y="1145040"/>
                  <a:ext cx="18000" cy="5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F88538AE-7127-3913-2B31-44350F7617AA}"/>
                    </a:ext>
                  </a:extLst>
                </p14:cNvPr>
                <p14:cNvContentPartPr/>
                <p14:nvPr/>
              </p14:nvContentPartPr>
              <p14:xfrm>
                <a:off x="7165785" y="1163040"/>
                <a:ext cx="3600" cy="2664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F88538AE-7127-3913-2B31-44350F7617AA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7156785" y="1154040"/>
                  <a:ext cx="2124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8A0ED562-D5C5-1343-2AB0-C34FA1DF03D5}"/>
                    </a:ext>
                  </a:extLst>
                </p14:cNvPr>
                <p14:cNvContentPartPr/>
                <p14:nvPr/>
              </p14:nvContentPartPr>
              <p14:xfrm>
                <a:off x="7179465" y="1174560"/>
                <a:ext cx="1080" cy="144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8A0ED562-D5C5-1343-2AB0-C34FA1DF03D5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7170465" y="1165920"/>
                  <a:ext cx="18720" cy="19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92" name="Ink 91">
                <a:extLst>
                  <a:ext uri="{FF2B5EF4-FFF2-40B4-BE49-F238E27FC236}">
                    <a16:creationId xmlns:a16="http://schemas.microsoft.com/office/drawing/2014/main" id="{4418CE84-1CB2-2278-6A6E-BDEB90D7AFB1}"/>
                  </a:ext>
                </a:extLst>
              </p14:cNvPr>
              <p14:cNvContentPartPr/>
              <p14:nvPr/>
            </p14:nvContentPartPr>
            <p14:xfrm>
              <a:off x="5933061" y="1682793"/>
              <a:ext cx="9360" cy="34920"/>
            </p14:xfrm>
          </p:contentPart>
        </mc:Choice>
        <mc:Fallback>
          <p:pic>
            <p:nvPicPr>
              <p:cNvPr id="92" name="Ink 91">
                <a:extLst>
                  <a:ext uri="{FF2B5EF4-FFF2-40B4-BE49-F238E27FC236}">
                    <a16:creationId xmlns:a16="http://schemas.microsoft.com/office/drawing/2014/main" id="{4418CE84-1CB2-2278-6A6E-BDEB90D7AFB1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5924421" y="1673793"/>
                <a:ext cx="27000" cy="52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">
            <p14:nvContentPartPr>
              <p14:cNvPr id="98" name="Ink 97">
                <a:extLst>
                  <a:ext uri="{FF2B5EF4-FFF2-40B4-BE49-F238E27FC236}">
                    <a16:creationId xmlns:a16="http://schemas.microsoft.com/office/drawing/2014/main" id="{73D9C231-4F6F-1E39-C073-97D3BAF2DD33}"/>
                  </a:ext>
                </a:extLst>
              </p14:cNvPr>
              <p14:cNvContentPartPr/>
              <p14:nvPr/>
            </p14:nvContentPartPr>
            <p14:xfrm>
              <a:off x="3396826" y="1477430"/>
              <a:ext cx="7560" cy="23400"/>
            </p14:xfrm>
          </p:contentPart>
        </mc:Choice>
        <mc:Fallback>
          <p:pic>
            <p:nvPicPr>
              <p:cNvPr id="98" name="Ink 97">
                <a:extLst>
                  <a:ext uri="{FF2B5EF4-FFF2-40B4-BE49-F238E27FC236}">
                    <a16:creationId xmlns:a16="http://schemas.microsoft.com/office/drawing/2014/main" id="{73D9C231-4F6F-1E39-C073-97D3BAF2DD33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3388186" y="1468430"/>
                <a:ext cx="25200" cy="4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">
            <p14:nvContentPartPr>
              <p14:cNvPr id="99" name="Ink 98">
                <a:extLst>
                  <a:ext uri="{FF2B5EF4-FFF2-40B4-BE49-F238E27FC236}">
                    <a16:creationId xmlns:a16="http://schemas.microsoft.com/office/drawing/2014/main" id="{9829E848-24B2-2329-144D-D1E44AD19BEF}"/>
                  </a:ext>
                </a:extLst>
              </p14:cNvPr>
              <p14:cNvContentPartPr/>
              <p14:nvPr/>
            </p14:nvContentPartPr>
            <p14:xfrm>
              <a:off x="3401146" y="1676510"/>
              <a:ext cx="2520" cy="10080"/>
            </p14:xfrm>
          </p:contentPart>
        </mc:Choice>
        <mc:Fallback>
          <p:pic>
            <p:nvPicPr>
              <p:cNvPr id="99" name="Ink 98">
                <a:extLst>
                  <a:ext uri="{FF2B5EF4-FFF2-40B4-BE49-F238E27FC236}">
                    <a16:creationId xmlns:a16="http://schemas.microsoft.com/office/drawing/2014/main" id="{9829E848-24B2-2329-144D-D1E44AD19BEF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3392146" y="1667510"/>
                <a:ext cx="20160" cy="27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">
            <p14:nvContentPartPr>
              <p14:cNvPr id="100" name="Ink 99">
                <a:extLst>
                  <a:ext uri="{FF2B5EF4-FFF2-40B4-BE49-F238E27FC236}">
                    <a16:creationId xmlns:a16="http://schemas.microsoft.com/office/drawing/2014/main" id="{CE145701-F1D1-D4CC-11E3-F3AD6E067E57}"/>
                  </a:ext>
                </a:extLst>
              </p14:cNvPr>
              <p14:cNvContentPartPr/>
              <p14:nvPr/>
            </p14:nvContentPartPr>
            <p14:xfrm>
              <a:off x="6093466" y="1672190"/>
              <a:ext cx="2520" cy="41400"/>
            </p14:xfrm>
          </p:contentPart>
        </mc:Choice>
        <mc:Fallback>
          <p:pic>
            <p:nvPicPr>
              <p:cNvPr id="100" name="Ink 99">
                <a:extLst>
                  <a:ext uri="{FF2B5EF4-FFF2-40B4-BE49-F238E27FC236}">
                    <a16:creationId xmlns:a16="http://schemas.microsoft.com/office/drawing/2014/main" id="{CE145701-F1D1-D4CC-11E3-F3AD6E067E57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6084466" y="1663190"/>
                <a:ext cx="20160" cy="59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">
            <p14:nvContentPartPr>
              <p14:cNvPr id="101" name="Ink 100">
                <a:extLst>
                  <a:ext uri="{FF2B5EF4-FFF2-40B4-BE49-F238E27FC236}">
                    <a16:creationId xmlns:a16="http://schemas.microsoft.com/office/drawing/2014/main" id="{23EB448D-9B44-6C5F-A277-47F3469E82CD}"/>
                  </a:ext>
                </a:extLst>
              </p14:cNvPr>
              <p14:cNvContentPartPr/>
              <p14:nvPr/>
            </p14:nvContentPartPr>
            <p14:xfrm>
              <a:off x="6093466" y="1483550"/>
              <a:ext cx="360" cy="30240"/>
            </p14:xfrm>
          </p:contentPart>
        </mc:Choice>
        <mc:Fallback>
          <p:pic>
            <p:nvPicPr>
              <p:cNvPr id="101" name="Ink 100">
                <a:extLst>
                  <a:ext uri="{FF2B5EF4-FFF2-40B4-BE49-F238E27FC236}">
                    <a16:creationId xmlns:a16="http://schemas.microsoft.com/office/drawing/2014/main" id="{23EB448D-9B44-6C5F-A277-47F3469E82CD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6084826" y="1474910"/>
                <a:ext cx="18000" cy="47880"/>
              </a:xfrm>
              <a:prstGeom prst="rect">
                <a:avLst/>
              </a:prstGeom>
            </p:spPr>
          </p:pic>
        </mc:Fallback>
      </mc:AlternateContent>
      <p:pic>
        <p:nvPicPr>
          <p:cNvPr id="103" name="Picture 102">
            <a:extLst>
              <a:ext uri="{FF2B5EF4-FFF2-40B4-BE49-F238E27FC236}">
                <a16:creationId xmlns:a16="http://schemas.microsoft.com/office/drawing/2014/main" id="{3D306F9E-8786-D2FC-F4CA-878494D0D075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3967001" y="4574072"/>
            <a:ext cx="800387" cy="802994"/>
          </a:xfrm>
          <a:prstGeom prst="rect">
            <a:avLst/>
          </a:prstGeom>
        </p:spPr>
      </p:pic>
      <p:pic>
        <p:nvPicPr>
          <p:cNvPr id="105" name="Picture 104">
            <a:extLst>
              <a:ext uri="{FF2B5EF4-FFF2-40B4-BE49-F238E27FC236}">
                <a16:creationId xmlns:a16="http://schemas.microsoft.com/office/drawing/2014/main" id="{0543F738-CC43-548D-9CD7-8D9902BF4C23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5683230" y="4574072"/>
            <a:ext cx="839566" cy="831620"/>
          </a:xfrm>
          <a:prstGeom prst="rect">
            <a:avLst/>
          </a:prstGeom>
        </p:spPr>
      </p:pic>
      <p:sp>
        <p:nvSpPr>
          <p:cNvPr id="106" name="TextBox 105">
            <a:extLst>
              <a:ext uri="{FF2B5EF4-FFF2-40B4-BE49-F238E27FC236}">
                <a16:creationId xmlns:a16="http://schemas.microsoft.com/office/drawing/2014/main" id="{B27DFF55-6B0C-AF34-CE3B-7A08F863C5C1}"/>
              </a:ext>
            </a:extLst>
          </p:cNvPr>
          <p:cNvSpPr txBox="1"/>
          <p:nvPr/>
        </p:nvSpPr>
        <p:spPr>
          <a:xfrm>
            <a:off x="990115" y="4840021"/>
            <a:ext cx="357183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Predicted noise to be removed:</a:t>
            </a:r>
            <a:endParaRPr lang="ro-RO" sz="1600" dirty="0"/>
          </a:p>
        </p:txBody>
      </p:sp>
      <p:cxnSp>
        <p:nvCxnSpPr>
          <p:cNvPr id="109" name="Straight Arrow Connector 108">
            <a:extLst>
              <a:ext uri="{FF2B5EF4-FFF2-40B4-BE49-F238E27FC236}">
                <a16:creationId xmlns:a16="http://schemas.microsoft.com/office/drawing/2014/main" id="{F8FE78D4-DA45-742B-D857-4D4AB7697920}"/>
              </a:ext>
            </a:extLst>
          </p:cNvPr>
          <p:cNvCxnSpPr>
            <a:stCxn id="69" idx="2"/>
            <a:endCxn id="103" idx="0"/>
          </p:cNvCxnSpPr>
          <p:nvPr/>
        </p:nvCxnSpPr>
        <p:spPr>
          <a:xfrm flipH="1">
            <a:off x="4367195" y="4395910"/>
            <a:ext cx="867909" cy="17816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Arrow Connector 111">
            <a:extLst>
              <a:ext uri="{FF2B5EF4-FFF2-40B4-BE49-F238E27FC236}">
                <a16:creationId xmlns:a16="http://schemas.microsoft.com/office/drawing/2014/main" id="{C33BD84F-48A4-272D-9BCF-C49AE9929F18}"/>
              </a:ext>
            </a:extLst>
          </p:cNvPr>
          <p:cNvCxnSpPr>
            <a:stCxn id="69" idx="2"/>
            <a:endCxn id="105" idx="0"/>
          </p:cNvCxnSpPr>
          <p:nvPr/>
        </p:nvCxnSpPr>
        <p:spPr>
          <a:xfrm>
            <a:off x="5235104" y="4395910"/>
            <a:ext cx="867909" cy="17816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4" name="TextBox 113">
            <a:extLst>
              <a:ext uri="{FF2B5EF4-FFF2-40B4-BE49-F238E27FC236}">
                <a16:creationId xmlns:a16="http://schemas.microsoft.com/office/drawing/2014/main" id="{991B4ADD-AE09-5805-4827-CBCEDFECEED4}"/>
              </a:ext>
            </a:extLst>
          </p:cNvPr>
          <p:cNvSpPr txBox="1"/>
          <p:nvPr/>
        </p:nvSpPr>
        <p:spPr>
          <a:xfrm>
            <a:off x="3888793" y="5310357"/>
            <a:ext cx="1003610" cy="2851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conditional</a:t>
            </a:r>
            <a:endParaRPr lang="ro-RO" sz="1200" dirty="0"/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CE261415-E8B2-FE48-AE2D-89D1360EB433}"/>
              </a:ext>
            </a:extLst>
          </p:cNvPr>
          <p:cNvSpPr txBox="1"/>
          <p:nvPr/>
        </p:nvSpPr>
        <p:spPr>
          <a:xfrm>
            <a:off x="5554872" y="5337340"/>
            <a:ext cx="122281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unconditional</a:t>
            </a:r>
            <a:endParaRPr lang="ro-RO" sz="1200" dirty="0"/>
          </a:p>
        </p:txBody>
      </p:sp>
      <p:cxnSp>
        <p:nvCxnSpPr>
          <p:cNvPr id="117" name="Straight Arrow Connector 116">
            <a:extLst>
              <a:ext uri="{FF2B5EF4-FFF2-40B4-BE49-F238E27FC236}">
                <a16:creationId xmlns:a16="http://schemas.microsoft.com/office/drawing/2014/main" id="{9ACE7EE2-5DE1-750C-4A89-27360809543E}"/>
              </a:ext>
            </a:extLst>
          </p:cNvPr>
          <p:cNvCxnSpPr>
            <a:stCxn id="5" idx="3"/>
            <a:endCxn id="10" idx="1"/>
          </p:cNvCxnSpPr>
          <p:nvPr/>
        </p:nvCxnSpPr>
        <p:spPr>
          <a:xfrm flipV="1">
            <a:off x="4227433" y="1396500"/>
            <a:ext cx="1868567" cy="1699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8" name="TextBox 117">
            <a:extLst>
              <a:ext uri="{FF2B5EF4-FFF2-40B4-BE49-F238E27FC236}">
                <a16:creationId xmlns:a16="http://schemas.microsoft.com/office/drawing/2014/main" id="{E2971E96-86D1-6178-D969-6548C3CA42D0}"/>
              </a:ext>
            </a:extLst>
          </p:cNvPr>
          <p:cNvSpPr txBox="1"/>
          <p:nvPr/>
        </p:nvSpPr>
        <p:spPr>
          <a:xfrm>
            <a:off x="4296499" y="1112300"/>
            <a:ext cx="179696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Same but duplicated</a:t>
            </a:r>
            <a:endParaRPr lang="ro-RO" sz="1400" dirty="0"/>
          </a:p>
        </p:txBody>
      </p:sp>
      <p:sp>
        <p:nvSpPr>
          <p:cNvPr id="119" name="Text 21">
            <a:extLst>
              <a:ext uri="{FF2B5EF4-FFF2-40B4-BE49-F238E27FC236}">
                <a16:creationId xmlns:a16="http://schemas.microsoft.com/office/drawing/2014/main" id="{28C2DC92-41BA-D87E-E693-DD91C379CAF5}"/>
              </a:ext>
            </a:extLst>
          </p:cNvPr>
          <p:cNvSpPr/>
          <p:nvPr/>
        </p:nvSpPr>
        <p:spPr>
          <a:xfrm>
            <a:off x="6777682" y="3963573"/>
            <a:ext cx="5621154" cy="682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00" i="1" dirty="0">
                <a:solidFill>
                  <a:srgbClr val="8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ε_final  =  (1 + guide_w) × ε_conditional  −  guide_w × ε_unconditional</a:t>
            </a:r>
            <a:endParaRPr lang="en-US" sz="1400" dirty="0"/>
          </a:p>
        </p:txBody>
      </p:sp>
      <p:pic>
        <p:nvPicPr>
          <p:cNvPr id="120" name="Picture 119">
            <a:extLst>
              <a:ext uri="{FF2B5EF4-FFF2-40B4-BE49-F238E27FC236}">
                <a16:creationId xmlns:a16="http://schemas.microsoft.com/office/drawing/2014/main" id="{CA713899-81D3-8084-EC53-DC9A2AE4069A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9332364" y="4574072"/>
            <a:ext cx="839566" cy="831620"/>
          </a:xfrm>
          <a:prstGeom prst="rect">
            <a:avLst/>
          </a:prstGeom>
        </p:spPr>
      </p:pic>
      <p:sp>
        <p:nvSpPr>
          <p:cNvPr id="121" name="TextBox 120">
            <a:extLst>
              <a:ext uri="{FF2B5EF4-FFF2-40B4-BE49-F238E27FC236}">
                <a16:creationId xmlns:a16="http://schemas.microsoft.com/office/drawing/2014/main" id="{7B574624-C377-A8B7-B713-F74B12A18F15}"/>
              </a:ext>
            </a:extLst>
          </p:cNvPr>
          <p:cNvSpPr txBox="1"/>
          <p:nvPr/>
        </p:nvSpPr>
        <p:spPr>
          <a:xfrm>
            <a:off x="9560525" y="5336414"/>
            <a:ext cx="122281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final</a:t>
            </a:r>
            <a:endParaRPr lang="ro-RO" sz="1200" dirty="0"/>
          </a:p>
        </p:txBody>
      </p:sp>
      <p:sp>
        <p:nvSpPr>
          <p:cNvPr id="122" name="Arrow: Right 121">
            <a:extLst>
              <a:ext uri="{FF2B5EF4-FFF2-40B4-BE49-F238E27FC236}">
                <a16:creationId xmlns:a16="http://schemas.microsoft.com/office/drawing/2014/main" id="{50BD6BBD-479B-65B6-FD28-ECAF197B7B57}"/>
              </a:ext>
            </a:extLst>
          </p:cNvPr>
          <p:cNvSpPr/>
          <p:nvPr/>
        </p:nvSpPr>
        <p:spPr>
          <a:xfrm>
            <a:off x="6954298" y="4904355"/>
            <a:ext cx="1946563" cy="20988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cxnSp>
        <p:nvCxnSpPr>
          <p:cNvPr id="124" name="Straight Arrow Connector 123">
            <a:extLst>
              <a:ext uri="{FF2B5EF4-FFF2-40B4-BE49-F238E27FC236}">
                <a16:creationId xmlns:a16="http://schemas.microsoft.com/office/drawing/2014/main" id="{974C49D0-EDE7-2645-A3BC-EF6CF1FF8A7E}"/>
              </a:ext>
            </a:extLst>
          </p:cNvPr>
          <p:cNvCxnSpPr/>
          <p:nvPr/>
        </p:nvCxnSpPr>
        <p:spPr>
          <a:xfrm>
            <a:off x="5194982" y="5727032"/>
            <a:ext cx="0" cy="59676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5" name="TextBox 124">
            <a:extLst>
              <a:ext uri="{FF2B5EF4-FFF2-40B4-BE49-F238E27FC236}">
                <a16:creationId xmlns:a16="http://schemas.microsoft.com/office/drawing/2014/main" id="{050D9A5A-9267-7CC1-E00F-8CEDE3AF0D28}"/>
              </a:ext>
            </a:extLst>
          </p:cNvPr>
          <p:cNvSpPr txBox="1"/>
          <p:nvPr/>
        </p:nvSpPr>
        <p:spPr>
          <a:xfrm>
            <a:off x="3927803" y="6342364"/>
            <a:ext cx="28163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… and so on many steps …</a:t>
            </a:r>
            <a:endParaRPr lang="ro-RO" i="1" dirty="0"/>
          </a:p>
        </p:txBody>
      </p:sp>
      <p:pic>
        <p:nvPicPr>
          <p:cNvPr id="127" name="Picture 126">
            <a:extLst>
              <a:ext uri="{FF2B5EF4-FFF2-40B4-BE49-F238E27FC236}">
                <a16:creationId xmlns:a16="http://schemas.microsoft.com/office/drawing/2014/main" id="{0D0765D1-22C6-5CB1-A63A-4DB8200F46E3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10733160" y="131577"/>
            <a:ext cx="1228811" cy="1561313"/>
          </a:xfrm>
          <a:prstGeom prst="rect">
            <a:avLst/>
          </a:prstGeom>
        </p:spPr>
      </p:pic>
      <p:sp>
        <p:nvSpPr>
          <p:cNvPr id="128" name="TextBox 127">
            <a:extLst>
              <a:ext uri="{FF2B5EF4-FFF2-40B4-BE49-F238E27FC236}">
                <a16:creationId xmlns:a16="http://schemas.microsoft.com/office/drawing/2014/main" id="{D408DDE5-6EF1-20E3-9933-81EF2CAFA03D}"/>
              </a:ext>
            </a:extLst>
          </p:cNvPr>
          <p:cNvSpPr txBox="1"/>
          <p:nvPr/>
        </p:nvSpPr>
        <p:spPr>
          <a:xfrm>
            <a:off x="10382703" y="1622811"/>
            <a:ext cx="19297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Resulted clean image</a:t>
            </a:r>
            <a:endParaRPr lang="ro-RO" dirty="0"/>
          </a:p>
        </p:txBody>
      </p:sp>
      <p:cxnSp>
        <p:nvCxnSpPr>
          <p:cNvPr id="130" name="Straight Connector 129">
            <a:extLst>
              <a:ext uri="{FF2B5EF4-FFF2-40B4-BE49-F238E27FC236}">
                <a16:creationId xmlns:a16="http://schemas.microsoft.com/office/drawing/2014/main" id="{8C4171C1-3488-3B95-B258-89A5782A8F0D}"/>
              </a:ext>
            </a:extLst>
          </p:cNvPr>
          <p:cNvCxnSpPr>
            <a:cxnSpLocks/>
          </p:cNvCxnSpPr>
          <p:nvPr/>
        </p:nvCxnSpPr>
        <p:spPr>
          <a:xfrm>
            <a:off x="10274157" y="97536"/>
            <a:ext cx="0" cy="2281511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Straight Connector 130">
            <a:extLst>
              <a:ext uri="{FF2B5EF4-FFF2-40B4-BE49-F238E27FC236}">
                <a16:creationId xmlns:a16="http://schemas.microsoft.com/office/drawing/2014/main" id="{0F6C1462-5235-D6B7-15F6-3CE02BBA85FA}"/>
              </a:ext>
            </a:extLst>
          </p:cNvPr>
          <p:cNvCxnSpPr>
            <a:cxnSpLocks/>
          </p:cNvCxnSpPr>
          <p:nvPr/>
        </p:nvCxnSpPr>
        <p:spPr>
          <a:xfrm>
            <a:off x="10274157" y="2379047"/>
            <a:ext cx="1917843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962466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B93523-3994-1EA0-B69A-9699EEF89B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99F8127-A0EF-31B6-6C21-E9C130A2CD62}"/>
              </a:ext>
            </a:extLst>
          </p:cNvPr>
          <p:cNvSpPr/>
          <p:nvPr/>
        </p:nvSpPr>
        <p:spPr>
          <a:xfrm>
            <a:off x="0" y="0"/>
            <a:ext cx="12192000" cy="97536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1" name="Text 2">
            <a:extLst>
              <a:ext uri="{FF2B5EF4-FFF2-40B4-BE49-F238E27FC236}">
                <a16:creationId xmlns:a16="http://schemas.microsoft.com/office/drawing/2014/main" id="{7E0AF9F2-5BA9-310C-FB47-838D1CE80009}"/>
              </a:ext>
            </a:extLst>
          </p:cNvPr>
          <p:cNvSpPr/>
          <p:nvPr/>
        </p:nvSpPr>
        <p:spPr>
          <a:xfrm>
            <a:off x="514195" y="2331720"/>
            <a:ext cx="11163609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800" b="1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Try to focus on the big picture and not get lost in details</a:t>
            </a:r>
            <a:endParaRPr lang="en-US" sz="3800" i="1" dirty="0"/>
          </a:p>
        </p:txBody>
      </p:sp>
    </p:spTree>
    <p:extLst>
      <p:ext uri="{BB962C8B-B14F-4D97-AF65-F5344CB8AC3E}">
        <p14:creationId xmlns:p14="http://schemas.microsoft.com/office/powerpoint/2010/main" val="17326567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64096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38956F31-A770-83B5-F55B-9FD46C887A4F}"/>
              </a:ext>
            </a:extLst>
          </p:cNvPr>
          <p:cNvSpPr/>
          <p:nvPr/>
        </p:nvSpPr>
        <p:spPr>
          <a:xfrm>
            <a:off x="853440" y="1706880"/>
            <a:ext cx="9753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</a:t>
            </a:r>
            <a:endParaRPr lang="en-US" sz="1867" dirty="0"/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BB520B8F-370C-D8D3-97A5-4F7CE08E686A}"/>
              </a:ext>
            </a:extLst>
          </p:cNvPr>
          <p:cNvSpPr/>
          <p:nvPr/>
        </p:nvSpPr>
        <p:spPr>
          <a:xfrm>
            <a:off x="853440" y="2255520"/>
            <a:ext cx="103632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0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Building and Training</a:t>
            </a:r>
          </a:p>
          <a:p>
            <a:r>
              <a:rPr lang="en-US" sz="60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the Denoising U-Net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87680" y="219456"/>
            <a:ext cx="1121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467" b="1" dirty="0" err="1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UnetDown</a:t>
            </a:r>
            <a:r>
              <a:rPr lang="en-US" sz="3467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&amp; </a:t>
            </a:r>
            <a:r>
              <a:rPr lang="en-US" sz="3467" b="1" dirty="0" err="1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UnetUp</a:t>
            </a:r>
            <a:endParaRPr lang="en-US" sz="3467" dirty="0"/>
          </a:p>
        </p:txBody>
      </p:sp>
      <p:sp>
        <p:nvSpPr>
          <p:cNvPr id="4" name="Text 2"/>
          <p:cNvSpPr/>
          <p:nvPr/>
        </p:nvSpPr>
        <p:spPr>
          <a:xfrm>
            <a:off x="185716" y="1038153"/>
            <a:ext cx="6050697" cy="3493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dirty="0">
                <a:solidFill>
                  <a:srgbClr val="595959"/>
                </a:solidFill>
                <a:highlight>
                  <a:srgbClr val="FFFF00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The </a:t>
            </a:r>
            <a:r>
              <a:rPr lang="en-US" sz="1733" b="1" dirty="0" err="1">
                <a:solidFill>
                  <a:schemeClr val="tx2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UnetDown</a:t>
            </a:r>
            <a:r>
              <a:rPr lang="en-US" sz="1733" dirty="0">
                <a:solidFill>
                  <a:srgbClr val="595959"/>
                </a:solidFill>
                <a:highlight>
                  <a:srgbClr val="FFFF00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733" b="1" dirty="0">
                <a:solidFill>
                  <a:srgbClr val="595959"/>
                </a:solidFill>
                <a:highlight>
                  <a:srgbClr val="FFFF00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halves resolution</a:t>
            </a:r>
            <a:r>
              <a:rPr lang="en-US" sz="1733" dirty="0">
                <a:solidFill>
                  <a:srgbClr val="595959"/>
                </a:solidFill>
                <a:highlight>
                  <a:srgbClr val="FFFF00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; the </a:t>
            </a:r>
            <a:r>
              <a:rPr lang="en-US" sz="1733" b="1" dirty="0" err="1">
                <a:solidFill>
                  <a:schemeClr val="accent6">
                    <a:lumMod val="75000"/>
                  </a:schemeClr>
                </a:solidFill>
                <a:highlight>
                  <a:srgbClr val="FFFF00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UnetUp</a:t>
            </a:r>
            <a:r>
              <a:rPr lang="en-US" sz="1733" dirty="0">
                <a:solidFill>
                  <a:srgbClr val="595959"/>
                </a:solidFill>
                <a:highlight>
                  <a:srgbClr val="FFFF00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733" b="1" dirty="0">
                <a:solidFill>
                  <a:srgbClr val="595959"/>
                </a:solidFill>
                <a:highlight>
                  <a:srgbClr val="FFFF00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doubles it back</a:t>
            </a:r>
            <a:r>
              <a:rPr lang="en-US" sz="1733" dirty="0">
                <a:solidFill>
                  <a:srgbClr val="595959"/>
                </a:solidFill>
                <a:highlight>
                  <a:srgbClr val="FFFF00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  <a:endParaRPr lang="en-US" sz="1733" dirty="0">
              <a:highlight>
                <a:srgbClr val="FFFF00"/>
              </a:highlight>
            </a:endParaRPr>
          </a:p>
        </p:txBody>
      </p:sp>
      <p:sp>
        <p:nvSpPr>
          <p:cNvPr id="5" name="Shape 3"/>
          <p:cNvSpPr/>
          <p:nvPr/>
        </p:nvSpPr>
        <p:spPr>
          <a:xfrm>
            <a:off x="142477" y="1514360"/>
            <a:ext cx="5547360" cy="463296"/>
          </a:xfrm>
          <a:prstGeom prst="rect">
            <a:avLst/>
          </a:prstGeom>
          <a:solidFill>
            <a:srgbClr val="1F5BAD"/>
          </a:solidFill>
          <a:ln w="12700">
            <a:solidFill>
              <a:srgbClr val="1F5BA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42477" y="1514360"/>
            <a:ext cx="554736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UnetDown — </a:t>
            </a:r>
            <a:r>
              <a:rPr lang="en-US" sz="1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downsampling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42477" y="4550472"/>
            <a:ext cx="5547360" cy="463296"/>
          </a:xfrm>
          <a:prstGeom prst="rect">
            <a:avLst/>
          </a:prstGeom>
          <a:solidFill>
            <a:srgbClr val="1B6B60"/>
          </a:solidFill>
          <a:ln w="12700">
            <a:solidFill>
              <a:srgbClr val="1B6B6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42477" y="4550472"/>
            <a:ext cx="554736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UnetUp — </a:t>
            </a:r>
            <a:r>
              <a:rPr lang="en-US" sz="1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upsampling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42477" y="2002039"/>
            <a:ext cx="5547360" cy="2251462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88781" y="2099576"/>
            <a:ext cx="5254752" cy="136783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267" dirty="0">
                <a:solidFill>
                  <a:srgbClr val="D4E6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ResidualConvBlock(nn.Module):</a:t>
            </a:r>
            <a:endParaRPr lang="en-US" sz="1267" dirty="0"/>
          </a:p>
          <a:p>
            <a:r>
              <a:rPr lang="en-US" sz="1267" dirty="0">
                <a:solidFill>
                  <a:srgbClr val="D4E6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__init__(self, in_ch, </a:t>
            </a:r>
            <a:r>
              <a:rPr lang="en-US" sz="1267" dirty="0" err="1">
                <a:solidFill>
                  <a:srgbClr val="D4E6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out_ch</a:t>
            </a:r>
            <a:r>
              <a:rPr lang="en-US" sz="1267" dirty="0">
                <a:solidFill>
                  <a:srgbClr val="D4E6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267" dirty="0">
                <a:solidFill>
                  <a:srgbClr val="D4E6F1"/>
                </a:solidFill>
                <a:latin typeface="Courier New" pitchFamily="34" charset="0"/>
                <a:cs typeface="Courier New" pitchFamily="34" charset="-120"/>
              </a:rPr>
              <a:t>...</a:t>
            </a:r>
            <a:r>
              <a:rPr lang="en-US" sz="1267" dirty="0">
                <a:solidFill>
                  <a:srgbClr val="D4E6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):</a:t>
            </a:r>
            <a:endParaRPr lang="en-US" sz="1267" dirty="0"/>
          </a:p>
          <a:p>
            <a:r>
              <a:rPr lang="en-US" sz="1267" dirty="0">
                <a:solidFill>
                  <a:srgbClr val="D4E6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...</a:t>
            </a:r>
          </a:p>
          <a:p>
            <a:endParaRPr lang="en-US" sz="1267" dirty="0">
              <a:solidFill>
                <a:srgbClr val="D4E6F1"/>
              </a:solidFill>
              <a:latin typeface="Courier New" pitchFamily="34" charset="0"/>
              <a:cs typeface="Courier New" pitchFamily="34" charset="-120"/>
            </a:endParaRPr>
          </a:p>
          <a:p>
            <a:endParaRPr lang="en-US" sz="1267" dirty="0">
              <a:solidFill>
                <a:srgbClr val="D4E6F1"/>
              </a:solidFill>
              <a:latin typeface="Courier New" pitchFamily="34" charset="0"/>
              <a:cs typeface="Courier New" pitchFamily="34" charset="-120"/>
            </a:endParaRPr>
          </a:p>
          <a:p>
            <a:endParaRPr lang="en-US" sz="1267" dirty="0"/>
          </a:p>
          <a:p>
            <a:r>
              <a:rPr lang="en-US" sz="1267" dirty="0">
                <a:solidFill>
                  <a:srgbClr val="D4E6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UnetDown(nn.Module):</a:t>
            </a:r>
            <a:endParaRPr lang="en-US" sz="1267" dirty="0"/>
          </a:p>
          <a:p>
            <a:r>
              <a:rPr lang="en-US" sz="1267" dirty="0">
                <a:solidFill>
                  <a:srgbClr val="D4E6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__init__(self, in_ch, </a:t>
            </a:r>
            <a:r>
              <a:rPr lang="en-US" sz="1267" dirty="0" err="1">
                <a:solidFill>
                  <a:srgbClr val="D4E6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out_ch</a:t>
            </a:r>
            <a:r>
              <a:rPr lang="en-US" sz="1267" dirty="0">
                <a:solidFill>
                  <a:srgbClr val="D4E6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):</a:t>
            </a:r>
          </a:p>
          <a:p>
            <a:r>
              <a:rPr lang="en-US" sz="1267" dirty="0">
                <a:solidFill>
                  <a:srgbClr val="D4E6F1"/>
                </a:solidFill>
                <a:latin typeface="Courier New" pitchFamily="34" charset="0"/>
                <a:cs typeface="Courier New" pitchFamily="34" charset="-120"/>
              </a:rPr>
              <a:t>	...</a:t>
            </a:r>
            <a:endParaRPr lang="en-US" sz="1267" dirty="0"/>
          </a:p>
        </p:txBody>
      </p:sp>
      <p:sp>
        <p:nvSpPr>
          <p:cNvPr id="11" name="Shape 9"/>
          <p:cNvSpPr/>
          <p:nvPr/>
        </p:nvSpPr>
        <p:spPr>
          <a:xfrm>
            <a:off x="142477" y="5038151"/>
            <a:ext cx="5547360" cy="1105795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88781" y="5135688"/>
            <a:ext cx="5254752" cy="5702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267" dirty="0">
                <a:solidFill>
                  <a:srgbClr val="D4E6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UnetUp(nn.Module):</a:t>
            </a:r>
            <a:endParaRPr lang="en-US" sz="1267" dirty="0"/>
          </a:p>
          <a:p>
            <a:r>
              <a:rPr lang="en-US" sz="1267" dirty="0">
                <a:solidFill>
                  <a:srgbClr val="D4E6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__init__(self, in_ch, out_ch):</a:t>
            </a:r>
            <a:endParaRPr lang="en-US" sz="1267" dirty="0"/>
          </a:p>
          <a:p>
            <a:r>
              <a:rPr lang="en-US" sz="1267" dirty="0">
                <a:solidFill>
                  <a:srgbClr val="D4E6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...</a:t>
            </a:r>
            <a:endParaRPr lang="en-US" sz="1267" dirty="0"/>
          </a:p>
        </p:txBody>
      </p:sp>
      <p:sp>
        <p:nvSpPr>
          <p:cNvPr id="13" name="Shape 0">
            <a:extLst>
              <a:ext uri="{FF2B5EF4-FFF2-40B4-BE49-F238E27FC236}">
                <a16:creationId xmlns:a16="http://schemas.microsoft.com/office/drawing/2014/main" id="{71FA79DB-483C-EAB8-896F-CFBA7A40B0CA}"/>
              </a:ext>
            </a:extLst>
          </p:cNvPr>
          <p:cNvSpPr/>
          <p:nvPr/>
        </p:nvSpPr>
        <p:spPr>
          <a:xfrm>
            <a:off x="0" y="0"/>
            <a:ext cx="12192000" cy="97536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59B38B9D-CB33-5626-BE8B-0C9FFA2FA2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5547" y="1679026"/>
            <a:ext cx="6246453" cy="442432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50B765D-6606-2207-E6FA-7ED0141511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3622" y="2763028"/>
            <a:ext cx="1254673" cy="23550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DF433C95-D141-7A08-5456-10017F1D47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3621" y="3891188"/>
            <a:ext cx="1254673" cy="23550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C6F0678D-3C12-C827-9A31-34AE347D3D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3620" y="5791714"/>
            <a:ext cx="1254673" cy="23550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3591CE-2447-8D32-177C-F6ECB5A06B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7AAFE35-4A88-E950-15D7-D233BD92A93D}"/>
              </a:ext>
            </a:extLst>
          </p:cNvPr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D1501E6-FF8A-EEE8-E17B-732101BC3A68}"/>
              </a:ext>
            </a:extLst>
          </p:cNvPr>
          <p:cNvSpPr/>
          <p:nvPr/>
        </p:nvSpPr>
        <p:spPr>
          <a:xfrm>
            <a:off x="487680" y="219456"/>
            <a:ext cx="1121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467" b="1" dirty="0" err="1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UnetDown</a:t>
            </a:r>
            <a:r>
              <a:rPr lang="en-US" sz="3467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&amp; </a:t>
            </a:r>
            <a:r>
              <a:rPr lang="en-US" sz="3467" b="1" dirty="0" err="1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UnetUp</a:t>
            </a:r>
            <a:endParaRPr lang="en-US" sz="3467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BAADC48-B530-3DA3-FA3C-356D91C52EC4}"/>
              </a:ext>
            </a:extLst>
          </p:cNvPr>
          <p:cNvSpPr/>
          <p:nvPr/>
        </p:nvSpPr>
        <p:spPr>
          <a:xfrm>
            <a:off x="185716" y="1038153"/>
            <a:ext cx="6050697" cy="3493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dirty="0">
                <a:solidFill>
                  <a:srgbClr val="595959"/>
                </a:solidFill>
                <a:highlight>
                  <a:srgbClr val="FFFF00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The </a:t>
            </a:r>
            <a:r>
              <a:rPr lang="en-US" sz="1733" b="1" dirty="0" err="1">
                <a:solidFill>
                  <a:schemeClr val="tx2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UnetDown</a:t>
            </a:r>
            <a:r>
              <a:rPr lang="en-US" sz="1733" dirty="0">
                <a:solidFill>
                  <a:srgbClr val="595959"/>
                </a:solidFill>
                <a:highlight>
                  <a:srgbClr val="FFFF00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733" b="1" dirty="0">
                <a:solidFill>
                  <a:srgbClr val="595959"/>
                </a:solidFill>
                <a:highlight>
                  <a:srgbClr val="FFFF00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halves resolution</a:t>
            </a:r>
            <a:r>
              <a:rPr lang="en-US" sz="1733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the </a:t>
            </a:r>
            <a:r>
              <a:rPr lang="en-US" sz="1733" b="1" dirty="0" err="1">
                <a:solidFill>
                  <a:schemeClr val="accent6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UnetUp</a:t>
            </a:r>
            <a:r>
              <a:rPr lang="en-US" sz="1733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733" b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doubles it back</a:t>
            </a:r>
            <a:r>
              <a:rPr lang="en-US" sz="1733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  <a:endParaRPr lang="en-US" sz="1733" dirty="0"/>
          </a:p>
        </p:txBody>
      </p:sp>
      <p:sp>
        <p:nvSpPr>
          <p:cNvPr id="13" name="Shape 0">
            <a:extLst>
              <a:ext uri="{FF2B5EF4-FFF2-40B4-BE49-F238E27FC236}">
                <a16:creationId xmlns:a16="http://schemas.microsoft.com/office/drawing/2014/main" id="{5A40707D-3672-11D7-C552-F8D2233DB6C2}"/>
              </a:ext>
            </a:extLst>
          </p:cNvPr>
          <p:cNvSpPr/>
          <p:nvPr/>
        </p:nvSpPr>
        <p:spPr>
          <a:xfrm>
            <a:off x="0" y="0"/>
            <a:ext cx="12192000" cy="97536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pic>
        <p:nvPicPr>
          <p:cNvPr id="2050" name="Picture 2" descr="Creating a simple convolution neural network | by Krish Ranjan | Medium">
            <a:extLst>
              <a:ext uri="{FF2B5EF4-FFF2-40B4-BE49-F238E27FC236}">
                <a16:creationId xmlns:a16="http://schemas.microsoft.com/office/drawing/2014/main" id="{221A3078-BC18-9082-D136-8CF19DD812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1050" y="1891593"/>
            <a:ext cx="8089900" cy="3600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538504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A00B44-BF3E-8F70-0CB6-CF34420D51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1A33918-E2D0-E643-E2A5-B551E4FA6AF4}"/>
              </a:ext>
            </a:extLst>
          </p:cNvPr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CE24D92-FE32-82E7-0AD2-81C816B7AF66}"/>
              </a:ext>
            </a:extLst>
          </p:cNvPr>
          <p:cNvSpPr/>
          <p:nvPr/>
        </p:nvSpPr>
        <p:spPr>
          <a:xfrm>
            <a:off x="487680" y="219456"/>
            <a:ext cx="1121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467" b="1" dirty="0" err="1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UnetDown</a:t>
            </a:r>
            <a:r>
              <a:rPr lang="en-US" sz="3467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&amp; </a:t>
            </a:r>
            <a:r>
              <a:rPr lang="en-US" sz="3467" b="1" dirty="0" err="1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UnetUp</a:t>
            </a:r>
            <a:endParaRPr lang="en-US" sz="3467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8A46D991-6305-A9CF-902C-3631120BC816}"/>
              </a:ext>
            </a:extLst>
          </p:cNvPr>
          <p:cNvSpPr/>
          <p:nvPr/>
        </p:nvSpPr>
        <p:spPr>
          <a:xfrm>
            <a:off x="185716" y="1038153"/>
            <a:ext cx="6050697" cy="3493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</a:t>
            </a:r>
            <a:r>
              <a:rPr lang="en-US" sz="1733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UnetDown</a:t>
            </a:r>
            <a:r>
              <a:rPr lang="en-US" sz="1733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733" b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halves resolution</a:t>
            </a:r>
            <a:r>
              <a:rPr lang="en-US" sz="1733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</a:t>
            </a:r>
            <a:r>
              <a:rPr lang="en-US" sz="1733" dirty="0">
                <a:solidFill>
                  <a:srgbClr val="595959"/>
                </a:solidFill>
                <a:highlight>
                  <a:srgbClr val="FFFF00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the </a:t>
            </a:r>
            <a:r>
              <a:rPr lang="en-US" sz="1733" b="1" dirty="0" err="1">
                <a:solidFill>
                  <a:schemeClr val="accent6">
                    <a:lumMod val="75000"/>
                  </a:schemeClr>
                </a:solidFill>
                <a:highlight>
                  <a:srgbClr val="FFFF00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UnetUp</a:t>
            </a:r>
            <a:r>
              <a:rPr lang="en-US" sz="1733" dirty="0">
                <a:solidFill>
                  <a:srgbClr val="595959"/>
                </a:solidFill>
                <a:highlight>
                  <a:srgbClr val="FFFF00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733" b="1" dirty="0">
                <a:solidFill>
                  <a:srgbClr val="595959"/>
                </a:solidFill>
                <a:highlight>
                  <a:srgbClr val="FFFF00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doubles it back</a:t>
            </a:r>
            <a:r>
              <a:rPr lang="en-US" sz="1733" dirty="0">
                <a:solidFill>
                  <a:srgbClr val="595959"/>
                </a:solidFill>
                <a:highlight>
                  <a:srgbClr val="FFFF00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  <a:endParaRPr lang="en-US" sz="1733" dirty="0">
              <a:highlight>
                <a:srgbClr val="FFFF00"/>
              </a:highlight>
            </a:endParaRPr>
          </a:p>
        </p:txBody>
      </p:sp>
      <p:sp>
        <p:nvSpPr>
          <p:cNvPr id="13" name="Shape 0">
            <a:extLst>
              <a:ext uri="{FF2B5EF4-FFF2-40B4-BE49-F238E27FC236}">
                <a16:creationId xmlns:a16="http://schemas.microsoft.com/office/drawing/2014/main" id="{F4C1C857-A012-70AD-A0A0-E02965908944}"/>
              </a:ext>
            </a:extLst>
          </p:cNvPr>
          <p:cNvSpPr/>
          <p:nvPr/>
        </p:nvSpPr>
        <p:spPr>
          <a:xfrm>
            <a:off x="0" y="0"/>
            <a:ext cx="12192000" cy="97536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3680F4E-6B16-4F35-AA3B-5F9B3E9CAD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0693" y="1423738"/>
            <a:ext cx="6626050" cy="5434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167775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87680" y="219456"/>
            <a:ext cx="1121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467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U-Net Forward Pass</a:t>
            </a:r>
            <a:endParaRPr lang="en-US" sz="3467" dirty="0"/>
          </a:p>
        </p:txBody>
      </p:sp>
      <p:sp>
        <p:nvSpPr>
          <p:cNvPr id="4" name="Text 2"/>
          <p:cNvSpPr/>
          <p:nvPr/>
        </p:nvSpPr>
        <p:spPr>
          <a:xfrm>
            <a:off x="154798" y="1002792"/>
            <a:ext cx="5660376" cy="316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b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Noisy image + label + timestep → predicted noise:</a:t>
            </a:r>
            <a:endParaRPr lang="en-US" sz="1733" b="1" dirty="0"/>
          </a:p>
        </p:txBody>
      </p:sp>
      <p:sp>
        <p:nvSpPr>
          <p:cNvPr id="16" name="Shape 14"/>
          <p:cNvSpPr/>
          <p:nvPr/>
        </p:nvSpPr>
        <p:spPr>
          <a:xfrm>
            <a:off x="154798" y="1417320"/>
            <a:ext cx="5660376" cy="2466311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9317" y="1514856"/>
            <a:ext cx="5986683" cy="264110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267" dirty="0">
                <a:solidFill>
                  <a:srgbClr val="D4E6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</a:t>
            </a:r>
            <a:r>
              <a:rPr lang="en-US" sz="1267" dirty="0" err="1">
                <a:solidFill>
                  <a:srgbClr val="D4E6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Unet</a:t>
            </a:r>
            <a:r>
              <a:rPr lang="en-US" sz="1267" dirty="0">
                <a:solidFill>
                  <a:srgbClr val="D4E6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267" dirty="0" err="1">
                <a:solidFill>
                  <a:srgbClr val="D4E6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nn.Module</a:t>
            </a:r>
            <a:r>
              <a:rPr lang="en-US" sz="1267" dirty="0">
                <a:solidFill>
                  <a:srgbClr val="D4E6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):</a:t>
            </a:r>
          </a:p>
          <a:p>
            <a:r>
              <a:rPr lang="en-US" sz="1267" dirty="0">
                <a:solidFill>
                  <a:srgbClr val="D4E6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__</a:t>
            </a:r>
            <a:r>
              <a:rPr lang="en-US" sz="1267" dirty="0" err="1">
                <a:solidFill>
                  <a:srgbClr val="D4E6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init</a:t>
            </a:r>
            <a:r>
              <a:rPr lang="en-US" sz="1267" dirty="0">
                <a:solidFill>
                  <a:srgbClr val="D4E6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__(self, </a:t>
            </a:r>
            <a:r>
              <a:rPr lang="en-US" sz="1267" dirty="0" err="1">
                <a:solidFill>
                  <a:srgbClr val="D4E6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in_channels</a:t>
            </a:r>
            <a:r>
              <a:rPr lang="en-US" sz="1267" dirty="0">
                <a:solidFill>
                  <a:srgbClr val="D4E6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..., </a:t>
            </a:r>
            <a:r>
              <a:rPr lang="en-US" sz="1267" dirty="0" err="1">
                <a:solidFill>
                  <a:srgbClr val="D4E6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n_classes</a:t>
            </a:r>
            <a:r>
              <a:rPr lang="en-US" sz="1267" dirty="0">
                <a:solidFill>
                  <a:srgbClr val="D4E6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=10):</a:t>
            </a:r>
          </a:p>
          <a:p>
            <a:r>
              <a:rPr lang="en-US" sz="1267" dirty="0">
                <a:solidFill>
                  <a:srgbClr val="D4E6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...</a:t>
            </a:r>
          </a:p>
          <a:p>
            <a:endParaRPr lang="en-US" sz="1267" dirty="0">
              <a:solidFill>
                <a:srgbClr val="D4E6F1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endParaRPr lang="en-US" sz="1267" dirty="0">
              <a:solidFill>
                <a:srgbClr val="D4E6F1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endParaRPr lang="en-US" sz="1267" dirty="0">
              <a:solidFill>
                <a:srgbClr val="D4E6F1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r>
              <a:rPr lang="en-US" sz="1267" dirty="0">
                <a:solidFill>
                  <a:srgbClr val="D4E6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def forward(self, </a:t>
            </a:r>
            <a:r>
              <a:rPr lang="en-US" sz="1267" dirty="0" err="1">
                <a:solidFill>
                  <a:srgbClr val="D4E6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noisy_image</a:t>
            </a:r>
            <a:r>
              <a:rPr lang="en-US" sz="1267" dirty="0">
                <a:solidFill>
                  <a:srgbClr val="D4E6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label, timestep, ...):</a:t>
            </a:r>
          </a:p>
          <a:p>
            <a:r>
              <a:rPr lang="en-US" sz="1267" dirty="0">
                <a:solidFill>
                  <a:srgbClr val="D4E6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...    </a:t>
            </a:r>
          </a:p>
          <a:p>
            <a:endParaRPr lang="en-US" sz="1267" dirty="0">
              <a:solidFill>
                <a:srgbClr val="D4E6F1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r>
              <a:rPr lang="en-US" sz="1267" dirty="0">
                <a:solidFill>
                  <a:srgbClr val="D4E6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</a:t>
            </a:r>
          </a:p>
          <a:p>
            <a:r>
              <a:rPr lang="en-US" sz="1267" dirty="0">
                <a:solidFill>
                  <a:srgbClr val="D4E6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return </a:t>
            </a:r>
            <a:r>
              <a:rPr lang="en-US" sz="1267" dirty="0" err="1">
                <a:solidFill>
                  <a:srgbClr val="D4E6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predicted_noise</a:t>
            </a:r>
            <a:endParaRPr lang="en-US" sz="1267" dirty="0"/>
          </a:p>
        </p:txBody>
      </p:sp>
      <p:sp>
        <p:nvSpPr>
          <p:cNvPr id="19" name="Shape 0">
            <a:extLst>
              <a:ext uri="{FF2B5EF4-FFF2-40B4-BE49-F238E27FC236}">
                <a16:creationId xmlns:a16="http://schemas.microsoft.com/office/drawing/2014/main" id="{819FF893-1E5A-D48C-94B0-754FDABD4CAA}"/>
              </a:ext>
            </a:extLst>
          </p:cNvPr>
          <p:cNvSpPr/>
          <p:nvPr/>
        </p:nvSpPr>
        <p:spPr>
          <a:xfrm>
            <a:off x="0" y="0"/>
            <a:ext cx="12192000" cy="97536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63E00583-5154-4A3D-9166-8791F9B9F0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5547" y="1679026"/>
            <a:ext cx="6246453" cy="4424323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BB3BEDF9-0E87-33F5-08EA-0722BCA0AC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1429" y="2225040"/>
            <a:ext cx="1254673" cy="235505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1606B177-46EA-AC9C-0879-75B8A74DBE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1429" y="3170729"/>
            <a:ext cx="1254673" cy="235505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A50C7D1D-DBE0-F9B8-E532-EB9CBF79D8CF}"/>
              </a:ext>
            </a:extLst>
          </p:cNvPr>
          <p:cNvSpPr txBox="1"/>
          <p:nvPr/>
        </p:nvSpPr>
        <p:spPr>
          <a:xfrm>
            <a:off x="154798" y="5315105"/>
            <a:ext cx="757219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>
                <a:highlight>
                  <a:srgbClr val="FFFF00"/>
                </a:highlight>
              </a:rPr>
              <a:t>NOTE: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i="1" dirty="0"/>
              <a:t> Details are omitted here to focus on the big picture.</a:t>
            </a:r>
            <a:r>
              <a:rPr lang="en-US" sz="2000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i="1" dirty="0"/>
              <a:t> The implementation follows the diagram step by step—line by line.</a:t>
            </a:r>
            <a:r>
              <a:rPr lang="en-US" sz="2000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i="1" dirty="0"/>
              <a:t> </a:t>
            </a:r>
            <a:r>
              <a:rPr lang="en-US" sz="2000" b="1" i="1" dirty="0">
                <a:solidFill>
                  <a:srgbClr val="FF0000"/>
                </a:solidFill>
              </a:rPr>
              <a:t>Feel free to ask if anything is unclear</a:t>
            </a:r>
            <a:r>
              <a:rPr lang="en-US" sz="2000" i="1" dirty="0"/>
              <a:t>.</a:t>
            </a:r>
            <a:endParaRPr lang="en-US" sz="2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46304"/>
            <a:ext cx="11094720" cy="755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467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Embeddings Are Injected into the Decoder</a:t>
            </a:r>
            <a:endParaRPr lang="en-US" sz="3467" dirty="0"/>
          </a:p>
        </p:txBody>
      </p:sp>
      <p:sp>
        <p:nvSpPr>
          <p:cNvPr id="5" name="Shape 3"/>
          <p:cNvSpPr/>
          <p:nvPr/>
        </p:nvSpPr>
        <p:spPr>
          <a:xfrm>
            <a:off x="426720" y="893064"/>
            <a:ext cx="11338560" cy="682752"/>
          </a:xfrm>
          <a:prstGeom prst="rect">
            <a:avLst/>
          </a:prstGeom>
          <a:solidFill>
            <a:srgbClr val="D6E4F7"/>
          </a:solidFill>
          <a:ln w="12700">
            <a:solidFill>
              <a:srgbClr val="1F5BA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9600" y="893064"/>
            <a:ext cx="10972800" cy="682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400" i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Injection formula:   </a:t>
            </a:r>
            <a:r>
              <a:rPr lang="en-US" sz="2400" i="1" dirty="0" err="1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label_embedding</a:t>
            </a:r>
            <a:r>
              <a:rPr lang="en-US" sz="2400" i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× </a:t>
            </a:r>
            <a:r>
              <a:rPr lang="en-US" sz="2400" i="1" dirty="0" err="1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input_feature</a:t>
            </a:r>
            <a:r>
              <a:rPr lang="en-US" sz="2400" i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+  time_embedding</a:t>
            </a:r>
            <a:endParaRPr lang="en-US" sz="2400" dirty="0"/>
          </a:p>
        </p:txBody>
      </p:sp>
      <p:sp>
        <p:nvSpPr>
          <p:cNvPr id="26" name="Shape 0">
            <a:extLst>
              <a:ext uri="{FF2B5EF4-FFF2-40B4-BE49-F238E27FC236}">
                <a16:creationId xmlns:a16="http://schemas.microsoft.com/office/drawing/2014/main" id="{B25BEECA-6CFC-6900-C530-79544FDE94EA}"/>
              </a:ext>
            </a:extLst>
          </p:cNvPr>
          <p:cNvSpPr/>
          <p:nvPr/>
        </p:nvSpPr>
        <p:spPr>
          <a:xfrm>
            <a:off x="0" y="0"/>
            <a:ext cx="12192000" cy="97536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757B1A4C-D6D9-CFFD-37AD-BEFD7C6037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4700" y="1790638"/>
            <a:ext cx="6282738" cy="4787961"/>
          </a:xfrm>
          <a:prstGeom prst="rect">
            <a:avLst/>
          </a:prstGeom>
        </p:spPr>
      </p:pic>
      <p:grpSp>
        <p:nvGrpSpPr>
          <p:cNvPr id="32" name="Group 31">
            <a:extLst>
              <a:ext uri="{FF2B5EF4-FFF2-40B4-BE49-F238E27FC236}">
                <a16:creationId xmlns:a16="http://schemas.microsoft.com/office/drawing/2014/main" id="{EBDCA629-FD2D-8679-C0FC-27833CEAD52C}"/>
              </a:ext>
            </a:extLst>
          </p:cNvPr>
          <p:cNvGrpSpPr/>
          <p:nvPr/>
        </p:nvGrpSpPr>
        <p:grpSpPr>
          <a:xfrm>
            <a:off x="3369588" y="6410904"/>
            <a:ext cx="113400" cy="154440"/>
            <a:chOff x="3369588" y="6410904"/>
            <a:chExt cx="113400" cy="154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44C54C88-9988-0D00-E2AD-E027EF871949}"/>
                    </a:ext>
                  </a:extLst>
                </p14:cNvPr>
                <p14:cNvContentPartPr/>
                <p14:nvPr/>
              </p14:nvContentPartPr>
              <p14:xfrm>
                <a:off x="3369588" y="6564984"/>
                <a:ext cx="360" cy="36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44C54C88-9988-0D00-E2AD-E027EF871949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3306948" y="6502344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C365A052-4650-49B1-8C75-EF5AF3791382}"/>
                    </a:ext>
                  </a:extLst>
                </p14:cNvPr>
                <p14:cNvContentPartPr/>
                <p14:nvPr/>
              </p14:nvContentPartPr>
              <p14:xfrm>
                <a:off x="3441588" y="6472464"/>
                <a:ext cx="360" cy="36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C365A052-4650-49B1-8C75-EF5AF3791382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3378588" y="6409824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767CBEB3-DB8F-2550-BEF4-EB9D7AD16AA5}"/>
                    </a:ext>
                  </a:extLst>
                </p14:cNvPr>
                <p14:cNvContentPartPr/>
                <p14:nvPr/>
              </p14:nvContentPartPr>
              <p14:xfrm>
                <a:off x="3482628" y="6410904"/>
                <a:ext cx="360" cy="36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767CBEB3-DB8F-2550-BEF4-EB9D7AD16AA5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3419988" y="6347904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7F8C1CEE-5FD9-9A84-9517-6F6AB0A5052E}"/>
                  </a:ext>
                </a:extLst>
              </p14:cNvPr>
              <p14:cNvContentPartPr/>
              <p14:nvPr/>
            </p14:nvContentPartPr>
            <p14:xfrm>
              <a:off x="4705548" y="1962024"/>
              <a:ext cx="2250000" cy="603720"/>
            </p14:xfrm>
          </p:contentPart>
        </mc:Choice>
        <mc:Fallback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7F8C1CEE-5FD9-9A84-9517-6F6AB0A5052E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642548" y="1899384"/>
                <a:ext cx="2375640" cy="729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7289D948-6B6E-3325-0999-B432E8E1E4CD}"/>
                  </a:ext>
                </a:extLst>
              </p14:cNvPr>
              <p14:cNvContentPartPr/>
              <p14:nvPr/>
            </p14:nvContentPartPr>
            <p14:xfrm>
              <a:off x="4685028" y="2223384"/>
              <a:ext cx="1933560" cy="140400"/>
            </p14:xfrm>
          </p:contentPart>
        </mc:Choice>
        <mc:Fallback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7289D948-6B6E-3325-0999-B432E8E1E4CD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4622028" y="2160384"/>
                <a:ext cx="2059200" cy="266040"/>
              </a:xfrm>
              <a:prstGeom prst="rect">
                <a:avLst/>
              </a:prstGeom>
            </p:spPr>
          </p:pic>
        </mc:Fallback>
      </mc:AlternateContent>
      <p:grpSp>
        <p:nvGrpSpPr>
          <p:cNvPr id="44" name="Group 43">
            <a:extLst>
              <a:ext uri="{FF2B5EF4-FFF2-40B4-BE49-F238E27FC236}">
                <a16:creationId xmlns:a16="http://schemas.microsoft.com/office/drawing/2014/main" id="{A09917D9-0680-809B-5FBD-A36DE5AF270A}"/>
              </a:ext>
            </a:extLst>
          </p:cNvPr>
          <p:cNvGrpSpPr/>
          <p:nvPr/>
        </p:nvGrpSpPr>
        <p:grpSpPr>
          <a:xfrm>
            <a:off x="4592508" y="1827384"/>
            <a:ext cx="2680200" cy="696240"/>
            <a:chOff x="4592508" y="1827384"/>
            <a:chExt cx="2680200" cy="696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C5B90860-A185-2685-5D87-3B1B13B1D644}"/>
                    </a:ext>
                  </a:extLst>
                </p14:cNvPr>
                <p14:cNvContentPartPr/>
                <p14:nvPr/>
              </p14:nvContentPartPr>
              <p14:xfrm>
                <a:off x="4592508" y="1827384"/>
                <a:ext cx="1926720" cy="20952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C5B90860-A185-2685-5D87-3B1B13B1D644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4529508" y="1764384"/>
                  <a:ext cx="2052360" cy="33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421781CF-40B5-07AD-B596-0FA6076A9767}"/>
                    </a:ext>
                  </a:extLst>
                </p14:cNvPr>
                <p14:cNvContentPartPr/>
                <p14:nvPr/>
              </p14:nvContentPartPr>
              <p14:xfrm>
                <a:off x="4629588" y="1920264"/>
                <a:ext cx="2643120" cy="18720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421781CF-40B5-07AD-B596-0FA6076A9767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4566948" y="1857624"/>
                  <a:ext cx="2768760" cy="31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9B860D95-5A69-93DC-B0A4-E70F2F020CE2}"/>
                    </a:ext>
                  </a:extLst>
                </p14:cNvPr>
                <p14:cNvContentPartPr/>
                <p14:nvPr/>
              </p14:nvContentPartPr>
              <p14:xfrm>
                <a:off x="6009108" y="2111064"/>
                <a:ext cx="682200" cy="41256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9B860D95-5A69-93DC-B0A4-E70F2F020CE2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5946108" y="2048064"/>
                  <a:ext cx="807840" cy="53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D31FDE84-D75D-F737-ACB8-0C8EBB60EA23}"/>
                    </a:ext>
                  </a:extLst>
                </p14:cNvPr>
                <p14:cNvContentPartPr/>
                <p14:nvPr/>
              </p14:nvContentPartPr>
              <p14:xfrm>
                <a:off x="4787628" y="2424264"/>
                <a:ext cx="360" cy="36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D31FDE84-D75D-F737-ACB8-0C8EBB60EA23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4724628" y="2361624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1FDEED32-B517-7A5D-E705-0F67F8D06EC4}"/>
                    </a:ext>
                  </a:extLst>
                </p14:cNvPr>
                <p14:cNvContentPartPr/>
                <p14:nvPr/>
              </p14:nvContentPartPr>
              <p14:xfrm>
                <a:off x="5321508" y="2382864"/>
                <a:ext cx="709920" cy="2304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1FDEED32-B517-7A5D-E705-0F67F8D06EC4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5258868" y="2319864"/>
                  <a:ext cx="835560" cy="14868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45" name="TextBox 44">
            <a:extLst>
              <a:ext uri="{FF2B5EF4-FFF2-40B4-BE49-F238E27FC236}">
                <a16:creationId xmlns:a16="http://schemas.microsoft.com/office/drawing/2014/main" id="{C5EF08BF-742F-37CD-F311-25757396D98F}"/>
              </a:ext>
            </a:extLst>
          </p:cNvPr>
          <p:cNvSpPr txBox="1"/>
          <p:nvPr/>
        </p:nvSpPr>
        <p:spPr>
          <a:xfrm>
            <a:off x="5342278" y="1693648"/>
            <a:ext cx="80518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/>
              <a:t>…</a:t>
            </a:r>
            <a:endParaRPr lang="ro-RO" sz="4400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C9172FB-530D-5327-645E-A31AE1B675C7}"/>
              </a:ext>
            </a:extLst>
          </p:cNvPr>
          <p:cNvSpPr txBox="1"/>
          <p:nvPr/>
        </p:nvSpPr>
        <p:spPr>
          <a:xfrm>
            <a:off x="5342278" y="6214939"/>
            <a:ext cx="80518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/>
              <a:t>…</a:t>
            </a:r>
            <a:endParaRPr lang="ro-RO" sz="4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FF9BC3-4EF0-8CD0-CB62-00AF826BD6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68AF240-811A-88D4-FDD2-335CC94A74B8}"/>
              </a:ext>
            </a:extLst>
          </p:cNvPr>
          <p:cNvSpPr/>
          <p:nvPr/>
        </p:nvSpPr>
        <p:spPr>
          <a:xfrm>
            <a:off x="0" y="0"/>
            <a:ext cx="12192000" cy="97536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73090F4-6C1F-C1F3-CD3B-A817B7D54C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0336" y="1104575"/>
            <a:ext cx="6811326" cy="4648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194936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2988D6-B744-D32D-C051-7CEF02FF47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D6D24E5-B7CD-4924-B166-B74871F95146}"/>
              </a:ext>
            </a:extLst>
          </p:cNvPr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B4437EF-C48F-EFCF-F58E-5759BFEB6D2B}"/>
              </a:ext>
            </a:extLst>
          </p:cNvPr>
          <p:cNvSpPr/>
          <p:nvPr/>
        </p:nvSpPr>
        <p:spPr>
          <a:xfrm>
            <a:off x="548640" y="146304"/>
            <a:ext cx="11094720" cy="755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467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Embeddings Are Injected into the Decoder</a:t>
            </a:r>
            <a:endParaRPr lang="en-US" sz="3467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695CC72C-F0EA-C5E0-BC0B-260AB80273BD}"/>
              </a:ext>
            </a:extLst>
          </p:cNvPr>
          <p:cNvSpPr/>
          <p:nvPr/>
        </p:nvSpPr>
        <p:spPr>
          <a:xfrm>
            <a:off x="96520" y="2322576"/>
            <a:ext cx="5547360" cy="463296"/>
          </a:xfrm>
          <a:prstGeom prst="rect">
            <a:avLst/>
          </a:prstGeom>
          <a:solidFill>
            <a:srgbClr val="1F5BAD"/>
          </a:solidFill>
          <a:ln w="12700">
            <a:solidFill>
              <a:srgbClr val="1F5BAD"/>
            </a:solidFill>
            <a:prstDash val="solid"/>
          </a:ln>
        </p:spPr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4F05A8A0-4422-2F90-723E-6E927A2DE421}"/>
              </a:ext>
            </a:extLst>
          </p:cNvPr>
          <p:cNvSpPr/>
          <p:nvPr/>
        </p:nvSpPr>
        <p:spPr>
          <a:xfrm>
            <a:off x="96520" y="2322576"/>
            <a:ext cx="554736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embedding — multiplicative</a:t>
            </a:r>
            <a:endParaRPr lang="en-US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AB8BAD02-4B51-8C0C-86E6-467C70E764AA}"/>
              </a:ext>
            </a:extLst>
          </p:cNvPr>
          <p:cNvSpPr/>
          <p:nvPr/>
        </p:nvSpPr>
        <p:spPr>
          <a:xfrm>
            <a:off x="242824" y="2859024"/>
            <a:ext cx="5242560" cy="755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Multiplies the feature map channel-by-channel.</a:t>
            </a:r>
            <a:endParaRPr lang="en-US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F8AAC746-2F64-D213-FF01-8CADAAF28147}"/>
              </a:ext>
            </a:extLst>
          </p:cNvPr>
          <p:cNvSpPr/>
          <p:nvPr/>
        </p:nvSpPr>
        <p:spPr>
          <a:xfrm>
            <a:off x="242824" y="3688080"/>
            <a:ext cx="5242560" cy="755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dirty="0">
                <a:solidFill>
                  <a:srgbClr val="595959"/>
                </a:solidFill>
                <a:highlight>
                  <a:srgbClr val="FFFF00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Acts like an attention gate — amplifies channels relevant to the target class and suppresses others.</a:t>
            </a:r>
            <a:endParaRPr lang="en-US" dirty="0">
              <a:highlight>
                <a:srgbClr val="FFFF00"/>
              </a:highlight>
            </a:endParaRPr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8C9BAF7F-E865-754E-5B50-4B13F0C4F1D3}"/>
              </a:ext>
            </a:extLst>
          </p:cNvPr>
          <p:cNvSpPr/>
          <p:nvPr/>
        </p:nvSpPr>
        <p:spPr>
          <a:xfrm>
            <a:off x="242824" y="4517136"/>
            <a:ext cx="5547360" cy="755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Example: for label 'coat', coat-related features are boosted.</a:t>
            </a:r>
            <a:endParaRPr lang="en-US" dirty="0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DD587E54-BB53-5B82-8A16-11AFB2CEEA2E}"/>
              </a:ext>
            </a:extLst>
          </p:cNvPr>
          <p:cNvSpPr/>
          <p:nvPr/>
        </p:nvSpPr>
        <p:spPr>
          <a:xfrm>
            <a:off x="6401816" y="2293620"/>
            <a:ext cx="5547360" cy="463296"/>
          </a:xfrm>
          <a:prstGeom prst="rect">
            <a:avLst/>
          </a:prstGeom>
          <a:solidFill>
            <a:srgbClr val="1B6B60"/>
          </a:solidFill>
          <a:ln w="12700">
            <a:solidFill>
              <a:srgbClr val="1B6B60"/>
            </a:solidFill>
            <a:prstDash val="solid"/>
          </a:ln>
        </p:spPr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FC92032B-0C0C-3274-1F4E-124826372E4D}"/>
              </a:ext>
            </a:extLst>
          </p:cNvPr>
          <p:cNvSpPr/>
          <p:nvPr/>
        </p:nvSpPr>
        <p:spPr>
          <a:xfrm>
            <a:off x="6401816" y="2293620"/>
            <a:ext cx="554736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embedding — additive</a:t>
            </a:r>
            <a:endParaRPr lang="en-US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BF22A6A4-047B-D5BC-2874-8A1FE1082FA1}"/>
              </a:ext>
            </a:extLst>
          </p:cNvPr>
          <p:cNvSpPr/>
          <p:nvPr/>
        </p:nvSpPr>
        <p:spPr>
          <a:xfrm>
            <a:off x="6548120" y="2830068"/>
            <a:ext cx="5242560" cy="755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Added directly to the feature map.</a:t>
            </a:r>
            <a:endParaRPr lang="en-US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EDF85BCD-1ADF-6E99-B805-A47C349FF6E9}"/>
              </a:ext>
            </a:extLst>
          </p:cNvPr>
          <p:cNvSpPr/>
          <p:nvPr/>
        </p:nvSpPr>
        <p:spPr>
          <a:xfrm>
            <a:off x="6548120" y="3659124"/>
            <a:ext cx="5242560" cy="755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Shifts the decoder's "noise estimate" based on how much noise is present at this timestep.</a:t>
            </a:r>
            <a:endParaRPr lang="en-US" dirty="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30B00483-584D-5977-DB79-3BAA1C47BF6D}"/>
              </a:ext>
            </a:extLst>
          </p:cNvPr>
          <p:cNvSpPr/>
          <p:nvPr/>
        </p:nvSpPr>
        <p:spPr>
          <a:xfrm>
            <a:off x="6548120" y="4488180"/>
            <a:ext cx="5242560" cy="755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Example: at t=900 (very noisy), the shift is large; at t=10 (almost clean), it's small.</a:t>
            </a:r>
            <a:endParaRPr lang="en-US" dirty="0"/>
          </a:p>
        </p:txBody>
      </p:sp>
      <p:sp>
        <p:nvSpPr>
          <p:cNvPr id="26" name="Shape 0">
            <a:extLst>
              <a:ext uri="{FF2B5EF4-FFF2-40B4-BE49-F238E27FC236}">
                <a16:creationId xmlns:a16="http://schemas.microsoft.com/office/drawing/2014/main" id="{30B24443-558E-0CEA-71EC-B2D8BE3C4414}"/>
              </a:ext>
            </a:extLst>
          </p:cNvPr>
          <p:cNvSpPr/>
          <p:nvPr/>
        </p:nvSpPr>
        <p:spPr>
          <a:xfrm>
            <a:off x="0" y="0"/>
            <a:ext cx="12192000" cy="97536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" name="Shape 3">
            <a:extLst>
              <a:ext uri="{FF2B5EF4-FFF2-40B4-BE49-F238E27FC236}">
                <a16:creationId xmlns:a16="http://schemas.microsoft.com/office/drawing/2014/main" id="{51FF7622-3592-7B73-BCA1-7B6B2102ABE1}"/>
              </a:ext>
            </a:extLst>
          </p:cNvPr>
          <p:cNvSpPr/>
          <p:nvPr/>
        </p:nvSpPr>
        <p:spPr>
          <a:xfrm>
            <a:off x="426720" y="893064"/>
            <a:ext cx="11338560" cy="682752"/>
          </a:xfrm>
          <a:prstGeom prst="rect">
            <a:avLst/>
          </a:prstGeom>
          <a:solidFill>
            <a:srgbClr val="D6E4F7"/>
          </a:solidFill>
          <a:ln w="12700">
            <a:solidFill>
              <a:srgbClr val="1F5BAD"/>
            </a:solidFill>
            <a:prstDash val="solid"/>
          </a:ln>
        </p:spPr>
      </p:sp>
      <p:sp>
        <p:nvSpPr>
          <p:cNvPr id="23" name="Text 4">
            <a:extLst>
              <a:ext uri="{FF2B5EF4-FFF2-40B4-BE49-F238E27FC236}">
                <a16:creationId xmlns:a16="http://schemas.microsoft.com/office/drawing/2014/main" id="{DD59B120-7B2A-F3A0-F15C-822EC8781C56}"/>
              </a:ext>
            </a:extLst>
          </p:cNvPr>
          <p:cNvSpPr/>
          <p:nvPr/>
        </p:nvSpPr>
        <p:spPr>
          <a:xfrm>
            <a:off x="609600" y="893064"/>
            <a:ext cx="10972800" cy="682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400" i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Injection formula:   </a:t>
            </a:r>
            <a:r>
              <a:rPr lang="en-US" sz="2400" i="1" dirty="0" err="1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label_embedding</a:t>
            </a:r>
            <a:r>
              <a:rPr lang="en-US" sz="2400" i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× </a:t>
            </a:r>
            <a:r>
              <a:rPr lang="en-US" sz="2400" i="1" dirty="0" err="1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input_feature</a:t>
            </a:r>
            <a:r>
              <a:rPr lang="en-US" sz="2400" i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+  time_embedding</a:t>
            </a:r>
            <a:endParaRPr lang="en-US" sz="2400" dirty="0"/>
          </a:p>
        </p:txBody>
      </p:sp>
      <p:sp>
        <p:nvSpPr>
          <p:cNvPr id="27" name="Text 20">
            <a:extLst>
              <a:ext uri="{FF2B5EF4-FFF2-40B4-BE49-F238E27FC236}">
                <a16:creationId xmlns:a16="http://schemas.microsoft.com/office/drawing/2014/main" id="{06718C1A-A6AA-5686-1742-2D6101B73479}"/>
              </a:ext>
            </a:extLst>
          </p:cNvPr>
          <p:cNvSpPr/>
          <p:nvPr/>
        </p:nvSpPr>
        <p:spPr>
          <a:xfrm>
            <a:off x="6548120" y="5461508"/>
            <a:ext cx="5242560" cy="10068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dirty="0">
                <a:solidFill>
                  <a:srgbClr val="595959"/>
                </a:solidFill>
                <a:highlight>
                  <a:srgbClr val="FFFF00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Without it, the same decoder weights would try to denoise a barely-noisy image (t=10) and a nearly-pure-noise image (t=900) identically — the additive signal is what tells them apart.</a:t>
            </a:r>
            <a:endParaRPr lang="en-US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15188148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0165CD-545B-764C-F51F-C0C864C130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591B6AB4-B80C-C476-25D7-6CC76BC3B941}"/>
              </a:ext>
            </a:extLst>
          </p:cNvPr>
          <p:cNvSpPr/>
          <p:nvPr/>
        </p:nvSpPr>
        <p:spPr>
          <a:xfrm>
            <a:off x="0" y="0"/>
            <a:ext cx="12192000" cy="97536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86BC218-D07E-9439-9B8B-220DD738147C}"/>
              </a:ext>
            </a:extLst>
          </p:cNvPr>
          <p:cNvSpPr txBox="1"/>
          <p:nvPr/>
        </p:nvSpPr>
        <p:spPr>
          <a:xfrm>
            <a:off x="243840" y="1491233"/>
            <a:ext cx="1170432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/>
              <a:t>The DDPM Scheduler </a:t>
            </a:r>
            <a:r>
              <a:rPr lang="en-US" sz="2000" dirty="0"/>
              <a:t>wraps a noise schedule and 2 functions:</a:t>
            </a:r>
          </a:p>
          <a:p>
            <a:pPr>
              <a:buNone/>
            </a:pPr>
            <a:endParaRPr lang="en-US" sz="2000" dirty="0"/>
          </a:p>
        </p:txBody>
      </p:sp>
      <p:sp>
        <p:nvSpPr>
          <p:cNvPr id="21" name="Text 1">
            <a:extLst>
              <a:ext uri="{FF2B5EF4-FFF2-40B4-BE49-F238E27FC236}">
                <a16:creationId xmlns:a16="http://schemas.microsoft.com/office/drawing/2014/main" id="{E88AFA4F-31BC-4F80-4527-10EFADD8B081}"/>
              </a:ext>
            </a:extLst>
          </p:cNvPr>
          <p:cNvSpPr/>
          <p:nvPr/>
        </p:nvSpPr>
        <p:spPr>
          <a:xfrm>
            <a:off x="487680" y="219456"/>
            <a:ext cx="1121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467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DDPM Scheduler: Adding Noise &amp; Calculating Loss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0815FAB-3519-29ED-E3EE-6A20E3C439E2}"/>
              </a:ext>
            </a:extLst>
          </p:cNvPr>
          <p:cNvSpPr txBox="1"/>
          <p:nvPr/>
        </p:nvSpPr>
        <p:spPr>
          <a:xfrm>
            <a:off x="6905317" y="2551837"/>
            <a:ext cx="5166816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en-US" sz="18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latin typeface="Courier New" panose="02070309020205020404" pitchFamily="49" charset="0"/>
              </a:rPr>
              <a:t> add noise</a:t>
            </a:r>
            <a:r>
              <a:rPr lang="en-US" sz="1800" dirty="0"/>
              <a:t> — does the same thing as linear and cosine scheduler</a:t>
            </a:r>
          </a:p>
          <a:p>
            <a:endParaRPr lang="en-US" sz="1800" dirty="0"/>
          </a:p>
          <a:p>
            <a:pPr>
              <a:buFont typeface="Arial" panose="020B0604020202020204" pitchFamily="34" charset="0"/>
              <a:buChar char="•"/>
            </a:pPr>
            <a:endParaRPr lang="en-US" sz="18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latin typeface="Courier New" panose="02070309020205020404" pitchFamily="49" charset="0"/>
              </a:rPr>
              <a:t> </a:t>
            </a:r>
            <a:r>
              <a:rPr lang="en-US" dirty="0">
                <a:latin typeface="Courier New" panose="02070309020205020404" pitchFamily="49" charset="0"/>
              </a:rPr>
              <a:t>calculate loss</a:t>
            </a:r>
            <a:r>
              <a:rPr lang="en-US" sz="1800" dirty="0"/>
              <a:t> — </a:t>
            </a:r>
            <a:r>
              <a:rPr lang="en-US" dirty="0"/>
              <a:t>computes loss between the </a:t>
            </a:r>
            <a:r>
              <a:rPr lang="en-US" b="1" dirty="0"/>
              <a:t>true noise ε</a:t>
            </a:r>
            <a:r>
              <a:rPr lang="en-US" dirty="0"/>
              <a:t> that was added and the </a:t>
            </a:r>
            <a:r>
              <a:rPr lang="en-US" b="1" dirty="0"/>
              <a:t>noise predicted by the U-Net</a:t>
            </a:r>
            <a:endParaRPr lang="en-US" sz="1800" dirty="0"/>
          </a:p>
        </p:txBody>
      </p:sp>
      <p:pic>
        <p:nvPicPr>
          <p:cNvPr id="13313" name="Picture 2">
            <a:extLst>
              <a:ext uri="{FF2B5EF4-FFF2-40B4-BE49-F238E27FC236}">
                <a16:creationId xmlns:a16="http://schemas.microsoft.com/office/drawing/2014/main" id="{C2495C86-7F67-83CB-66F8-02A42F55CC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115" y="2041598"/>
            <a:ext cx="6468927" cy="41869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7098090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18"/>
          <p:cNvSpPr/>
          <p:nvPr/>
        </p:nvSpPr>
        <p:spPr>
          <a:xfrm>
            <a:off x="243840" y="1072896"/>
            <a:ext cx="11792216" cy="4227068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90144" y="1170432"/>
            <a:ext cx="11167872" cy="3706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267" dirty="0">
                <a:solidFill>
                  <a:srgbClr val="D4E6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DDPM(nn.Module):</a:t>
            </a:r>
            <a:endParaRPr lang="en-US" sz="1267" dirty="0"/>
          </a:p>
          <a:p>
            <a:r>
              <a:rPr lang="en-US" sz="1267" dirty="0">
                <a:solidFill>
                  <a:srgbClr val="D4E6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__init__(self, model, ...):</a:t>
            </a:r>
            <a:endParaRPr lang="en-US" sz="1267" dirty="0"/>
          </a:p>
          <a:p>
            <a:r>
              <a:rPr lang="en-US" sz="1267" dirty="0">
                <a:solidFill>
                  <a:srgbClr val="D4E6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...</a:t>
            </a:r>
            <a:endParaRPr lang="en-US" sz="1267" dirty="0"/>
          </a:p>
          <a:p>
            <a:endParaRPr lang="en-US" sz="1267" dirty="0"/>
          </a:p>
          <a:p>
            <a:r>
              <a:rPr lang="en-US" sz="1267" dirty="0">
                <a:solidFill>
                  <a:srgbClr val="D4E6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forward(self, x, c):</a:t>
            </a:r>
            <a:endParaRPr lang="en-US" sz="1267" dirty="0"/>
          </a:p>
          <a:p>
            <a:r>
              <a:rPr lang="en-US" sz="1267" dirty="0">
                <a:solidFill>
                  <a:srgbClr val="D4E6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# 1. Pick a random timestep for each image</a:t>
            </a:r>
            <a:endParaRPr lang="en-US" sz="1267" dirty="0"/>
          </a:p>
          <a:p>
            <a:r>
              <a:rPr lang="en-US" sz="1267" dirty="0">
                <a:solidFill>
                  <a:srgbClr val="D4E6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_ts = torch.randint(1, self.n_T + 1, (x.shape[0],)).to(self.device)</a:t>
            </a:r>
            <a:endParaRPr lang="en-US" sz="1267" dirty="0"/>
          </a:p>
          <a:p>
            <a:r>
              <a:rPr lang="en-US" sz="1267" dirty="0">
                <a:solidFill>
                  <a:srgbClr val="D4E6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</a:p>
          <a:p>
            <a:r>
              <a:rPr lang="en-US" sz="1267" dirty="0">
                <a:solidFill>
                  <a:srgbClr val="D4E6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# 2. Sample noise and create noisy image</a:t>
            </a:r>
            <a:endParaRPr lang="en-US" sz="1267" dirty="0"/>
          </a:p>
          <a:p>
            <a:r>
              <a:rPr lang="en-US" sz="1267" dirty="0">
                <a:solidFill>
                  <a:srgbClr val="D4E6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noise = torch.randn_like(x)</a:t>
            </a:r>
            <a:endParaRPr lang="en-US" sz="1267" dirty="0"/>
          </a:p>
          <a:p>
            <a:r>
              <a:rPr lang="en-US" sz="1267" dirty="0">
                <a:solidFill>
                  <a:srgbClr val="D4E6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x_t   = (self.sqrtab[_ts, None, None, None]  * x</a:t>
            </a:r>
            <a:endParaRPr lang="en-US" sz="1267" dirty="0"/>
          </a:p>
          <a:p>
            <a:r>
              <a:rPr lang="en-US" sz="1267" dirty="0">
                <a:solidFill>
                  <a:srgbClr val="D4E6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+ self.sqrtmab[_ts, None, None, None] * noise)</a:t>
            </a:r>
            <a:endParaRPr lang="en-US" sz="1267" dirty="0"/>
          </a:p>
          <a:p>
            <a:r>
              <a:rPr lang="en-US" sz="1267" dirty="0">
                <a:solidFill>
                  <a:srgbClr val="D4E6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</a:p>
          <a:p>
            <a:r>
              <a:rPr lang="en-US" sz="1267" dirty="0">
                <a:solidFill>
                  <a:srgbClr val="D4E6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# 3. CFG mask (10 % unconditional)</a:t>
            </a:r>
            <a:endParaRPr lang="en-US" sz="1267" dirty="0"/>
          </a:p>
          <a:p>
            <a:r>
              <a:rPr lang="en-US" sz="1267" dirty="0">
                <a:solidFill>
                  <a:srgbClr val="D4E6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context_mask = torch.bernoulli(</a:t>
            </a:r>
            <a:endParaRPr lang="en-US" sz="1267" dirty="0"/>
          </a:p>
          <a:p>
            <a:r>
              <a:rPr lang="en-US" sz="1267" dirty="0">
                <a:solidFill>
                  <a:srgbClr val="D4E6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torch.zeros_like(c) + self.drop_prob).to(self.device)</a:t>
            </a:r>
            <a:endParaRPr lang="en-US" sz="1267" dirty="0"/>
          </a:p>
          <a:p>
            <a:r>
              <a:rPr lang="en-US" sz="1267" dirty="0">
                <a:solidFill>
                  <a:srgbClr val="D4E6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</a:p>
          <a:p>
            <a:r>
              <a:rPr lang="en-US" sz="1267" dirty="0">
                <a:solidFill>
                  <a:srgbClr val="D4E6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# 4. Return MSE between true noise and predicted noise</a:t>
            </a:r>
            <a:endParaRPr lang="en-US" sz="1267" dirty="0"/>
          </a:p>
          <a:p>
            <a:r>
              <a:rPr lang="en-US" sz="1267" dirty="0">
                <a:solidFill>
                  <a:srgbClr val="D4E6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self.loss_mse(noise,</a:t>
            </a:r>
            <a:endParaRPr lang="en-US" sz="1267" dirty="0"/>
          </a:p>
          <a:p>
            <a:r>
              <a:rPr lang="en-US" sz="1267" dirty="0">
                <a:solidFill>
                  <a:srgbClr val="D4E6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self.model(x_t, c, _ts / self.n_T, context_mask))</a:t>
            </a:r>
            <a:endParaRPr lang="en-US" sz="1267" dirty="0"/>
          </a:p>
        </p:txBody>
      </p:sp>
      <p:sp>
        <p:nvSpPr>
          <p:cNvPr id="24" name="Shape 0">
            <a:extLst>
              <a:ext uri="{FF2B5EF4-FFF2-40B4-BE49-F238E27FC236}">
                <a16:creationId xmlns:a16="http://schemas.microsoft.com/office/drawing/2014/main" id="{39FF1240-41AA-5DD2-A1F5-64039530FFF9}"/>
              </a:ext>
            </a:extLst>
          </p:cNvPr>
          <p:cNvSpPr/>
          <p:nvPr/>
        </p:nvSpPr>
        <p:spPr>
          <a:xfrm>
            <a:off x="0" y="0"/>
            <a:ext cx="12192000" cy="97536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5" name="Text 1">
            <a:extLst>
              <a:ext uri="{FF2B5EF4-FFF2-40B4-BE49-F238E27FC236}">
                <a16:creationId xmlns:a16="http://schemas.microsoft.com/office/drawing/2014/main" id="{1076FA6B-ADF3-9159-0893-26C0BB5EFC67}"/>
              </a:ext>
            </a:extLst>
          </p:cNvPr>
          <p:cNvSpPr/>
          <p:nvPr/>
        </p:nvSpPr>
        <p:spPr>
          <a:xfrm>
            <a:off x="487680" y="219456"/>
            <a:ext cx="1121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467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DDPM Scheduler: Adding Noise &amp; Calculating Loss</a:t>
            </a:r>
          </a:p>
        </p:txBody>
      </p:sp>
      <p:pic>
        <p:nvPicPr>
          <p:cNvPr id="26" name="Picture 2">
            <a:extLst>
              <a:ext uri="{FF2B5EF4-FFF2-40B4-BE49-F238E27FC236}">
                <a16:creationId xmlns:a16="http://schemas.microsoft.com/office/drawing/2014/main" id="{9B663869-0D85-0F4B-3351-E45C27AE85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17818" y="2495188"/>
            <a:ext cx="3830342" cy="24791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87680" y="219456"/>
            <a:ext cx="1121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467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the CFG Diffusion Model</a:t>
            </a:r>
            <a:endParaRPr lang="en-US" sz="3467" dirty="0"/>
          </a:p>
        </p:txBody>
      </p:sp>
      <p:sp>
        <p:nvSpPr>
          <p:cNvPr id="20" name="Shape 18"/>
          <p:cNvSpPr/>
          <p:nvPr/>
        </p:nvSpPr>
        <p:spPr>
          <a:xfrm>
            <a:off x="150003" y="1463999"/>
            <a:ext cx="7863840" cy="4109028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96307" y="1561535"/>
            <a:ext cx="7863840" cy="4526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267" dirty="0">
                <a:solidFill>
                  <a:srgbClr val="D4E6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scaler = torch.amp.GradScaler("cuda")</a:t>
            </a:r>
            <a:endParaRPr lang="en-US" sz="1267" dirty="0"/>
          </a:p>
          <a:p>
            <a:endParaRPr lang="en-US" sz="1267" dirty="0"/>
          </a:p>
          <a:p>
            <a:r>
              <a:rPr lang="en-US" sz="1267" dirty="0">
                <a:solidFill>
                  <a:srgbClr val="D4E6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ep in range(n_epoch):</a:t>
            </a:r>
            <a:endParaRPr lang="en-US" sz="1267" dirty="0"/>
          </a:p>
          <a:p>
            <a:r>
              <a:rPr lang="en-US" sz="1267" dirty="0">
                <a:solidFill>
                  <a:srgbClr val="D4E6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ddpm.train()</a:t>
            </a:r>
            <a:endParaRPr lang="en-US" sz="1267" dirty="0"/>
          </a:p>
          <a:p>
            <a:r>
              <a:rPr lang="en-US" sz="1267" dirty="0">
                <a:solidFill>
                  <a:srgbClr val="D4E6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...</a:t>
            </a:r>
            <a:endParaRPr lang="en-US" sz="1267" dirty="0"/>
          </a:p>
          <a:p>
            <a:endParaRPr lang="en-US" sz="1267" dirty="0"/>
          </a:p>
          <a:p>
            <a:r>
              <a:rPr lang="en-US" sz="1267" dirty="0">
                <a:solidFill>
                  <a:srgbClr val="D4E6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x, c in tqdm(dataloader):</a:t>
            </a:r>
            <a:endParaRPr lang="en-US" sz="1267" dirty="0"/>
          </a:p>
          <a:p>
            <a:r>
              <a:rPr lang="en-US" sz="1267" dirty="0">
                <a:solidFill>
                  <a:srgbClr val="D4E6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x, c = x.to(device), c.to(device)</a:t>
            </a:r>
            <a:endParaRPr lang="en-US" sz="1267" dirty="0"/>
          </a:p>
          <a:p>
            <a:endParaRPr lang="en-US" sz="1267" dirty="0"/>
          </a:p>
          <a:p>
            <a:r>
              <a:rPr lang="en-US" sz="1267" dirty="0">
                <a:solidFill>
                  <a:srgbClr val="D4E6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with torch.amp.autocast("cuda"):        # mixed precision (fp16/fp32)</a:t>
            </a:r>
            <a:endParaRPr lang="en-US" sz="1267" dirty="0"/>
          </a:p>
          <a:p>
            <a:r>
              <a:rPr lang="en-US" sz="1267" dirty="0">
                <a:solidFill>
                  <a:srgbClr val="D4E6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loss = ddpm(x, c)                   # DDPM MSE loss</a:t>
            </a:r>
            <a:endParaRPr lang="en-US" sz="1267" dirty="0"/>
          </a:p>
          <a:p>
            <a:endParaRPr lang="en-US" sz="1267" dirty="0"/>
          </a:p>
          <a:p>
            <a:r>
              <a:rPr lang="en-US" sz="1267" dirty="0">
                <a:solidFill>
                  <a:srgbClr val="D4E6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optim.zero_grad()</a:t>
            </a:r>
            <a:endParaRPr lang="en-US" sz="1267" dirty="0"/>
          </a:p>
          <a:p>
            <a:r>
              <a:rPr lang="en-US" sz="1267" dirty="0">
                <a:solidFill>
                  <a:srgbClr val="D4E6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scaler.scale(loss).backward() </a:t>
            </a:r>
          </a:p>
          <a:p>
            <a:r>
              <a:rPr lang="en-US" sz="1267" dirty="0">
                <a:solidFill>
                  <a:srgbClr val="D4E6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1267" dirty="0" err="1">
                <a:solidFill>
                  <a:srgbClr val="D4E6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scaler.step</a:t>
            </a:r>
            <a:r>
              <a:rPr lang="en-US" sz="1267" dirty="0">
                <a:solidFill>
                  <a:srgbClr val="D4E6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267" dirty="0" err="1">
                <a:solidFill>
                  <a:srgbClr val="D4E6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optim</a:t>
            </a:r>
            <a:r>
              <a:rPr lang="en-US" sz="1267" dirty="0">
                <a:solidFill>
                  <a:srgbClr val="D4E6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67" dirty="0"/>
          </a:p>
          <a:p>
            <a:r>
              <a:rPr lang="en-US" sz="1267" dirty="0">
                <a:solidFill>
                  <a:srgbClr val="D4E6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1267" dirty="0" err="1">
                <a:solidFill>
                  <a:srgbClr val="D4E6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scaler.update</a:t>
            </a:r>
            <a:r>
              <a:rPr lang="en-US" sz="1267" dirty="0">
                <a:solidFill>
                  <a:srgbClr val="D4E6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</a:p>
          <a:p>
            <a:r>
              <a:rPr lang="en-US" sz="1267" dirty="0">
                <a:solidFill>
                  <a:srgbClr val="D4E6F1"/>
                </a:solidFill>
                <a:latin typeface="Courier New" pitchFamily="34" charset="0"/>
                <a:cs typeface="Courier New" pitchFamily="34" charset="-120"/>
              </a:rPr>
              <a:t>        ...        </a:t>
            </a:r>
          </a:p>
          <a:p>
            <a:r>
              <a:rPr lang="en-US" sz="1267" dirty="0">
                <a:solidFill>
                  <a:srgbClr val="D4E6F1"/>
                </a:solidFill>
                <a:latin typeface="Courier New" pitchFamily="34" charset="0"/>
                <a:cs typeface="Courier New" pitchFamily="34" charset="-120"/>
              </a:rPr>
              <a:t>        </a:t>
            </a:r>
            <a:r>
              <a:rPr lang="en-US" sz="1267" dirty="0" err="1">
                <a:solidFill>
                  <a:srgbClr val="D4E6F1"/>
                </a:solidFill>
                <a:latin typeface="Courier New" pitchFamily="34" charset="0"/>
                <a:cs typeface="Courier New" pitchFamily="34" charset="-120"/>
              </a:rPr>
              <a:t>optim.step</a:t>
            </a:r>
            <a:r>
              <a:rPr lang="en-US" sz="1267" dirty="0">
                <a:solidFill>
                  <a:srgbClr val="D4E6F1"/>
                </a:solidFill>
                <a:latin typeface="Courier New" pitchFamily="34" charset="0"/>
                <a:cs typeface="Courier New" pitchFamily="34" charset="-120"/>
              </a:rPr>
              <a:t>()                            # Backpropagation</a:t>
            </a:r>
            <a:endParaRPr lang="en-US" sz="1267" dirty="0"/>
          </a:p>
          <a:p>
            <a:r>
              <a:rPr lang="en-US" sz="1267" dirty="0"/>
              <a:t>                       </a:t>
            </a:r>
          </a:p>
          <a:p>
            <a:r>
              <a:rPr lang="en-US" sz="1267" dirty="0">
                <a:solidFill>
                  <a:srgbClr val="D4E6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torch.save(model.state_dict(), "files/conditional.pth")  # save weights</a:t>
            </a:r>
            <a:endParaRPr lang="en-US" sz="1267" dirty="0"/>
          </a:p>
        </p:txBody>
      </p:sp>
      <p:sp>
        <p:nvSpPr>
          <p:cNvPr id="30" name="Shape 0">
            <a:extLst>
              <a:ext uri="{FF2B5EF4-FFF2-40B4-BE49-F238E27FC236}">
                <a16:creationId xmlns:a16="http://schemas.microsoft.com/office/drawing/2014/main" id="{BFDF4532-D8C4-CD3C-609A-19689508E83B}"/>
              </a:ext>
            </a:extLst>
          </p:cNvPr>
          <p:cNvSpPr/>
          <p:nvPr/>
        </p:nvSpPr>
        <p:spPr>
          <a:xfrm>
            <a:off x="0" y="0"/>
            <a:ext cx="12192000" cy="97536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pic>
        <p:nvPicPr>
          <p:cNvPr id="31" name="SaveClip.App_AQNoRZpvWqQZoxx9NZcgIvdpah7SomaD3S0WfrCjxJDAM-ZcfnCiB6VNOM7d56h691riwEJTXKO04NfrW4YwjrYFBp5ly2YTGpH_BlE">
            <a:hlinkClick r:id="" action="ppaction://media"/>
            <a:extLst>
              <a:ext uri="{FF2B5EF4-FFF2-40B4-BE49-F238E27FC236}">
                <a16:creationId xmlns:a16="http://schemas.microsoft.com/office/drawing/2014/main" id="{17F7F85F-BF9F-2B63-EBD1-E3FC91D682E5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519879" y="502093"/>
            <a:ext cx="3375814" cy="600144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590" fill="hold"/>
                                        <p:tgtEl>
                                          <p:spTgt spid="3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3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1"/>
                  </p:tgtEl>
                </p:cond>
              </p:nextCondLst>
            </p:seq>
            <p:video>
              <p:cMediaNode vol="80000">
                <p:cTn id="12" fill="hold" display="0">
                  <p:stCondLst>
                    <p:cond delay="indefinite"/>
                  </p:stCondLst>
                </p:cTn>
                <p:tgtEl>
                  <p:spTgt spid="31"/>
                </p:tgtEl>
              </p:cMediaNode>
            </p:video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64096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54BC0125-369E-F046-06E2-8A5EF40FAB16}"/>
              </a:ext>
            </a:extLst>
          </p:cNvPr>
          <p:cNvSpPr/>
          <p:nvPr/>
        </p:nvSpPr>
        <p:spPr>
          <a:xfrm>
            <a:off x="853440" y="1706880"/>
            <a:ext cx="9753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</a:t>
            </a:r>
            <a:endParaRPr lang="en-US" sz="1867" dirty="0"/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F2724248-7AFA-9B1F-EC59-EB07C982399B}"/>
              </a:ext>
            </a:extLst>
          </p:cNvPr>
          <p:cNvSpPr/>
          <p:nvPr/>
        </p:nvSpPr>
        <p:spPr>
          <a:xfrm>
            <a:off x="853440" y="2574018"/>
            <a:ext cx="103632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0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Generating Images</a:t>
            </a:r>
          </a:p>
          <a:p>
            <a:r>
              <a:rPr lang="en-US" sz="60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with the Trained</a:t>
            </a:r>
          </a:p>
          <a:p>
            <a:r>
              <a:rPr lang="en-US" sz="60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Model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BF3A65-6619-D944-8B98-2AF6DC4159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263E9DF-176D-AB7D-A32B-3E33FDB697DA}"/>
              </a:ext>
            </a:extLst>
          </p:cNvPr>
          <p:cNvSpPr/>
          <p:nvPr/>
        </p:nvSpPr>
        <p:spPr>
          <a:xfrm>
            <a:off x="0" y="0"/>
            <a:ext cx="12192000" cy="97536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4" name="Text 1">
            <a:extLst>
              <a:ext uri="{FF2B5EF4-FFF2-40B4-BE49-F238E27FC236}">
                <a16:creationId xmlns:a16="http://schemas.microsoft.com/office/drawing/2014/main" id="{2B5B7D08-5C33-6645-D3D5-49E3E3398C26}"/>
              </a:ext>
            </a:extLst>
          </p:cNvPr>
          <p:cNvSpPr/>
          <p:nvPr/>
        </p:nvSpPr>
        <p:spPr>
          <a:xfrm>
            <a:off x="548640" y="146304"/>
            <a:ext cx="11094720" cy="755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467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During Inference …</a:t>
            </a:r>
            <a:endParaRPr lang="en-US" sz="3467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0EDDD38-8989-BADB-6AC3-C0BE43E9A6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99178" y="905353"/>
            <a:ext cx="828255" cy="985691"/>
          </a:xfrm>
          <a:prstGeom prst="rect">
            <a:avLst/>
          </a:prstGeom>
        </p:spPr>
      </p:pic>
      <p:sp>
        <p:nvSpPr>
          <p:cNvPr id="6" name="Shape 19">
            <a:extLst>
              <a:ext uri="{FF2B5EF4-FFF2-40B4-BE49-F238E27FC236}">
                <a16:creationId xmlns:a16="http://schemas.microsoft.com/office/drawing/2014/main" id="{EB68B97B-BC17-1C9A-BE10-34FA49335EC8}"/>
              </a:ext>
            </a:extLst>
          </p:cNvPr>
          <p:cNvSpPr/>
          <p:nvPr/>
        </p:nvSpPr>
        <p:spPr>
          <a:xfrm>
            <a:off x="1731042" y="2077988"/>
            <a:ext cx="954861" cy="247084"/>
          </a:xfrm>
          <a:prstGeom prst="rect">
            <a:avLst/>
          </a:prstGeom>
          <a:solidFill>
            <a:srgbClr val="1F5BAD"/>
          </a:solidFill>
          <a:ln w="12700">
            <a:solidFill>
              <a:srgbClr val="1F5BAD"/>
            </a:solidFill>
            <a:prstDash val="solid"/>
          </a:ln>
        </p:spPr>
      </p:sp>
      <p:sp>
        <p:nvSpPr>
          <p:cNvPr id="7" name="Text 20">
            <a:extLst>
              <a:ext uri="{FF2B5EF4-FFF2-40B4-BE49-F238E27FC236}">
                <a16:creationId xmlns:a16="http://schemas.microsoft.com/office/drawing/2014/main" id="{2119EA5F-9045-0DFE-A191-3AF0CB6554A3}"/>
              </a:ext>
            </a:extLst>
          </p:cNvPr>
          <p:cNvSpPr/>
          <p:nvPr/>
        </p:nvSpPr>
        <p:spPr>
          <a:xfrm>
            <a:off x="1731042" y="2077988"/>
            <a:ext cx="954861" cy="2470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= 3</a:t>
            </a:r>
            <a:endParaRPr lang="en-US" sz="1100" dirty="0"/>
          </a:p>
        </p:txBody>
      </p:sp>
      <p:sp>
        <p:nvSpPr>
          <p:cNvPr id="8" name="Shape 21">
            <a:extLst>
              <a:ext uri="{FF2B5EF4-FFF2-40B4-BE49-F238E27FC236}">
                <a16:creationId xmlns:a16="http://schemas.microsoft.com/office/drawing/2014/main" id="{896149CD-874D-8829-7880-C7746CC71216}"/>
              </a:ext>
            </a:extLst>
          </p:cNvPr>
          <p:cNvSpPr/>
          <p:nvPr/>
        </p:nvSpPr>
        <p:spPr>
          <a:xfrm>
            <a:off x="2713405" y="2079046"/>
            <a:ext cx="2350776" cy="247084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</p:sp>
      <p:sp>
        <p:nvSpPr>
          <p:cNvPr id="9" name="Text 22">
            <a:extLst>
              <a:ext uri="{FF2B5EF4-FFF2-40B4-BE49-F238E27FC236}">
                <a16:creationId xmlns:a16="http://schemas.microsoft.com/office/drawing/2014/main" id="{AE432ABF-B4AB-9066-7AD8-8F3182F5139D}"/>
              </a:ext>
            </a:extLst>
          </p:cNvPr>
          <p:cNvSpPr/>
          <p:nvPr/>
        </p:nvSpPr>
        <p:spPr>
          <a:xfrm>
            <a:off x="2641453" y="2062113"/>
            <a:ext cx="2494681" cy="285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dirty="0">
                <a:solidFill>
                  <a:srgbClr val="D4E6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[0, 0, 0, 1, 0, 0, 0, 0, 0, 0]</a:t>
            </a:r>
            <a:endParaRPr lang="en-US" sz="10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E61960E-1D8E-9E9F-CD07-418B4C4A55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902208"/>
            <a:ext cx="830685" cy="988583"/>
          </a:xfrm>
          <a:prstGeom prst="rect">
            <a:avLst/>
          </a:prstGeom>
        </p:spPr>
      </p:pic>
      <p:sp>
        <p:nvSpPr>
          <p:cNvPr id="23" name="Shape 21">
            <a:extLst>
              <a:ext uri="{FF2B5EF4-FFF2-40B4-BE49-F238E27FC236}">
                <a16:creationId xmlns:a16="http://schemas.microsoft.com/office/drawing/2014/main" id="{765D8725-4051-3491-A1A4-289B525E46EA}"/>
              </a:ext>
            </a:extLst>
          </p:cNvPr>
          <p:cNvSpPr/>
          <p:nvPr/>
        </p:nvSpPr>
        <p:spPr>
          <a:xfrm>
            <a:off x="5335955" y="2079046"/>
            <a:ext cx="2350776" cy="247084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</p:sp>
      <p:sp>
        <p:nvSpPr>
          <p:cNvPr id="28" name="Text 22">
            <a:extLst>
              <a:ext uri="{FF2B5EF4-FFF2-40B4-BE49-F238E27FC236}">
                <a16:creationId xmlns:a16="http://schemas.microsoft.com/office/drawing/2014/main" id="{C260E4A3-F3A8-119C-BC60-3EF5CEBBD615}"/>
              </a:ext>
            </a:extLst>
          </p:cNvPr>
          <p:cNvSpPr/>
          <p:nvPr/>
        </p:nvSpPr>
        <p:spPr>
          <a:xfrm>
            <a:off x="5264003" y="2062113"/>
            <a:ext cx="2494681" cy="285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dirty="0">
                <a:solidFill>
                  <a:srgbClr val="D4E6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[0, 0, 0, 1, 0, 0, 0, 0, 0, 0]</a:t>
            </a:r>
            <a:endParaRPr lang="en-US" sz="1000" dirty="0"/>
          </a:p>
        </p:txBody>
      </p:sp>
      <p:sp>
        <p:nvSpPr>
          <p:cNvPr id="53" name="Shape 19">
            <a:extLst>
              <a:ext uri="{FF2B5EF4-FFF2-40B4-BE49-F238E27FC236}">
                <a16:creationId xmlns:a16="http://schemas.microsoft.com/office/drawing/2014/main" id="{7A8A5364-3F76-1CC2-8B68-53C32BBE5D12}"/>
              </a:ext>
            </a:extLst>
          </p:cNvPr>
          <p:cNvSpPr/>
          <p:nvPr/>
        </p:nvSpPr>
        <p:spPr>
          <a:xfrm>
            <a:off x="1731042" y="2379047"/>
            <a:ext cx="954861" cy="247084"/>
          </a:xfrm>
          <a:prstGeom prst="rect">
            <a:avLst/>
          </a:prstGeom>
          <a:solidFill>
            <a:srgbClr val="1F5BAD"/>
          </a:solidFill>
          <a:ln w="12700">
            <a:solidFill>
              <a:srgbClr val="1F5BAD"/>
            </a:solidFill>
            <a:prstDash val="solid"/>
          </a:ln>
        </p:spPr>
      </p:sp>
      <p:sp>
        <p:nvSpPr>
          <p:cNvPr id="54" name="Text 20">
            <a:extLst>
              <a:ext uri="{FF2B5EF4-FFF2-40B4-BE49-F238E27FC236}">
                <a16:creationId xmlns:a16="http://schemas.microsoft.com/office/drawing/2014/main" id="{C3DA2CE0-FE36-98D3-459A-B54AA25D2230}"/>
              </a:ext>
            </a:extLst>
          </p:cNvPr>
          <p:cNvSpPr/>
          <p:nvPr/>
        </p:nvSpPr>
        <p:spPr>
          <a:xfrm>
            <a:off x="1731042" y="2379047"/>
            <a:ext cx="954861" cy="2470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</a:t>
            </a:r>
            <a:endParaRPr lang="en-US" sz="1100" dirty="0"/>
          </a:p>
        </p:txBody>
      </p:sp>
      <p:sp>
        <p:nvSpPr>
          <p:cNvPr id="55" name="Shape 21">
            <a:extLst>
              <a:ext uri="{FF2B5EF4-FFF2-40B4-BE49-F238E27FC236}">
                <a16:creationId xmlns:a16="http://schemas.microsoft.com/office/drawing/2014/main" id="{EB1C48AD-D6F7-A212-EDDA-90C4CC41999F}"/>
              </a:ext>
            </a:extLst>
          </p:cNvPr>
          <p:cNvSpPr/>
          <p:nvPr/>
        </p:nvSpPr>
        <p:spPr>
          <a:xfrm>
            <a:off x="2713405" y="2380105"/>
            <a:ext cx="2350776" cy="247084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</p:sp>
      <p:sp>
        <p:nvSpPr>
          <p:cNvPr id="56" name="Text 22">
            <a:extLst>
              <a:ext uri="{FF2B5EF4-FFF2-40B4-BE49-F238E27FC236}">
                <a16:creationId xmlns:a16="http://schemas.microsoft.com/office/drawing/2014/main" id="{0C4C4CC7-224F-43AB-5016-825D4B34657B}"/>
              </a:ext>
            </a:extLst>
          </p:cNvPr>
          <p:cNvSpPr/>
          <p:nvPr/>
        </p:nvSpPr>
        <p:spPr>
          <a:xfrm>
            <a:off x="2641453" y="2363172"/>
            <a:ext cx="2494681" cy="285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dirty="0">
                <a:solidFill>
                  <a:srgbClr val="D4E6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[1, 1, 1, 1, 1, 1, 1, 1, 1, 1]</a:t>
            </a:r>
            <a:endParaRPr lang="en-US" sz="1000" dirty="0"/>
          </a:p>
        </p:txBody>
      </p:sp>
      <p:sp>
        <p:nvSpPr>
          <p:cNvPr id="57" name="Shape 19">
            <a:extLst>
              <a:ext uri="{FF2B5EF4-FFF2-40B4-BE49-F238E27FC236}">
                <a16:creationId xmlns:a16="http://schemas.microsoft.com/office/drawing/2014/main" id="{FA5FA67A-681B-60E7-88CF-78D72F6ACAA7}"/>
              </a:ext>
            </a:extLst>
          </p:cNvPr>
          <p:cNvSpPr/>
          <p:nvPr/>
        </p:nvSpPr>
        <p:spPr>
          <a:xfrm>
            <a:off x="1731042" y="2680106"/>
            <a:ext cx="954861" cy="247084"/>
          </a:xfrm>
          <a:prstGeom prst="rect">
            <a:avLst/>
          </a:prstGeom>
          <a:solidFill>
            <a:srgbClr val="1F5BAD"/>
          </a:solidFill>
          <a:ln w="12700">
            <a:solidFill>
              <a:srgbClr val="1F5BAD"/>
            </a:solidFill>
            <a:prstDash val="solid"/>
          </a:ln>
        </p:spPr>
      </p:sp>
      <p:sp>
        <p:nvSpPr>
          <p:cNvPr id="58" name="Text 20">
            <a:extLst>
              <a:ext uri="{FF2B5EF4-FFF2-40B4-BE49-F238E27FC236}">
                <a16:creationId xmlns:a16="http://schemas.microsoft.com/office/drawing/2014/main" id="{113108EE-70AB-3CE6-7F5B-A9533544EAB4}"/>
              </a:ext>
            </a:extLst>
          </p:cNvPr>
          <p:cNvSpPr/>
          <p:nvPr/>
        </p:nvSpPr>
        <p:spPr>
          <a:xfrm>
            <a:off x="1731042" y="2680106"/>
            <a:ext cx="954861" cy="2470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= 3</a:t>
            </a:r>
            <a:endParaRPr lang="en-US" sz="1100" dirty="0"/>
          </a:p>
        </p:txBody>
      </p:sp>
      <p:sp>
        <p:nvSpPr>
          <p:cNvPr id="59" name="Shape 21">
            <a:extLst>
              <a:ext uri="{FF2B5EF4-FFF2-40B4-BE49-F238E27FC236}">
                <a16:creationId xmlns:a16="http://schemas.microsoft.com/office/drawing/2014/main" id="{1320F894-ECA4-0F0D-C491-FCBDB3CCA849}"/>
              </a:ext>
            </a:extLst>
          </p:cNvPr>
          <p:cNvSpPr/>
          <p:nvPr/>
        </p:nvSpPr>
        <p:spPr>
          <a:xfrm>
            <a:off x="2713405" y="2681164"/>
            <a:ext cx="2350776" cy="247084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</p:sp>
      <p:sp>
        <p:nvSpPr>
          <p:cNvPr id="60" name="Text 22">
            <a:extLst>
              <a:ext uri="{FF2B5EF4-FFF2-40B4-BE49-F238E27FC236}">
                <a16:creationId xmlns:a16="http://schemas.microsoft.com/office/drawing/2014/main" id="{78FED873-E310-7952-A82B-90B47544EA26}"/>
              </a:ext>
            </a:extLst>
          </p:cNvPr>
          <p:cNvSpPr/>
          <p:nvPr/>
        </p:nvSpPr>
        <p:spPr>
          <a:xfrm>
            <a:off x="2641453" y="2664231"/>
            <a:ext cx="2494681" cy="285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dirty="0">
                <a:solidFill>
                  <a:srgbClr val="D4E6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[0, 0, 0, 1, 0, 0, 0, 0, 0, 0]</a:t>
            </a:r>
            <a:endParaRPr lang="en-US" sz="1000" dirty="0"/>
          </a:p>
        </p:txBody>
      </p:sp>
      <p:sp>
        <p:nvSpPr>
          <p:cNvPr id="65" name="Shape 21">
            <a:extLst>
              <a:ext uri="{FF2B5EF4-FFF2-40B4-BE49-F238E27FC236}">
                <a16:creationId xmlns:a16="http://schemas.microsoft.com/office/drawing/2014/main" id="{6412658D-2B17-4434-F338-CF610D0BDAEF}"/>
              </a:ext>
            </a:extLst>
          </p:cNvPr>
          <p:cNvSpPr/>
          <p:nvPr/>
        </p:nvSpPr>
        <p:spPr>
          <a:xfrm>
            <a:off x="5335955" y="2380105"/>
            <a:ext cx="2350776" cy="247084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</p:sp>
      <p:sp>
        <p:nvSpPr>
          <p:cNvPr id="66" name="Text 22">
            <a:extLst>
              <a:ext uri="{FF2B5EF4-FFF2-40B4-BE49-F238E27FC236}">
                <a16:creationId xmlns:a16="http://schemas.microsoft.com/office/drawing/2014/main" id="{9769809D-672C-2B13-A0C7-991E4091FDB0}"/>
              </a:ext>
            </a:extLst>
          </p:cNvPr>
          <p:cNvSpPr/>
          <p:nvPr/>
        </p:nvSpPr>
        <p:spPr>
          <a:xfrm>
            <a:off x="5264003" y="2363172"/>
            <a:ext cx="2494681" cy="285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dirty="0">
                <a:solidFill>
                  <a:srgbClr val="D4E6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[0, 0, 0, 0, 0, 0, 0, 0, 0, 0]</a:t>
            </a:r>
            <a:endParaRPr lang="en-US" sz="1000" dirty="0"/>
          </a:p>
        </p:txBody>
      </p:sp>
      <p:sp>
        <p:nvSpPr>
          <p:cNvPr id="67" name="Shape 21">
            <a:extLst>
              <a:ext uri="{FF2B5EF4-FFF2-40B4-BE49-F238E27FC236}">
                <a16:creationId xmlns:a16="http://schemas.microsoft.com/office/drawing/2014/main" id="{C2904485-2506-BD27-F536-0A05E4797D7F}"/>
              </a:ext>
            </a:extLst>
          </p:cNvPr>
          <p:cNvSpPr/>
          <p:nvPr/>
        </p:nvSpPr>
        <p:spPr>
          <a:xfrm>
            <a:off x="5335955" y="2680106"/>
            <a:ext cx="2350776" cy="247084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</p:sp>
      <p:sp>
        <p:nvSpPr>
          <p:cNvPr id="68" name="Text 22">
            <a:extLst>
              <a:ext uri="{FF2B5EF4-FFF2-40B4-BE49-F238E27FC236}">
                <a16:creationId xmlns:a16="http://schemas.microsoft.com/office/drawing/2014/main" id="{3EA3D740-5D52-6628-B8FE-823E432974AA}"/>
              </a:ext>
            </a:extLst>
          </p:cNvPr>
          <p:cNvSpPr/>
          <p:nvPr/>
        </p:nvSpPr>
        <p:spPr>
          <a:xfrm>
            <a:off x="5264003" y="2663173"/>
            <a:ext cx="2494681" cy="285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dirty="0">
                <a:solidFill>
                  <a:srgbClr val="D4E6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[0, 0, 0, 0, 0, 0, 0, 0, 0, 0]</a:t>
            </a:r>
            <a:endParaRPr lang="en-US" sz="1000" dirty="0"/>
          </a:p>
        </p:txBody>
      </p:sp>
      <p:pic>
        <p:nvPicPr>
          <p:cNvPr id="69" name="Picture 6" descr="U-NET: Computer Vision's neural network ...">
            <a:extLst>
              <a:ext uri="{FF2B5EF4-FFF2-40B4-BE49-F238E27FC236}">
                <a16:creationId xmlns:a16="http://schemas.microsoft.com/office/drawing/2014/main" id="{50A2AFC6-68BF-8D5E-1BC8-C7D1CB4668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67195" y="3444934"/>
            <a:ext cx="1735818" cy="9509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0" name="TextBox 69">
            <a:extLst>
              <a:ext uri="{FF2B5EF4-FFF2-40B4-BE49-F238E27FC236}">
                <a16:creationId xmlns:a16="http://schemas.microsoft.com/office/drawing/2014/main" id="{BCA2A169-B341-9ED8-EC73-3EA2DDF96A84}"/>
              </a:ext>
            </a:extLst>
          </p:cNvPr>
          <p:cNvSpPr txBox="1"/>
          <p:nvPr/>
        </p:nvSpPr>
        <p:spPr>
          <a:xfrm>
            <a:off x="4303931" y="4174144"/>
            <a:ext cx="68800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encoder</a:t>
            </a:r>
            <a:endParaRPr lang="ro-RO" sz="1100" dirty="0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1EAEB127-0F21-253D-3E15-7BB81AAC7193}"/>
              </a:ext>
            </a:extLst>
          </p:cNvPr>
          <p:cNvSpPr txBox="1"/>
          <p:nvPr/>
        </p:nvSpPr>
        <p:spPr>
          <a:xfrm>
            <a:off x="5478268" y="4174144"/>
            <a:ext cx="68800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decoder</a:t>
            </a:r>
            <a:endParaRPr lang="ro-RO" sz="1100" dirty="0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35F55BCB-A382-983F-5CD2-E4F00B7A4A24}"/>
              </a:ext>
            </a:extLst>
          </p:cNvPr>
          <p:cNvSpPr txBox="1"/>
          <p:nvPr/>
        </p:nvSpPr>
        <p:spPr>
          <a:xfrm>
            <a:off x="4717173" y="3532787"/>
            <a:ext cx="103586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/>
              <a:t>skip connections</a:t>
            </a:r>
            <a:endParaRPr lang="ro-RO" sz="900" dirty="0"/>
          </a:p>
        </p:txBody>
      </p:sp>
      <p:sp>
        <p:nvSpPr>
          <p:cNvPr id="74" name="Shape 29">
            <a:extLst>
              <a:ext uri="{FF2B5EF4-FFF2-40B4-BE49-F238E27FC236}">
                <a16:creationId xmlns:a16="http://schemas.microsoft.com/office/drawing/2014/main" id="{A287DB7F-FFB9-667C-AADB-7B4CAAEF68ED}"/>
              </a:ext>
            </a:extLst>
          </p:cNvPr>
          <p:cNvSpPr/>
          <p:nvPr/>
        </p:nvSpPr>
        <p:spPr>
          <a:xfrm>
            <a:off x="1731042" y="2680106"/>
            <a:ext cx="954861" cy="24708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ro-RO" sz="800" dirty="0"/>
          </a:p>
        </p:txBody>
      </p:sp>
      <p:sp>
        <p:nvSpPr>
          <p:cNvPr id="75" name="Text 30">
            <a:extLst>
              <a:ext uri="{FF2B5EF4-FFF2-40B4-BE49-F238E27FC236}">
                <a16:creationId xmlns:a16="http://schemas.microsoft.com/office/drawing/2014/main" id="{5C6D66B0-FEFA-53A8-F94A-34B482DF4263}"/>
              </a:ext>
            </a:extLst>
          </p:cNvPr>
          <p:cNvSpPr/>
          <p:nvPr/>
        </p:nvSpPr>
        <p:spPr>
          <a:xfrm>
            <a:off x="-48475" y="5632265"/>
            <a:ext cx="19507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endParaRPr lang="en-US" sz="1333" dirty="0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B3C19F86-210A-7998-D840-8E342648703F}"/>
              </a:ext>
            </a:extLst>
          </p:cNvPr>
          <p:cNvSpPr txBox="1"/>
          <p:nvPr/>
        </p:nvSpPr>
        <p:spPr>
          <a:xfrm>
            <a:off x="327447" y="2050722"/>
            <a:ext cx="1740031" cy="2851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one hot encoding - </a:t>
            </a:r>
            <a:endParaRPr lang="ro-RO" sz="1200" dirty="0"/>
          </a:p>
        </p:txBody>
      </p:sp>
      <p:sp>
        <p:nvSpPr>
          <p:cNvPr id="79" name="Text 30">
            <a:extLst>
              <a:ext uri="{FF2B5EF4-FFF2-40B4-BE49-F238E27FC236}">
                <a16:creationId xmlns:a16="http://schemas.microsoft.com/office/drawing/2014/main" id="{F519138F-E52B-C46F-D463-980BC29FD67F}"/>
              </a:ext>
            </a:extLst>
          </p:cNvPr>
          <p:cNvSpPr/>
          <p:nvPr/>
        </p:nvSpPr>
        <p:spPr>
          <a:xfrm>
            <a:off x="1639821" y="2733544"/>
            <a:ext cx="1092854" cy="15074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= onehot × mask</a:t>
            </a:r>
            <a:endParaRPr lang="en-US" sz="850" dirty="0"/>
          </a:p>
        </p:txBody>
      </p: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7B376974-B1F1-5538-96B1-EB7228E0D17B}"/>
              </a:ext>
            </a:extLst>
          </p:cNvPr>
          <p:cNvCxnSpPr>
            <a:stCxn id="60" idx="2"/>
            <a:endCxn id="69" idx="0"/>
          </p:cNvCxnSpPr>
          <p:nvPr/>
        </p:nvCxnSpPr>
        <p:spPr>
          <a:xfrm>
            <a:off x="3888794" y="2949415"/>
            <a:ext cx="1346310" cy="49551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4363CDCA-135B-F6D0-7503-C4428CA69FEE}"/>
              </a:ext>
            </a:extLst>
          </p:cNvPr>
          <p:cNvCxnSpPr>
            <a:stCxn id="68" idx="2"/>
            <a:endCxn id="69" idx="0"/>
          </p:cNvCxnSpPr>
          <p:nvPr/>
        </p:nvCxnSpPr>
        <p:spPr>
          <a:xfrm flipH="1">
            <a:off x="5235104" y="2948357"/>
            <a:ext cx="1276240" cy="49657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85" name="Ink 84">
                <a:extLst>
                  <a:ext uri="{FF2B5EF4-FFF2-40B4-BE49-F238E27FC236}">
                    <a16:creationId xmlns:a16="http://schemas.microsoft.com/office/drawing/2014/main" id="{D102794A-81BE-AD0D-B506-897C54F2D3FD}"/>
                  </a:ext>
                </a:extLst>
              </p14:cNvPr>
              <p14:cNvContentPartPr/>
              <p14:nvPr/>
            </p14:nvContentPartPr>
            <p14:xfrm>
              <a:off x="3347181" y="1465713"/>
              <a:ext cx="13680" cy="30960"/>
            </p14:xfrm>
          </p:contentPart>
        </mc:Choice>
        <mc:Fallback>
          <p:pic>
            <p:nvPicPr>
              <p:cNvPr id="85" name="Ink 84">
                <a:extLst>
                  <a:ext uri="{FF2B5EF4-FFF2-40B4-BE49-F238E27FC236}">
                    <a16:creationId xmlns:a16="http://schemas.microsoft.com/office/drawing/2014/main" id="{D102794A-81BE-AD0D-B506-897C54F2D3FD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338541" y="1457073"/>
                <a:ext cx="31320" cy="48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86" name="Ink 85">
                <a:extLst>
                  <a:ext uri="{FF2B5EF4-FFF2-40B4-BE49-F238E27FC236}">
                    <a16:creationId xmlns:a16="http://schemas.microsoft.com/office/drawing/2014/main" id="{ADF5096A-0E00-3B9E-C5B5-112C174DF560}"/>
                  </a:ext>
                </a:extLst>
              </p14:cNvPr>
              <p14:cNvContentPartPr/>
              <p14:nvPr/>
            </p14:nvContentPartPr>
            <p14:xfrm>
              <a:off x="3342141" y="1674873"/>
              <a:ext cx="14760" cy="39960"/>
            </p14:xfrm>
          </p:contentPart>
        </mc:Choice>
        <mc:Fallback>
          <p:pic>
            <p:nvPicPr>
              <p:cNvPr id="86" name="Ink 85">
                <a:extLst>
                  <a:ext uri="{FF2B5EF4-FFF2-40B4-BE49-F238E27FC236}">
                    <a16:creationId xmlns:a16="http://schemas.microsoft.com/office/drawing/2014/main" id="{ADF5096A-0E00-3B9E-C5B5-112C174DF560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333501" y="1666233"/>
                <a:ext cx="32400" cy="57600"/>
              </a:xfrm>
              <a:prstGeom prst="rect">
                <a:avLst/>
              </a:prstGeom>
            </p:spPr>
          </p:pic>
        </mc:Fallback>
      </mc:AlternateContent>
      <p:grpSp>
        <p:nvGrpSpPr>
          <p:cNvPr id="91" name="Group 90">
            <a:extLst>
              <a:ext uri="{FF2B5EF4-FFF2-40B4-BE49-F238E27FC236}">
                <a16:creationId xmlns:a16="http://schemas.microsoft.com/office/drawing/2014/main" id="{93649CF3-EF4D-3C27-68E0-538E1C497CDF}"/>
              </a:ext>
            </a:extLst>
          </p:cNvPr>
          <p:cNvGrpSpPr/>
          <p:nvPr/>
        </p:nvGrpSpPr>
        <p:grpSpPr>
          <a:xfrm>
            <a:off x="5930181" y="1462833"/>
            <a:ext cx="16200" cy="39960"/>
            <a:chOff x="7164345" y="1153680"/>
            <a:chExt cx="16200" cy="39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2752A6AF-EB53-23F5-89CA-D328ED9E218D}"/>
                    </a:ext>
                  </a:extLst>
                </p14:cNvPr>
                <p14:cNvContentPartPr/>
                <p14:nvPr/>
              </p14:nvContentPartPr>
              <p14:xfrm>
                <a:off x="7164345" y="1153680"/>
                <a:ext cx="360" cy="3996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2752A6AF-EB53-23F5-89CA-D328ED9E218D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7155345" y="1145040"/>
                  <a:ext cx="18000" cy="5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DDF5C738-C470-8FC6-BF94-919DF74EABD6}"/>
                    </a:ext>
                  </a:extLst>
                </p14:cNvPr>
                <p14:cNvContentPartPr/>
                <p14:nvPr/>
              </p14:nvContentPartPr>
              <p14:xfrm>
                <a:off x="7165785" y="1163040"/>
                <a:ext cx="3600" cy="2664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DDF5C738-C470-8FC6-BF94-919DF74EABD6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7156785" y="1154040"/>
                  <a:ext cx="2124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7CC2B9FB-FB59-E6AE-1C5E-A673ADB17368}"/>
                    </a:ext>
                  </a:extLst>
                </p14:cNvPr>
                <p14:cNvContentPartPr/>
                <p14:nvPr/>
              </p14:nvContentPartPr>
              <p14:xfrm>
                <a:off x="7179465" y="1174560"/>
                <a:ext cx="1080" cy="144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7CC2B9FB-FB59-E6AE-1C5E-A673ADB17368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7170465" y="1165920"/>
                  <a:ext cx="18720" cy="19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92" name="Ink 91">
                <a:extLst>
                  <a:ext uri="{FF2B5EF4-FFF2-40B4-BE49-F238E27FC236}">
                    <a16:creationId xmlns:a16="http://schemas.microsoft.com/office/drawing/2014/main" id="{20006547-47D7-0354-4DBA-A38F1DA41015}"/>
                  </a:ext>
                </a:extLst>
              </p14:cNvPr>
              <p14:cNvContentPartPr/>
              <p14:nvPr/>
            </p14:nvContentPartPr>
            <p14:xfrm>
              <a:off x="5933061" y="1682793"/>
              <a:ext cx="9360" cy="34920"/>
            </p14:xfrm>
          </p:contentPart>
        </mc:Choice>
        <mc:Fallback>
          <p:pic>
            <p:nvPicPr>
              <p:cNvPr id="92" name="Ink 91">
                <a:extLst>
                  <a:ext uri="{FF2B5EF4-FFF2-40B4-BE49-F238E27FC236}">
                    <a16:creationId xmlns:a16="http://schemas.microsoft.com/office/drawing/2014/main" id="{20006547-47D7-0354-4DBA-A38F1DA41015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5924421" y="1673793"/>
                <a:ext cx="27000" cy="52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">
            <p14:nvContentPartPr>
              <p14:cNvPr id="98" name="Ink 97">
                <a:extLst>
                  <a:ext uri="{FF2B5EF4-FFF2-40B4-BE49-F238E27FC236}">
                    <a16:creationId xmlns:a16="http://schemas.microsoft.com/office/drawing/2014/main" id="{A24C0064-AD05-CBAC-FC54-9D1F94E3DF03}"/>
                  </a:ext>
                </a:extLst>
              </p14:cNvPr>
              <p14:cNvContentPartPr/>
              <p14:nvPr/>
            </p14:nvContentPartPr>
            <p14:xfrm>
              <a:off x="3396826" y="1477430"/>
              <a:ext cx="7560" cy="23400"/>
            </p14:xfrm>
          </p:contentPart>
        </mc:Choice>
        <mc:Fallback>
          <p:pic>
            <p:nvPicPr>
              <p:cNvPr id="98" name="Ink 97">
                <a:extLst>
                  <a:ext uri="{FF2B5EF4-FFF2-40B4-BE49-F238E27FC236}">
                    <a16:creationId xmlns:a16="http://schemas.microsoft.com/office/drawing/2014/main" id="{A24C0064-AD05-CBAC-FC54-9D1F94E3DF03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3388186" y="1468430"/>
                <a:ext cx="25200" cy="4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">
            <p14:nvContentPartPr>
              <p14:cNvPr id="99" name="Ink 98">
                <a:extLst>
                  <a:ext uri="{FF2B5EF4-FFF2-40B4-BE49-F238E27FC236}">
                    <a16:creationId xmlns:a16="http://schemas.microsoft.com/office/drawing/2014/main" id="{EADF3A53-C135-51A5-E45E-3EA91B30E3B3}"/>
                  </a:ext>
                </a:extLst>
              </p14:cNvPr>
              <p14:cNvContentPartPr/>
              <p14:nvPr/>
            </p14:nvContentPartPr>
            <p14:xfrm>
              <a:off x="3401146" y="1676510"/>
              <a:ext cx="2520" cy="10080"/>
            </p14:xfrm>
          </p:contentPart>
        </mc:Choice>
        <mc:Fallback>
          <p:pic>
            <p:nvPicPr>
              <p:cNvPr id="99" name="Ink 98">
                <a:extLst>
                  <a:ext uri="{FF2B5EF4-FFF2-40B4-BE49-F238E27FC236}">
                    <a16:creationId xmlns:a16="http://schemas.microsoft.com/office/drawing/2014/main" id="{EADF3A53-C135-51A5-E45E-3EA91B30E3B3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3392146" y="1667510"/>
                <a:ext cx="20160" cy="27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">
            <p14:nvContentPartPr>
              <p14:cNvPr id="100" name="Ink 99">
                <a:extLst>
                  <a:ext uri="{FF2B5EF4-FFF2-40B4-BE49-F238E27FC236}">
                    <a16:creationId xmlns:a16="http://schemas.microsoft.com/office/drawing/2014/main" id="{90DD675B-8571-87E3-D178-5ACD088D87A7}"/>
                  </a:ext>
                </a:extLst>
              </p14:cNvPr>
              <p14:cNvContentPartPr/>
              <p14:nvPr/>
            </p14:nvContentPartPr>
            <p14:xfrm>
              <a:off x="6093466" y="1672190"/>
              <a:ext cx="2520" cy="41400"/>
            </p14:xfrm>
          </p:contentPart>
        </mc:Choice>
        <mc:Fallback>
          <p:pic>
            <p:nvPicPr>
              <p:cNvPr id="100" name="Ink 99">
                <a:extLst>
                  <a:ext uri="{FF2B5EF4-FFF2-40B4-BE49-F238E27FC236}">
                    <a16:creationId xmlns:a16="http://schemas.microsoft.com/office/drawing/2014/main" id="{90DD675B-8571-87E3-D178-5ACD088D87A7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6084466" y="1663190"/>
                <a:ext cx="20160" cy="59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">
            <p14:nvContentPartPr>
              <p14:cNvPr id="101" name="Ink 100">
                <a:extLst>
                  <a:ext uri="{FF2B5EF4-FFF2-40B4-BE49-F238E27FC236}">
                    <a16:creationId xmlns:a16="http://schemas.microsoft.com/office/drawing/2014/main" id="{252299AB-DFFE-F6CE-1076-BCBEF4E7F360}"/>
                  </a:ext>
                </a:extLst>
              </p14:cNvPr>
              <p14:cNvContentPartPr/>
              <p14:nvPr/>
            </p14:nvContentPartPr>
            <p14:xfrm>
              <a:off x="6093466" y="1483550"/>
              <a:ext cx="360" cy="30240"/>
            </p14:xfrm>
          </p:contentPart>
        </mc:Choice>
        <mc:Fallback>
          <p:pic>
            <p:nvPicPr>
              <p:cNvPr id="101" name="Ink 100">
                <a:extLst>
                  <a:ext uri="{FF2B5EF4-FFF2-40B4-BE49-F238E27FC236}">
                    <a16:creationId xmlns:a16="http://schemas.microsoft.com/office/drawing/2014/main" id="{252299AB-DFFE-F6CE-1076-BCBEF4E7F360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6084826" y="1474910"/>
                <a:ext cx="18000" cy="47880"/>
              </a:xfrm>
              <a:prstGeom prst="rect">
                <a:avLst/>
              </a:prstGeom>
            </p:spPr>
          </p:pic>
        </mc:Fallback>
      </mc:AlternateContent>
      <p:pic>
        <p:nvPicPr>
          <p:cNvPr id="103" name="Picture 102">
            <a:extLst>
              <a:ext uri="{FF2B5EF4-FFF2-40B4-BE49-F238E27FC236}">
                <a16:creationId xmlns:a16="http://schemas.microsoft.com/office/drawing/2014/main" id="{8985DCFD-56CE-4B24-F88B-2F4D653486EF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3967001" y="4574072"/>
            <a:ext cx="800387" cy="802994"/>
          </a:xfrm>
          <a:prstGeom prst="rect">
            <a:avLst/>
          </a:prstGeom>
        </p:spPr>
      </p:pic>
      <p:pic>
        <p:nvPicPr>
          <p:cNvPr id="105" name="Picture 104">
            <a:extLst>
              <a:ext uri="{FF2B5EF4-FFF2-40B4-BE49-F238E27FC236}">
                <a16:creationId xmlns:a16="http://schemas.microsoft.com/office/drawing/2014/main" id="{C3DD4B15-90F1-A6C7-6F58-49E87729A738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5683230" y="4574072"/>
            <a:ext cx="839566" cy="831620"/>
          </a:xfrm>
          <a:prstGeom prst="rect">
            <a:avLst/>
          </a:prstGeom>
        </p:spPr>
      </p:pic>
      <p:sp>
        <p:nvSpPr>
          <p:cNvPr id="106" name="TextBox 105">
            <a:extLst>
              <a:ext uri="{FF2B5EF4-FFF2-40B4-BE49-F238E27FC236}">
                <a16:creationId xmlns:a16="http://schemas.microsoft.com/office/drawing/2014/main" id="{ACD196FE-2D96-2489-24D4-A75B171FD5DC}"/>
              </a:ext>
            </a:extLst>
          </p:cNvPr>
          <p:cNvSpPr txBox="1"/>
          <p:nvPr/>
        </p:nvSpPr>
        <p:spPr>
          <a:xfrm>
            <a:off x="990115" y="4840021"/>
            <a:ext cx="357183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Predicted noise to be removed:</a:t>
            </a:r>
            <a:endParaRPr lang="ro-RO" sz="1600" dirty="0"/>
          </a:p>
        </p:txBody>
      </p:sp>
      <p:cxnSp>
        <p:nvCxnSpPr>
          <p:cNvPr id="109" name="Straight Arrow Connector 108">
            <a:extLst>
              <a:ext uri="{FF2B5EF4-FFF2-40B4-BE49-F238E27FC236}">
                <a16:creationId xmlns:a16="http://schemas.microsoft.com/office/drawing/2014/main" id="{23977F8C-CE07-A0A0-954D-6976C879B082}"/>
              </a:ext>
            </a:extLst>
          </p:cNvPr>
          <p:cNvCxnSpPr>
            <a:stCxn id="69" idx="2"/>
            <a:endCxn id="103" idx="0"/>
          </p:cNvCxnSpPr>
          <p:nvPr/>
        </p:nvCxnSpPr>
        <p:spPr>
          <a:xfrm flipH="1">
            <a:off x="4367195" y="4395910"/>
            <a:ext cx="867909" cy="17816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Arrow Connector 111">
            <a:extLst>
              <a:ext uri="{FF2B5EF4-FFF2-40B4-BE49-F238E27FC236}">
                <a16:creationId xmlns:a16="http://schemas.microsoft.com/office/drawing/2014/main" id="{EDBBD07F-C7DA-03AA-2B3C-437669493EBE}"/>
              </a:ext>
            </a:extLst>
          </p:cNvPr>
          <p:cNvCxnSpPr>
            <a:stCxn id="69" idx="2"/>
            <a:endCxn id="105" idx="0"/>
          </p:cNvCxnSpPr>
          <p:nvPr/>
        </p:nvCxnSpPr>
        <p:spPr>
          <a:xfrm>
            <a:off x="5235104" y="4395910"/>
            <a:ext cx="867909" cy="17816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4" name="TextBox 113">
            <a:extLst>
              <a:ext uri="{FF2B5EF4-FFF2-40B4-BE49-F238E27FC236}">
                <a16:creationId xmlns:a16="http://schemas.microsoft.com/office/drawing/2014/main" id="{6DB13AA7-605B-E660-6C14-32D21C4B5200}"/>
              </a:ext>
            </a:extLst>
          </p:cNvPr>
          <p:cNvSpPr txBox="1"/>
          <p:nvPr/>
        </p:nvSpPr>
        <p:spPr>
          <a:xfrm>
            <a:off x="3888793" y="5310357"/>
            <a:ext cx="1003610" cy="2851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conditional</a:t>
            </a:r>
            <a:endParaRPr lang="ro-RO" sz="1200" dirty="0"/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A4C6D8F8-174B-09F1-D31D-F6953E47DFDF}"/>
              </a:ext>
            </a:extLst>
          </p:cNvPr>
          <p:cNvSpPr txBox="1"/>
          <p:nvPr/>
        </p:nvSpPr>
        <p:spPr>
          <a:xfrm>
            <a:off x="5554872" y="5337340"/>
            <a:ext cx="122281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unconditional</a:t>
            </a:r>
            <a:endParaRPr lang="ro-RO" sz="1200" dirty="0"/>
          </a:p>
        </p:txBody>
      </p:sp>
      <p:cxnSp>
        <p:nvCxnSpPr>
          <p:cNvPr id="117" name="Straight Arrow Connector 116">
            <a:extLst>
              <a:ext uri="{FF2B5EF4-FFF2-40B4-BE49-F238E27FC236}">
                <a16:creationId xmlns:a16="http://schemas.microsoft.com/office/drawing/2014/main" id="{119D0C39-5453-4571-43E9-6D98751B8BC1}"/>
              </a:ext>
            </a:extLst>
          </p:cNvPr>
          <p:cNvCxnSpPr>
            <a:stCxn id="5" idx="3"/>
            <a:endCxn id="10" idx="1"/>
          </p:cNvCxnSpPr>
          <p:nvPr/>
        </p:nvCxnSpPr>
        <p:spPr>
          <a:xfrm flipV="1">
            <a:off x="4227433" y="1396500"/>
            <a:ext cx="1868567" cy="1699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8" name="TextBox 117">
            <a:extLst>
              <a:ext uri="{FF2B5EF4-FFF2-40B4-BE49-F238E27FC236}">
                <a16:creationId xmlns:a16="http://schemas.microsoft.com/office/drawing/2014/main" id="{C62694C0-B80D-C99E-1102-7240AC9BAA7B}"/>
              </a:ext>
            </a:extLst>
          </p:cNvPr>
          <p:cNvSpPr txBox="1"/>
          <p:nvPr/>
        </p:nvSpPr>
        <p:spPr>
          <a:xfrm>
            <a:off x="4296499" y="1112300"/>
            <a:ext cx="179696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Same but duplicated</a:t>
            </a:r>
            <a:endParaRPr lang="ro-RO" sz="1400" dirty="0"/>
          </a:p>
        </p:txBody>
      </p:sp>
      <p:sp>
        <p:nvSpPr>
          <p:cNvPr id="119" name="Text 21">
            <a:extLst>
              <a:ext uri="{FF2B5EF4-FFF2-40B4-BE49-F238E27FC236}">
                <a16:creationId xmlns:a16="http://schemas.microsoft.com/office/drawing/2014/main" id="{E2532B03-45A2-4FD9-2642-56BB8B80D677}"/>
              </a:ext>
            </a:extLst>
          </p:cNvPr>
          <p:cNvSpPr/>
          <p:nvPr/>
        </p:nvSpPr>
        <p:spPr>
          <a:xfrm>
            <a:off x="6777682" y="3963573"/>
            <a:ext cx="5621154" cy="682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00" i="1" dirty="0">
                <a:solidFill>
                  <a:srgbClr val="8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ε_final  =  (1 + guide_w) × ε_conditional  −  guide_w × ε_unconditional</a:t>
            </a:r>
            <a:endParaRPr lang="en-US" sz="1400" dirty="0"/>
          </a:p>
        </p:txBody>
      </p:sp>
      <p:pic>
        <p:nvPicPr>
          <p:cNvPr id="120" name="Picture 119">
            <a:extLst>
              <a:ext uri="{FF2B5EF4-FFF2-40B4-BE49-F238E27FC236}">
                <a16:creationId xmlns:a16="http://schemas.microsoft.com/office/drawing/2014/main" id="{D05110A1-8AC8-E51B-575D-69175A7F4E91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9332364" y="4574072"/>
            <a:ext cx="839566" cy="831620"/>
          </a:xfrm>
          <a:prstGeom prst="rect">
            <a:avLst/>
          </a:prstGeom>
        </p:spPr>
      </p:pic>
      <p:sp>
        <p:nvSpPr>
          <p:cNvPr id="121" name="TextBox 120">
            <a:extLst>
              <a:ext uri="{FF2B5EF4-FFF2-40B4-BE49-F238E27FC236}">
                <a16:creationId xmlns:a16="http://schemas.microsoft.com/office/drawing/2014/main" id="{47DF4882-CF87-F3EB-B091-4AEB834D2352}"/>
              </a:ext>
            </a:extLst>
          </p:cNvPr>
          <p:cNvSpPr txBox="1"/>
          <p:nvPr/>
        </p:nvSpPr>
        <p:spPr>
          <a:xfrm>
            <a:off x="9560525" y="5336414"/>
            <a:ext cx="122281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final</a:t>
            </a:r>
            <a:endParaRPr lang="ro-RO" sz="1200" dirty="0"/>
          </a:p>
        </p:txBody>
      </p:sp>
      <p:sp>
        <p:nvSpPr>
          <p:cNvPr id="122" name="Arrow: Right 121">
            <a:extLst>
              <a:ext uri="{FF2B5EF4-FFF2-40B4-BE49-F238E27FC236}">
                <a16:creationId xmlns:a16="http://schemas.microsoft.com/office/drawing/2014/main" id="{7483DACC-32D6-C0FE-AF2C-E390D8E1279F}"/>
              </a:ext>
            </a:extLst>
          </p:cNvPr>
          <p:cNvSpPr/>
          <p:nvPr/>
        </p:nvSpPr>
        <p:spPr>
          <a:xfrm>
            <a:off x="6954298" y="4904355"/>
            <a:ext cx="1946563" cy="20988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cxnSp>
        <p:nvCxnSpPr>
          <p:cNvPr id="124" name="Straight Arrow Connector 123">
            <a:extLst>
              <a:ext uri="{FF2B5EF4-FFF2-40B4-BE49-F238E27FC236}">
                <a16:creationId xmlns:a16="http://schemas.microsoft.com/office/drawing/2014/main" id="{63A376B1-713C-D301-8AA6-658FCB4A7889}"/>
              </a:ext>
            </a:extLst>
          </p:cNvPr>
          <p:cNvCxnSpPr/>
          <p:nvPr/>
        </p:nvCxnSpPr>
        <p:spPr>
          <a:xfrm>
            <a:off x="5194982" y="5727032"/>
            <a:ext cx="0" cy="59676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5" name="TextBox 124">
            <a:extLst>
              <a:ext uri="{FF2B5EF4-FFF2-40B4-BE49-F238E27FC236}">
                <a16:creationId xmlns:a16="http://schemas.microsoft.com/office/drawing/2014/main" id="{59848437-5D64-2183-EB3D-C5B027438BFA}"/>
              </a:ext>
            </a:extLst>
          </p:cNvPr>
          <p:cNvSpPr txBox="1"/>
          <p:nvPr/>
        </p:nvSpPr>
        <p:spPr>
          <a:xfrm>
            <a:off x="3927803" y="6342364"/>
            <a:ext cx="28163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… and so on many steps …</a:t>
            </a:r>
            <a:endParaRPr lang="ro-RO" i="1" dirty="0"/>
          </a:p>
        </p:txBody>
      </p:sp>
      <p:pic>
        <p:nvPicPr>
          <p:cNvPr id="127" name="Picture 126">
            <a:extLst>
              <a:ext uri="{FF2B5EF4-FFF2-40B4-BE49-F238E27FC236}">
                <a16:creationId xmlns:a16="http://schemas.microsoft.com/office/drawing/2014/main" id="{70AE35A8-0A64-5ADB-73E3-40103682549D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10733160" y="131577"/>
            <a:ext cx="1228811" cy="1561313"/>
          </a:xfrm>
          <a:prstGeom prst="rect">
            <a:avLst/>
          </a:prstGeom>
        </p:spPr>
      </p:pic>
      <p:sp>
        <p:nvSpPr>
          <p:cNvPr id="128" name="TextBox 127">
            <a:extLst>
              <a:ext uri="{FF2B5EF4-FFF2-40B4-BE49-F238E27FC236}">
                <a16:creationId xmlns:a16="http://schemas.microsoft.com/office/drawing/2014/main" id="{E12F10A5-131A-935F-FB68-E7ABE8AEDB6F}"/>
              </a:ext>
            </a:extLst>
          </p:cNvPr>
          <p:cNvSpPr txBox="1"/>
          <p:nvPr/>
        </p:nvSpPr>
        <p:spPr>
          <a:xfrm>
            <a:off x="10382703" y="1622811"/>
            <a:ext cx="19297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Resulted clean image</a:t>
            </a:r>
            <a:endParaRPr lang="ro-RO" dirty="0"/>
          </a:p>
        </p:txBody>
      </p:sp>
      <p:cxnSp>
        <p:nvCxnSpPr>
          <p:cNvPr id="130" name="Straight Connector 129">
            <a:extLst>
              <a:ext uri="{FF2B5EF4-FFF2-40B4-BE49-F238E27FC236}">
                <a16:creationId xmlns:a16="http://schemas.microsoft.com/office/drawing/2014/main" id="{726B265D-D31B-4B06-F738-7F4B53C9D817}"/>
              </a:ext>
            </a:extLst>
          </p:cNvPr>
          <p:cNvCxnSpPr>
            <a:cxnSpLocks/>
          </p:cNvCxnSpPr>
          <p:nvPr/>
        </p:nvCxnSpPr>
        <p:spPr>
          <a:xfrm>
            <a:off x="10274157" y="97536"/>
            <a:ext cx="0" cy="2281511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Straight Connector 130">
            <a:extLst>
              <a:ext uri="{FF2B5EF4-FFF2-40B4-BE49-F238E27FC236}">
                <a16:creationId xmlns:a16="http://schemas.microsoft.com/office/drawing/2014/main" id="{6C518379-6CDE-330E-818C-9CA1AFD99FAC}"/>
              </a:ext>
            </a:extLst>
          </p:cNvPr>
          <p:cNvCxnSpPr>
            <a:cxnSpLocks/>
          </p:cNvCxnSpPr>
          <p:nvPr/>
        </p:nvCxnSpPr>
        <p:spPr>
          <a:xfrm>
            <a:off x="10274157" y="2379047"/>
            <a:ext cx="1917843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8291714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87680" y="219456"/>
            <a:ext cx="1121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467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CFG Sampling</a:t>
            </a:r>
            <a:endParaRPr lang="en-US" sz="3467" dirty="0"/>
          </a:p>
        </p:txBody>
      </p:sp>
      <p:sp>
        <p:nvSpPr>
          <p:cNvPr id="4" name="Text 2"/>
          <p:cNvSpPr/>
          <p:nvPr/>
        </p:nvSpPr>
        <p:spPr>
          <a:xfrm>
            <a:off x="295174" y="867618"/>
            <a:ext cx="11216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two passes per step (cond + uncond) and interpolate with guide_w:</a:t>
            </a:r>
            <a:endParaRPr lang="en-US" sz="1733" b="1" dirty="0">
              <a:solidFill>
                <a:srgbClr val="FF0000"/>
              </a:solidFill>
            </a:endParaRPr>
          </a:p>
        </p:txBody>
      </p:sp>
      <p:sp>
        <p:nvSpPr>
          <p:cNvPr id="5" name="Shape 3"/>
          <p:cNvSpPr/>
          <p:nvPr/>
        </p:nvSpPr>
        <p:spPr>
          <a:xfrm>
            <a:off x="426720" y="1296325"/>
            <a:ext cx="11277600" cy="2505113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87680" y="1393861"/>
            <a:ext cx="6430563" cy="243196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267" dirty="0">
                <a:solidFill>
                  <a:srgbClr val="D4E6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@torch.no_grad()</a:t>
            </a:r>
            <a:endParaRPr lang="en-US" sz="1267" dirty="0"/>
          </a:p>
          <a:p>
            <a:r>
              <a:rPr lang="en-US" sz="1267" dirty="0">
                <a:solidFill>
                  <a:srgbClr val="D4E6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sample(ddpm, model, </a:t>
            </a:r>
            <a:r>
              <a:rPr lang="en-US" sz="1267" dirty="0" err="1">
                <a:solidFill>
                  <a:srgbClr val="D4E6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guide_w</a:t>
            </a:r>
            <a:r>
              <a:rPr lang="en-US" sz="1267" dirty="0">
                <a:solidFill>
                  <a:srgbClr val="D4E6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...):</a:t>
            </a:r>
            <a:endParaRPr lang="en-US" sz="1267" dirty="0"/>
          </a:p>
          <a:p>
            <a:r>
              <a:rPr lang="en-US" sz="1267" dirty="0">
                <a:solidFill>
                  <a:srgbClr val="D4E6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...</a:t>
            </a:r>
          </a:p>
          <a:p>
            <a:endParaRPr lang="en-US" sz="1267" dirty="0">
              <a:solidFill>
                <a:srgbClr val="D4E6F1"/>
              </a:solidFill>
              <a:latin typeface="Courier New" pitchFamily="34" charset="0"/>
              <a:cs typeface="Courier New" pitchFamily="34" charset="-120"/>
            </a:endParaRPr>
          </a:p>
          <a:p>
            <a:endParaRPr lang="en-US" sz="1267" dirty="0">
              <a:solidFill>
                <a:srgbClr val="D4E6F1"/>
              </a:solidFill>
              <a:latin typeface="Courier New" pitchFamily="34" charset="0"/>
              <a:cs typeface="Courier New" pitchFamily="34" charset="-120"/>
            </a:endParaRPr>
          </a:p>
          <a:p>
            <a:endParaRPr lang="en-US" sz="1267" dirty="0"/>
          </a:p>
          <a:p>
            <a:r>
              <a:rPr lang="en-US" sz="1267" dirty="0">
                <a:solidFill>
                  <a:srgbClr val="D4E6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# CFG combination</a:t>
            </a:r>
            <a:endParaRPr lang="en-US" sz="1267" dirty="0"/>
          </a:p>
          <a:p>
            <a:r>
              <a:rPr lang="en-US" sz="1267" dirty="0">
                <a:solidFill>
                  <a:srgbClr val="D4E6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eps = (1 + guide_w) * eps_cond - guide_w * </a:t>
            </a:r>
            <a:r>
              <a:rPr lang="en-US" sz="1267" dirty="0" err="1">
                <a:solidFill>
                  <a:srgbClr val="D4E6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eps_uncond</a:t>
            </a:r>
            <a:endParaRPr lang="en-US" sz="1267" dirty="0">
              <a:solidFill>
                <a:srgbClr val="D4E6F1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endParaRPr lang="en-US" sz="1267" dirty="0">
              <a:solidFill>
                <a:srgbClr val="D4E6F1"/>
              </a:solidFill>
              <a:latin typeface="Courier New" pitchFamily="34" charset="0"/>
              <a:cs typeface="Courier New" pitchFamily="34" charset="-120"/>
            </a:endParaRPr>
          </a:p>
          <a:p>
            <a:r>
              <a:rPr lang="en-US" sz="1267" dirty="0">
                <a:solidFill>
                  <a:srgbClr val="D4E6F1"/>
                </a:solidFill>
                <a:latin typeface="Courier New" pitchFamily="34" charset="0"/>
                <a:cs typeface="Courier New" pitchFamily="34" charset="-120"/>
              </a:rPr>
              <a:t>        ...</a:t>
            </a:r>
            <a:endParaRPr lang="en-US" sz="1267" dirty="0"/>
          </a:p>
          <a:p>
            <a:endParaRPr lang="en-US" sz="1267" dirty="0"/>
          </a:p>
          <a:p>
            <a:r>
              <a:rPr lang="en-US" sz="1267" dirty="0">
                <a:solidFill>
                  <a:srgbClr val="D4E6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endParaRPr lang="en-US" sz="1267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371E0A03-EE91-671E-3F47-4A0662A849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8557" y="2083599"/>
            <a:ext cx="1254673" cy="235505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907FC0D1-CB8F-1AFE-B8BB-B8903D07F0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8557" y="3409055"/>
            <a:ext cx="1254673" cy="235505"/>
          </a:xfrm>
          <a:prstGeom prst="rect">
            <a:avLst/>
          </a:prstGeom>
        </p:spPr>
      </p:pic>
      <p:sp>
        <p:nvSpPr>
          <p:cNvPr id="31" name="Shape 19">
            <a:extLst>
              <a:ext uri="{FF2B5EF4-FFF2-40B4-BE49-F238E27FC236}">
                <a16:creationId xmlns:a16="http://schemas.microsoft.com/office/drawing/2014/main" id="{FC5D3185-970E-B0F2-7827-443A747BF91B}"/>
              </a:ext>
            </a:extLst>
          </p:cNvPr>
          <p:cNvSpPr/>
          <p:nvPr/>
        </p:nvSpPr>
        <p:spPr>
          <a:xfrm>
            <a:off x="426720" y="4242816"/>
            <a:ext cx="11338560" cy="1243584"/>
          </a:xfrm>
          <a:prstGeom prst="rect">
            <a:avLst/>
          </a:prstGeom>
          <a:solidFill>
            <a:srgbClr val="FEF9E7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32" name="Text 20">
            <a:extLst>
              <a:ext uri="{FF2B5EF4-FFF2-40B4-BE49-F238E27FC236}">
                <a16:creationId xmlns:a16="http://schemas.microsoft.com/office/drawing/2014/main" id="{E71F11D3-EA18-E376-D7DF-DB205E2A5DEA}"/>
              </a:ext>
            </a:extLst>
          </p:cNvPr>
          <p:cNvSpPr/>
          <p:nvPr/>
        </p:nvSpPr>
        <p:spPr>
          <a:xfrm>
            <a:off x="609600" y="431596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b="1" dirty="0">
                <a:solidFill>
                  <a:srgbClr val="8B6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CFG Sampling Formula</a:t>
            </a:r>
            <a:endParaRPr lang="en-US" dirty="0"/>
          </a:p>
        </p:txBody>
      </p:sp>
      <p:sp>
        <p:nvSpPr>
          <p:cNvPr id="33" name="Text 21">
            <a:extLst>
              <a:ext uri="{FF2B5EF4-FFF2-40B4-BE49-F238E27FC236}">
                <a16:creationId xmlns:a16="http://schemas.microsoft.com/office/drawing/2014/main" id="{AB62FDEA-E9D8-A1A6-05E3-06CB5ADF1A39}"/>
              </a:ext>
            </a:extLst>
          </p:cNvPr>
          <p:cNvSpPr/>
          <p:nvPr/>
        </p:nvSpPr>
        <p:spPr>
          <a:xfrm>
            <a:off x="609600" y="4706112"/>
            <a:ext cx="10972800" cy="682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400" i="1" dirty="0">
                <a:solidFill>
                  <a:srgbClr val="8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ε_final  =  (1 + guide_w) × ε_conditional  −  guide_w × ε_unconditional</a:t>
            </a:r>
            <a:endParaRPr lang="en-US" sz="2400" dirty="0"/>
          </a:p>
        </p:txBody>
      </p:sp>
      <p:sp>
        <p:nvSpPr>
          <p:cNvPr id="34" name="Text 23">
            <a:extLst>
              <a:ext uri="{FF2B5EF4-FFF2-40B4-BE49-F238E27FC236}">
                <a16:creationId xmlns:a16="http://schemas.microsoft.com/office/drawing/2014/main" id="{80C22B15-FA85-710A-2086-F104223AC45A}"/>
              </a:ext>
            </a:extLst>
          </p:cNvPr>
          <p:cNvSpPr/>
          <p:nvPr/>
        </p:nvSpPr>
        <p:spPr>
          <a:xfrm>
            <a:off x="426720" y="5583936"/>
            <a:ext cx="11338560" cy="880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 of guide_w</a:t>
            </a:r>
            <a:endParaRPr lang="en-US" sz="160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33130C1-9A15-C8AA-F369-6E37533588BC}"/>
              </a:ext>
            </a:extLst>
          </p:cNvPr>
          <p:cNvSpPr txBox="1"/>
          <p:nvPr/>
        </p:nvSpPr>
        <p:spPr>
          <a:xfrm>
            <a:off x="334960" y="5754624"/>
            <a:ext cx="1143032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TL;DR</a:t>
            </a:r>
            <a:r>
              <a:rPr lang="en-US" dirty="0"/>
              <a:t>: </a:t>
            </a:r>
          </a:p>
          <a:p>
            <a:r>
              <a:rPr lang="en-US" i="1" dirty="0">
                <a:highlight>
                  <a:srgbClr val="FFFF00"/>
                </a:highlight>
              </a:rPr>
              <a:t>When the value of </a:t>
            </a:r>
            <a:r>
              <a:rPr lang="en-US" b="1" i="1" dirty="0" err="1">
                <a:highlight>
                  <a:srgbClr val="FFFF00"/>
                </a:highlight>
              </a:rPr>
              <a:t>guide_w</a:t>
            </a:r>
            <a:r>
              <a:rPr lang="en-US" i="1" dirty="0">
                <a:highlight>
                  <a:srgbClr val="FFFF00"/>
                </a:highlight>
              </a:rPr>
              <a:t> is large, the generated images match the labels well but lack diversity. </a:t>
            </a:r>
          </a:p>
          <a:p>
            <a:r>
              <a:rPr lang="en-US" i="1" dirty="0">
                <a:highlight>
                  <a:srgbClr val="FFFF00"/>
                </a:highlight>
              </a:rPr>
              <a:t>When </a:t>
            </a:r>
            <a:r>
              <a:rPr lang="en-US" b="1" i="1" dirty="0" err="1">
                <a:highlight>
                  <a:srgbClr val="FFFF00"/>
                </a:highlight>
              </a:rPr>
              <a:t>guide_w</a:t>
            </a:r>
            <a:r>
              <a:rPr lang="en-US" i="1" dirty="0">
                <a:highlight>
                  <a:srgbClr val="FFFF00"/>
                </a:highlight>
              </a:rPr>
              <a:t> is small, you see more diversity, but the generated images may not match the labels closely. </a:t>
            </a:r>
            <a:endParaRPr lang="ro-RO" i="1" dirty="0">
              <a:highlight>
                <a:srgbClr val="FFFF00"/>
              </a:highlight>
            </a:endParaRPr>
          </a:p>
        </p:txBody>
      </p:sp>
      <p:sp>
        <p:nvSpPr>
          <p:cNvPr id="36" name="Shape 0">
            <a:extLst>
              <a:ext uri="{FF2B5EF4-FFF2-40B4-BE49-F238E27FC236}">
                <a16:creationId xmlns:a16="http://schemas.microsoft.com/office/drawing/2014/main" id="{CCF49762-918E-3432-C3E2-79B972208BAB}"/>
              </a:ext>
            </a:extLst>
          </p:cNvPr>
          <p:cNvSpPr/>
          <p:nvPr/>
        </p:nvSpPr>
        <p:spPr>
          <a:xfrm>
            <a:off x="0" y="0"/>
            <a:ext cx="12192000" cy="97536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22033F-A6C0-6B3A-8790-7A922B664E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A62C90A0-81E2-0ADB-046A-825ED01C0475}"/>
              </a:ext>
            </a:extLst>
          </p:cNvPr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D9DF1E3-4184-9AFB-4B5F-F5A273A7095E}"/>
              </a:ext>
            </a:extLst>
          </p:cNvPr>
          <p:cNvSpPr/>
          <p:nvPr/>
        </p:nvSpPr>
        <p:spPr>
          <a:xfrm>
            <a:off x="487680" y="219456"/>
            <a:ext cx="1121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467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CFG Sampling</a:t>
            </a:r>
            <a:endParaRPr lang="en-US" sz="3467" dirty="0"/>
          </a:p>
        </p:txBody>
      </p:sp>
      <p:sp>
        <p:nvSpPr>
          <p:cNvPr id="36" name="Shape 0">
            <a:extLst>
              <a:ext uri="{FF2B5EF4-FFF2-40B4-BE49-F238E27FC236}">
                <a16:creationId xmlns:a16="http://schemas.microsoft.com/office/drawing/2014/main" id="{8FA99B15-B2AB-1CA1-C8E6-E4F904078180}"/>
              </a:ext>
            </a:extLst>
          </p:cNvPr>
          <p:cNvSpPr/>
          <p:nvPr/>
        </p:nvSpPr>
        <p:spPr>
          <a:xfrm>
            <a:off x="0" y="0"/>
            <a:ext cx="12192000" cy="97536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139E51F-C558-0B37-67B0-C5D25B28BA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360" y="1909550"/>
            <a:ext cx="11317279" cy="3038899"/>
          </a:xfrm>
          <a:prstGeom prst="rect">
            <a:avLst/>
          </a:prstGeom>
        </p:spPr>
      </p:pic>
      <p:sp>
        <p:nvSpPr>
          <p:cNvPr id="9" name="Text 21">
            <a:extLst>
              <a:ext uri="{FF2B5EF4-FFF2-40B4-BE49-F238E27FC236}">
                <a16:creationId xmlns:a16="http://schemas.microsoft.com/office/drawing/2014/main" id="{77298676-912A-6FA3-68FE-7773FBDF03C4}"/>
              </a:ext>
            </a:extLst>
          </p:cNvPr>
          <p:cNvSpPr/>
          <p:nvPr/>
        </p:nvSpPr>
        <p:spPr>
          <a:xfrm>
            <a:off x="4850328" y="5119137"/>
            <a:ext cx="2491342" cy="682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3200" i="1" dirty="0" err="1">
                <a:solidFill>
                  <a:srgbClr val="8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guide_w</a:t>
            </a:r>
            <a:r>
              <a:rPr lang="en-US" sz="3200" i="1" dirty="0">
                <a:solidFill>
                  <a:srgbClr val="8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2</a:t>
            </a:r>
            <a:endParaRPr lang="en-US" sz="3200" dirty="0"/>
          </a:p>
        </p:txBody>
      </p:sp>
      <p:sp>
        <p:nvSpPr>
          <p:cNvPr id="10" name="Text 23">
            <a:extLst>
              <a:ext uri="{FF2B5EF4-FFF2-40B4-BE49-F238E27FC236}">
                <a16:creationId xmlns:a16="http://schemas.microsoft.com/office/drawing/2014/main" id="{B529E5A2-B8F5-212B-76BF-71185426C6BF}"/>
              </a:ext>
            </a:extLst>
          </p:cNvPr>
          <p:cNvSpPr/>
          <p:nvPr/>
        </p:nvSpPr>
        <p:spPr>
          <a:xfrm>
            <a:off x="426720" y="5583936"/>
            <a:ext cx="1133856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 of guide_w</a:t>
            </a:r>
            <a:endParaRPr lang="en-US" sz="16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477F995-73A2-6EE1-0522-89D73DA3606A}"/>
              </a:ext>
            </a:extLst>
          </p:cNvPr>
          <p:cNvSpPr txBox="1"/>
          <p:nvPr/>
        </p:nvSpPr>
        <p:spPr>
          <a:xfrm>
            <a:off x="334960" y="5754624"/>
            <a:ext cx="1143032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TL;DR</a:t>
            </a:r>
            <a:r>
              <a:rPr lang="en-US" dirty="0"/>
              <a:t>: </a:t>
            </a:r>
          </a:p>
          <a:p>
            <a:r>
              <a:rPr lang="en-US" i="1" dirty="0">
                <a:highlight>
                  <a:srgbClr val="FFFF00"/>
                </a:highlight>
              </a:rPr>
              <a:t>When the value of </a:t>
            </a:r>
            <a:r>
              <a:rPr lang="en-US" b="1" i="1" dirty="0" err="1">
                <a:highlight>
                  <a:srgbClr val="FFFF00"/>
                </a:highlight>
              </a:rPr>
              <a:t>guide_w</a:t>
            </a:r>
            <a:r>
              <a:rPr lang="en-US" i="1" dirty="0">
                <a:highlight>
                  <a:srgbClr val="FFFF00"/>
                </a:highlight>
              </a:rPr>
              <a:t> is large, the generated images match the labels well but lack diversity. </a:t>
            </a:r>
          </a:p>
          <a:p>
            <a:r>
              <a:rPr lang="en-US" i="1" dirty="0">
                <a:highlight>
                  <a:srgbClr val="FFFF00"/>
                </a:highlight>
              </a:rPr>
              <a:t>When </a:t>
            </a:r>
            <a:r>
              <a:rPr lang="en-US" b="1" i="1" dirty="0" err="1">
                <a:highlight>
                  <a:srgbClr val="FFFF00"/>
                </a:highlight>
              </a:rPr>
              <a:t>guide_w</a:t>
            </a:r>
            <a:r>
              <a:rPr lang="en-US" i="1" dirty="0">
                <a:highlight>
                  <a:srgbClr val="FFFF00"/>
                </a:highlight>
              </a:rPr>
              <a:t> is small, you see more diversity, but the generated images may not match the labels closely. </a:t>
            </a:r>
            <a:endParaRPr lang="ro-RO" i="1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78060346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CEFF6E-B557-B66B-4D56-04F05A2503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7CF54FF-5FD4-B881-34CC-14EF0E0F1DB2}"/>
              </a:ext>
            </a:extLst>
          </p:cNvPr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77BD864-8A6D-1B10-2E62-B0C95AB724D5}"/>
              </a:ext>
            </a:extLst>
          </p:cNvPr>
          <p:cNvSpPr/>
          <p:nvPr/>
        </p:nvSpPr>
        <p:spPr>
          <a:xfrm>
            <a:off x="487680" y="219456"/>
            <a:ext cx="1121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467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CFG Sampling</a:t>
            </a:r>
            <a:endParaRPr lang="en-US" sz="3467" dirty="0"/>
          </a:p>
        </p:txBody>
      </p:sp>
      <p:sp>
        <p:nvSpPr>
          <p:cNvPr id="36" name="Shape 0">
            <a:extLst>
              <a:ext uri="{FF2B5EF4-FFF2-40B4-BE49-F238E27FC236}">
                <a16:creationId xmlns:a16="http://schemas.microsoft.com/office/drawing/2014/main" id="{82288E17-3F51-4B21-4238-0F7D19780A9A}"/>
              </a:ext>
            </a:extLst>
          </p:cNvPr>
          <p:cNvSpPr/>
          <p:nvPr/>
        </p:nvSpPr>
        <p:spPr>
          <a:xfrm>
            <a:off x="0" y="0"/>
            <a:ext cx="12192000" cy="97536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94DA289-DC20-2226-63B9-7742033CD1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1299" y="968956"/>
            <a:ext cx="7197088" cy="34104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09D98A5-C352-0668-A5BB-98336F0E36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11299" y="4492433"/>
            <a:ext cx="7289555" cy="913677"/>
          </a:xfrm>
          <a:prstGeom prst="rect">
            <a:avLst/>
          </a:prstGeom>
        </p:spPr>
      </p:pic>
      <p:sp>
        <p:nvSpPr>
          <p:cNvPr id="12" name="Text 23">
            <a:extLst>
              <a:ext uri="{FF2B5EF4-FFF2-40B4-BE49-F238E27FC236}">
                <a16:creationId xmlns:a16="http://schemas.microsoft.com/office/drawing/2014/main" id="{8B7E0C77-0BD7-028F-7659-84D767480A1D}"/>
              </a:ext>
            </a:extLst>
          </p:cNvPr>
          <p:cNvSpPr/>
          <p:nvPr/>
        </p:nvSpPr>
        <p:spPr>
          <a:xfrm>
            <a:off x="426720" y="5583936"/>
            <a:ext cx="1133856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 of guide_w</a:t>
            </a:r>
            <a:endParaRPr lang="en-US" sz="16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30BBBF4-BDEF-7554-E25D-31B7302FA7E2}"/>
              </a:ext>
            </a:extLst>
          </p:cNvPr>
          <p:cNvSpPr txBox="1"/>
          <p:nvPr/>
        </p:nvSpPr>
        <p:spPr>
          <a:xfrm>
            <a:off x="334960" y="5754624"/>
            <a:ext cx="1143032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TL;DR</a:t>
            </a:r>
            <a:r>
              <a:rPr lang="en-US" dirty="0"/>
              <a:t>: </a:t>
            </a:r>
          </a:p>
          <a:p>
            <a:r>
              <a:rPr lang="en-US" i="1" dirty="0">
                <a:highlight>
                  <a:srgbClr val="FFFF00"/>
                </a:highlight>
              </a:rPr>
              <a:t>When the value of </a:t>
            </a:r>
            <a:r>
              <a:rPr lang="en-US" b="1" i="1" dirty="0" err="1">
                <a:highlight>
                  <a:srgbClr val="FFFF00"/>
                </a:highlight>
              </a:rPr>
              <a:t>guide_w</a:t>
            </a:r>
            <a:r>
              <a:rPr lang="en-US" i="1" dirty="0">
                <a:highlight>
                  <a:srgbClr val="FFFF00"/>
                </a:highlight>
              </a:rPr>
              <a:t> is large, the generated images match the labels well but lack diversity. </a:t>
            </a:r>
          </a:p>
          <a:p>
            <a:r>
              <a:rPr lang="en-US" i="1" dirty="0">
                <a:highlight>
                  <a:srgbClr val="FFFF00"/>
                </a:highlight>
              </a:rPr>
              <a:t>When </a:t>
            </a:r>
            <a:r>
              <a:rPr lang="en-US" b="1" i="1" dirty="0" err="1">
                <a:highlight>
                  <a:srgbClr val="FFFF00"/>
                </a:highlight>
              </a:rPr>
              <a:t>guide_w</a:t>
            </a:r>
            <a:r>
              <a:rPr lang="en-US" i="1" dirty="0">
                <a:highlight>
                  <a:srgbClr val="FFFF00"/>
                </a:highlight>
              </a:rPr>
              <a:t> is small, you see more diversity, but the generated images may not match the labels closely. </a:t>
            </a:r>
            <a:endParaRPr lang="ro-RO" i="1" dirty="0">
              <a:highlight>
                <a:srgbClr val="FFFF00"/>
              </a:highlight>
            </a:endParaRPr>
          </a:p>
        </p:txBody>
      </p:sp>
      <p:sp>
        <p:nvSpPr>
          <p:cNvPr id="14" name="Text 21">
            <a:extLst>
              <a:ext uri="{FF2B5EF4-FFF2-40B4-BE49-F238E27FC236}">
                <a16:creationId xmlns:a16="http://schemas.microsoft.com/office/drawing/2014/main" id="{8FF7B948-2CEC-ACD6-203D-827A1D1CB022}"/>
              </a:ext>
            </a:extLst>
          </p:cNvPr>
          <p:cNvSpPr/>
          <p:nvPr/>
        </p:nvSpPr>
        <p:spPr>
          <a:xfrm>
            <a:off x="4793237" y="5327904"/>
            <a:ext cx="2513765" cy="682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800" i="1" dirty="0" err="1">
                <a:solidFill>
                  <a:srgbClr val="8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guide_w</a:t>
            </a:r>
            <a:r>
              <a:rPr lang="en-US" sz="2800" i="1" dirty="0">
                <a:solidFill>
                  <a:srgbClr val="8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5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57583653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7536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87680" y="170688"/>
            <a:ext cx="1121664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933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Exercises</a:t>
            </a:r>
            <a:endParaRPr lang="en-US" sz="2933" dirty="0"/>
          </a:p>
        </p:txBody>
      </p:sp>
      <p:sp>
        <p:nvSpPr>
          <p:cNvPr id="4" name="Shape 2"/>
          <p:cNvSpPr/>
          <p:nvPr/>
        </p:nvSpPr>
        <p:spPr>
          <a:xfrm>
            <a:off x="487680" y="999744"/>
            <a:ext cx="11216640" cy="17068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9E8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87680" y="999744"/>
            <a:ext cx="829056" cy="17068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87680" y="999744"/>
            <a:ext cx="829056" cy="1706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1463040" y="1121664"/>
            <a:ext cx="10094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33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Embedding with t = 42</a:t>
            </a:r>
          </a:p>
        </p:txBody>
      </p:sp>
      <p:sp>
        <p:nvSpPr>
          <p:cNvPr id="8" name="Text 6"/>
          <p:cNvSpPr/>
          <p:nvPr/>
        </p:nvSpPr>
        <p:spPr>
          <a:xfrm>
            <a:off x="1463040" y="1457971"/>
            <a:ext cx="10094976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Suppose the time step value is  42 . Modify the code for creating the two time embeddings to create two time embeddings with embedding dimensions  512  and  256 , respectively. Then, print out the shape of the two time embeddings.</a:t>
            </a:r>
          </a:p>
        </p:txBody>
      </p:sp>
      <p:sp>
        <p:nvSpPr>
          <p:cNvPr id="9" name="Shape 7"/>
          <p:cNvSpPr/>
          <p:nvPr/>
        </p:nvSpPr>
        <p:spPr>
          <a:xfrm>
            <a:off x="1463040" y="2067571"/>
            <a:ext cx="10094976" cy="431790"/>
          </a:xfrm>
          <a:prstGeom prst="rect">
            <a:avLst/>
          </a:prstGeom>
          <a:solidFill>
            <a:srgbClr val="E3F2FD"/>
          </a:solidFill>
          <a:ln w="7620">
            <a:solidFill>
              <a:srgbClr val="1565C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609344" y="2072640"/>
            <a:ext cx="9826752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33" i="1" dirty="0">
                <a:solidFill>
                  <a:srgbClr val="1A2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Hint: t = </a:t>
            </a:r>
            <a:r>
              <a:rPr lang="en-US" sz="1133" i="1" dirty="0" err="1">
                <a:solidFill>
                  <a:srgbClr val="1A2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torch.tensor</a:t>
            </a:r>
            <a:r>
              <a:rPr lang="en-US" sz="1133" i="1" dirty="0">
                <a:solidFill>
                  <a:srgbClr val="1A2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([42]).long() / 1000  →  pass through both </a:t>
            </a:r>
            <a:r>
              <a:rPr lang="en-US" sz="1133" i="1" dirty="0" err="1">
                <a:solidFill>
                  <a:srgbClr val="1A2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EmbedLayer</a:t>
            </a:r>
            <a:r>
              <a:rPr lang="en-US" sz="1133" i="1" dirty="0">
                <a:solidFill>
                  <a:srgbClr val="1A2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instances.</a:t>
            </a:r>
          </a:p>
        </p:txBody>
      </p:sp>
      <p:sp>
        <p:nvSpPr>
          <p:cNvPr id="11" name="Shape 9"/>
          <p:cNvSpPr/>
          <p:nvPr/>
        </p:nvSpPr>
        <p:spPr>
          <a:xfrm>
            <a:off x="487680" y="2852928"/>
            <a:ext cx="11216640" cy="17068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9E8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7680" y="2852928"/>
            <a:ext cx="829056" cy="1706880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7680" y="2852928"/>
            <a:ext cx="829056" cy="1706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1463040" y="2974848"/>
            <a:ext cx="10094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33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Embedding for 4 Samples</a:t>
            </a:r>
          </a:p>
        </p:txBody>
      </p:sp>
      <p:sp>
        <p:nvSpPr>
          <p:cNvPr id="15" name="Text 13"/>
          <p:cNvSpPr/>
          <p:nvPr/>
        </p:nvSpPr>
        <p:spPr>
          <a:xfrm>
            <a:off x="1463040" y="3255264"/>
            <a:ext cx="10094976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Suppose there are four labels in the batch with values  1, 3, 5 and 7, respectively. Modify the code for generating label embeddings to create two label embeddings. Then, print out the shape of the two label embeddings.</a:t>
            </a:r>
          </a:p>
        </p:txBody>
      </p:sp>
      <p:sp>
        <p:nvSpPr>
          <p:cNvPr id="16" name="Shape 14"/>
          <p:cNvSpPr/>
          <p:nvPr/>
        </p:nvSpPr>
        <p:spPr>
          <a:xfrm>
            <a:off x="1463040" y="3786135"/>
            <a:ext cx="10094976" cy="463297"/>
          </a:xfrm>
          <a:prstGeom prst="rect">
            <a:avLst/>
          </a:prstGeom>
          <a:solidFill>
            <a:srgbClr val="E3F2FD"/>
          </a:solidFill>
          <a:ln w="7620">
            <a:solidFill>
              <a:srgbClr val="6A1B9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09344" y="3810519"/>
            <a:ext cx="9826752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33" i="1" dirty="0">
                <a:solidFill>
                  <a:srgbClr val="1A2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Hint: Expected: (4, 512, 1, 1) and (4, 256, 1, 1). Don't forget the Bernoulli mask.</a:t>
            </a:r>
          </a:p>
        </p:txBody>
      </p:sp>
      <p:sp>
        <p:nvSpPr>
          <p:cNvPr id="18" name="Shape 16"/>
          <p:cNvSpPr/>
          <p:nvPr/>
        </p:nvSpPr>
        <p:spPr>
          <a:xfrm>
            <a:off x="487680" y="4706112"/>
            <a:ext cx="11216640" cy="17068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9E8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87680" y="4706112"/>
            <a:ext cx="829056" cy="1706880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7680" y="4706112"/>
            <a:ext cx="829056" cy="1706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1463040" y="4828032"/>
            <a:ext cx="10094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33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Low-Guidance Generation (</a:t>
            </a:r>
            <a:r>
              <a:rPr lang="en-US" sz="1533" b="1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guide_w</a:t>
            </a:r>
            <a:r>
              <a:rPr lang="en-US" sz="1533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1)</a:t>
            </a:r>
          </a:p>
        </p:txBody>
      </p:sp>
      <p:sp>
        <p:nvSpPr>
          <p:cNvPr id="22" name="Text 20"/>
          <p:cNvSpPr/>
          <p:nvPr/>
        </p:nvSpPr>
        <p:spPr>
          <a:xfrm>
            <a:off x="1463040" y="5151736"/>
            <a:ext cx="10094976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 40  images by setting the guidance parameter to  1. Then, plot the generated images in a  4×10  grid.</a:t>
            </a:r>
          </a:p>
        </p:txBody>
      </p:sp>
      <p:sp>
        <p:nvSpPr>
          <p:cNvPr id="23" name="Shape 21"/>
          <p:cNvSpPr/>
          <p:nvPr/>
        </p:nvSpPr>
        <p:spPr>
          <a:xfrm>
            <a:off x="1463040" y="5696129"/>
            <a:ext cx="10094976" cy="463296"/>
          </a:xfrm>
          <a:prstGeom prst="rect">
            <a:avLst/>
          </a:prstGeom>
          <a:solidFill>
            <a:srgbClr val="E3F2FD"/>
          </a:solidFill>
          <a:ln w="7620">
            <a:solidFill>
              <a:srgbClr val="00695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609344" y="5696129"/>
            <a:ext cx="9826752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33" i="1" dirty="0">
                <a:solidFill>
                  <a:srgbClr val="1A2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Hint: Lower w = more diverse outputs but weaker label adherence.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7A9652-93F3-7080-446D-5FAA2200A3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59DFE17-8D6D-826D-B758-D295A8655F62}"/>
              </a:ext>
            </a:extLst>
          </p:cNvPr>
          <p:cNvSpPr/>
          <p:nvPr/>
        </p:nvSpPr>
        <p:spPr>
          <a:xfrm>
            <a:off x="0" y="0"/>
            <a:ext cx="12192000" cy="97536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pic>
        <p:nvPicPr>
          <p:cNvPr id="3" name="Picture 2" descr="What I cannot create, I do not understand&quot; - Richard Feynman At the end of  March, I stepped down from the position of PrecisionLoop's CEO. The last  4.5 years at AI startups">
            <a:extLst>
              <a:ext uri="{FF2B5EF4-FFF2-40B4-BE49-F238E27FC236}">
                <a16:creationId xmlns:a16="http://schemas.microsoft.com/office/drawing/2014/main" id="{9D02F9B2-1C03-5E0E-3150-DA618318DC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4234" y="918833"/>
            <a:ext cx="9003532" cy="50203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7365166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7536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87680" y="170688"/>
            <a:ext cx="877824" cy="609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87680" y="170688"/>
            <a:ext cx="877824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 1</a:t>
            </a:r>
            <a:endParaRPr lang="en-US" sz="1467" dirty="0"/>
          </a:p>
        </p:txBody>
      </p:sp>
      <p:sp>
        <p:nvSpPr>
          <p:cNvPr id="5" name="Text 3"/>
          <p:cNvSpPr/>
          <p:nvPr/>
        </p:nvSpPr>
        <p:spPr>
          <a:xfrm>
            <a:off x="1511808" y="195072"/>
            <a:ext cx="10192512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93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Embedding with t = 42</a:t>
            </a:r>
          </a:p>
        </p:txBody>
      </p:sp>
      <p:sp>
        <p:nvSpPr>
          <p:cNvPr id="6" name="Shape 4"/>
          <p:cNvSpPr/>
          <p:nvPr/>
        </p:nvSpPr>
        <p:spPr>
          <a:xfrm>
            <a:off x="487680" y="926592"/>
            <a:ext cx="11216640" cy="580900"/>
          </a:xfrm>
          <a:prstGeom prst="rect">
            <a:avLst/>
          </a:prstGeom>
          <a:solidFill>
            <a:srgbClr val="E3F2FD"/>
          </a:solidFill>
          <a:ln w="10160">
            <a:solidFill>
              <a:srgbClr val="1565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950976"/>
            <a:ext cx="1085088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i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 Suppose the time step value is  42 . Modify the code for creating the two time embeddings to create two time embeddings with embedding dimensions  512  and  256 , respectively. Then, print out the shape of the two time embeddings.</a:t>
            </a:r>
            <a:endParaRPr lang="en-US" sz="1333" dirty="0"/>
          </a:p>
        </p:txBody>
      </p:sp>
      <p:sp>
        <p:nvSpPr>
          <p:cNvPr id="8" name="Shape 6"/>
          <p:cNvSpPr/>
          <p:nvPr/>
        </p:nvSpPr>
        <p:spPr>
          <a:xfrm>
            <a:off x="548640" y="1981816"/>
            <a:ext cx="11216640" cy="2384700"/>
          </a:xfrm>
          <a:prstGeom prst="rect">
            <a:avLst/>
          </a:prstGeom>
          <a:solidFill>
            <a:srgbClr val="1E2A3A"/>
          </a:solidFill>
          <a:ln w="10160">
            <a:solidFill>
              <a:srgbClr val="00E5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9328" y="2103736"/>
            <a:ext cx="10875264" cy="2384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307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timeembed1 = </a:t>
            </a:r>
            <a:r>
              <a:rPr lang="en-US" sz="1307" dirty="0" err="1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EmbedLayer</a:t>
            </a:r>
            <a:r>
              <a:rPr lang="en-US" sz="1307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(1, 512)   # first  embedding: 512-dimensional</a:t>
            </a:r>
          </a:p>
          <a:p>
            <a:r>
              <a:rPr lang="en-US" sz="1307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timeembed2 = </a:t>
            </a:r>
            <a:r>
              <a:rPr lang="en-US" sz="1307" dirty="0" err="1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EmbedLayer</a:t>
            </a:r>
            <a:r>
              <a:rPr lang="en-US" sz="1307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(1, 256)   # second embedding: 256-dimensional</a:t>
            </a:r>
          </a:p>
          <a:p>
            <a:endParaRPr lang="en-US" sz="1307" dirty="0">
              <a:solidFill>
                <a:srgbClr val="A8D8EA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r>
              <a:rPr lang="en-US" sz="1307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timesteps = </a:t>
            </a:r>
            <a:r>
              <a:rPr lang="en-US" sz="1307" dirty="0" err="1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torch.tensor</a:t>
            </a:r>
            <a:r>
              <a:rPr lang="en-US" sz="1307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([42]).long()   # t = 42 </a:t>
            </a:r>
          </a:p>
          <a:p>
            <a:r>
              <a:rPr lang="en-US" sz="1307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 = timesteps / 1000                    # </a:t>
            </a:r>
            <a:r>
              <a:rPr lang="en-US" sz="1307" dirty="0" err="1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normalise</a:t>
            </a:r>
            <a:r>
              <a:rPr lang="en-US" sz="1307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→ 0.042 </a:t>
            </a:r>
          </a:p>
          <a:p>
            <a:endParaRPr lang="en-US" sz="1307" dirty="0">
              <a:solidFill>
                <a:srgbClr val="A8D8EA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r>
              <a:rPr lang="en-US" sz="1307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temb1 = timeembed1(t).view(-1, 512, 1, 1)   # reshape to (B, 512, 1, 1)</a:t>
            </a:r>
          </a:p>
          <a:p>
            <a:r>
              <a:rPr lang="en-US" sz="1307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temb2 = timeembed2(t).view(-1, 256, 1, 1)   # reshape to (B, 256, 1, 1)</a:t>
            </a:r>
          </a:p>
          <a:p>
            <a:endParaRPr lang="en-US" sz="1307" dirty="0">
              <a:solidFill>
                <a:srgbClr val="A8D8EA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r>
              <a:rPr lang="en-US" sz="1307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print("Shape of first  time embedding:", temb1.shape)</a:t>
            </a:r>
          </a:p>
          <a:p>
            <a:r>
              <a:rPr lang="en-US" sz="1307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print("Shape of second time embedding:", temb2.shape)</a:t>
            </a:r>
          </a:p>
        </p:txBody>
      </p:sp>
      <p:sp>
        <p:nvSpPr>
          <p:cNvPr id="10" name="Shape 5">
            <a:extLst>
              <a:ext uri="{FF2B5EF4-FFF2-40B4-BE49-F238E27FC236}">
                <a16:creationId xmlns:a16="http://schemas.microsoft.com/office/drawing/2014/main" id="{A296A320-CB68-D63B-CC62-9AA922CABA30}"/>
              </a:ext>
            </a:extLst>
          </p:cNvPr>
          <p:cNvSpPr/>
          <p:nvPr/>
        </p:nvSpPr>
        <p:spPr>
          <a:xfrm>
            <a:off x="487680" y="4840840"/>
            <a:ext cx="11338560" cy="877824"/>
          </a:xfrm>
          <a:prstGeom prst="rect">
            <a:avLst/>
          </a:prstGeom>
          <a:solidFill>
            <a:srgbClr val="E8F5E9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11" name="Text 6">
            <a:extLst>
              <a:ext uri="{FF2B5EF4-FFF2-40B4-BE49-F238E27FC236}">
                <a16:creationId xmlns:a16="http://schemas.microsoft.com/office/drawing/2014/main" id="{D757ECA8-AA42-8D28-7655-497FEB0019D4}"/>
              </a:ext>
            </a:extLst>
          </p:cNvPr>
          <p:cNvSpPr/>
          <p:nvPr/>
        </p:nvSpPr>
        <p:spPr>
          <a:xfrm>
            <a:off x="658368" y="4962760"/>
            <a:ext cx="10997184" cy="6339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333" b="1" dirty="0">
                <a:solidFill>
                  <a:srgbClr val="2E7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
</a:t>
            </a:r>
            <a:r>
              <a:rPr lang="en-US" sz="1333" dirty="0">
                <a:solidFill>
                  <a:srgbClr val="1B4F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Shape of first  time embedding:  torch.Size([1, 512, 1, 1])</a:t>
            </a:r>
            <a:endParaRPr lang="en-US" sz="1333" dirty="0"/>
          </a:p>
          <a:p>
            <a:r>
              <a:rPr lang="en-US" sz="1333" dirty="0">
                <a:solidFill>
                  <a:srgbClr val="1B4F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Shape of second time embedding:  torch.Size([1, 256, 1, 1])</a:t>
            </a:r>
            <a:endParaRPr lang="en-US" sz="1333" dirty="0"/>
          </a:p>
        </p:txBody>
      </p:sp>
      <p:sp>
        <p:nvSpPr>
          <p:cNvPr id="14" name="Shape 52">
            <a:extLst>
              <a:ext uri="{FF2B5EF4-FFF2-40B4-BE49-F238E27FC236}">
                <a16:creationId xmlns:a16="http://schemas.microsoft.com/office/drawing/2014/main" id="{09AC5F1F-0386-E63D-D678-CDB4F42D1F7F}"/>
              </a:ext>
            </a:extLst>
          </p:cNvPr>
          <p:cNvSpPr/>
          <p:nvPr/>
        </p:nvSpPr>
        <p:spPr>
          <a:xfrm>
            <a:off x="487680" y="6108192"/>
            <a:ext cx="11216640" cy="463296"/>
          </a:xfrm>
          <a:prstGeom prst="rect">
            <a:avLst/>
          </a:prstGeom>
          <a:solidFill>
            <a:srgbClr val="FFF8E1"/>
          </a:solidFill>
          <a:ln w="10160">
            <a:solidFill>
              <a:srgbClr val="F9A825"/>
            </a:solidFill>
            <a:prstDash val="solid"/>
          </a:ln>
        </p:spPr>
      </p:sp>
      <p:sp>
        <p:nvSpPr>
          <p:cNvPr id="15" name="Text 53">
            <a:extLst>
              <a:ext uri="{FF2B5EF4-FFF2-40B4-BE49-F238E27FC236}">
                <a16:creationId xmlns:a16="http://schemas.microsoft.com/office/drawing/2014/main" id="{AA3AE68D-ACAD-EEC2-CF6B-75BC55B3CC3F}"/>
              </a:ext>
            </a:extLst>
          </p:cNvPr>
          <p:cNvSpPr/>
          <p:nvPr/>
        </p:nvSpPr>
        <p:spPr>
          <a:xfrm>
            <a:off x="658368" y="6217920"/>
            <a:ext cx="10948416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0" dirty="0">
                <a:solidFill>
                  <a:srgbClr val="5D4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</a:t>
            </a:r>
            <a:r>
              <a:rPr lang="en-US" sz="1330" dirty="0" err="1">
                <a:solidFill>
                  <a:srgbClr val="5D4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EmbedLayer</a:t>
            </a:r>
            <a:r>
              <a:rPr lang="en-US" sz="1330" dirty="0">
                <a:solidFill>
                  <a:srgbClr val="5D4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already defined in laboratory. Just copy it </a:t>
            </a:r>
            <a:r>
              <a:rPr lang="en-US" sz="1330" dirty="0">
                <a:solidFill>
                  <a:srgbClr val="5D4037"/>
                </a:solidFill>
                <a:latin typeface="Calibri" pitchFamily="34" charset="0"/>
                <a:ea typeface="Calibri" pitchFamily="34" charset="-122"/>
                <a:cs typeface="Calibri" pitchFamily="34" charset="-120"/>
                <a:sym typeface="Wingdings" panose="05000000000000000000" pitchFamily="2" charset="2"/>
              </a:rPr>
              <a:t></a:t>
            </a:r>
            <a:endParaRPr lang="en-US" sz="133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752361"/>
            <a:ext cx="1109472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 the shapes look like this, and what does each dimension mean?</a:t>
            </a:r>
            <a:endParaRPr lang="en-US" sz="1733" dirty="0"/>
          </a:p>
        </p:txBody>
      </p:sp>
      <p:sp>
        <p:nvSpPr>
          <p:cNvPr id="5" name="Shape 3"/>
          <p:cNvSpPr/>
          <p:nvPr/>
        </p:nvSpPr>
        <p:spPr>
          <a:xfrm>
            <a:off x="426720" y="2142505"/>
            <a:ext cx="11338560" cy="1438656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26720" y="2142505"/>
            <a:ext cx="3169920" cy="1438656"/>
          </a:xfrm>
          <a:prstGeom prst="rect">
            <a:avLst/>
          </a:prstGeom>
          <a:solidFill>
            <a:srgbClr val="1F5BAD"/>
          </a:solidFill>
          <a:ln w="12700">
            <a:solidFill>
              <a:srgbClr val="1F5BA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6720" y="2142505"/>
            <a:ext cx="3169920" cy="1438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 1  →  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779520" y="2264425"/>
            <a:ext cx="780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size</a:t>
            </a:r>
            <a:endParaRPr lang="en-US" sz="1733" dirty="0"/>
          </a:p>
        </p:txBody>
      </p:sp>
      <p:sp>
        <p:nvSpPr>
          <p:cNvPr id="9" name="Text 7"/>
          <p:cNvSpPr/>
          <p:nvPr/>
        </p:nvSpPr>
        <p:spPr>
          <a:xfrm>
            <a:off x="3779520" y="2678953"/>
            <a:ext cx="7802880" cy="792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only one sample in the batch (we passed a single timestep t = 42). 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26720" y="3727465"/>
            <a:ext cx="11338560" cy="1438656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6720" y="3727465"/>
            <a:ext cx="3169920" cy="1438656"/>
          </a:xfrm>
          <a:prstGeom prst="rect">
            <a:avLst/>
          </a:prstGeom>
          <a:solidFill>
            <a:srgbClr val="1B6B60"/>
          </a:solidFill>
          <a:ln w="12700">
            <a:solidFill>
              <a:srgbClr val="1B6B6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6720" y="3727465"/>
            <a:ext cx="3169920" cy="1438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 2  →  512 or 256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779520" y="3849385"/>
            <a:ext cx="780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size</a:t>
            </a:r>
            <a:endParaRPr lang="en-US" sz="1733" dirty="0"/>
          </a:p>
        </p:txBody>
      </p:sp>
      <p:sp>
        <p:nvSpPr>
          <p:cNvPr id="14" name="Text 12"/>
          <p:cNvSpPr/>
          <p:nvPr/>
        </p:nvSpPr>
        <p:spPr>
          <a:xfrm>
            <a:off x="3779520" y="4263913"/>
            <a:ext cx="7802880" cy="792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EmbedLayer projects the scalar input into a 512- or 256-dimensional vector. Larger embeddings carry more information but cost more memory.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26720" y="5312425"/>
            <a:ext cx="11338560" cy="1438656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26720" y="5312425"/>
            <a:ext cx="3169920" cy="1438656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6720" y="5312425"/>
            <a:ext cx="3169920" cy="1438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Dimensions 3 &amp; 4  →  1, 1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779520" y="5434345"/>
            <a:ext cx="780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placeholder</a:t>
            </a:r>
            <a:endParaRPr lang="en-US" sz="1733" dirty="0"/>
          </a:p>
        </p:txBody>
      </p:sp>
      <p:sp>
        <p:nvSpPr>
          <p:cNvPr id="19" name="Text 17"/>
          <p:cNvSpPr/>
          <p:nvPr/>
        </p:nvSpPr>
        <p:spPr>
          <a:xfrm>
            <a:off x="3779520" y="5848873"/>
            <a:ext cx="7802880" cy="792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two trailing 1s allow the embedding to broadcast over the spatial dimensions (H×W) of any feature map in the decoder — no extra code needed.</a:t>
            </a:r>
            <a:endParaRPr lang="en-US" sz="1600" dirty="0"/>
          </a:p>
        </p:txBody>
      </p:sp>
      <p:sp>
        <p:nvSpPr>
          <p:cNvPr id="22" name="Shape 0">
            <a:extLst>
              <a:ext uri="{FF2B5EF4-FFF2-40B4-BE49-F238E27FC236}">
                <a16:creationId xmlns:a16="http://schemas.microsoft.com/office/drawing/2014/main" id="{E460C0F0-92DA-E5B2-97CB-F467F1D11D94}"/>
              </a:ext>
            </a:extLst>
          </p:cNvPr>
          <p:cNvSpPr/>
          <p:nvPr/>
        </p:nvSpPr>
        <p:spPr>
          <a:xfrm>
            <a:off x="0" y="0"/>
            <a:ext cx="12192000" cy="97536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3" name="Shape 1">
            <a:extLst>
              <a:ext uri="{FF2B5EF4-FFF2-40B4-BE49-F238E27FC236}">
                <a16:creationId xmlns:a16="http://schemas.microsoft.com/office/drawing/2014/main" id="{DB7095FA-62E4-318B-38B3-E8104DA8ED37}"/>
              </a:ext>
            </a:extLst>
          </p:cNvPr>
          <p:cNvSpPr/>
          <p:nvPr/>
        </p:nvSpPr>
        <p:spPr>
          <a:xfrm>
            <a:off x="487680" y="170688"/>
            <a:ext cx="877824" cy="609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4" name="Text 2">
            <a:extLst>
              <a:ext uri="{FF2B5EF4-FFF2-40B4-BE49-F238E27FC236}">
                <a16:creationId xmlns:a16="http://schemas.microsoft.com/office/drawing/2014/main" id="{B0661D70-81BC-57FF-3B56-A5F59A2BB715}"/>
              </a:ext>
            </a:extLst>
          </p:cNvPr>
          <p:cNvSpPr/>
          <p:nvPr/>
        </p:nvSpPr>
        <p:spPr>
          <a:xfrm>
            <a:off x="487680" y="170688"/>
            <a:ext cx="877824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 1</a:t>
            </a:r>
            <a:endParaRPr lang="en-US" sz="1467" dirty="0"/>
          </a:p>
        </p:txBody>
      </p:sp>
      <p:sp>
        <p:nvSpPr>
          <p:cNvPr id="35" name="Text 3">
            <a:extLst>
              <a:ext uri="{FF2B5EF4-FFF2-40B4-BE49-F238E27FC236}">
                <a16:creationId xmlns:a16="http://schemas.microsoft.com/office/drawing/2014/main" id="{54FBFC65-9088-D76C-52C8-575453465CED}"/>
              </a:ext>
            </a:extLst>
          </p:cNvPr>
          <p:cNvSpPr/>
          <p:nvPr/>
        </p:nvSpPr>
        <p:spPr>
          <a:xfrm>
            <a:off x="1511808" y="195072"/>
            <a:ext cx="10192512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93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Embedding with t = 42</a:t>
            </a:r>
          </a:p>
        </p:txBody>
      </p:sp>
      <p:sp>
        <p:nvSpPr>
          <p:cNvPr id="36" name="Shape 4">
            <a:extLst>
              <a:ext uri="{FF2B5EF4-FFF2-40B4-BE49-F238E27FC236}">
                <a16:creationId xmlns:a16="http://schemas.microsoft.com/office/drawing/2014/main" id="{3EA3B80B-503E-5A60-3823-B88973D1FF45}"/>
              </a:ext>
            </a:extLst>
          </p:cNvPr>
          <p:cNvSpPr/>
          <p:nvPr/>
        </p:nvSpPr>
        <p:spPr>
          <a:xfrm>
            <a:off x="487680" y="926592"/>
            <a:ext cx="11216640" cy="580900"/>
          </a:xfrm>
          <a:prstGeom prst="rect">
            <a:avLst/>
          </a:prstGeom>
          <a:solidFill>
            <a:srgbClr val="E3F2FD"/>
          </a:solidFill>
          <a:ln w="10160">
            <a:solidFill>
              <a:srgbClr val="1565C0"/>
            </a:solidFill>
            <a:prstDash val="solid"/>
          </a:ln>
        </p:spPr>
      </p:sp>
      <p:sp>
        <p:nvSpPr>
          <p:cNvPr id="37" name="Text 5">
            <a:extLst>
              <a:ext uri="{FF2B5EF4-FFF2-40B4-BE49-F238E27FC236}">
                <a16:creationId xmlns:a16="http://schemas.microsoft.com/office/drawing/2014/main" id="{48D6898E-81B6-F57C-D005-0F537882D3A5}"/>
              </a:ext>
            </a:extLst>
          </p:cNvPr>
          <p:cNvSpPr/>
          <p:nvPr/>
        </p:nvSpPr>
        <p:spPr>
          <a:xfrm>
            <a:off x="658368" y="950976"/>
            <a:ext cx="1085088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i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 Suppose the time step value is  42 . Modify the code for creating the two time embeddings to create two time embeddings with embedding dimensions  512  and  256 , respectively. Then, print out the shape of the two time embeddings.</a:t>
            </a:r>
            <a:endParaRPr lang="en-US" sz="1333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7536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87680" y="170688"/>
            <a:ext cx="877824" cy="609600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87680" y="170688"/>
            <a:ext cx="877824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 2</a:t>
            </a:r>
            <a:endParaRPr lang="en-US" sz="1467" dirty="0"/>
          </a:p>
        </p:txBody>
      </p:sp>
      <p:sp>
        <p:nvSpPr>
          <p:cNvPr id="5" name="Text 3"/>
          <p:cNvSpPr/>
          <p:nvPr/>
        </p:nvSpPr>
        <p:spPr>
          <a:xfrm>
            <a:off x="1511808" y="195072"/>
            <a:ext cx="10192512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933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Embedding for 4 Samples</a:t>
            </a:r>
          </a:p>
        </p:txBody>
      </p:sp>
      <p:sp>
        <p:nvSpPr>
          <p:cNvPr id="6" name="Shape 4"/>
          <p:cNvSpPr/>
          <p:nvPr/>
        </p:nvSpPr>
        <p:spPr>
          <a:xfrm>
            <a:off x="487680" y="926592"/>
            <a:ext cx="11216640" cy="512064"/>
          </a:xfrm>
          <a:prstGeom prst="rect">
            <a:avLst/>
          </a:prstGeom>
          <a:solidFill>
            <a:srgbClr val="E3F2FD"/>
          </a:solidFill>
          <a:ln w="10160">
            <a:solidFill>
              <a:srgbClr val="1565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950976"/>
            <a:ext cx="1085088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i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 Suppose there are four labels in the batch with values  1, 3, 5 and 7, respectively. Modify the code for generating label embeddings to create two label embeddings. Then, print out the shape of the two label embeddings.</a:t>
            </a:r>
            <a:endParaRPr lang="en-US" sz="1333" dirty="0"/>
          </a:p>
        </p:txBody>
      </p:sp>
      <p:sp>
        <p:nvSpPr>
          <p:cNvPr id="8" name="Shape 6"/>
          <p:cNvSpPr/>
          <p:nvPr/>
        </p:nvSpPr>
        <p:spPr>
          <a:xfrm>
            <a:off x="487680" y="1560575"/>
            <a:ext cx="11216640" cy="4881321"/>
          </a:xfrm>
          <a:prstGeom prst="rect">
            <a:avLst/>
          </a:prstGeom>
          <a:solidFill>
            <a:srgbClr val="1E2A3A"/>
          </a:solidFill>
          <a:ln w="10160">
            <a:solidFill>
              <a:srgbClr val="00E5FF"/>
            </a:solidFill>
            <a:prstDash val="solid"/>
          </a:ln>
        </p:spPr>
        <p:txBody>
          <a:bodyPr/>
          <a:lstStyle/>
          <a:p>
            <a:r>
              <a:rPr lang="en-US" sz="1310" dirty="0" err="1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n_classes</a:t>
            </a:r>
            <a:r>
              <a:rPr lang="en-US" sz="131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10</a:t>
            </a:r>
          </a:p>
          <a:p>
            <a:r>
              <a:rPr lang="en-US" sz="131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contextembed1 = </a:t>
            </a:r>
            <a:r>
              <a:rPr lang="en-US" sz="1310" dirty="0" err="1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EmbedLayer</a:t>
            </a:r>
            <a:r>
              <a:rPr lang="en-US" sz="131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310" dirty="0" err="1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n_classes</a:t>
            </a:r>
            <a:r>
              <a:rPr lang="en-US" sz="131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512)   # label → 512-dim embedding</a:t>
            </a:r>
          </a:p>
          <a:p>
            <a:r>
              <a:rPr lang="en-US" sz="131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contextembed2 = </a:t>
            </a:r>
            <a:r>
              <a:rPr lang="en-US" sz="1310" dirty="0" err="1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EmbedLayer</a:t>
            </a:r>
            <a:r>
              <a:rPr lang="en-US" sz="131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310" dirty="0" err="1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n_classes</a:t>
            </a:r>
            <a:r>
              <a:rPr lang="en-US" sz="131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256)   # label → 256-dim embedding</a:t>
            </a:r>
          </a:p>
          <a:p>
            <a:endParaRPr lang="en-US" sz="1310" dirty="0">
              <a:solidFill>
                <a:srgbClr val="A8D8EA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r>
              <a:rPr lang="en-US" sz="131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label = </a:t>
            </a:r>
            <a:r>
              <a:rPr lang="en-US" sz="1310" dirty="0" err="1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torch.tensor</a:t>
            </a:r>
            <a:r>
              <a:rPr lang="en-US" sz="131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([1, 3, 5, 7]).long()    # batch of 4 labels</a:t>
            </a:r>
          </a:p>
          <a:p>
            <a:endParaRPr lang="en-US" sz="1310" dirty="0">
              <a:solidFill>
                <a:srgbClr val="A8D8EA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r>
              <a:rPr lang="en-US" sz="131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Step 1 – Bernoulli mask  (10 % probability of hiding the label → CFG)</a:t>
            </a:r>
          </a:p>
          <a:p>
            <a:r>
              <a:rPr lang="en-US" sz="1310" dirty="0" err="1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context_mask</a:t>
            </a:r>
            <a:r>
              <a:rPr lang="en-US" sz="131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310" dirty="0" err="1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torch.bernoulli</a:t>
            </a:r>
            <a:r>
              <a:rPr lang="en-US" sz="131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310" dirty="0" err="1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torch.zeros_like</a:t>
            </a:r>
            <a:r>
              <a:rPr lang="en-US" sz="131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(label) + 0.1) # shape: (4,)  values: 0 or 1</a:t>
            </a:r>
          </a:p>
          <a:p>
            <a:endParaRPr lang="en-US" sz="1310" dirty="0">
              <a:solidFill>
                <a:srgbClr val="A8D8EA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r>
              <a:rPr lang="en-US" sz="131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Step 2 – One-hot encode  (each label → 10-value vector)</a:t>
            </a:r>
          </a:p>
          <a:p>
            <a:r>
              <a:rPr lang="en-US" sz="1310" dirty="0" err="1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onehot</a:t>
            </a:r>
            <a:r>
              <a:rPr lang="en-US" sz="131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310" dirty="0" err="1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F.one_hot</a:t>
            </a:r>
            <a:r>
              <a:rPr lang="en-US" sz="131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(label, </a:t>
            </a:r>
            <a:r>
              <a:rPr lang="en-US" sz="1310" dirty="0" err="1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num_classes</a:t>
            </a:r>
            <a:r>
              <a:rPr lang="en-US" sz="131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310" dirty="0" err="1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n_classes</a:t>
            </a:r>
            <a:r>
              <a:rPr lang="en-US" sz="131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).float()   # (4, 10)</a:t>
            </a:r>
          </a:p>
          <a:p>
            <a:endParaRPr lang="en-US" sz="1310" dirty="0">
              <a:solidFill>
                <a:srgbClr val="A8D8EA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r>
              <a:rPr lang="en-US" sz="131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Step 3 – Apply mask  (masked rows become all -1 → embedding ignores them)</a:t>
            </a:r>
          </a:p>
          <a:p>
            <a:r>
              <a:rPr lang="en-US" sz="1310" dirty="0" err="1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context_mask</a:t>
            </a:r>
            <a:r>
              <a:rPr lang="en-US" sz="131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310" dirty="0" err="1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context_mask</a:t>
            </a:r>
            <a:r>
              <a:rPr lang="en-US" sz="131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[:, None]                   # (4, 1)</a:t>
            </a:r>
          </a:p>
          <a:p>
            <a:r>
              <a:rPr lang="en-US" sz="1310" dirty="0" err="1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context_mask</a:t>
            </a:r>
            <a:r>
              <a:rPr lang="en-US" sz="131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310" dirty="0" err="1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context_mask.repeat</a:t>
            </a:r>
            <a:r>
              <a:rPr lang="en-US" sz="131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(1, </a:t>
            </a:r>
            <a:r>
              <a:rPr lang="en-US" sz="1310" dirty="0" err="1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n_classes</a:t>
            </a:r>
            <a:r>
              <a:rPr lang="en-US" sz="131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      # (4, 10)</a:t>
            </a:r>
          </a:p>
          <a:p>
            <a:r>
              <a:rPr lang="en-US" sz="1310" dirty="0" err="1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context_mask</a:t>
            </a:r>
            <a:r>
              <a:rPr lang="en-US" sz="131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(-1 * (1 - </a:t>
            </a:r>
            <a:r>
              <a:rPr lang="en-US" sz="1310" dirty="0" err="1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context_mask</a:t>
            </a:r>
            <a:r>
              <a:rPr lang="en-US" sz="131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               # 0→-1, 1→0</a:t>
            </a:r>
          </a:p>
          <a:p>
            <a:r>
              <a:rPr lang="en-US" sz="131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 = </a:t>
            </a:r>
            <a:r>
              <a:rPr lang="en-US" sz="1310" dirty="0" err="1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onehot</a:t>
            </a:r>
            <a:r>
              <a:rPr lang="en-US" sz="131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* </a:t>
            </a:r>
            <a:r>
              <a:rPr lang="en-US" sz="1310" dirty="0" err="1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context_mask</a:t>
            </a:r>
            <a:r>
              <a:rPr lang="en-US" sz="131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 # (4, 10)</a:t>
            </a:r>
          </a:p>
          <a:p>
            <a:endParaRPr lang="en-US" sz="1310" dirty="0">
              <a:solidFill>
                <a:srgbClr val="A8D8EA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r>
              <a:rPr lang="en-US" sz="131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Step 4 – Embed and reshape</a:t>
            </a:r>
          </a:p>
          <a:p>
            <a:r>
              <a:rPr lang="en-US" sz="131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cemb1 = contextembed1(c).view(-1, 512, 1, 1)   # (4, 512, 1, 1)</a:t>
            </a:r>
          </a:p>
          <a:p>
            <a:r>
              <a:rPr lang="en-US" sz="131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cemb2 = contextembed2(c).view(-1, 256, 1, 1)   # (4, 256, 1, 1)</a:t>
            </a:r>
          </a:p>
          <a:p>
            <a:endParaRPr lang="en-US" sz="1310" dirty="0">
              <a:solidFill>
                <a:srgbClr val="A8D8EA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r>
              <a:rPr lang="en-US" sz="131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print("Shape of first  label embedding:", cemb1.shape)</a:t>
            </a:r>
          </a:p>
          <a:p>
            <a:r>
              <a:rPr lang="en-US" sz="131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print("Shape of second label embedding:", cemb2.shape)</a:t>
            </a:r>
          </a:p>
        </p:txBody>
      </p:sp>
      <p:sp>
        <p:nvSpPr>
          <p:cNvPr id="9" name="Text 7"/>
          <p:cNvSpPr/>
          <p:nvPr/>
        </p:nvSpPr>
        <p:spPr>
          <a:xfrm>
            <a:off x="658368" y="1682496"/>
            <a:ext cx="10875264" cy="498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endParaRPr lang="en-US" sz="1307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FCCB47-622D-8B49-A8D4-0799CBF0A5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624FF48-75C0-D9AD-5E2C-B15B50D231DC}"/>
              </a:ext>
            </a:extLst>
          </p:cNvPr>
          <p:cNvSpPr/>
          <p:nvPr/>
        </p:nvSpPr>
        <p:spPr>
          <a:xfrm>
            <a:off x="0" y="0"/>
            <a:ext cx="12192000" cy="97536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921B662F-F3F0-2187-5637-8302610FF560}"/>
              </a:ext>
            </a:extLst>
          </p:cNvPr>
          <p:cNvSpPr/>
          <p:nvPr/>
        </p:nvSpPr>
        <p:spPr>
          <a:xfrm>
            <a:off x="487680" y="170688"/>
            <a:ext cx="877824" cy="609600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9A03BAF-28CE-29A9-8BDB-18D2307EEB61}"/>
              </a:ext>
            </a:extLst>
          </p:cNvPr>
          <p:cNvSpPr/>
          <p:nvPr/>
        </p:nvSpPr>
        <p:spPr>
          <a:xfrm>
            <a:off x="487680" y="170688"/>
            <a:ext cx="877824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 2</a:t>
            </a:r>
            <a:endParaRPr lang="en-US" sz="1467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A837D47D-6B64-0E70-295D-5350AB124C1E}"/>
              </a:ext>
            </a:extLst>
          </p:cNvPr>
          <p:cNvSpPr/>
          <p:nvPr/>
        </p:nvSpPr>
        <p:spPr>
          <a:xfrm>
            <a:off x="1511808" y="195072"/>
            <a:ext cx="10192512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933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Embedding for 4 Samples</a:t>
            </a: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9615324C-38B6-4052-D706-38FF48FF9E64}"/>
              </a:ext>
            </a:extLst>
          </p:cNvPr>
          <p:cNvSpPr/>
          <p:nvPr/>
        </p:nvSpPr>
        <p:spPr>
          <a:xfrm>
            <a:off x="487680" y="926592"/>
            <a:ext cx="11216640" cy="512064"/>
          </a:xfrm>
          <a:prstGeom prst="rect">
            <a:avLst/>
          </a:prstGeom>
          <a:solidFill>
            <a:srgbClr val="E3F2FD"/>
          </a:solidFill>
          <a:ln w="10160">
            <a:solidFill>
              <a:srgbClr val="1565C0"/>
            </a:solidFill>
            <a:prstDash val="solid"/>
          </a:ln>
        </p:spPr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65F7D433-469A-BCFF-62B8-3AD1CD926427}"/>
              </a:ext>
            </a:extLst>
          </p:cNvPr>
          <p:cNvSpPr/>
          <p:nvPr/>
        </p:nvSpPr>
        <p:spPr>
          <a:xfrm>
            <a:off x="658368" y="950976"/>
            <a:ext cx="1085088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i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 Suppose there are four labels in the batch with values  1, 3, 5 and 7, respectively. Modify the code for generating label embeddings to create two label embeddings. Then, print out the shape of the two label embeddings.</a:t>
            </a:r>
            <a:endParaRPr lang="en-US" sz="1333" dirty="0"/>
          </a:p>
        </p:txBody>
      </p:sp>
      <p:sp>
        <p:nvSpPr>
          <p:cNvPr id="10" name="Shape 5">
            <a:extLst>
              <a:ext uri="{FF2B5EF4-FFF2-40B4-BE49-F238E27FC236}">
                <a16:creationId xmlns:a16="http://schemas.microsoft.com/office/drawing/2014/main" id="{58863DB7-5CFD-8DF1-9672-C7019523943B}"/>
              </a:ext>
            </a:extLst>
          </p:cNvPr>
          <p:cNvSpPr/>
          <p:nvPr/>
        </p:nvSpPr>
        <p:spPr>
          <a:xfrm>
            <a:off x="487680" y="1633728"/>
            <a:ext cx="11338560" cy="877824"/>
          </a:xfrm>
          <a:prstGeom prst="rect">
            <a:avLst/>
          </a:prstGeom>
          <a:solidFill>
            <a:srgbClr val="E8F5E9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11" name="Text 6">
            <a:extLst>
              <a:ext uri="{FF2B5EF4-FFF2-40B4-BE49-F238E27FC236}">
                <a16:creationId xmlns:a16="http://schemas.microsoft.com/office/drawing/2014/main" id="{FC104689-32D0-820F-60BC-71DD493AB87F}"/>
              </a:ext>
            </a:extLst>
          </p:cNvPr>
          <p:cNvSpPr/>
          <p:nvPr/>
        </p:nvSpPr>
        <p:spPr>
          <a:xfrm>
            <a:off x="658368" y="1755648"/>
            <a:ext cx="10997184" cy="6339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333" b="1" dirty="0">
                <a:solidFill>
                  <a:srgbClr val="2E7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
</a:t>
            </a:r>
            <a:r>
              <a:rPr lang="en-US" sz="1333" dirty="0">
                <a:solidFill>
                  <a:srgbClr val="1B4F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Shape of first  label embedding:  </a:t>
            </a:r>
            <a:r>
              <a:rPr lang="en-US" sz="1333" dirty="0" err="1">
                <a:solidFill>
                  <a:srgbClr val="1B4F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torch.Size</a:t>
            </a:r>
            <a:r>
              <a:rPr lang="en-US" sz="1333" dirty="0">
                <a:solidFill>
                  <a:srgbClr val="1B4F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([4, 512, 1, 1])</a:t>
            </a:r>
            <a:endParaRPr lang="en-US" sz="1333" dirty="0"/>
          </a:p>
          <a:p>
            <a:r>
              <a:rPr lang="en-US" sz="1333" dirty="0">
                <a:solidFill>
                  <a:srgbClr val="1B4F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Shape of second label embedding:  </a:t>
            </a:r>
            <a:r>
              <a:rPr lang="en-US" sz="1333" dirty="0" err="1">
                <a:solidFill>
                  <a:srgbClr val="1B4F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torch.Size</a:t>
            </a:r>
            <a:r>
              <a:rPr lang="en-US" sz="1333" dirty="0">
                <a:solidFill>
                  <a:srgbClr val="1B4F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([4, 256, 1, 1])</a:t>
            </a:r>
            <a:endParaRPr lang="en-US" sz="1333" dirty="0"/>
          </a:p>
        </p:txBody>
      </p:sp>
      <p:sp>
        <p:nvSpPr>
          <p:cNvPr id="12" name="Shape 52">
            <a:extLst>
              <a:ext uri="{FF2B5EF4-FFF2-40B4-BE49-F238E27FC236}">
                <a16:creationId xmlns:a16="http://schemas.microsoft.com/office/drawing/2014/main" id="{3E16DE99-6446-93B6-189B-52F6D1F5C999}"/>
              </a:ext>
            </a:extLst>
          </p:cNvPr>
          <p:cNvSpPr/>
          <p:nvPr/>
        </p:nvSpPr>
        <p:spPr>
          <a:xfrm>
            <a:off x="487680" y="2901080"/>
            <a:ext cx="11216640" cy="463296"/>
          </a:xfrm>
          <a:prstGeom prst="rect">
            <a:avLst/>
          </a:prstGeom>
          <a:solidFill>
            <a:srgbClr val="FFF8E1"/>
          </a:solidFill>
          <a:ln w="10160">
            <a:solidFill>
              <a:srgbClr val="F9A825"/>
            </a:solidFill>
            <a:prstDash val="solid"/>
          </a:ln>
        </p:spPr>
      </p:sp>
      <p:sp>
        <p:nvSpPr>
          <p:cNvPr id="13" name="Text 53">
            <a:extLst>
              <a:ext uri="{FF2B5EF4-FFF2-40B4-BE49-F238E27FC236}">
                <a16:creationId xmlns:a16="http://schemas.microsoft.com/office/drawing/2014/main" id="{036C0EB0-4959-28BD-33B0-85C760B2865B}"/>
              </a:ext>
            </a:extLst>
          </p:cNvPr>
          <p:cNvSpPr/>
          <p:nvPr/>
        </p:nvSpPr>
        <p:spPr>
          <a:xfrm>
            <a:off x="658368" y="3010808"/>
            <a:ext cx="10948416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0" dirty="0">
                <a:solidFill>
                  <a:srgbClr val="5D4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</a:t>
            </a:r>
            <a:r>
              <a:rPr lang="en-US" sz="1330" dirty="0" err="1">
                <a:solidFill>
                  <a:srgbClr val="5D4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EmbedLayer</a:t>
            </a:r>
            <a:r>
              <a:rPr lang="en-US" sz="1330" dirty="0">
                <a:solidFill>
                  <a:srgbClr val="5D4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already defined in laboratory. Just copy it </a:t>
            </a:r>
            <a:r>
              <a:rPr lang="en-US" sz="1330" dirty="0">
                <a:solidFill>
                  <a:srgbClr val="5D4037"/>
                </a:solidFill>
                <a:latin typeface="Calibri" pitchFamily="34" charset="0"/>
                <a:ea typeface="Calibri" pitchFamily="34" charset="-122"/>
                <a:cs typeface="Calibri" pitchFamily="34" charset="-120"/>
                <a:sym typeface="Wingdings" panose="05000000000000000000" pitchFamily="2" charset="2"/>
              </a:rPr>
              <a:t></a:t>
            </a:r>
            <a:endParaRPr lang="en-US" sz="1330" dirty="0"/>
          </a:p>
        </p:txBody>
      </p:sp>
      <p:sp>
        <p:nvSpPr>
          <p:cNvPr id="62" name="Shape 3">
            <a:extLst>
              <a:ext uri="{FF2B5EF4-FFF2-40B4-BE49-F238E27FC236}">
                <a16:creationId xmlns:a16="http://schemas.microsoft.com/office/drawing/2014/main" id="{5A3AEB2F-DBFB-1ACD-75A9-F778AB9F490B}"/>
              </a:ext>
            </a:extLst>
          </p:cNvPr>
          <p:cNvSpPr/>
          <p:nvPr/>
        </p:nvSpPr>
        <p:spPr>
          <a:xfrm>
            <a:off x="487680" y="3753904"/>
            <a:ext cx="11216640" cy="347472"/>
          </a:xfrm>
          <a:prstGeom prst="rect">
            <a:avLst/>
          </a:prstGeom>
          <a:solidFill>
            <a:srgbClr val="1F5BAD"/>
          </a:solidFill>
          <a:ln w="12700">
            <a:solidFill>
              <a:srgbClr val="1F5BAD"/>
            </a:solidFill>
            <a:prstDash val="solid"/>
          </a:ln>
        </p:spPr>
      </p:sp>
      <p:sp>
        <p:nvSpPr>
          <p:cNvPr id="63" name="Text 4">
            <a:extLst>
              <a:ext uri="{FF2B5EF4-FFF2-40B4-BE49-F238E27FC236}">
                <a16:creationId xmlns:a16="http://schemas.microsoft.com/office/drawing/2014/main" id="{4F9E506D-6286-ACAE-7D4D-65B2EBC25EC8}"/>
              </a:ext>
            </a:extLst>
          </p:cNvPr>
          <p:cNvSpPr/>
          <p:nvPr/>
        </p:nvSpPr>
        <p:spPr>
          <a:xfrm>
            <a:off x="487680" y="3753904"/>
            <a:ext cx="11216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shapes explained</a:t>
            </a:r>
            <a:endParaRPr lang="en-US" sz="1400" dirty="0"/>
          </a:p>
        </p:txBody>
      </p:sp>
      <p:sp>
        <p:nvSpPr>
          <p:cNvPr id="64" name="Shape 5">
            <a:extLst>
              <a:ext uri="{FF2B5EF4-FFF2-40B4-BE49-F238E27FC236}">
                <a16:creationId xmlns:a16="http://schemas.microsoft.com/office/drawing/2014/main" id="{DE75A86F-C984-2566-DA0D-41AE5DD4F4B5}"/>
              </a:ext>
            </a:extLst>
          </p:cNvPr>
          <p:cNvSpPr/>
          <p:nvPr/>
        </p:nvSpPr>
        <p:spPr>
          <a:xfrm>
            <a:off x="487679" y="4156240"/>
            <a:ext cx="1809135" cy="420624"/>
          </a:xfrm>
          <a:prstGeom prst="rect">
            <a:avLst/>
          </a:prstGeom>
          <a:solidFill>
            <a:srgbClr val="1F5BAD"/>
          </a:solidFill>
          <a:ln w="12700">
            <a:solidFill>
              <a:srgbClr val="1F5BAD"/>
            </a:solidFill>
            <a:prstDash val="solid"/>
          </a:ln>
        </p:spPr>
      </p:sp>
      <p:sp>
        <p:nvSpPr>
          <p:cNvPr id="65" name="Text 6">
            <a:extLst>
              <a:ext uri="{FF2B5EF4-FFF2-40B4-BE49-F238E27FC236}">
                <a16:creationId xmlns:a16="http://schemas.microsoft.com/office/drawing/2014/main" id="{F6A0824F-B1EE-571C-5F01-1C56C4DCD2F4}"/>
              </a:ext>
            </a:extLst>
          </p:cNvPr>
          <p:cNvSpPr/>
          <p:nvPr/>
        </p:nvSpPr>
        <p:spPr>
          <a:xfrm>
            <a:off x="487679" y="4156240"/>
            <a:ext cx="1399033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66" name="Shape 7">
            <a:extLst>
              <a:ext uri="{FF2B5EF4-FFF2-40B4-BE49-F238E27FC236}">
                <a16:creationId xmlns:a16="http://schemas.microsoft.com/office/drawing/2014/main" id="{BF21C51A-72BD-EA14-7CAF-D5408201AB4B}"/>
              </a:ext>
            </a:extLst>
          </p:cNvPr>
          <p:cNvSpPr/>
          <p:nvPr/>
        </p:nvSpPr>
        <p:spPr>
          <a:xfrm>
            <a:off x="1886712" y="4156240"/>
            <a:ext cx="9817608" cy="420624"/>
          </a:xfrm>
          <a:prstGeom prst="rect">
            <a:avLst/>
          </a:prstGeom>
          <a:solidFill>
            <a:srgbClr val="EEF3FB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67" name="Text 8">
            <a:extLst>
              <a:ext uri="{FF2B5EF4-FFF2-40B4-BE49-F238E27FC236}">
                <a16:creationId xmlns:a16="http://schemas.microsoft.com/office/drawing/2014/main" id="{594DD288-79E9-6ADB-8E60-3B8019937779}"/>
              </a:ext>
            </a:extLst>
          </p:cNvPr>
          <p:cNvSpPr/>
          <p:nvPr/>
        </p:nvSpPr>
        <p:spPr>
          <a:xfrm>
            <a:off x="1996440" y="4156240"/>
            <a:ext cx="910598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size (labels 1, 3, 5, 7 → 4 samples).</a:t>
            </a:r>
            <a:endParaRPr lang="en-US" sz="1200" dirty="0"/>
          </a:p>
        </p:txBody>
      </p:sp>
      <p:sp>
        <p:nvSpPr>
          <p:cNvPr id="68" name="Shape 9">
            <a:extLst>
              <a:ext uri="{FF2B5EF4-FFF2-40B4-BE49-F238E27FC236}">
                <a16:creationId xmlns:a16="http://schemas.microsoft.com/office/drawing/2014/main" id="{5EBD312F-C3D2-E3E3-87CE-57FD54C2244E}"/>
              </a:ext>
            </a:extLst>
          </p:cNvPr>
          <p:cNvSpPr/>
          <p:nvPr/>
        </p:nvSpPr>
        <p:spPr>
          <a:xfrm>
            <a:off x="487679" y="4631728"/>
            <a:ext cx="1809135" cy="420624"/>
          </a:xfrm>
          <a:prstGeom prst="rect">
            <a:avLst/>
          </a:prstGeom>
          <a:solidFill>
            <a:srgbClr val="1F5BAD"/>
          </a:solidFill>
          <a:ln w="12700">
            <a:solidFill>
              <a:srgbClr val="1F5BAD"/>
            </a:solidFill>
            <a:prstDash val="solid"/>
          </a:ln>
        </p:spPr>
      </p:sp>
      <p:sp>
        <p:nvSpPr>
          <p:cNvPr id="69" name="Text 10">
            <a:extLst>
              <a:ext uri="{FF2B5EF4-FFF2-40B4-BE49-F238E27FC236}">
                <a16:creationId xmlns:a16="http://schemas.microsoft.com/office/drawing/2014/main" id="{021C144F-7FAE-764E-4AB5-1D1DC7772D56}"/>
              </a:ext>
            </a:extLst>
          </p:cNvPr>
          <p:cNvSpPr/>
          <p:nvPr/>
        </p:nvSpPr>
        <p:spPr>
          <a:xfrm>
            <a:off x="487679" y="4631728"/>
            <a:ext cx="1399033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512 / 256</a:t>
            </a:r>
            <a:endParaRPr lang="en-US" sz="1400" dirty="0"/>
          </a:p>
        </p:txBody>
      </p:sp>
      <p:sp>
        <p:nvSpPr>
          <p:cNvPr id="70" name="Shape 11">
            <a:extLst>
              <a:ext uri="{FF2B5EF4-FFF2-40B4-BE49-F238E27FC236}">
                <a16:creationId xmlns:a16="http://schemas.microsoft.com/office/drawing/2014/main" id="{B65A634D-598F-3D00-F434-E1879396D130}"/>
              </a:ext>
            </a:extLst>
          </p:cNvPr>
          <p:cNvSpPr/>
          <p:nvPr/>
        </p:nvSpPr>
        <p:spPr>
          <a:xfrm>
            <a:off x="1886712" y="4631728"/>
            <a:ext cx="9817608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71" name="Text 12">
            <a:extLst>
              <a:ext uri="{FF2B5EF4-FFF2-40B4-BE49-F238E27FC236}">
                <a16:creationId xmlns:a16="http://schemas.microsoft.com/office/drawing/2014/main" id="{151033A0-82F3-DD93-03BB-92FE082540F6}"/>
              </a:ext>
            </a:extLst>
          </p:cNvPr>
          <p:cNvSpPr/>
          <p:nvPr/>
        </p:nvSpPr>
        <p:spPr>
          <a:xfrm>
            <a:off x="1996440" y="4631728"/>
            <a:ext cx="910598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EmbedLayer output dimension — chosen to match the U-Net decoder feature channels.</a:t>
            </a:r>
            <a:endParaRPr lang="en-US" sz="1200" dirty="0"/>
          </a:p>
        </p:txBody>
      </p:sp>
      <p:sp>
        <p:nvSpPr>
          <p:cNvPr id="72" name="Shape 13">
            <a:extLst>
              <a:ext uri="{FF2B5EF4-FFF2-40B4-BE49-F238E27FC236}">
                <a16:creationId xmlns:a16="http://schemas.microsoft.com/office/drawing/2014/main" id="{5C2088A2-3AB5-8498-68BC-C6AC0C919B17}"/>
              </a:ext>
            </a:extLst>
          </p:cNvPr>
          <p:cNvSpPr/>
          <p:nvPr/>
        </p:nvSpPr>
        <p:spPr>
          <a:xfrm>
            <a:off x="487679" y="5107216"/>
            <a:ext cx="1399033" cy="420624"/>
          </a:xfrm>
          <a:prstGeom prst="rect">
            <a:avLst/>
          </a:prstGeom>
          <a:solidFill>
            <a:srgbClr val="1F5BAD"/>
          </a:solidFill>
          <a:ln w="12700">
            <a:solidFill>
              <a:srgbClr val="1F5BAD"/>
            </a:solidFill>
            <a:prstDash val="solid"/>
          </a:ln>
        </p:spPr>
      </p:sp>
      <p:sp>
        <p:nvSpPr>
          <p:cNvPr id="73" name="Text 14">
            <a:extLst>
              <a:ext uri="{FF2B5EF4-FFF2-40B4-BE49-F238E27FC236}">
                <a16:creationId xmlns:a16="http://schemas.microsoft.com/office/drawing/2014/main" id="{7F446742-A15F-8060-A315-689C3241E598}"/>
              </a:ext>
            </a:extLst>
          </p:cNvPr>
          <p:cNvSpPr/>
          <p:nvPr/>
        </p:nvSpPr>
        <p:spPr>
          <a:xfrm>
            <a:off x="487679" y="5107216"/>
            <a:ext cx="1399033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1, 1</a:t>
            </a:r>
            <a:endParaRPr lang="en-US" sz="1400" dirty="0"/>
          </a:p>
        </p:txBody>
      </p:sp>
      <p:sp>
        <p:nvSpPr>
          <p:cNvPr id="74" name="Shape 15">
            <a:extLst>
              <a:ext uri="{FF2B5EF4-FFF2-40B4-BE49-F238E27FC236}">
                <a16:creationId xmlns:a16="http://schemas.microsoft.com/office/drawing/2014/main" id="{269A37B1-B877-220A-BC83-19EB002F1258}"/>
              </a:ext>
            </a:extLst>
          </p:cNvPr>
          <p:cNvSpPr/>
          <p:nvPr/>
        </p:nvSpPr>
        <p:spPr>
          <a:xfrm>
            <a:off x="1886712" y="5107216"/>
            <a:ext cx="9817608" cy="420624"/>
          </a:xfrm>
          <a:prstGeom prst="rect">
            <a:avLst/>
          </a:prstGeom>
          <a:solidFill>
            <a:srgbClr val="EEF3FB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75" name="Text 16">
            <a:extLst>
              <a:ext uri="{FF2B5EF4-FFF2-40B4-BE49-F238E27FC236}">
                <a16:creationId xmlns:a16="http://schemas.microsoft.com/office/drawing/2014/main" id="{2AF766F4-CEA7-19A5-B8E5-16EDE2F1FCD9}"/>
              </a:ext>
            </a:extLst>
          </p:cNvPr>
          <p:cNvSpPr/>
          <p:nvPr/>
        </p:nvSpPr>
        <p:spPr>
          <a:xfrm>
            <a:off x="1996440" y="5107216"/>
            <a:ext cx="910598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broadcast dimensions — same as in Exercise 1.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48457059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7536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87680" y="170688"/>
            <a:ext cx="877824" cy="609600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87680" y="170688"/>
            <a:ext cx="877824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 3</a:t>
            </a:r>
            <a:endParaRPr lang="en-US" sz="1467" dirty="0"/>
          </a:p>
        </p:txBody>
      </p:sp>
      <p:sp>
        <p:nvSpPr>
          <p:cNvPr id="5" name="Text 3"/>
          <p:cNvSpPr/>
          <p:nvPr/>
        </p:nvSpPr>
        <p:spPr>
          <a:xfrm>
            <a:off x="1511808" y="195072"/>
            <a:ext cx="10192512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933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Low-Guidance Generation (</a:t>
            </a:r>
            <a:r>
              <a:rPr lang="en-US" sz="2933" b="1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guide_w</a:t>
            </a:r>
            <a:r>
              <a:rPr lang="en-US" sz="2933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1)</a:t>
            </a:r>
          </a:p>
        </p:txBody>
      </p:sp>
      <p:sp>
        <p:nvSpPr>
          <p:cNvPr id="6" name="Shape 4"/>
          <p:cNvSpPr/>
          <p:nvPr/>
        </p:nvSpPr>
        <p:spPr>
          <a:xfrm>
            <a:off x="487680" y="926592"/>
            <a:ext cx="11216640" cy="536448"/>
          </a:xfrm>
          <a:prstGeom prst="rect">
            <a:avLst/>
          </a:prstGeom>
          <a:solidFill>
            <a:srgbClr val="E3F2FD"/>
          </a:solidFill>
          <a:ln w="10160">
            <a:solidFill>
              <a:srgbClr val="1565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950976"/>
            <a:ext cx="1085088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i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 Generate  40  images by setting the guidance parameter to  1 . Then, plot the generated images in a  4×10  grid.</a:t>
            </a:r>
            <a:endParaRPr lang="en-US" sz="1333" dirty="0"/>
          </a:p>
        </p:txBody>
      </p:sp>
      <p:sp>
        <p:nvSpPr>
          <p:cNvPr id="8" name="Shape 6"/>
          <p:cNvSpPr/>
          <p:nvPr/>
        </p:nvSpPr>
        <p:spPr>
          <a:xfrm>
            <a:off x="487680" y="1560576"/>
            <a:ext cx="11216640" cy="4611624"/>
          </a:xfrm>
          <a:prstGeom prst="rect">
            <a:avLst/>
          </a:prstGeom>
          <a:solidFill>
            <a:srgbClr val="1E2A3A"/>
          </a:solidFill>
          <a:ln w="10160">
            <a:solidFill>
              <a:srgbClr val="00E5FF"/>
            </a:solidFill>
            <a:prstDash val="solid"/>
          </a:ln>
        </p:spPr>
        <p:txBody>
          <a:bodyPr/>
          <a:lstStyle/>
          <a:p>
            <a:r>
              <a:rPr lang="en-US" sz="1310" dirty="0" err="1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n_sample</a:t>
            </a:r>
            <a:r>
              <a:rPr lang="en-US" sz="131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4 * </a:t>
            </a:r>
            <a:r>
              <a:rPr lang="en-US" sz="1310" dirty="0" err="1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n_classes</a:t>
            </a:r>
            <a:r>
              <a:rPr lang="en-US" sz="131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# 4 × 10 = 40 images</a:t>
            </a:r>
          </a:p>
          <a:p>
            <a:endParaRPr lang="en-US" sz="1310" dirty="0">
              <a:solidFill>
                <a:srgbClr val="A8D8EA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r>
              <a:rPr lang="en-US" sz="131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Load trained model (same as in the lab)</a:t>
            </a:r>
          </a:p>
          <a:p>
            <a:r>
              <a:rPr lang="en-US" sz="1310" dirty="0" err="1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model.load_state_dict</a:t>
            </a:r>
            <a:r>
              <a:rPr lang="en-US" sz="131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310" dirty="0" err="1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torch.load</a:t>
            </a:r>
            <a:r>
              <a:rPr lang="en-US" sz="131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("files/</a:t>
            </a:r>
            <a:r>
              <a:rPr lang="en-US" sz="1310" dirty="0" err="1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conditional.pth</a:t>
            </a:r>
            <a:r>
              <a:rPr lang="en-US" sz="131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", </a:t>
            </a:r>
            <a:r>
              <a:rPr lang="en-US" sz="1310" dirty="0" err="1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weights_only</a:t>
            </a:r>
            <a:r>
              <a:rPr lang="en-US" sz="131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=True, </a:t>
            </a:r>
            <a:r>
              <a:rPr lang="en-US" sz="1310" dirty="0" err="1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map_location</a:t>
            </a:r>
            <a:r>
              <a:rPr lang="en-US" sz="131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=device))</a:t>
            </a:r>
          </a:p>
          <a:p>
            <a:r>
              <a:rPr lang="en-US" sz="1310" dirty="0" err="1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ddpm.eval</a:t>
            </a:r>
            <a:r>
              <a:rPr lang="en-US" sz="131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</a:p>
          <a:p>
            <a:endParaRPr lang="en-US" sz="1310" dirty="0">
              <a:solidFill>
                <a:srgbClr val="A8D8EA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r>
              <a:rPr lang="en-US" sz="131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Generate with LOW guidance (</a:t>
            </a:r>
            <a:r>
              <a:rPr lang="en-US" sz="1310" dirty="0" err="1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guide_w</a:t>
            </a:r>
            <a:r>
              <a:rPr lang="en-US" sz="131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1)</a:t>
            </a:r>
          </a:p>
          <a:p>
            <a:r>
              <a:rPr lang="en-US" sz="1310" dirty="0" err="1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x_gen</a:t>
            </a:r>
            <a:r>
              <a:rPr lang="en-US" sz="131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_ = sample(</a:t>
            </a:r>
            <a:r>
              <a:rPr lang="en-US" sz="1310" dirty="0" err="1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ddpm</a:t>
            </a:r>
            <a:r>
              <a:rPr lang="en-US" sz="131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model, </a:t>
            </a:r>
            <a:r>
              <a:rPr lang="en-US" sz="1310" dirty="0" err="1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n_sample</a:t>
            </a:r>
            <a:r>
              <a:rPr lang="en-US" sz="131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(1, 28, 28),</a:t>
            </a:r>
          </a:p>
          <a:p>
            <a:r>
              <a:rPr lang="en-US" sz="131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device, </a:t>
            </a:r>
            <a:r>
              <a:rPr lang="en-US" sz="1310" dirty="0" err="1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guide_w</a:t>
            </a:r>
            <a:r>
              <a:rPr lang="en-US" sz="131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=1)           # ← only change vs lab</a:t>
            </a:r>
          </a:p>
          <a:p>
            <a:endParaRPr lang="en-US" sz="1310" dirty="0">
              <a:solidFill>
                <a:srgbClr val="A8D8EA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r>
              <a:rPr lang="en-US" sz="131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Plot in a 4 × 10 grid</a:t>
            </a:r>
          </a:p>
          <a:p>
            <a:r>
              <a:rPr lang="en-US" sz="131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matplotlib import </a:t>
            </a:r>
            <a:r>
              <a:rPr lang="en-US" sz="1310" dirty="0" err="1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pyplot</a:t>
            </a:r>
            <a:r>
              <a:rPr lang="en-US" sz="131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as </a:t>
            </a:r>
            <a:r>
              <a:rPr lang="en-US" sz="1310" dirty="0" err="1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</a:t>
            </a:r>
            <a:endParaRPr lang="en-US" sz="1310" dirty="0">
              <a:solidFill>
                <a:srgbClr val="A8D8EA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endParaRPr lang="en-US" sz="1310" dirty="0">
              <a:solidFill>
                <a:srgbClr val="A8D8EA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r>
              <a:rPr lang="en-US" sz="1310" dirty="0" err="1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plt.figure</a:t>
            </a:r>
            <a:r>
              <a:rPr lang="en-US" sz="131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310" dirty="0" err="1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figsize</a:t>
            </a:r>
            <a:r>
              <a:rPr lang="en-US" sz="131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=(10, 5), dpi=100)</a:t>
            </a:r>
          </a:p>
          <a:p>
            <a:r>
              <a:rPr lang="en-US" sz="131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</a:t>
            </a:r>
            <a:r>
              <a:rPr lang="en-US" sz="1310" dirty="0" err="1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r>
              <a:rPr lang="en-US" sz="131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in range(40):</a:t>
            </a:r>
          </a:p>
          <a:p>
            <a:r>
              <a:rPr lang="en-US" sz="131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310" dirty="0" err="1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plt.subplot</a:t>
            </a:r>
            <a:r>
              <a:rPr lang="en-US" sz="131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(4, 10, </a:t>
            </a:r>
            <a:r>
              <a:rPr lang="en-US" sz="1310" dirty="0" err="1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r>
              <a:rPr lang="en-US" sz="131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+ 1)</a:t>
            </a:r>
          </a:p>
          <a:p>
            <a:r>
              <a:rPr lang="en-US" sz="131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310" dirty="0" err="1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plt.imshow</a:t>
            </a:r>
            <a:r>
              <a:rPr lang="en-US" sz="131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310" dirty="0" err="1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x_gen</a:t>
            </a:r>
            <a:r>
              <a:rPr lang="en-US" sz="131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r>
              <a:rPr lang="en-US" sz="1310" dirty="0" err="1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r>
              <a:rPr lang="en-US" sz="131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].</a:t>
            </a:r>
            <a:r>
              <a:rPr lang="en-US" sz="1310" dirty="0" err="1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cpu</a:t>
            </a:r>
            <a:r>
              <a:rPr lang="en-US" sz="131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().permute(1, 2, 0) / 2 + 0.5, </a:t>
            </a:r>
            <a:r>
              <a:rPr lang="en-US" sz="1310" dirty="0" err="1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cmap</a:t>
            </a:r>
            <a:r>
              <a:rPr lang="en-US" sz="131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="binary")</a:t>
            </a:r>
          </a:p>
          <a:p>
            <a:r>
              <a:rPr lang="en-US" sz="131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310" dirty="0" err="1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plt.axis</a:t>
            </a:r>
            <a:r>
              <a:rPr lang="en-US" sz="131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("off")</a:t>
            </a:r>
          </a:p>
          <a:p>
            <a:r>
              <a:rPr lang="en-US" sz="131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 = </a:t>
            </a:r>
            <a:r>
              <a:rPr lang="en-US" sz="1310" dirty="0" err="1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r>
              <a:rPr lang="en-US" sz="131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% 10</a:t>
            </a:r>
          </a:p>
          <a:p>
            <a:r>
              <a:rPr lang="en-US" sz="131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310" dirty="0" err="1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plt.title</a:t>
            </a:r>
            <a:r>
              <a:rPr lang="en-US" sz="131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(f"{</a:t>
            </a:r>
            <a:r>
              <a:rPr lang="en-US" sz="1310" dirty="0" err="1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text_labels</a:t>
            </a:r>
            <a:r>
              <a:rPr lang="en-US" sz="131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[c]} ({c})", </a:t>
            </a:r>
            <a:r>
              <a:rPr lang="en-US" sz="1310" dirty="0" err="1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fontsize</a:t>
            </a:r>
            <a:r>
              <a:rPr lang="en-US" sz="131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=10)</a:t>
            </a:r>
          </a:p>
          <a:p>
            <a:r>
              <a:rPr lang="en-US" sz="1310" dirty="0" err="1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plt.tight_layout</a:t>
            </a:r>
            <a:r>
              <a:rPr lang="en-US" sz="131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</a:p>
          <a:p>
            <a:r>
              <a:rPr lang="en-US" sz="1310" dirty="0" err="1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plt.show</a:t>
            </a:r>
            <a:r>
              <a:rPr lang="en-US" sz="131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</a:p>
        </p:txBody>
      </p:sp>
      <p:sp>
        <p:nvSpPr>
          <p:cNvPr id="9" name="Text 7"/>
          <p:cNvSpPr/>
          <p:nvPr/>
        </p:nvSpPr>
        <p:spPr>
          <a:xfrm>
            <a:off x="658368" y="1682496"/>
            <a:ext cx="10875264" cy="2633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endParaRPr lang="en-US" sz="1307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A9BE72-5AFC-61E7-E224-B87673A0CD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5689230-6F82-2A92-8A9B-EBBC19288F68}"/>
              </a:ext>
            </a:extLst>
          </p:cNvPr>
          <p:cNvSpPr/>
          <p:nvPr/>
        </p:nvSpPr>
        <p:spPr>
          <a:xfrm>
            <a:off x="0" y="0"/>
            <a:ext cx="12192000" cy="97536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2153608D-CC7A-9E0B-B99F-B4872AF429BB}"/>
              </a:ext>
            </a:extLst>
          </p:cNvPr>
          <p:cNvSpPr/>
          <p:nvPr/>
        </p:nvSpPr>
        <p:spPr>
          <a:xfrm>
            <a:off x="487680" y="170688"/>
            <a:ext cx="877824" cy="609600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B38367DF-885F-2F70-9E8B-C68E5CFE2EE8}"/>
              </a:ext>
            </a:extLst>
          </p:cNvPr>
          <p:cNvSpPr/>
          <p:nvPr/>
        </p:nvSpPr>
        <p:spPr>
          <a:xfrm>
            <a:off x="487680" y="170688"/>
            <a:ext cx="877824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 3</a:t>
            </a:r>
            <a:endParaRPr lang="en-US" sz="1467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C8F948D4-F04F-AF14-A435-7838A2D9ACA2}"/>
              </a:ext>
            </a:extLst>
          </p:cNvPr>
          <p:cNvSpPr/>
          <p:nvPr/>
        </p:nvSpPr>
        <p:spPr>
          <a:xfrm>
            <a:off x="1511808" y="195072"/>
            <a:ext cx="10192512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933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Low-Guidance Generation (</a:t>
            </a:r>
            <a:r>
              <a:rPr lang="en-US" sz="2933" b="1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guide_w</a:t>
            </a:r>
            <a:r>
              <a:rPr lang="en-US" sz="2933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1)</a:t>
            </a: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28F79587-4843-1ECF-7FF5-58E3FC627413}"/>
              </a:ext>
            </a:extLst>
          </p:cNvPr>
          <p:cNvSpPr/>
          <p:nvPr/>
        </p:nvSpPr>
        <p:spPr>
          <a:xfrm>
            <a:off x="487680" y="926592"/>
            <a:ext cx="11216640" cy="536448"/>
          </a:xfrm>
          <a:prstGeom prst="rect">
            <a:avLst/>
          </a:prstGeom>
          <a:solidFill>
            <a:srgbClr val="E3F2FD"/>
          </a:solidFill>
          <a:ln w="10160">
            <a:solidFill>
              <a:srgbClr val="1565C0"/>
            </a:solidFill>
            <a:prstDash val="solid"/>
          </a:ln>
        </p:spPr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D2E8F6D7-1026-0C4E-9076-AA0BB141E2FA}"/>
              </a:ext>
            </a:extLst>
          </p:cNvPr>
          <p:cNvSpPr/>
          <p:nvPr/>
        </p:nvSpPr>
        <p:spPr>
          <a:xfrm>
            <a:off x="658368" y="950976"/>
            <a:ext cx="1085088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i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 Generate  40  images by setting the guidance parameter to  1 . Then, plot the generated images in a  4×10  grid.</a:t>
            </a:r>
            <a:endParaRPr lang="en-US" sz="1333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2F47DA4-41BB-CEC5-2CD0-E1D4A18138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8814" y="1898600"/>
            <a:ext cx="9654371" cy="45692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78889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9d258917-277f-42cd-a3cd-14c4e9ee58bc}" enabled="1" method="Standard" siteId="{38ae3bcd-9579-4fd4-adda-b42e1495d55a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14269</TotalTime>
  <Words>3777</Words>
  <Application>Microsoft Office PowerPoint</Application>
  <PresentationFormat>Widescreen</PresentationFormat>
  <Paragraphs>436</Paragraphs>
  <Slides>37</Slides>
  <Notes>36</Notes>
  <HiddenSlides>0</HiddenSlides>
  <MMClips>1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4" baseType="lpstr">
      <vt:lpstr>Aptos</vt:lpstr>
      <vt:lpstr>Aptos Display</vt:lpstr>
      <vt:lpstr>Arial</vt:lpstr>
      <vt:lpstr>Calibri</vt:lpstr>
      <vt:lpstr>Consolas</vt:lpstr>
      <vt:lpstr>Courier New</vt:lpstr>
      <vt:lpstr>Office Theme</vt:lpstr>
      <vt:lpstr>Grafică asistată de calculator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evosoft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Grigore Atimut, Ionut Orlando (ADV D EU RO IFA AI DN)</dc:creator>
  <cp:lastModifiedBy>ionut grigore</cp:lastModifiedBy>
  <cp:revision>227</cp:revision>
  <dcterms:created xsi:type="dcterms:W3CDTF">2024-09-13T06:53:36Z</dcterms:created>
  <dcterms:modified xsi:type="dcterms:W3CDTF">2026-03-29T16:50:50Z</dcterms:modified>
</cp:coreProperties>
</file>