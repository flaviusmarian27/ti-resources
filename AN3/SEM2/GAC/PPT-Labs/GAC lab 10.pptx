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8.xml" ContentType="application/vnd.openxmlformats-officedocument.presentationml.notesSlide+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notesSlides/notesSlide9.xml" ContentType="application/vnd.openxmlformats-officedocument.presentationml.notesSlide+xml"/>
  <Override PartName="/ppt/ink/ink8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87.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96" r:id="rId3"/>
    <p:sldId id="259" r:id="rId4"/>
    <p:sldId id="404" r:id="rId5"/>
    <p:sldId id="406" r:id="rId6"/>
    <p:sldId id="405" r:id="rId7"/>
    <p:sldId id="407" r:id="rId8"/>
    <p:sldId id="408" r:id="rId9"/>
    <p:sldId id="409" r:id="rId10"/>
    <p:sldId id="412" r:id="rId11"/>
    <p:sldId id="413" r:id="rId12"/>
    <p:sldId id="414" r:id="rId13"/>
    <p:sldId id="415" r:id="rId14"/>
    <p:sldId id="416" r:id="rId15"/>
    <p:sldId id="410" r:id="rId16"/>
    <p:sldId id="411" r:id="rId17"/>
    <p:sldId id="417" r:id="rId18"/>
    <p:sldId id="423" r:id="rId19"/>
    <p:sldId id="424" r:id="rId20"/>
    <p:sldId id="419" r:id="rId21"/>
    <p:sldId id="425" r:id="rId22"/>
    <p:sldId id="429" r:id="rId23"/>
    <p:sldId id="418" r:id="rId24"/>
    <p:sldId id="420" r:id="rId25"/>
    <p:sldId id="421" r:id="rId26"/>
    <p:sldId id="422" r:id="rId27"/>
    <p:sldId id="426" r:id="rId28"/>
    <p:sldId id="428" r:id="rId29"/>
    <p:sldId id="427" r:id="rId30"/>
    <p:sldId id="320" r:id="rId31"/>
    <p:sldId id="261" r:id="rId32"/>
    <p:sldId id="430" r:id="rId33"/>
    <p:sldId id="431" r:id="rId34"/>
    <p:sldId id="321" r:id="rId35"/>
    <p:sldId id="263" r:id="rId36"/>
    <p:sldId id="433" r:id="rId37"/>
    <p:sldId id="264" r:id="rId38"/>
    <p:sldId id="265" r:id="rId39"/>
    <p:sldId id="435" r:id="rId40"/>
    <p:sldId id="268" r:id="rId41"/>
    <p:sldId id="318" r:id="rId42"/>
    <p:sldId id="397" r:id="rId43"/>
    <p:sldId id="398" r:id="rId44"/>
    <p:sldId id="399" r:id="rId45"/>
    <p:sldId id="400" r:id="rId46"/>
    <p:sldId id="401" r:id="rId47"/>
    <p:sldId id="402" r:id="rId48"/>
    <p:sldId id="29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09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3D4CF-906D-4A2B-A884-17E1ADF724F4}" v="30" dt="2024-09-14T18:53:25.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741" autoAdjust="0"/>
  </p:normalViewPr>
  <p:slideViewPr>
    <p:cSldViewPr snapToGrid="0">
      <p:cViewPr varScale="1">
        <p:scale>
          <a:sx n="62" d="100"/>
          <a:sy n="62" d="100"/>
        </p:scale>
        <p:origin x="868" y="44"/>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2:50:09.990"/>
    </inkml:context>
    <inkml:brush xml:id="br0">
      <inkml:brushProperty name="width" value="0.35" units="cm"/>
      <inkml:brushProperty name="height" value="0.35" units="cm"/>
      <inkml:brushProperty name="color" value="#FFFFFF"/>
    </inkml:brush>
  </inkml:definitions>
  <inkml:trace contextRef="#ctx0" brushRef="#br0">1 0 24575,'1318'0'-1365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2:50:15.794"/>
    </inkml:context>
    <inkml:brush xml:id="br0">
      <inkml:brushProperty name="width" value="0.35" units="cm"/>
      <inkml:brushProperty name="height" value="0.35" units="cm"/>
      <inkml:brushProperty name="color" value="#FFFFFF"/>
    </inkml:brush>
  </inkml:definitions>
  <inkml:trace contextRef="#ctx0" brushRef="#br0">1 806 24575,'4'-2'0,"0"-1"0,0 1 0,1 0 0,-1 0 0,0 0 0,1 0 0,0 1 0,-1 0 0,1 0 0,0 0 0,0 0 0,6 1 0,-5-1 0,103-7 0,115 8 0,-108 1 0,154 1 0,391-4 0,-348-25 0,61 0 0,-344 26 0,0-2 0,0-1 0,0-1 0,-1-1 0,0-2 0,0-1 0,34-16 0,20-18 0,5-2 0,-57 32 0,0 2 0,1 1 0,1 1 0,0 2 0,56-6 0,36 3 0,182-8 0,-289 18 0,50 1 0,89-10 0,-156 8 0,1 1 0,-1 0 0,1-1 0,-1 1 0,1 0 0,0 0 0,-1 0 0,1 0 0,-1 1 0,1-1 0,-1 0 0,1 1 0,0-1 0,-1 1 0,0-1 0,1 1 0,-1 0 0,1 0 0,-1-1 0,2 3 0,-2-2 0,-1 0 0,1 1 0,0-1 0,-1 0 0,1 1 0,-1-1 0,0 1 0,1-1 0,-1 0 0,0 1 0,0-1 0,0 1 0,0-1 0,0 1 0,0-1 0,-1 1 0,1-1 0,0 0 0,-1 1 0,1-1 0,-1 0 0,0 2 0,-6 11 0,0 0 0,0-1 0,-1 0 0,-14 17 0,9-13 0,-16 29 0,17-23 0,2-3 0,-1 0 0,0 0 0,-2-1 0,-26 32 0,35-47 0,0 0 0,0 0 0,0 0 0,-1-1 0,1 0 0,-1 0 0,0 0 0,0-1 0,0 1 0,0-1 0,0 0 0,-1-1 0,1 1 0,0-1 0,-1 0 0,1 0 0,-1-1 0,1 0 0,-1 0 0,0 0 0,1-1 0,-1 1 0,1-1 0,0-1 0,-7-1 0,8 1 0,1 1 0,-1-1 0,1 0 0,-1 0 0,1 0 0,0 0 0,0-1 0,0 1 0,0-1 0,1 0 0,-1 0 0,1 0 0,0 0 0,-1 0 0,1 0 0,1-1 0,-1 1 0,0-1 0,1 1 0,0-1 0,0 1 0,0-1 0,-1-7 0,0-8 0,0 0 0,2-1 0,2-29 0,-1 26 0,0-7 0,1-20 0,-4-56 0,0 90 0,0 0 0,-1-1 0,0 1 0,-2 1 0,0-1 0,0 1 0,-12-22 0,10 25 0,-43-73 0,44 77 0,1 0 0,-1 1 0,-1 0 0,1 0 0,-1 1 0,0 0 0,-1 0 0,-8-5 0,12 9 0,1 1 0,-1-1 0,1 1 0,-1 0 0,1 0 0,-1 1 0,0-1 0,1 1 0,-1-1 0,0 1 0,1 0 0,-1 1 0,0-1 0,1 1 0,-1-1 0,-3 2 0,-8 3 0,1 1 0,-23 11 0,0 1 0,-231 66 0,174-57 0,60-19 0,0-1 0,0-1 0,-51 1 0,-107-8 0,79-1 0,-1585 2 0,1681 1 0,0 0 0,-21 6 0,6-1 0,21-7 0,14-5 0,20-9 0,0 4 0,0 0 0,1 2 0,30-8 0,81-13 0,-88 20 0,810-159-734,-679 141 734,241-5 0,174 32 0,-568 2 0,-9-2 0,1 2 0,-1 0 0,28 6 0,-42-7-1,-1 0 0,0 0-1,0 1 1,0-1 0,0 0-1,0 1 1,0-1 0,0 1-1,0-1 1,0 1 0,0 0-1,0 0 1,0-1 0,0 1-1,0 0 1,0 0 0,-1 0-1,1 0 1,1 1 0,-2-1 3,0 0 1,0 0 0,0 0 0,0 0 0,0 0-1,0 0 1,0 0 0,0 0 0,0 0-1,0 0 1,0 0 0,-1 0 0,1-1-1,0 1 1,-1 0 0,1 0 0,-1 0-1,1 0 1,-1 0 0,-5 6 78,1-1 1,-1 1 0,0-1-1,-11 7 1,9-6 93,-65 55-114,-92 59 0,148-110-61,-47 31 0,-107 52 0,170-94 0,-431 204 0,404-190 0,-1-2 0,0-1 0,-1-2 0,-1 0 0,1-2 0,-49 4 0,-6-5 0,-99-5 0,181-1-80,0-1 0,0 1-1,0 0 1,0-1 0,0 1-1,0-1 1,0 0 0,0 0-1,0 0 1,0 0 0,0-1 0,0 1-1,1-1 1,-1 0 0,1 0-1,-4-3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2:50:19.505"/>
    </inkml:context>
    <inkml:brush xml:id="br0">
      <inkml:brushProperty name="width" value="0.35" units="cm"/>
      <inkml:brushProperty name="height" value="0.35" units="cm"/>
      <inkml:brushProperty name="color" value="#FFFFFF"/>
    </inkml:brush>
  </inkml:definitions>
  <inkml:trace contextRef="#ctx0" brushRef="#br0">1638 0 24575,'1348'0'0,"-1312"1"0,0 2 0,-1 2 0,1 1 0,-1 1 0,0 2 0,54 22 0,-72-25 0,-11-4 0,1 0 0,-1 1 0,-1-1 0,1 1 0,0 0 0,10 8 0,-15-10 0,0 0 0,0 0 0,0 1 0,0-1 0,0 1 0,-1-1 0,1 0 0,0 1 0,-1-1 0,1 1 0,-1-1 0,1 1 0,-1 0 0,0-1 0,0 1 0,0-1 0,0 1 0,0 0 0,0-1 0,0 1 0,0-1 0,-1 1 0,1-1 0,0 1 0,-1 0 0,1-1 0,-1 0 0,0 1 0,0-1 0,1 1 0,-1-1 0,0 0 0,-2 2 0,-3 5 0,0 0 0,0 0 0,-1-1 0,0 0 0,-1-1 0,0 0 0,0 0 0,-11 7 0,-6 1 0,-43 17 0,19-13 0,0-3 0,-1-1 0,-67 9 0,-157 5 0,211-23 0,-65 6 0,-526 55 0,553-50 0,42-5 0,-94 5 0,-107-3 0,-25 0 0,11-14 0,-80 3 0,299 3 0,0 2 0,-92 25 0,140-30 0,1-1 0,-1 1 0,1 0 0,0 1 0,0-1 0,0 1 0,-8 6 0,14-9 0,-1 0 0,1 0 0,0 0 0,0 1 0,-1-1 0,1 0 0,0 0 0,0 1 0,0-1 0,0 0 0,-1 1 0,1-1 0,0 0 0,0 0 0,0 1 0,0-1 0,0 0 0,0 1 0,0-1 0,0 0 0,0 1 0,0-1 0,0 0 0,0 1 0,0-1 0,0 0 0,0 1 0,0-1 0,0 0 0,0 0 0,0 1 0,0-1 0,0 0 0,1 1 0,-1-1 0,0 0 0,0 0 0,0 1 0,1-1 0,-1 0 0,0 0 0,0 1 0,1-1 0,-1 0 0,0 0 0,0 0 0,1 0 0,-1 1 0,1-1 0,7 3 0,1 1 0,0-2 0,0 1 0,0-1 0,0-1 0,1 1 0,17-1 0,-12 0 0,315 11 0,-70-5 0,-140-1 0,843 39 0,7-28 0,-152-17 0,-807-1 0,0 0 0,0 0 0,0-1 0,-1 0 0,1-1 0,-1 0 0,1-1 0,-1 0 0,16-10 0,-11 5 0,-2 0 0,1-1 0,-1 0 0,-1-1 0,20-22 0,-28 29 0,-1 1 0,0-1 0,0 0 0,0 0 0,-1 0 0,1-1 0,-1 1 0,0-1 0,0 1 0,-1-1 0,1 1 0,-1-1 0,0 0 0,0 0 0,-1 0 0,1 0 0,-1 0 0,0 0 0,-1 1 0,1-1 0,-1 0 0,0 0 0,0 0 0,0 0 0,-1 1 0,0-1 0,0 1 0,0-1 0,0 1 0,-1 0 0,1 0 0,-1 0 0,0 0 0,-6-6 0,1 3 0,-1-1 0,0 1 0,0 1 0,0-1 0,-1 1 0,0 1 0,0 0 0,0 1 0,-1 0 0,0 0 0,1 1 0,-1 0 0,0 1 0,-1 1 0,1-1 0,0 2 0,-20 0 0,20 1 0,-9-1 0,-36 5 0,49-4 0,0 1 0,1 0 0,-1 0 0,1 0 0,0 1 0,-1 0 0,1 0 0,0 1 0,-5 4 0,-6 5 0,-4 4 0,-1-1 0,0-1 0,-33 16 0,51-29 0,0 1 0,1-1 0,-1 0 0,1 1 0,0 0 0,0 0 0,0 0 0,0 0 0,0 0 0,1 1 0,-1-1 0,1 1 0,0 0 0,0-1 0,0 1 0,1 0 0,-1 0 0,1 0 0,-1 8 0,-1 7 0,1-1 0,1 1 0,1 23 0,0-21 0,1 40 0,-2 0 0,-4 0 0,-17 88 0,22-145 0,-1 0 0,0 0 0,0-1 0,0 1 0,-1 0 0,1 0 0,-1 0 0,0-1 0,0 1 0,0-1 0,-1 0 0,1 0 0,-1 0 0,0 0 0,0 0 0,0 0 0,0-1 0,0 1 0,-1-1 0,1 0 0,-1 0 0,1 0 0,-1 0 0,0-1 0,0 0 0,0 1 0,1-1 0,-1-1 0,0 1 0,-1 0 0,1-1 0,0 0 0,-4-1 0,-218-1 0,77-1 0,-449 3 0,529-5-1365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2:50:24.955"/>
    </inkml:context>
    <inkml:brush xml:id="br0">
      <inkml:brushProperty name="width" value="0.35" units="cm"/>
      <inkml:brushProperty name="height" value="0.35" units="cm"/>
      <inkml:brushProperty name="color" value="#FFFFFF"/>
    </inkml:brush>
  </inkml:definitions>
  <inkml:trace contextRef="#ctx0" brushRef="#br0">0 83 24575,'1033'0'0,"-988"3"0,0 1 0,66 15 0,-57-8 0,61 4 0,49-3 0,191 6 0,763-19 0,-931 15 0,-5 0 0,-98-14 0,-84 0 0,0 0 0,0-1 0,0 1 0,0 0 0,0 0 0,0 0 0,0 0 0,0 0 0,0 0 0,0 0 0,0 0 0,0 0 0,0 0 0,0 0 0,0 0 0,0-1 0,0 1 0,0 0 0,0 0 0,0 0 0,0 0 0,0 0 0,0 0 0,0 0 0,0 0 0,0 0 0,0 0 0,0 0 0,0 0 0,0 0 0,0 0 0,0 0 0,0-1 0,0 1 0,0 0 0,0 0 0,1 0 0,-1 0 0,0 0 0,0 0 0,0 0 0,0 0 0,0 0 0,0 0 0,0 0 0,0 0 0,0 0 0,0 0 0,0 0 0,0 0 0,1 0 0,-13-5 0,-17-5 0,-50-10 0,-1 4 0,-1 3 0,-148-3 0,-932 16 0,459 2 0,660-4 0,-61-11 0,27 2 0,-15 0 0,22 1 0,-73 1 0,122 10 0,15-1 0,0 1 0,0-1 0,0 0 0,1 0 0,-1 0 0,0-1 0,0 1 0,1-1 0,-1 0 0,-6-3 0,10 4 0,1 0 0,0-1 0,0 1 0,0 0 0,-1 0 0,1 0 0,0-1 0,0 1 0,0 0 0,0 0 0,-1-1 0,1 1 0,0 0 0,0 0 0,0-1 0,0 1 0,0 0 0,0 0 0,0-1 0,0 1 0,0 0 0,0 0 0,0-1 0,0 1 0,0 0 0,0-1 0,0 1 0,0 0 0,0 0 0,0-1 0,0 1 0,0 0 0,0-1 0,0 1 0,0 0 0,1 0 0,-1 0 0,0-1 0,0 1 0,0 0 0,0 0 0,1-1 0,-1 1 0,0 0 0,0 0 0,1 0 0,-1 0 0,0-1 0,0 1 0,1 0 0,-1 0 0,0 0 0,0 0 0,1 0 0,-1 0 0,1 0 0,19-9 0,23 0 0,0 2 0,1 2 0,79 1 0,-93 3 0,826-1 0,-429 4 0,-32-2 0,-366 1 0,0 2 0,31 7 0,-28-4 0,44 2 0,216-9-1365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0.71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1.32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1.78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2.67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3.15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3.93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5T13:17:04.427"/>
    </inkml:context>
    <inkml:brush xml:id="br0">
      <inkml:brushProperty name="width" value="0.35" units="cm"/>
      <inkml:brushProperty name="height" value="0.35" units="cm"/>
      <inkml:brushProperty name="color" value="#FFFFFF"/>
    </inkml:brush>
  </inkml:definitions>
  <inkml:trace contextRef="#ctx0" brushRef="#br0">1 1 24575,'0'2'0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8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0:09.395"/>
    </inkml:context>
    <inkml:brush xml:id="br0">
      <inkml:brushProperty name="width" value="0.35" units="cm"/>
      <inkml:brushProperty name="height" value="0.35" units="cm"/>
      <inkml:brushProperty name="color" value="#FFFFFF"/>
    </inkml:brush>
  </inkml:definitions>
  <inkml:trace contextRef="#ctx0" brushRef="#br0">1 1 24575,'0'2'0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1:55.728"/>
    </inkml:context>
    <inkml:brush xml:id="br0">
      <inkml:brushProperty name="width" value="0.05" units="cm"/>
      <inkml:brushProperty name="height" value="0.05" units="cm"/>
      <inkml:brushProperty name="color" value="#FFFFFF"/>
    </inkml:brush>
  </inkml:definitions>
  <inkml:trace contextRef="#ctx0" brushRef="#br0">3 10 24575,'-1'29'0,"0"-20"0,0 0 0,1-1 0,0 1 0,1 0 0,2 15 0,-3-24 0,0 0 0,0 0 0,0 0 0,0 0 0,0 0 0,0 0 0,0 0 0,0 0 0,0 0 0,0 0 0,0 0 0,0 0 0,0 1 0,0-1 0,0 0 0,0 0 0,0 0 0,0 0 0,0 0 0,1 0 0,-1 0 0,0 0 0,0 0 0,0 0 0,0 0 0,0 0 0,0 0 0,0 0 0,0 0 0,0 0 0,0 0 0,0 0 0,0 0 0,0 0 0,0 0 0,1 0 0,-1 0 0,0 0 0,0 0 0,0 0 0,0 0 0,0 0 0,0 0 0,0 0 0,0 0 0,0 0 0,0 0 0,0 0 0,0 0 0,0 0 0,1 0 0,-1 0 0,0 0 0,0 0 0,0 0 0,0 0 0,0 0 0,0 0 0,0 0 0,0 0 0,0 0 0,0 0 0,0 0 0,0-1 0,0 1 0,0 0 0,0 0 0,4-8 0,1-10 0,9-63 0,-14 114-1365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01.840"/>
    </inkml:context>
    <inkml:brush xml:id="br0">
      <inkml:brushProperty name="width" value="0.05" units="cm"/>
      <inkml:brushProperty name="height" value="0.05" units="cm"/>
      <inkml:brushProperty name="color" value="#FFFFFF"/>
    </inkml:brush>
  </inkml:definitions>
  <inkml:trace contextRef="#ctx0" brushRef="#br0">9 0 24575,'1'4'0,"1"-1"0,-1 1 0,0-1 0,-1 1 0,1-1 0,0 1 0,-1 0 0,0-1 0,0 1 0,0 0 0,-1-1 0,0 5 0,1 3 0,0-6-124,0-1 0,-1 1 0,1-1 0,-1 0 0,0 1 0,0-1-1,0 0 1,0 1 0,-1-1 0,-3 7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44.075"/>
    </inkml:context>
    <inkml:brush xml:id="br0">
      <inkml:brushProperty name="width" value="0.2" units="cm"/>
      <inkml:brushProperty name="height" value="0.2" units="cm"/>
      <inkml:brushProperty name="color" value="#FFFFFF"/>
    </inkml:brush>
  </inkml:definitions>
  <inkml:trace contextRef="#ctx0" brushRef="#br0">55 1 24575,'-1'35'0,"-10"63"0,8-67 0,1 1 0,4 49 0,-1-17 0,-1 8 0,-15 105 0,12-140 0,0 46 0,1-4 0,-6 146 0,3-49 0,0 278 127,7-264-1619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48.471"/>
    </inkml:context>
    <inkml:brush xml:id="br0">
      <inkml:brushProperty name="width" value="0.2" units="cm"/>
      <inkml:brushProperty name="height" value="0.2" units="cm"/>
      <inkml:brushProperty name="color" value="#FFFFFF"/>
    </inkml:brush>
  </inkml:definitions>
  <inkml:trace contextRef="#ctx0" brushRef="#br0">148 0 24575,'-4'293'0,"-6"-29"0,8-237 0,-30 236 0,17-165 0,6-34 0,-13 130 0,8 41 0,-1-146 0,8-58 0,2 1 0,-2 33 0,5-15 0,-1 39 0,3-80 0,1 1 0,0-1 0,0 1 0,1-1 0,1 1 0,6 15 0,-5-18 0,1-1 0,-1 1 0,1-1 0,1 0 0,-1-1 0,1 1 0,11 7 0,1 2 0,-18-15 0,0 0 0,0 1 0,0-1 0,1 0 0,-1 0 0,0 1 0,1-1 0,-1 0 0,0 0 0,1 1 0,-1-1 0,0 0 0,1 0 0,-1 0 0,0 1 0,1-1 0,-1 0 0,0 0 0,1 0 0,-1 0 0,1 0 0,-1 0 0,0 0 0,1 0 0,-1 0 0,1 0 0,-1 0 0,0 0 0,1 0 0,-1 0 0,0 0 0,1-1 0,-1 1 0,1 0 0,-1 0 0,5-16 0,-6-29 0,1 39 0,-8-66 0,3 44 0,1-45 0,4 56-1365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51.873"/>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52.600"/>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00.736"/>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01.379"/>
    </inkml:context>
    <inkml:brush xml:id="br0">
      <inkml:brushProperty name="width" value="0.05" units="cm"/>
      <inkml:brushProperty name="height" value="0.05" units="cm"/>
      <inkml:brushProperty name="color" value="#FFFFFF"/>
    </inkml:brush>
  </inkml:definitions>
  <inkml:trace contextRef="#ctx0" brushRef="#br0">1 0 24575,'0'1'0,"0"1"0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02.476"/>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05.451"/>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09.978"/>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11.595"/>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16.029"/>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3:18.656"/>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9:01.540"/>
    </inkml:context>
    <inkml:brush xml:id="br0">
      <inkml:brushProperty name="width" value="0.2" units="cm"/>
      <inkml:brushProperty name="height" value="0.2" units="cm"/>
      <inkml:brushProperty name="color" value="#FFFFFF"/>
    </inkml:brush>
  </inkml:definitions>
  <inkml:trace contextRef="#ctx0" brushRef="#br0">37 178 24575,'377'-15'0,"-120"2"0,-237 12 0,0-1 0,0 0 0,0-2 0,0 0 0,0-1 0,-1-1 0,34-16 0,-43 17 0,-7 3 0,1 0 0,0 0 0,0 0 0,0 0 0,0 1 0,0-1 0,0 1 0,0 0 0,1 0 0,-1 1 0,0-1 0,5 1 0,-9 1 0,0 0 0,0-1 0,0 1 0,0 0 0,0 0 0,0 0 0,0 0 0,0 0 0,0 0 0,0-1 0,0 1 0,-1 0 0,1 0 0,0 0 0,-1-1 0,1 1 0,-1 0 0,1 0 0,-1-1 0,1 1 0,-2 1 0,2-2 0,-4 6 0,0-1 0,-1 1 0,1-1 0,-1 0 0,0-1 0,-1 1 0,1-1 0,-1 0 0,0-1 0,0 1 0,0-1 0,0 0 0,0 0 0,-1-1 0,-13 3 0,-8 1 0,0-2 0,-47 1 0,14-1 0,-274 45 0,190-25 0,130-22 0,1 0 0,-1 0 0,1 1 0,-20 7 0,31-9 0,0 1 0,0-1 0,-1 1 0,1-1 0,0 1 0,0 0 0,0 0 0,1 1 0,-1-1 0,0 1 0,1-1 0,0 1 0,-1 0 0,1 0 0,0 0 0,0 0 0,1 0 0,-1 0 0,-1 4 0,2-2 0,-1 0 0,1-1 0,0 1 0,0 0 0,1 0 0,0 0 0,-1-1 0,2 1 0,-1 0 0,0 0 0,1 0 0,0-1 0,0 1 0,0 0 0,1-1 0,2 7 0,-1-8 0,-1 1 0,0-1 0,1 0 0,0 1 0,0-1 0,0 0 0,0-1 0,1 1 0,-1-1 0,1 1 0,-1-1 0,1 0 0,0 0 0,0-1 0,0 1 0,0-1 0,0 0 0,0 0 0,6 1 0,31 2 0,0-1 0,1-3 0,-1-1 0,0-2 0,71-15 0,-99 16 0,-7 0 0,1 1 0,-1-1 0,0 2 0,0-1 0,1 1 0,-1-1 0,0 2 0,10 0 0,-16-1 0,1 1 0,-1-1 0,1 0 0,-1 0 0,1 0 0,-1 1 0,1-1 0,-1 0 0,0 0 0,1 1 0,-1-1 0,1 1 0,-1-1 0,0 0 0,1 1 0,-1-1 0,0 1 0,0-1 0,1 0 0,-1 1 0,0-1 0,0 1 0,0-1 0,0 1 0,1-1 0,-1 1 0,0-1 0,0 1 0,0-1 0,0 1 0,0-1 0,0 1 0,0-1 0,0 1 0,-1-1 0,1 1 0,0 0 0,-11 18 0,3-9 0,-1-1 0,-1 0 0,0-1 0,0 0 0,0-1 0,-1 0 0,-21 10 0,2 0 0,20-11 0,-74 39 0,68-40 0,19-10 0,22-12 0,25-9 0,0 1 0,2 3 0,70-19 0,-91 35 0,-20 7 0,-13 5 0,-17 5 0,-47 9 0,45-15 0,1 1 0,-30 13 0,32-11 0,12-6 0,0 1 0,-1 0 0,1 0 0,1 0 0,-1 1 0,0 0 0,-8 7 0,14-11 0,0 1 0,0-1 0,0 0 0,0 0 0,0 0 0,-1 1 0,1-1 0,0 0 0,0 0 0,0 0 0,0 1 0,0-1 0,0 0 0,0 0 0,0 1 0,0-1 0,0 0 0,0 0 0,0 0 0,1 1 0,-1-1 0,0 0 0,0 0 0,0 0 0,0 1 0,0-1 0,0 0 0,0 0 0,0 0 0,1 0 0,-1 1 0,0-1 0,0 0 0,0 0 0,0 0 0,1 0 0,-1 0 0,0 1 0,0-1 0,0 0 0,1 0 0,-1 0 0,0 0 0,0 0 0,0 0 0,1 0 0,-1 0 0,0 0 0,0 0 0,1 0 0,8 2 0,-1 0 0,1-1 0,0 0 0,0 0 0,13-1 0,-3 0 0,34 1 0,-1-2 0,99-16 0,-134 12 0,-17 4 0,0 1 0,0 0 0,0 0 0,0 0 0,0-1 0,0 1 0,0 0 0,0 0 0,0 0 0,-1-1 0,1 1 0,0 0 0,0 0 0,0 0 0,0 0 0,0 0 0,-1-1 0,1 1 0,0 0 0,0 0 0,0 0 0,-1 0 0,1 0 0,0 0 0,0 0 0,0 0 0,-1 0 0,1-1 0,0 1 0,0 0 0,0 0 0,-1 0 0,1 0 0,0 0 0,0 0 0,-1 1 0,-32-5 0,-8 5 0,1 2 0,0 2 0,-53 13 0,-46 5 0,75-18 0,40-4 0,0 1 0,-1 1 0,1 1 0,-44 13 0,56-10 0,12-7 0,0 1 0,0-1 0,0 0 0,0 0 0,0 0 0,-1 0 0,1 1 0,0-1 0,0 0 0,0 0 0,0 0 0,0 0 0,0 1 0,0-1 0,0 0 0,0 0 0,0 0 0,0 0 0,0 1 0,0-1 0,1 0 0,-1 0 0,0 0 0,0 0 0,0 1 0,0-1 0,0 0 0,0 0 0,0 0 0,0 0 0,0 0 0,1 1 0,-1-1 0,0 0 0,0 0 0,0 0 0,24 8 0,43 0 0,1-3 0,92-4 0,-95-2 0,-51 1 0,5 1 0,1-2 0,38-5 0,-57 6 0,0 0 0,0-1 0,0 1 0,0 0 0,0 0 0,0 0 0,-1-1 0,1 1 0,0 0 0,0-1 0,0 1 0,0-1 0,0 1 0,-1-1 0,1 1 0,0-1 0,-1 1 0,1-1 0,0 0 0,-1 1 0,1-1 0,-1 0 0,2-1 0,-3 1 0,1 0 0,-1 0 0,1 0 0,-1-1 0,1 1 0,-1 1 0,0-1 0,1 0 0,-1 0 0,0 0 0,0 0 0,0 0 0,1 1 0,-1-1 0,0 0 0,0 1 0,0-1 0,0 1 0,-2-2 0,-38-17 0,0 1 0,-1 2 0,-60-14 0,66 20 0,-15-4 0,-80-12 0,121 25 0,-21-4 0,30 5 0,0 0 0,0 0 0,0 0 0,0 0 0,0-1 0,1 1 0,-1 0 0,0-1 0,0 1 0,0-1 0,0 1 0,0-1 0,1 1 0,-1-1 0,0 0 0,0 1 0,1-1 0,-1 0 0,0 0 0,1 1 0,-1-2 0,1 1 0,0 0 0,0 0 0,0 0 0,1 1 0,-1-1 0,0 0 0,1 1 0,-1-1 0,0 0 0,1 1 0,-1-1 0,1 0 0,-1 1 0,1-1 0,-1 1 0,1-1 0,0 1 0,-1-1 0,1 1 0,-1-1 0,1 1 0,0 0 0,1-1 0,36-20 0,2 1 0,1 2 0,82-25 0,-43 16 0,-68 23 0,139-56 0,-131 50 0,-1 0 0,-1-1 0,0-1 0,-1-1 0,26-24 0,4-11 0,33-32 0,-68 70 0,0 0 0,0 2 0,1 0 0,0 0 0,23-9 0,-20 12 0,0 2 0,0-1 0,1 2 0,-1 0 0,1 1 0,0 1 0,18 2 0,7-1 0,-7-1 0,14 0 0,69 7 0,-116-7 0,0 0 0,0 1 0,1-1 0,-1 1 0,0-1 0,0 1 0,0 0 0,0-1 0,0 1 0,0 0 0,0 0 0,1 2 0,-2-3 0,-1 0 0,0 1 0,0-1 0,0 1 0,0-1 0,0 0 0,0 1 0,0-1 0,0 0 0,0 1 0,0-1 0,0 0 0,0 1 0,0-1 0,0 1 0,0-1 0,0 0 0,-1 1 0,1-1 0,0 0 0,0 1 0,0-1 0,-1 0 0,1 0 0,0 1 0,0-1 0,-1 0 0,1 1 0,0-1 0,0 0 0,-1 0 0,1 0 0,0 1 0,-1-1 0,1 0 0,0 0 0,-1 0 0,0 0 0,-6 4 0,-2 0 0,1-1 0,0 0 0,-11 2 0,-12 3 0,0-1 0,-48 18 0,70-22 0,0 1 0,0 1 0,0 0 0,1 0 0,0 1 0,0 0 0,0 0 0,1 1 0,-11 11 0,-11 21 0,24-36 0,8-14 0,11-19 0,-12 25 0,-1 4 0,0-1 0,0 0 0,-1 0 0,1 1 0,-1-1 0,1 0 0,-1 0 0,0 0 0,1 0 0,-1 0 0,0 0 0,0 1 0,0-1 0,-1 0 0,0-4 0,1 5 0,-1 0 0,0 0 0,1 1 0,-1-1 0,0 0 0,0 0 0,1 0 0,-1 1 0,0-1 0,0 0 0,0 1 0,0-1 0,0 1 0,0-1 0,0 1 0,0-1 0,0 1 0,0 0 0,-1-1 0,1 1 0,0 0 0,0 0 0,0 0 0,0 0 0,0 0 0,0 0 0,-2 1 0,-20 1-1365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9:05.798"/>
    </inkml:context>
    <inkml:brush xml:id="br0">
      <inkml:brushProperty name="width" value="0.35" units="cm"/>
      <inkml:brushProperty name="height" value="0.35" units="cm"/>
      <inkml:brushProperty name="color" value="#FFFFFF"/>
    </inkml:brush>
  </inkml:definitions>
  <inkml:trace contextRef="#ctx0" brushRef="#br0">353 0 24575,'-2'1'0,"1"-1"0,-1 0 0,1 1 0,0-1 0,-1 1 0,1 0 0,0-1 0,0 1 0,-1 0 0,1 0 0,0 0 0,0-1 0,0 1 0,0 1 0,0-1 0,-1 1 0,-17 25 0,11-16 0,-3 6 0,-2-1 0,0-1 0,-1 0 0,0 0 0,-26 18 0,10-13 0,6-5 0,1 0 0,1 2 0,1 0 0,0 1 0,-27 32 0,39-36-1365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9:09.908"/>
    </inkml:context>
    <inkml:brush xml:id="br0">
      <inkml:brushProperty name="width" value="0.35" units="cm"/>
      <inkml:brushProperty name="height" value="0.35" units="cm"/>
      <inkml:brushProperty name="color" value="#FFFFFF"/>
    </inkml:brush>
  </inkml:definitions>
  <inkml:trace contextRef="#ctx0" brushRef="#br0">812 24 24575,'-716'0'0,"708"0"-136,-1-1-1,0 0 1,0 0-1,1 0 1,-1-1-1,1-1 1,0 1-1,-1-1 0,-10-6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10.269"/>
    </inkml:context>
    <inkml:brush xml:id="br0">
      <inkml:brushProperty name="width" value="0.05" units="cm"/>
      <inkml:brushProperty name="height" value="0.05" units="cm"/>
      <inkml:brushProperty name="color" value="#FFFFFF"/>
    </inkml:brush>
  </inkml:definitions>
  <inkml:trace contextRef="#ctx0" brushRef="#br0">1 14 24575,'-1'32'0,"2"33"0,-1-64 0,0-1 0,0 0 0,0 0 0,0 0 0,0 0 0,0 0 0,0 0 0,0 0 0,0 1 0,1-1 0,-1 0 0,0 0 0,0 0 0,0 0 0,0 0 0,0 0 0,0 0 0,0 0 0,0 0 0,0 1 0,0-1 0,0 0 0,1 0 0,-1 0 0,0 0 0,0 0 0,0 0 0,0 0 0,0 0 0,0 0 0,0 0 0,1 0 0,-1 0 0,0 0 0,0 0 0,0 0 0,0 0 0,0 0 0,0 0 0,0 0 0,1 0 0,-1 0 0,0 0 0,0 0 0,0 0 0,0 0 0,0 0 0,0 0 0,0 0 0,1-1 0,7-5 0,6-12 0,-12-7-682,0-38-1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2:12.962"/>
    </inkml:context>
    <inkml:brush xml:id="br0">
      <inkml:brushProperty name="width" value="0.05" units="cm"/>
      <inkml:brushProperty name="height" value="0.05" units="cm"/>
      <inkml:brushProperty name="color" value="#FFFFFF"/>
    </inkml:brush>
  </inkml:definitions>
  <inkml:trace contextRef="#ctx0" brushRef="#br0">0 1 24575,'2'2'0,"0"0"0,0 1 0,-1-1 0,1 1 0,-1 0 0,0 0 0,0-1 0,0 1 0,0 0 0,0 0 0,-1 0 0,1 0 0,-1 5 0,-1 46 0,0-28 0,1-21-1365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07:29:13.411"/>
    </inkml:context>
    <inkml:brush xml:id="br0">
      <inkml:brushProperty name="width" value="0.35" units="cm"/>
      <inkml:brushProperty name="height" value="0.35" units="cm"/>
      <inkml:brushProperty name="color" value="#FFFFFF"/>
    </inkml:brush>
  </inkml:definitions>
  <inkml:trace contextRef="#ctx0" brushRef="#br0">679 231 24575,'32'12'0,"0"-1"0,0-1 0,1-2 0,0-2 0,42 4 0,-61-9 0,170 17 0,250-7 0,-422-12 0,-13 1 0,-24-1 0,-73 0 0,-145-20 0,160 7 0,0-3 0,-94-32 0,167 45 0,1 0 0,-1-1 0,1 0 0,0 0 0,0-1 0,1 0 0,-1-1 0,2 0 0,-1 0 0,1 0 0,0-1 0,0 0 0,1-1 0,0 0 0,0 0 0,1 0 0,-4-12 0,8 20 0,1 1 0,0-1 0,0 0 0,0 0 0,-1 0 0,1 0 0,0 0 0,0 0 0,1 0 0,-1 0 0,0 1 0,0-1 0,0 0 0,1 0 0,-1 0 0,0 0 0,1 0 0,-1 1 0,0-1 0,1 0 0,-1 0 0,1 0 0,0 1 0,-1-1 0,1 0 0,-1 1 0,1-1 0,0 1 0,0-1 0,-1 1 0,1-1 0,0 1 0,0-1 0,0 1 0,0 0 0,1-1 0,35-9 0,-35 10 0,71-9 0,1 4 0,100 6 0,-148-1 0,-11 1 0,-17-1 0,-25 0 0,-131-12 0,-88-4 0,-173 15 0,194 2 0,219-1 0,0 0 0,-1 0 0,1 1 0,0 0 0,-11 3 0,17-4 0,0 0 0,1 0 0,-1 0 0,0 0 0,0 0 0,0 0 0,0 0 0,1 0 0,-1 0 0,0 0 0,0 0 0,0 0 0,0 0 0,0 0 0,1 0 0,-1 0 0,0 1 0,0-1 0,0 0 0,0 0 0,0 0 0,0 0 0,0 0 0,1 1 0,-1-1 0,0 0 0,0 0 0,0 0 0,0 0 0,0 0 0,0 1 0,0-1 0,0 0 0,0 0 0,0 0 0,0 0 0,0 1 0,0-1 0,0 0 0,0 0 0,0 0 0,0 0 0,0 1 0,0-1 0,0 0 0,0 0 0,0 0 0,-1 0 0,1 0 0,0 1 0,0-1 0,0 0 0,0 0 0,0 0 0,0 0 0,0 0 0,-1 0 0,1 1 0,0-1 0,0 0 0,0 0 0,0 0 0,0 0 0,-1 0 0,1 0 0,0 0 0,0 0 0,0 0 0,15 5 0,37 2 0,-1-2 0,55-3 0,11 2 0,129 17 0,111 6 0,152-24 0,168 8 0,-471 3 0,-190-12 0,-24 0 0,-27-2 0,34 0 0,-341-18 0,223 7-1365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1:17.594"/>
    </inkml:context>
    <inkml:brush xml:id="br0">
      <inkml:brushProperty name="width" value="0.35" units="cm"/>
      <inkml:brushProperty name="height" value="0.35" units="cm"/>
      <inkml:brushProperty name="color" value="#FFFFFF"/>
    </inkml:brush>
  </inkml:definitions>
  <inkml:trace contextRef="#ctx0" brushRef="#br0">1 0 24575,'723'0'-1365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1:18.936"/>
    </inkml:context>
    <inkml:brush xml:id="br0">
      <inkml:brushProperty name="width" value="0.35" units="cm"/>
      <inkml:brushProperty name="height" value="0.35" units="cm"/>
      <inkml:brushProperty name="color" value="#FFFFFF"/>
    </inkml:brush>
  </inkml:definitions>
  <inkml:trace contextRef="#ctx0" brushRef="#br0">1152 1 24575,'-1152'0'-1365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1:20.982"/>
    </inkml:context>
    <inkml:brush xml:id="br0">
      <inkml:brushProperty name="width" value="0.35" units="cm"/>
      <inkml:brushProperty name="height" value="0.35" units="cm"/>
      <inkml:brushProperty name="color" value="#FFFFFF"/>
    </inkml:brush>
  </inkml:definitions>
  <inkml:trace contextRef="#ctx0" brushRef="#br0">0 0 24575,'782'0'0,"-583"16"0,-124-7 0,197-4 0,-153-7 0,224 2-1365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7:58.974"/>
    </inkml:context>
    <inkml:brush xml:id="br0">
      <inkml:brushProperty name="width" value="0.35" units="cm"/>
      <inkml:brushProperty name="height" value="0.35" units="cm"/>
      <inkml:brushProperty name="color" value="#FFFFFF"/>
    </inkml:brush>
  </inkml:definitions>
  <inkml:trace contextRef="#ctx0" brushRef="#br0">1907 877 24575,'0'530'0,"-1"-522"0,3 24 0,-2-31 0,1 0 0,-1 0 0,0 0 0,1 0 0,-1 0 0,1 0 0,-1 0 0,1 0 0,-1 0 0,1 0 0,-1 0 0,1-1 0,0 1 0,0 0 0,-1 0 0,1-1 0,0 1 0,0 0 0,0-1 0,0 1 0,0-1 0,0 1 0,0-1 0,0 1 0,2 0 0,5-1 0,0 0 0,0-1 0,0 0 0,0 0 0,-1-1 0,1 0 0,0 0 0,-1-1 0,14-6 0,40-18 0,-2-2 0,62-42 0,107-85 0,-219 150 0,407-299 0,-314 226 0,-91 73 0,-12 11 0,-14 17 0,-10 11 0,-104 128 0,98-127 0,-2-1 0,-54 44 0,-19-2 0,93-67 0,-1-1 0,0 0 0,0 0 0,0-2 0,-1 0 0,-20 5 0,32-10 0,1 0 0,0 1 0,0-1 0,-1 0 0,1 0 0,0 0 0,0 0 0,-1 0 0,1-1 0,0 1 0,0-1 0,0 0 0,0 1 0,-1-1 0,1 0 0,0 0 0,0 0 0,1 0 0,-1-1 0,0 1 0,-3-3 0,2 0 0,1 1 0,-1-1 0,1 0 0,0 1 0,0-1 0,0 0 0,1 0 0,-1 0 0,1-1 0,-1-6 0,-1-9 0,2 1 0,0-1 0,4-39 0,1 23 0,2-1 0,2 1 0,20-60 0,52-98 0,-78 190 0,0 0 0,0 0 0,-1 0 0,1 0 0,-1-1 0,0 1 0,0-7 0,-1 11 0,0-1 0,0 0 0,0 1 0,0-1 0,-1 0 0,1 1 0,0-1 0,0 0 0,0 1 0,-1-1 0,1 1 0,0-1 0,-1 0 0,1 1 0,0-1 0,-1 1 0,1-1 0,-1 1 0,1 0 0,-2-2 0,1 2 0,0-1 0,-1 1 0,1-1 0,-1 1 0,1 0 0,0-1 0,-1 1 0,1 0 0,-1 0 0,1 0 0,-1 0 0,1 0 0,-2 1 0,-9 1 0,0 1 0,0 1 0,1 0 0,-1 0 0,1 1 0,0 1 0,0 0 0,1 0 0,0 1 0,0 0 0,-16 16 0,-8 11 0,-48 59 0,81-91 0,-15 18 0,-18 20 0,25-36 0,6-10 0,6-19 0,-2 21 0,25-121 0,42-257 0,-51 145 0,-17 234 0,0-13 0,-4-31 0,4 44 0,-1 1 0,1 0 0,0-1 0,-1 1 0,0 0 0,1 0 0,-1-1 0,0 1 0,0 0 0,0 0 0,0 0 0,-1 0 0,1 0 0,-1 0 0,1 1 0,-1-1 0,0 0 0,1 1 0,-1-1 0,-4-2 0,4 4 0,1 0 0,-1 0 0,0 0 0,0 0 0,0 0 0,0 0 0,0 0 0,0 1 0,0-1 0,0 1 0,0-1 0,0 1 0,0 0 0,0 0 0,1 0 0,-1 0 0,0 0 0,1 0 0,-1 0 0,1 0 0,-2 2 0,-34 35 0,36-38 0,-29 38 0,1 1 0,2 1 0,2 2 0,1 0 0,3 1 0,-25 71 0,41-99 0,0 1 0,1-1 0,1 1 0,-2 31 0,5-41 0,0-1 0,0 1 0,0-1 0,1 1 0,0-1 0,0 0 0,1 1 0,-1-1 0,1 0 0,0 0 0,1 0 0,-1 0 0,1 0 0,0-1 0,0 1 0,1-1 0,6 8 0,-2-6 0,1 1 0,0-1 0,0 0 0,1-1 0,-1 0 0,1-1 0,0 0 0,0 0 0,1-1 0,15 2 0,15 2 0,60 0 0,-91-6 0,248 6-429,1-11 1,406-59-1,-306 0 429,-206 35 0,-72 17 0,-60 12 0,-21-1 0,1 0 0,-1 0 0,0 0 0,0 0 0,0 1 0,1-1 0,-1 0 0,0 0 0,0 0 0,0 0 0,1 0 0,-1 0 0,0 0 0,0 0 0,0 0 0,0 1 0,1-1 0,-1 0 0,0 0 0,0 0 0,0 0 0,0 1 0,0-1 0,0 0 0,0 0 0,1 0 0,-1 0 0,0 1 0,0-1 0,0 0 0,0 0 0,0 0 0,0 1 0,0-1 0,0 0 0,0 0 0,0 0 0,0 1 0,0-1 0,0 0 0,-2 2 0,0 0 0,1 0 0,-1 0 0,0 0 0,0 0 0,0-1 0,0 1 0,0-1 0,-4 2 0,-42 25 0,-1-2 0,-1-3 0,-67 22 0,-163 33 0,160-50 290,-2-6 0,-138 8-1,253-29-228,0-1 1,0 0-1,0 0 0,0-1 0,-7-1 0,13 2-60,1 0 1,0 0-1,-1 0 1,1 0-1,0 0 1,-1 0-1,1 0 1,0-1-1,0 1 1,-1 0-1,1 0 1,0 0-1,-1-1 1,1 1 0,0 0-1,0 0 1,0 0-1,-1-1 1,1 1-1,0 0 1,0-1-1,0 1 1,0 0-1,0 0 1,-1-1-1,1 1 1,0 0-1,0-1 1,8-9 4,10 1-6,0 0 0,1 1 0,0 1 0,0 0 0,28-5 0,-19 5 0,146-35-159,2 8 0,235-15 0,355 31-319,-647 23 478,-112-5 0,0 1 0,0 0 0,0 0 0,0 0 0,13 6 0,-19-7 0,-1 0 0,0 0 0,0 0 0,0 0 0,0 0 0,1 0 0,-1 0 0,0 0 0,0 1 0,0-1 0,0 0 0,1 0 0,-1 0 0,0 0 0,0 0 0,0 1 0,0-1 0,0 0 0,0 0 0,0 0 0,0 0 0,0 1 0,1-1 0,-1 0 0,0 0 0,0 0 0,0 1 0,0-1 0,0 0 0,0 0 0,0 0 0,0 1 0,0-1 0,0 0 0,0 0 0,-1 0 0,1 1 0,0-1 0,0 0 0,0 0 0,0 0 0,0 1 0,-13 6 0,-14 1 0,0-2 0,0-1 0,-1-1 0,-27 0 0,41-3 0,-807 20 307,717-21-335,68 0 28,-165-6 0,196 5 0,1 1 0,-1-1 0,1 1 0,0-1 0,0-1 0,-7-2 0,11 4 0,-1 0 0,1 0 0,0 0 0,0 0 0,-1 0 0,1 0 0,0-1 0,0 1 0,0 0 0,0 0 0,-1 0 0,1-1 0,0 1 0,0 0 0,0 0 0,0 0 0,0-1 0,-1 1 0,1 0 0,0 0 0,0-1 0,0 1 0,0 0 0,0 0 0,0-1 0,0 1 0,0 0 0,0 0 0,0-1 0,0 1 0,0 0 0,0 0 0,0 0 0,0-1 0,0 1 0,0 0 0,1 0 0,-1-1 0,0 1 0,0 0 0,0 0 0,0-1 0,0 1 0,1 0 0,-1 0 0,0 0 0,0 0 0,0-1 0,0 1 0,1 0 0,-1 0 0,0 0 0,1 0 0,5-4 0,1 1 0,-1 0 0,1 1 0,0-1 0,0 1 0,10-1 0,49-8 0,84-3 0,75 9 0,-157 5 0,-9-1 28,273 2-85,-233 3 353,129 23 0,-227-26-290,84 17 129,-78-16-138,0 1 0,0-1 0,-1 1 0,1 0 0,-1 1 0,0 0 0,0 0-1,10 8 1,-15-11 3,1 1 0,-1-1 0,0 1 0,1 0 0,-1 0 0,0-1 0,0 1 0,0 0 0,0 0 0,0 0 0,-1 0 0,1 0 0,0 0 0,-1 0 0,0 0 0,1 1 0,-1-1 0,0 0 0,0 0 0,0 0 0,-1 0 0,1 0 0,0 0 0,-1 1 0,1-1 0,-1 0 0,0 0 0,0 0 0,0 0 0,0-1 0,0 1 0,0 0 0,0 0 0,-1-1 0,-1 3 0,-6 6 0,1-1 0,-1-1 0,-1 0 0,-17 13 0,-12 4 0,-2-1 0,0-3 0,-1-1 0,-52 17 0,29-16 0,-2-2 0,-82 11 0,52-19 0,-187-5 0,272-5 0,1-2 0,0 0 0,0 0 0,0-1 0,-17-5 0,26 7 0,0-1 0,0 0 0,-1 0 0,1 0 0,0-1 0,0 1 0,0-1 0,0 1 0,0-1 0,0 1 0,0-1 0,1 0 0,-1 0 0,1 0 0,-1 0 0,1 0 0,0 0 0,0-1 0,0 1 0,0 0 0,0 0 0,0-1 0,1 1 0,-1-1 0,1 1 0,-1-1 0,1 1 0,0-1 0,0 1 0,1-5 0,1-8 0,1 0 0,0 0 0,1 0 0,1 0 0,1 1 0,0-1 0,0 1 0,2 1 0,0 0 0,0 0 0,12-14 0,3 0 0,1 0 0,1 2 0,48-39 0,-72 64 0,2-4 0,1 1 0,0 0 0,0 0 0,0 1 0,0-1 0,0 1 0,0 0 0,1 0 0,-1 1 0,1-1 0,6-1 0,-11 3 0,0 0 0,1 0 0,-1 0 0,1 0 0,-1 0 0,0 1 0,1-1 0,-1 0 0,1 0 0,-1 0 0,0 0 0,1 1 0,-1-1 0,0 0 0,1 0 0,-1 0 0,0 1 0,1-1 0,-1 0 0,0 1 0,0-1 0,1 0 0,-1 1 0,0-1 0,0 0 0,0 1 0,1-1 0,-1 0 0,0 1 0,0-1 0,0 1 0,0-1 0,0 0 0,0 1 0,0-1 0,0 1 0,0-1 0,0 1 0,0 6 0,-1 0 0,1 0 0,-2-1 0,1 1 0,-1 0 0,0-1 0,-5 13 0,-27 47 0,29-57 0,-11 18 0,0 0 0,-2-1 0,-1-1 0,-1-1 0,-1 0 0,-1-2 0,-1 0 0,-1-2 0,0 0 0,-2-2 0,0-1 0,-1-1 0,-1-1 0,0-1 0,-50 16 0,25-15 0,-1-3 0,0-2 0,-60 3 0,32-9 0,-116-8 0,187 4 0,0-1 0,0-1 0,0 0 0,0 0 0,-16-7 0,26 9 0,-1-1 0,0 0 0,1 0 0,-1 0 0,1 0 0,-1 0 0,1 0 0,-1 0 0,1 0 0,0-1 0,0 1 0,0-1 0,0 1 0,0-1 0,0 1 0,0-1 0,-1-1 0,2 1 0,0 0 0,0 0 0,-1 0 0,1 0 0,1 0 0,-1 0 0,0 0 0,0 0 0,1 0 0,-1 0 0,1 1 0,0-1 0,-1 0 0,1 0 0,0 0 0,0 1 0,0-1 0,0 0 0,2-1 0,5-7 0,0 0 0,1 1 0,0 0 0,0 1 0,14-10 0,57-34 0,-45 31 0,-24 14 0,-6 3 0,0 0 0,0 0 0,1 1 0,-1 0 0,1 0 0,0 1 0,0-1 0,0 1 0,0 1 0,0-1 0,9 0 0,-15 2 0,0 0 0,1 0 0,-1 0 0,0 0 0,0 0 0,1 0 0,-1 0 0,0 0 0,0 0 0,1 0 0,-1 0 0,0 0 0,0 0 0,1 1 0,-1-1 0,0 0 0,0 0 0,0 0 0,1 0 0,-1 1 0,0-1 0,0 0 0,0 0 0,1 0 0,-1 1 0,0-1 0,0 0 0,0 0 0,0 1 0,0-1 0,0 0 0,0 0 0,0 1 0,1-1 0,-1 0 0,0 0 0,0 1 0,0-1 0,0 0 0,0 0 0,0 1 0,-1-1 0,1 0 0,0 1 0,0-1 0,0 0 0,0 0 0,0 1 0,0-1 0,-5 8 0,1-1 0,-1 1 0,-1-1 0,1-1 0,-1 1 0,0-1 0,-1 0 0,-9 7 0,7-5 0,-29 23 0,-1-1 0,-1-2 0,-2-2 0,-64 31 0,42-29 0,-1-3 0,-107 27 0,96-34 0,45-8 0,31-10 0,-1 0 0,1 0 0,0 0 0,0 0 0,0 0 0,0 0 0,0 0 0,0 0 0,0 0 0,0 0 0,0 0 0,0 0 0,0 0 0,-1 0 0,1 0 0,0 1 0,0-1 0,0 0 0,0 0 0,0 0 0,0 0 0,0 0 0,0 0 0,0 0 0,0 0 0,0 0 0,0 0 0,0 0 0,0 1 0,0-1 0,0 0 0,0 0 0,0 0 0,0 0 0,0 0 0,0 0 0,0 0 0,0 0 0,0 0 0,0 0 0,0 1 0,0-1 0,0 0 0,0 0 0,0 0 0,0 0 0,0 0 0,0 0 0,0 0 0,0 0 0,0 0 0,0 0 0,1 0 0,-1 0 0,0 0 0,0 0 0,0 1 0,0-1 0,0 0 0,0 0 0,0 0 0,0 0 0,0 0 0,0 0 0,0 0 0,1 0 0,-1 0 0,0 0 0,18 3 0,129 0 0,173-16 0,-314 12 0,1536-137-2067,-1347 111 2067,-178 25 2,-14 3-7,-22 7 124,-93 29 439,43-12 139,-120 25-1,-201 40-696,364-84 0,-15 6 0,36-8 0,11-3 0,14 0 0,0-1 0,32-5 0,-24 2 0,651-88-1055,-7-30-62,-639 115 1097,29-6 10,87-6-1,-140 17 11,0 1 0,0 1 0,16 2 0,-24-3 0,0 0 1,-1 0-1,1 0 0,0 1 0,0-1 0,-1 0 1,1 0-1,0 0 0,-1 1 0,1-1 1,-1 0-1,1 1 0,0-1 0,-1 1 0,1-1 1,-1 1-1,1-1 0,-1 1 0,1-1 0,-1 1 1,1-1-1,-1 1 0,0-1 0,1 2 0,-1-1 0,0 0-1,0 0 1,0-1-1,0 1 0,-1 0 1,1 0-1,0-1 0,0 1 1,-1 0-1,1-1 0,-1 1 1,1 0-1,-1-1 0,1 1 1,-1-1-1,1 1 0,-1-1 1,0 2-1,-35 21 150,35-23-127,-83 41 490,0-4 1,-3-4-1,-94 23 0,159-50-512,-1 0 0,1-1 0,-1-2 0,-31 2 0,52-5 0,0 0 0,0 0 0,0 0 0,0 0 0,0 0 0,0 0 0,0-1 0,0 1 0,0 0 0,0-1 0,1 0 0,-1 1 0,0-1 0,0 0 0,1 0 0,-1 0 0,0 0 0,1-1 0,-1 1 0,1 0 0,-1 0 0,1-1 0,0 1 0,0-1 0,-1 0 0,1 1 0,0-1 0,0 0 0,1 1 0,-1-1 0,0 0 0,1 0 0,-1 0 0,1 0 0,-1 0 0,1 0 0,0 0 0,0 0 0,0 0 0,0 0 0,0 0 0,0 0 0,1 1 0,-1-1 0,1-3 0,3-8 0,0 0 0,0-1 0,1 1 0,13-23 0,32-44 0,-19 31 0,-30 49 0,0-1 0,-1 0 0,1 0 0,-1 0 0,1 0 0,-1 0 0,1 0 0,-1 0 0,0 0 0,1 0 0,-1 0 0,0 0 0,0-1 0,0 1 0,0-1 0,0 1 0,0 1 0,-1 0 0,1-1 0,0 1 0,0 0 0,-1 0 0,1-1 0,0 1 0,0 0 0,-1 0 0,1-1 0,0 1 0,-1 0 0,1 0 0,0 0 0,-1 0 0,1-1 0,0 1 0,-1 0 0,1 0 0,0 0 0,-1 0 0,1 0 0,-1 0 0,1 0 0,0 0 0,-1 0 0,0 0 0,-4 1 0,-1 0 0,1 0 0,-1 1 0,-9 4 0,-62 25 0,-201 73 0,146-67 0,-1-6 0,-206 21 0,-812 6 0,1144-58 0,-1-1 0,0 1 0,1-1 0,-1-1 0,-12-3 0,19 5 0,0-1 0,0 1 0,0-1 0,0 1 0,0-1 0,0 1 0,0-1 0,0 0 0,0 1 0,0-1 0,0 0 0,0 0 0,0 0 0,0 0 0,1 0 0,-1 0 0,0 0 0,1 0 0,-1 0 0,1 0 0,-1 0 0,1 0 0,-1 0 0,1 0 0,0-1 0,0 1 0,-1 0 0,1 0 0,0-1 0,0 1 0,0 0 0,0 0 0,1 0 0,-1-1 0,0 1 0,0 0 0,1 0 0,-1 0 0,1 0 0,-1 0 0,1-1 0,-1 1 0,1 0 0,0 0 0,1-1 0,1-3 0,0 1 0,1-1 0,0 1 0,0 0 0,0 0 0,0 0 0,0 0 0,8-4 0,44-22 0,-8 10 0,1 1 0,90-20 0,110-7 0,339-7-708,2 44-26,-552 9 715,7-1-16,73 10 1,-114-9 34,-1 0 0,0 0 0,0 1 0,1 0 0,-1 0 0,0 0 0,0 0 0,0 0 0,0 1 0,0-1 0,0 1 0,-1 0 0,1 0 0,0 0 0,-1 0 0,4 4 0,-5-5 0,-1 0 0,1 0 0,-1 0 0,0 0 0,1 0 0,-1 0 0,0 1 0,1-1 0,-1 0 0,0 0 0,0 0 0,0 1 0,0-1 0,0 0 0,0 0 0,-1 3 0,0-1 0,0 0 0,-1 0 0,1 0 0,-1 0 0,0 0 0,1 0 0,-5 5 0,-6 5 119,-1-1 1,0 0-1,0-1 1,-1 0-1,-1-1 0,1 0 1,-2-2-1,-24 11 1,-10 2 98,-80 21 0,19-15-213,-2-5 1,0-5-1,-140 3 0,-355-24-7,387-6 2,-248-5 0,-300 35 0,742-18 0,14 0 0,-1-1 0,-27-1 0,37 0 0,0-1 0,0 0 0,0 0 0,0 0 0,1 0 0,-1 0 0,0-1 0,0 0 0,1 0 0,-1 0 0,1 0 0,0 0 0,0-1 0,-5-4 0,1 2 0,1-1 0,-1 1 0,-1 0 0,1 0 0,-1 1 0,0 0 0,0 1 0,0-1 0,0 2 0,0-1 0,-11-1 0,-14-2 0,-51-3 0,78 9 0,-57-3 0,-1 3 0,1 3 0,-74 13 0,123-13 0,0 1 0,1 0 0,0 1 0,0 0 0,-24 14 0,-5 2 0,40-20 0,0 1 0,0-1 0,-1-1 0,1 1 0,0 0 0,-1 0 0,1-1 0,-1 0 0,1 1 0,0-1 0,-1 0 0,1 0 0,-1 0 0,1-1 0,-1 1 0,-3-1 0,5 0 0,-1 0 0,0 0 0,1 0 0,0-1 0,-1 1 0,1 0 0,0-1 0,-1 1 0,1 0 0,0-1 0,0 1 0,0-1 0,1 0 0,-1 1 0,0-1 0,0 0 0,1 0 0,-1 1 0,1-1 0,0 0 0,-1 0 0,1-3 0,-1-9 0,1 0 0,0 0 0,1 0 0,0 0 0,1 0 0,0 1 0,9-25 0,-3 16 0,0-1 0,2 1 0,22-35 0,-29 53 0,0 0 0,0 0 0,0 0 0,0 1 0,1 0 0,0 0 0,-1 0 0,1 0 0,0 0 0,0 1 0,1-1 0,-1 1 0,0 0 0,1 1 0,-1-1 0,1 1 0,0 0 0,-1 0 0,1 0 0,0 1 0,0-1 0,7 2 0,-8-1 0,-1 0 0,1 1 0,0 0 0,-1-1 0,1 1 0,-1 1 0,1-1 0,-1 0 0,0 1 0,0 0 0,1 0 0,-1 0 0,0 0 0,-1 0 0,1 1 0,0-1 0,-1 1 0,1 0 0,-1 0 0,0-1 0,0 2 0,0-1 0,0 0 0,0 0 0,-1 1 0,0-1 0,1 0 0,-1 1 0,1 6 0,-2-7 0,0 1 0,-1 0 0,1 0 0,0 0 0,-1 0 0,0-1 0,0 1 0,0 0 0,-1-1 0,1 1 0,-1-1 0,0 1 0,0-1 0,0 0 0,0 0 0,0 0 0,-1 0 0,-5 5 0,-4 4 0,-1 0 0,-26 17 0,14-12 0,0-2 0,-47 21 0,60-31 0,0 0 0,-1-1 0,1 0 0,-1-1 0,0-1 0,0 0 0,0-1 0,-22 0 0,28-2 0,0-1 0,0 0 0,0-1 0,0 0 0,1 0 0,-1 0 0,1-1 0,0 1 0,0-2 0,0 1 0,-7-7 0,-27-18 0,18 17 0,1 1 0,-1 1 0,-1 0 0,0 2 0,0 1 0,0 1 0,-31-4 0,11 4 0,-23-2 0,-74-1 0,-163 10-1365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8:06.643"/>
    </inkml:context>
    <inkml:brush xml:id="br0">
      <inkml:brushProperty name="width" value="0.35" units="cm"/>
      <inkml:brushProperty name="height" value="0.35" units="cm"/>
      <inkml:brushProperty name="color" value="#FFFFFF"/>
    </inkml:brush>
  </inkml:definitions>
  <inkml:trace contextRef="#ctx0" brushRef="#br0">0 96 24575,'24'0'0,"23"-1"0,1 2 0,0 2 0,61 13 0,11 13 0,-29-6 0,102 13 0,-9-24 0,191-11 0,-158-4 0,1485 3 0,-1534 15 0,-94-6 0,-5-1 0,142 9 0,1661-18 0,-1928 1 0,-648-15 0,-51 4 0,478 13 0,-498-2 0,713-2 0,55 1 0,1 0 0,0 0 0,0 0 0,0-1 0,0 0 0,0 0 0,-8-5 0,13 7 0,1 0 0,0 0 0,0 0 0,-1 0 0,1 0 0,0 0 0,0 0 0,-1-1 0,1 1 0,0 0 0,0 0 0,-1 0 0,1 0 0,0-1 0,0 1 0,0 0 0,-1 0 0,1-1 0,0 1 0,0 0 0,0 0 0,0-1 0,0 1 0,-1 0 0,1 0 0,0-1 0,0 1 0,0 0 0,0-1 0,0 1 0,0 0 0,0 0 0,0-1 0,0 1 0,0 0 0,0-1 0,0 1 0,1-1 0,10-5 0,22-1 0,82-1 0,130 7 0,-122 3 0,2447 1 0,-1368-5 0,-1170 1 0,57-11 0,-16 1 0,5 2 0,103-7 0,844 17 0,-996-2 0,49-9 0,-48 5 0,39-2 0,486 6 0,-267 3 0,-118-1 0,185-3 0,-232-10 0,36 0 0,2145 13 0,-1334-1 0,-879-5 0,0-4 0,106-24 0,112-11 0,234 39 0,-298 7 0,309-2-1365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8:10.093"/>
    </inkml:context>
    <inkml:brush xml:id="br0">
      <inkml:brushProperty name="width" value="0.35" units="cm"/>
      <inkml:brushProperty name="height" value="0.35" units="cm"/>
      <inkml:brushProperty name="color" value="#FFFFFF"/>
    </inkml:brush>
  </inkml:definitions>
  <inkml:trace contextRef="#ctx0" brushRef="#br0">1 1 24575,'1200'0'0,"-1176"1"0,0 1 0,26 6 0,-24-3 0,38 2 0,194-8-1365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19:10.51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44.894"/>
    </inkml:context>
    <inkml:brush xml:id="br0">
      <inkml:brushProperty name="width" value="0.35" units="cm"/>
      <inkml:brushProperty name="height" value="0.35" units="cm"/>
      <inkml:brushProperty name="color" value="#FFFFFF"/>
    </inkml:brush>
  </inkml:definitions>
  <inkml:trace contextRef="#ctx0" brushRef="#br0">0 1 24575,'0'-1'-8191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46.28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47.056"/>
    </inkml:context>
    <inkml:brush xml:id="br0">
      <inkml:brushProperty name="width" value="0.35" units="cm"/>
      <inkml:brushProperty name="height" value="0.35" units="cm"/>
      <inkml:brushProperty name="color" value="#FFFFFF"/>
    </inkml:brush>
  </inkml:definitions>
  <inkml:trace contextRef="#ctx0" brushRef="#br0">0 43 24575,'233'1'0,"248"-3"0,-469 2 0,68-6 0,-73 5 0,0 0 0,0 0 0,0-1 0,-1 0 0,1-1 0,0 1 0,-1-1 0,11-7 0,-17 10 0,0 0 0,-1 0 0,1 0 0,0 0 0,0 0 0,-1 0 0,1 0 0,0 0 0,0 0 0,0 0 0,-1 0 0,1-1 0,0 1 0,0 0 0,0 0 0,0 0 0,-1 0 0,1 0 0,0-1 0,0 1 0,0 0 0,0 0 0,0 0 0,-1-1 0,1 1 0,0 0 0,0 0 0,0 0 0,0-1 0,0 1 0,0 0 0,0 0 0,0-1 0,0 1 0,0 0 0,0 0 0,0 0 0,0-1 0,0 1 0,0 0 0,0 0 0,0-1 0,0 1 0,0 0 0,1 0 0,-1 0 0,0-1 0,0 1 0,0 0 0,0 0 0,0 0 0,0 0 0,1-1 0,-1 1 0,0 0 0,0 0 0,0 0 0,0 0 0,1 0 0,-1 0 0,0-1 0,0 1 0,1 0 0,-1 0 0,-23-1 0,21 1 0,-65 4 137,-74 14-1,14-1-1774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48.114"/>
    </inkml:context>
    <inkml:brush xml:id="br0">
      <inkml:brushProperty name="width" value="0.35" units="cm"/>
      <inkml:brushProperty name="height" value="0.35" units="cm"/>
      <inkml:brushProperty name="color" value="#FFFFFF"/>
    </inkml:brush>
  </inkml:definitions>
  <inkml:trace contextRef="#ctx0" brushRef="#br0">1 31 24575,'0'-3'0,"0"-4"0,9-1 0,9 1 0,10 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51.630"/>
    </inkml:context>
    <inkml:brush xml:id="br0">
      <inkml:brushProperty name="width" value="0.35" units="cm"/>
      <inkml:brushProperty name="height" value="0.35" units="cm"/>
      <inkml:brushProperty name="color" value="#FFFFFF"/>
    </inkml:brush>
  </inkml:definitions>
  <inkml:trace contextRef="#ctx0" brushRef="#br0">1 1 24575,'937'0'0,"-932"0"0,0 0 0,0 1 0,1-1 0,-1 2 0,0-1 0,0 0 0,0 1 0,0 0 0,-1 0 0,1 0 0,8 7 0,-1 0 0,0 0 0,19 22 0,-28-28 0,0 0 0,0 0 0,1 0 0,-1 0 0,1 0 0,-1-1 0,1 1 0,0-1 0,0 0 0,0 0 0,0-1 0,0 1 0,1-1 0,-1 0 0,0 0 0,1 0 0,-1-1 0,1 0 0,6 0 0,4 0-1365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55.227"/>
    </inkml:context>
    <inkml:brush xml:id="br0">
      <inkml:brushProperty name="width" value="0.35" units="cm"/>
      <inkml:brushProperty name="height" value="0.35" units="cm"/>
      <inkml:brushProperty name="color" value="#FFFFFF"/>
    </inkml:brush>
  </inkml:definitions>
  <inkml:trace contextRef="#ctx0" brushRef="#br0">1 1 24575,'1025'0'0,"-1022"-1"22,0 1-1,0 0 0,1 0 1,-1 1-1,0-1 0,0 1 1,1 0-1,-1 0 0,0 0 1,0 0-1,0 0 0,0 1 1,0-1-1,-1 1 0,5 3 1,-5-3-123,0 1 1,0-1-1,0 1 1,-1-1 0,1 1-1,-1 0 1,0 0-1,0 0 1,0 0 0,0 0-1,0 0 1,0 0 0,-1 0-1,0 0 1,1 0-1,-2 4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0:58.045"/>
    </inkml:context>
    <inkml:brush xml:id="br0">
      <inkml:brushProperty name="width" value="0.35" units="cm"/>
      <inkml:brushProperty name="height" value="0.35" units="cm"/>
      <inkml:brushProperty name="color" value="#FFFFFF"/>
    </inkml:brush>
  </inkml:definitions>
  <inkml:trace contextRef="#ctx0" brushRef="#br0">1 1 24575,'1'0'0,"1"0"0,0 1 0,-1 0 0,1-1 0,0 1 0,-1 0 0,1 0 0,-1 0 0,1 0 0,1 2 0,6 4 0,6-1 0,0 1 0,0-2 0,0 0 0,1 0 0,0-2 0,0 0 0,24 1 0,120-4 0,-72-3 0,230 3 0,-314 1-91,1-1 0,-1 0 0,0-1 0,0 1 0,0-1 0,0 0 0,1 0 0,-1 0 0,-1-1 0,1 1 0,0-1 0,0 0 0,0 0 0,6-5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04.341"/>
    </inkml:context>
    <inkml:brush xml:id="br0">
      <inkml:brushProperty name="width" value="0.35" units="cm"/>
      <inkml:brushProperty name="height" value="0.35" units="cm"/>
      <inkml:brushProperty name="color" value="#FFFFFF"/>
    </inkml:brush>
  </inkml:definitions>
  <inkml:trace contextRef="#ctx0" brushRef="#br0">89 1 24575,'1'91'0,"-3"101"0,0-179 0,0 1 0,-1-1 0,-1 0 0,0-1 0,-8 16 0,5-10 0,-9 30 0,4 2 0,2 0 0,3 1 0,-2 100 0,10 252 0,-1-393 0,1 0 0,1 0 0,-1 0 0,1 0 0,1-1 0,0 1 0,7 14 0,2 1 0,22 33 0,-32-55 19,0-1 0,0 1 0,1 0 0,-1-1 0,1 0-1,-1 1 1,1-1 0,0 0 0,-1 0 0,1-1 0,0 1-1,0-1 1,1 1 0,-1-1 0,0 0 0,0 0 0,5 0 0,4 1-360,0-1 0,0 0 0,18-2 0,-24 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13.51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17.28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29.325"/>
    </inkml:context>
    <inkml:brush xml:id="br0">
      <inkml:brushProperty name="width" value="0.1" units="cm"/>
      <inkml:brushProperty name="height" value="0.1" units="cm"/>
      <inkml:brushProperty name="color" value="#FFFFFF"/>
    </inkml:brush>
  </inkml:definitions>
  <inkml:trace contextRef="#ctx0" brushRef="#br0">13 2 24575,'31'-1'0,"-17"1"0,1-1 0,-1 2 0,0 0 0,21 4 0,-73 2 0,-59-7 0,103 4 0,1 0 0,0-1 0,12 5 0,-7-5-195,0-1 0,-1 1 0,1-2 0,0 0 0,0 0 0,13-2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31.458"/>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35.936"/>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36.598"/>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38.155"/>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1:38.770"/>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9:25:03.485"/>
    </inkml:context>
    <inkml:brush xml:id="br0">
      <inkml:brushProperty name="width" value="0.35" units="cm"/>
      <inkml:brushProperty name="height" value="0.35" units="cm"/>
      <inkml:brushProperty name="color" value="#FFFFFF"/>
    </inkml:brush>
  </inkml:definitions>
  <inkml:trace contextRef="#ctx0" brushRef="#br0">18 2 24575,'84'-2'0,"93"4"0,-175-2 0,0 0 0,0 0 0,0 1 0,0-1 0,0 0 0,0 1 0,-1-1 0,1 1 0,0 0 0,0-1 0,0 1 0,-1 0 0,1 0 0,0 0 0,-1 0 0,1 0 0,-1 1 0,1-1 0,-1 0 0,2 4 0,-2-4 0,0 1 0,-1 0 0,1-1 0,-1 1 0,0 0 0,1 0 0,-1-1 0,0 1 0,0 0 0,0 0 0,-1-1 0,1 1 0,0 0 0,-1 0 0,1-1 0,-1 1 0,1 0 0,-2 1 0,-1 4 0,-1 0 0,0 0 0,0-1 0,-1 0 0,1 0 0,-2 0 0,1 0 0,0-1 0,-8 6 0,2-3 0,0 0 0,-1 0 0,-1-1 0,1-1 0,-1 0 0,0 0 0,-1-2 0,1 1 0,-1-2 0,0 0 0,0 0 0,-19 0 0,-43-5 0,143 1 0,-15 1 0,0-2 0,101-17 0,129-44 0,-243 57 0,1 2 0,0 2 0,66 3 0,-22 1 0,1234-2 0,-1295 2 0,1 0 0,25 6 0,-24-3 0,39 2 0,-38-6 0,38 9 0,-37-5 0,31 2 0,68 5 0,33 1 0,-141-13 0,-24 0 0,-32-1 0,-783 1 0,798 1 0,0 1 0,-25 6 0,21-3 0,-27 1 0,-96-5-78,107-1-1209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18:13.573"/>
    </inkml:context>
    <inkml:brush xml:id="br0">
      <inkml:brushProperty name="width" value="0.1" units="cm"/>
      <inkml:brushProperty name="height" value="0.1" units="cm"/>
      <inkml:brushProperty name="color" value="#E71224"/>
    </inkml:brush>
  </inkml:definitions>
  <inkml:trace contextRef="#ctx0" brushRef="#br0">1926 720 24476,'32'50'0,"-1"0"0,-2 2 0,0 0 0,-3 1 0,-1 1 0,-1 0 0,-1 1 0,-3 0 0,-1 1 0,-1 0 0,-2 0 0,-2 0 0,-1 1 0,-3-1 0,0 0 0,-3 0 0,-1 0 0,-2-1 0,-2 0 0,-2-1 0,-1-1 0,-2 0 0,-2-1 0,-2-1 0,-1-1 0,-2-1 0,-2-1 0,-1-2 0,-2 0 0,-2-2 0,-2-2 0,-1-1 0,-1-1 0,-2-2 0,-2-2 0,-1-2 0,-1-1 0,-2-2 0,-1-2 0,-2-2 0,0-1 0,-2-3 0,-1-2 0,-1-2 0,-1-2 0,-1-2 0,-1-3 0,-1-1 0,0-3 0,-2-1 0,1-3 0,-2-3 0,0-1 0,0-3 0,-1-2 0,-1-2 0,1-2 0,-1-3 0,1-1 0,-1-3 0,0-2 0,0-2 0,1-2 0,-1-2 0,1-2 0,1-2 0,-1-1 0,2-3 0,-1-2 0,2-1 0,0-2 0,1-1 0,0-3 0,2 0 0,0-2 0,2-2 0,1-1 0,0-1 0,2-1 0,1-2 0,1 0 0,2-1 0,1-2 0,1 0 0,2-1 0,1 0 0,2-1 0,1 0 0,2-1 0,1 0 0,2 0 0,2 0 0,2-1 0,1 1 0,2 0 0,1 0 0,3 0 0,1 1 0,1 0 0,3 1 0,1 1 0,3 0 0,0 1 0,3 1 0,1 1 0,2 1 0,2 1 0,2 2 0,1 0 0,2 2 0,1 2 0,2 1 0,1 1 0,3 2 0,0 2 0,2 2 0,2 1 0,0 2 0,2 2 0,2 2 0,1 2 0,0 1 0,2 3 0,1 2 0,1 2 0,1 2 0,1 3 0,1 1 0,1 3 0,0 1 0,1 4 0,0 1 0,1 2 0,1 3 0,0 2 0,0 2 0,0 2 0,1 3 0,0 1 0,0 3 0,-1 2 0,1 2 0,0 2 0,-1 2 0,0 2 0,0 2 0,-1 1 0,0 3 0,-1 2 0,0 1 0,-2 2 0,1 1 0,-2 3 0,-1 0 0,0 2 0,-2 2 0,0 1 0,-2 1 0,-1 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21:29.475"/>
    </inkml:context>
    <inkml:brush xml:id="br0">
      <inkml:brushProperty name="width" value="0.1" units="cm"/>
      <inkml:brushProperty name="height" value="0.1" units="cm"/>
      <inkml:brushProperty name="color" value="#E71224"/>
    </inkml:brush>
  </inkml:definitions>
  <inkml:trace contextRef="#ctx0" brushRef="#br0">382 382 24539,'-381'-381'0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21:59.978"/>
    </inkml:context>
    <inkml:brush xml:id="br0">
      <inkml:brushProperty name="width" value="0.1" units="cm"/>
      <inkml:brushProperty name="height" value="0.1" units="cm"/>
      <inkml:brushProperty name="color" value="#E71224"/>
    </inkml:brush>
  </inkml:definitions>
  <inkml:trace contextRef="#ctx0" brushRef="#br0">0 482 24575,'130'-481'0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32:54.024"/>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0 0,'841'6'0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32:57.938"/>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0 0,'841'6'0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34:25.276"/>
    </inkml:context>
    <inkml:brush xml:id="br0">
      <inkml:brushProperty name="width" value="0.35" units="cm"/>
      <inkml:brushProperty name="height" value="0.35" units="cm"/>
      <inkml:brushProperty name="color" value="#FFFFFF"/>
    </inkml:brush>
  </inkml:definitions>
  <inkml:trace contextRef="#ctx0" brushRef="#br0">721 397 24575,'-14'20'0,"13"-20"0,1 1 0,0 0 0,0 0 0,-1-1 0,1 1 0,0 0 0,0 0 0,0-1 0,0 1 0,0 0 0,0 0 0,0-1 0,0 1 0,0 0 0,1 0 0,-1-1 0,0 1 0,1 1 0,0 0 0,1 0 0,0-1 0,0 1 0,0 0 0,0-1 0,0 1 0,0-1 0,1 0 0,-1 0 0,0 0 0,1 0 0,-1 0 0,0 0 0,1-1 0,2 1 0,58 13 0,117 11 0,68-13 0,-98-10 0,-61-3 0,1 4 0,128 21 0,-160-14 0,1-1 0,115 0 0,-148-9 0,205-12 0,-170 3 0,0 3 0,116 4 0,-160 5 0,1 1 0,-1 1 0,0 0 0,0 1 0,0 1 0,-1 0 0,18 12 0,-12-7 0,1-1 0,38 13 0,-53-22 0,-1 1 0,0 0 0,1 0 0,-1 0 0,-1 1 0,1 0 0,-1 1 0,9 6 0,-1 3 0,0 1 0,11 16 0,-19-25 0,5 7 0,1-1 0,0-1 0,1 0 0,16 10 0,-17-13 0,0 1 0,-1 0 0,0 1 0,-1 0 0,19 23 0,34 63 0,-57-82 0,0 1 0,-1-1 0,0 1 0,-1 0 0,-1 0 0,1 15 0,0-10 0,4 43 0,-5-37 0,1 1 0,10 35 0,-14-62 0,0 0 0,0 0 0,1 0 0,-1 0 0,0 0 0,0-1 0,0 1 0,0 0 0,0 0 0,0 0 0,0 0 0,0 0 0,0 0 0,0 0 0,0 0 0,0 0 0,0 0 0,0 0 0,0 0 0,0 0 0,0 0 0,0 0 0,0 0 0,0 0 0,1 0 0,-1 0 0,0 0 0,0 0 0,0 0 0,0 0 0,0 0 0,0 0 0,0 0 0,0 0 0,0 0 0,0 0 0,0 0 0,0 0 0,0 0 0,0 0 0,0 0 0,1 0 0,-1 0 0,0 0 0,0 0 0,0 0 0,0 0 0,0 0 0,0 0 0,0 0 0,2-12 0,0-17 0,-4-73 0,3-96 0,0 190 0,1 0 0,0 1 0,0-1 0,0 0 0,1 0 0,0 1 0,0 0 0,1-1 0,0 1 0,1 0 0,-1 1 0,6-7 0,-9 12 0,0 0 0,0 0 0,0 0 0,0 1 0,0-1 0,0 0 0,0 0 0,0 1 0,0-1 0,0 0 0,0 1 0,0-1 0,0 1 0,0-1 0,1 1 0,-1 0 0,0 0 0,0-1 0,1 1 0,-1 0 0,0 0 0,0 0 0,1 0 0,-1 1 0,1-1 0,0 1 0,0 0 0,0 0 0,0 0 0,0 0 0,-1 1 0,1-1 0,0 1 0,-1-1 0,1 1 0,-1-1 0,1 1 0,-1 0 0,1 2 0,3 5 0,0 0 0,-1 1 0,0 0 0,0-1 0,1 12 0,1 19 0,-1 0 0,-3 1 0,-1-1 0,-5 47 0,1 15 0,4-72 0,-1-16 0,1 0 0,-2 0 0,0 0 0,-4 22 0,4-32 0,0-1 0,0 0 0,0 1 0,0-1 0,-1 0 0,0 0 0,1 0 0,-1 0 0,0 0 0,-1-1 0,1 1 0,0 0 0,-1-1 0,1 0 0,-1 1 0,0-1 0,0 0 0,0-1 0,0 1 0,0 0 0,0-1 0,0 0 0,-5 2 0,1-2 0,1 1 0,-1-1 0,0-1 0,1 1 0,-1-1 0,0 0 0,0-1 0,1 0 0,-1 0 0,-6-2 0,-10-4 0,-34-14 0,34 11 0,-234-103 0,192 79 0,-113-79 0,168 106 0,1-2 0,-1 0 0,1 0 0,1 0 0,0-1 0,0 0 0,1-1 0,-9-16 0,0-7 0,-17-54 0,-4-8 0,34 90 0,0-1 0,-1 1 0,1 0 0,-1 1 0,-5-7 0,8 11 0,1 0 0,-1 0 0,0 1 0,0-1 0,1 0 0,-1 1 0,0-1 0,0 1 0,1-1 0,-1 1 0,0-1 0,0 1 0,0 0 0,0-1 0,0 1 0,0 0 0,0 0 0,0-1 0,0 1 0,0 0 0,0 0 0,0 0 0,1 0 0,-1 1 0,0-1 0,0 0 0,0 0 0,0 0 0,0 1 0,0-1 0,0 1 0,0-1 0,0 0 0,1 1 0,-1-1 0,0 1 0,0 0 0,1-1 0,-1 1 0,0 0 0,1-1 0,-1 1 0,0 0 0,1 0 0,-1 0 0,0 1 0,-24 38 0,2 1 0,-24 59 0,3-6 0,-29 31 0,52-90 0,21-35 0,0 0 0,0 1 0,0-1 0,-1 0 0,1 1 0,0-1 0,0 0 0,0 1 0,0-1 0,0 0 0,0 1 0,-1-1 0,1 0 0,0 1 0,0-1 0,0 0 0,0 1 0,0-1 0,0 1 0,1-1 0,-1 0 0,0 1 0,0-1 0,0 0 0,0 1 0,0-1 0,0 0 0,1 1 0,-1-1 0,0 0 0,0 1 0,0-1 0,1 0 0,-1 0 0,0 1 0,1-1 0,-1 0 0,0 0 0,0 0 0,1 1 0,-1-1 0,0 0 0,1 0 0,-1 0 0,0 0 0,1 0 0,-1 0 0,0 1 0,1-1 0,-1 0 0,1 0 0,9-1 0,1 0 0,-1 0 0,0-1 0,0 0 0,0-1 0,0 0 0,-1 0 0,14-8 0,7-1 0,65-26 0,-1-3 0,-3-5 0,-1-4 0,140-104 0,-214 143 0,-11 7 0,0 1 0,0-1 0,0 0 0,0 0 0,-1-1 0,0 1 0,1-1 0,3-6 0,-8 10 0,0 1 0,0-1 0,0 1 0,0 0 0,1-1 0,-1 1 0,0-1 0,0 1 0,0-1 0,0 1 0,0-1 0,-1 1 0,1-1 0,0 1 0,0 0 0,0-1 0,0 1 0,0-1 0,-1 1 0,1-1 0,0 1 0,0 0 0,-1-1 0,1 1 0,0 0 0,0-1 0,-1 1 0,1 0 0,-1-1 0,1 1 0,0 0 0,-1 0 0,1-1 0,0 1 0,-1 0 0,1 0 0,-1 0 0,1 0 0,-1-1 0,1 1 0,-1 0 0,1 0 0,-1 0 0,-26-3 0,24 2 0,-330 3 0,171 2 0,-471 0 0,609-5 0,0 2 0,-1 0 0,1 2 0,1 0 0,-1 2 0,-44 15 0,24-5 0,0-1 0,-1-2 0,-65 9 0,33-13 0,-102-2 0,-748-9 0,894 5 0,-46 7 0,-5 1 0,83-10 0,-1 1 0,1-1 0,-1 0 0,1 0 0,0 0 0,-1 0 0,1 0 0,0 0 0,-1 0 0,1-1 0,-1 1 0,1 0 0,0-1 0,-1 1 0,1-1 0,0 1 0,0-1 0,-1 0 0,1 1 0,0-1 0,0 0 0,-2-2 0,3 2 0,0 0 0,0 0 0,-1 0 0,1-1 0,0 1 0,0 0 0,0 0 0,1 0 0,-1-1 0,0 1 0,0 0 0,1 0 0,-1 0 0,1 0 0,-1 0 0,1 0 0,-1 0 0,1 0 0,-1 0 0,2-2 0,6-7 0,1 0 0,-1 1 0,20-16 0,0 5 0,0 0 0,2 3 0,0 0 0,0 2 0,2 1 0,-1 2 0,37-10 0,21 0 0,129-17 0,227 5 0,1 34 0,-409 0 0,-9-1 0,-1 2 0,0 1 0,0 0 0,0 3 0,28 6 0,-51-9 0,0-1 0,0 1 0,0 0 0,0 0 0,0 1 0,0-1 0,-1 1 0,1-1 0,-1 1 0,0 0 0,1 1 0,-2-1 0,1 0 0,0 1 0,-1 0 0,1-1 0,-1 1 0,0 0 0,0 0 0,-1 0 0,1 1 0,-1-1 0,0 0 0,0 1 0,0 7 0,0-5 0,-1 0 0,0 0 0,-1 0 0,1-1 0,-1 1 0,-1 0 0,1-1 0,-1 1 0,-1 0 0,1-1 0,-1 0 0,0 0 0,0 0 0,-1 0 0,0 0 0,-8 9 0,-1-2 0,0-1 0,-1-1 0,0 0 0,-1 0 0,-1-2 0,-20 10 0,-103 39 0,126-53 0,-136 46-214,-247 50-1,-158-24-214,462-71 429,-92 13 0,156-11 0,28-8 0,0 0 0,-1 0 0,1 0 0,0 0 0,-1 0 0,1 0 0,0 0 0,0 1 0,-1-1 0,1 0 0,0 0 0,0 0 0,-1 1 0,1-1 0,0 0 0,0 0 0,0 0 0,-1 1 0,1-1 0,0 0 0,0 1 0,0-1 0,0 0 0,0 0 0,0 1 0,0-1 0,-1 0 0,1 1 0,0-1 0,0 0 0,0 0 0,0 1 0,0-1 0,0 0 0,1 1 0,1 1 0,0 0 0,0-1 0,0 1 0,1-1 0,-1 0 0,1 1 0,-1-1 0,1 0 0,0 0 0,-1-1 0,1 1 0,4 0 0,66 11 0,1-2 0,105-1 0,-142-8 0,155 2-8,372-41 0,-426 16 56,-1-5 1,-1-6-1,182-71 0,-286 93 126,-75 28-209,-31 7-17,0-4 0,-93 14 0,-161 6-196,157-21 194,109-11 54,6-3 0,-76 19 0,120-18 0,26-1 0,96 1 0,115-9 0,97-10-164,1327-131-2364,-1544 127 3098,-88 12-445,-17 4-125,0 1 0,0 0 0,0 0 1,0 0-1,0 0 0,0 0 1,0 0-1,0-1 0,0 1 1,0 0-1,0 0 0,0 0 0,0 0 1,0 0-1,0-1 0,0 1 1,0 0-1,0 0 0,0 0 0,0 0 1,0 0-1,0 0 0,0-1 1,0 1-1,-1 0 0,1 0 1,0 0-1,0 0 0,0 0 0,0 0 1,0 0-1,0-1 0,0 1 1,0 0-1,0 0 0,-1 0 1,1 0-1,0 0 0,0 0 0,0 0 1,0 0-1,0 0 0,0 0 1,-1 0-1,1 0 0,0 0 1,0 0-1,0 0 0,0 0 0,0 0 1,-1 0-1,1 0 0,0 0 1,0 0-1,0 0 0,0 0 0,0 0 1,0 0-1,-1 0 0,-24-3 0,0 0 0,0 1 0,-33 3 0,10 0 0,-1235 2 1059,203 0 121,975-1-773,-111-5-73,208 2-334,0 0 0,0 0 0,0 0 0,0-1 0,-13-5 0,18 6 0,1-1 0,0 1 0,-1 0 0,1-1 0,0 1 0,0-1 0,-1 0 0,1 0 0,1 0 0,-1 0 0,0 0 0,0 0 0,1 0 0,-1 0 0,1-1 0,0 1 0,0-1 0,0 1 0,0-1 0,-1-2 0,1-4 0,-1 0 0,2 1 0,-1-1 0,1 0 0,1 0 0,1-14 0,16-52 0,-14 60 0,75-227 0,-43 138 0,-29 80 0,5-31 0,-9 37 0,1 0 0,0 0 0,2 1 0,7-18 0,11-11 0,2 1 0,2 2 0,2 0 0,52-57 0,-71 87 0,2 1 0,-1 0 0,2 0 0,23-15 0,-35 25 0,0 1 0,-1 0 0,1 0 0,0 0 0,0 1 0,0-1 0,0 0 0,0 1 0,0-1 0,0 1 0,1 0 0,-1-1 0,0 1 0,0 0 0,0 0 0,0 1 0,0-1 0,0 0 0,0 1 0,0-1 0,0 1 0,0 0 0,0 0 0,0-1 0,0 1 0,0 0 0,0 1 0,-1-1 0,1 0 0,0 1 0,-1-1 0,1 0 0,1 3 0,4 5 0,0 1 0,-1-1 0,0 1 0,-1 1 0,4 11 0,-4-11 0,16 39 0,-3 1 0,-1 1 0,-4 0 0,-1 1 0,5 64 0,3 278 0,-16-232 0,-3-134 23,24 308-1411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34:31.489"/>
    </inkml:context>
    <inkml:brush xml:id="br0">
      <inkml:brushProperty name="width" value="0.35" units="cm"/>
      <inkml:brushProperty name="height" value="0.35" units="cm"/>
      <inkml:brushProperty name="color" value="#FFFFFF"/>
    </inkml:brush>
  </inkml:definitions>
  <inkml:trace contextRef="#ctx0" brushRef="#br0">38 1 24575,'-2'0'0,"1"0"0,-1 0 0,1 1 0,-1-1 0,1 1 0,-1-1 0,0 1 0,1 0 0,0 0 0,-1-1 0,1 1 0,0 0 0,-1 0 0,1 1 0,0-1 0,0 0 0,0 0 0,0 0 0,0 1 0,0-1 0,0 1 0,0-1 0,1 1 0,-1-1 0,0 1 0,1-1 0,-1 1 0,1-1 0,0 1 0,0 0 0,-1 1 0,-1 8 0,1 1 0,0 0 0,1 13 0,1-17 0,-1 3 32,1-1 1,0 1-1,1 0 0,0-1 0,1 1 1,5 13-1,30 55 28,-26-58-610,-1 0-1,13 40 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40:47.29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 0,'590'36'0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0:51.24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0,'13'2,"-1"0,1 0,0 1,0 1,-1 0,0 1,0 0,16 10,-21-12,14 6,1-2,0 0,1-1,-1-1,31 2,-38-5,133 19,-130-19,0 0,30-2,6 1,-28 1,0 1,30 8,15 6,-46-13,-20-3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0:56.40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1,'0'1,"0"1,0 0,1 0,-1-1,1 1,-1 0,1-1,0 1,-1-1,1 1,0-1,0 1,0-1,1 1,-1-1,0 0,2 2,30 19,-5-3,44 45,-41-36,-21-20,-1 0,13 15,-15-14,0-1,1 1,10 8,-5-6,-1 1,12 18,-13-17,0 0,19 16,30 28,12 9,-12-6,-57-57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0:59.75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1,'4'5,"0"1,0 0,0-1,1 0,0 0,10 8,-9-8,0 0,0 1,0 0,8 11,-4-2,2-1,17 18,6 7,-26-28,1 0,21 17,-26-24,1 0,-1 0,1 0,0-1,0 0,0 0,0-1,9 3,-8-4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41:03.69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31 0,'291'-30'0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1:17.71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4,'62'-2,"-31"1,1 0,0 3,31 4,-33-1,42 0,-26-3,-33-1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1:19.48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0,'11'10,"1"-1,25 14,-2-6,-28-14,0 0,0 1,-1-1,1 1,-1 0,10 9,-7-6,-1 0,1-1,18 10,0 0,-16-10,-6-4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1:41:21.77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58 82 0,'204'156'0,"-465"-394"0,318 320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1:26.07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118 95,'-3'-4,"1"0,-1 0,0 0,0 1,0-1,-7-5,-40-30,14 18,31 19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1:29.58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569 0,'-560'0,"552"0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6T21:41:39.18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0,'4'0,"8"0,4 0,3 0,3 1,2 0,1 0,0 0,-2 1,-4-1,-3 0,-4 0,-4-1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20:00:36.617"/>
    </inkml:context>
    <inkml:brush xml:id="br0">
      <inkml:brushProperty name="width" value="0.35" units="cm"/>
      <inkml:brushProperty name="height" value="0.35" units="cm"/>
      <inkml:brushProperty name="color" value="#FFFFFF"/>
    </inkml:brush>
  </inkml:definitions>
  <inkml:trace contextRef="#ctx0" brushRef="#br0">0 138 24575,'0'-1'0,"1"0"0,-1 0 0,1 0 0,-1 0 0,1 0 0,-1 0 0,1 0 0,-1 0 0,1 0 0,0 0 0,-1 0 0,1 0 0,0 1 0,0-1 0,0 0 0,0 1 0,0-1 0,0 0 0,2 0 0,25-13 0,-18 10 0,39-23 0,-33 17 0,1 1 0,0 1 0,19-7 0,-5 6 0,1 2 0,0 1 0,59-4 0,101 9 0,-130 2 0,555 1 0,-534 3 0,164 30 0,-216-30 0,-23-3 0,1-1 0,-1 1 0,0 1 0,16 6 0,-22-8 0,-1-1 0,1 1 0,-1 0 0,1 0 0,-1 0 0,0 0 0,1 0 0,-1 1 0,0-1 0,0 0 0,0 1 0,0-1 0,0 1 0,0-1 0,0 1 0,0-1 0,-1 1 0,1-1 0,0 1 0,-1 0 0,0-1 0,1 1 0,-1 0 0,0 0 0,0-1 0,0 1 0,0 0 0,0 0 0,0-1 0,-1 4 0,-1 2 0,0-1 0,-1 0 0,0 1 0,0-1 0,0 0 0,-1 0 0,0-1 0,-8 11 0,-44 41 0,41-43 0,-12 11 0,-2-2 0,0-1 0,-1-2 0,-2 0 0,-47 21 0,18-14 0,-1-4 0,-72 18 0,85-30 0,-76 6 0,-3 1 0,-115 23 0,170-33 0,-100 0 0,-54-10 0,223 2 0,0 0 0,0 0 0,1 0 0,-1-1 0,0 1 0,-6-3 0,10 3 0,-1-1 0,0 1 0,0 0 0,1-1 0,-1 1 0,0-1 0,1 1 0,-1-1 0,0 1 0,1-1 0,-1 0 0,1 1 0,-1-1 0,1 0 0,0 1 0,-1-1 0,1 0 0,-1 0 0,1 1 0,0-1 0,0 0 0,0 0 0,-1 0 0,1 0 0,0 1 0,0-1 0,0 0 0,0 0 0,0 0 0,0 1 0,1-1 0,-1 0 0,0 0 0,0 0 0,0 1 0,1-1 0,0-1 0,1-4 0,1 0 0,0 0 0,1 0 0,0 1 0,0-1 0,0 1 0,0 0 0,1 0 0,9-8 0,56-39 0,-53 41 0,17-14 0,1 2 0,1 1 0,2 2 0,0 1 0,1 2 0,59-17 0,-77 29 0,30-10 0,1 3 0,1 2 0,72-4 0,305 13 0,-204 3 0,711-2 0,-925-1 0,-1-1 0,0 0 0,0 0 0,0-1 0,0 0 0,0-1 0,11-6 0,-9 4 0,1 1 0,-1 1 0,1 0 0,17-3 0,41 2 0,105 6 0,-67 1 0,-12-1 0,114-3 0,-123-11 0,-32 3 0,77-13 0,-71 10 0,-1 3 0,102-2 0,720 14 0,-554-2 0,-318 0 0,-5-1 0,0 1 0,0 0 0,0 1 0,0-1 0,0 1 0,10 3 0,-16-4 0,-1 0 0,0 1 0,1-1 0,-1 0 0,1 0 0,-1 0 0,0 0 0,1 0 0,-1 1 0,0-1 0,1 0 0,-1 0 0,0 1 0,1-1 0,-1 0 0,0 0 0,1 1 0,-1-1 0,0 0 0,0 1 0,1-1 0,-1 1 0,0-1 0,0 0 0,0 1 0,0-1 0,1 1 0,-1-1 0,0 0 0,0 1 0,0-1 0,0 1 0,0-1 0,0 0 0,0 1 0,0-1 0,0 1 0,0-1 0,0 1 0,-1-1 0,1 0 0,0 1 0,0-1 0,0 0 0,0 1 0,-1-1 0,1 1 0,0-1 0,0 0 0,-1 1 0,1-1 0,0 0 0,-1 0 0,1 1 0,0-1 0,-1 0 0,0 1 0,-22 13 0,10-8 0,9-5 0,1 0 0,-1 1 0,0-1 0,0 1 0,1 0 0,-1 1 0,1-1 0,0 0 0,0 1 0,-4 4 0,7-7 0,0 1 0,0-1 0,0 1 0,0-1 0,0 0 0,0 1 0,0-1 0,0 1 0,0-1 0,0 0 0,1 1 0,-1-1 0,0 0 0,0 1 0,1-1 0,-1 0 0,0 1 0,0-1 0,1 0 0,-1 1 0,0-1 0,1 0 0,-1 0 0,0 1 0,1-1 0,-1 0 0,1 0 0,-1 0 0,0 0 0,1 0 0,-1 1 0,1-1 0,-1 0 0,0 0 0,1 0 0,-1 0 0,1 0 0,-1 0 0,1 0 0,-1 0 0,1-1 0,22 4 0,-22-3 0,236 0 0,-231 0 0,1 0 0,-1 1 0,1 0 0,-1 0 0,0 1 0,9 3 0,-14-5 0,0 1 0,1-1 0,-1 1 0,0-1 0,0 1 0,0 0 0,0 0 0,0-1 0,0 1 0,0 0 0,0 0 0,0 0 0,-1 0 0,1 0 0,0 0 0,0 0 0,-1 1 0,1-1 0,-1 0 0,1 0 0,-1 0 0,0 1 0,1-1 0,-1 0 0,0 1 0,0-1 0,0 0 0,0 0 0,0 1 0,0-1 0,0 0 0,0 1 0,0-1 0,-1 0 0,1 0 0,-2 3 0,1-2 0,0 1 0,0 0 0,-1-1 0,0 0 0,1 1 0,-1-1 0,0 0 0,0 0 0,0 0 0,-1 0 0,1 0 0,0 0 0,-1 0 0,1-1 0,-4 2 0,-44 16 0,40-16 0,-119 34 0,-2-5 0,-2-6 0,-136 9 0,-268-5 0,-194-32 0,693 5 0,0 1 0,-67 16 0,39-6 0,-35 3 171,-135 3 0,-106-17-1878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3:07:35.384"/>
    </inkml:context>
    <inkml:brush xml:id="br0">
      <inkml:brushProperty name="width" value="0.1" units="cm"/>
      <inkml:brushProperty name="height" value="0.1" units="cm"/>
      <inkml:brushProperty name="color" value="#E71224"/>
    </inkml:brush>
  </inkml:definitions>
  <inkml:trace contextRef="#ctx0" brushRef="#br0">1 0 24478,'0'733'0,"16842"-733"0,-16842-733 0,-16842 733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3:08:05.633"/>
    </inkml:context>
    <inkml:brush xml:id="br0">
      <inkml:brushProperty name="width" value="0.1" units="cm"/>
      <inkml:brushProperty name="height" value="0.1" units="cm"/>
      <inkml:brushProperty name="color" value="#E71224"/>
    </inkml:brush>
  </inkml:definitions>
  <inkml:trace contextRef="#ctx0" brushRef="#br0">1 0 23589,'3174'2634'0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3:08:08.388"/>
    </inkml:context>
    <inkml:brush xml:id="br0">
      <inkml:brushProperty name="width" value="0.1" units="cm"/>
      <inkml:brushProperty name="height" value="0.1" units="cm"/>
      <inkml:brushProperty name="color" value="#E71224"/>
    </inkml:brush>
  </inkml:definitions>
  <inkml:trace contextRef="#ctx0" brushRef="#br0">0 0 24119,'825'71'0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3:08:18.055"/>
    </inkml:context>
    <inkml:brush xml:id="br0">
      <inkml:brushProperty name="width" value="0.1" units="cm"/>
      <inkml:brushProperty name="height" value="0.1" units="cm"/>
      <inkml:brushProperty name="color" value="#E71224"/>
    </inkml:brush>
  </inkml:definitions>
  <inkml:trace contextRef="#ctx0" brushRef="#br0">283 706 24028,'-282'-705'0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3:08:32.372"/>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7T14:00:34.034"/>
    </inkml:context>
    <inkml:brush xml:id="br0">
      <inkml:brushProperty name="width" value="0.35" units="cm"/>
      <inkml:brushProperty name="height" value="0.35" units="cm"/>
      <inkml:brushProperty name="color" value="#FFFFFF"/>
    </inkml:brush>
  </inkml:definitions>
  <inkml:trace contextRef="#ctx0" brushRef="#br0">0 87 24575,'824'-23'0,"-553"-11"0,-209 22 0,-32 6 0,0 1 0,39-1 0,299 7-1365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C7FD6-3FE5-4A5F-960E-8984DBB8385E}" type="datetimeFigureOut">
              <a:rPr lang="ro-RO" smtClean="0"/>
              <a:t>16.05.2026</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2FE60D-9D23-4696-9690-79486EB8BF94}" type="slidenum">
              <a:rPr lang="ro-RO" smtClean="0"/>
              <a:t>‹#›</a:t>
            </a:fld>
            <a:endParaRPr lang="ro-RO"/>
          </a:p>
        </p:txBody>
      </p:sp>
    </p:spTree>
    <p:extLst>
      <p:ext uri="{BB962C8B-B14F-4D97-AF65-F5344CB8AC3E}">
        <p14:creationId xmlns:p14="http://schemas.microsoft.com/office/powerpoint/2010/main" val="131469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68D3-CF7F-A5F0-F4C5-E3FA4624B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835A1-E228-8D9C-FA89-19477878D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5F6D01-353F-F4A7-F434-45505A4B9A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E1F7B-A6AB-2BB7-B7CE-BE82DF2C184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2431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B12FE60D-9D23-4696-9690-79486EB8BF94}" type="slidenum">
              <a:rPr lang="ro-RO" smtClean="0"/>
              <a:t>11</a:t>
            </a:fld>
            <a:endParaRPr lang="ro-RO"/>
          </a:p>
        </p:txBody>
      </p:sp>
    </p:spTree>
    <p:extLst>
      <p:ext uri="{BB962C8B-B14F-4D97-AF65-F5344CB8AC3E}">
        <p14:creationId xmlns:p14="http://schemas.microsoft.com/office/powerpoint/2010/main" val="4235760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A9FC1-644A-B383-CAAC-4512CB0C7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6485E-6DFF-79D8-17A6-1D5F1B389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895FB-0D94-4533-2C25-4A73B547EB82}"/>
              </a:ext>
            </a:extLst>
          </p:cNvPr>
          <p:cNvSpPr>
            <a:spLocks noGrp="1"/>
          </p:cNvSpPr>
          <p:nvPr>
            <p:ph type="body" idx="1"/>
          </p:nvPr>
        </p:nvSpPr>
        <p:spPr/>
        <p:txBody>
          <a:bodyPr/>
          <a:lstStyle/>
          <a:p>
            <a:endParaRPr lang="ro-RO" dirty="0"/>
          </a:p>
        </p:txBody>
      </p:sp>
      <p:sp>
        <p:nvSpPr>
          <p:cNvPr id="4" name="Slide Number Placeholder 3">
            <a:extLst>
              <a:ext uri="{FF2B5EF4-FFF2-40B4-BE49-F238E27FC236}">
                <a16:creationId xmlns:a16="http://schemas.microsoft.com/office/drawing/2014/main" id="{BA8DA5E8-CC6E-5478-6532-3B0F9C6594C8}"/>
              </a:ext>
            </a:extLst>
          </p:cNvPr>
          <p:cNvSpPr>
            <a:spLocks noGrp="1"/>
          </p:cNvSpPr>
          <p:nvPr>
            <p:ph type="sldNum" sz="quarter" idx="5"/>
          </p:nvPr>
        </p:nvSpPr>
        <p:spPr/>
        <p:txBody>
          <a:bodyPr/>
          <a:lstStyle/>
          <a:p>
            <a:fld id="{B12FE60D-9D23-4696-9690-79486EB8BF94}" type="slidenum">
              <a:rPr lang="ro-RO" smtClean="0"/>
              <a:t>12</a:t>
            </a:fld>
            <a:endParaRPr lang="ro-RO"/>
          </a:p>
        </p:txBody>
      </p:sp>
    </p:spTree>
    <p:extLst>
      <p:ext uri="{BB962C8B-B14F-4D97-AF65-F5344CB8AC3E}">
        <p14:creationId xmlns:p14="http://schemas.microsoft.com/office/powerpoint/2010/main" val="1055051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5972E-7C74-CFB8-C862-996580AC1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04EC4-D99E-98F2-8F8D-BB8CADF2B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F12C1-4844-1BEA-9E95-5446704A296F}"/>
              </a:ext>
            </a:extLst>
          </p:cNvPr>
          <p:cNvSpPr>
            <a:spLocks noGrp="1"/>
          </p:cNvSpPr>
          <p:nvPr>
            <p:ph type="body" idx="1"/>
          </p:nvPr>
        </p:nvSpPr>
        <p:spPr/>
        <p:txBody>
          <a:bodyPr/>
          <a:lstStyle/>
          <a:p>
            <a:endParaRPr lang="ro-RO" dirty="0"/>
          </a:p>
        </p:txBody>
      </p:sp>
      <p:sp>
        <p:nvSpPr>
          <p:cNvPr id="4" name="Slide Number Placeholder 3">
            <a:extLst>
              <a:ext uri="{FF2B5EF4-FFF2-40B4-BE49-F238E27FC236}">
                <a16:creationId xmlns:a16="http://schemas.microsoft.com/office/drawing/2014/main" id="{B11B83AA-9A34-092D-8EEA-09A547CD86F8}"/>
              </a:ext>
            </a:extLst>
          </p:cNvPr>
          <p:cNvSpPr>
            <a:spLocks noGrp="1"/>
          </p:cNvSpPr>
          <p:nvPr>
            <p:ph type="sldNum" sz="quarter" idx="5"/>
          </p:nvPr>
        </p:nvSpPr>
        <p:spPr/>
        <p:txBody>
          <a:bodyPr/>
          <a:lstStyle/>
          <a:p>
            <a:fld id="{B12FE60D-9D23-4696-9690-79486EB8BF94}" type="slidenum">
              <a:rPr lang="ro-RO" smtClean="0"/>
              <a:t>13</a:t>
            </a:fld>
            <a:endParaRPr lang="ro-RO"/>
          </a:p>
        </p:txBody>
      </p:sp>
    </p:spTree>
    <p:extLst>
      <p:ext uri="{BB962C8B-B14F-4D97-AF65-F5344CB8AC3E}">
        <p14:creationId xmlns:p14="http://schemas.microsoft.com/office/powerpoint/2010/main" val="1636327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366DB-C547-206B-3A7A-E5DB858E7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B057-4F7C-24DD-5E23-CA226E83D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A1915-AE2E-3F26-6E82-C190445098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DED6E-44FB-5779-138F-7EABF2C882A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31884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0A6C5-57A6-C954-7190-ABB8F6CD3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54FA4-FCCE-0AAA-6AB8-7832820CA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B186D0-0660-4C62-DE8D-32891496B3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730292-B679-2793-5EE6-E055F609CF3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28358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B1949-6023-020F-FD0E-A19AFEEB9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CBE75-2EDA-110D-0CC9-A42B7F125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06CAC-F382-47CB-C061-8C1BC721C0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DFCF38-F354-184E-7DB6-73958579AFC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016490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0B39-E66F-F038-F2D0-EC1318809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C4DE6-08C9-924B-E0E2-01FAAD8F8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73103-856A-18C1-F003-51156D003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8E799-ACA1-F233-BA2D-BD540E0C0BB3}"/>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575343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A1B8-5340-BFD6-6229-7C6B302D5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67405-89FC-385D-E078-05E54FD3B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0791A-0C3F-C315-B0C2-703BEA26D8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A73B24-3391-55B5-6776-A7C4A4693C7B}"/>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220976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0779D-E632-9964-74B3-39E79263B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2727B-AE8C-F190-6EE0-3639A5E3B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0D277-7BD5-5963-CF14-47228720D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4FD37D-D66D-0D3F-3545-45F8B100A97B}"/>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625816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E7D1-3316-DEC7-5F9B-238821FE0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D2192-1515-0E87-2639-5DCC6B404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447CC-6B92-D42B-38AF-5B2060D74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9752D-A847-960D-5BAD-18A1639F3074}"/>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988930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3323-9F0D-CE33-F316-6ABC6D48B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DC97E-F6EB-A76B-409D-2CCDB472D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C75B7-1EC4-4C19-BB94-80E4FE2549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3E280B-437A-ED36-75F9-956C9B92B04D}"/>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382238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4CF6-F725-F90F-8905-F8FD4629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8E0F-434E-957C-62E0-44274AB92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32896-A504-DEE8-703A-5F244C99E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B8615-0DD7-89C2-38BB-4451321D06B5}"/>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665898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2A14-1DA7-5660-13F7-6E9A88545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1839A-9CBA-F425-CD1E-F48A1BBFA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86D10-7175-8A64-447C-9842253C46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078CD0-7EF4-1C54-C173-CFC1E0059576}"/>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734365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3515-BFE0-7B25-7F0B-32260BB53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8A0DC-5A8E-0E3C-3826-007CFBB1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51F19F-7538-6987-B450-FE2F5F6491FD}"/>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8AD55DCE-30C4-D761-DAF6-51D8B58AA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E2389-25DB-1FB6-513C-618A054F48EF}"/>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369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17A5-7342-D2E4-F868-8B47BB9F5D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21C5-2045-1B0A-D2BF-188A2E61A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F058-BBFF-5CAB-CC6D-94D514C03B9A}"/>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DD6BEC2B-48AA-5F12-535B-67C035E93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0081-0992-0625-8D5E-D57F4461C45C}"/>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25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9B8-49CB-3E76-C5E7-C5A92D229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AA7-2CA6-EEEA-6E6F-C44BFDA07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3902E-C8D4-EAA7-81F7-10FFD5669466}"/>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78A22FB0-8B9A-CBF7-321C-481E1297B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B2E63-0C39-0A1B-3F07-0610ABD58AF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11526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26B0-8F8B-3240-6C98-6C67E0A0A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137B1-03F3-BE84-95C9-758FAC90D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9A3D0-BF22-648C-3983-9974F8B3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CA61B3-6E35-B596-0872-114A25A5F585}"/>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6" name="Footer Placeholder 5">
            <a:extLst>
              <a:ext uri="{FF2B5EF4-FFF2-40B4-BE49-F238E27FC236}">
                <a16:creationId xmlns:a16="http://schemas.microsoft.com/office/drawing/2014/main" id="{5914AEC8-0542-13AF-2BB3-4FF2BB0AC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2C0C5-0CFD-C094-3239-C54E5CE1E83A}"/>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65141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E4C-F6D0-33E9-7A8C-9FD77931B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B0CF4-609B-E0A1-FAC6-1BFED5247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993A1-C36B-2A5A-3A20-88B716578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77821-B0A9-048E-3802-3C20DA9D4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BF9B33-E74B-3ACC-8A14-DBC9A5462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4D3E6-EEF7-FC2E-6A9E-299F93884B9E}"/>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8" name="Footer Placeholder 7">
            <a:extLst>
              <a:ext uri="{FF2B5EF4-FFF2-40B4-BE49-F238E27FC236}">
                <a16:creationId xmlns:a16="http://schemas.microsoft.com/office/drawing/2014/main" id="{6D3737C6-3E0F-3C05-A1D5-D3D812EABB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14843-AFA6-1381-287E-7381AB6F4BF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08092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13A-C285-62F8-FF8B-2500E1E7E3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19304-A5D7-828B-DE08-29C2EFCBB791}"/>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4" name="Footer Placeholder 3">
            <a:extLst>
              <a:ext uri="{FF2B5EF4-FFF2-40B4-BE49-F238E27FC236}">
                <a16:creationId xmlns:a16="http://schemas.microsoft.com/office/drawing/2014/main" id="{5AC68B91-ABE1-1264-FD5B-5A68D518B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852361-74D9-BD99-44F7-86366D3BFC12}"/>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8522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187FC-EC45-E1B7-C765-E1CA042280A9}"/>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3" name="Footer Placeholder 2">
            <a:extLst>
              <a:ext uri="{FF2B5EF4-FFF2-40B4-BE49-F238E27FC236}">
                <a16:creationId xmlns:a16="http://schemas.microsoft.com/office/drawing/2014/main" id="{DCC53A21-7D71-1EDA-2C2E-3163C4D9E1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9BD65-2A37-FBEA-AA7E-7DCC1CFFBB2E}"/>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426761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2B7B-8244-B427-632C-E4BADD231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46EC17-4AB3-FE8C-37E2-549B31173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B5036-D51E-C813-C4DC-42DBB9299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086E1B-ED14-4DD8-D450-47796C8AE836}"/>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6" name="Footer Placeholder 5">
            <a:extLst>
              <a:ext uri="{FF2B5EF4-FFF2-40B4-BE49-F238E27FC236}">
                <a16:creationId xmlns:a16="http://schemas.microsoft.com/office/drawing/2014/main" id="{47E2D815-945C-01E3-E522-3B1563533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29CD3-3BCC-509E-7E18-FBE7BDCEFF1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5173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DEE9-E1F2-A7B7-7387-D9457952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E8F011-B056-465D-D499-C91BAED175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087D3A-793D-5493-E4AE-7E156CEB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FD8F4-FE3E-2564-582F-D9ED561E57F9}"/>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6" name="Footer Placeholder 5">
            <a:extLst>
              <a:ext uri="{FF2B5EF4-FFF2-40B4-BE49-F238E27FC236}">
                <a16:creationId xmlns:a16="http://schemas.microsoft.com/office/drawing/2014/main" id="{60217821-7F27-7B5B-F516-CDDD4D326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F200FC-B01C-CD78-9585-59CD6F9E15E6}"/>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6020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3C79-6514-827E-9B05-D39301F28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1B4939-3A1C-7789-83ED-705872C7F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D7480-1B82-8DC5-F3A2-A2DD1CC13C84}"/>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68B32D53-7276-EB49-B3EF-D792631C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4F04F-B346-50FB-B677-4BFA12D0A2C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1730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FE6BE-0116-01AA-D59A-2998208A7E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02BD1D-C6C5-78E2-FFAD-4B3A9F6FF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363ED-1E78-49E4-A0C5-08435E72A43C}"/>
              </a:ext>
            </a:extLst>
          </p:cNvPr>
          <p:cNvSpPr>
            <a:spLocks noGrp="1"/>
          </p:cNvSpPr>
          <p:nvPr>
            <p:ph type="dt" sz="half" idx="10"/>
          </p:nvPr>
        </p:nvSpPr>
        <p:spPr/>
        <p:txBody>
          <a:body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4F54C6DF-5541-FE0F-5366-C62807AC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0F133-9AEA-AD29-1DB8-DBFC63D87BB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30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76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69C6A-2F2F-7DFF-F209-5978BE081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1CD4C4-F7B9-F59A-6371-1D9137B3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07F3C-CEF5-246C-6364-3400EE32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D99F-EB8C-4284-A1FF-6A8FAD5F29B4}" type="datetimeFigureOut">
              <a:rPr lang="en-US" smtClean="0"/>
              <a:t>5/16/2026</a:t>
            </a:fld>
            <a:endParaRPr lang="en-US"/>
          </a:p>
        </p:txBody>
      </p:sp>
      <p:sp>
        <p:nvSpPr>
          <p:cNvPr id="5" name="Footer Placeholder 4">
            <a:extLst>
              <a:ext uri="{FF2B5EF4-FFF2-40B4-BE49-F238E27FC236}">
                <a16:creationId xmlns:a16="http://schemas.microsoft.com/office/drawing/2014/main" id="{77EB2E7C-1B58-FF56-9254-13AC936CF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CFB4B-65BD-C19B-674C-8E8E05BD6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FE916-C29D-4283-ABA6-E3D372BD3E58}" type="slidenum">
              <a:rPr lang="en-US" smtClean="0"/>
              <a:t>‹#›</a:t>
            </a:fld>
            <a:endParaRPr lang="en-US"/>
          </a:p>
        </p:txBody>
      </p:sp>
    </p:spTree>
    <p:extLst>
      <p:ext uri="{BB962C8B-B14F-4D97-AF65-F5344CB8AC3E}">
        <p14:creationId xmlns:p14="http://schemas.microsoft.com/office/powerpoint/2010/main" val="2801246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arxiv.org/pdf/1406.2661" TargetMode="External"/><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hyperlink" Target="https://arxiv.org/pdf/1711.00937" TargetMode="External"/><Relationship Id="rId5" Type="http://schemas.openxmlformats.org/officeDocument/2006/relationships/hyperlink" Target="https://arxiv.org/pdf/2012.09841"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gif"/><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customXml" Target="../ink/ink2.xm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15.jpeg"/><Relationship Id="rId7" Type="http://schemas.openxmlformats.org/officeDocument/2006/relationships/customXml" Target="../ink/ink7.xml"/><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14.png"/><Relationship Id="rId16"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customXml" Target="../ink/ink6.xml"/><Relationship Id="rId11" Type="http://schemas.openxmlformats.org/officeDocument/2006/relationships/customXml" Target="../ink/ink11.xml"/><Relationship Id="rId5" Type="http://schemas.openxmlformats.org/officeDocument/2006/relationships/image" Target="../media/image16.png"/><Relationship Id="rId15" Type="http://schemas.openxmlformats.org/officeDocument/2006/relationships/image" Target="../media/image20.png"/><Relationship Id="rId10" Type="http://schemas.openxmlformats.org/officeDocument/2006/relationships/customXml" Target="../ink/ink10.xml"/><Relationship Id="rId19" Type="http://schemas.openxmlformats.org/officeDocument/2006/relationships/image" Target="../media/image24.jpeg"/><Relationship Id="rId4" Type="http://schemas.openxmlformats.org/officeDocument/2006/relationships/customXml" Target="../ink/ink5.xml"/><Relationship Id="rId9" Type="http://schemas.openxmlformats.org/officeDocument/2006/relationships/customXml" Target="../ink/ink9.xml"/><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13" Type="http://schemas.openxmlformats.org/officeDocument/2006/relationships/customXml" Target="../ink/ink17.xml"/><Relationship Id="rId18" Type="http://schemas.openxmlformats.org/officeDocument/2006/relationships/customXml" Target="../ink/ink19.xml"/><Relationship Id="rId26" Type="http://schemas.openxmlformats.org/officeDocument/2006/relationships/customXml" Target="../ink/ink23.xml"/><Relationship Id="rId39" Type="http://schemas.openxmlformats.org/officeDocument/2006/relationships/customXml" Target="../ink/ink33.xml"/><Relationship Id="rId3" Type="http://schemas.openxmlformats.org/officeDocument/2006/relationships/image" Target="../media/image20.png"/><Relationship Id="rId21" Type="http://schemas.openxmlformats.org/officeDocument/2006/relationships/image" Target="../media/image28.png"/><Relationship Id="rId34" Type="http://schemas.openxmlformats.org/officeDocument/2006/relationships/customXml" Target="../ink/ink29.xml"/><Relationship Id="rId42" Type="http://schemas.openxmlformats.org/officeDocument/2006/relationships/image" Target="../media/image35.png"/><Relationship Id="rId47" Type="http://schemas.openxmlformats.org/officeDocument/2006/relationships/customXml" Target="../ink/ink37.xml"/><Relationship Id="rId50" Type="http://schemas.openxmlformats.org/officeDocument/2006/relationships/image" Target="../media/image39.png"/><Relationship Id="rId7" Type="http://schemas.openxmlformats.org/officeDocument/2006/relationships/customXml" Target="../ink/ink12.xml"/><Relationship Id="rId12" Type="http://schemas.openxmlformats.org/officeDocument/2006/relationships/customXml" Target="../ink/ink16.xml"/><Relationship Id="rId17" Type="http://schemas.openxmlformats.org/officeDocument/2006/relationships/image" Target="../media/image19.png"/><Relationship Id="rId25" Type="http://schemas.openxmlformats.org/officeDocument/2006/relationships/image" Target="../media/image30.png"/><Relationship Id="rId33" Type="http://schemas.openxmlformats.org/officeDocument/2006/relationships/customXml" Target="../ink/ink28.xml"/><Relationship Id="rId38" Type="http://schemas.openxmlformats.org/officeDocument/2006/relationships/image" Target="../media/image33.png"/><Relationship Id="rId46" Type="http://schemas.openxmlformats.org/officeDocument/2006/relationships/image" Target="../media/image37.png"/><Relationship Id="rId2" Type="http://schemas.openxmlformats.org/officeDocument/2006/relationships/image" Target="../media/image25.png"/><Relationship Id="rId16" Type="http://schemas.openxmlformats.org/officeDocument/2006/relationships/image" Target="../media/image18.png"/><Relationship Id="rId20" Type="http://schemas.openxmlformats.org/officeDocument/2006/relationships/customXml" Target="../ink/ink20.xml"/><Relationship Id="rId29" Type="http://schemas.openxmlformats.org/officeDocument/2006/relationships/customXml" Target="../ink/ink25.xml"/><Relationship Id="rId41" Type="http://schemas.openxmlformats.org/officeDocument/2006/relationships/customXml" Target="../ink/ink34.xml"/><Relationship Id="rId1" Type="http://schemas.openxmlformats.org/officeDocument/2006/relationships/slideLayout" Target="../slideLayouts/slideLayout12.xml"/><Relationship Id="rId6" Type="http://schemas.openxmlformats.org/officeDocument/2006/relationships/image" Target="../media/image15.jpeg"/><Relationship Id="rId11" Type="http://schemas.openxmlformats.org/officeDocument/2006/relationships/customXml" Target="../ink/ink15.xml"/><Relationship Id="rId24" Type="http://schemas.openxmlformats.org/officeDocument/2006/relationships/customXml" Target="../ink/ink22.xml"/><Relationship Id="rId32" Type="http://schemas.openxmlformats.org/officeDocument/2006/relationships/customXml" Target="../ink/ink27.xml"/><Relationship Id="rId37" Type="http://schemas.openxmlformats.org/officeDocument/2006/relationships/customXml" Target="../ink/ink32.xml"/><Relationship Id="rId40" Type="http://schemas.openxmlformats.org/officeDocument/2006/relationships/image" Target="../media/image34.png"/><Relationship Id="rId45" Type="http://schemas.openxmlformats.org/officeDocument/2006/relationships/customXml" Target="../ink/ink36.xml"/><Relationship Id="rId5" Type="http://schemas.openxmlformats.org/officeDocument/2006/relationships/image" Target="../media/image14.png"/><Relationship Id="rId15" Type="http://schemas.openxmlformats.org/officeDocument/2006/relationships/image" Target="../media/image17.png"/><Relationship Id="rId23" Type="http://schemas.openxmlformats.org/officeDocument/2006/relationships/image" Target="../media/image29.png"/><Relationship Id="rId28" Type="http://schemas.openxmlformats.org/officeDocument/2006/relationships/customXml" Target="../ink/ink24.xml"/><Relationship Id="rId36" Type="http://schemas.openxmlformats.org/officeDocument/2006/relationships/customXml" Target="../ink/ink31.xml"/><Relationship Id="rId49" Type="http://schemas.openxmlformats.org/officeDocument/2006/relationships/customXml" Target="../ink/ink38.xml"/><Relationship Id="rId10" Type="http://schemas.openxmlformats.org/officeDocument/2006/relationships/customXml" Target="../ink/ink14.xml"/><Relationship Id="rId19" Type="http://schemas.openxmlformats.org/officeDocument/2006/relationships/image" Target="../media/image27.png"/><Relationship Id="rId31" Type="http://schemas.openxmlformats.org/officeDocument/2006/relationships/customXml" Target="../ink/ink26.xml"/><Relationship Id="rId44" Type="http://schemas.openxmlformats.org/officeDocument/2006/relationships/image" Target="../media/image36.png"/><Relationship Id="rId4" Type="http://schemas.openxmlformats.org/officeDocument/2006/relationships/image" Target="../media/image26.png"/><Relationship Id="rId9" Type="http://schemas.openxmlformats.org/officeDocument/2006/relationships/customXml" Target="../ink/ink13.xml"/><Relationship Id="rId14" Type="http://schemas.openxmlformats.org/officeDocument/2006/relationships/customXml" Target="../ink/ink18.xml"/><Relationship Id="rId22" Type="http://schemas.openxmlformats.org/officeDocument/2006/relationships/customXml" Target="../ink/ink21.xml"/><Relationship Id="rId27" Type="http://schemas.openxmlformats.org/officeDocument/2006/relationships/image" Target="../media/image31.png"/><Relationship Id="rId30" Type="http://schemas.openxmlformats.org/officeDocument/2006/relationships/image" Target="../media/image32.png"/><Relationship Id="rId35" Type="http://schemas.openxmlformats.org/officeDocument/2006/relationships/customXml" Target="../ink/ink30.xml"/><Relationship Id="rId43" Type="http://schemas.openxmlformats.org/officeDocument/2006/relationships/customXml" Target="../ink/ink35.xml"/><Relationship Id="rId48" Type="http://schemas.openxmlformats.org/officeDocument/2006/relationships/image" Target="../media/image38.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0.png"/><Relationship Id="rId7"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customXml" Target="../ink/ink42.xml"/><Relationship Id="rId18" Type="http://schemas.openxmlformats.org/officeDocument/2006/relationships/image" Target="../media/image61.png"/><Relationship Id="rId26" Type="http://schemas.openxmlformats.org/officeDocument/2006/relationships/customXml" Target="../ink/ink49.xml"/><Relationship Id="rId39" Type="http://schemas.openxmlformats.org/officeDocument/2006/relationships/image" Target="../media/image70.png"/><Relationship Id="rId3" Type="http://schemas.openxmlformats.org/officeDocument/2006/relationships/customXml" Target="../ink/ink39.xml"/><Relationship Id="rId21" Type="http://schemas.openxmlformats.org/officeDocument/2006/relationships/image" Target="../media/image63.png"/><Relationship Id="rId34" Type="http://schemas.openxmlformats.org/officeDocument/2006/relationships/customXml" Target="../ink/ink53.xml"/><Relationship Id="rId42" Type="http://schemas.openxmlformats.org/officeDocument/2006/relationships/customXml" Target="../ink/ink58.xml"/><Relationship Id="rId47" Type="http://schemas.openxmlformats.org/officeDocument/2006/relationships/customXml" Target="../ink/ink62.xml"/><Relationship Id="rId7" Type="http://schemas.openxmlformats.org/officeDocument/2006/relationships/customXml" Target="../ink/ink41.xml"/><Relationship Id="rId12" Type="http://schemas.openxmlformats.org/officeDocument/2006/relationships/image" Target="../media/image58.png"/><Relationship Id="rId17" Type="http://schemas.openxmlformats.org/officeDocument/2006/relationships/customXml" Target="../ink/ink44.xml"/><Relationship Id="rId25" Type="http://schemas.openxmlformats.org/officeDocument/2006/relationships/image" Target="../media/image64.png"/><Relationship Id="rId33" Type="http://schemas.openxmlformats.org/officeDocument/2006/relationships/image" Target="../media/image68.png"/><Relationship Id="rId38" Type="http://schemas.openxmlformats.org/officeDocument/2006/relationships/customXml" Target="../ink/ink56.xml"/><Relationship Id="rId46" Type="http://schemas.openxmlformats.org/officeDocument/2006/relationships/image" Target="../media/image72.png"/><Relationship Id="rId2" Type="http://schemas.openxmlformats.org/officeDocument/2006/relationships/image" Target="../media/image51.png"/><Relationship Id="rId16" Type="http://schemas.openxmlformats.org/officeDocument/2006/relationships/image" Target="../media/image60.png"/><Relationship Id="rId20" Type="http://schemas.openxmlformats.org/officeDocument/2006/relationships/image" Target="../media/image62.png"/><Relationship Id="rId29" Type="http://schemas.openxmlformats.org/officeDocument/2006/relationships/image" Target="../media/image66.png"/><Relationship Id="rId41" Type="http://schemas.openxmlformats.org/officeDocument/2006/relationships/image" Target="../media/image71.png"/><Relationship Id="rId1" Type="http://schemas.openxmlformats.org/officeDocument/2006/relationships/slideLayout" Target="../slideLayouts/slideLayout12.xml"/><Relationship Id="rId6" Type="http://schemas.openxmlformats.org/officeDocument/2006/relationships/image" Target="../media/image53.png"/><Relationship Id="rId11" Type="http://schemas.openxmlformats.org/officeDocument/2006/relationships/image" Target="../media/image57.png"/><Relationship Id="rId24" Type="http://schemas.openxmlformats.org/officeDocument/2006/relationships/customXml" Target="../ink/ink48.xml"/><Relationship Id="rId32" Type="http://schemas.openxmlformats.org/officeDocument/2006/relationships/customXml" Target="../ink/ink52.xml"/><Relationship Id="rId37" Type="http://schemas.openxmlformats.org/officeDocument/2006/relationships/customXml" Target="../ink/ink55.xml"/><Relationship Id="rId40" Type="http://schemas.openxmlformats.org/officeDocument/2006/relationships/customXml" Target="../ink/ink57.xml"/><Relationship Id="rId45" Type="http://schemas.openxmlformats.org/officeDocument/2006/relationships/customXml" Target="../ink/ink61.xml"/><Relationship Id="rId5" Type="http://schemas.openxmlformats.org/officeDocument/2006/relationships/customXml" Target="../ink/ink40.xml"/><Relationship Id="rId15" Type="http://schemas.openxmlformats.org/officeDocument/2006/relationships/customXml" Target="../ink/ink43.xml"/><Relationship Id="rId23" Type="http://schemas.openxmlformats.org/officeDocument/2006/relationships/customXml" Target="../ink/ink47.xml"/><Relationship Id="rId28" Type="http://schemas.openxmlformats.org/officeDocument/2006/relationships/customXml" Target="../ink/ink50.xml"/><Relationship Id="rId36" Type="http://schemas.openxmlformats.org/officeDocument/2006/relationships/customXml" Target="../ink/ink54.xml"/><Relationship Id="rId10" Type="http://schemas.openxmlformats.org/officeDocument/2006/relationships/image" Target="../media/image56.png"/><Relationship Id="rId19" Type="http://schemas.openxmlformats.org/officeDocument/2006/relationships/customXml" Target="../ink/ink45.xml"/><Relationship Id="rId31" Type="http://schemas.openxmlformats.org/officeDocument/2006/relationships/image" Target="../media/image67.png"/><Relationship Id="rId44" Type="http://schemas.openxmlformats.org/officeDocument/2006/relationships/customXml" Target="../ink/ink60.xml"/><Relationship Id="rId4" Type="http://schemas.openxmlformats.org/officeDocument/2006/relationships/image" Target="../media/image52.png"/><Relationship Id="rId9" Type="http://schemas.openxmlformats.org/officeDocument/2006/relationships/image" Target="../media/image55.png"/><Relationship Id="rId14" Type="http://schemas.openxmlformats.org/officeDocument/2006/relationships/image" Target="../media/image59.png"/><Relationship Id="rId22" Type="http://schemas.openxmlformats.org/officeDocument/2006/relationships/customXml" Target="../ink/ink46.xml"/><Relationship Id="rId27" Type="http://schemas.openxmlformats.org/officeDocument/2006/relationships/image" Target="../media/image65.png"/><Relationship Id="rId30" Type="http://schemas.openxmlformats.org/officeDocument/2006/relationships/customXml" Target="../ink/ink51.xml"/><Relationship Id="rId35" Type="http://schemas.openxmlformats.org/officeDocument/2006/relationships/image" Target="../media/image69.png"/><Relationship Id="rId43" Type="http://schemas.openxmlformats.org/officeDocument/2006/relationships/customXml" Target="../ink/ink59.xml"/><Relationship Id="rId48" Type="http://schemas.openxmlformats.org/officeDocument/2006/relationships/image" Target="../media/image73.png"/></Relationships>
</file>

<file path=ppt/slides/_rels/slide17.xml.rels><?xml version="1.0" encoding="UTF-8" standalone="yes"?>
<Relationships xmlns="http://schemas.openxmlformats.org/package/2006/relationships"><Relationship Id="rId8" Type="http://schemas.openxmlformats.org/officeDocument/2006/relationships/image" Target="../media/image78.gif"/><Relationship Id="rId3" Type="http://schemas.openxmlformats.org/officeDocument/2006/relationships/image" Target="../media/image41.png"/><Relationship Id="rId7" Type="http://schemas.openxmlformats.org/officeDocument/2006/relationships/image" Target="../media/image77.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2" Type="http://schemas.openxmlformats.org/officeDocument/2006/relationships/image" Target="../media/image79.gi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12.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jpeg"/><Relationship Id="rId4" Type="http://schemas.openxmlformats.org/officeDocument/2006/relationships/image" Target="../media/image82.png"/><Relationship Id="rId9" Type="http://schemas.openxmlformats.org/officeDocument/2006/relationships/image" Target="../media/image8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customXml" Target="../ink/ink67.xml"/><Relationship Id="rId18" Type="http://schemas.openxmlformats.org/officeDocument/2006/relationships/customXml" Target="../ink/ink70.xml"/><Relationship Id="rId26" Type="http://schemas.openxmlformats.org/officeDocument/2006/relationships/customXml" Target="../ink/ink74.xml"/><Relationship Id="rId39" Type="http://schemas.openxmlformats.org/officeDocument/2006/relationships/image" Target="../media/image108.png"/><Relationship Id="rId3" Type="http://schemas.openxmlformats.org/officeDocument/2006/relationships/customXml" Target="../ink/ink63.xml"/><Relationship Id="rId21" Type="http://schemas.openxmlformats.org/officeDocument/2006/relationships/image" Target="../media/image99.png"/><Relationship Id="rId34" Type="http://schemas.openxmlformats.org/officeDocument/2006/relationships/customXml" Target="../ink/ink78.xml"/><Relationship Id="rId7" Type="http://schemas.openxmlformats.org/officeDocument/2006/relationships/customXml" Target="../ink/ink65.xml"/><Relationship Id="rId12" Type="http://schemas.openxmlformats.org/officeDocument/2006/relationships/image" Target="../media/image95.png"/><Relationship Id="rId17" Type="http://schemas.openxmlformats.org/officeDocument/2006/relationships/image" Target="../media/image97.png"/><Relationship Id="rId25" Type="http://schemas.openxmlformats.org/officeDocument/2006/relationships/image" Target="../media/image101.png"/><Relationship Id="rId33" Type="http://schemas.openxmlformats.org/officeDocument/2006/relationships/image" Target="../media/image105.png"/><Relationship Id="rId38" Type="http://schemas.openxmlformats.org/officeDocument/2006/relationships/customXml" Target="../ink/ink80.xml"/><Relationship Id="rId2" Type="http://schemas.openxmlformats.org/officeDocument/2006/relationships/image" Target="../media/image89.png"/><Relationship Id="rId16" Type="http://schemas.openxmlformats.org/officeDocument/2006/relationships/customXml" Target="../ink/ink69.xml"/><Relationship Id="rId20" Type="http://schemas.openxmlformats.org/officeDocument/2006/relationships/customXml" Target="../ink/ink71.xml"/><Relationship Id="rId29" Type="http://schemas.openxmlformats.org/officeDocument/2006/relationships/image" Target="../media/image103.png"/><Relationship Id="rId1" Type="http://schemas.openxmlformats.org/officeDocument/2006/relationships/slideLayout" Target="../slideLayouts/slideLayout12.xml"/><Relationship Id="rId6" Type="http://schemas.openxmlformats.org/officeDocument/2006/relationships/image" Target="../media/image91.png"/><Relationship Id="rId11" Type="http://schemas.openxmlformats.org/officeDocument/2006/relationships/customXml" Target="../ink/ink66.xml"/><Relationship Id="rId24" Type="http://schemas.openxmlformats.org/officeDocument/2006/relationships/customXml" Target="../ink/ink73.xml"/><Relationship Id="rId32" Type="http://schemas.openxmlformats.org/officeDocument/2006/relationships/customXml" Target="../ink/ink77.xml"/><Relationship Id="rId37" Type="http://schemas.openxmlformats.org/officeDocument/2006/relationships/image" Target="../media/image107.png"/><Relationship Id="rId40" Type="http://schemas.openxmlformats.org/officeDocument/2006/relationships/image" Target="../media/image109.png"/><Relationship Id="rId5" Type="http://schemas.openxmlformats.org/officeDocument/2006/relationships/customXml" Target="../ink/ink64.xml"/><Relationship Id="rId15" Type="http://schemas.openxmlformats.org/officeDocument/2006/relationships/image" Target="../media/image96.png"/><Relationship Id="rId23" Type="http://schemas.openxmlformats.org/officeDocument/2006/relationships/image" Target="../media/image100.png"/><Relationship Id="rId28" Type="http://schemas.openxmlformats.org/officeDocument/2006/relationships/customXml" Target="../ink/ink75.xml"/><Relationship Id="rId36" Type="http://schemas.openxmlformats.org/officeDocument/2006/relationships/customXml" Target="../ink/ink79.xml"/><Relationship Id="rId10" Type="http://schemas.openxmlformats.org/officeDocument/2006/relationships/image" Target="../media/image94.png"/><Relationship Id="rId19" Type="http://schemas.openxmlformats.org/officeDocument/2006/relationships/image" Target="../media/image98.png"/><Relationship Id="rId31" Type="http://schemas.openxmlformats.org/officeDocument/2006/relationships/image" Target="../media/image104.png"/><Relationship Id="rId4" Type="http://schemas.openxmlformats.org/officeDocument/2006/relationships/image" Target="../media/image90.png"/><Relationship Id="rId9" Type="http://schemas.openxmlformats.org/officeDocument/2006/relationships/image" Target="../media/image93.png"/><Relationship Id="rId14" Type="http://schemas.openxmlformats.org/officeDocument/2006/relationships/customXml" Target="../ink/ink68.xml"/><Relationship Id="rId22" Type="http://schemas.openxmlformats.org/officeDocument/2006/relationships/customXml" Target="../ink/ink72.xml"/><Relationship Id="rId27" Type="http://schemas.openxmlformats.org/officeDocument/2006/relationships/image" Target="../media/image102.png"/><Relationship Id="rId30" Type="http://schemas.openxmlformats.org/officeDocument/2006/relationships/customXml" Target="../ink/ink76.xml"/><Relationship Id="rId35" Type="http://schemas.openxmlformats.org/officeDocument/2006/relationships/image" Target="../media/image106.png"/></Relationships>
</file>

<file path=ppt/slides/_rels/slide2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1.gi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customXml" Target="../ink/ink81.xml"/><Relationship Id="rId2" Type="http://schemas.openxmlformats.org/officeDocument/2006/relationships/image" Target="../media/image112.jpeg"/><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image" Target="../media/image114.png"/><Relationship Id="rId1" Type="http://schemas.openxmlformats.org/officeDocument/2006/relationships/slideLayout" Target="../slideLayouts/slideLayout12.xml"/><Relationship Id="rId4" Type="http://schemas.openxmlformats.org/officeDocument/2006/relationships/image" Target="../media/image115.png"/></Relationships>
</file>

<file path=ppt/slides/_rels/slide2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customXml" Target="../ink/ink83.xml"/><Relationship Id="rId13" Type="http://schemas.openxmlformats.org/officeDocument/2006/relationships/image" Target="../media/image125.png"/><Relationship Id="rId3" Type="http://schemas.openxmlformats.org/officeDocument/2006/relationships/image" Target="../media/image119.png"/><Relationship Id="rId7" Type="http://schemas.openxmlformats.org/officeDocument/2006/relationships/image" Target="../media/image122.png"/><Relationship Id="rId12" Type="http://schemas.openxmlformats.org/officeDocument/2006/relationships/customXml" Target="../ink/ink85.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customXml" Target="../ink/ink82.xml"/><Relationship Id="rId11" Type="http://schemas.openxmlformats.org/officeDocument/2006/relationships/image" Target="../media/image124.png"/><Relationship Id="rId5" Type="http://schemas.openxmlformats.org/officeDocument/2006/relationships/image" Target="../media/image121.png"/><Relationship Id="rId15" Type="http://schemas.openxmlformats.org/officeDocument/2006/relationships/image" Target="../media/image126.png"/><Relationship Id="rId10" Type="http://schemas.openxmlformats.org/officeDocument/2006/relationships/customXml" Target="../ink/ink84.xml"/><Relationship Id="rId4" Type="http://schemas.openxmlformats.org/officeDocument/2006/relationships/image" Target="../media/image120.png"/><Relationship Id="rId9" Type="http://schemas.openxmlformats.org/officeDocument/2006/relationships/image" Target="../media/image123.png"/><Relationship Id="rId14" Type="http://schemas.openxmlformats.org/officeDocument/2006/relationships/customXml" Target="../ink/ink86.xml"/></Relationships>
</file>

<file path=ppt/slides/_rels/slide3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9.png"/><Relationship Id="rId7" Type="http://schemas.openxmlformats.org/officeDocument/2006/relationships/image" Target="../media/image13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customXml" Target="../ink/ink87.xml"/><Relationship Id="rId5" Type="http://schemas.openxmlformats.org/officeDocument/2006/relationships/image" Target="../media/image131.png"/><Relationship Id="rId4" Type="http://schemas.openxmlformats.org/officeDocument/2006/relationships/image" Target="../media/image130.png"/><Relationship Id="rId9" Type="http://schemas.openxmlformats.org/officeDocument/2006/relationships/image" Target="../media/image13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1524000" y="1122363"/>
            <a:ext cx="9297880" cy="2387600"/>
          </a:xfrm>
        </p:spPr>
        <p:txBody>
          <a:bodyPr/>
          <a:lstStyle/>
          <a:p>
            <a:r>
              <a:rPr lang="en-US" dirty="0" err="1"/>
              <a:t>Grafică</a:t>
            </a:r>
            <a:r>
              <a:rPr lang="en-US" dirty="0"/>
              <a:t> </a:t>
            </a:r>
            <a:r>
              <a:rPr lang="en-US" dirty="0" err="1"/>
              <a:t>asistată</a:t>
            </a:r>
            <a:r>
              <a:rPr lang="en-US" dirty="0"/>
              <a:t> de calculator</a:t>
            </a:r>
          </a:p>
        </p:txBody>
      </p:sp>
      <p:sp>
        <p:nvSpPr>
          <p:cNvPr id="3" name="Subtitle 2">
            <a:extLst>
              <a:ext uri="{FF2B5EF4-FFF2-40B4-BE49-F238E27FC236}">
                <a16:creationId xmlns:a16="http://schemas.microsoft.com/office/drawing/2014/main" id="{6C37E701-8695-5CB0-A905-07547C6513FA}"/>
              </a:ext>
            </a:extLst>
          </p:cNvPr>
          <p:cNvSpPr>
            <a:spLocks noGrp="1"/>
          </p:cNvSpPr>
          <p:nvPr>
            <p:ph type="subTitle" idx="1"/>
          </p:nvPr>
        </p:nvSpPr>
        <p:spPr/>
        <p:txBody>
          <a:bodyPr/>
          <a:lstStyle/>
          <a:p>
            <a:r>
              <a:rPr lang="en-US" dirty="0" err="1"/>
              <a:t>Laborator</a:t>
            </a:r>
            <a:r>
              <a:rPr lang="en-US" dirty="0"/>
              <a:t> – Grigore </a:t>
            </a:r>
            <a:r>
              <a:rPr lang="en-US" dirty="0" err="1"/>
              <a:t>Ionuț</a:t>
            </a:r>
            <a:endParaRPr lang="en-US" dirty="0"/>
          </a:p>
        </p:txBody>
      </p:sp>
    </p:spTree>
    <p:extLst>
      <p:ext uri="{BB962C8B-B14F-4D97-AF65-F5344CB8AC3E}">
        <p14:creationId xmlns:p14="http://schemas.microsoft.com/office/powerpoint/2010/main" val="27046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53440" y="975360"/>
            <a:ext cx="8534400" cy="609600"/>
          </a:xfrm>
          <a:prstGeom prst="rect">
            <a:avLst/>
          </a:prstGeom>
          <a:noFill/>
          <a:ln/>
        </p:spPr>
        <p:txBody>
          <a:bodyPr wrap="square" lIns="0" tIns="0" rIns="0" bIns="0" rtlCol="0" anchor="ctr"/>
          <a:lstStyle/>
          <a:p>
            <a:r>
              <a:rPr lang="en-US" sz="2800" dirty="0">
                <a:solidFill>
                  <a:schemeClr val="tx2">
                    <a:lumMod val="75000"/>
                    <a:lumOff val="25000"/>
                  </a:schemeClr>
                </a:solidFill>
                <a:latin typeface="Calibri" pitchFamily="34" charset="0"/>
                <a:ea typeface="Calibri" pitchFamily="34" charset="-122"/>
                <a:cs typeface="Calibri" pitchFamily="34" charset="-120"/>
              </a:rPr>
              <a:t>Laboratory 9</a:t>
            </a:r>
            <a:endParaRPr lang="en-US" sz="2800" dirty="0">
              <a:solidFill>
                <a:schemeClr val="tx2">
                  <a:lumMod val="75000"/>
                  <a:lumOff val="25000"/>
                </a:schemeClr>
              </a:solidFill>
            </a:endParaRPr>
          </a:p>
        </p:txBody>
      </p:sp>
      <p:sp>
        <p:nvSpPr>
          <p:cNvPr id="5" name="Text 3"/>
          <p:cNvSpPr/>
          <p:nvPr/>
        </p:nvSpPr>
        <p:spPr>
          <a:xfrm>
            <a:off x="853440" y="1524000"/>
            <a:ext cx="9144000" cy="2682240"/>
          </a:xfrm>
          <a:prstGeom prst="rect">
            <a:avLst/>
          </a:prstGeom>
          <a:noFill/>
          <a:ln/>
        </p:spPr>
        <p:txBody>
          <a:bodyPr wrap="square" lIns="0" tIns="0" rIns="0" bIns="0" rtlCol="0" anchor="t"/>
          <a:lstStyle/>
          <a:p>
            <a:r>
              <a:rPr lang="en-US" sz="6133" b="1" dirty="0">
                <a:solidFill>
                  <a:srgbClr val="FF0000"/>
                </a:solidFill>
                <a:latin typeface="Calibri" pitchFamily="34" charset="0"/>
                <a:ea typeface="Calibri" pitchFamily="34" charset="-122"/>
                <a:cs typeface="Calibri" pitchFamily="34" charset="-120"/>
              </a:rPr>
              <a:t>VQGAN: Converting</a:t>
            </a:r>
          </a:p>
          <a:p>
            <a:r>
              <a:rPr lang="en-US" sz="6133" b="1" dirty="0">
                <a:solidFill>
                  <a:srgbClr val="FF0000"/>
                </a:solidFill>
                <a:latin typeface="Calibri" pitchFamily="34" charset="0"/>
                <a:ea typeface="Calibri" pitchFamily="34" charset="-122"/>
                <a:cs typeface="Calibri" pitchFamily="34" charset="-120"/>
              </a:rPr>
              <a:t>Images into Sequences</a:t>
            </a:r>
          </a:p>
          <a:p>
            <a:r>
              <a:rPr lang="en-US" sz="6133" b="1" dirty="0">
                <a:solidFill>
                  <a:srgbClr val="FF0000"/>
                </a:solidFill>
                <a:latin typeface="Calibri" pitchFamily="34" charset="0"/>
                <a:ea typeface="Calibri" pitchFamily="34" charset="-122"/>
                <a:cs typeface="Calibri" pitchFamily="34" charset="-120"/>
              </a:rPr>
              <a:t>of Integers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Lab Overview</a:t>
            </a:r>
            <a:endParaRPr lang="en-US" sz="3467" dirty="0"/>
          </a:p>
        </p:txBody>
      </p:sp>
      <p:sp>
        <p:nvSpPr>
          <p:cNvPr id="4" name="Shape 2"/>
          <p:cNvSpPr/>
          <p:nvPr/>
        </p:nvSpPr>
        <p:spPr>
          <a:xfrm>
            <a:off x="426720" y="1097280"/>
            <a:ext cx="914400" cy="1682496"/>
          </a:xfrm>
          <a:prstGeom prst="rect">
            <a:avLst/>
          </a:prstGeom>
          <a:solidFill>
            <a:srgbClr val="1F5BAD"/>
          </a:solidFill>
          <a:ln w="12700">
            <a:solidFill>
              <a:srgbClr val="1F5BAD"/>
            </a:solidFill>
            <a:prstDash val="solid"/>
          </a:ln>
        </p:spPr>
      </p:sp>
      <p:sp>
        <p:nvSpPr>
          <p:cNvPr id="5" name="Text 3"/>
          <p:cNvSpPr/>
          <p:nvPr/>
        </p:nvSpPr>
        <p:spPr>
          <a:xfrm>
            <a:off x="426720"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6" name="Shape 4"/>
          <p:cNvSpPr/>
          <p:nvPr/>
        </p:nvSpPr>
        <p:spPr>
          <a:xfrm>
            <a:off x="1341120" y="1097280"/>
            <a:ext cx="4693920" cy="1682496"/>
          </a:xfrm>
          <a:prstGeom prst="rect">
            <a:avLst/>
          </a:prstGeom>
          <a:solidFill>
            <a:srgbClr val="FFFFFF"/>
          </a:solidFill>
          <a:ln w="12700">
            <a:solidFill>
              <a:srgbClr val="CCCCCC"/>
            </a:solidFill>
            <a:prstDash val="solid"/>
          </a:ln>
        </p:spPr>
      </p:sp>
      <p:sp>
        <p:nvSpPr>
          <p:cNvPr id="7" name="Text 5"/>
          <p:cNvSpPr/>
          <p:nvPr/>
        </p:nvSpPr>
        <p:spPr>
          <a:xfrm>
            <a:off x="1487424"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Image → Integer Sequence</a:t>
            </a:r>
            <a:endParaRPr lang="en-US" sz="1600" dirty="0"/>
          </a:p>
        </p:txBody>
      </p:sp>
      <p:sp>
        <p:nvSpPr>
          <p:cNvPr id="8" name="Text 6"/>
          <p:cNvSpPr/>
          <p:nvPr/>
        </p:nvSpPr>
        <p:spPr>
          <a:xfrm>
            <a:off x="1487424"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a pretrained VQGAN to convert a fish image into 576 integers and reconstruct it back.</a:t>
            </a:r>
            <a:endParaRPr lang="en-US" sz="1400" dirty="0"/>
          </a:p>
        </p:txBody>
      </p:sp>
      <p:sp>
        <p:nvSpPr>
          <p:cNvPr id="9" name="Shape 7"/>
          <p:cNvSpPr/>
          <p:nvPr/>
        </p:nvSpPr>
        <p:spPr>
          <a:xfrm>
            <a:off x="6315456" y="1097280"/>
            <a:ext cx="914400" cy="1682496"/>
          </a:xfrm>
          <a:prstGeom prst="rect">
            <a:avLst/>
          </a:prstGeom>
          <a:solidFill>
            <a:srgbClr val="1F5BAD"/>
          </a:solidFill>
          <a:ln w="12700">
            <a:solidFill>
              <a:srgbClr val="1F5BAD"/>
            </a:solidFill>
            <a:prstDash val="solid"/>
          </a:ln>
        </p:spPr>
      </p:sp>
      <p:sp>
        <p:nvSpPr>
          <p:cNvPr id="10" name="Text 8"/>
          <p:cNvSpPr/>
          <p:nvPr/>
        </p:nvSpPr>
        <p:spPr>
          <a:xfrm>
            <a:off x="6315456"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1" name="Shape 9"/>
          <p:cNvSpPr/>
          <p:nvPr/>
        </p:nvSpPr>
        <p:spPr>
          <a:xfrm>
            <a:off x="7229856" y="1097280"/>
            <a:ext cx="4693920" cy="1682496"/>
          </a:xfrm>
          <a:prstGeom prst="rect">
            <a:avLst/>
          </a:prstGeom>
          <a:solidFill>
            <a:srgbClr val="FFFFFF"/>
          </a:solidFill>
          <a:ln w="12700">
            <a:solidFill>
              <a:srgbClr val="CCCCCC"/>
            </a:solidFill>
            <a:prstDash val="solid"/>
          </a:ln>
        </p:spPr>
      </p:sp>
      <p:sp>
        <p:nvSpPr>
          <p:cNvPr id="12" name="Text 10"/>
          <p:cNvSpPr/>
          <p:nvPr/>
        </p:nvSpPr>
        <p:spPr>
          <a:xfrm>
            <a:off x="7376160"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Encoder + quant_conv</a:t>
            </a:r>
            <a:endParaRPr lang="en-US" sz="1600" dirty="0"/>
          </a:p>
        </p:txBody>
      </p:sp>
      <p:sp>
        <p:nvSpPr>
          <p:cNvPr id="13" name="Text 11"/>
          <p:cNvSpPr/>
          <p:nvPr/>
        </p:nvSpPr>
        <p:spPr>
          <a:xfrm>
            <a:off x="7376160"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The VQGAN encoder compresses 3×384×384 to 256×24×24 using 4 strided convolutions (16× downsampling).</a:t>
            </a:r>
            <a:endParaRPr lang="en-US" sz="1400" dirty="0"/>
          </a:p>
        </p:txBody>
      </p:sp>
      <p:sp>
        <p:nvSpPr>
          <p:cNvPr id="14" name="Shape 12"/>
          <p:cNvSpPr/>
          <p:nvPr/>
        </p:nvSpPr>
        <p:spPr>
          <a:xfrm>
            <a:off x="426720" y="2950464"/>
            <a:ext cx="914400" cy="1682496"/>
          </a:xfrm>
          <a:prstGeom prst="rect">
            <a:avLst/>
          </a:prstGeom>
          <a:solidFill>
            <a:srgbClr val="1F5BAD"/>
          </a:solidFill>
          <a:ln w="12700">
            <a:solidFill>
              <a:srgbClr val="1F5BAD"/>
            </a:solidFill>
            <a:prstDash val="solid"/>
          </a:ln>
        </p:spPr>
      </p:sp>
      <p:sp>
        <p:nvSpPr>
          <p:cNvPr id="15" name="Text 13"/>
          <p:cNvSpPr/>
          <p:nvPr/>
        </p:nvSpPr>
        <p:spPr>
          <a:xfrm>
            <a:off x="426720"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16" name="Shape 14"/>
          <p:cNvSpPr/>
          <p:nvPr/>
        </p:nvSpPr>
        <p:spPr>
          <a:xfrm>
            <a:off x="1341120" y="2950464"/>
            <a:ext cx="4693920" cy="1682496"/>
          </a:xfrm>
          <a:prstGeom prst="rect">
            <a:avLst/>
          </a:prstGeom>
          <a:solidFill>
            <a:srgbClr val="FFFFFF"/>
          </a:solidFill>
          <a:ln w="12700">
            <a:solidFill>
              <a:srgbClr val="CCCCCC"/>
            </a:solidFill>
            <a:prstDash val="solid"/>
          </a:ln>
        </p:spPr>
      </p:sp>
      <p:sp>
        <p:nvSpPr>
          <p:cNvPr id="17" name="Text 15"/>
          <p:cNvSpPr/>
          <p:nvPr/>
        </p:nvSpPr>
        <p:spPr>
          <a:xfrm>
            <a:off x="1487424"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Codebook Quantization</a:t>
            </a:r>
            <a:endParaRPr lang="en-US" sz="1600" dirty="0"/>
          </a:p>
        </p:txBody>
      </p:sp>
      <p:sp>
        <p:nvSpPr>
          <p:cNvPr id="18" name="Text 16"/>
          <p:cNvSpPr/>
          <p:nvPr/>
        </p:nvSpPr>
        <p:spPr>
          <a:xfrm>
            <a:off x="1487424"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model.quantize() finds the nearest codebook vector for each of the 576 latent patches, replacing it with a discrete index.</a:t>
            </a:r>
            <a:endParaRPr lang="en-US" sz="1400" dirty="0"/>
          </a:p>
        </p:txBody>
      </p:sp>
      <p:sp>
        <p:nvSpPr>
          <p:cNvPr id="19" name="Shape 17"/>
          <p:cNvSpPr/>
          <p:nvPr/>
        </p:nvSpPr>
        <p:spPr>
          <a:xfrm>
            <a:off x="6315456" y="2950464"/>
            <a:ext cx="914400" cy="1682496"/>
          </a:xfrm>
          <a:prstGeom prst="rect">
            <a:avLst/>
          </a:prstGeom>
          <a:solidFill>
            <a:srgbClr val="1F5BAD"/>
          </a:solidFill>
          <a:ln w="12700">
            <a:solidFill>
              <a:srgbClr val="1F5BAD"/>
            </a:solidFill>
            <a:prstDash val="solid"/>
          </a:ln>
        </p:spPr>
      </p:sp>
      <p:sp>
        <p:nvSpPr>
          <p:cNvPr id="20" name="Text 18"/>
          <p:cNvSpPr/>
          <p:nvPr/>
        </p:nvSpPr>
        <p:spPr>
          <a:xfrm>
            <a:off x="6315456"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1" name="Shape 19"/>
          <p:cNvSpPr/>
          <p:nvPr/>
        </p:nvSpPr>
        <p:spPr>
          <a:xfrm>
            <a:off x="7229856" y="2950464"/>
            <a:ext cx="4693920" cy="1682496"/>
          </a:xfrm>
          <a:prstGeom prst="rect">
            <a:avLst/>
          </a:prstGeom>
          <a:solidFill>
            <a:srgbClr val="FFFFFF"/>
          </a:solidFill>
          <a:ln w="12700">
            <a:solidFill>
              <a:srgbClr val="CCCCCC"/>
            </a:solidFill>
            <a:prstDash val="solid"/>
          </a:ln>
        </p:spPr>
      </p:sp>
      <p:sp>
        <p:nvSpPr>
          <p:cNvPr id="22" name="Text 20"/>
          <p:cNvSpPr/>
          <p:nvPr/>
        </p:nvSpPr>
        <p:spPr>
          <a:xfrm>
            <a:off x="7376160"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Integer Sequence → Image</a:t>
            </a:r>
            <a:endParaRPr lang="en-US" sz="1600" dirty="0"/>
          </a:p>
        </p:txBody>
      </p:sp>
      <p:sp>
        <p:nvSpPr>
          <p:cNvPr id="23" name="Text 21"/>
          <p:cNvSpPr/>
          <p:nvPr/>
        </p:nvSpPr>
        <p:spPr>
          <a:xfrm>
            <a:off x="7376160"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Map each index back to its codebook embedding, reshape, pass through post_quant_conv + decoder → 3×384×384 image.</a:t>
            </a:r>
            <a:endParaRPr lang="en-US" sz="1400" dirty="0"/>
          </a:p>
        </p:txBody>
      </p:sp>
      <p:sp>
        <p:nvSpPr>
          <p:cNvPr id="29" name="Shape 27"/>
          <p:cNvSpPr/>
          <p:nvPr/>
        </p:nvSpPr>
        <p:spPr>
          <a:xfrm>
            <a:off x="426720" y="4803648"/>
            <a:ext cx="914400" cy="1682496"/>
          </a:xfrm>
          <a:prstGeom prst="rect">
            <a:avLst/>
          </a:prstGeom>
          <a:solidFill>
            <a:srgbClr val="1F5BAD"/>
          </a:solidFill>
          <a:ln w="12700">
            <a:solidFill>
              <a:srgbClr val="1F5BAD"/>
            </a:solidFill>
            <a:prstDash val="solid"/>
          </a:ln>
        </p:spPr>
      </p:sp>
      <p:sp>
        <p:nvSpPr>
          <p:cNvPr id="30" name="Text 28"/>
          <p:cNvSpPr/>
          <p:nvPr/>
        </p:nvSpPr>
        <p:spPr>
          <a:xfrm>
            <a:off x="426720" y="4803648"/>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31" name="Shape 29"/>
          <p:cNvSpPr/>
          <p:nvPr/>
        </p:nvSpPr>
        <p:spPr>
          <a:xfrm>
            <a:off x="1341120" y="4803648"/>
            <a:ext cx="4693920" cy="1682496"/>
          </a:xfrm>
          <a:prstGeom prst="rect">
            <a:avLst/>
          </a:prstGeom>
          <a:solidFill>
            <a:srgbClr val="FFFFFF"/>
          </a:solidFill>
          <a:ln w="12700">
            <a:solidFill>
              <a:srgbClr val="CCCCCC"/>
            </a:solidFill>
            <a:prstDash val="solid"/>
          </a:ln>
        </p:spPr>
      </p:sp>
      <p:sp>
        <p:nvSpPr>
          <p:cNvPr id="32" name="Text 30"/>
          <p:cNvSpPr/>
          <p:nvPr/>
        </p:nvSpPr>
        <p:spPr>
          <a:xfrm>
            <a:off x="1487424" y="4925568"/>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Reconstruction quality</a:t>
            </a:r>
            <a:endParaRPr lang="en-US" sz="1600" dirty="0"/>
          </a:p>
        </p:txBody>
      </p:sp>
      <p:sp>
        <p:nvSpPr>
          <p:cNvPr id="33" name="Text 31"/>
          <p:cNvSpPr/>
          <p:nvPr/>
        </p:nvSpPr>
        <p:spPr>
          <a:xfrm>
            <a:off x="1487424" y="5340096"/>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Compare images reconstructed from quantized vectors vs sequences of integers — they are identical, proving lossless round-trip through the codebook.</a:t>
            </a:r>
            <a:endParaRPr lang="en-US" sz="1400" dirty="0"/>
          </a:p>
        </p:txBody>
      </p:sp>
      <p:sp>
        <p:nvSpPr>
          <p:cNvPr id="34" name="Shape 0">
            <a:extLst>
              <a:ext uri="{FF2B5EF4-FFF2-40B4-BE49-F238E27FC236}">
                <a16:creationId xmlns:a16="http://schemas.microsoft.com/office/drawing/2014/main" id="{254DEF88-3DE8-4966-4F20-ADD6474BC304}"/>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quals 8">
            <a:extLst>
              <a:ext uri="{FF2B5EF4-FFF2-40B4-BE49-F238E27FC236}">
                <a16:creationId xmlns:a16="http://schemas.microsoft.com/office/drawing/2014/main" id="{0CD0DF09-8CE6-0BB2-FDA2-3C4AECB25BD3}"/>
              </a:ext>
            </a:extLst>
          </p:cNvPr>
          <p:cNvSpPr/>
          <p:nvPr/>
        </p:nvSpPr>
        <p:spPr>
          <a:xfrm>
            <a:off x="5555892" y="3224204"/>
            <a:ext cx="1005649" cy="469201"/>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tx1"/>
              </a:solidFill>
            </a:endParaRPr>
          </a:p>
        </p:txBody>
      </p:sp>
      <p:sp>
        <p:nvSpPr>
          <p:cNvPr id="12" name="TextBox 11">
            <a:extLst>
              <a:ext uri="{FF2B5EF4-FFF2-40B4-BE49-F238E27FC236}">
                <a16:creationId xmlns:a16="http://schemas.microsoft.com/office/drawing/2014/main" id="{901CDDEC-91AA-8488-D9E2-E453B9695545}"/>
              </a:ext>
            </a:extLst>
          </p:cNvPr>
          <p:cNvSpPr txBox="1"/>
          <p:nvPr/>
        </p:nvSpPr>
        <p:spPr>
          <a:xfrm>
            <a:off x="4951595" y="1848154"/>
            <a:ext cx="2288809" cy="830997"/>
          </a:xfrm>
          <a:prstGeom prst="rect">
            <a:avLst/>
          </a:prstGeom>
          <a:noFill/>
        </p:spPr>
        <p:txBody>
          <a:bodyPr wrap="square">
            <a:spAutoFit/>
          </a:bodyPr>
          <a:lstStyle/>
          <a:p>
            <a:r>
              <a:rPr lang="en-US" sz="4800" dirty="0"/>
              <a:t>VQGAN</a:t>
            </a:r>
            <a:endParaRPr lang="ro-RO" sz="4800" dirty="0"/>
          </a:p>
        </p:txBody>
      </p:sp>
      <p:sp>
        <p:nvSpPr>
          <p:cNvPr id="13" name="Shape 0">
            <a:extLst>
              <a:ext uri="{FF2B5EF4-FFF2-40B4-BE49-F238E27FC236}">
                <a16:creationId xmlns:a16="http://schemas.microsoft.com/office/drawing/2014/main" id="{5733196B-47A7-93D8-A608-27818433138C}"/>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2" name="Text 1">
            <a:extLst>
              <a:ext uri="{FF2B5EF4-FFF2-40B4-BE49-F238E27FC236}">
                <a16:creationId xmlns:a16="http://schemas.microsoft.com/office/drawing/2014/main" id="{A4315188-C0A5-B8DD-7AD6-D4A3A8C5DB4C}"/>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What Is VQGAN ?</a:t>
            </a:r>
            <a:endParaRPr lang="en-US" sz="3467" dirty="0"/>
          </a:p>
        </p:txBody>
      </p:sp>
      <p:sp>
        <p:nvSpPr>
          <p:cNvPr id="3" name="TextBox 2">
            <a:extLst>
              <a:ext uri="{FF2B5EF4-FFF2-40B4-BE49-F238E27FC236}">
                <a16:creationId xmlns:a16="http://schemas.microsoft.com/office/drawing/2014/main" id="{40022E33-18AC-2363-1E36-D657F41C8B36}"/>
              </a:ext>
            </a:extLst>
          </p:cNvPr>
          <p:cNvSpPr txBox="1"/>
          <p:nvPr/>
        </p:nvSpPr>
        <p:spPr>
          <a:xfrm>
            <a:off x="3218744" y="4443254"/>
            <a:ext cx="2201556" cy="830997"/>
          </a:xfrm>
          <a:prstGeom prst="rect">
            <a:avLst/>
          </a:prstGeom>
          <a:noFill/>
        </p:spPr>
        <p:txBody>
          <a:bodyPr wrap="square">
            <a:spAutoFit/>
          </a:bodyPr>
          <a:lstStyle/>
          <a:p>
            <a:r>
              <a:rPr lang="en-US" sz="4800" dirty="0"/>
              <a:t>VQ-VAE</a:t>
            </a:r>
            <a:endParaRPr lang="ro-RO" sz="4800" dirty="0"/>
          </a:p>
        </p:txBody>
      </p:sp>
      <p:sp>
        <p:nvSpPr>
          <p:cNvPr id="4" name="TextBox 3">
            <a:extLst>
              <a:ext uri="{FF2B5EF4-FFF2-40B4-BE49-F238E27FC236}">
                <a16:creationId xmlns:a16="http://schemas.microsoft.com/office/drawing/2014/main" id="{781469C2-F359-6F4B-97E0-3F8D0C365424}"/>
              </a:ext>
            </a:extLst>
          </p:cNvPr>
          <p:cNvSpPr txBox="1"/>
          <p:nvPr/>
        </p:nvSpPr>
        <p:spPr>
          <a:xfrm>
            <a:off x="7011498" y="4443254"/>
            <a:ext cx="1504541" cy="830997"/>
          </a:xfrm>
          <a:prstGeom prst="rect">
            <a:avLst/>
          </a:prstGeom>
          <a:noFill/>
        </p:spPr>
        <p:txBody>
          <a:bodyPr wrap="square">
            <a:spAutoFit/>
          </a:bodyPr>
          <a:lstStyle/>
          <a:p>
            <a:r>
              <a:rPr lang="en-US" sz="4800" dirty="0"/>
              <a:t>GAN</a:t>
            </a:r>
            <a:endParaRPr lang="ro-RO" sz="4800" dirty="0"/>
          </a:p>
        </p:txBody>
      </p:sp>
      <p:sp>
        <p:nvSpPr>
          <p:cNvPr id="5" name="Plus Sign 4">
            <a:extLst>
              <a:ext uri="{FF2B5EF4-FFF2-40B4-BE49-F238E27FC236}">
                <a16:creationId xmlns:a16="http://schemas.microsoft.com/office/drawing/2014/main" id="{76782CC7-DE08-F2D8-7EAE-4F7D9961E277}"/>
              </a:ext>
            </a:extLst>
          </p:cNvPr>
          <p:cNvSpPr/>
          <p:nvPr/>
        </p:nvSpPr>
        <p:spPr>
          <a:xfrm>
            <a:off x="5632871" y="4339997"/>
            <a:ext cx="914400" cy="9144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415457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5DC1F-ED40-1CCF-68C3-53AF19BCD8D2}"/>
            </a:ext>
          </a:extLst>
        </p:cNvPr>
        <p:cNvGrpSpPr/>
        <p:nvPr/>
      </p:nvGrpSpPr>
      <p:grpSpPr>
        <a:xfrm>
          <a:off x="0" y="0"/>
          <a:ext cx="0" cy="0"/>
          <a:chOff x="0" y="0"/>
          <a:chExt cx="0" cy="0"/>
        </a:xfrm>
      </p:grpSpPr>
      <p:sp>
        <p:nvSpPr>
          <p:cNvPr id="9" name="Equals 8">
            <a:extLst>
              <a:ext uri="{FF2B5EF4-FFF2-40B4-BE49-F238E27FC236}">
                <a16:creationId xmlns:a16="http://schemas.microsoft.com/office/drawing/2014/main" id="{184D0AB4-F033-0649-9613-85539C5B3C78}"/>
              </a:ext>
            </a:extLst>
          </p:cNvPr>
          <p:cNvSpPr/>
          <p:nvPr/>
        </p:nvSpPr>
        <p:spPr>
          <a:xfrm>
            <a:off x="5555892" y="3607694"/>
            <a:ext cx="1005649" cy="469201"/>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tx1"/>
              </a:solidFill>
            </a:endParaRPr>
          </a:p>
        </p:txBody>
      </p:sp>
      <p:sp>
        <p:nvSpPr>
          <p:cNvPr id="13" name="Shape 0">
            <a:extLst>
              <a:ext uri="{FF2B5EF4-FFF2-40B4-BE49-F238E27FC236}">
                <a16:creationId xmlns:a16="http://schemas.microsoft.com/office/drawing/2014/main" id="{7686C385-A4D8-A4EB-BA2C-17CDAAED526B}"/>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2" name="Text 1">
            <a:extLst>
              <a:ext uri="{FF2B5EF4-FFF2-40B4-BE49-F238E27FC236}">
                <a16:creationId xmlns:a16="http://schemas.microsoft.com/office/drawing/2014/main" id="{29DB11D8-18A0-3492-DA58-EA558520C3C1}"/>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What Is VQGAN ?</a:t>
            </a:r>
            <a:endParaRPr lang="en-US" sz="3467" dirty="0"/>
          </a:p>
        </p:txBody>
      </p:sp>
      <p:sp>
        <p:nvSpPr>
          <p:cNvPr id="5" name="Plus Sign 4">
            <a:extLst>
              <a:ext uri="{FF2B5EF4-FFF2-40B4-BE49-F238E27FC236}">
                <a16:creationId xmlns:a16="http://schemas.microsoft.com/office/drawing/2014/main" id="{9A20E83C-EE40-2318-0B9D-9C95D583E9BA}"/>
              </a:ext>
            </a:extLst>
          </p:cNvPr>
          <p:cNvSpPr/>
          <p:nvPr/>
        </p:nvSpPr>
        <p:spPr>
          <a:xfrm>
            <a:off x="5632871" y="4723487"/>
            <a:ext cx="914400" cy="9144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7" name="Picture 6">
            <a:extLst>
              <a:ext uri="{FF2B5EF4-FFF2-40B4-BE49-F238E27FC236}">
                <a16:creationId xmlns:a16="http://schemas.microsoft.com/office/drawing/2014/main" id="{087BFDC7-4B1D-05E8-0648-EB9C8CB663CB}"/>
              </a:ext>
            </a:extLst>
          </p:cNvPr>
          <p:cNvPicPr>
            <a:picLocks noChangeAspect="1"/>
          </p:cNvPicPr>
          <p:nvPr/>
        </p:nvPicPr>
        <p:blipFill>
          <a:blip r:embed="rId2"/>
          <a:stretch>
            <a:fillRect/>
          </a:stretch>
        </p:blipFill>
        <p:spPr>
          <a:xfrm>
            <a:off x="4058246" y="950976"/>
            <a:ext cx="4063649" cy="2299331"/>
          </a:xfrm>
          <a:prstGeom prst="rect">
            <a:avLst/>
          </a:prstGeom>
        </p:spPr>
      </p:pic>
      <p:pic>
        <p:nvPicPr>
          <p:cNvPr id="10" name="Picture 9">
            <a:extLst>
              <a:ext uri="{FF2B5EF4-FFF2-40B4-BE49-F238E27FC236}">
                <a16:creationId xmlns:a16="http://schemas.microsoft.com/office/drawing/2014/main" id="{263057B6-3698-7307-64CF-AA18288DBF70}"/>
              </a:ext>
            </a:extLst>
          </p:cNvPr>
          <p:cNvPicPr>
            <a:picLocks noChangeAspect="1"/>
          </p:cNvPicPr>
          <p:nvPr/>
        </p:nvPicPr>
        <p:blipFill>
          <a:blip r:embed="rId3"/>
          <a:stretch>
            <a:fillRect/>
          </a:stretch>
        </p:blipFill>
        <p:spPr>
          <a:xfrm>
            <a:off x="1754716" y="4019462"/>
            <a:ext cx="3235925" cy="2322450"/>
          </a:xfrm>
          <a:prstGeom prst="rect">
            <a:avLst/>
          </a:prstGeom>
        </p:spPr>
      </p:pic>
      <p:pic>
        <p:nvPicPr>
          <p:cNvPr id="14" name="Picture 13">
            <a:extLst>
              <a:ext uri="{FF2B5EF4-FFF2-40B4-BE49-F238E27FC236}">
                <a16:creationId xmlns:a16="http://schemas.microsoft.com/office/drawing/2014/main" id="{C5680417-0677-28F5-86A5-385315744372}"/>
              </a:ext>
            </a:extLst>
          </p:cNvPr>
          <p:cNvPicPr>
            <a:picLocks noChangeAspect="1"/>
          </p:cNvPicPr>
          <p:nvPr/>
        </p:nvPicPr>
        <p:blipFill>
          <a:blip r:embed="rId4"/>
          <a:stretch>
            <a:fillRect/>
          </a:stretch>
        </p:blipFill>
        <p:spPr>
          <a:xfrm>
            <a:off x="7126792" y="4019462"/>
            <a:ext cx="3235925" cy="2467210"/>
          </a:xfrm>
          <a:prstGeom prst="rect">
            <a:avLst/>
          </a:prstGeom>
        </p:spPr>
      </p:pic>
      <p:sp>
        <p:nvSpPr>
          <p:cNvPr id="16" name="TextBox 15">
            <a:extLst>
              <a:ext uri="{FF2B5EF4-FFF2-40B4-BE49-F238E27FC236}">
                <a16:creationId xmlns:a16="http://schemas.microsoft.com/office/drawing/2014/main" id="{0CAEE5EE-07D5-E0DB-A9A5-B6DBC65072A1}"/>
              </a:ext>
            </a:extLst>
          </p:cNvPr>
          <p:cNvSpPr txBox="1"/>
          <p:nvPr/>
        </p:nvSpPr>
        <p:spPr>
          <a:xfrm>
            <a:off x="4538949" y="3105090"/>
            <a:ext cx="3415229" cy="646331"/>
          </a:xfrm>
          <a:prstGeom prst="rect">
            <a:avLst/>
          </a:prstGeom>
          <a:noFill/>
        </p:spPr>
        <p:txBody>
          <a:bodyPr wrap="square">
            <a:spAutoFit/>
          </a:bodyPr>
          <a:lstStyle/>
          <a:p>
            <a:r>
              <a:rPr lang="ro-RO" dirty="0">
                <a:hlinkClick r:id="rId5"/>
              </a:rPr>
              <a:t>https://arxiv.org/pdf/2012.09841</a:t>
            </a:r>
            <a:endParaRPr lang="en-US" dirty="0"/>
          </a:p>
          <a:p>
            <a:endParaRPr lang="ro-RO" dirty="0"/>
          </a:p>
        </p:txBody>
      </p:sp>
      <p:sp>
        <p:nvSpPr>
          <p:cNvPr id="18" name="TextBox 17">
            <a:extLst>
              <a:ext uri="{FF2B5EF4-FFF2-40B4-BE49-F238E27FC236}">
                <a16:creationId xmlns:a16="http://schemas.microsoft.com/office/drawing/2014/main" id="{158D11E3-AAF4-CE4D-0052-EF956F7F147F}"/>
              </a:ext>
            </a:extLst>
          </p:cNvPr>
          <p:cNvSpPr txBox="1"/>
          <p:nvPr/>
        </p:nvSpPr>
        <p:spPr>
          <a:xfrm>
            <a:off x="1754716" y="6464736"/>
            <a:ext cx="3624550" cy="646331"/>
          </a:xfrm>
          <a:prstGeom prst="rect">
            <a:avLst/>
          </a:prstGeom>
          <a:noFill/>
        </p:spPr>
        <p:txBody>
          <a:bodyPr wrap="square">
            <a:spAutoFit/>
          </a:bodyPr>
          <a:lstStyle/>
          <a:p>
            <a:r>
              <a:rPr lang="ro-RO" dirty="0">
                <a:hlinkClick r:id="rId6"/>
              </a:rPr>
              <a:t>https://arxiv.org/pdf/1711.00937</a:t>
            </a:r>
            <a:endParaRPr lang="en-US" dirty="0"/>
          </a:p>
          <a:p>
            <a:endParaRPr lang="ro-RO" dirty="0"/>
          </a:p>
        </p:txBody>
      </p:sp>
      <p:sp>
        <p:nvSpPr>
          <p:cNvPr id="20" name="TextBox 19">
            <a:extLst>
              <a:ext uri="{FF2B5EF4-FFF2-40B4-BE49-F238E27FC236}">
                <a16:creationId xmlns:a16="http://schemas.microsoft.com/office/drawing/2014/main" id="{4894FD82-7DB4-44B2-01F7-BF8FC2FB291C}"/>
              </a:ext>
            </a:extLst>
          </p:cNvPr>
          <p:cNvSpPr txBox="1"/>
          <p:nvPr/>
        </p:nvSpPr>
        <p:spPr>
          <a:xfrm>
            <a:off x="7270228" y="6464735"/>
            <a:ext cx="3495599" cy="646331"/>
          </a:xfrm>
          <a:prstGeom prst="rect">
            <a:avLst/>
          </a:prstGeom>
          <a:noFill/>
        </p:spPr>
        <p:txBody>
          <a:bodyPr wrap="square">
            <a:spAutoFit/>
          </a:bodyPr>
          <a:lstStyle/>
          <a:p>
            <a:r>
              <a:rPr lang="ro-RO" dirty="0">
                <a:hlinkClick r:id="rId7"/>
              </a:rPr>
              <a:t>https://arxiv.org/pdf/1406.2661</a:t>
            </a:r>
            <a:endParaRPr lang="en-US" dirty="0"/>
          </a:p>
          <a:p>
            <a:endParaRPr lang="ro-RO" dirty="0"/>
          </a:p>
        </p:txBody>
      </p:sp>
    </p:spTree>
    <p:extLst>
      <p:ext uri="{BB962C8B-B14F-4D97-AF65-F5344CB8AC3E}">
        <p14:creationId xmlns:p14="http://schemas.microsoft.com/office/powerpoint/2010/main" val="2651809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8E04-BA18-912E-BB3E-610318663221}"/>
            </a:ext>
          </a:extLst>
        </p:cNvPr>
        <p:cNvGrpSpPr/>
        <p:nvPr/>
      </p:nvGrpSpPr>
      <p:grpSpPr>
        <a:xfrm>
          <a:off x="0" y="0"/>
          <a:ext cx="0" cy="0"/>
          <a:chOff x="0" y="0"/>
          <a:chExt cx="0" cy="0"/>
        </a:xfrm>
      </p:grpSpPr>
      <p:sp>
        <p:nvSpPr>
          <p:cNvPr id="13" name="Shape 0">
            <a:extLst>
              <a:ext uri="{FF2B5EF4-FFF2-40B4-BE49-F238E27FC236}">
                <a16:creationId xmlns:a16="http://schemas.microsoft.com/office/drawing/2014/main" id="{F3CB235E-CE8B-8A1D-5353-04B8C5E1C580}"/>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26" name="Picture 2" descr="Can we go home yet? - Side-Eyes Chloe Meme Generator">
            <a:extLst>
              <a:ext uri="{FF2B5EF4-FFF2-40B4-BE49-F238E27FC236}">
                <a16:creationId xmlns:a16="http://schemas.microsoft.com/office/drawing/2014/main" id="{DEFE8229-3BAD-DC4E-CCED-7E3DF4753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174" y="1655228"/>
            <a:ext cx="6681652" cy="3864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52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2E023-0F7A-4CD5-C554-2DC8F98C4C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29C8BC-D17A-2E9B-4002-1B67B6B7C44E}"/>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F59B246C-46E3-A9FE-09B6-90571262B33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1</a:t>
            </a:r>
            <a:endParaRPr lang="en-US" sz="1867" dirty="0"/>
          </a:p>
        </p:txBody>
      </p:sp>
      <p:sp>
        <p:nvSpPr>
          <p:cNvPr id="7" name="Text 2">
            <a:extLst>
              <a:ext uri="{FF2B5EF4-FFF2-40B4-BE49-F238E27FC236}">
                <a16:creationId xmlns:a16="http://schemas.microsoft.com/office/drawing/2014/main" id="{B7684F17-476E-F68D-A8C2-9589134E5F94}"/>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What is an autoencoder?</a:t>
            </a:r>
          </a:p>
        </p:txBody>
      </p:sp>
    </p:spTree>
    <p:extLst>
      <p:ext uri="{BB962C8B-B14F-4D97-AF65-F5344CB8AC3E}">
        <p14:creationId xmlns:p14="http://schemas.microsoft.com/office/powerpoint/2010/main" val="429836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BFF514-E75C-2D5C-35E3-C24F4566B313}"/>
              </a:ext>
            </a:extLst>
          </p:cNvPr>
          <p:cNvPicPr>
            <a:picLocks noChangeAspect="1"/>
          </p:cNvPicPr>
          <p:nvPr/>
        </p:nvPicPr>
        <p:blipFill>
          <a:blip r:embed="rId2"/>
          <a:stretch>
            <a:fillRect/>
          </a:stretch>
        </p:blipFill>
        <p:spPr>
          <a:xfrm>
            <a:off x="786124" y="1831257"/>
            <a:ext cx="10526594" cy="4525006"/>
          </a:xfrm>
          <a:prstGeom prst="rect">
            <a:avLst/>
          </a:prstGeom>
        </p:spPr>
      </p:pic>
      <p:sp>
        <p:nvSpPr>
          <p:cNvPr id="4" name="Shape 0">
            <a:extLst>
              <a:ext uri="{FF2B5EF4-FFF2-40B4-BE49-F238E27FC236}">
                <a16:creationId xmlns:a16="http://schemas.microsoft.com/office/drawing/2014/main" id="{6DBF8325-C55D-2258-F25B-4689EC774D6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5" name="Shape 2">
            <a:extLst>
              <a:ext uri="{FF2B5EF4-FFF2-40B4-BE49-F238E27FC236}">
                <a16:creationId xmlns:a16="http://schemas.microsoft.com/office/drawing/2014/main" id="{CC5C3886-21F1-EBC8-B870-D9C0E31ACD00}"/>
              </a:ext>
            </a:extLst>
          </p:cNvPr>
          <p:cNvSpPr/>
          <p:nvPr/>
        </p:nvSpPr>
        <p:spPr>
          <a:xfrm>
            <a:off x="180824" y="478128"/>
            <a:ext cx="11737197" cy="693125"/>
          </a:xfrm>
          <a:prstGeom prst="rect">
            <a:avLst/>
          </a:prstGeom>
          <a:solidFill>
            <a:srgbClr val="1B2A4A"/>
          </a:solidFill>
          <a:ln/>
          <a:effectLst>
            <a:outerShdw blurRad="101600" dist="38100" dir="8100000" algn="bl" rotWithShape="0">
              <a:srgbClr val="000000">
                <a:alpha val="15000"/>
              </a:srgbClr>
            </a:outerShdw>
          </a:effectLst>
        </p:spPr>
      </p:sp>
      <p:sp>
        <p:nvSpPr>
          <p:cNvPr id="6" name="Text 3">
            <a:extLst>
              <a:ext uri="{FF2B5EF4-FFF2-40B4-BE49-F238E27FC236}">
                <a16:creationId xmlns:a16="http://schemas.microsoft.com/office/drawing/2014/main" id="{4350A975-8D86-36D5-6D68-C60F615C3987}"/>
              </a:ext>
            </a:extLst>
          </p:cNvPr>
          <p:cNvSpPr/>
          <p:nvPr/>
        </p:nvSpPr>
        <p:spPr>
          <a:xfrm>
            <a:off x="180824" y="343670"/>
            <a:ext cx="11737197" cy="960120"/>
          </a:xfrm>
          <a:prstGeom prst="rect">
            <a:avLst/>
          </a:prstGeom>
          <a:noFill/>
          <a:ln/>
        </p:spPr>
        <p:txBody>
          <a:bodyPr wrap="square" rtlCol="0" anchor="ctr"/>
          <a:lstStyle/>
          <a:p>
            <a:pPr marL="0" indent="0" algn="ctr">
              <a:buNone/>
            </a:pPr>
            <a:r>
              <a:rPr lang="en-US" sz="1500" b="1" dirty="0">
                <a:solidFill>
                  <a:srgbClr val="F5C842"/>
                </a:solidFill>
              </a:rPr>
              <a:t>An autoencoder</a:t>
            </a:r>
            <a:r>
              <a:rPr lang="en-US" sz="1500" dirty="0">
                <a:solidFill>
                  <a:srgbClr val="FFFFFF"/>
                </a:solidFill>
              </a:rPr>
              <a:t> is a neural network that learns to </a:t>
            </a:r>
            <a:r>
              <a:rPr lang="en-US" sz="1500" b="1" dirty="0">
                <a:solidFill>
                  <a:srgbClr val="4CAF82"/>
                </a:solidFill>
              </a:rPr>
              <a:t>compress</a:t>
            </a:r>
            <a:r>
              <a:rPr lang="en-US" sz="1500" dirty="0">
                <a:solidFill>
                  <a:srgbClr val="FFFFFF"/>
                </a:solidFill>
              </a:rPr>
              <a:t> data and then </a:t>
            </a:r>
            <a:r>
              <a:rPr lang="en-US" sz="1500" b="1" dirty="0">
                <a:solidFill>
                  <a:srgbClr val="E8748A"/>
                </a:solidFill>
              </a:rPr>
              <a:t>reconstruct</a:t>
            </a:r>
            <a:r>
              <a:rPr lang="en-US" sz="1500" dirty="0">
                <a:solidFill>
                  <a:srgbClr val="FFFFFF"/>
                </a:solidFill>
              </a:rPr>
              <a:t> it — learning only from the data itself, with no labels.</a:t>
            </a:r>
            <a:endParaRPr lang="en-US" sz="1500" dirty="0"/>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5ECF3EE-659E-FD0E-A1F8-895B5763610A}"/>
                  </a:ext>
                </a:extLst>
              </p14:cNvPr>
              <p14:cNvContentPartPr/>
              <p14:nvPr/>
            </p14:nvContentPartPr>
            <p14:xfrm>
              <a:off x="1602489" y="5948304"/>
              <a:ext cx="474840" cy="360"/>
            </p14:xfrm>
          </p:contentPart>
        </mc:Choice>
        <mc:Fallback xmlns="">
          <p:pic>
            <p:nvPicPr>
              <p:cNvPr id="7" name="Ink 6">
                <a:extLst>
                  <a:ext uri="{FF2B5EF4-FFF2-40B4-BE49-F238E27FC236}">
                    <a16:creationId xmlns:a16="http://schemas.microsoft.com/office/drawing/2014/main" id="{75ECF3EE-659E-FD0E-A1F8-895B5763610A}"/>
                  </a:ext>
                </a:extLst>
              </p:cNvPr>
              <p:cNvPicPr/>
              <p:nvPr/>
            </p:nvPicPr>
            <p:blipFill>
              <a:blip r:embed="rId4"/>
              <a:stretch>
                <a:fillRect/>
              </a:stretch>
            </p:blipFill>
            <p:spPr>
              <a:xfrm>
                <a:off x="1539849" y="5885304"/>
                <a:ext cx="600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D09B6A4-5DBE-DF36-16E0-3F6FC86EF18D}"/>
                  </a:ext>
                </a:extLst>
              </p14:cNvPr>
              <p14:cNvContentPartPr/>
              <p14:nvPr/>
            </p14:nvContentPartPr>
            <p14:xfrm>
              <a:off x="1222181" y="5985398"/>
              <a:ext cx="1275120" cy="309600"/>
            </p14:xfrm>
          </p:contentPart>
        </mc:Choice>
        <mc:Fallback xmlns="">
          <p:pic>
            <p:nvPicPr>
              <p:cNvPr id="8" name="Ink 7">
                <a:extLst>
                  <a:ext uri="{FF2B5EF4-FFF2-40B4-BE49-F238E27FC236}">
                    <a16:creationId xmlns:a16="http://schemas.microsoft.com/office/drawing/2014/main" id="{8D09B6A4-5DBE-DF36-16E0-3F6FC86EF18D}"/>
                  </a:ext>
                </a:extLst>
              </p:cNvPr>
              <p:cNvPicPr/>
              <p:nvPr/>
            </p:nvPicPr>
            <p:blipFill>
              <a:blip r:embed="rId6"/>
              <a:stretch>
                <a:fillRect/>
              </a:stretch>
            </p:blipFill>
            <p:spPr>
              <a:xfrm>
                <a:off x="1159541" y="5922398"/>
                <a:ext cx="140076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F37AFA10-F3F6-D3D4-DF36-5030E6AA6B3A}"/>
                  </a:ext>
                </a:extLst>
              </p14:cNvPr>
              <p14:cNvContentPartPr/>
              <p14:nvPr/>
            </p14:nvContentPartPr>
            <p14:xfrm>
              <a:off x="9353141" y="5958038"/>
              <a:ext cx="1377720" cy="387720"/>
            </p14:xfrm>
          </p:contentPart>
        </mc:Choice>
        <mc:Fallback xmlns="">
          <p:pic>
            <p:nvPicPr>
              <p:cNvPr id="9" name="Ink 8">
                <a:extLst>
                  <a:ext uri="{FF2B5EF4-FFF2-40B4-BE49-F238E27FC236}">
                    <a16:creationId xmlns:a16="http://schemas.microsoft.com/office/drawing/2014/main" id="{F37AFA10-F3F6-D3D4-DF36-5030E6AA6B3A}"/>
                  </a:ext>
                </a:extLst>
              </p:cNvPr>
              <p:cNvPicPr/>
              <p:nvPr/>
            </p:nvPicPr>
            <p:blipFill>
              <a:blip r:embed="rId8"/>
              <a:stretch>
                <a:fillRect/>
              </a:stretch>
            </p:blipFill>
            <p:spPr>
              <a:xfrm>
                <a:off x="9290501" y="5895038"/>
                <a:ext cx="1503360" cy="513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0361FBC8-AB95-0DC6-2757-DBFBDDF79797}"/>
                  </a:ext>
                </a:extLst>
              </p14:cNvPr>
              <p14:cNvContentPartPr/>
              <p14:nvPr/>
            </p14:nvContentPartPr>
            <p14:xfrm>
              <a:off x="5476661" y="5071358"/>
              <a:ext cx="1258200" cy="69120"/>
            </p14:xfrm>
          </p:contentPart>
        </mc:Choice>
        <mc:Fallback xmlns="">
          <p:pic>
            <p:nvPicPr>
              <p:cNvPr id="10" name="Ink 9">
                <a:extLst>
                  <a:ext uri="{FF2B5EF4-FFF2-40B4-BE49-F238E27FC236}">
                    <a16:creationId xmlns:a16="http://schemas.microsoft.com/office/drawing/2014/main" id="{0361FBC8-AB95-0DC6-2757-DBFBDDF79797}"/>
                  </a:ext>
                </a:extLst>
              </p:cNvPr>
              <p:cNvPicPr/>
              <p:nvPr/>
            </p:nvPicPr>
            <p:blipFill>
              <a:blip r:embed="rId10"/>
              <a:stretch>
                <a:fillRect/>
              </a:stretch>
            </p:blipFill>
            <p:spPr>
              <a:xfrm>
                <a:off x="5413661" y="5008718"/>
                <a:ext cx="1383840" cy="194760"/>
              </a:xfrm>
              <a:prstGeom prst="rect">
                <a:avLst/>
              </a:prstGeom>
            </p:spPr>
          </p:pic>
        </mc:Fallback>
      </mc:AlternateContent>
      <p:sp>
        <p:nvSpPr>
          <p:cNvPr id="12" name="TextBox 11">
            <a:extLst>
              <a:ext uri="{FF2B5EF4-FFF2-40B4-BE49-F238E27FC236}">
                <a16:creationId xmlns:a16="http://schemas.microsoft.com/office/drawing/2014/main" id="{FB72FC39-C6BA-393B-0E52-1E77DFD16C97}"/>
              </a:ext>
            </a:extLst>
          </p:cNvPr>
          <p:cNvSpPr txBox="1"/>
          <p:nvPr/>
        </p:nvSpPr>
        <p:spPr>
          <a:xfrm>
            <a:off x="4921247" y="4953981"/>
            <a:ext cx="2369028" cy="1169551"/>
          </a:xfrm>
          <a:prstGeom prst="rect">
            <a:avLst/>
          </a:prstGeom>
          <a:noFill/>
        </p:spPr>
        <p:txBody>
          <a:bodyPr wrap="square">
            <a:spAutoFit/>
          </a:bodyPr>
          <a:lstStyle/>
          <a:p>
            <a:pPr marL="0" indent="0">
              <a:buNone/>
            </a:pPr>
            <a:r>
              <a:rPr lang="en-US" sz="1400" dirty="0">
                <a:solidFill>
                  <a:srgbClr val="FF0000"/>
                </a:solidFill>
              </a:rPr>
              <a:t>TL;DR: A compressed, lower-dimensional version of the input which encodes the most essential features learned during training.</a:t>
            </a:r>
          </a:p>
        </p:txBody>
      </p:sp>
      <p:pic>
        <p:nvPicPr>
          <p:cNvPr id="14" name="Picture 13">
            <a:extLst>
              <a:ext uri="{FF2B5EF4-FFF2-40B4-BE49-F238E27FC236}">
                <a16:creationId xmlns:a16="http://schemas.microsoft.com/office/drawing/2014/main" id="{037B5223-83B9-E880-0601-A77448CA440D}"/>
              </a:ext>
            </a:extLst>
          </p:cNvPr>
          <p:cNvPicPr>
            <a:picLocks noChangeAspect="1"/>
          </p:cNvPicPr>
          <p:nvPr/>
        </p:nvPicPr>
        <p:blipFill>
          <a:blip r:embed="rId11"/>
          <a:stretch>
            <a:fillRect/>
          </a:stretch>
        </p:blipFill>
        <p:spPr>
          <a:xfrm>
            <a:off x="5467497" y="3876987"/>
            <a:ext cx="1267364" cy="549527"/>
          </a:xfrm>
          <a:prstGeom prst="rect">
            <a:avLst/>
          </a:prstGeom>
        </p:spPr>
      </p:pic>
      <p:pic>
        <p:nvPicPr>
          <p:cNvPr id="17" name="Picture 16">
            <a:extLst>
              <a:ext uri="{FF2B5EF4-FFF2-40B4-BE49-F238E27FC236}">
                <a16:creationId xmlns:a16="http://schemas.microsoft.com/office/drawing/2014/main" id="{001E2323-7E52-26BC-47A7-F1FD1191A241}"/>
              </a:ext>
            </a:extLst>
          </p:cNvPr>
          <p:cNvPicPr>
            <a:picLocks noChangeAspect="1"/>
          </p:cNvPicPr>
          <p:nvPr/>
        </p:nvPicPr>
        <p:blipFill>
          <a:blip r:embed="rId12"/>
          <a:stretch>
            <a:fillRect/>
          </a:stretch>
        </p:blipFill>
        <p:spPr>
          <a:xfrm>
            <a:off x="5458789" y="4037434"/>
            <a:ext cx="1181265" cy="228632"/>
          </a:xfrm>
          <a:prstGeom prst="rect">
            <a:avLst/>
          </a:prstGeom>
        </p:spPr>
      </p:pic>
      <p:pic>
        <p:nvPicPr>
          <p:cNvPr id="18" name="Picture 4" descr="Fruit and Vegetable identification system using efficient convolutional Neural  Networks for transfer learning | by Pradnya Kokil | Medium">
            <a:extLst>
              <a:ext uri="{FF2B5EF4-FFF2-40B4-BE49-F238E27FC236}">
                <a16:creationId xmlns:a16="http://schemas.microsoft.com/office/drawing/2014/main" id="{1BFCCDBC-ABAA-381E-D6CD-57D3981A138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V="1">
            <a:off x="3733443" y="5071358"/>
            <a:ext cx="850926" cy="85092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Fruit and Vegetable identification system using efficient convolutional Neural  Networks for transfer learning | by Pradnya Kokil | Medium">
            <a:extLst>
              <a:ext uri="{FF2B5EF4-FFF2-40B4-BE49-F238E27FC236}">
                <a16:creationId xmlns:a16="http://schemas.microsoft.com/office/drawing/2014/main" id="{86A4AA45-2B07-7307-917C-07900869614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V="1">
            <a:off x="7627153" y="5077629"/>
            <a:ext cx="850926" cy="85092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1C597C84-6E68-C831-1858-5C3302455241}"/>
              </a:ext>
            </a:extLst>
          </p:cNvPr>
          <p:cNvPicPr>
            <a:picLocks noChangeAspect="1"/>
          </p:cNvPicPr>
          <p:nvPr/>
        </p:nvPicPr>
        <p:blipFill>
          <a:blip r:embed="rId14"/>
          <a:stretch>
            <a:fillRect/>
          </a:stretch>
        </p:blipFill>
        <p:spPr>
          <a:xfrm>
            <a:off x="9414145" y="2491469"/>
            <a:ext cx="1598871" cy="3223531"/>
          </a:xfrm>
          <a:prstGeom prst="rect">
            <a:avLst/>
          </a:prstGeom>
        </p:spPr>
      </p:pic>
    </p:spTree>
    <p:extLst>
      <p:ext uri="{BB962C8B-B14F-4D97-AF65-F5344CB8AC3E}">
        <p14:creationId xmlns:p14="http://schemas.microsoft.com/office/powerpoint/2010/main" val="3939619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5">
            <a:extLst>
              <a:ext uri="{FF2B5EF4-FFF2-40B4-BE49-F238E27FC236}">
                <a16:creationId xmlns:a16="http://schemas.microsoft.com/office/drawing/2014/main" id="{BF14D606-1095-2B27-7300-A60BD62A5FB3}"/>
              </a:ext>
            </a:extLst>
          </p:cNvPr>
          <p:cNvSpPr/>
          <p:nvPr/>
        </p:nvSpPr>
        <p:spPr>
          <a:xfrm>
            <a:off x="502920" y="1536192"/>
            <a:ext cx="228600" cy="228600"/>
          </a:xfrm>
          <a:prstGeom prst="ellipse">
            <a:avLst/>
          </a:prstGeom>
          <a:solidFill>
            <a:srgbClr val="4CAF82"/>
          </a:solidFill>
          <a:ln/>
        </p:spPr>
      </p:sp>
      <p:sp>
        <p:nvSpPr>
          <p:cNvPr id="6" name="Text 6">
            <a:extLst>
              <a:ext uri="{FF2B5EF4-FFF2-40B4-BE49-F238E27FC236}">
                <a16:creationId xmlns:a16="http://schemas.microsoft.com/office/drawing/2014/main" id="{A956FBAB-6E53-8A5C-615B-C8596E8C78F8}"/>
              </a:ext>
            </a:extLst>
          </p:cNvPr>
          <p:cNvSpPr/>
          <p:nvPr/>
        </p:nvSpPr>
        <p:spPr>
          <a:xfrm>
            <a:off x="822959" y="1536192"/>
            <a:ext cx="7303899" cy="265176"/>
          </a:xfrm>
          <a:prstGeom prst="rect">
            <a:avLst/>
          </a:prstGeom>
          <a:noFill/>
          <a:ln/>
        </p:spPr>
        <p:txBody>
          <a:bodyPr wrap="square" rtlCol="0" anchor="ctr"/>
          <a:lstStyle/>
          <a:p>
            <a:pPr marL="0" indent="0">
              <a:buNone/>
            </a:pPr>
            <a:r>
              <a:rPr lang="en-US" dirty="0">
                <a:solidFill>
                  <a:srgbClr val="334455"/>
                </a:solidFill>
              </a:rPr>
              <a:t>Image compression — reduce storage while keeping key features</a:t>
            </a:r>
            <a:endParaRPr lang="en-US" dirty="0"/>
          </a:p>
        </p:txBody>
      </p:sp>
      <p:sp>
        <p:nvSpPr>
          <p:cNvPr id="9" name="Shape 9">
            <a:extLst>
              <a:ext uri="{FF2B5EF4-FFF2-40B4-BE49-F238E27FC236}">
                <a16:creationId xmlns:a16="http://schemas.microsoft.com/office/drawing/2014/main" id="{E489DBEB-EA0C-AE2A-021F-86DCFB729576}"/>
              </a:ext>
            </a:extLst>
          </p:cNvPr>
          <p:cNvSpPr/>
          <p:nvPr/>
        </p:nvSpPr>
        <p:spPr>
          <a:xfrm>
            <a:off x="502920" y="4224614"/>
            <a:ext cx="228600" cy="228600"/>
          </a:xfrm>
          <a:prstGeom prst="ellipse">
            <a:avLst/>
          </a:prstGeom>
          <a:solidFill>
            <a:srgbClr val="4CAF82"/>
          </a:solidFill>
          <a:ln/>
        </p:spPr>
      </p:sp>
      <p:sp>
        <p:nvSpPr>
          <p:cNvPr id="10" name="Text 10">
            <a:extLst>
              <a:ext uri="{FF2B5EF4-FFF2-40B4-BE49-F238E27FC236}">
                <a16:creationId xmlns:a16="http://schemas.microsoft.com/office/drawing/2014/main" id="{F469FC51-4805-CF0E-446F-310DF588BBD6}"/>
              </a:ext>
            </a:extLst>
          </p:cNvPr>
          <p:cNvSpPr/>
          <p:nvPr/>
        </p:nvSpPr>
        <p:spPr>
          <a:xfrm>
            <a:off x="822959" y="4230710"/>
            <a:ext cx="5742227" cy="222504"/>
          </a:xfrm>
          <a:prstGeom prst="rect">
            <a:avLst/>
          </a:prstGeom>
          <a:noFill/>
          <a:ln/>
        </p:spPr>
        <p:txBody>
          <a:bodyPr wrap="square" rtlCol="0" anchor="ctr"/>
          <a:lstStyle/>
          <a:p>
            <a:pPr marL="0" indent="0">
              <a:buNone/>
            </a:pPr>
            <a:r>
              <a:rPr lang="en-US" dirty="0">
                <a:solidFill>
                  <a:srgbClr val="334455"/>
                </a:solidFill>
              </a:rPr>
              <a:t>Anomaly detection — flag inputs that reconstruct poorly</a:t>
            </a:r>
            <a:endParaRPr lang="en-US" dirty="0"/>
          </a:p>
        </p:txBody>
      </p:sp>
      <p:sp>
        <p:nvSpPr>
          <p:cNvPr id="15" name="Text 1">
            <a:extLst>
              <a:ext uri="{FF2B5EF4-FFF2-40B4-BE49-F238E27FC236}">
                <a16:creationId xmlns:a16="http://schemas.microsoft.com/office/drawing/2014/main" id="{EC9295D1-0348-1748-7361-44F218527E99}"/>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  What Autoencoders Do Well</a:t>
            </a:r>
          </a:p>
        </p:txBody>
      </p:sp>
      <p:pic>
        <p:nvPicPr>
          <p:cNvPr id="21" name="Picture 20">
            <a:extLst>
              <a:ext uri="{FF2B5EF4-FFF2-40B4-BE49-F238E27FC236}">
                <a16:creationId xmlns:a16="http://schemas.microsoft.com/office/drawing/2014/main" id="{59AB3AD9-670C-125C-584B-AEBE8B7D6C82}"/>
              </a:ext>
            </a:extLst>
          </p:cNvPr>
          <p:cNvPicPr>
            <a:picLocks noChangeAspect="1"/>
          </p:cNvPicPr>
          <p:nvPr/>
        </p:nvPicPr>
        <p:blipFill>
          <a:blip r:embed="rId2"/>
          <a:stretch>
            <a:fillRect/>
          </a:stretch>
        </p:blipFill>
        <p:spPr>
          <a:xfrm>
            <a:off x="4066453" y="4791658"/>
            <a:ext cx="4997466" cy="1903312"/>
          </a:xfrm>
          <a:prstGeom prst="rect">
            <a:avLst/>
          </a:prstGeom>
        </p:spPr>
      </p:pic>
      <p:pic>
        <p:nvPicPr>
          <p:cNvPr id="1026" name="Picture 2" descr="Automation and Computing | Politehnica University Timisoara">
            <a:extLst>
              <a:ext uri="{FF2B5EF4-FFF2-40B4-BE49-F238E27FC236}">
                <a16:creationId xmlns:a16="http://schemas.microsoft.com/office/drawing/2014/main" id="{BA2CB62D-CE93-CB33-51AB-C2F181680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1127" y="5894408"/>
            <a:ext cx="751662" cy="756057"/>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up 29">
            <a:extLst>
              <a:ext uri="{FF2B5EF4-FFF2-40B4-BE49-F238E27FC236}">
                <a16:creationId xmlns:a16="http://schemas.microsoft.com/office/drawing/2014/main" id="{D19BB83B-F488-8D01-EDD2-D38EEE00E72A}"/>
              </a:ext>
            </a:extLst>
          </p:cNvPr>
          <p:cNvGrpSpPr/>
          <p:nvPr/>
        </p:nvGrpSpPr>
        <p:grpSpPr>
          <a:xfrm>
            <a:off x="6345959" y="6369388"/>
            <a:ext cx="503280" cy="30960"/>
            <a:chOff x="8971120" y="4653280"/>
            <a:chExt cx="503280" cy="30960"/>
          </a:xfrm>
        </p:grpSpPr>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AB732387-5198-3602-360D-E9EE24803917}"/>
                    </a:ext>
                  </a:extLst>
                </p14:cNvPr>
                <p14:cNvContentPartPr/>
                <p14:nvPr/>
              </p14:nvContentPartPr>
              <p14:xfrm>
                <a:off x="9271000" y="4663360"/>
                <a:ext cx="360" cy="360"/>
              </p14:xfrm>
            </p:contentPart>
          </mc:Choice>
          <mc:Fallback xmlns="">
            <p:pic>
              <p:nvPicPr>
                <p:cNvPr id="23" name="Ink 22">
                  <a:extLst>
                    <a:ext uri="{FF2B5EF4-FFF2-40B4-BE49-F238E27FC236}">
                      <a16:creationId xmlns:a16="http://schemas.microsoft.com/office/drawing/2014/main" id="{AB732387-5198-3602-360D-E9EE24803917}"/>
                    </a:ext>
                  </a:extLst>
                </p:cNvPr>
                <p:cNvPicPr/>
                <p:nvPr/>
              </p:nvPicPr>
              <p:blipFill>
                <a:blip r:embed="rId5"/>
                <a:stretch>
                  <a:fillRect/>
                </a:stretch>
              </p:blipFill>
              <p:spPr>
                <a:xfrm>
                  <a:off x="9208000" y="46003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B17B90C2-6B40-E92F-338D-2A22ABE5B417}"/>
                    </a:ext>
                  </a:extLst>
                </p14:cNvPr>
                <p14:cNvContentPartPr/>
                <p14:nvPr/>
              </p14:nvContentPartPr>
              <p14:xfrm>
                <a:off x="9362080" y="4653280"/>
                <a:ext cx="360" cy="360"/>
              </p14:xfrm>
            </p:contentPart>
          </mc:Choice>
          <mc:Fallback xmlns="">
            <p:pic>
              <p:nvPicPr>
                <p:cNvPr id="24" name="Ink 23">
                  <a:extLst>
                    <a:ext uri="{FF2B5EF4-FFF2-40B4-BE49-F238E27FC236}">
                      <a16:creationId xmlns:a16="http://schemas.microsoft.com/office/drawing/2014/main" id="{B17B90C2-6B40-E92F-338D-2A22ABE5B417}"/>
                    </a:ext>
                  </a:extLst>
                </p:cNvPr>
                <p:cNvPicPr/>
                <p:nvPr/>
              </p:nvPicPr>
              <p:blipFill>
                <a:blip r:embed="rId5"/>
                <a:stretch>
                  <a:fillRect/>
                </a:stretch>
              </p:blipFill>
              <p:spPr>
                <a:xfrm>
                  <a:off x="929944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54D90476-20CA-E044-11B7-40B6A4A035D8}"/>
                    </a:ext>
                  </a:extLst>
                </p14:cNvPr>
                <p14:cNvContentPartPr/>
                <p14:nvPr/>
              </p14:nvContentPartPr>
              <p14:xfrm>
                <a:off x="9474040" y="4653280"/>
                <a:ext cx="360" cy="360"/>
              </p14:xfrm>
            </p:contentPart>
          </mc:Choice>
          <mc:Fallback xmlns="">
            <p:pic>
              <p:nvPicPr>
                <p:cNvPr id="25" name="Ink 24">
                  <a:extLst>
                    <a:ext uri="{FF2B5EF4-FFF2-40B4-BE49-F238E27FC236}">
                      <a16:creationId xmlns:a16="http://schemas.microsoft.com/office/drawing/2014/main" id="{54D90476-20CA-E044-11B7-40B6A4A035D8}"/>
                    </a:ext>
                  </a:extLst>
                </p:cNvPr>
                <p:cNvPicPr/>
                <p:nvPr/>
              </p:nvPicPr>
              <p:blipFill>
                <a:blip r:embed="rId5"/>
                <a:stretch>
                  <a:fillRect/>
                </a:stretch>
              </p:blipFill>
              <p:spPr>
                <a:xfrm>
                  <a:off x="941140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5E82630B-D75D-B45E-97BB-464244B94580}"/>
                    </a:ext>
                  </a:extLst>
                </p14:cNvPr>
                <p14:cNvContentPartPr/>
                <p14:nvPr/>
              </p14:nvContentPartPr>
              <p14:xfrm>
                <a:off x="8971120" y="4683880"/>
                <a:ext cx="360" cy="360"/>
              </p14:xfrm>
            </p:contentPart>
          </mc:Choice>
          <mc:Fallback xmlns="">
            <p:pic>
              <p:nvPicPr>
                <p:cNvPr id="26" name="Ink 25">
                  <a:extLst>
                    <a:ext uri="{FF2B5EF4-FFF2-40B4-BE49-F238E27FC236}">
                      <a16:creationId xmlns:a16="http://schemas.microsoft.com/office/drawing/2014/main" id="{5E82630B-D75D-B45E-97BB-464244B94580}"/>
                    </a:ext>
                  </a:extLst>
                </p:cNvPr>
                <p:cNvPicPr/>
                <p:nvPr/>
              </p:nvPicPr>
              <p:blipFill>
                <a:blip r:embed="rId5"/>
                <a:stretch>
                  <a:fillRect/>
                </a:stretch>
              </p:blipFill>
              <p:spPr>
                <a:xfrm>
                  <a:off x="8908120" y="4620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6AFDFF8B-CBAD-7D68-B76B-BFC529021B20}"/>
                    </a:ext>
                  </a:extLst>
                </p14:cNvPr>
                <p14:cNvContentPartPr/>
                <p14:nvPr/>
              </p14:nvContentPartPr>
              <p14:xfrm>
                <a:off x="8986240" y="4653280"/>
                <a:ext cx="360" cy="360"/>
              </p14:xfrm>
            </p:contentPart>
          </mc:Choice>
          <mc:Fallback xmlns="">
            <p:pic>
              <p:nvPicPr>
                <p:cNvPr id="27" name="Ink 26">
                  <a:extLst>
                    <a:ext uri="{FF2B5EF4-FFF2-40B4-BE49-F238E27FC236}">
                      <a16:creationId xmlns:a16="http://schemas.microsoft.com/office/drawing/2014/main" id="{6AFDFF8B-CBAD-7D68-B76B-BFC529021B20}"/>
                    </a:ext>
                  </a:extLst>
                </p:cNvPr>
                <p:cNvPicPr/>
                <p:nvPr/>
              </p:nvPicPr>
              <p:blipFill>
                <a:blip r:embed="rId5"/>
                <a:stretch>
                  <a:fillRect/>
                </a:stretch>
              </p:blipFill>
              <p:spPr>
                <a:xfrm>
                  <a:off x="892360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79C5A795-4609-68F1-2170-F02C2D99DD97}"/>
                    </a:ext>
                  </a:extLst>
                </p14:cNvPr>
                <p14:cNvContentPartPr/>
                <p14:nvPr/>
              </p14:nvContentPartPr>
              <p14:xfrm>
                <a:off x="9098200" y="4657960"/>
                <a:ext cx="360" cy="360"/>
              </p14:xfrm>
            </p:contentPart>
          </mc:Choice>
          <mc:Fallback xmlns="">
            <p:pic>
              <p:nvPicPr>
                <p:cNvPr id="28" name="Ink 27">
                  <a:extLst>
                    <a:ext uri="{FF2B5EF4-FFF2-40B4-BE49-F238E27FC236}">
                      <a16:creationId xmlns:a16="http://schemas.microsoft.com/office/drawing/2014/main" id="{79C5A795-4609-68F1-2170-F02C2D99DD97}"/>
                    </a:ext>
                  </a:extLst>
                </p:cNvPr>
                <p:cNvPicPr/>
                <p:nvPr/>
              </p:nvPicPr>
              <p:blipFill>
                <a:blip r:embed="rId5"/>
                <a:stretch>
                  <a:fillRect/>
                </a:stretch>
              </p:blipFill>
              <p:spPr>
                <a:xfrm>
                  <a:off x="9035200" y="45953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F5159393-79C7-A6C4-D34D-6311C41B3C42}"/>
                    </a:ext>
                  </a:extLst>
                </p14:cNvPr>
                <p14:cNvContentPartPr/>
                <p14:nvPr/>
              </p14:nvContentPartPr>
              <p14:xfrm>
                <a:off x="9214840" y="4668400"/>
                <a:ext cx="360" cy="1080"/>
              </p14:xfrm>
            </p:contentPart>
          </mc:Choice>
          <mc:Fallback xmlns="">
            <p:pic>
              <p:nvPicPr>
                <p:cNvPr id="29" name="Ink 28">
                  <a:extLst>
                    <a:ext uri="{FF2B5EF4-FFF2-40B4-BE49-F238E27FC236}">
                      <a16:creationId xmlns:a16="http://schemas.microsoft.com/office/drawing/2014/main" id="{F5159393-79C7-A6C4-D34D-6311C41B3C42}"/>
                    </a:ext>
                  </a:extLst>
                </p:cNvPr>
                <p:cNvPicPr/>
                <p:nvPr/>
              </p:nvPicPr>
              <p:blipFill>
                <a:blip r:embed="rId12"/>
                <a:stretch>
                  <a:fillRect/>
                </a:stretch>
              </p:blipFill>
              <p:spPr>
                <a:xfrm>
                  <a:off x="9152200" y="4605760"/>
                  <a:ext cx="126000" cy="126720"/>
                </a:xfrm>
                <a:prstGeom prst="rect">
                  <a:avLst/>
                </a:prstGeom>
              </p:spPr>
            </p:pic>
          </mc:Fallback>
        </mc:AlternateContent>
      </p:grpSp>
      <p:pic>
        <p:nvPicPr>
          <p:cNvPr id="1024" name="Picture 1023">
            <a:extLst>
              <a:ext uri="{FF2B5EF4-FFF2-40B4-BE49-F238E27FC236}">
                <a16:creationId xmlns:a16="http://schemas.microsoft.com/office/drawing/2014/main" id="{C42D6778-D8AB-4197-02A1-3CD2A075DE2C}"/>
              </a:ext>
            </a:extLst>
          </p:cNvPr>
          <p:cNvPicPr>
            <a:picLocks noChangeAspect="1"/>
          </p:cNvPicPr>
          <p:nvPr/>
        </p:nvPicPr>
        <p:blipFill>
          <a:blip r:embed="rId13"/>
          <a:stretch>
            <a:fillRect/>
          </a:stretch>
        </p:blipFill>
        <p:spPr>
          <a:xfrm>
            <a:off x="6227678" y="5753136"/>
            <a:ext cx="620841" cy="370003"/>
          </a:xfrm>
          <a:prstGeom prst="rect">
            <a:avLst/>
          </a:prstGeom>
        </p:spPr>
      </p:pic>
      <p:pic>
        <p:nvPicPr>
          <p:cNvPr id="1027" name="Picture 1026">
            <a:extLst>
              <a:ext uri="{FF2B5EF4-FFF2-40B4-BE49-F238E27FC236}">
                <a16:creationId xmlns:a16="http://schemas.microsoft.com/office/drawing/2014/main" id="{45277D15-C619-2E8B-50ED-31498B8A041D}"/>
              </a:ext>
            </a:extLst>
          </p:cNvPr>
          <p:cNvPicPr>
            <a:picLocks noChangeAspect="1"/>
          </p:cNvPicPr>
          <p:nvPr/>
        </p:nvPicPr>
        <p:blipFill>
          <a:blip r:embed="rId14"/>
          <a:stretch>
            <a:fillRect/>
          </a:stretch>
        </p:blipFill>
        <p:spPr>
          <a:xfrm>
            <a:off x="6289726" y="5838016"/>
            <a:ext cx="558793" cy="112784"/>
          </a:xfrm>
          <a:prstGeom prst="rect">
            <a:avLst/>
          </a:prstGeom>
        </p:spPr>
      </p:pic>
      <p:pic>
        <p:nvPicPr>
          <p:cNvPr id="1029" name="Picture 1028">
            <a:extLst>
              <a:ext uri="{FF2B5EF4-FFF2-40B4-BE49-F238E27FC236}">
                <a16:creationId xmlns:a16="http://schemas.microsoft.com/office/drawing/2014/main" id="{D089AFAC-74DA-D8E9-58AB-2D9A7F8802F3}"/>
              </a:ext>
            </a:extLst>
          </p:cNvPr>
          <p:cNvPicPr>
            <a:picLocks noChangeAspect="1"/>
          </p:cNvPicPr>
          <p:nvPr/>
        </p:nvPicPr>
        <p:blipFill>
          <a:blip r:embed="rId15"/>
          <a:stretch>
            <a:fillRect/>
          </a:stretch>
        </p:blipFill>
        <p:spPr>
          <a:xfrm>
            <a:off x="5090090" y="4968028"/>
            <a:ext cx="2939328" cy="369645"/>
          </a:xfrm>
          <a:prstGeom prst="rect">
            <a:avLst/>
          </a:prstGeom>
        </p:spPr>
      </p:pic>
      <p:pic>
        <p:nvPicPr>
          <p:cNvPr id="1032" name="Picture 1031">
            <a:extLst>
              <a:ext uri="{FF2B5EF4-FFF2-40B4-BE49-F238E27FC236}">
                <a16:creationId xmlns:a16="http://schemas.microsoft.com/office/drawing/2014/main" id="{7B63F5FB-0A44-C055-9D4F-66D43C8F0FF4}"/>
              </a:ext>
            </a:extLst>
          </p:cNvPr>
          <p:cNvPicPr>
            <a:picLocks noChangeAspect="1"/>
          </p:cNvPicPr>
          <p:nvPr/>
        </p:nvPicPr>
        <p:blipFill>
          <a:blip r:embed="rId16"/>
          <a:stretch>
            <a:fillRect/>
          </a:stretch>
        </p:blipFill>
        <p:spPr>
          <a:xfrm>
            <a:off x="9119679" y="5284705"/>
            <a:ext cx="340289" cy="317603"/>
          </a:xfrm>
          <a:prstGeom prst="rect">
            <a:avLst/>
          </a:prstGeom>
        </p:spPr>
      </p:pic>
      <p:pic>
        <p:nvPicPr>
          <p:cNvPr id="1034" name="Picture 1033">
            <a:extLst>
              <a:ext uri="{FF2B5EF4-FFF2-40B4-BE49-F238E27FC236}">
                <a16:creationId xmlns:a16="http://schemas.microsoft.com/office/drawing/2014/main" id="{83BED30C-574D-5570-35A4-5C224AC7EEB5}"/>
              </a:ext>
            </a:extLst>
          </p:cNvPr>
          <p:cNvPicPr>
            <a:picLocks noChangeAspect="1"/>
          </p:cNvPicPr>
          <p:nvPr/>
        </p:nvPicPr>
        <p:blipFill>
          <a:blip r:embed="rId17"/>
          <a:stretch>
            <a:fillRect/>
          </a:stretch>
        </p:blipFill>
        <p:spPr>
          <a:xfrm>
            <a:off x="9119679" y="6072640"/>
            <a:ext cx="340289" cy="334456"/>
          </a:xfrm>
          <a:prstGeom prst="rect">
            <a:avLst/>
          </a:prstGeom>
        </p:spPr>
      </p:pic>
      <p:pic>
        <p:nvPicPr>
          <p:cNvPr id="1036" name="Picture 1035">
            <a:extLst>
              <a:ext uri="{FF2B5EF4-FFF2-40B4-BE49-F238E27FC236}">
                <a16:creationId xmlns:a16="http://schemas.microsoft.com/office/drawing/2014/main" id="{9C6C9FF1-E219-E5A6-4859-15850B1E20DB}"/>
              </a:ext>
            </a:extLst>
          </p:cNvPr>
          <p:cNvPicPr>
            <a:picLocks noChangeAspect="1"/>
          </p:cNvPicPr>
          <p:nvPr/>
        </p:nvPicPr>
        <p:blipFill>
          <a:blip r:embed="rId18"/>
          <a:stretch>
            <a:fillRect/>
          </a:stretch>
        </p:blipFill>
        <p:spPr>
          <a:xfrm>
            <a:off x="4003963" y="1977738"/>
            <a:ext cx="3405438" cy="2070506"/>
          </a:xfrm>
          <a:prstGeom prst="rect">
            <a:avLst/>
          </a:prstGeom>
        </p:spPr>
      </p:pic>
      <p:pic>
        <p:nvPicPr>
          <p:cNvPr id="1037" name="Picture 6" descr="Cardboard box. Cartoon 34719983 Vector Art at Vecteezy">
            <a:extLst>
              <a:ext uri="{FF2B5EF4-FFF2-40B4-BE49-F238E27FC236}">
                <a16:creationId xmlns:a16="http://schemas.microsoft.com/office/drawing/2014/main" id="{3867B39D-F2D8-D7E6-D853-F266B4E8714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69325" y="2877062"/>
            <a:ext cx="657533" cy="657533"/>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a:extLst>
              <a:ext uri="{FF2B5EF4-FFF2-40B4-BE49-F238E27FC236}">
                <a16:creationId xmlns:a16="http://schemas.microsoft.com/office/drawing/2014/main" id="{35B3BBDC-5D56-CF9A-0154-AC61C150B5D5}"/>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3209027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BC1F4-F2B7-9543-D1AC-40C74D297D54}"/>
            </a:ext>
          </a:extLst>
        </p:cNvPr>
        <p:cNvGrpSpPr/>
        <p:nvPr/>
      </p:nvGrpSpPr>
      <p:grpSpPr>
        <a:xfrm>
          <a:off x="0" y="0"/>
          <a:ext cx="0" cy="0"/>
          <a:chOff x="0" y="0"/>
          <a:chExt cx="0" cy="0"/>
        </a:xfrm>
      </p:grpSpPr>
      <p:sp>
        <p:nvSpPr>
          <p:cNvPr id="7" name="Shape 7">
            <a:extLst>
              <a:ext uri="{FF2B5EF4-FFF2-40B4-BE49-F238E27FC236}">
                <a16:creationId xmlns:a16="http://schemas.microsoft.com/office/drawing/2014/main" id="{95CF5174-DB6B-ADCA-10E8-95911AC73E28}"/>
              </a:ext>
            </a:extLst>
          </p:cNvPr>
          <p:cNvSpPr/>
          <p:nvPr/>
        </p:nvSpPr>
        <p:spPr>
          <a:xfrm>
            <a:off x="548640" y="1582976"/>
            <a:ext cx="228600" cy="228600"/>
          </a:xfrm>
          <a:prstGeom prst="ellipse">
            <a:avLst/>
          </a:prstGeom>
          <a:solidFill>
            <a:srgbClr val="4CAF82"/>
          </a:solidFill>
          <a:ln/>
        </p:spPr>
      </p:sp>
      <p:sp>
        <p:nvSpPr>
          <p:cNvPr id="8" name="Text 8">
            <a:extLst>
              <a:ext uri="{FF2B5EF4-FFF2-40B4-BE49-F238E27FC236}">
                <a16:creationId xmlns:a16="http://schemas.microsoft.com/office/drawing/2014/main" id="{3369DD6B-9B02-D8B5-167C-BFE921D45428}"/>
              </a:ext>
            </a:extLst>
          </p:cNvPr>
          <p:cNvSpPr/>
          <p:nvPr/>
        </p:nvSpPr>
        <p:spPr>
          <a:xfrm>
            <a:off x="868679" y="1589072"/>
            <a:ext cx="5742227" cy="222504"/>
          </a:xfrm>
          <a:prstGeom prst="rect">
            <a:avLst/>
          </a:prstGeom>
          <a:noFill/>
          <a:ln/>
        </p:spPr>
        <p:txBody>
          <a:bodyPr wrap="square" rtlCol="0" anchor="ctr"/>
          <a:lstStyle/>
          <a:p>
            <a:pPr marL="0" indent="0">
              <a:buNone/>
            </a:pPr>
            <a:r>
              <a:rPr lang="en-US" dirty="0">
                <a:solidFill>
                  <a:srgbClr val="334455"/>
                </a:solidFill>
              </a:rPr>
              <a:t>Denoising — remove noise from corrupted images</a:t>
            </a:r>
            <a:endParaRPr lang="en-US" dirty="0"/>
          </a:p>
        </p:txBody>
      </p:sp>
      <p:sp>
        <p:nvSpPr>
          <p:cNvPr id="11" name="Shape 11">
            <a:extLst>
              <a:ext uri="{FF2B5EF4-FFF2-40B4-BE49-F238E27FC236}">
                <a16:creationId xmlns:a16="http://schemas.microsoft.com/office/drawing/2014/main" id="{DBD169E8-4577-2996-D91F-3A91F6BA379A}"/>
              </a:ext>
            </a:extLst>
          </p:cNvPr>
          <p:cNvSpPr/>
          <p:nvPr/>
        </p:nvSpPr>
        <p:spPr>
          <a:xfrm>
            <a:off x="548640" y="4752802"/>
            <a:ext cx="228600" cy="228600"/>
          </a:xfrm>
          <a:prstGeom prst="ellipse">
            <a:avLst/>
          </a:prstGeom>
          <a:solidFill>
            <a:srgbClr val="4CAF82"/>
          </a:solidFill>
          <a:ln/>
        </p:spPr>
      </p:sp>
      <p:sp>
        <p:nvSpPr>
          <p:cNvPr id="12" name="Text 12">
            <a:extLst>
              <a:ext uri="{FF2B5EF4-FFF2-40B4-BE49-F238E27FC236}">
                <a16:creationId xmlns:a16="http://schemas.microsoft.com/office/drawing/2014/main" id="{9A672C96-13D1-C11D-8E9F-5393FDDCBB18}"/>
              </a:ext>
            </a:extLst>
          </p:cNvPr>
          <p:cNvSpPr/>
          <p:nvPr/>
        </p:nvSpPr>
        <p:spPr>
          <a:xfrm>
            <a:off x="868679" y="4670505"/>
            <a:ext cx="5105229" cy="393193"/>
          </a:xfrm>
          <a:prstGeom prst="rect">
            <a:avLst/>
          </a:prstGeom>
          <a:noFill/>
          <a:ln/>
        </p:spPr>
        <p:txBody>
          <a:bodyPr wrap="square" rtlCol="0" anchor="ctr"/>
          <a:lstStyle/>
          <a:p>
            <a:pPr marL="0" indent="0">
              <a:buNone/>
            </a:pPr>
            <a:r>
              <a:rPr lang="en-US" dirty="0">
                <a:solidFill>
                  <a:srgbClr val="334455"/>
                </a:solidFill>
              </a:rPr>
              <a:t>Dimensionality reduction — alternative to PCA</a:t>
            </a:r>
            <a:endParaRPr lang="en-US" dirty="0"/>
          </a:p>
        </p:txBody>
      </p:sp>
      <p:sp>
        <p:nvSpPr>
          <p:cNvPr id="15" name="Text 1">
            <a:extLst>
              <a:ext uri="{FF2B5EF4-FFF2-40B4-BE49-F238E27FC236}">
                <a16:creationId xmlns:a16="http://schemas.microsoft.com/office/drawing/2014/main" id="{3FFD42EE-3799-FF76-E043-0CA3CC5133DC}"/>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  What Autoencoders Do Well</a:t>
            </a:r>
          </a:p>
        </p:txBody>
      </p:sp>
      <p:pic>
        <p:nvPicPr>
          <p:cNvPr id="18" name="Picture 17">
            <a:extLst>
              <a:ext uri="{FF2B5EF4-FFF2-40B4-BE49-F238E27FC236}">
                <a16:creationId xmlns:a16="http://schemas.microsoft.com/office/drawing/2014/main" id="{EE604DA3-61AF-7342-CF78-93F638B964EA}"/>
              </a:ext>
            </a:extLst>
          </p:cNvPr>
          <p:cNvPicPr>
            <a:picLocks noChangeAspect="1"/>
          </p:cNvPicPr>
          <p:nvPr/>
        </p:nvPicPr>
        <p:blipFill>
          <a:blip r:embed="rId2"/>
          <a:stretch>
            <a:fillRect/>
          </a:stretch>
        </p:blipFill>
        <p:spPr>
          <a:xfrm>
            <a:off x="4812658" y="5095702"/>
            <a:ext cx="2810871" cy="1590037"/>
          </a:xfrm>
          <a:prstGeom prst="rect">
            <a:avLst/>
          </a:prstGeom>
        </p:spPr>
      </p:pic>
      <p:pic>
        <p:nvPicPr>
          <p:cNvPr id="1029" name="Picture 1028">
            <a:extLst>
              <a:ext uri="{FF2B5EF4-FFF2-40B4-BE49-F238E27FC236}">
                <a16:creationId xmlns:a16="http://schemas.microsoft.com/office/drawing/2014/main" id="{C292F678-7995-BA4C-D9FC-E9244BEFBA65}"/>
              </a:ext>
            </a:extLst>
          </p:cNvPr>
          <p:cNvPicPr>
            <a:picLocks noChangeAspect="1"/>
          </p:cNvPicPr>
          <p:nvPr/>
        </p:nvPicPr>
        <p:blipFill>
          <a:blip r:embed="rId3"/>
          <a:stretch>
            <a:fillRect/>
          </a:stretch>
        </p:blipFill>
        <p:spPr>
          <a:xfrm>
            <a:off x="7760971" y="2020020"/>
            <a:ext cx="2939328" cy="369645"/>
          </a:xfrm>
          <a:prstGeom prst="rect">
            <a:avLst/>
          </a:prstGeom>
        </p:spPr>
      </p:pic>
      <p:pic>
        <p:nvPicPr>
          <p:cNvPr id="3" name="Picture 2">
            <a:extLst>
              <a:ext uri="{FF2B5EF4-FFF2-40B4-BE49-F238E27FC236}">
                <a16:creationId xmlns:a16="http://schemas.microsoft.com/office/drawing/2014/main" id="{0EDECFF3-4AD4-CC66-AF7C-F17B058BE26E}"/>
              </a:ext>
            </a:extLst>
          </p:cNvPr>
          <p:cNvPicPr>
            <a:picLocks noChangeAspect="1"/>
          </p:cNvPicPr>
          <p:nvPr/>
        </p:nvPicPr>
        <p:blipFill>
          <a:blip r:embed="rId4"/>
          <a:stretch>
            <a:fillRect/>
          </a:stretch>
        </p:blipFill>
        <p:spPr>
          <a:xfrm>
            <a:off x="2589629" y="3286074"/>
            <a:ext cx="978171" cy="984964"/>
          </a:xfrm>
          <a:prstGeom prst="rect">
            <a:avLst/>
          </a:prstGeom>
        </p:spPr>
      </p:pic>
      <p:pic>
        <p:nvPicPr>
          <p:cNvPr id="4" name="Picture 3">
            <a:extLst>
              <a:ext uri="{FF2B5EF4-FFF2-40B4-BE49-F238E27FC236}">
                <a16:creationId xmlns:a16="http://schemas.microsoft.com/office/drawing/2014/main" id="{CCC4A18D-F4D4-4AB8-4946-DFDA07B9AB5F}"/>
              </a:ext>
            </a:extLst>
          </p:cNvPr>
          <p:cNvPicPr>
            <a:picLocks noChangeAspect="1"/>
          </p:cNvPicPr>
          <p:nvPr/>
        </p:nvPicPr>
        <p:blipFill>
          <a:blip r:embed="rId5"/>
          <a:stretch>
            <a:fillRect/>
          </a:stretch>
        </p:blipFill>
        <p:spPr>
          <a:xfrm>
            <a:off x="3994135" y="2148950"/>
            <a:ext cx="4997466" cy="1903312"/>
          </a:xfrm>
          <a:prstGeom prst="rect">
            <a:avLst/>
          </a:prstGeom>
        </p:spPr>
      </p:pic>
      <p:pic>
        <p:nvPicPr>
          <p:cNvPr id="13" name="Picture 2" descr="Automation and Computing | Politehnica University Timisoara">
            <a:extLst>
              <a:ext uri="{FF2B5EF4-FFF2-40B4-BE49-F238E27FC236}">
                <a16:creationId xmlns:a16="http://schemas.microsoft.com/office/drawing/2014/main" id="{5F7231E4-97C9-A590-8BFA-5761C15A7B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88809" y="3251700"/>
            <a:ext cx="751662" cy="756057"/>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6E4B70E2-D1F8-5BF2-5B1E-99A621A1C4E2}"/>
              </a:ext>
            </a:extLst>
          </p:cNvPr>
          <p:cNvGrpSpPr/>
          <p:nvPr/>
        </p:nvGrpSpPr>
        <p:grpSpPr>
          <a:xfrm>
            <a:off x="6273641" y="3726680"/>
            <a:ext cx="503280" cy="30960"/>
            <a:chOff x="8971120" y="4653280"/>
            <a:chExt cx="503280" cy="3096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1C95C8D9-1423-173A-41DC-C313E9681C7F}"/>
                    </a:ext>
                  </a:extLst>
                </p14:cNvPr>
                <p14:cNvContentPartPr/>
                <p14:nvPr/>
              </p14:nvContentPartPr>
              <p14:xfrm>
                <a:off x="9271000" y="4663360"/>
                <a:ext cx="360" cy="360"/>
              </p14:xfrm>
            </p:contentPart>
          </mc:Choice>
          <mc:Fallback xmlns="">
            <p:pic>
              <p:nvPicPr>
                <p:cNvPr id="16" name="Ink 15">
                  <a:extLst>
                    <a:ext uri="{FF2B5EF4-FFF2-40B4-BE49-F238E27FC236}">
                      <a16:creationId xmlns:a16="http://schemas.microsoft.com/office/drawing/2014/main" id="{1C95C8D9-1423-173A-41DC-C313E9681C7F}"/>
                    </a:ext>
                  </a:extLst>
                </p:cNvPr>
                <p:cNvPicPr/>
                <p:nvPr/>
              </p:nvPicPr>
              <p:blipFill>
                <a:blip r:embed="rId8"/>
                <a:stretch>
                  <a:fillRect/>
                </a:stretch>
              </p:blipFill>
              <p:spPr>
                <a:xfrm>
                  <a:off x="9208000" y="46003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719DD6DB-A0BF-F9B1-634D-62688DA20989}"/>
                    </a:ext>
                  </a:extLst>
                </p14:cNvPr>
                <p14:cNvContentPartPr/>
                <p14:nvPr/>
              </p14:nvContentPartPr>
              <p14:xfrm>
                <a:off x="9362080" y="4653280"/>
                <a:ext cx="360" cy="360"/>
              </p14:xfrm>
            </p:contentPart>
          </mc:Choice>
          <mc:Fallback xmlns="">
            <p:pic>
              <p:nvPicPr>
                <p:cNvPr id="17" name="Ink 16">
                  <a:extLst>
                    <a:ext uri="{FF2B5EF4-FFF2-40B4-BE49-F238E27FC236}">
                      <a16:creationId xmlns:a16="http://schemas.microsoft.com/office/drawing/2014/main" id="{719DD6DB-A0BF-F9B1-634D-62688DA20989}"/>
                    </a:ext>
                  </a:extLst>
                </p:cNvPr>
                <p:cNvPicPr/>
                <p:nvPr/>
              </p:nvPicPr>
              <p:blipFill>
                <a:blip r:embed="rId8"/>
                <a:stretch>
                  <a:fillRect/>
                </a:stretch>
              </p:blipFill>
              <p:spPr>
                <a:xfrm>
                  <a:off x="929944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DC0AF082-5CEE-669A-782D-71F8CA839A67}"/>
                    </a:ext>
                  </a:extLst>
                </p14:cNvPr>
                <p14:cNvContentPartPr/>
                <p14:nvPr/>
              </p14:nvContentPartPr>
              <p14:xfrm>
                <a:off x="9474040" y="4653280"/>
                <a:ext cx="360" cy="360"/>
              </p14:xfrm>
            </p:contentPart>
          </mc:Choice>
          <mc:Fallback xmlns="">
            <p:pic>
              <p:nvPicPr>
                <p:cNvPr id="19" name="Ink 18">
                  <a:extLst>
                    <a:ext uri="{FF2B5EF4-FFF2-40B4-BE49-F238E27FC236}">
                      <a16:creationId xmlns:a16="http://schemas.microsoft.com/office/drawing/2014/main" id="{DC0AF082-5CEE-669A-782D-71F8CA839A67}"/>
                    </a:ext>
                  </a:extLst>
                </p:cNvPr>
                <p:cNvPicPr/>
                <p:nvPr/>
              </p:nvPicPr>
              <p:blipFill>
                <a:blip r:embed="rId8"/>
                <a:stretch>
                  <a:fillRect/>
                </a:stretch>
              </p:blipFill>
              <p:spPr>
                <a:xfrm>
                  <a:off x="941140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CE5761C1-BB70-7169-525F-5287208445EB}"/>
                    </a:ext>
                  </a:extLst>
                </p14:cNvPr>
                <p14:cNvContentPartPr/>
                <p14:nvPr/>
              </p14:nvContentPartPr>
              <p14:xfrm>
                <a:off x="8971120" y="4683880"/>
                <a:ext cx="360" cy="360"/>
              </p14:xfrm>
            </p:contentPart>
          </mc:Choice>
          <mc:Fallback xmlns="">
            <p:pic>
              <p:nvPicPr>
                <p:cNvPr id="20" name="Ink 19">
                  <a:extLst>
                    <a:ext uri="{FF2B5EF4-FFF2-40B4-BE49-F238E27FC236}">
                      <a16:creationId xmlns:a16="http://schemas.microsoft.com/office/drawing/2014/main" id="{CE5761C1-BB70-7169-525F-5287208445EB}"/>
                    </a:ext>
                  </a:extLst>
                </p:cNvPr>
                <p:cNvPicPr/>
                <p:nvPr/>
              </p:nvPicPr>
              <p:blipFill>
                <a:blip r:embed="rId8"/>
                <a:stretch>
                  <a:fillRect/>
                </a:stretch>
              </p:blipFill>
              <p:spPr>
                <a:xfrm>
                  <a:off x="8908120" y="4620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FD3308B1-8CB0-B15B-2CCC-9D81557B085A}"/>
                    </a:ext>
                  </a:extLst>
                </p14:cNvPr>
                <p14:cNvContentPartPr/>
                <p14:nvPr/>
              </p14:nvContentPartPr>
              <p14:xfrm>
                <a:off x="8986240" y="4653280"/>
                <a:ext cx="360" cy="360"/>
              </p14:xfrm>
            </p:contentPart>
          </mc:Choice>
          <mc:Fallback xmlns="">
            <p:pic>
              <p:nvPicPr>
                <p:cNvPr id="22" name="Ink 21">
                  <a:extLst>
                    <a:ext uri="{FF2B5EF4-FFF2-40B4-BE49-F238E27FC236}">
                      <a16:creationId xmlns:a16="http://schemas.microsoft.com/office/drawing/2014/main" id="{FD3308B1-8CB0-B15B-2CCC-9D81557B085A}"/>
                    </a:ext>
                  </a:extLst>
                </p:cNvPr>
                <p:cNvPicPr/>
                <p:nvPr/>
              </p:nvPicPr>
              <p:blipFill>
                <a:blip r:embed="rId8"/>
                <a:stretch>
                  <a:fillRect/>
                </a:stretch>
              </p:blipFill>
              <p:spPr>
                <a:xfrm>
                  <a:off x="8923600" y="4590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1" name="Ink 30">
                  <a:extLst>
                    <a:ext uri="{FF2B5EF4-FFF2-40B4-BE49-F238E27FC236}">
                      <a16:creationId xmlns:a16="http://schemas.microsoft.com/office/drawing/2014/main" id="{D7661523-AB0D-E899-9D7B-540EE1C7C3D2}"/>
                    </a:ext>
                  </a:extLst>
                </p14:cNvPr>
                <p14:cNvContentPartPr/>
                <p14:nvPr/>
              </p14:nvContentPartPr>
              <p14:xfrm>
                <a:off x="9098200" y="4657960"/>
                <a:ext cx="360" cy="360"/>
              </p14:xfrm>
            </p:contentPart>
          </mc:Choice>
          <mc:Fallback xmlns="">
            <p:pic>
              <p:nvPicPr>
                <p:cNvPr id="31" name="Ink 30">
                  <a:extLst>
                    <a:ext uri="{FF2B5EF4-FFF2-40B4-BE49-F238E27FC236}">
                      <a16:creationId xmlns:a16="http://schemas.microsoft.com/office/drawing/2014/main" id="{D7661523-AB0D-E899-9D7B-540EE1C7C3D2}"/>
                    </a:ext>
                  </a:extLst>
                </p:cNvPr>
                <p:cNvPicPr/>
                <p:nvPr/>
              </p:nvPicPr>
              <p:blipFill>
                <a:blip r:embed="rId8"/>
                <a:stretch>
                  <a:fillRect/>
                </a:stretch>
              </p:blipFill>
              <p:spPr>
                <a:xfrm>
                  <a:off x="9035200" y="45953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25" name="Ink 1024">
                  <a:extLst>
                    <a:ext uri="{FF2B5EF4-FFF2-40B4-BE49-F238E27FC236}">
                      <a16:creationId xmlns:a16="http://schemas.microsoft.com/office/drawing/2014/main" id="{E2031263-407B-AFBF-D110-450CA6D276EB}"/>
                    </a:ext>
                  </a:extLst>
                </p14:cNvPr>
                <p14:cNvContentPartPr/>
                <p14:nvPr/>
              </p14:nvContentPartPr>
              <p14:xfrm>
                <a:off x="9214840" y="4668400"/>
                <a:ext cx="360" cy="1080"/>
              </p14:xfrm>
            </p:contentPart>
          </mc:Choice>
          <mc:Fallback xmlns="">
            <p:pic>
              <p:nvPicPr>
                <p:cNvPr id="1025" name="Ink 1024">
                  <a:extLst>
                    <a:ext uri="{FF2B5EF4-FFF2-40B4-BE49-F238E27FC236}">
                      <a16:creationId xmlns:a16="http://schemas.microsoft.com/office/drawing/2014/main" id="{E2031263-407B-AFBF-D110-450CA6D276EB}"/>
                    </a:ext>
                  </a:extLst>
                </p:cNvPr>
                <p:cNvPicPr/>
                <p:nvPr/>
              </p:nvPicPr>
              <p:blipFill>
                <a:blip r:embed="rId15"/>
                <a:stretch>
                  <a:fillRect/>
                </a:stretch>
              </p:blipFill>
              <p:spPr>
                <a:xfrm>
                  <a:off x="9152200" y="4605760"/>
                  <a:ext cx="126000" cy="126720"/>
                </a:xfrm>
                <a:prstGeom prst="rect">
                  <a:avLst/>
                </a:prstGeom>
              </p:spPr>
            </p:pic>
          </mc:Fallback>
        </mc:AlternateContent>
      </p:grpSp>
      <p:pic>
        <p:nvPicPr>
          <p:cNvPr id="1028" name="Picture 1027">
            <a:extLst>
              <a:ext uri="{FF2B5EF4-FFF2-40B4-BE49-F238E27FC236}">
                <a16:creationId xmlns:a16="http://schemas.microsoft.com/office/drawing/2014/main" id="{BE913C0C-B8F1-6678-2C08-C57D510BEB48}"/>
              </a:ext>
            </a:extLst>
          </p:cNvPr>
          <p:cNvPicPr>
            <a:picLocks noChangeAspect="1"/>
          </p:cNvPicPr>
          <p:nvPr/>
        </p:nvPicPr>
        <p:blipFill>
          <a:blip r:embed="rId16"/>
          <a:stretch>
            <a:fillRect/>
          </a:stretch>
        </p:blipFill>
        <p:spPr>
          <a:xfrm>
            <a:off x="6155360" y="3110428"/>
            <a:ext cx="620841" cy="370003"/>
          </a:xfrm>
          <a:prstGeom prst="rect">
            <a:avLst/>
          </a:prstGeom>
        </p:spPr>
      </p:pic>
      <p:pic>
        <p:nvPicPr>
          <p:cNvPr id="1030" name="Picture 1029">
            <a:extLst>
              <a:ext uri="{FF2B5EF4-FFF2-40B4-BE49-F238E27FC236}">
                <a16:creationId xmlns:a16="http://schemas.microsoft.com/office/drawing/2014/main" id="{6471EB40-5BDE-0B20-D964-89D0F55E6F41}"/>
              </a:ext>
            </a:extLst>
          </p:cNvPr>
          <p:cNvPicPr>
            <a:picLocks noChangeAspect="1"/>
          </p:cNvPicPr>
          <p:nvPr/>
        </p:nvPicPr>
        <p:blipFill>
          <a:blip r:embed="rId17"/>
          <a:stretch>
            <a:fillRect/>
          </a:stretch>
        </p:blipFill>
        <p:spPr>
          <a:xfrm>
            <a:off x="6217408" y="3195308"/>
            <a:ext cx="558793" cy="112784"/>
          </a:xfrm>
          <a:prstGeom prst="rect">
            <a:avLst/>
          </a:prstGeom>
        </p:spPr>
      </p:pic>
      <p:pic>
        <p:nvPicPr>
          <p:cNvPr id="1031" name="Picture 1030">
            <a:extLst>
              <a:ext uri="{FF2B5EF4-FFF2-40B4-BE49-F238E27FC236}">
                <a16:creationId xmlns:a16="http://schemas.microsoft.com/office/drawing/2014/main" id="{8E3BE49B-439C-8C6A-40FB-7793E56E4E20}"/>
              </a:ext>
            </a:extLst>
          </p:cNvPr>
          <p:cNvPicPr>
            <a:picLocks noChangeAspect="1"/>
          </p:cNvPicPr>
          <p:nvPr/>
        </p:nvPicPr>
        <p:blipFill>
          <a:blip r:embed="rId3"/>
          <a:stretch>
            <a:fillRect/>
          </a:stretch>
        </p:blipFill>
        <p:spPr>
          <a:xfrm>
            <a:off x="5017772" y="2325320"/>
            <a:ext cx="2939328" cy="369645"/>
          </a:xfrm>
          <a:prstGeom prst="rect">
            <a:avLst/>
          </a:prstGeom>
        </p:spPr>
      </p:pic>
      <p:pic>
        <p:nvPicPr>
          <p:cNvPr id="1038" name="Picture 1037">
            <a:extLst>
              <a:ext uri="{FF2B5EF4-FFF2-40B4-BE49-F238E27FC236}">
                <a16:creationId xmlns:a16="http://schemas.microsoft.com/office/drawing/2014/main" id="{3A96E2A7-882D-2745-FAA9-1E65D1750800}"/>
              </a:ext>
            </a:extLst>
          </p:cNvPr>
          <p:cNvPicPr>
            <a:picLocks noChangeAspect="1"/>
          </p:cNvPicPr>
          <p:nvPr/>
        </p:nvPicPr>
        <p:blipFill>
          <a:blip r:embed="rId3"/>
          <a:stretch>
            <a:fillRect/>
          </a:stretch>
        </p:blipFill>
        <p:spPr>
          <a:xfrm>
            <a:off x="7997420" y="2419644"/>
            <a:ext cx="1279737" cy="1743392"/>
          </a:xfrm>
          <a:prstGeom prst="rect">
            <a:avLst/>
          </a:prstGeom>
        </p:spPr>
      </p:pic>
      <p:pic>
        <p:nvPicPr>
          <p:cNvPr id="1039" name="Picture 1038">
            <a:extLst>
              <a:ext uri="{FF2B5EF4-FFF2-40B4-BE49-F238E27FC236}">
                <a16:creationId xmlns:a16="http://schemas.microsoft.com/office/drawing/2014/main" id="{1D7561D2-FFA3-4F85-3F3C-D689E4656357}"/>
              </a:ext>
            </a:extLst>
          </p:cNvPr>
          <p:cNvPicPr>
            <a:picLocks noChangeAspect="1"/>
          </p:cNvPicPr>
          <p:nvPr/>
        </p:nvPicPr>
        <p:blipFill>
          <a:blip r:embed="rId3"/>
          <a:stretch>
            <a:fillRect/>
          </a:stretch>
        </p:blipFill>
        <p:spPr>
          <a:xfrm>
            <a:off x="3539465" y="2419644"/>
            <a:ext cx="1498197" cy="1773371"/>
          </a:xfrm>
          <a:prstGeom prst="rect">
            <a:avLst/>
          </a:prstGeom>
        </p:spPr>
      </p:pic>
      <mc:AlternateContent xmlns:mc="http://schemas.openxmlformats.org/markup-compatibility/2006" xmlns:p14="http://schemas.microsoft.com/office/powerpoint/2010/main">
        <mc:Choice Requires="p14">
          <p:contentPart p14:bwMode="auto" r:id="rId18">
            <p14:nvContentPartPr>
              <p14:cNvPr id="1040" name="Ink 1039">
                <a:extLst>
                  <a:ext uri="{FF2B5EF4-FFF2-40B4-BE49-F238E27FC236}">
                    <a16:creationId xmlns:a16="http://schemas.microsoft.com/office/drawing/2014/main" id="{187A9550-6F62-2177-7162-65873FDFCE64}"/>
                  </a:ext>
                </a:extLst>
              </p14:cNvPr>
              <p14:cNvContentPartPr/>
              <p14:nvPr/>
            </p14:nvContentPartPr>
            <p14:xfrm>
              <a:off x="4602533" y="2328305"/>
              <a:ext cx="11160" cy="39240"/>
            </p14:xfrm>
          </p:contentPart>
        </mc:Choice>
        <mc:Fallback xmlns="">
          <p:pic>
            <p:nvPicPr>
              <p:cNvPr id="1040" name="Ink 1039">
                <a:extLst>
                  <a:ext uri="{FF2B5EF4-FFF2-40B4-BE49-F238E27FC236}">
                    <a16:creationId xmlns:a16="http://schemas.microsoft.com/office/drawing/2014/main" id="{187A9550-6F62-2177-7162-65873FDFCE64}"/>
                  </a:ext>
                </a:extLst>
              </p:cNvPr>
              <p:cNvPicPr/>
              <p:nvPr/>
            </p:nvPicPr>
            <p:blipFill>
              <a:blip r:embed="rId19"/>
              <a:stretch>
                <a:fillRect/>
              </a:stretch>
            </p:blipFill>
            <p:spPr>
              <a:xfrm>
                <a:off x="4593533" y="2319305"/>
                <a:ext cx="288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42" name="Ink 1041">
                <a:extLst>
                  <a:ext uri="{FF2B5EF4-FFF2-40B4-BE49-F238E27FC236}">
                    <a16:creationId xmlns:a16="http://schemas.microsoft.com/office/drawing/2014/main" id="{CFED1868-99BF-2754-D9DB-6355E10E78E0}"/>
                  </a:ext>
                </a:extLst>
              </p14:cNvPr>
              <p14:cNvContentPartPr/>
              <p14:nvPr/>
            </p14:nvContentPartPr>
            <p14:xfrm>
              <a:off x="4622693" y="2331905"/>
              <a:ext cx="5760" cy="42120"/>
            </p14:xfrm>
          </p:contentPart>
        </mc:Choice>
        <mc:Fallback xmlns="">
          <p:pic>
            <p:nvPicPr>
              <p:cNvPr id="1042" name="Ink 1041">
                <a:extLst>
                  <a:ext uri="{FF2B5EF4-FFF2-40B4-BE49-F238E27FC236}">
                    <a16:creationId xmlns:a16="http://schemas.microsoft.com/office/drawing/2014/main" id="{CFED1868-99BF-2754-D9DB-6355E10E78E0}"/>
                  </a:ext>
                </a:extLst>
              </p:cNvPr>
              <p:cNvPicPr/>
              <p:nvPr/>
            </p:nvPicPr>
            <p:blipFill>
              <a:blip r:embed="rId21"/>
              <a:stretch>
                <a:fillRect/>
              </a:stretch>
            </p:blipFill>
            <p:spPr>
              <a:xfrm>
                <a:off x="4614053" y="2322905"/>
                <a:ext cx="234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46" name="Ink 1045">
                <a:extLst>
                  <a:ext uri="{FF2B5EF4-FFF2-40B4-BE49-F238E27FC236}">
                    <a16:creationId xmlns:a16="http://schemas.microsoft.com/office/drawing/2014/main" id="{1BCD9EC4-BB4F-6422-A30E-26E46A9044BE}"/>
                  </a:ext>
                </a:extLst>
              </p14:cNvPr>
              <p14:cNvContentPartPr/>
              <p14:nvPr/>
            </p14:nvContentPartPr>
            <p14:xfrm>
              <a:off x="7979763" y="2450830"/>
              <a:ext cx="19800" cy="660600"/>
            </p14:xfrm>
          </p:contentPart>
        </mc:Choice>
        <mc:Fallback xmlns="">
          <p:pic>
            <p:nvPicPr>
              <p:cNvPr id="1046" name="Ink 1045">
                <a:extLst>
                  <a:ext uri="{FF2B5EF4-FFF2-40B4-BE49-F238E27FC236}">
                    <a16:creationId xmlns:a16="http://schemas.microsoft.com/office/drawing/2014/main" id="{1BCD9EC4-BB4F-6422-A30E-26E46A9044BE}"/>
                  </a:ext>
                </a:extLst>
              </p:cNvPr>
              <p:cNvPicPr/>
              <p:nvPr/>
            </p:nvPicPr>
            <p:blipFill>
              <a:blip r:embed="rId23"/>
              <a:stretch>
                <a:fillRect/>
              </a:stretch>
            </p:blipFill>
            <p:spPr>
              <a:xfrm>
                <a:off x="7943763" y="2415190"/>
                <a:ext cx="91440" cy="732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47" name="Ink 1046">
                <a:extLst>
                  <a:ext uri="{FF2B5EF4-FFF2-40B4-BE49-F238E27FC236}">
                    <a16:creationId xmlns:a16="http://schemas.microsoft.com/office/drawing/2014/main" id="{605F51C8-405B-523B-33DA-C34C54B95A19}"/>
                  </a:ext>
                </a:extLst>
              </p14:cNvPr>
              <p14:cNvContentPartPr/>
              <p14:nvPr/>
            </p14:nvContentPartPr>
            <p14:xfrm>
              <a:off x="7933323" y="3327340"/>
              <a:ext cx="53640" cy="702720"/>
            </p14:xfrm>
          </p:contentPart>
        </mc:Choice>
        <mc:Fallback xmlns="">
          <p:pic>
            <p:nvPicPr>
              <p:cNvPr id="1047" name="Ink 1046">
                <a:extLst>
                  <a:ext uri="{FF2B5EF4-FFF2-40B4-BE49-F238E27FC236}">
                    <a16:creationId xmlns:a16="http://schemas.microsoft.com/office/drawing/2014/main" id="{605F51C8-405B-523B-33DA-C34C54B95A19}"/>
                  </a:ext>
                </a:extLst>
              </p:cNvPr>
              <p:cNvPicPr/>
              <p:nvPr/>
            </p:nvPicPr>
            <p:blipFill>
              <a:blip r:embed="rId25"/>
              <a:stretch>
                <a:fillRect/>
              </a:stretch>
            </p:blipFill>
            <p:spPr>
              <a:xfrm>
                <a:off x="7897683" y="3291340"/>
                <a:ext cx="125280" cy="774360"/>
              </a:xfrm>
              <a:prstGeom prst="rect">
                <a:avLst/>
              </a:prstGeom>
            </p:spPr>
          </p:pic>
        </mc:Fallback>
      </mc:AlternateContent>
      <p:grpSp>
        <p:nvGrpSpPr>
          <p:cNvPr id="1065" name="Group 1064">
            <a:extLst>
              <a:ext uri="{FF2B5EF4-FFF2-40B4-BE49-F238E27FC236}">
                <a16:creationId xmlns:a16="http://schemas.microsoft.com/office/drawing/2014/main" id="{84568E28-94B4-80AB-1C41-34F46308320D}"/>
              </a:ext>
            </a:extLst>
          </p:cNvPr>
          <p:cNvGrpSpPr/>
          <p:nvPr/>
        </p:nvGrpSpPr>
        <p:grpSpPr>
          <a:xfrm>
            <a:off x="7976883" y="3160390"/>
            <a:ext cx="21240" cy="119520"/>
            <a:chOff x="7976883" y="3160390"/>
            <a:chExt cx="21240" cy="119520"/>
          </a:xfrm>
        </p:grpSpPr>
        <mc:AlternateContent xmlns:mc="http://schemas.openxmlformats.org/markup-compatibility/2006" xmlns:p14="http://schemas.microsoft.com/office/powerpoint/2010/main">
          <mc:Choice Requires="p14">
            <p:contentPart p14:bwMode="auto" r:id="rId26">
              <p14:nvContentPartPr>
                <p14:cNvPr id="1048" name="Ink 1047">
                  <a:extLst>
                    <a:ext uri="{FF2B5EF4-FFF2-40B4-BE49-F238E27FC236}">
                      <a16:creationId xmlns:a16="http://schemas.microsoft.com/office/drawing/2014/main" id="{628B07CB-6554-A44C-8A2F-4D860D501DD3}"/>
                    </a:ext>
                  </a:extLst>
                </p14:cNvPr>
                <p14:cNvContentPartPr/>
                <p14:nvPr/>
              </p14:nvContentPartPr>
              <p14:xfrm>
                <a:off x="7997763" y="3187390"/>
                <a:ext cx="360" cy="360"/>
              </p14:xfrm>
            </p:contentPart>
          </mc:Choice>
          <mc:Fallback xmlns="">
            <p:pic>
              <p:nvPicPr>
                <p:cNvPr id="1048" name="Ink 1047">
                  <a:extLst>
                    <a:ext uri="{FF2B5EF4-FFF2-40B4-BE49-F238E27FC236}">
                      <a16:creationId xmlns:a16="http://schemas.microsoft.com/office/drawing/2014/main" id="{628B07CB-6554-A44C-8A2F-4D860D501DD3}"/>
                    </a:ext>
                  </a:extLst>
                </p:cNvPr>
                <p:cNvPicPr/>
                <p:nvPr/>
              </p:nvPicPr>
              <p:blipFill>
                <a:blip r:embed="rId27"/>
                <a:stretch>
                  <a:fillRect/>
                </a:stretch>
              </p:blipFill>
              <p:spPr>
                <a:xfrm>
                  <a:off x="7961763" y="315175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49" name="Ink 1048">
                  <a:extLst>
                    <a:ext uri="{FF2B5EF4-FFF2-40B4-BE49-F238E27FC236}">
                      <a16:creationId xmlns:a16="http://schemas.microsoft.com/office/drawing/2014/main" id="{291F5FB5-6543-58B0-EA46-B840F6B54BA7}"/>
                    </a:ext>
                  </a:extLst>
                </p14:cNvPr>
                <p14:cNvContentPartPr/>
                <p14:nvPr/>
              </p14:nvContentPartPr>
              <p14:xfrm>
                <a:off x="7997763" y="3160390"/>
                <a:ext cx="360" cy="360"/>
              </p14:xfrm>
            </p:contentPart>
          </mc:Choice>
          <mc:Fallback xmlns="">
            <p:pic>
              <p:nvPicPr>
                <p:cNvPr id="1049" name="Ink 1048">
                  <a:extLst>
                    <a:ext uri="{FF2B5EF4-FFF2-40B4-BE49-F238E27FC236}">
                      <a16:creationId xmlns:a16="http://schemas.microsoft.com/office/drawing/2014/main" id="{291F5FB5-6543-58B0-EA46-B840F6B54BA7}"/>
                    </a:ext>
                  </a:extLst>
                </p:cNvPr>
                <p:cNvPicPr/>
                <p:nvPr/>
              </p:nvPicPr>
              <p:blipFill>
                <a:blip r:embed="rId27"/>
                <a:stretch>
                  <a:fillRect/>
                </a:stretch>
              </p:blipFill>
              <p:spPr>
                <a:xfrm>
                  <a:off x="7961763" y="312475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51" name="Ink 1050">
                  <a:extLst>
                    <a:ext uri="{FF2B5EF4-FFF2-40B4-BE49-F238E27FC236}">
                      <a16:creationId xmlns:a16="http://schemas.microsoft.com/office/drawing/2014/main" id="{B5F9A28C-D958-5CDA-7BE8-6F0A0FF94B9D}"/>
                    </a:ext>
                  </a:extLst>
                </p14:cNvPr>
                <p14:cNvContentPartPr/>
                <p14:nvPr/>
              </p14:nvContentPartPr>
              <p14:xfrm>
                <a:off x="7978683" y="3235270"/>
                <a:ext cx="360" cy="360"/>
              </p14:xfrm>
            </p:contentPart>
          </mc:Choice>
          <mc:Fallback xmlns="">
            <p:pic>
              <p:nvPicPr>
                <p:cNvPr id="1051" name="Ink 1050">
                  <a:extLst>
                    <a:ext uri="{FF2B5EF4-FFF2-40B4-BE49-F238E27FC236}">
                      <a16:creationId xmlns:a16="http://schemas.microsoft.com/office/drawing/2014/main" id="{B5F9A28C-D958-5CDA-7BE8-6F0A0FF94B9D}"/>
                    </a:ext>
                  </a:extLst>
                </p:cNvPr>
                <p:cNvPicPr/>
                <p:nvPr/>
              </p:nvPicPr>
              <p:blipFill>
                <a:blip r:embed="rId30"/>
                <a:stretch>
                  <a:fillRect/>
                </a:stretch>
              </p:blipFill>
              <p:spPr>
                <a:xfrm>
                  <a:off x="7969683" y="32262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052" name="Ink 1051">
                  <a:extLst>
                    <a:ext uri="{FF2B5EF4-FFF2-40B4-BE49-F238E27FC236}">
                      <a16:creationId xmlns:a16="http://schemas.microsoft.com/office/drawing/2014/main" id="{C7BD2AA3-4927-BDA2-1568-0D711679FFD9}"/>
                    </a:ext>
                  </a:extLst>
                </p14:cNvPr>
                <p14:cNvContentPartPr/>
                <p14:nvPr/>
              </p14:nvContentPartPr>
              <p14:xfrm>
                <a:off x="7976883" y="3235270"/>
                <a:ext cx="360" cy="1440"/>
              </p14:xfrm>
            </p:contentPart>
          </mc:Choice>
          <mc:Fallback xmlns="">
            <p:pic>
              <p:nvPicPr>
                <p:cNvPr id="1052" name="Ink 1051">
                  <a:extLst>
                    <a:ext uri="{FF2B5EF4-FFF2-40B4-BE49-F238E27FC236}">
                      <a16:creationId xmlns:a16="http://schemas.microsoft.com/office/drawing/2014/main" id="{C7BD2AA3-4927-BDA2-1568-0D711679FFD9}"/>
                    </a:ext>
                  </a:extLst>
                </p:cNvPr>
                <p:cNvPicPr/>
                <p:nvPr/>
              </p:nvPicPr>
              <p:blipFill>
                <a:blip r:embed="rId30"/>
                <a:stretch>
                  <a:fillRect/>
                </a:stretch>
              </p:blipFill>
              <p:spPr>
                <a:xfrm>
                  <a:off x="7968243" y="3226270"/>
                  <a:ext cx="180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54" name="Ink 1053">
                  <a:extLst>
                    <a:ext uri="{FF2B5EF4-FFF2-40B4-BE49-F238E27FC236}">
                      <a16:creationId xmlns:a16="http://schemas.microsoft.com/office/drawing/2014/main" id="{F1CB1530-FB10-6114-278D-600C5B36051A}"/>
                    </a:ext>
                  </a:extLst>
                </p14:cNvPr>
                <p14:cNvContentPartPr/>
                <p14:nvPr/>
              </p14:nvContentPartPr>
              <p14:xfrm>
                <a:off x="7980123" y="3244630"/>
                <a:ext cx="360" cy="360"/>
              </p14:xfrm>
            </p:contentPart>
          </mc:Choice>
          <mc:Fallback xmlns="">
            <p:pic>
              <p:nvPicPr>
                <p:cNvPr id="1054" name="Ink 1053">
                  <a:extLst>
                    <a:ext uri="{FF2B5EF4-FFF2-40B4-BE49-F238E27FC236}">
                      <a16:creationId xmlns:a16="http://schemas.microsoft.com/office/drawing/2014/main" id="{F1CB1530-FB10-6114-278D-600C5B36051A}"/>
                    </a:ext>
                  </a:extLst>
                </p:cNvPr>
                <p:cNvPicPr/>
                <p:nvPr/>
              </p:nvPicPr>
              <p:blipFill>
                <a:blip r:embed="rId30"/>
                <a:stretch>
                  <a:fillRect/>
                </a:stretch>
              </p:blipFill>
              <p:spPr>
                <a:xfrm>
                  <a:off x="7971483" y="3235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56" name="Ink 1055">
                  <a:extLst>
                    <a:ext uri="{FF2B5EF4-FFF2-40B4-BE49-F238E27FC236}">
                      <a16:creationId xmlns:a16="http://schemas.microsoft.com/office/drawing/2014/main" id="{8AD78631-BC55-0454-13A6-EB4793A472AD}"/>
                    </a:ext>
                  </a:extLst>
                </p14:cNvPr>
                <p14:cNvContentPartPr/>
                <p14:nvPr/>
              </p14:nvContentPartPr>
              <p14:xfrm>
                <a:off x="7976883" y="3279550"/>
                <a:ext cx="360" cy="360"/>
              </p14:xfrm>
            </p:contentPart>
          </mc:Choice>
          <mc:Fallback xmlns="">
            <p:pic>
              <p:nvPicPr>
                <p:cNvPr id="1056" name="Ink 1055">
                  <a:extLst>
                    <a:ext uri="{FF2B5EF4-FFF2-40B4-BE49-F238E27FC236}">
                      <a16:creationId xmlns:a16="http://schemas.microsoft.com/office/drawing/2014/main" id="{8AD78631-BC55-0454-13A6-EB4793A472AD}"/>
                    </a:ext>
                  </a:extLst>
                </p:cNvPr>
                <p:cNvPicPr/>
                <p:nvPr/>
              </p:nvPicPr>
              <p:blipFill>
                <a:blip r:embed="rId30"/>
                <a:stretch>
                  <a:fillRect/>
                </a:stretch>
              </p:blipFill>
              <p:spPr>
                <a:xfrm>
                  <a:off x="7968243" y="327091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58" name="Ink 1057">
                  <a:extLst>
                    <a:ext uri="{FF2B5EF4-FFF2-40B4-BE49-F238E27FC236}">
                      <a16:creationId xmlns:a16="http://schemas.microsoft.com/office/drawing/2014/main" id="{38F25392-5953-E4AD-0C76-754FC54B2087}"/>
                    </a:ext>
                  </a:extLst>
                </p14:cNvPr>
                <p14:cNvContentPartPr/>
                <p14:nvPr/>
              </p14:nvContentPartPr>
              <p14:xfrm>
                <a:off x="7991283" y="3271630"/>
                <a:ext cx="360" cy="360"/>
              </p14:xfrm>
            </p:contentPart>
          </mc:Choice>
          <mc:Fallback xmlns="">
            <p:pic>
              <p:nvPicPr>
                <p:cNvPr id="1058" name="Ink 1057">
                  <a:extLst>
                    <a:ext uri="{FF2B5EF4-FFF2-40B4-BE49-F238E27FC236}">
                      <a16:creationId xmlns:a16="http://schemas.microsoft.com/office/drawing/2014/main" id="{38F25392-5953-E4AD-0C76-754FC54B2087}"/>
                    </a:ext>
                  </a:extLst>
                </p:cNvPr>
                <p:cNvPicPr/>
                <p:nvPr/>
              </p:nvPicPr>
              <p:blipFill>
                <a:blip r:embed="rId30"/>
                <a:stretch>
                  <a:fillRect/>
                </a:stretch>
              </p:blipFill>
              <p:spPr>
                <a:xfrm>
                  <a:off x="7982643" y="3262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60" name="Ink 1059">
                  <a:extLst>
                    <a:ext uri="{FF2B5EF4-FFF2-40B4-BE49-F238E27FC236}">
                      <a16:creationId xmlns:a16="http://schemas.microsoft.com/office/drawing/2014/main" id="{232B74E3-8333-DB7C-11D4-06902D25F159}"/>
                    </a:ext>
                  </a:extLst>
                </p14:cNvPr>
                <p14:cNvContentPartPr/>
                <p14:nvPr/>
              </p14:nvContentPartPr>
              <p14:xfrm>
                <a:off x="7988043" y="3260470"/>
                <a:ext cx="360" cy="360"/>
              </p14:xfrm>
            </p:contentPart>
          </mc:Choice>
          <mc:Fallback xmlns="">
            <p:pic>
              <p:nvPicPr>
                <p:cNvPr id="1060" name="Ink 1059">
                  <a:extLst>
                    <a:ext uri="{FF2B5EF4-FFF2-40B4-BE49-F238E27FC236}">
                      <a16:creationId xmlns:a16="http://schemas.microsoft.com/office/drawing/2014/main" id="{232B74E3-8333-DB7C-11D4-06902D25F159}"/>
                    </a:ext>
                  </a:extLst>
                </p:cNvPr>
                <p:cNvPicPr/>
                <p:nvPr/>
              </p:nvPicPr>
              <p:blipFill>
                <a:blip r:embed="rId30"/>
                <a:stretch>
                  <a:fillRect/>
                </a:stretch>
              </p:blipFill>
              <p:spPr>
                <a:xfrm>
                  <a:off x="7979403" y="325183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62" name="Ink 1061">
                  <a:extLst>
                    <a:ext uri="{FF2B5EF4-FFF2-40B4-BE49-F238E27FC236}">
                      <a16:creationId xmlns:a16="http://schemas.microsoft.com/office/drawing/2014/main" id="{E2D1D2F1-95E4-415F-C26C-B5B109F97401}"/>
                    </a:ext>
                  </a:extLst>
                </p14:cNvPr>
                <p14:cNvContentPartPr/>
                <p14:nvPr/>
              </p14:nvContentPartPr>
              <p14:xfrm>
                <a:off x="7983363" y="3247870"/>
                <a:ext cx="360" cy="360"/>
              </p14:xfrm>
            </p:contentPart>
          </mc:Choice>
          <mc:Fallback xmlns="">
            <p:pic>
              <p:nvPicPr>
                <p:cNvPr id="1062" name="Ink 1061">
                  <a:extLst>
                    <a:ext uri="{FF2B5EF4-FFF2-40B4-BE49-F238E27FC236}">
                      <a16:creationId xmlns:a16="http://schemas.microsoft.com/office/drawing/2014/main" id="{E2D1D2F1-95E4-415F-C26C-B5B109F97401}"/>
                    </a:ext>
                  </a:extLst>
                </p:cNvPr>
                <p:cNvPicPr/>
                <p:nvPr/>
              </p:nvPicPr>
              <p:blipFill>
                <a:blip r:embed="rId30"/>
                <a:stretch>
                  <a:fillRect/>
                </a:stretch>
              </p:blipFill>
              <p:spPr>
                <a:xfrm>
                  <a:off x="7974723" y="32388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064" name="Ink 1063">
                  <a:extLst>
                    <a:ext uri="{FF2B5EF4-FFF2-40B4-BE49-F238E27FC236}">
                      <a16:creationId xmlns:a16="http://schemas.microsoft.com/office/drawing/2014/main" id="{2EB70636-75F9-183F-445B-A75AFD424148}"/>
                    </a:ext>
                  </a:extLst>
                </p14:cNvPr>
                <p14:cNvContentPartPr/>
                <p14:nvPr/>
              </p14:nvContentPartPr>
              <p14:xfrm>
                <a:off x="7980123" y="3274870"/>
                <a:ext cx="360" cy="360"/>
              </p14:xfrm>
            </p:contentPart>
          </mc:Choice>
          <mc:Fallback xmlns="">
            <p:pic>
              <p:nvPicPr>
                <p:cNvPr id="1064" name="Ink 1063">
                  <a:extLst>
                    <a:ext uri="{FF2B5EF4-FFF2-40B4-BE49-F238E27FC236}">
                      <a16:creationId xmlns:a16="http://schemas.microsoft.com/office/drawing/2014/main" id="{2EB70636-75F9-183F-445B-A75AFD424148}"/>
                    </a:ext>
                  </a:extLst>
                </p:cNvPr>
                <p:cNvPicPr/>
                <p:nvPr/>
              </p:nvPicPr>
              <p:blipFill>
                <a:blip r:embed="rId30"/>
                <a:stretch>
                  <a:fillRect/>
                </a:stretch>
              </p:blipFill>
              <p:spPr>
                <a:xfrm>
                  <a:off x="7971483" y="3265870"/>
                  <a:ext cx="18000" cy="18000"/>
                </a:xfrm>
                <a:prstGeom prst="rect">
                  <a:avLst/>
                </a:prstGeom>
              </p:spPr>
            </p:pic>
          </mc:Fallback>
        </mc:AlternateContent>
      </p:grpSp>
      <p:pic>
        <p:nvPicPr>
          <p:cNvPr id="1066" name="Picture 1065">
            <a:extLst>
              <a:ext uri="{FF2B5EF4-FFF2-40B4-BE49-F238E27FC236}">
                <a16:creationId xmlns:a16="http://schemas.microsoft.com/office/drawing/2014/main" id="{DC4DF5E9-ADBB-B1FE-F0BC-F194939DEAE0}"/>
              </a:ext>
            </a:extLst>
          </p:cNvPr>
          <p:cNvPicPr>
            <a:picLocks noChangeAspect="1"/>
          </p:cNvPicPr>
          <p:nvPr/>
        </p:nvPicPr>
        <p:blipFill>
          <a:blip r:embed="rId4"/>
          <a:stretch>
            <a:fillRect/>
          </a:stretch>
        </p:blipFill>
        <p:spPr>
          <a:xfrm>
            <a:off x="8024043" y="2753780"/>
            <a:ext cx="947758" cy="954339"/>
          </a:xfrm>
          <a:prstGeom prst="rect">
            <a:avLst/>
          </a:prstGeom>
        </p:spPr>
      </p:pic>
      <p:sp>
        <p:nvSpPr>
          <p:cNvPr id="1067" name="Cloud 1066">
            <a:extLst>
              <a:ext uri="{FF2B5EF4-FFF2-40B4-BE49-F238E27FC236}">
                <a16:creationId xmlns:a16="http://schemas.microsoft.com/office/drawing/2014/main" id="{8C6C8CB8-FA40-E9D2-975D-77CD03F40549}"/>
              </a:ext>
            </a:extLst>
          </p:cNvPr>
          <p:cNvSpPr/>
          <p:nvPr/>
        </p:nvSpPr>
        <p:spPr>
          <a:xfrm>
            <a:off x="2458276" y="2210393"/>
            <a:ext cx="1215536" cy="549629"/>
          </a:xfrm>
          <a:prstGeom prst="cloud">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effectLst>
                  <a:outerShdw blurRad="38100" dist="38100" dir="2700000" algn="tl">
                    <a:srgbClr val="000000">
                      <a:alpha val="43137"/>
                    </a:srgbClr>
                  </a:outerShdw>
                </a:effectLst>
              </a:rPr>
              <a:t>Noise</a:t>
            </a:r>
            <a:endParaRPr lang="ro-RO" b="1" dirty="0">
              <a:effectLst>
                <a:outerShdw blurRad="38100" dist="38100" dir="2700000" algn="tl">
                  <a:srgbClr val="000000">
                    <a:alpha val="43137"/>
                  </a:srgbClr>
                </a:outerShdw>
              </a:effectLst>
            </a:endParaRPr>
          </a:p>
        </p:txBody>
      </p:sp>
      <p:sp>
        <p:nvSpPr>
          <p:cNvPr id="1068" name="Plus Sign 1067">
            <a:extLst>
              <a:ext uri="{FF2B5EF4-FFF2-40B4-BE49-F238E27FC236}">
                <a16:creationId xmlns:a16="http://schemas.microsoft.com/office/drawing/2014/main" id="{CB67FCAA-DF69-FA24-85CD-663020B8B60A}"/>
              </a:ext>
            </a:extLst>
          </p:cNvPr>
          <p:cNvSpPr/>
          <p:nvPr/>
        </p:nvSpPr>
        <p:spPr>
          <a:xfrm>
            <a:off x="2914469" y="2902980"/>
            <a:ext cx="310433" cy="294982"/>
          </a:xfrm>
          <a:prstGeom prst="mathPlus">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070" name="Picture 1069">
            <a:extLst>
              <a:ext uri="{FF2B5EF4-FFF2-40B4-BE49-F238E27FC236}">
                <a16:creationId xmlns:a16="http://schemas.microsoft.com/office/drawing/2014/main" id="{79965BD9-58F9-D934-E389-5F6BDFF0535C}"/>
              </a:ext>
            </a:extLst>
          </p:cNvPr>
          <p:cNvPicPr>
            <a:picLocks noChangeAspect="1"/>
          </p:cNvPicPr>
          <p:nvPr/>
        </p:nvPicPr>
        <p:blipFill>
          <a:blip r:embed="rId38"/>
          <a:stretch>
            <a:fillRect/>
          </a:stretch>
        </p:blipFill>
        <p:spPr>
          <a:xfrm>
            <a:off x="4087201" y="2710052"/>
            <a:ext cx="924794" cy="964147"/>
          </a:xfrm>
          <a:prstGeom prst="rect">
            <a:avLst/>
          </a:prstGeom>
        </p:spPr>
      </p:pic>
      <p:sp>
        <p:nvSpPr>
          <p:cNvPr id="1071" name="Right Brace 1070">
            <a:extLst>
              <a:ext uri="{FF2B5EF4-FFF2-40B4-BE49-F238E27FC236}">
                <a16:creationId xmlns:a16="http://schemas.microsoft.com/office/drawing/2014/main" id="{1B896AF0-2D29-2C06-3972-D60B3C3417D6}"/>
              </a:ext>
            </a:extLst>
          </p:cNvPr>
          <p:cNvSpPr/>
          <p:nvPr/>
        </p:nvSpPr>
        <p:spPr>
          <a:xfrm>
            <a:off x="3762672" y="2199771"/>
            <a:ext cx="174660" cy="2071267"/>
          </a:xfrm>
          <a:prstGeom prst="rightBrace">
            <a:avLst/>
          </a:prstGeom>
          <a:ln>
            <a:solidFill>
              <a:schemeClr val="accent3">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mc:AlternateContent xmlns:mc="http://schemas.openxmlformats.org/markup-compatibility/2006" xmlns:p14="http://schemas.microsoft.com/office/powerpoint/2010/main">
        <mc:Choice Requires="p14">
          <p:contentPart p14:bwMode="auto" r:id="rId39">
            <p14:nvContentPartPr>
              <p14:cNvPr id="1072" name="Ink 1071">
                <a:extLst>
                  <a:ext uri="{FF2B5EF4-FFF2-40B4-BE49-F238E27FC236}">
                    <a16:creationId xmlns:a16="http://schemas.microsoft.com/office/drawing/2014/main" id="{51FCB7E7-F380-B591-9561-A257FA327BC3}"/>
                  </a:ext>
                </a:extLst>
              </p14:cNvPr>
              <p14:cNvContentPartPr/>
              <p14:nvPr/>
            </p14:nvContentPartPr>
            <p14:xfrm>
              <a:off x="4343198" y="2144904"/>
              <a:ext cx="481680" cy="250200"/>
            </p14:xfrm>
          </p:contentPart>
        </mc:Choice>
        <mc:Fallback xmlns="">
          <p:pic>
            <p:nvPicPr>
              <p:cNvPr id="1072" name="Ink 1071">
                <a:extLst>
                  <a:ext uri="{FF2B5EF4-FFF2-40B4-BE49-F238E27FC236}">
                    <a16:creationId xmlns:a16="http://schemas.microsoft.com/office/drawing/2014/main" id="{51FCB7E7-F380-B591-9561-A257FA327BC3}"/>
                  </a:ext>
                </a:extLst>
              </p:cNvPr>
              <p:cNvPicPr/>
              <p:nvPr/>
            </p:nvPicPr>
            <p:blipFill>
              <a:blip r:embed="rId40"/>
              <a:stretch>
                <a:fillRect/>
              </a:stretch>
            </p:blipFill>
            <p:spPr>
              <a:xfrm>
                <a:off x="4307198" y="2108904"/>
                <a:ext cx="55332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73" name="Ink 1072">
                <a:extLst>
                  <a:ext uri="{FF2B5EF4-FFF2-40B4-BE49-F238E27FC236}">
                    <a16:creationId xmlns:a16="http://schemas.microsoft.com/office/drawing/2014/main" id="{CAECF1E6-318E-55C8-54ED-3A40F5BFAF40}"/>
                  </a:ext>
                </a:extLst>
              </p14:cNvPr>
              <p14:cNvContentPartPr/>
              <p14:nvPr/>
            </p14:nvContentPartPr>
            <p14:xfrm>
              <a:off x="4537598" y="2249664"/>
              <a:ext cx="127080" cy="118800"/>
            </p14:xfrm>
          </p:contentPart>
        </mc:Choice>
        <mc:Fallback xmlns="">
          <p:pic>
            <p:nvPicPr>
              <p:cNvPr id="1073" name="Ink 1072">
                <a:extLst>
                  <a:ext uri="{FF2B5EF4-FFF2-40B4-BE49-F238E27FC236}">
                    <a16:creationId xmlns:a16="http://schemas.microsoft.com/office/drawing/2014/main" id="{CAECF1E6-318E-55C8-54ED-3A40F5BFAF40}"/>
                  </a:ext>
                </a:extLst>
              </p:cNvPr>
              <p:cNvPicPr/>
              <p:nvPr/>
            </p:nvPicPr>
            <p:blipFill>
              <a:blip r:embed="rId42"/>
              <a:stretch>
                <a:fillRect/>
              </a:stretch>
            </p:blipFill>
            <p:spPr>
              <a:xfrm>
                <a:off x="4474958" y="2186664"/>
                <a:ext cx="25272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74" name="Ink 1073">
                <a:extLst>
                  <a:ext uri="{FF2B5EF4-FFF2-40B4-BE49-F238E27FC236}">
                    <a16:creationId xmlns:a16="http://schemas.microsoft.com/office/drawing/2014/main" id="{0EC0D0EF-6673-B20B-1451-F3404CB99C73}"/>
                  </a:ext>
                </a:extLst>
              </p14:cNvPr>
              <p14:cNvContentPartPr/>
              <p14:nvPr/>
            </p14:nvContentPartPr>
            <p14:xfrm>
              <a:off x="8276558" y="2467824"/>
              <a:ext cx="292680" cy="8640"/>
            </p14:xfrm>
          </p:contentPart>
        </mc:Choice>
        <mc:Fallback xmlns="">
          <p:pic>
            <p:nvPicPr>
              <p:cNvPr id="1074" name="Ink 1073">
                <a:extLst>
                  <a:ext uri="{FF2B5EF4-FFF2-40B4-BE49-F238E27FC236}">
                    <a16:creationId xmlns:a16="http://schemas.microsoft.com/office/drawing/2014/main" id="{0EC0D0EF-6673-B20B-1451-F3404CB99C73}"/>
                  </a:ext>
                </a:extLst>
              </p:cNvPr>
              <p:cNvPicPr/>
              <p:nvPr/>
            </p:nvPicPr>
            <p:blipFill>
              <a:blip r:embed="rId44"/>
              <a:stretch>
                <a:fillRect/>
              </a:stretch>
            </p:blipFill>
            <p:spPr>
              <a:xfrm>
                <a:off x="8213558" y="2405184"/>
                <a:ext cx="418320" cy="134280"/>
              </a:xfrm>
              <a:prstGeom prst="rect">
                <a:avLst/>
              </a:prstGeom>
            </p:spPr>
          </p:pic>
        </mc:Fallback>
      </mc:AlternateContent>
      <p:grpSp>
        <p:nvGrpSpPr>
          <p:cNvPr id="1076" name="Group 1075">
            <a:extLst>
              <a:ext uri="{FF2B5EF4-FFF2-40B4-BE49-F238E27FC236}">
                <a16:creationId xmlns:a16="http://schemas.microsoft.com/office/drawing/2014/main" id="{3643F71C-A60E-0667-177F-F13EF0F06E18}"/>
              </a:ext>
            </a:extLst>
          </p:cNvPr>
          <p:cNvGrpSpPr/>
          <p:nvPr/>
        </p:nvGrpSpPr>
        <p:grpSpPr>
          <a:xfrm>
            <a:off x="8077478" y="2249304"/>
            <a:ext cx="847440" cy="119386"/>
            <a:chOff x="8077478" y="2249304"/>
            <a:chExt cx="847440" cy="119386"/>
          </a:xfrm>
        </p:grpSpPr>
        <mc:AlternateContent xmlns:mc="http://schemas.openxmlformats.org/markup-compatibility/2006" xmlns:p14="http://schemas.microsoft.com/office/powerpoint/2010/main">
          <mc:Choice Requires="p14">
            <p:contentPart p14:bwMode="auto" r:id="rId45">
              <p14:nvContentPartPr>
                <p14:cNvPr id="1043" name="Ink 1042">
                  <a:extLst>
                    <a:ext uri="{FF2B5EF4-FFF2-40B4-BE49-F238E27FC236}">
                      <a16:creationId xmlns:a16="http://schemas.microsoft.com/office/drawing/2014/main" id="{70F3BB13-14E9-756E-1C6F-468AEA8C086B}"/>
                    </a:ext>
                  </a:extLst>
                </p14:cNvPr>
                <p14:cNvContentPartPr/>
                <p14:nvPr/>
              </p14:nvContentPartPr>
              <p14:xfrm>
                <a:off x="8583208" y="2326930"/>
                <a:ext cx="11520" cy="41040"/>
              </p14:xfrm>
            </p:contentPart>
          </mc:Choice>
          <mc:Fallback xmlns="">
            <p:pic>
              <p:nvPicPr>
                <p:cNvPr id="1043" name="Ink 1042">
                  <a:extLst>
                    <a:ext uri="{FF2B5EF4-FFF2-40B4-BE49-F238E27FC236}">
                      <a16:creationId xmlns:a16="http://schemas.microsoft.com/office/drawing/2014/main" id="{70F3BB13-14E9-756E-1C6F-468AEA8C086B}"/>
                    </a:ext>
                  </a:extLst>
                </p:cNvPr>
                <p:cNvPicPr/>
                <p:nvPr/>
              </p:nvPicPr>
              <p:blipFill>
                <a:blip r:embed="rId46"/>
                <a:stretch>
                  <a:fillRect/>
                </a:stretch>
              </p:blipFill>
              <p:spPr>
                <a:xfrm>
                  <a:off x="8574208" y="2318290"/>
                  <a:ext cx="29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44" name="Ink 1043">
                  <a:extLst>
                    <a:ext uri="{FF2B5EF4-FFF2-40B4-BE49-F238E27FC236}">
                      <a16:creationId xmlns:a16="http://schemas.microsoft.com/office/drawing/2014/main" id="{A6F3C67B-6446-0A68-6E5C-0F0ABB139EB9}"/>
                    </a:ext>
                  </a:extLst>
                </p14:cNvPr>
                <p14:cNvContentPartPr/>
                <p14:nvPr/>
              </p14:nvContentPartPr>
              <p14:xfrm>
                <a:off x="8569168" y="2322250"/>
                <a:ext cx="6120" cy="46440"/>
              </p14:xfrm>
            </p:contentPart>
          </mc:Choice>
          <mc:Fallback xmlns="">
            <p:pic>
              <p:nvPicPr>
                <p:cNvPr id="1044" name="Ink 1043">
                  <a:extLst>
                    <a:ext uri="{FF2B5EF4-FFF2-40B4-BE49-F238E27FC236}">
                      <a16:creationId xmlns:a16="http://schemas.microsoft.com/office/drawing/2014/main" id="{A6F3C67B-6446-0A68-6E5C-0F0ABB139EB9}"/>
                    </a:ext>
                  </a:extLst>
                </p:cNvPr>
                <p:cNvPicPr/>
                <p:nvPr/>
              </p:nvPicPr>
              <p:blipFill>
                <a:blip r:embed="rId48"/>
                <a:stretch>
                  <a:fillRect/>
                </a:stretch>
              </p:blipFill>
              <p:spPr>
                <a:xfrm>
                  <a:off x="8560168" y="2313610"/>
                  <a:ext cx="23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75" name="Ink 1074">
                  <a:extLst>
                    <a:ext uri="{FF2B5EF4-FFF2-40B4-BE49-F238E27FC236}">
                      <a16:creationId xmlns:a16="http://schemas.microsoft.com/office/drawing/2014/main" id="{F37E6E7A-BC04-F0F7-91FC-403D8BB9E130}"/>
                    </a:ext>
                  </a:extLst>
                </p14:cNvPr>
                <p14:cNvContentPartPr/>
                <p14:nvPr/>
              </p14:nvContentPartPr>
              <p14:xfrm>
                <a:off x="8077478" y="2249304"/>
                <a:ext cx="847440" cy="114480"/>
              </p14:xfrm>
            </p:contentPart>
          </mc:Choice>
          <mc:Fallback xmlns="">
            <p:pic>
              <p:nvPicPr>
                <p:cNvPr id="1075" name="Ink 1074">
                  <a:extLst>
                    <a:ext uri="{FF2B5EF4-FFF2-40B4-BE49-F238E27FC236}">
                      <a16:creationId xmlns:a16="http://schemas.microsoft.com/office/drawing/2014/main" id="{F37E6E7A-BC04-F0F7-91FC-403D8BB9E130}"/>
                    </a:ext>
                  </a:extLst>
                </p:cNvPr>
                <p:cNvPicPr/>
                <p:nvPr/>
              </p:nvPicPr>
              <p:blipFill>
                <a:blip r:embed="rId50"/>
                <a:stretch>
                  <a:fillRect/>
                </a:stretch>
              </p:blipFill>
              <p:spPr>
                <a:xfrm>
                  <a:off x="8014478" y="2186304"/>
                  <a:ext cx="973080" cy="240120"/>
                </a:xfrm>
                <a:prstGeom prst="rect">
                  <a:avLst/>
                </a:prstGeom>
              </p:spPr>
            </p:pic>
          </mc:Fallback>
        </mc:AlternateContent>
      </p:grpSp>
      <p:sp>
        <p:nvSpPr>
          <p:cNvPr id="1077" name="TextBox 1076">
            <a:extLst>
              <a:ext uri="{FF2B5EF4-FFF2-40B4-BE49-F238E27FC236}">
                <a16:creationId xmlns:a16="http://schemas.microsoft.com/office/drawing/2014/main" id="{FB6BF75B-0ECE-C5F4-8631-3E52960D9519}"/>
              </a:ext>
            </a:extLst>
          </p:cNvPr>
          <p:cNvSpPr txBox="1"/>
          <p:nvPr/>
        </p:nvSpPr>
        <p:spPr>
          <a:xfrm>
            <a:off x="4138516" y="2224948"/>
            <a:ext cx="819067" cy="461665"/>
          </a:xfrm>
          <a:prstGeom prst="rect">
            <a:avLst/>
          </a:prstGeom>
          <a:noFill/>
        </p:spPr>
        <p:txBody>
          <a:bodyPr wrap="square" rtlCol="0">
            <a:spAutoFit/>
          </a:bodyPr>
          <a:lstStyle/>
          <a:p>
            <a:pPr algn="ctr"/>
            <a:r>
              <a:rPr lang="en-US" sz="1200" dirty="0"/>
              <a:t>Noisy Image</a:t>
            </a:r>
            <a:endParaRPr lang="ro-RO" sz="1200" dirty="0"/>
          </a:p>
        </p:txBody>
      </p:sp>
      <p:sp>
        <p:nvSpPr>
          <p:cNvPr id="1078" name="TextBox 1077">
            <a:extLst>
              <a:ext uri="{FF2B5EF4-FFF2-40B4-BE49-F238E27FC236}">
                <a16:creationId xmlns:a16="http://schemas.microsoft.com/office/drawing/2014/main" id="{2F0259D0-33E1-0983-37C5-71C4F5107E7D}"/>
              </a:ext>
            </a:extLst>
          </p:cNvPr>
          <p:cNvSpPr txBox="1"/>
          <p:nvPr/>
        </p:nvSpPr>
        <p:spPr>
          <a:xfrm>
            <a:off x="7780391" y="2276635"/>
            <a:ext cx="1368498" cy="461665"/>
          </a:xfrm>
          <a:prstGeom prst="rect">
            <a:avLst/>
          </a:prstGeom>
          <a:noFill/>
        </p:spPr>
        <p:txBody>
          <a:bodyPr wrap="square" rtlCol="0">
            <a:spAutoFit/>
          </a:bodyPr>
          <a:lstStyle/>
          <a:p>
            <a:pPr algn="ctr"/>
            <a:r>
              <a:rPr lang="en-US" sz="1200" dirty="0"/>
              <a:t>Reconstructed Image</a:t>
            </a:r>
            <a:endParaRPr lang="ro-RO" sz="1200" dirty="0"/>
          </a:p>
        </p:txBody>
      </p:sp>
      <p:sp>
        <p:nvSpPr>
          <p:cNvPr id="2" name="Shape 0">
            <a:extLst>
              <a:ext uri="{FF2B5EF4-FFF2-40B4-BE49-F238E27FC236}">
                <a16:creationId xmlns:a16="http://schemas.microsoft.com/office/drawing/2014/main" id="{6D788254-4370-8C1A-36BF-73A1D165D102}"/>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475177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D953-A2E3-181D-D263-0B589149645D}"/>
            </a:ext>
          </a:extLst>
        </p:cNvPr>
        <p:cNvGrpSpPr/>
        <p:nvPr/>
      </p:nvGrpSpPr>
      <p:grpSpPr>
        <a:xfrm>
          <a:off x="0" y="0"/>
          <a:ext cx="0" cy="0"/>
          <a:chOff x="0" y="0"/>
          <a:chExt cx="0" cy="0"/>
        </a:xfrm>
      </p:grpSpPr>
      <p:sp>
        <p:nvSpPr>
          <p:cNvPr id="7" name="Shape 7">
            <a:extLst>
              <a:ext uri="{FF2B5EF4-FFF2-40B4-BE49-F238E27FC236}">
                <a16:creationId xmlns:a16="http://schemas.microsoft.com/office/drawing/2014/main" id="{DF98711F-3D09-D9BF-94DA-E9E0398DD536}"/>
              </a:ext>
            </a:extLst>
          </p:cNvPr>
          <p:cNvSpPr/>
          <p:nvPr/>
        </p:nvSpPr>
        <p:spPr>
          <a:xfrm>
            <a:off x="548640" y="1582976"/>
            <a:ext cx="228600" cy="228600"/>
          </a:xfrm>
          <a:prstGeom prst="ellipse">
            <a:avLst/>
          </a:prstGeom>
          <a:solidFill>
            <a:srgbClr val="4CAF82"/>
          </a:solidFill>
          <a:ln/>
        </p:spPr>
      </p:sp>
      <p:sp>
        <p:nvSpPr>
          <p:cNvPr id="8" name="Text 8">
            <a:extLst>
              <a:ext uri="{FF2B5EF4-FFF2-40B4-BE49-F238E27FC236}">
                <a16:creationId xmlns:a16="http://schemas.microsoft.com/office/drawing/2014/main" id="{427A0553-0453-B908-562E-ACBECA320479}"/>
              </a:ext>
            </a:extLst>
          </p:cNvPr>
          <p:cNvSpPr/>
          <p:nvPr/>
        </p:nvSpPr>
        <p:spPr>
          <a:xfrm>
            <a:off x="868679" y="1589072"/>
            <a:ext cx="9539042" cy="222504"/>
          </a:xfrm>
          <a:prstGeom prst="rect">
            <a:avLst/>
          </a:prstGeom>
          <a:noFill/>
          <a:ln/>
        </p:spPr>
        <p:txBody>
          <a:bodyPr wrap="square" rtlCol="0" anchor="ctr"/>
          <a:lstStyle/>
          <a:p>
            <a:r>
              <a:rPr lang="en-US" dirty="0"/>
              <a:t>Poor generative ability — designed for reconstruction, not sampling novel realistic images.</a:t>
            </a:r>
          </a:p>
        </p:txBody>
      </p:sp>
      <p:sp>
        <p:nvSpPr>
          <p:cNvPr id="15" name="Text 1">
            <a:extLst>
              <a:ext uri="{FF2B5EF4-FFF2-40B4-BE49-F238E27FC236}">
                <a16:creationId xmlns:a16="http://schemas.microsoft.com/office/drawing/2014/main" id="{39CADD58-576E-5DB8-058C-CACD23729D41}"/>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  What Autoencoders Do Bad</a:t>
            </a:r>
          </a:p>
        </p:txBody>
      </p:sp>
      <p:pic>
        <p:nvPicPr>
          <p:cNvPr id="1029" name="Picture 1028">
            <a:extLst>
              <a:ext uri="{FF2B5EF4-FFF2-40B4-BE49-F238E27FC236}">
                <a16:creationId xmlns:a16="http://schemas.microsoft.com/office/drawing/2014/main" id="{060C7E4B-7E47-0271-411B-0C933210D189}"/>
              </a:ext>
            </a:extLst>
          </p:cNvPr>
          <p:cNvPicPr>
            <a:picLocks noChangeAspect="1"/>
          </p:cNvPicPr>
          <p:nvPr/>
        </p:nvPicPr>
        <p:blipFill>
          <a:blip r:embed="rId3"/>
          <a:stretch>
            <a:fillRect/>
          </a:stretch>
        </p:blipFill>
        <p:spPr>
          <a:xfrm>
            <a:off x="7760971" y="2020020"/>
            <a:ext cx="2939328" cy="369645"/>
          </a:xfrm>
          <a:prstGeom prst="rect">
            <a:avLst/>
          </a:prstGeom>
        </p:spPr>
      </p:pic>
      <p:sp>
        <p:nvSpPr>
          <p:cNvPr id="2" name="Shape 18">
            <a:extLst>
              <a:ext uri="{FF2B5EF4-FFF2-40B4-BE49-F238E27FC236}">
                <a16:creationId xmlns:a16="http://schemas.microsoft.com/office/drawing/2014/main" id="{50EA1D81-0E2D-429F-8C53-430860345F80}"/>
              </a:ext>
            </a:extLst>
          </p:cNvPr>
          <p:cNvSpPr/>
          <p:nvPr/>
        </p:nvSpPr>
        <p:spPr>
          <a:xfrm>
            <a:off x="548640" y="1582976"/>
            <a:ext cx="228600" cy="228600"/>
          </a:xfrm>
          <a:prstGeom prst="ellipse">
            <a:avLst/>
          </a:prstGeom>
          <a:solidFill>
            <a:srgbClr val="E8748A"/>
          </a:solidFill>
          <a:ln/>
        </p:spPr>
      </p:sp>
      <p:sp>
        <p:nvSpPr>
          <p:cNvPr id="3" name="Trapezoid 2">
            <a:extLst>
              <a:ext uri="{FF2B5EF4-FFF2-40B4-BE49-F238E27FC236}">
                <a16:creationId xmlns:a16="http://schemas.microsoft.com/office/drawing/2014/main" id="{F074F8E0-A753-99AC-3AA7-DC836B218A38}"/>
              </a:ext>
            </a:extLst>
          </p:cNvPr>
          <p:cNvSpPr/>
          <p:nvPr/>
        </p:nvSpPr>
        <p:spPr>
          <a:xfrm rot="5400000">
            <a:off x="4247090" y="2671969"/>
            <a:ext cx="1227142" cy="880086"/>
          </a:xfrm>
          <a:prstGeom prst="trapezoid">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4" name="Trapezoid 3">
            <a:extLst>
              <a:ext uri="{FF2B5EF4-FFF2-40B4-BE49-F238E27FC236}">
                <a16:creationId xmlns:a16="http://schemas.microsoft.com/office/drawing/2014/main" id="{B54DC2A0-A7FD-B97F-111D-8525853DF91C}"/>
              </a:ext>
            </a:extLst>
          </p:cNvPr>
          <p:cNvSpPr/>
          <p:nvPr/>
        </p:nvSpPr>
        <p:spPr>
          <a:xfrm rot="16200000">
            <a:off x="5722829" y="2671968"/>
            <a:ext cx="1227142" cy="880086"/>
          </a:xfrm>
          <a:prstGeom prst="trapezoid">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6" name="Picture 5">
            <a:extLst>
              <a:ext uri="{FF2B5EF4-FFF2-40B4-BE49-F238E27FC236}">
                <a16:creationId xmlns:a16="http://schemas.microsoft.com/office/drawing/2014/main" id="{69D8705A-A945-3397-D881-22C965C17006}"/>
              </a:ext>
            </a:extLst>
          </p:cNvPr>
          <p:cNvPicPr>
            <a:picLocks noChangeAspect="1"/>
          </p:cNvPicPr>
          <p:nvPr/>
        </p:nvPicPr>
        <p:blipFill>
          <a:blip r:embed="rId4"/>
          <a:stretch>
            <a:fillRect/>
          </a:stretch>
        </p:blipFill>
        <p:spPr>
          <a:xfrm>
            <a:off x="2863983" y="2565995"/>
            <a:ext cx="1092031" cy="1092031"/>
          </a:xfrm>
          <a:prstGeom prst="rect">
            <a:avLst/>
          </a:prstGeom>
        </p:spPr>
      </p:pic>
      <p:sp>
        <p:nvSpPr>
          <p:cNvPr id="9" name="Rectangle 8">
            <a:extLst>
              <a:ext uri="{FF2B5EF4-FFF2-40B4-BE49-F238E27FC236}">
                <a16:creationId xmlns:a16="http://schemas.microsoft.com/office/drawing/2014/main" id="{23FDBC3C-F8FF-09EA-BD3A-84A5BAC03872}"/>
              </a:ext>
            </a:extLst>
          </p:cNvPr>
          <p:cNvSpPr/>
          <p:nvPr/>
        </p:nvSpPr>
        <p:spPr>
          <a:xfrm>
            <a:off x="5387910" y="2711961"/>
            <a:ext cx="421241" cy="80010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3" name="Picture 12">
            <a:extLst>
              <a:ext uri="{FF2B5EF4-FFF2-40B4-BE49-F238E27FC236}">
                <a16:creationId xmlns:a16="http://schemas.microsoft.com/office/drawing/2014/main" id="{E99DADA3-F410-DE48-BAE4-29CB2D8818CD}"/>
              </a:ext>
            </a:extLst>
          </p:cNvPr>
          <p:cNvPicPr>
            <a:picLocks noChangeAspect="1"/>
          </p:cNvPicPr>
          <p:nvPr/>
        </p:nvPicPr>
        <p:blipFill>
          <a:blip r:embed="rId5"/>
          <a:stretch>
            <a:fillRect/>
          </a:stretch>
        </p:blipFill>
        <p:spPr>
          <a:xfrm>
            <a:off x="7238178" y="2565994"/>
            <a:ext cx="1092031" cy="1092031"/>
          </a:xfrm>
          <a:prstGeom prst="rect">
            <a:avLst/>
          </a:prstGeom>
        </p:spPr>
      </p:pic>
      <p:cxnSp>
        <p:nvCxnSpPr>
          <p:cNvPr id="16" name="Straight Arrow Connector 15">
            <a:extLst>
              <a:ext uri="{FF2B5EF4-FFF2-40B4-BE49-F238E27FC236}">
                <a16:creationId xmlns:a16="http://schemas.microsoft.com/office/drawing/2014/main" id="{B4F03F48-38D8-5627-CEAF-A0F66C3904E0}"/>
              </a:ext>
            </a:extLst>
          </p:cNvPr>
          <p:cNvCxnSpPr>
            <a:stCxn id="6" idx="3"/>
            <a:endCxn id="3" idx="2"/>
          </p:cNvCxnSpPr>
          <p:nvPr/>
        </p:nvCxnSpPr>
        <p:spPr>
          <a:xfrm>
            <a:off x="3956014" y="3112011"/>
            <a:ext cx="46460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0D385E6-362E-59D1-DD6D-321695AB4FD9}"/>
              </a:ext>
            </a:extLst>
          </p:cNvPr>
          <p:cNvCxnSpPr>
            <a:stCxn id="4" idx="2"/>
            <a:endCxn id="13" idx="1"/>
          </p:cNvCxnSpPr>
          <p:nvPr/>
        </p:nvCxnSpPr>
        <p:spPr>
          <a:xfrm flipV="1">
            <a:off x="6776443" y="3112010"/>
            <a:ext cx="46173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7A83EC6-6266-5099-2CA5-8BA6F8089E03}"/>
              </a:ext>
            </a:extLst>
          </p:cNvPr>
          <p:cNvSpPr txBox="1"/>
          <p:nvPr/>
        </p:nvSpPr>
        <p:spPr>
          <a:xfrm>
            <a:off x="4344604" y="2927343"/>
            <a:ext cx="1016000" cy="369332"/>
          </a:xfrm>
          <a:prstGeom prst="rect">
            <a:avLst/>
          </a:prstGeom>
          <a:noFill/>
        </p:spPr>
        <p:txBody>
          <a:bodyPr wrap="square" rtlCol="0">
            <a:spAutoFit/>
          </a:bodyPr>
          <a:lstStyle/>
          <a:p>
            <a:r>
              <a:rPr lang="en-US" dirty="0"/>
              <a:t>Encoder</a:t>
            </a:r>
            <a:endParaRPr lang="ro-RO" dirty="0"/>
          </a:p>
        </p:txBody>
      </p:sp>
      <p:sp>
        <p:nvSpPr>
          <p:cNvPr id="20" name="TextBox 19">
            <a:extLst>
              <a:ext uri="{FF2B5EF4-FFF2-40B4-BE49-F238E27FC236}">
                <a16:creationId xmlns:a16="http://schemas.microsoft.com/office/drawing/2014/main" id="{9D395D06-7299-FC0B-B55A-83320FF2F65D}"/>
              </a:ext>
            </a:extLst>
          </p:cNvPr>
          <p:cNvSpPr txBox="1"/>
          <p:nvPr/>
        </p:nvSpPr>
        <p:spPr>
          <a:xfrm>
            <a:off x="5805865" y="2927343"/>
            <a:ext cx="1098603" cy="369332"/>
          </a:xfrm>
          <a:prstGeom prst="rect">
            <a:avLst/>
          </a:prstGeom>
          <a:noFill/>
        </p:spPr>
        <p:txBody>
          <a:bodyPr wrap="square" rtlCol="0">
            <a:spAutoFit/>
          </a:bodyPr>
          <a:lstStyle/>
          <a:p>
            <a:r>
              <a:rPr lang="en-US" dirty="0"/>
              <a:t>Decoder</a:t>
            </a:r>
            <a:endParaRPr lang="ro-RO" dirty="0"/>
          </a:p>
        </p:txBody>
      </p:sp>
      <p:sp>
        <p:nvSpPr>
          <p:cNvPr id="21" name="TextBox 20">
            <a:extLst>
              <a:ext uri="{FF2B5EF4-FFF2-40B4-BE49-F238E27FC236}">
                <a16:creationId xmlns:a16="http://schemas.microsoft.com/office/drawing/2014/main" id="{2B595AC5-ABCB-E1B6-5135-2365746D8060}"/>
              </a:ext>
            </a:extLst>
          </p:cNvPr>
          <p:cNvSpPr txBox="1"/>
          <p:nvPr/>
        </p:nvSpPr>
        <p:spPr>
          <a:xfrm>
            <a:off x="5450363" y="2927343"/>
            <a:ext cx="296333" cy="369332"/>
          </a:xfrm>
          <a:prstGeom prst="rect">
            <a:avLst/>
          </a:prstGeom>
          <a:noFill/>
        </p:spPr>
        <p:txBody>
          <a:bodyPr wrap="square" rtlCol="0">
            <a:spAutoFit/>
          </a:bodyPr>
          <a:lstStyle/>
          <a:p>
            <a:r>
              <a:rPr lang="en-US" dirty="0">
                <a:latin typeface="Viner Hand ITC" panose="03070502030502020203" pitchFamily="66" charset="0"/>
              </a:rPr>
              <a:t>z</a:t>
            </a:r>
            <a:endParaRPr lang="ro-RO" dirty="0">
              <a:latin typeface="Viner Hand ITC" panose="03070502030502020203" pitchFamily="66" charset="0"/>
            </a:endParaRPr>
          </a:p>
        </p:txBody>
      </p:sp>
      <p:sp>
        <p:nvSpPr>
          <p:cNvPr id="22" name="Rectangle 21">
            <a:extLst>
              <a:ext uri="{FF2B5EF4-FFF2-40B4-BE49-F238E27FC236}">
                <a16:creationId xmlns:a16="http://schemas.microsoft.com/office/drawing/2014/main" id="{B40480F3-1AEA-3F04-22C1-7BCFC3D8BCBA}"/>
              </a:ext>
            </a:extLst>
          </p:cNvPr>
          <p:cNvSpPr/>
          <p:nvPr/>
        </p:nvSpPr>
        <p:spPr>
          <a:xfrm>
            <a:off x="2757980" y="4682186"/>
            <a:ext cx="2396067" cy="4219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Latent representation</a:t>
            </a:r>
            <a:endParaRPr lang="ro-RO" dirty="0"/>
          </a:p>
        </p:txBody>
      </p:sp>
      <p:sp>
        <p:nvSpPr>
          <p:cNvPr id="23" name="Double Bracket 22">
            <a:extLst>
              <a:ext uri="{FF2B5EF4-FFF2-40B4-BE49-F238E27FC236}">
                <a16:creationId xmlns:a16="http://schemas.microsoft.com/office/drawing/2014/main" id="{8CDEF883-1650-71D2-E501-B3BCCF03B700}"/>
              </a:ext>
            </a:extLst>
          </p:cNvPr>
          <p:cNvSpPr/>
          <p:nvPr/>
        </p:nvSpPr>
        <p:spPr>
          <a:xfrm>
            <a:off x="5337381" y="4154484"/>
            <a:ext cx="575909" cy="1477328"/>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24" name="TextBox 23">
            <a:extLst>
              <a:ext uri="{FF2B5EF4-FFF2-40B4-BE49-F238E27FC236}">
                <a16:creationId xmlns:a16="http://schemas.microsoft.com/office/drawing/2014/main" id="{70A59D79-5055-AB3B-4DE8-5129B1550AD1}"/>
              </a:ext>
            </a:extLst>
          </p:cNvPr>
          <p:cNvSpPr txBox="1"/>
          <p:nvPr/>
        </p:nvSpPr>
        <p:spPr>
          <a:xfrm>
            <a:off x="5187485" y="4154484"/>
            <a:ext cx="822088" cy="1477328"/>
          </a:xfrm>
          <a:prstGeom prst="rect">
            <a:avLst/>
          </a:prstGeom>
          <a:noFill/>
        </p:spPr>
        <p:txBody>
          <a:bodyPr wrap="square" rtlCol="0">
            <a:spAutoFit/>
          </a:bodyPr>
          <a:lstStyle/>
          <a:p>
            <a:pPr algn="ctr"/>
            <a:r>
              <a:rPr lang="en-US" dirty="0"/>
              <a:t>0.23</a:t>
            </a:r>
          </a:p>
          <a:p>
            <a:pPr algn="ctr"/>
            <a:endParaRPr lang="en-US" dirty="0"/>
          </a:p>
          <a:p>
            <a:pPr algn="ctr"/>
            <a:r>
              <a:rPr lang="en-US" dirty="0"/>
              <a:t>…</a:t>
            </a:r>
          </a:p>
          <a:p>
            <a:pPr algn="ctr"/>
            <a:endParaRPr lang="en-US" dirty="0"/>
          </a:p>
          <a:p>
            <a:pPr algn="ctr"/>
            <a:r>
              <a:rPr lang="en-US" dirty="0"/>
              <a:t>0.63</a:t>
            </a:r>
            <a:endParaRPr lang="ro-RO" dirty="0"/>
          </a:p>
        </p:txBody>
      </p:sp>
      <p:cxnSp>
        <p:nvCxnSpPr>
          <p:cNvPr id="26" name="Straight Arrow Connector 25">
            <a:extLst>
              <a:ext uri="{FF2B5EF4-FFF2-40B4-BE49-F238E27FC236}">
                <a16:creationId xmlns:a16="http://schemas.microsoft.com/office/drawing/2014/main" id="{37DA55E1-28BC-5A92-63DB-88F5FB180E7F}"/>
              </a:ext>
            </a:extLst>
          </p:cNvPr>
          <p:cNvCxnSpPr>
            <a:stCxn id="9" idx="2"/>
            <a:endCxn id="24" idx="0"/>
          </p:cNvCxnSpPr>
          <p:nvPr/>
        </p:nvCxnSpPr>
        <p:spPr>
          <a:xfrm flipH="1">
            <a:off x="5598529" y="3512061"/>
            <a:ext cx="2" cy="642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A9806651-BB81-9497-1F06-6F172F6D7F86}"/>
              </a:ext>
            </a:extLst>
          </p:cNvPr>
          <p:cNvSpPr/>
          <p:nvPr/>
        </p:nvSpPr>
        <p:spPr>
          <a:xfrm>
            <a:off x="7132175" y="4682186"/>
            <a:ext cx="1537691" cy="4219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Latent space</a:t>
            </a:r>
            <a:endParaRPr lang="ro-RO" dirty="0"/>
          </a:p>
        </p:txBody>
      </p:sp>
      <p:cxnSp>
        <p:nvCxnSpPr>
          <p:cNvPr id="31" name="Straight Arrow Connector 30">
            <a:extLst>
              <a:ext uri="{FF2B5EF4-FFF2-40B4-BE49-F238E27FC236}">
                <a16:creationId xmlns:a16="http://schemas.microsoft.com/office/drawing/2014/main" id="{B7D31841-8769-FFF4-DA15-98126093F076}"/>
              </a:ext>
            </a:extLst>
          </p:cNvPr>
          <p:cNvCxnSpPr>
            <a:stCxn id="24" idx="3"/>
          </p:cNvCxnSpPr>
          <p:nvPr/>
        </p:nvCxnSpPr>
        <p:spPr>
          <a:xfrm>
            <a:off x="6009573" y="4893148"/>
            <a:ext cx="1009293" cy="90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5" name="Straight Arrow Connector 1024">
            <a:extLst>
              <a:ext uri="{FF2B5EF4-FFF2-40B4-BE49-F238E27FC236}">
                <a16:creationId xmlns:a16="http://schemas.microsoft.com/office/drawing/2014/main" id="{9156254F-3BC2-75E6-EBB2-9E39056B89BF}"/>
              </a:ext>
            </a:extLst>
          </p:cNvPr>
          <p:cNvCxnSpPr/>
          <p:nvPr/>
        </p:nvCxnSpPr>
        <p:spPr>
          <a:xfrm flipV="1">
            <a:off x="8881533" y="3989278"/>
            <a:ext cx="0" cy="164253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026" name="Straight Arrow Connector 1025">
            <a:extLst>
              <a:ext uri="{FF2B5EF4-FFF2-40B4-BE49-F238E27FC236}">
                <a16:creationId xmlns:a16="http://schemas.microsoft.com/office/drawing/2014/main" id="{8BC30900-107D-9E1F-D966-562240634D72}"/>
              </a:ext>
            </a:extLst>
          </p:cNvPr>
          <p:cNvCxnSpPr>
            <a:cxnSpLocks/>
          </p:cNvCxnSpPr>
          <p:nvPr/>
        </p:nvCxnSpPr>
        <p:spPr>
          <a:xfrm>
            <a:off x="8881533" y="5631812"/>
            <a:ext cx="152618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028" name="TextBox 1027">
            <a:extLst>
              <a:ext uri="{FF2B5EF4-FFF2-40B4-BE49-F238E27FC236}">
                <a16:creationId xmlns:a16="http://schemas.microsoft.com/office/drawing/2014/main" id="{AD345D75-8335-3C60-B112-8ADF56853531}"/>
              </a:ext>
            </a:extLst>
          </p:cNvPr>
          <p:cNvSpPr txBox="1"/>
          <p:nvPr/>
        </p:nvSpPr>
        <p:spPr>
          <a:xfrm>
            <a:off x="9458067" y="4214852"/>
            <a:ext cx="296333" cy="369332"/>
          </a:xfrm>
          <a:prstGeom prst="rect">
            <a:avLst/>
          </a:prstGeom>
          <a:noFill/>
        </p:spPr>
        <p:txBody>
          <a:bodyPr wrap="square" rtlCol="0">
            <a:spAutoFit/>
          </a:bodyPr>
          <a:lstStyle/>
          <a:p>
            <a:r>
              <a:rPr lang="en-US" dirty="0">
                <a:latin typeface="Viner Hand ITC" panose="03070502030502020203" pitchFamily="66" charset="0"/>
              </a:rPr>
              <a:t>z</a:t>
            </a:r>
            <a:endParaRPr lang="ro-RO" dirty="0">
              <a:latin typeface="Viner Hand ITC" panose="03070502030502020203" pitchFamily="66" charset="0"/>
            </a:endParaRPr>
          </a:p>
        </p:txBody>
      </p:sp>
      <p:sp>
        <p:nvSpPr>
          <p:cNvPr id="1030" name="Shape 18">
            <a:extLst>
              <a:ext uri="{FF2B5EF4-FFF2-40B4-BE49-F238E27FC236}">
                <a16:creationId xmlns:a16="http://schemas.microsoft.com/office/drawing/2014/main" id="{7D1517F1-F219-14A9-DDED-40E824C6AE41}"/>
              </a:ext>
            </a:extLst>
          </p:cNvPr>
          <p:cNvSpPr/>
          <p:nvPr/>
        </p:nvSpPr>
        <p:spPr>
          <a:xfrm>
            <a:off x="9373881" y="4499421"/>
            <a:ext cx="84186" cy="84763"/>
          </a:xfrm>
          <a:prstGeom prst="ellipse">
            <a:avLst/>
          </a:prstGeom>
          <a:solidFill>
            <a:srgbClr val="00B0F0"/>
          </a:solidFill>
          <a:ln/>
        </p:spPr>
        <p:txBody>
          <a:bodyPr/>
          <a:lstStyle/>
          <a:p>
            <a:endParaRPr lang="ro-RO" dirty="0"/>
          </a:p>
        </p:txBody>
      </p:sp>
      <p:sp>
        <p:nvSpPr>
          <p:cNvPr id="1031" name="Shape 0">
            <a:extLst>
              <a:ext uri="{FF2B5EF4-FFF2-40B4-BE49-F238E27FC236}">
                <a16:creationId xmlns:a16="http://schemas.microsoft.com/office/drawing/2014/main" id="{1C63954A-DD80-E091-AF12-640C4344770D}"/>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2460461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1DBB8-4FC0-85FF-DD97-FA384A2993DD}"/>
            </a:ext>
          </a:extLst>
        </p:cNvPr>
        <p:cNvGrpSpPr/>
        <p:nvPr/>
      </p:nvGrpSpPr>
      <p:grpSpPr>
        <a:xfrm>
          <a:off x="0" y="0"/>
          <a:ext cx="0" cy="0"/>
          <a:chOff x="0" y="0"/>
          <a:chExt cx="0" cy="0"/>
        </a:xfrm>
      </p:grpSpPr>
      <p:sp>
        <p:nvSpPr>
          <p:cNvPr id="7" name="Shape 7">
            <a:extLst>
              <a:ext uri="{FF2B5EF4-FFF2-40B4-BE49-F238E27FC236}">
                <a16:creationId xmlns:a16="http://schemas.microsoft.com/office/drawing/2014/main" id="{BB0EA756-498A-9D53-8D01-F98DBDF86EFF}"/>
              </a:ext>
            </a:extLst>
          </p:cNvPr>
          <p:cNvSpPr/>
          <p:nvPr/>
        </p:nvSpPr>
        <p:spPr>
          <a:xfrm>
            <a:off x="548640" y="1582976"/>
            <a:ext cx="228600" cy="228600"/>
          </a:xfrm>
          <a:prstGeom prst="ellipse">
            <a:avLst/>
          </a:prstGeom>
          <a:solidFill>
            <a:srgbClr val="4CAF82"/>
          </a:solidFill>
          <a:ln/>
        </p:spPr>
      </p:sp>
      <p:sp>
        <p:nvSpPr>
          <p:cNvPr id="8" name="Text 8">
            <a:extLst>
              <a:ext uri="{FF2B5EF4-FFF2-40B4-BE49-F238E27FC236}">
                <a16:creationId xmlns:a16="http://schemas.microsoft.com/office/drawing/2014/main" id="{814784C9-3311-3B51-218F-ED585CA9092E}"/>
              </a:ext>
            </a:extLst>
          </p:cNvPr>
          <p:cNvSpPr/>
          <p:nvPr/>
        </p:nvSpPr>
        <p:spPr>
          <a:xfrm>
            <a:off x="868679" y="1589072"/>
            <a:ext cx="9539042" cy="222504"/>
          </a:xfrm>
          <a:prstGeom prst="rect">
            <a:avLst/>
          </a:prstGeom>
          <a:noFill/>
          <a:ln/>
        </p:spPr>
        <p:txBody>
          <a:bodyPr wrap="square" rtlCol="0" anchor="ctr"/>
          <a:lstStyle/>
          <a:p>
            <a:r>
              <a:rPr lang="en-US" dirty="0"/>
              <a:t>Poor generative ability — designed for reconstruction, not sampling novel realistic images.</a:t>
            </a:r>
          </a:p>
        </p:txBody>
      </p:sp>
      <p:sp>
        <p:nvSpPr>
          <p:cNvPr id="15" name="Text 1">
            <a:extLst>
              <a:ext uri="{FF2B5EF4-FFF2-40B4-BE49-F238E27FC236}">
                <a16:creationId xmlns:a16="http://schemas.microsoft.com/office/drawing/2014/main" id="{34756A9D-A416-70DC-A75A-A936A498D725}"/>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  What Autoencoders Do Bad</a:t>
            </a:r>
          </a:p>
        </p:txBody>
      </p:sp>
      <p:pic>
        <p:nvPicPr>
          <p:cNvPr id="1029" name="Picture 1028">
            <a:extLst>
              <a:ext uri="{FF2B5EF4-FFF2-40B4-BE49-F238E27FC236}">
                <a16:creationId xmlns:a16="http://schemas.microsoft.com/office/drawing/2014/main" id="{17D41E65-2486-B809-B769-9244B8554834}"/>
              </a:ext>
            </a:extLst>
          </p:cNvPr>
          <p:cNvPicPr>
            <a:picLocks noChangeAspect="1"/>
          </p:cNvPicPr>
          <p:nvPr/>
        </p:nvPicPr>
        <p:blipFill>
          <a:blip r:embed="rId3"/>
          <a:stretch>
            <a:fillRect/>
          </a:stretch>
        </p:blipFill>
        <p:spPr>
          <a:xfrm>
            <a:off x="7493844" y="2071012"/>
            <a:ext cx="2939328" cy="369645"/>
          </a:xfrm>
          <a:prstGeom prst="rect">
            <a:avLst/>
          </a:prstGeom>
        </p:spPr>
      </p:pic>
      <p:sp>
        <p:nvSpPr>
          <p:cNvPr id="2" name="Shape 18">
            <a:extLst>
              <a:ext uri="{FF2B5EF4-FFF2-40B4-BE49-F238E27FC236}">
                <a16:creationId xmlns:a16="http://schemas.microsoft.com/office/drawing/2014/main" id="{F9E4E914-EFA2-BF85-1CB1-E257FB7291A2}"/>
              </a:ext>
            </a:extLst>
          </p:cNvPr>
          <p:cNvSpPr/>
          <p:nvPr/>
        </p:nvSpPr>
        <p:spPr>
          <a:xfrm>
            <a:off x="548640" y="1582976"/>
            <a:ext cx="228600" cy="228600"/>
          </a:xfrm>
          <a:prstGeom prst="ellipse">
            <a:avLst/>
          </a:prstGeom>
          <a:solidFill>
            <a:srgbClr val="E8748A"/>
          </a:solidFill>
          <a:ln/>
        </p:spPr>
      </p:sp>
      <p:sp>
        <p:nvSpPr>
          <p:cNvPr id="4" name="Trapezoid 3">
            <a:extLst>
              <a:ext uri="{FF2B5EF4-FFF2-40B4-BE49-F238E27FC236}">
                <a16:creationId xmlns:a16="http://schemas.microsoft.com/office/drawing/2014/main" id="{3AFB0F3E-8E67-21A0-6397-639926195324}"/>
              </a:ext>
            </a:extLst>
          </p:cNvPr>
          <p:cNvSpPr/>
          <p:nvPr/>
        </p:nvSpPr>
        <p:spPr>
          <a:xfrm rot="16200000">
            <a:off x="4775259" y="3951707"/>
            <a:ext cx="1227142" cy="880086"/>
          </a:xfrm>
          <a:prstGeom prst="trapezoid">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8" name="Straight Arrow Connector 17">
            <a:extLst>
              <a:ext uri="{FF2B5EF4-FFF2-40B4-BE49-F238E27FC236}">
                <a16:creationId xmlns:a16="http://schemas.microsoft.com/office/drawing/2014/main" id="{95818031-6CD6-D153-5353-89FF92E25A82}"/>
              </a:ext>
            </a:extLst>
          </p:cNvPr>
          <p:cNvCxnSpPr>
            <a:cxnSpLocks/>
            <a:stCxn id="4" idx="2"/>
          </p:cNvCxnSpPr>
          <p:nvPr/>
        </p:nvCxnSpPr>
        <p:spPr>
          <a:xfrm flipV="1">
            <a:off x="5828873" y="4391749"/>
            <a:ext cx="46173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9A1912A-3377-5DA7-4480-315F4379EA61}"/>
              </a:ext>
            </a:extLst>
          </p:cNvPr>
          <p:cNvSpPr txBox="1"/>
          <p:nvPr/>
        </p:nvSpPr>
        <p:spPr>
          <a:xfrm>
            <a:off x="4858295" y="4207082"/>
            <a:ext cx="1098603" cy="369332"/>
          </a:xfrm>
          <a:prstGeom prst="rect">
            <a:avLst/>
          </a:prstGeom>
          <a:noFill/>
        </p:spPr>
        <p:txBody>
          <a:bodyPr wrap="square" rtlCol="0">
            <a:spAutoFit/>
          </a:bodyPr>
          <a:lstStyle/>
          <a:p>
            <a:r>
              <a:rPr lang="en-US" dirty="0"/>
              <a:t>Decoder</a:t>
            </a:r>
            <a:endParaRPr lang="ro-RO" dirty="0"/>
          </a:p>
        </p:txBody>
      </p:sp>
      <p:sp>
        <p:nvSpPr>
          <p:cNvPr id="27" name="Rectangle 26">
            <a:extLst>
              <a:ext uri="{FF2B5EF4-FFF2-40B4-BE49-F238E27FC236}">
                <a16:creationId xmlns:a16="http://schemas.microsoft.com/office/drawing/2014/main" id="{AC884EDE-4E25-ECAC-5272-3474A7E16B33}"/>
              </a:ext>
            </a:extLst>
          </p:cNvPr>
          <p:cNvSpPr/>
          <p:nvPr/>
        </p:nvSpPr>
        <p:spPr>
          <a:xfrm>
            <a:off x="1357782" y="4130005"/>
            <a:ext cx="1537691" cy="4219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Latent space</a:t>
            </a:r>
            <a:endParaRPr lang="ro-RO" dirty="0"/>
          </a:p>
        </p:txBody>
      </p:sp>
      <p:cxnSp>
        <p:nvCxnSpPr>
          <p:cNvPr id="1025" name="Straight Arrow Connector 1024">
            <a:extLst>
              <a:ext uri="{FF2B5EF4-FFF2-40B4-BE49-F238E27FC236}">
                <a16:creationId xmlns:a16="http://schemas.microsoft.com/office/drawing/2014/main" id="{8773A435-03C2-B7AE-94BA-5686A57CBD9A}"/>
              </a:ext>
            </a:extLst>
          </p:cNvPr>
          <p:cNvCxnSpPr/>
          <p:nvPr/>
        </p:nvCxnSpPr>
        <p:spPr>
          <a:xfrm flipV="1">
            <a:off x="3107140" y="3437097"/>
            <a:ext cx="0" cy="164253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026" name="Straight Arrow Connector 1025">
            <a:extLst>
              <a:ext uri="{FF2B5EF4-FFF2-40B4-BE49-F238E27FC236}">
                <a16:creationId xmlns:a16="http://schemas.microsoft.com/office/drawing/2014/main" id="{B6E86025-5B48-12F4-EA1E-DB06E11D0B9C}"/>
              </a:ext>
            </a:extLst>
          </p:cNvPr>
          <p:cNvCxnSpPr>
            <a:cxnSpLocks/>
          </p:cNvCxnSpPr>
          <p:nvPr/>
        </p:nvCxnSpPr>
        <p:spPr>
          <a:xfrm>
            <a:off x="3107140" y="5079631"/>
            <a:ext cx="152618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028" name="TextBox 1027">
            <a:extLst>
              <a:ext uri="{FF2B5EF4-FFF2-40B4-BE49-F238E27FC236}">
                <a16:creationId xmlns:a16="http://schemas.microsoft.com/office/drawing/2014/main" id="{52DB991E-C5DD-D2DF-A902-20A33DAEF66F}"/>
              </a:ext>
            </a:extLst>
          </p:cNvPr>
          <p:cNvSpPr txBox="1"/>
          <p:nvPr/>
        </p:nvSpPr>
        <p:spPr>
          <a:xfrm>
            <a:off x="3683674" y="3662671"/>
            <a:ext cx="392805"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1</a:t>
            </a:r>
            <a:endParaRPr lang="ro-RO" baseline="-25000" dirty="0">
              <a:latin typeface="Viner Hand ITC" panose="03070502030502020203" pitchFamily="66" charset="0"/>
            </a:endParaRPr>
          </a:p>
        </p:txBody>
      </p:sp>
      <p:sp>
        <p:nvSpPr>
          <p:cNvPr id="1030" name="Shape 18">
            <a:extLst>
              <a:ext uri="{FF2B5EF4-FFF2-40B4-BE49-F238E27FC236}">
                <a16:creationId xmlns:a16="http://schemas.microsoft.com/office/drawing/2014/main" id="{2B7056F9-7CE5-844E-5A86-D8B6469EE466}"/>
              </a:ext>
            </a:extLst>
          </p:cNvPr>
          <p:cNvSpPr/>
          <p:nvPr/>
        </p:nvSpPr>
        <p:spPr>
          <a:xfrm>
            <a:off x="3599488" y="3947240"/>
            <a:ext cx="84186" cy="84763"/>
          </a:xfrm>
          <a:prstGeom prst="ellipse">
            <a:avLst/>
          </a:prstGeom>
          <a:solidFill>
            <a:srgbClr val="00B0F0"/>
          </a:solidFill>
          <a:ln/>
        </p:spPr>
        <p:txBody>
          <a:bodyPr/>
          <a:lstStyle/>
          <a:p>
            <a:endParaRPr lang="ro-RO" dirty="0"/>
          </a:p>
        </p:txBody>
      </p:sp>
      <p:pic>
        <p:nvPicPr>
          <p:cNvPr id="12" name="Picture 11">
            <a:extLst>
              <a:ext uri="{FF2B5EF4-FFF2-40B4-BE49-F238E27FC236}">
                <a16:creationId xmlns:a16="http://schemas.microsoft.com/office/drawing/2014/main" id="{88EFAA25-AC1B-F836-EAA4-B981034B59F5}"/>
              </a:ext>
            </a:extLst>
          </p:cNvPr>
          <p:cNvPicPr>
            <a:picLocks noChangeAspect="1"/>
          </p:cNvPicPr>
          <p:nvPr/>
        </p:nvPicPr>
        <p:blipFill>
          <a:blip r:embed="rId4"/>
          <a:stretch>
            <a:fillRect/>
          </a:stretch>
        </p:blipFill>
        <p:spPr>
          <a:xfrm>
            <a:off x="6671375" y="2071012"/>
            <a:ext cx="1098599" cy="1128905"/>
          </a:xfrm>
          <a:prstGeom prst="rect">
            <a:avLst/>
          </a:prstGeom>
        </p:spPr>
      </p:pic>
      <p:pic>
        <p:nvPicPr>
          <p:cNvPr id="17" name="Picture 16">
            <a:extLst>
              <a:ext uri="{FF2B5EF4-FFF2-40B4-BE49-F238E27FC236}">
                <a16:creationId xmlns:a16="http://schemas.microsoft.com/office/drawing/2014/main" id="{DEAFFAC5-60AB-EFD4-01E5-1B12E73A1A51}"/>
              </a:ext>
            </a:extLst>
          </p:cNvPr>
          <p:cNvPicPr>
            <a:picLocks noChangeAspect="1"/>
          </p:cNvPicPr>
          <p:nvPr/>
        </p:nvPicPr>
        <p:blipFill>
          <a:blip r:embed="rId5"/>
          <a:stretch>
            <a:fillRect/>
          </a:stretch>
        </p:blipFill>
        <p:spPr>
          <a:xfrm>
            <a:off x="6671375" y="3269853"/>
            <a:ext cx="1098598" cy="1091074"/>
          </a:xfrm>
          <a:prstGeom prst="rect">
            <a:avLst/>
          </a:prstGeom>
        </p:spPr>
      </p:pic>
      <p:pic>
        <p:nvPicPr>
          <p:cNvPr id="28" name="Picture 27">
            <a:extLst>
              <a:ext uri="{FF2B5EF4-FFF2-40B4-BE49-F238E27FC236}">
                <a16:creationId xmlns:a16="http://schemas.microsoft.com/office/drawing/2014/main" id="{545F7DA6-E0CB-6232-00AB-6182405FC6F2}"/>
              </a:ext>
            </a:extLst>
          </p:cNvPr>
          <p:cNvPicPr>
            <a:picLocks noChangeAspect="1"/>
          </p:cNvPicPr>
          <p:nvPr/>
        </p:nvPicPr>
        <p:blipFill>
          <a:blip r:embed="rId6"/>
          <a:stretch>
            <a:fillRect/>
          </a:stretch>
        </p:blipFill>
        <p:spPr>
          <a:xfrm>
            <a:off x="6678627" y="4430863"/>
            <a:ext cx="1098598" cy="1098598"/>
          </a:xfrm>
          <a:prstGeom prst="rect">
            <a:avLst/>
          </a:prstGeom>
        </p:spPr>
      </p:pic>
      <p:pic>
        <p:nvPicPr>
          <p:cNvPr id="30" name="Picture 29">
            <a:extLst>
              <a:ext uri="{FF2B5EF4-FFF2-40B4-BE49-F238E27FC236}">
                <a16:creationId xmlns:a16="http://schemas.microsoft.com/office/drawing/2014/main" id="{577D27FC-9903-7005-20CD-B4816A2C13A5}"/>
              </a:ext>
            </a:extLst>
          </p:cNvPr>
          <p:cNvPicPr>
            <a:picLocks noChangeAspect="1"/>
          </p:cNvPicPr>
          <p:nvPr/>
        </p:nvPicPr>
        <p:blipFill>
          <a:blip r:embed="rId7"/>
          <a:stretch>
            <a:fillRect/>
          </a:stretch>
        </p:blipFill>
        <p:spPr>
          <a:xfrm>
            <a:off x="6678627" y="5599397"/>
            <a:ext cx="1119917" cy="1112299"/>
          </a:xfrm>
          <a:prstGeom prst="rect">
            <a:avLst/>
          </a:prstGeom>
        </p:spPr>
      </p:pic>
      <p:sp>
        <p:nvSpPr>
          <p:cNvPr id="1024" name="Left Brace 1023">
            <a:extLst>
              <a:ext uri="{FF2B5EF4-FFF2-40B4-BE49-F238E27FC236}">
                <a16:creationId xmlns:a16="http://schemas.microsoft.com/office/drawing/2014/main" id="{86E038EE-692C-A44F-68AB-800011FF0DBC}"/>
              </a:ext>
            </a:extLst>
          </p:cNvPr>
          <p:cNvSpPr/>
          <p:nvPr/>
        </p:nvSpPr>
        <p:spPr>
          <a:xfrm>
            <a:off x="6338871" y="2071012"/>
            <a:ext cx="204476" cy="464068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027" name="TextBox 1026">
            <a:extLst>
              <a:ext uri="{FF2B5EF4-FFF2-40B4-BE49-F238E27FC236}">
                <a16:creationId xmlns:a16="http://schemas.microsoft.com/office/drawing/2014/main" id="{35D3E8C1-6AA5-0A9D-A32F-4473A2396BE4}"/>
              </a:ext>
            </a:extLst>
          </p:cNvPr>
          <p:cNvSpPr txBox="1"/>
          <p:nvPr/>
        </p:nvSpPr>
        <p:spPr>
          <a:xfrm>
            <a:off x="4209613" y="3927821"/>
            <a:ext cx="589586"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2</a:t>
            </a:r>
            <a:endParaRPr lang="ro-RO" baseline="-25000" dirty="0">
              <a:latin typeface="Viner Hand ITC" panose="03070502030502020203" pitchFamily="66" charset="0"/>
            </a:endParaRPr>
          </a:p>
        </p:txBody>
      </p:sp>
      <p:sp>
        <p:nvSpPr>
          <p:cNvPr id="1031" name="Shape 18">
            <a:extLst>
              <a:ext uri="{FF2B5EF4-FFF2-40B4-BE49-F238E27FC236}">
                <a16:creationId xmlns:a16="http://schemas.microsoft.com/office/drawing/2014/main" id="{4B97CE97-B32C-1D07-B9C9-D53AEE42841A}"/>
              </a:ext>
            </a:extLst>
          </p:cNvPr>
          <p:cNvSpPr/>
          <p:nvPr/>
        </p:nvSpPr>
        <p:spPr>
          <a:xfrm>
            <a:off x="4125427" y="4212390"/>
            <a:ext cx="84186" cy="84763"/>
          </a:xfrm>
          <a:prstGeom prst="ellipse">
            <a:avLst/>
          </a:prstGeom>
          <a:solidFill>
            <a:srgbClr val="00B0F0"/>
          </a:solidFill>
          <a:ln/>
        </p:spPr>
        <p:txBody>
          <a:bodyPr/>
          <a:lstStyle/>
          <a:p>
            <a:endParaRPr lang="ro-RO" dirty="0"/>
          </a:p>
        </p:txBody>
      </p:sp>
      <p:sp>
        <p:nvSpPr>
          <p:cNvPr id="1032" name="TextBox 1031">
            <a:extLst>
              <a:ext uri="{FF2B5EF4-FFF2-40B4-BE49-F238E27FC236}">
                <a16:creationId xmlns:a16="http://schemas.microsoft.com/office/drawing/2014/main" id="{D7A2AA58-7F8B-BF5E-1038-A035832BE7CF}"/>
              </a:ext>
            </a:extLst>
          </p:cNvPr>
          <p:cNvSpPr txBox="1"/>
          <p:nvPr/>
        </p:nvSpPr>
        <p:spPr>
          <a:xfrm>
            <a:off x="4141061" y="4445149"/>
            <a:ext cx="392805"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3</a:t>
            </a:r>
            <a:endParaRPr lang="ro-RO" baseline="-25000" dirty="0">
              <a:latin typeface="Viner Hand ITC" panose="03070502030502020203" pitchFamily="66" charset="0"/>
            </a:endParaRPr>
          </a:p>
        </p:txBody>
      </p:sp>
      <p:sp>
        <p:nvSpPr>
          <p:cNvPr id="1033" name="Shape 18">
            <a:extLst>
              <a:ext uri="{FF2B5EF4-FFF2-40B4-BE49-F238E27FC236}">
                <a16:creationId xmlns:a16="http://schemas.microsoft.com/office/drawing/2014/main" id="{F8C06743-C8D1-E604-CF39-F711C859AE75}"/>
              </a:ext>
            </a:extLst>
          </p:cNvPr>
          <p:cNvSpPr/>
          <p:nvPr/>
        </p:nvSpPr>
        <p:spPr>
          <a:xfrm>
            <a:off x="4056875" y="4729718"/>
            <a:ext cx="84186" cy="84763"/>
          </a:xfrm>
          <a:prstGeom prst="ellipse">
            <a:avLst/>
          </a:prstGeom>
          <a:solidFill>
            <a:srgbClr val="00B0F0"/>
          </a:solidFill>
          <a:ln/>
        </p:spPr>
        <p:txBody>
          <a:bodyPr/>
          <a:lstStyle/>
          <a:p>
            <a:endParaRPr lang="ro-RO" dirty="0"/>
          </a:p>
        </p:txBody>
      </p:sp>
      <p:sp>
        <p:nvSpPr>
          <p:cNvPr id="1034" name="TextBox 1033">
            <a:extLst>
              <a:ext uri="{FF2B5EF4-FFF2-40B4-BE49-F238E27FC236}">
                <a16:creationId xmlns:a16="http://schemas.microsoft.com/office/drawing/2014/main" id="{73B5B61B-1648-39F5-AE09-A9562CB3FFD5}"/>
              </a:ext>
            </a:extLst>
          </p:cNvPr>
          <p:cNvSpPr txBox="1"/>
          <p:nvPr/>
        </p:nvSpPr>
        <p:spPr>
          <a:xfrm>
            <a:off x="3565609" y="4206387"/>
            <a:ext cx="491266"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4</a:t>
            </a:r>
            <a:endParaRPr lang="ro-RO" baseline="-25000" dirty="0">
              <a:latin typeface="Viner Hand ITC" panose="03070502030502020203" pitchFamily="66" charset="0"/>
            </a:endParaRPr>
          </a:p>
        </p:txBody>
      </p:sp>
      <p:sp>
        <p:nvSpPr>
          <p:cNvPr id="1035" name="Shape 18">
            <a:extLst>
              <a:ext uri="{FF2B5EF4-FFF2-40B4-BE49-F238E27FC236}">
                <a16:creationId xmlns:a16="http://schemas.microsoft.com/office/drawing/2014/main" id="{7D9ABC97-3594-6F31-6D23-6174F27DCF50}"/>
              </a:ext>
            </a:extLst>
          </p:cNvPr>
          <p:cNvSpPr/>
          <p:nvPr/>
        </p:nvSpPr>
        <p:spPr>
          <a:xfrm>
            <a:off x="3481423" y="4490956"/>
            <a:ext cx="84186" cy="84763"/>
          </a:xfrm>
          <a:prstGeom prst="ellipse">
            <a:avLst/>
          </a:prstGeom>
          <a:solidFill>
            <a:srgbClr val="00B0F0"/>
          </a:solidFill>
          <a:ln/>
        </p:spPr>
        <p:txBody>
          <a:bodyPr/>
          <a:lstStyle/>
          <a:p>
            <a:endParaRPr lang="ro-RO" dirty="0"/>
          </a:p>
        </p:txBody>
      </p:sp>
      <p:sp>
        <p:nvSpPr>
          <p:cNvPr id="1037" name="TextBox 1036">
            <a:extLst>
              <a:ext uri="{FF2B5EF4-FFF2-40B4-BE49-F238E27FC236}">
                <a16:creationId xmlns:a16="http://schemas.microsoft.com/office/drawing/2014/main" id="{C2320E91-C2A6-C5C5-0E50-2DC9BCCABE69}"/>
              </a:ext>
            </a:extLst>
          </p:cNvPr>
          <p:cNvSpPr txBox="1"/>
          <p:nvPr/>
        </p:nvSpPr>
        <p:spPr>
          <a:xfrm>
            <a:off x="8091265" y="3236891"/>
            <a:ext cx="3774078" cy="1938992"/>
          </a:xfrm>
          <a:prstGeom prst="rect">
            <a:avLst/>
          </a:prstGeom>
          <a:noFill/>
        </p:spPr>
        <p:txBody>
          <a:bodyPr wrap="square" rtlCol="0">
            <a:spAutoFit/>
          </a:bodyPr>
          <a:lstStyle/>
          <a:p>
            <a:pPr algn="ctr"/>
            <a:r>
              <a:rPr lang="en-US" sz="2000" dirty="0">
                <a:solidFill>
                  <a:srgbClr val="FF0000"/>
                </a:solidFill>
              </a:rPr>
              <a:t>If we randomly sample points from the latent space and run them through the decoder, they will not produce useful results because the latent space is disorganized and irregular !</a:t>
            </a:r>
            <a:endParaRPr lang="ro-RO" sz="2000" dirty="0">
              <a:solidFill>
                <a:srgbClr val="FF0000"/>
              </a:solidFill>
            </a:endParaRPr>
          </a:p>
        </p:txBody>
      </p:sp>
      <p:sp>
        <p:nvSpPr>
          <p:cNvPr id="1039" name="Shape 0">
            <a:extLst>
              <a:ext uri="{FF2B5EF4-FFF2-40B4-BE49-F238E27FC236}">
                <a16:creationId xmlns:a16="http://schemas.microsoft.com/office/drawing/2014/main" id="{7128EB2C-27B4-1C6A-4D71-64D125E2FEA9}"/>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387683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8B24D-41D4-6286-61CC-3CE415284FC5}"/>
            </a:ext>
          </a:extLst>
        </p:cNvPr>
        <p:cNvGrpSpPr/>
        <p:nvPr/>
      </p:nvGrpSpPr>
      <p:grpSpPr>
        <a:xfrm>
          <a:off x="0" y="0"/>
          <a:ext cx="0" cy="0"/>
          <a:chOff x="0" y="0"/>
          <a:chExt cx="0" cy="0"/>
        </a:xfrm>
      </p:grpSpPr>
      <p:sp>
        <p:nvSpPr>
          <p:cNvPr id="7" name="Shape 7">
            <a:extLst>
              <a:ext uri="{FF2B5EF4-FFF2-40B4-BE49-F238E27FC236}">
                <a16:creationId xmlns:a16="http://schemas.microsoft.com/office/drawing/2014/main" id="{2AF045D2-242D-5974-C24C-8DEB41EF1AE2}"/>
              </a:ext>
            </a:extLst>
          </p:cNvPr>
          <p:cNvSpPr/>
          <p:nvPr/>
        </p:nvSpPr>
        <p:spPr>
          <a:xfrm>
            <a:off x="548640" y="1582976"/>
            <a:ext cx="228600" cy="228600"/>
          </a:xfrm>
          <a:prstGeom prst="ellipse">
            <a:avLst/>
          </a:prstGeom>
          <a:solidFill>
            <a:srgbClr val="4CAF82"/>
          </a:solidFill>
          <a:ln/>
        </p:spPr>
      </p:sp>
      <p:sp>
        <p:nvSpPr>
          <p:cNvPr id="8" name="Text 8">
            <a:extLst>
              <a:ext uri="{FF2B5EF4-FFF2-40B4-BE49-F238E27FC236}">
                <a16:creationId xmlns:a16="http://schemas.microsoft.com/office/drawing/2014/main" id="{F894E184-29C3-5FDB-C608-240A32FA5F74}"/>
              </a:ext>
            </a:extLst>
          </p:cNvPr>
          <p:cNvSpPr/>
          <p:nvPr/>
        </p:nvSpPr>
        <p:spPr>
          <a:xfrm>
            <a:off x="868679" y="1589072"/>
            <a:ext cx="9539042" cy="222504"/>
          </a:xfrm>
          <a:prstGeom prst="rect">
            <a:avLst/>
          </a:prstGeom>
          <a:noFill/>
          <a:ln/>
        </p:spPr>
        <p:txBody>
          <a:bodyPr wrap="square" rtlCol="0" anchor="ctr"/>
          <a:lstStyle/>
          <a:p>
            <a:r>
              <a:rPr lang="en-US" dirty="0"/>
              <a:t>Poor generative ability — designed for reconstruction, not sampling novel realistic images.</a:t>
            </a:r>
          </a:p>
        </p:txBody>
      </p:sp>
      <p:sp>
        <p:nvSpPr>
          <p:cNvPr id="15" name="Text 1">
            <a:extLst>
              <a:ext uri="{FF2B5EF4-FFF2-40B4-BE49-F238E27FC236}">
                <a16:creationId xmlns:a16="http://schemas.microsoft.com/office/drawing/2014/main" id="{618AC1D9-CBF1-971B-2FDF-B466A099AADB}"/>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  What Autoencoders Do Bad</a:t>
            </a:r>
          </a:p>
        </p:txBody>
      </p:sp>
      <p:sp>
        <p:nvSpPr>
          <p:cNvPr id="2" name="Shape 18">
            <a:extLst>
              <a:ext uri="{FF2B5EF4-FFF2-40B4-BE49-F238E27FC236}">
                <a16:creationId xmlns:a16="http://schemas.microsoft.com/office/drawing/2014/main" id="{660B62AF-9D77-337E-54E2-37935C9797C0}"/>
              </a:ext>
            </a:extLst>
          </p:cNvPr>
          <p:cNvSpPr/>
          <p:nvPr/>
        </p:nvSpPr>
        <p:spPr>
          <a:xfrm>
            <a:off x="548640" y="1582976"/>
            <a:ext cx="228600" cy="228600"/>
          </a:xfrm>
          <a:prstGeom prst="ellipse">
            <a:avLst/>
          </a:prstGeom>
          <a:solidFill>
            <a:srgbClr val="E8748A"/>
          </a:solidFill>
          <a:ln/>
        </p:spPr>
      </p:sp>
      <p:pic>
        <p:nvPicPr>
          <p:cNvPr id="3" name="Picture 2">
            <a:extLst>
              <a:ext uri="{FF2B5EF4-FFF2-40B4-BE49-F238E27FC236}">
                <a16:creationId xmlns:a16="http://schemas.microsoft.com/office/drawing/2014/main" id="{1AF3833A-0DBE-8D5E-065E-04D4352247B9}"/>
              </a:ext>
            </a:extLst>
          </p:cNvPr>
          <p:cNvPicPr>
            <a:picLocks noChangeAspect="1"/>
          </p:cNvPicPr>
          <p:nvPr/>
        </p:nvPicPr>
        <p:blipFill>
          <a:blip r:embed="rId3"/>
          <a:stretch>
            <a:fillRect/>
          </a:stretch>
        </p:blipFill>
        <p:spPr>
          <a:xfrm>
            <a:off x="6591436" y="2472083"/>
            <a:ext cx="2939328" cy="369645"/>
          </a:xfrm>
          <a:prstGeom prst="rect">
            <a:avLst/>
          </a:prstGeom>
        </p:spPr>
      </p:pic>
      <p:sp>
        <p:nvSpPr>
          <p:cNvPr id="5" name="Trapezoid 4">
            <a:extLst>
              <a:ext uri="{FF2B5EF4-FFF2-40B4-BE49-F238E27FC236}">
                <a16:creationId xmlns:a16="http://schemas.microsoft.com/office/drawing/2014/main" id="{6A3EBAB6-FE21-E336-FECB-261BDB8AB3AD}"/>
              </a:ext>
            </a:extLst>
          </p:cNvPr>
          <p:cNvSpPr/>
          <p:nvPr/>
        </p:nvSpPr>
        <p:spPr>
          <a:xfrm rot="5400000">
            <a:off x="1731857" y="3786988"/>
            <a:ext cx="1227142" cy="880086"/>
          </a:xfrm>
          <a:prstGeom prst="trapezoid">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6" name="Trapezoid 5">
            <a:extLst>
              <a:ext uri="{FF2B5EF4-FFF2-40B4-BE49-F238E27FC236}">
                <a16:creationId xmlns:a16="http://schemas.microsoft.com/office/drawing/2014/main" id="{955CFEC3-B764-83E1-073E-5D2AD6CECECE}"/>
              </a:ext>
            </a:extLst>
          </p:cNvPr>
          <p:cNvSpPr/>
          <p:nvPr/>
        </p:nvSpPr>
        <p:spPr>
          <a:xfrm rot="16200000">
            <a:off x="4877753" y="3786987"/>
            <a:ext cx="1227142" cy="880086"/>
          </a:xfrm>
          <a:prstGeom prst="trapezoid">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9" name="Picture 8">
            <a:extLst>
              <a:ext uri="{FF2B5EF4-FFF2-40B4-BE49-F238E27FC236}">
                <a16:creationId xmlns:a16="http://schemas.microsoft.com/office/drawing/2014/main" id="{3223F565-643E-7BB9-275D-65C9F1C82B65}"/>
              </a:ext>
            </a:extLst>
          </p:cNvPr>
          <p:cNvPicPr>
            <a:picLocks noChangeAspect="1"/>
          </p:cNvPicPr>
          <p:nvPr/>
        </p:nvPicPr>
        <p:blipFill>
          <a:blip r:embed="rId4"/>
          <a:stretch>
            <a:fillRect/>
          </a:stretch>
        </p:blipFill>
        <p:spPr>
          <a:xfrm>
            <a:off x="348750" y="3681014"/>
            <a:ext cx="1092031" cy="1092031"/>
          </a:xfrm>
          <a:prstGeom prst="rect">
            <a:avLst/>
          </a:prstGeom>
        </p:spPr>
      </p:pic>
      <p:cxnSp>
        <p:nvCxnSpPr>
          <p:cNvPr id="13" name="Straight Arrow Connector 12">
            <a:extLst>
              <a:ext uri="{FF2B5EF4-FFF2-40B4-BE49-F238E27FC236}">
                <a16:creationId xmlns:a16="http://schemas.microsoft.com/office/drawing/2014/main" id="{BEED4B6C-6612-4434-6D4F-276BFCAF70FB}"/>
              </a:ext>
            </a:extLst>
          </p:cNvPr>
          <p:cNvCxnSpPr>
            <a:stCxn id="9" idx="3"/>
            <a:endCxn id="5" idx="2"/>
          </p:cNvCxnSpPr>
          <p:nvPr/>
        </p:nvCxnSpPr>
        <p:spPr>
          <a:xfrm>
            <a:off x="1440781" y="4227030"/>
            <a:ext cx="46460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2EE7C42-D773-C27A-6B80-6E7F9737D434}"/>
              </a:ext>
            </a:extLst>
          </p:cNvPr>
          <p:cNvCxnSpPr>
            <a:cxnSpLocks/>
            <a:stCxn id="6" idx="2"/>
          </p:cNvCxnSpPr>
          <p:nvPr/>
        </p:nvCxnSpPr>
        <p:spPr>
          <a:xfrm flipV="1">
            <a:off x="5931367" y="4227029"/>
            <a:ext cx="46173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97E2EA0-5462-F821-4ABC-0621D5FF2174}"/>
              </a:ext>
            </a:extLst>
          </p:cNvPr>
          <p:cNvSpPr txBox="1"/>
          <p:nvPr/>
        </p:nvSpPr>
        <p:spPr>
          <a:xfrm>
            <a:off x="1829371" y="4042362"/>
            <a:ext cx="1016000" cy="369332"/>
          </a:xfrm>
          <a:prstGeom prst="rect">
            <a:avLst/>
          </a:prstGeom>
          <a:noFill/>
        </p:spPr>
        <p:txBody>
          <a:bodyPr wrap="square" rtlCol="0">
            <a:spAutoFit/>
          </a:bodyPr>
          <a:lstStyle/>
          <a:p>
            <a:r>
              <a:rPr lang="en-US" dirty="0"/>
              <a:t>Encoder</a:t>
            </a:r>
            <a:endParaRPr lang="ro-RO" dirty="0"/>
          </a:p>
        </p:txBody>
      </p:sp>
      <p:sp>
        <p:nvSpPr>
          <p:cNvPr id="19" name="TextBox 18">
            <a:extLst>
              <a:ext uri="{FF2B5EF4-FFF2-40B4-BE49-F238E27FC236}">
                <a16:creationId xmlns:a16="http://schemas.microsoft.com/office/drawing/2014/main" id="{0551767C-82D7-1F2A-4766-8E9A82561210}"/>
              </a:ext>
            </a:extLst>
          </p:cNvPr>
          <p:cNvSpPr txBox="1"/>
          <p:nvPr/>
        </p:nvSpPr>
        <p:spPr>
          <a:xfrm>
            <a:off x="4960789" y="4042362"/>
            <a:ext cx="1098603" cy="369332"/>
          </a:xfrm>
          <a:prstGeom prst="rect">
            <a:avLst/>
          </a:prstGeom>
          <a:noFill/>
        </p:spPr>
        <p:txBody>
          <a:bodyPr wrap="square" rtlCol="0">
            <a:spAutoFit/>
          </a:bodyPr>
          <a:lstStyle/>
          <a:p>
            <a:r>
              <a:rPr lang="en-US" dirty="0"/>
              <a:t>Decoder</a:t>
            </a:r>
            <a:endParaRPr lang="ro-RO" dirty="0"/>
          </a:p>
        </p:txBody>
      </p:sp>
      <p:pic>
        <p:nvPicPr>
          <p:cNvPr id="23" name="Picture 22">
            <a:extLst>
              <a:ext uri="{FF2B5EF4-FFF2-40B4-BE49-F238E27FC236}">
                <a16:creationId xmlns:a16="http://schemas.microsoft.com/office/drawing/2014/main" id="{83602545-241B-1EA9-D399-03A3AA9E06C6}"/>
              </a:ext>
            </a:extLst>
          </p:cNvPr>
          <p:cNvPicPr>
            <a:picLocks noChangeAspect="1"/>
          </p:cNvPicPr>
          <p:nvPr/>
        </p:nvPicPr>
        <p:blipFill>
          <a:blip r:embed="rId5"/>
          <a:stretch>
            <a:fillRect/>
          </a:stretch>
        </p:blipFill>
        <p:spPr>
          <a:xfrm>
            <a:off x="334640" y="3681013"/>
            <a:ext cx="1106141" cy="1129027"/>
          </a:xfrm>
          <a:prstGeom prst="rect">
            <a:avLst/>
          </a:prstGeom>
        </p:spPr>
      </p:pic>
      <p:cxnSp>
        <p:nvCxnSpPr>
          <p:cNvPr id="24" name="Straight Arrow Connector 23">
            <a:extLst>
              <a:ext uri="{FF2B5EF4-FFF2-40B4-BE49-F238E27FC236}">
                <a16:creationId xmlns:a16="http://schemas.microsoft.com/office/drawing/2014/main" id="{1F05E182-0BA8-B122-0F04-190667CF35B2}"/>
              </a:ext>
            </a:extLst>
          </p:cNvPr>
          <p:cNvCxnSpPr/>
          <p:nvPr/>
        </p:nvCxnSpPr>
        <p:spPr>
          <a:xfrm flipV="1">
            <a:off x="3206484" y="3279110"/>
            <a:ext cx="0" cy="164253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EDA6B62-FA5D-51CD-07CE-75E09386C532}"/>
              </a:ext>
            </a:extLst>
          </p:cNvPr>
          <p:cNvCxnSpPr>
            <a:cxnSpLocks/>
          </p:cNvCxnSpPr>
          <p:nvPr/>
        </p:nvCxnSpPr>
        <p:spPr>
          <a:xfrm>
            <a:off x="3206484" y="4921644"/>
            <a:ext cx="152618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CC330AE-1471-15A3-4973-2A8A7E4283BE}"/>
              </a:ext>
            </a:extLst>
          </p:cNvPr>
          <p:cNvSpPr txBox="1"/>
          <p:nvPr/>
        </p:nvSpPr>
        <p:spPr>
          <a:xfrm>
            <a:off x="3624556" y="3681013"/>
            <a:ext cx="392805"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1</a:t>
            </a:r>
            <a:endParaRPr lang="ro-RO" baseline="-25000" dirty="0">
              <a:latin typeface="Viner Hand ITC" panose="03070502030502020203" pitchFamily="66" charset="0"/>
            </a:endParaRPr>
          </a:p>
        </p:txBody>
      </p:sp>
      <p:sp>
        <p:nvSpPr>
          <p:cNvPr id="29" name="Shape 18">
            <a:extLst>
              <a:ext uri="{FF2B5EF4-FFF2-40B4-BE49-F238E27FC236}">
                <a16:creationId xmlns:a16="http://schemas.microsoft.com/office/drawing/2014/main" id="{82B5A7E3-C7EF-5D3F-5B73-4B584B804C3E}"/>
              </a:ext>
            </a:extLst>
          </p:cNvPr>
          <p:cNvSpPr/>
          <p:nvPr/>
        </p:nvSpPr>
        <p:spPr>
          <a:xfrm>
            <a:off x="3587311" y="3923887"/>
            <a:ext cx="84186" cy="84763"/>
          </a:xfrm>
          <a:prstGeom prst="ellipse">
            <a:avLst/>
          </a:prstGeom>
          <a:solidFill>
            <a:srgbClr val="00B0F0"/>
          </a:solidFill>
          <a:ln/>
        </p:spPr>
        <p:txBody>
          <a:bodyPr/>
          <a:lstStyle/>
          <a:p>
            <a:endParaRPr lang="ro-RO" dirty="0"/>
          </a:p>
        </p:txBody>
      </p:sp>
      <p:sp>
        <p:nvSpPr>
          <p:cNvPr id="31" name="TextBox 30">
            <a:extLst>
              <a:ext uri="{FF2B5EF4-FFF2-40B4-BE49-F238E27FC236}">
                <a16:creationId xmlns:a16="http://schemas.microsoft.com/office/drawing/2014/main" id="{A053EBFD-B143-04E1-5C63-14BB096CC102}"/>
              </a:ext>
            </a:extLst>
          </p:cNvPr>
          <p:cNvSpPr txBox="1"/>
          <p:nvPr/>
        </p:nvSpPr>
        <p:spPr>
          <a:xfrm>
            <a:off x="4093453" y="3785255"/>
            <a:ext cx="487295"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2</a:t>
            </a:r>
            <a:endParaRPr lang="ro-RO" baseline="-25000" dirty="0">
              <a:latin typeface="Viner Hand ITC" panose="03070502030502020203" pitchFamily="66" charset="0"/>
            </a:endParaRPr>
          </a:p>
        </p:txBody>
      </p:sp>
      <p:sp>
        <p:nvSpPr>
          <p:cNvPr id="1036" name="Shape 18">
            <a:extLst>
              <a:ext uri="{FF2B5EF4-FFF2-40B4-BE49-F238E27FC236}">
                <a16:creationId xmlns:a16="http://schemas.microsoft.com/office/drawing/2014/main" id="{456632F7-2A07-A150-9E50-071B6561C4CE}"/>
              </a:ext>
            </a:extLst>
          </p:cNvPr>
          <p:cNvSpPr/>
          <p:nvPr/>
        </p:nvSpPr>
        <p:spPr>
          <a:xfrm>
            <a:off x="4078491" y="4038207"/>
            <a:ext cx="84186" cy="84763"/>
          </a:xfrm>
          <a:prstGeom prst="ellipse">
            <a:avLst/>
          </a:prstGeom>
          <a:solidFill>
            <a:srgbClr val="00B0F0"/>
          </a:solidFill>
          <a:ln/>
        </p:spPr>
        <p:txBody>
          <a:bodyPr/>
          <a:lstStyle/>
          <a:p>
            <a:endParaRPr lang="ro-RO" dirty="0"/>
          </a:p>
        </p:txBody>
      </p:sp>
      <p:sp>
        <p:nvSpPr>
          <p:cNvPr id="1038" name="TextBox 1037">
            <a:extLst>
              <a:ext uri="{FF2B5EF4-FFF2-40B4-BE49-F238E27FC236}">
                <a16:creationId xmlns:a16="http://schemas.microsoft.com/office/drawing/2014/main" id="{F3716ECE-5C46-AE4F-5B8F-511134E81A76}"/>
              </a:ext>
            </a:extLst>
          </p:cNvPr>
          <p:cNvSpPr txBox="1"/>
          <p:nvPr/>
        </p:nvSpPr>
        <p:spPr>
          <a:xfrm>
            <a:off x="3604896" y="4403713"/>
            <a:ext cx="392805" cy="369332"/>
          </a:xfrm>
          <a:prstGeom prst="rect">
            <a:avLst/>
          </a:prstGeom>
          <a:noFill/>
        </p:spPr>
        <p:txBody>
          <a:bodyPr wrap="square" rtlCol="0">
            <a:spAutoFit/>
          </a:bodyPr>
          <a:lstStyle/>
          <a:p>
            <a:r>
              <a:rPr lang="en-US" dirty="0">
                <a:latin typeface="Viner Hand ITC" panose="03070502030502020203" pitchFamily="66" charset="0"/>
              </a:rPr>
              <a:t>z</a:t>
            </a:r>
            <a:r>
              <a:rPr lang="en-US" baseline="-25000" dirty="0">
                <a:latin typeface="Viner Hand ITC" panose="03070502030502020203" pitchFamily="66" charset="0"/>
              </a:rPr>
              <a:t>3</a:t>
            </a:r>
            <a:endParaRPr lang="ro-RO" baseline="-25000" dirty="0">
              <a:latin typeface="Viner Hand ITC" panose="03070502030502020203" pitchFamily="66" charset="0"/>
            </a:endParaRPr>
          </a:p>
        </p:txBody>
      </p:sp>
      <p:sp>
        <p:nvSpPr>
          <p:cNvPr id="1039" name="Shape 18">
            <a:extLst>
              <a:ext uri="{FF2B5EF4-FFF2-40B4-BE49-F238E27FC236}">
                <a16:creationId xmlns:a16="http://schemas.microsoft.com/office/drawing/2014/main" id="{A51EDF4A-DEC5-30D9-1421-3FA5DEE6CD3E}"/>
              </a:ext>
            </a:extLst>
          </p:cNvPr>
          <p:cNvSpPr/>
          <p:nvPr/>
        </p:nvSpPr>
        <p:spPr>
          <a:xfrm>
            <a:off x="3567598" y="4657545"/>
            <a:ext cx="84186" cy="84763"/>
          </a:xfrm>
          <a:prstGeom prst="ellipse">
            <a:avLst/>
          </a:prstGeom>
          <a:solidFill>
            <a:srgbClr val="00B0F0"/>
          </a:solidFill>
          <a:ln/>
        </p:spPr>
        <p:txBody>
          <a:bodyPr/>
          <a:lstStyle/>
          <a:p>
            <a:endParaRPr lang="ro-RO" dirty="0"/>
          </a:p>
        </p:txBody>
      </p:sp>
      <p:sp>
        <p:nvSpPr>
          <p:cNvPr id="1040" name="TextBox 1039">
            <a:extLst>
              <a:ext uri="{FF2B5EF4-FFF2-40B4-BE49-F238E27FC236}">
                <a16:creationId xmlns:a16="http://schemas.microsoft.com/office/drawing/2014/main" id="{E99FE17D-5ACF-D6C5-314A-941846C18BDB}"/>
              </a:ext>
            </a:extLst>
          </p:cNvPr>
          <p:cNvSpPr txBox="1"/>
          <p:nvPr/>
        </p:nvSpPr>
        <p:spPr>
          <a:xfrm>
            <a:off x="3713412" y="4063210"/>
            <a:ext cx="510870" cy="369332"/>
          </a:xfrm>
          <a:prstGeom prst="rect">
            <a:avLst/>
          </a:prstGeom>
          <a:noFill/>
        </p:spPr>
        <p:txBody>
          <a:bodyPr wrap="square" rtlCol="0">
            <a:spAutoFit/>
          </a:bodyPr>
          <a:lstStyle/>
          <a:p>
            <a:r>
              <a:rPr lang="en-US" dirty="0" err="1">
                <a:latin typeface="Viner Hand ITC" panose="03070502030502020203" pitchFamily="66" charset="0"/>
              </a:rPr>
              <a:t>z</a:t>
            </a:r>
            <a:r>
              <a:rPr lang="en-US" baseline="-25000" dirty="0" err="1">
                <a:latin typeface="Viner Hand ITC" panose="03070502030502020203" pitchFamily="66" charset="0"/>
              </a:rPr>
              <a:t>ref</a:t>
            </a:r>
            <a:endParaRPr lang="ro-RO" baseline="-25000" dirty="0">
              <a:latin typeface="Viner Hand ITC" panose="03070502030502020203" pitchFamily="66" charset="0"/>
            </a:endParaRPr>
          </a:p>
        </p:txBody>
      </p:sp>
      <p:sp>
        <p:nvSpPr>
          <p:cNvPr id="1041" name="Shape 18">
            <a:extLst>
              <a:ext uri="{FF2B5EF4-FFF2-40B4-BE49-F238E27FC236}">
                <a16:creationId xmlns:a16="http://schemas.microsoft.com/office/drawing/2014/main" id="{6B9C20D3-76CF-F671-5564-F703ED026679}"/>
              </a:ext>
            </a:extLst>
          </p:cNvPr>
          <p:cNvSpPr/>
          <p:nvPr/>
        </p:nvSpPr>
        <p:spPr>
          <a:xfrm>
            <a:off x="3680700" y="4312693"/>
            <a:ext cx="84186" cy="84763"/>
          </a:xfrm>
          <a:prstGeom prst="ellipse">
            <a:avLst/>
          </a:prstGeom>
          <a:solidFill>
            <a:srgbClr val="FFC000"/>
          </a:solidFill>
          <a:ln/>
        </p:spPr>
        <p:txBody>
          <a:bodyPr/>
          <a:lstStyle/>
          <a:p>
            <a:endParaRPr lang="ro-RO" dirty="0"/>
          </a:p>
        </p:txBody>
      </p:sp>
      <p:pic>
        <p:nvPicPr>
          <p:cNvPr id="1043" name="Picture 1042">
            <a:extLst>
              <a:ext uri="{FF2B5EF4-FFF2-40B4-BE49-F238E27FC236}">
                <a16:creationId xmlns:a16="http://schemas.microsoft.com/office/drawing/2014/main" id="{C41839DE-CF1A-B072-F6E1-37AC1B9AACDB}"/>
              </a:ext>
            </a:extLst>
          </p:cNvPr>
          <p:cNvPicPr>
            <a:picLocks noChangeAspect="1"/>
          </p:cNvPicPr>
          <p:nvPr/>
        </p:nvPicPr>
        <p:blipFill>
          <a:blip r:embed="rId6"/>
          <a:stretch>
            <a:fillRect/>
          </a:stretch>
        </p:blipFill>
        <p:spPr>
          <a:xfrm>
            <a:off x="6772309" y="2328093"/>
            <a:ext cx="1161006" cy="1176591"/>
          </a:xfrm>
          <a:prstGeom prst="rect">
            <a:avLst/>
          </a:prstGeom>
        </p:spPr>
      </p:pic>
      <p:pic>
        <p:nvPicPr>
          <p:cNvPr id="1045" name="Picture 1044">
            <a:extLst>
              <a:ext uri="{FF2B5EF4-FFF2-40B4-BE49-F238E27FC236}">
                <a16:creationId xmlns:a16="http://schemas.microsoft.com/office/drawing/2014/main" id="{8D3AD446-B69B-F977-579B-9D3141DAE350}"/>
              </a:ext>
            </a:extLst>
          </p:cNvPr>
          <p:cNvPicPr>
            <a:picLocks noChangeAspect="1"/>
          </p:cNvPicPr>
          <p:nvPr/>
        </p:nvPicPr>
        <p:blipFill>
          <a:blip r:embed="rId7"/>
          <a:stretch>
            <a:fillRect/>
          </a:stretch>
        </p:blipFill>
        <p:spPr>
          <a:xfrm>
            <a:off x="6772309" y="3632308"/>
            <a:ext cx="1176589" cy="1176589"/>
          </a:xfrm>
          <a:prstGeom prst="rect">
            <a:avLst/>
          </a:prstGeom>
        </p:spPr>
      </p:pic>
      <p:pic>
        <p:nvPicPr>
          <p:cNvPr id="1047" name="Picture 1046">
            <a:extLst>
              <a:ext uri="{FF2B5EF4-FFF2-40B4-BE49-F238E27FC236}">
                <a16:creationId xmlns:a16="http://schemas.microsoft.com/office/drawing/2014/main" id="{9F72AADC-9266-0301-F94F-661ED5D10A5D}"/>
              </a:ext>
            </a:extLst>
          </p:cNvPr>
          <p:cNvPicPr>
            <a:picLocks noChangeAspect="1"/>
          </p:cNvPicPr>
          <p:nvPr/>
        </p:nvPicPr>
        <p:blipFill>
          <a:blip r:embed="rId8"/>
          <a:stretch>
            <a:fillRect/>
          </a:stretch>
        </p:blipFill>
        <p:spPr>
          <a:xfrm>
            <a:off x="6772309" y="4936521"/>
            <a:ext cx="1176589" cy="1176589"/>
          </a:xfrm>
          <a:prstGeom prst="rect">
            <a:avLst/>
          </a:prstGeom>
        </p:spPr>
      </p:pic>
      <p:sp>
        <p:nvSpPr>
          <p:cNvPr id="1048" name="Left Brace 1047">
            <a:extLst>
              <a:ext uri="{FF2B5EF4-FFF2-40B4-BE49-F238E27FC236}">
                <a16:creationId xmlns:a16="http://schemas.microsoft.com/office/drawing/2014/main" id="{9B9BA39B-812A-AFC1-9528-BD436FE5CD1D}"/>
              </a:ext>
            </a:extLst>
          </p:cNvPr>
          <p:cNvSpPr/>
          <p:nvPr/>
        </p:nvSpPr>
        <p:spPr>
          <a:xfrm>
            <a:off x="6477463" y="2343929"/>
            <a:ext cx="223917" cy="376917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049" name="TextBox 1048">
            <a:extLst>
              <a:ext uri="{FF2B5EF4-FFF2-40B4-BE49-F238E27FC236}">
                <a16:creationId xmlns:a16="http://schemas.microsoft.com/office/drawing/2014/main" id="{92E4A9FE-08E1-97B8-58D5-D0F0337DD41A}"/>
              </a:ext>
            </a:extLst>
          </p:cNvPr>
          <p:cNvSpPr txBox="1"/>
          <p:nvPr/>
        </p:nvSpPr>
        <p:spPr>
          <a:xfrm>
            <a:off x="8213093" y="3153474"/>
            <a:ext cx="3774078" cy="1938992"/>
          </a:xfrm>
          <a:prstGeom prst="rect">
            <a:avLst/>
          </a:prstGeom>
          <a:noFill/>
        </p:spPr>
        <p:txBody>
          <a:bodyPr wrap="square" rtlCol="0">
            <a:spAutoFit/>
          </a:bodyPr>
          <a:lstStyle/>
          <a:p>
            <a:pPr algn="ctr"/>
            <a:r>
              <a:rPr lang="en-US" sz="2000" dirty="0">
                <a:solidFill>
                  <a:srgbClr val="FF0000"/>
                </a:solidFill>
              </a:rPr>
              <a:t>If we sample around an encoded image in latent space, nearby points often fail to produce meaningful variations, while points too close simply reconstruct the original image !</a:t>
            </a:r>
            <a:endParaRPr lang="ro-RO" sz="2000" dirty="0">
              <a:solidFill>
                <a:srgbClr val="FF0000"/>
              </a:solidFill>
            </a:endParaRPr>
          </a:p>
        </p:txBody>
      </p:sp>
      <p:sp>
        <p:nvSpPr>
          <p:cNvPr id="1051" name="Shape 0">
            <a:extLst>
              <a:ext uri="{FF2B5EF4-FFF2-40B4-BE49-F238E27FC236}">
                <a16:creationId xmlns:a16="http://schemas.microsoft.com/office/drawing/2014/main" id="{629D25EE-C8AA-DDFF-7298-E47512505D56}"/>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3675105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0FFC209-01BB-A60F-CC4C-C6F2EF8BD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2479" y="1367849"/>
            <a:ext cx="6227042" cy="4122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741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BAFC3-43B2-98B6-C5B3-091A6D5EFC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DE9DF6-F1E1-040E-5ED0-E8CA9173C3A9}"/>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7C94FBCF-0CC1-D9CF-0CD8-62035C234D8C}"/>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2</a:t>
            </a:r>
            <a:endParaRPr lang="en-US" sz="1867" dirty="0"/>
          </a:p>
        </p:txBody>
      </p:sp>
      <p:sp>
        <p:nvSpPr>
          <p:cNvPr id="7" name="Text 2">
            <a:extLst>
              <a:ext uri="{FF2B5EF4-FFF2-40B4-BE49-F238E27FC236}">
                <a16:creationId xmlns:a16="http://schemas.microsoft.com/office/drawing/2014/main" id="{AC9D9D77-372C-1466-7B1B-4EE1D02DC3E3}"/>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What is a variational </a:t>
            </a:r>
          </a:p>
          <a:p>
            <a:r>
              <a:rPr lang="en-US" sz="6000" b="1" dirty="0">
                <a:solidFill>
                  <a:srgbClr val="000000"/>
                </a:solidFill>
                <a:latin typeface="Calibri" pitchFamily="34" charset="0"/>
                <a:ea typeface="Calibri" pitchFamily="34" charset="-122"/>
                <a:cs typeface="Calibri" pitchFamily="34" charset="-120"/>
              </a:rPr>
              <a:t>autoencoder (VAE) ?</a:t>
            </a:r>
          </a:p>
        </p:txBody>
      </p:sp>
    </p:spTree>
    <p:extLst>
      <p:ext uri="{BB962C8B-B14F-4D97-AF65-F5344CB8AC3E}">
        <p14:creationId xmlns:p14="http://schemas.microsoft.com/office/powerpoint/2010/main" val="2053856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D964E3-07DD-5F43-B24D-27CEFECDFC45}"/>
              </a:ext>
            </a:extLst>
          </p:cNvPr>
          <p:cNvPicPr>
            <a:picLocks noChangeAspect="1"/>
          </p:cNvPicPr>
          <p:nvPr/>
        </p:nvPicPr>
        <p:blipFill>
          <a:blip r:embed="rId2"/>
          <a:stretch>
            <a:fillRect/>
          </a:stretch>
        </p:blipFill>
        <p:spPr>
          <a:xfrm>
            <a:off x="3132" y="1362707"/>
            <a:ext cx="11029196" cy="4413914"/>
          </a:xfrm>
          <a:prstGeom prst="rect">
            <a:avLst/>
          </a:prstGeom>
        </p:spPr>
      </p:pic>
      <p:sp>
        <p:nvSpPr>
          <p:cNvPr id="2" name="Shape 0">
            <a:extLst>
              <a:ext uri="{FF2B5EF4-FFF2-40B4-BE49-F238E27FC236}">
                <a16:creationId xmlns:a16="http://schemas.microsoft.com/office/drawing/2014/main" id="{4AB417F5-B981-F97C-ADD7-B140F902B7BB}"/>
              </a:ext>
            </a:extLst>
          </p:cNvPr>
          <p:cNvSpPr/>
          <p:nvPr/>
        </p:nvSpPr>
        <p:spPr>
          <a:xfrm>
            <a:off x="0" y="0"/>
            <a:ext cx="12192000" cy="97536"/>
          </a:xfrm>
          <a:prstGeom prst="rect">
            <a:avLst/>
          </a:prstGeom>
          <a:solidFill>
            <a:srgbClr val="1565C0"/>
          </a:solidFill>
          <a:ln w="12700">
            <a:solidFill>
              <a:srgbClr val="1565C0"/>
            </a:solidFill>
            <a:prstDash val="solid"/>
          </a:ln>
        </p:spPr>
      </p:sp>
      <p:grpSp>
        <p:nvGrpSpPr>
          <p:cNvPr id="6" name="Group 5">
            <a:extLst>
              <a:ext uri="{FF2B5EF4-FFF2-40B4-BE49-F238E27FC236}">
                <a16:creationId xmlns:a16="http://schemas.microsoft.com/office/drawing/2014/main" id="{C36DCB54-9503-38A7-6B11-104C3FC70490}"/>
              </a:ext>
            </a:extLst>
          </p:cNvPr>
          <p:cNvGrpSpPr/>
          <p:nvPr/>
        </p:nvGrpSpPr>
        <p:grpSpPr>
          <a:xfrm>
            <a:off x="883959" y="5703700"/>
            <a:ext cx="568440" cy="57960"/>
            <a:chOff x="1126004" y="5630779"/>
            <a:chExt cx="568440" cy="5796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F40F392-8D6C-3C10-32E9-B405E02CE339}"/>
                    </a:ext>
                  </a:extLst>
                </p14:cNvPr>
                <p14:cNvContentPartPr/>
                <p14:nvPr/>
              </p14:nvContentPartPr>
              <p14:xfrm>
                <a:off x="1126004" y="5630779"/>
                <a:ext cx="260640" cy="360"/>
              </p14:xfrm>
            </p:contentPart>
          </mc:Choice>
          <mc:Fallback>
            <p:pic>
              <p:nvPicPr>
                <p:cNvPr id="4" name="Ink 3">
                  <a:extLst>
                    <a:ext uri="{FF2B5EF4-FFF2-40B4-BE49-F238E27FC236}">
                      <a16:creationId xmlns:a16="http://schemas.microsoft.com/office/drawing/2014/main" id="{FF40F392-8D6C-3C10-32E9-B405E02CE339}"/>
                    </a:ext>
                  </a:extLst>
                </p:cNvPr>
                <p:cNvPicPr/>
                <p:nvPr/>
              </p:nvPicPr>
              <p:blipFill>
                <a:blip r:embed="rId4"/>
                <a:stretch>
                  <a:fillRect/>
                </a:stretch>
              </p:blipFill>
              <p:spPr>
                <a:xfrm>
                  <a:off x="1063364" y="5567779"/>
                  <a:ext cx="38628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DA01A169-7951-21BC-0D1B-D89F34570334}"/>
                    </a:ext>
                  </a:extLst>
                </p14:cNvPr>
                <p14:cNvContentPartPr/>
                <p14:nvPr/>
              </p14:nvContentPartPr>
              <p14:xfrm>
                <a:off x="1279724" y="5688379"/>
                <a:ext cx="414720" cy="360"/>
              </p14:xfrm>
            </p:contentPart>
          </mc:Choice>
          <mc:Fallback>
            <p:pic>
              <p:nvPicPr>
                <p:cNvPr id="5" name="Ink 4">
                  <a:extLst>
                    <a:ext uri="{FF2B5EF4-FFF2-40B4-BE49-F238E27FC236}">
                      <a16:creationId xmlns:a16="http://schemas.microsoft.com/office/drawing/2014/main" id="{DA01A169-7951-21BC-0D1B-D89F34570334}"/>
                    </a:ext>
                  </a:extLst>
                </p:cNvPr>
                <p:cNvPicPr/>
                <p:nvPr/>
              </p:nvPicPr>
              <p:blipFill>
                <a:blip r:embed="rId6"/>
                <a:stretch>
                  <a:fillRect/>
                </a:stretch>
              </p:blipFill>
              <p:spPr>
                <a:xfrm>
                  <a:off x="1216724" y="5625739"/>
                  <a:ext cx="540360" cy="12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EA252206-2AA0-CF75-3471-F9BA161D388D}"/>
                  </a:ext>
                </a:extLst>
              </p14:cNvPr>
              <p14:cNvContentPartPr/>
              <p14:nvPr/>
            </p14:nvContentPartPr>
            <p14:xfrm>
              <a:off x="9604239" y="5722780"/>
              <a:ext cx="644400" cy="10800"/>
            </p14:xfrm>
          </p:contentPart>
        </mc:Choice>
        <mc:Fallback>
          <p:pic>
            <p:nvPicPr>
              <p:cNvPr id="7" name="Ink 6">
                <a:extLst>
                  <a:ext uri="{FF2B5EF4-FFF2-40B4-BE49-F238E27FC236}">
                    <a16:creationId xmlns:a16="http://schemas.microsoft.com/office/drawing/2014/main" id="{EA252206-2AA0-CF75-3471-F9BA161D388D}"/>
                  </a:ext>
                </a:extLst>
              </p:cNvPr>
              <p:cNvPicPr/>
              <p:nvPr/>
            </p:nvPicPr>
            <p:blipFill>
              <a:blip r:embed="rId8"/>
              <a:stretch>
                <a:fillRect/>
              </a:stretch>
            </p:blipFill>
            <p:spPr>
              <a:xfrm>
                <a:off x="9541239" y="5659780"/>
                <a:ext cx="770040" cy="136440"/>
              </a:xfrm>
              <a:prstGeom prst="rect">
                <a:avLst/>
              </a:prstGeom>
            </p:spPr>
          </p:pic>
        </mc:Fallback>
      </mc:AlternateContent>
      <p:pic>
        <p:nvPicPr>
          <p:cNvPr id="11" name="Picture 10">
            <a:extLst>
              <a:ext uri="{FF2B5EF4-FFF2-40B4-BE49-F238E27FC236}">
                <a16:creationId xmlns:a16="http://schemas.microsoft.com/office/drawing/2014/main" id="{DAF21E71-8B7B-534E-FB8B-889D9C95802E}"/>
              </a:ext>
            </a:extLst>
          </p:cNvPr>
          <p:cNvPicPr>
            <a:picLocks noChangeAspect="1"/>
          </p:cNvPicPr>
          <p:nvPr/>
        </p:nvPicPr>
        <p:blipFill>
          <a:blip r:embed="rId9"/>
          <a:stretch>
            <a:fillRect/>
          </a:stretch>
        </p:blipFill>
        <p:spPr>
          <a:xfrm>
            <a:off x="8774955" y="1362707"/>
            <a:ext cx="2254241" cy="4340993"/>
          </a:xfrm>
          <a:prstGeom prst="rect">
            <a:avLst/>
          </a:prstGeom>
        </p:spPr>
      </p:pic>
      <p:pic>
        <p:nvPicPr>
          <p:cNvPr id="15" name="Picture 14">
            <a:extLst>
              <a:ext uri="{FF2B5EF4-FFF2-40B4-BE49-F238E27FC236}">
                <a16:creationId xmlns:a16="http://schemas.microsoft.com/office/drawing/2014/main" id="{8C7E8B09-2A3A-3C2C-FB47-4FDE93D18AE6}"/>
              </a:ext>
            </a:extLst>
          </p:cNvPr>
          <p:cNvPicPr>
            <a:picLocks noChangeAspect="1"/>
          </p:cNvPicPr>
          <p:nvPr/>
        </p:nvPicPr>
        <p:blipFill>
          <a:blip r:embed="rId10"/>
          <a:stretch>
            <a:fillRect/>
          </a:stretch>
        </p:blipFill>
        <p:spPr>
          <a:xfrm>
            <a:off x="4654830" y="2972754"/>
            <a:ext cx="1749458" cy="517501"/>
          </a:xfrm>
          <a:prstGeom prst="rect">
            <a:avLst/>
          </a:prstGeom>
        </p:spPr>
      </p:pic>
      <p:pic>
        <p:nvPicPr>
          <p:cNvPr id="17" name="Picture 16">
            <a:extLst>
              <a:ext uri="{FF2B5EF4-FFF2-40B4-BE49-F238E27FC236}">
                <a16:creationId xmlns:a16="http://schemas.microsoft.com/office/drawing/2014/main" id="{D7B7C8C3-E403-740B-8CA9-5933F6B148E6}"/>
              </a:ext>
            </a:extLst>
          </p:cNvPr>
          <p:cNvPicPr>
            <a:picLocks noChangeAspect="1"/>
          </p:cNvPicPr>
          <p:nvPr/>
        </p:nvPicPr>
        <p:blipFill>
          <a:blip r:embed="rId11"/>
          <a:stretch>
            <a:fillRect/>
          </a:stretch>
        </p:blipFill>
        <p:spPr>
          <a:xfrm>
            <a:off x="4826465" y="3112294"/>
            <a:ext cx="1406188" cy="238419"/>
          </a:xfrm>
          <a:prstGeom prst="rect">
            <a:avLst/>
          </a:prstGeom>
        </p:spPr>
      </p:pic>
      <p:pic>
        <p:nvPicPr>
          <p:cNvPr id="18" name="Picture 17">
            <a:extLst>
              <a:ext uri="{FF2B5EF4-FFF2-40B4-BE49-F238E27FC236}">
                <a16:creationId xmlns:a16="http://schemas.microsoft.com/office/drawing/2014/main" id="{4E536DEE-D894-2970-C7A9-4710C1C83779}"/>
              </a:ext>
            </a:extLst>
          </p:cNvPr>
          <p:cNvPicPr>
            <a:picLocks noChangeAspect="1"/>
          </p:cNvPicPr>
          <p:nvPr/>
        </p:nvPicPr>
        <p:blipFill>
          <a:blip r:embed="rId12"/>
          <a:stretch>
            <a:fillRect/>
          </a:stretch>
        </p:blipFill>
        <p:spPr>
          <a:xfrm>
            <a:off x="9902075" y="1550082"/>
            <a:ext cx="2191056" cy="4039164"/>
          </a:xfrm>
          <a:prstGeom prst="rect">
            <a:avLst/>
          </a:prstGeom>
        </p:spPr>
      </p:pic>
      <mc:AlternateContent xmlns:mc="http://schemas.openxmlformats.org/markup-compatibility/2006">
        <mc:Choice xmlns:p14="http://schemas.microsoft.com/office/powerpoint/2010/main" Requires="p14">
          <p:contentPart p14:bwMode="auto" r:id="rId13">
            <p14:nvContentPartPr>
              <p14:cNvPr id="21" name="Ink 20">
                <a:extLst>
                  <a:ext uri="{FF2B5EF4-FFF2-40B4-BE49-F238E27FC236}">
                    <a16:creationId xmlns:a16="http://schemas.microsoft.com/office/drawing/2014/main" id="{26C23E76-0C2B-1B64-41F7-130228B54E76}"/>
                  </a:ext>
                </a:extLst>
              </p14:cNvPr>
              <p14:cNvContentPartPr/>
              <p14:nvPr/>
            </p14:nvContentPartPr>
            <p14:xfrm>
              <a:off x="6789720" y="2825613"/>
              <a:ext cx="2040840" cy="528480"/>
            </p14:xfrm>
          </p:contentPart>
        </mc:Choice>
        <mc:Fallback>
          <p:pic>
            <p:nvPicPr>
              <p:cNvPr id="21" name="Ink 20">
                <a:extLst>
                  <a:ext uri="{FF2B5EF4-FFF2-40B4-BE49-F238E27FC236}">
                    <a16:creationId xmlns:a16="http://schemas.microsoft.com/office/drawing/2014/main" id="{26C23E76-0C2B-1B64-41F7-130228B54E76}"/>
                  </a:ext>
                </a:extLst>
              </p:cNvPr>
              <p:cNvPicPr/>
              <p:nvPr/>
            </p:nvPicPr>
            <p:blipFill>
              <a:blip r:embed="rId14"/>
              <a:stretch>
                <a:fillRect/>
              </a:stretch>
            </p:blipFill>
            <p:spPr>
              <a:xfrm>
                <a:off x="6727080" y="2762973"/>
                <a:ext cx="2166480" cy="654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2" name="Ink 21">
                <a:extLst>
                  <a:ext uri="{FF2B5EF4-FFF2-40B4-BE49-F238E27FC236}">
                    <a16:creationId xmlns:a16="http://schemas.microsoft.com/office/drawing/2014/main" id="{CABBB9CC-A8D5-D112-EBBE-5A21DAD433A0}"/>
                  </a:ext>
                </a:extLst>
              </p14:cNvPr>
              <p14:cNvContentPartPr/>
              <p14:nvPr/>
            </p14:nvContentPartPr>
            <p14:xfrm>
              <a:off x="3191880" y="2327733"/>
              <a:ext cx="5687640" cy="94680"/>
            </p14:xfrm>
          </p:contentPart>
        </mc:Choice>
        <mc:Fallback>
          <p:pic>
            <p:nvPicPr>
              <p:cNvPr id="22" name="Ink 21">
                <a:extLst>
                  <a:ext uri="{FF2B5EF4-FFF2-40B4-BE49-F238E27FC236}">
                    <a16:creationId xmlns:a16="http://schemas.microsoft.com/office/drawing/2014/main" id="{CABBB9CC-A8D5-D112-EBBE-5A21DAD433A0}"/>
                  </a:ext>
                </a:extLst>
              </p:cNvPr>
              <p:cNvPicPr/>
              <p:nvPr/>
            </p:nvPicPr>
            <p:blipFill>
              <a:blip r:embed="rId16"/>
              <a:stretch>
                <a:fillRect/>
              </a:stretch>
            </p:blipFill>
            <p:spPr>
              <a:xfrm>
                <a:off x="3128880" y="2264733"/>
                <a:ext cx="58132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1A0BA5D8-A600-AC53-EEB6-8D90787FA05A}"/>
                  </a:ext>
                </a:extLst>
              </p14:cNvPr>
              <p14:cNvContentPartPr/>
              <p14:nvPr/>
            </p14:nvContentPartPr>
            <p14:xfrm>
              <a:off x="2539920" y="2302893"/>
              <a:ext cx="593280" cy="8640"/>
            </p14:xfrm>
          </p:contentPart>
        </mc:Choice>
        <mc:Fallback>
          <p:pic>
            <p:nvPicPr>
              <p:cNvPr id="23" name="Ink 22">
                <a:extLst>
                  <a:ext uri="{FF2B5EF4-FFF2-40B4-BE49-F238E27FC236}">
                    <a16:creationId xmlns:a16="http://schemas.microsoft.com/office/drawing/2014/main" id="{1A0BA5D8-A600-AC53-EEB6-8D90787FA05A}"/>
                  </a:ext>
                </a:extLst>
              </p:cNvPr>
              <p:cNvPicPr/>
              <p:nvPr/>
            </p:nvPicPr>
            <p:blipFill>
              <a:blip r:embed="rId18"/>
              <a:stretch>
                <a:fillRect/>
              </a:stretch>
            </p:blipFill>
            <p:spPr>
              <a:xfrm>
                <a:off x="2477280" y="2240253"/>
                <a:ext cx="7189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7" name="Ink 26">
                <a:extLst>
                  <a:ext uri="{FF2B5EF4-FFF2-40B4-BE49-F238E27FC236}">
                    <a16:creationId xmlns:a16="http://schemas.microsoft.com/office/drawing/2014/main" id="{E8B8F3E6-69CB-8DB4-769D-61AE1A1A4378}"/>
                  </a:ext>
                </a:extLst>
              </p14:cNvPr>
              <p14:cNvContentPartPr/>
              <p14:nvPr/>
            </p14:nvContentPartPr>
            <p14:xfrm>
              <a:off x="2422880" y="2326520"/>
              <a:ext cx="360" cy="360"/>
            </p14:xfrm>
          </p:contentPart>
        </mc:Choice>
        <mc:Fallback>
          <p:pic>
            <p:nvPicPr>
              <p:cNvPr id="27" name="Ink 26">
                <a:extLst>
                  <a:ext uri="{FF2B5EF4-FFF2-40B4-BE49-F238E27FC236}">
                    <a16:creationId xmlns:a16="http://schemas.microsoft.com/office/drawing/2014/main" id="{E8B8F3E6-69CB-8DB4-769D-61AE1A1A4378}"/>
                  </a:ext>
                </a:extLst>
              </p:cNvPr>
              <p:cNvPicPr/>
              <p:nvPr/>
            </p:nvPicPr>
            <p:blipFill>
              <a:blip r:embed="rId20"/>
              <a:stretch>
                <a:fillRect/>
              </a:stretch>
            </p:blipFill>
            <p:spPr>
              <a:xfrm>
                <a:off x="2359880" y="2263880"/>
                <a:ext cx="126000" cy="126000"/>
              </a:xfrm>
              <a:prstGeom prst="rect">
                <a:avLst/>
              </a:prstGeom>
            </p:spPr>
          </p:pic>
        </mc:Fallback>
      </mc:AlternateContent>
      <p:cxnSp>
        <p:nvCxnSpPr>
          <p:cNvPr id="29" name="Straight Arrow Connector 28">
            <a:extLst>
              <a:ext uri="{FF2B5EF4-FFF2-40B4-BE49-F238E27FC236}">
                <a16:creationId xmlns:a16="http://schemas.microsoft.com/office/drawing/2014/main" id="{2414CBCA-DB88-05A5-EE9B-C4A4E05AE59E}"/>
              </a:ext>
            </a:extLst>
          </p:cNvPr>
          <p:cNvCxnSpPr>
            <a:cxnSpLocks/>
          </p:cNvCxnSpPr>
          <p:nvPr/>
        </p:nvCxnSpPr>
        <p:spPr>
          <a:xfrm flipH="1" flipV="1">
            <a:off x="2311400" y="2339670"/>
            <a:ext cx="7615039" cy="4272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1" name="Picture 2" descr="The Normal Distribution I Six Sigma TC">
            <a:extLst>
              <a:ext uri="{FF2B5EF4-FFF2-40B4-BE49-F238E27FC236}">
                <a16:creationId xmlns:a16="http://schemas.microsoft.com/office/drawing/2014/main" id="{F3702425-9869-85FF-73FF-9E188A7AF85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10140" y="2636965"/>
            <a:ext cx="1473684" cy="1189076"/>
          </a:xfrm>
          <a:prstGeom prst="rect">
            <a:avLst/>
          </a:prstGeom>
          <a:noFill/>
          <a:extLst>
            <a:ext uri="{909E8E84-426E-40DD-AFC4-6F175D3DCCD1}">
              <a14:hiddenFill xmlns:a14="http://schemas.microsoft.com/office/drawing/2010/main">
                <a:solidFill>
                  <a:srgbClr val="FFFFFF"/>
                </a:solidFill>
              </a14:hiddenFill>
            </a:ext>
          </a:extLst>
        </p:spPr>
      </p:pic>
      <p:grpSp>
        <p:nvGrpSpPr>
          <p:cNvPr id="2052" name="Group 2051">
            <a:extLst>
              <a:ext uri="{FF2B5EF4-FFF2-40B4-BE49-F238E27FC236}">
                <a16:creationId xmlns:a16="http://schemas.microsoft.com/office/drawing/2014/main" id="{07EFA918-9137-6CA5-233E-7D23E078F782}"/>
              </a:ext>
            </a:extLst>
          </p:cNvPr>
          <p:cNvGrpSpPr/>
          <p:nvPr/>
        </p:nvGrpSpPr>
        <p:grpSpPr>
          <a:xfrm>
            <a:off x="8439130" y="4906010"/>
            <a:ext cx="411480" cy="16200"/>
            <a:chOff x="8439130" y="4906010"/>
            <a:chExt cx="411480" cy="16200"/>
          </a:xfrm>
        </p:grpSpPr>
        <mc:AlternateContent xmlns:mc="http://schemas.openxmlformats.org/markup-compatibility/2006">
          <mc:Choice xmlns:p14="http://schemas.microsoft.com/office/powerpoint/2010/main" Requires="p14">
            <p:contentPart p14:bwMode="auto" r:id="rId22">
              <p14:nvContentPartPr>
                <p14:cNvPr id="2048" name="Ink 2047">
                  <a:extLst>
                    <a:ext uri="{FF2B5EF4-FFF2-40B4-BE49-F238E27FC236}">
                      <a16:creationId xmlns:a16="http://schemas.microsoft.com/office/drawing/2014/main" id="{DCFC3B3C-A0CE-ECDD-5EFB-011A598E7D3B}"/>
                    </a:ext>
                  </a:extLst>
                </p14:cNvPr>
                <p14:cNvContentPartPr/>
                <p14:nvPr/>
              </p14:nvContentPartPr>
              <p14:xfrm>
                <a:off x="8470810" y="4914650"/>
                <a:ext cx="360" cy="360"/>
              </p14:xfrm>
            </p:contentPart>
          </mc:Choice>
          <mc:Fallback>
            <p:pic>
              <p:nvPicPr>
                <p:cNvPr id="2048" name="Ink 2047">
                  <a:extLst>
                    <a:ext uri="{FF2B5EF4-FFF2-40B4-BE49-F238E27FC236}">
                      <a16:creationId xmlns:a16="http://schemas.microsoft.com/office/drawing/2014/main" id="{DCFC3B3C-A0CE-ECDD-5EFB-011A598E7D3B}"/>
                    </a:ext>
                  </a:extLst>
                </p:cNvPr>
                <p:cNvPicPr/>
                <p:nvPr/>
              </p:nvPicPr>
              <p:blipFill>
                <a:blip r:embed="rId20"/>
                <a:stretch>
                  <a:fillRect/>
                </a:stretch>
              </p:blipFill>
              <p:spPr>
                <a:xfrm>
                  <a:off x="8407810" y="485165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49" name="Ink 2048">
                  <a:extLst>
                    <a:ext uri="{FF2B5EF4-FFF2-40B4-BE49-F238E27FC236}">
                      <a16:creationId xmlns:a16="http://schemas.microsoft.com/office/drawing/2014/main" id="{84A801BE-F32C-1088-1493-CB8D3DD67602}"/>
                    </a:ext>
                  </a:extLst>
                </p14:cNvPr>
                <p14:cNvContentPartPr/>
                <p14:nvPr/>
              </p14:nvContentPartPr>
              <p14:xfrm>
                <a:off x="8439130" y="4921130"/>
                <a:ext cx="360" cy="360"/>
              </p14:xfrm>
            </p:contentPart>
          </mc:Choice>
          <mc:Fallback>
            <p:pic>
              <p:nvPicPr>
                <p:cNvPr id="2049" name="Ink 2048">
                  <a:extLst>
                    <a:ext uri="{FF2B5EF4-FFF2-40B4-BE49-F238E27FC236}">
                      <a16:creationId xmlns:a16="http://schemas.microsoft.com/office/drawing/2014/main" id="{84A801BE-F32C-1088-1493-CB8D3DD67602}"/>
                    </a:ext>
                  </a:extLst>
                </p:cNvPr>
                <p:cNvPicPr/>
                <p:nvPr/>
              </p:nvPicPr>
              <p:blipFill>
                <a:blip r:embed="rId20"/>
                <a:stretch>
                  <a:fillRect/>
                </a:stretch>
              </p:blipFill>
              <p:spPr>
                <a:xfrm>
                  <a:off x="8376130" y="485849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51" name="Ink 2050">
                  <a:extLst>
                    <a:ext uri="{FF2B5EF4-FFF2-40B4-BE49-F238E27FC236}">
                      <a16:creationId xmlns:a16="http://schemas.microsoft.com/office/drawing/2014/main" id="{3BCF9414-4EBF-5D47-D7FB-3F35D90A3FED}"/>
                    </a:ext>
                  </a:extLst>
                </p14:cNvPr>
                <p14:cNvContentPartPr/>
                <p14:nvPr/>
              </p14:nvContentPartPr>
              <p14:xfrm>
                <a:off x="8534530" y="4906010"/>
                <a:ext cx="316080" cy="16200"/>
              </p14:xfrm>
            </p:contentPart>
          </mc:Choice>
          <mc:Fallback>
            <p:pic>
              <p:nvPicPr>
                <p:cNvPr id="2051" name="Ink 2050">
                  <a:extLst>
                    <a:ext uri="{FF2B5EF4-FFF2-40B4-BE49-F238E27FC236}">
                      <a16:creationId xmlns:a16="http://schemas.microsoft.com/office/drawing/2014/main" id="{3BCF9414-4EBF-5D47-D7FB-3F35D90A3FED}"/>
                    </a:ext>
                  </a:extLst>
                </p:cNvPr>
                <p:cNvPicPr/>
                <p:nvPr/>
              </p:nvPicPr>
              <p:blipFill>
                <a:blip r:embed="rId25"/>
                <a:stretch>
                  <a:fillRect/>
                </a:stretch>
              </p:blipFill>
              <p:spPr>
                <a:xfrm>
                  <a:off x="8471530" y="4843010"/>
                  <a:ext cx="441720" cy="141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2053" name="Ink 2052">
                <a:extLst>
                  <a:ext uri="{FF2B5EF4-FFF2-40B4-BE49-F238E27FC236}">
                    <a16:creationId xmlns:a16="http://schemas.microsoft.com/office/drawing/2014/main" id="{684B7227-EA74-E363-BE4C-6B66B0E3113B}"/>
                  </a:ext>
                </a:extLst>
              </p14:cNvPr>
              <p14:cNvContentPartPr/>
              <p14:nvPr/>
            </p14:nvContentPartPr>
            <p14:xfrm>
              <a:off x="6756130" y="4884770"/>
              <a:ext cx="20160" cy="11160"/>
            </p14:xfrm>
          </p:contentPart>
        </mc:Choice>
        <mc:Fallback>
          <p:pic>
            <p:nvPicPr>
              <p:cNvPr id="2053" name="Ink 2052">
                <a:extLst>
                  <a:ext uri="{FF2B5EF4-FFF2-40B4-BE49-F238E27FC236}">
                    <a16:creationId xmlns:a16="http://schemas.microsoft.com/office/drawing/2014/main" id="{684B7227-EA74-E363-BE4C-6B66B0E3113B}"/>
                  </a:ext>
                </a:extLst>
              </p:cNvPr>
              <p:cNvPicPr/>
              <p:nvPr/>
            </p:nvPicPr>
            <p:blipFill>
              <a:blip r:embed="rId27"/>
              <a:stretch>
                <a:fillRect/>
              </a:stretch>
            </p:blipFill>
            <p:spPr>
              <a:xfrm>
                <a:off x="6693490" y="4822130"/>
                <a:ext cx="1458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54" name="Ink 2053">
                <a:extLst>
                  <a:ext uri="{FF2B5EF4-FFF2-40B4-BE49-F238E27FC236}">
                    <a16:creationId xmlns:a16="http://schemas.microsoft.com/office/drawing/2014/main" id="{78E2B5EC-FCB7-2B9A-5B6F-7C31B5EC085A}"/>
                  </a:ext>
                </a:extLst>
              </p14:cNvPr>
              <p14:cNvContentPartPr/>
              <p14:nvPr/>
            </p14:nvContentPartPr>
            <p14:xfrm>
              <a:off x="6819490" y="4882970"/>
              <a:ext cx="417960" cy="39240"/>
            </p14:xfrm>
          </p:contentPart>
        </mc:Choice>
        <mc:Fallback>
          <p:pic>
            <p:nvPicPr>
              <p:cNvPr id="2054" name="Ink 2053">
                <a:extLst>
                  <a:ext uri="{FF2B5EF4-FFF2-40B4-BE49-F238E27FC236}">
                    <a16:creationId xmlns:a16="http://schemas.microsoft.com/office/drawing/2014/main" id="{78E2B5EC-FCB7-2B9A-5B6F-7C31B5EC085A}"/>
                  </a:ext>
                </a:extLst>
              </p:cNvPr>
              <p:cNvPicPr/>
              <p:nvPr/>
            </p:nvPicPr>
            <p:blipFill>
              <a:blip r:embed="rId29"/>
              <a:stretch>
                <a:fillRect/>
              </a:stretch>
            </p:blipFill>
            <p:spPr>
              <a:xfrm>
                <a:off x="6756850" y="4820330"/>
                <a:ext cx="5436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55" name="Ink 2054">
                <a:extLst>
                  <a:ext uri="{FF2B5EF4-FFF2-40B4-BE49-F238E27FC236}">
                    <a16:creationId xmlns:a16="http://schemas.microsoft.com/office/drawing/2014/main" id="{56D95D5B-1AC9-5571-F48E-2176E0952DD7}"/>
                  </a:ext>
                </a:extLst>
              </p14:cNvPr>
              <p14:cNvContentPartPr/>
              <p14:nvPr/>
            </p14:nvContentPartPr>
            <p14:xfrm>
              <a:off x="3936610" y="3232010"/>
              <a:ext cx="395280" cy="25200"/>
            </p14:xfrm>
          </p:contentPart>
        </mc:Choice>
        <mc:Fallback>
          <p:pic>
            <p:nvPicPr>
              <p:cNvPr id="2055" name="Ink 2054">
                <a:extLst>
                  <a:ext uri="{FF2B5EF4-FFF2-40B4-BE49-F238E27FC236}">
                    <a16:creationId xmlns:a16="http://schemas.microsoft.com/office/drawing/2014/main" id="{56D95D5B-1AC9-5571-F48E-2176E0952DD7}"/>
                  </a:ext>
                </a:extLst>
              </p:cNvPr>
              <p:cNvPicPr/>
              <p:nvPr/>
            </p:nvPicPr>
            <p:blipFill>
              <a:blip r:embed="rId31"/>
              <a:stretch>
                <a:fillRect/>
              </a:stretch>
            </p:blipFill>
            <p:spPr>
              <a:xfrm>
                <a:off x="3873970" y="3169010"/>
                <a:ext cx="52092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56" name="Ink 2055">
                <a:extLst>
                  <a:ext uri="{FF2B5EF4-FFF2-40B4-BE49-F238E27FC236}">
                    <a16:creationId xmlns:a16="http://schemas.microsoft.com/office/drawing/2014/main" id="{04DF2938-17DB-6442-D767-FBAF2F30F195}"/>
                  </a:ext>
                </a:extLst>
              </p14:cNvPr>
              <p14:cNvContentPartPr/>
              <p14:nvPr/>
            </p14:nvContentPartPr>
            <p14:xfrm>
              <a:off x="2406250" y="3232010"/>
              <a:ext cx="291600" cy="20520"/>
            </p14:xfrm>
          </p:contentPart>
        </mc:Choice>
        <mc:Fallback>
          <p:pic>
            <p:nvPicPr>
              <p:cNvPr id="2056" name="Ink 2055">
                <a:extLst>
                  <a:ext uri="{FF2B5EF4-FFF2-40B4-BE49-F238E27FC236}">
                    <a16:creationId xmlns:a16="http://schemas.microsoft.com/office/drawing/2014/main" id="{04DF2938-17DB-6442-D767-FBAF2F30F195}"/>
                  </a:ext>
                </a:extLst>
              </p:cNvPr>
              <p:cNvPicPr/>
              <p:nvPr/>
            </p:nvPicPr>
            <p:blipFill>
              <a:blip r:embed="rId33"/>
              <a:stretch>
                <a:fillRect/>
              </a:stretch>
            </p:blipFill>
            <p:spPr>
              <a:xfrm>
                <a:off x="2343610" y="3169370"/>
                <a:ext cx="4172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57" name="Ink 2056">
                <a:extLst>
                  <a:ext uri="{FF2B5EF4-FFF2-40B4-BE49-F238E27FC236}">
                    <a16:creationId xmlns:a16="http://schemas.microsoft.com/office/drawing/2014/main" id="{058C086E-7AC1-5914-3D23-14506A112236}"/>
                  </a:ext>
                </a:extLst>
              </p14:cNvPr>
              <p14:cNvContentPartPr/>
              <p14:nvPr/>
            </p14:nvContentPartPr>
            <p14:xfrm>
              <a:off x="5517730" y="3752570"/>
              <a:ext cx="70560" cy="490320"/>
            </p14:xfrm>
          </p:contentPart>
        </mc:Choice>
        <mc:Fallback>
          <p:pic>
            <p:nvPicPr>
              <p:cNvPr id="2057" name="Ink 2056">
                <a:extLst>
                  <a:ext uri="{FF2B5EF4-FFF2-40B4-BE49-F238E27FC236}">
                    <a16:creationId xmlns:a16="http://schemas.microsoft.com/office/drawing/2014/main" id="{058C086E-7AC1-5914-3D23-14506A112236}"/>
                  </a:ext>
                </a:extLst>
              </p:cNvPr>
              <p:cNvPicPr/>
              <p:nvPr/>
            </p:nvPicPr>
            <p:blipFill>
              <a:blip r:embed="rId35"/>
              <a:stretch>
                <a:fillRect/>
              </a:stretch>
            </p:blipFill>
            <p:spPr>
              <a:xfrm>
                <a:off x="5454730" y="3689930"/>
                <a:ext cx="196200" cy="615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58" name="Ink 2057">
                <a:extLst>
                  <a:ext uri="{FF2B5EF4-FFF2-40B4-BE49-F238E27FC236}">
                    <a16:creationId xmlns:a16="http://schemas.microsoft.com/office/drawing/2014/main" id="{8BC50932-6664-1650-08BC-4388E12658C5}"/>
                  </a:ext>
                </a:extLst>
              </p14:cNvPr>
              <p14:cNvContentPartPr/>
              <p14:nvPr/>
            </p14:nvContentPartPr>
            <p14:xfrm>
              <a:off x="6748007" y="3230000"/>
              <a:ext cx="360" cy="360"/>
            </p14:xfrm>
          </p:contentPart>
        </mc:Choice>
        <mc:Fallback>
          <p:pic>
            <p:nvPicPr>
              <p:cNvPr id="2058" name="Ink 2057">
                <a:extLst>
                  <a:ext uri="{FF2B5EF4-FFF2-40B4-BE49-F238E27FC236}">
                    <a16:creationId xmlns:a16="http://schemas.microsoft.com/office/drawing/2014/main" id="{8BC50932-6664-1650-08BC-4388E12658C5}"/>
                  </a:ext>
                </a:extLst>
              </p:cNvPr>
              <p:cNvPicPr/>
              <p:nvPr/>
            </p:nvPicPr>
            <p:blipFill>
              <a:blip r:embed="rId20"/>
              <a:stretch>
                <a:fillRect/>
              </a:stretch>
            </p:blipFill>
            <p:spPr>
              <a:xfrm>
                <a:off x="6685007" y="31670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059" name="Ink 2058">
                <a:extLst>
                  <a:ext uri="{FF2B5EF4-FFF2-40B4-BE49-F238E27FC236}">
                    <a16:creationId xmlns:a16="http://schemas.microsoft.com/office/drawing/2014/main" id="{6366E4F3-174F-DF08-3CF6-FC54961A13AB}"/>
                  </a:ext>
                </a:extLst>
              </p14:cNvPr>
              <p14:cNvContentPartPr/>
              <p14:nvPr/>
            </p14:nvContentPartPr>
            <p14:xfrm>
              <a:off x="4364447" y="3230000"/>
              <a:ext cx="360" cy="360"/>
            </p14:xfrm>
          </p:contentPart>
        </mc:Choice>
        <mc:Fallback>
          <p:pic>
            <p:nvPicPr>
              <p:cNvPr id="2059" name="Ink 2058">
                <a:extLst>
                  <a:ext uri="{FF2B5EF4-FFF2-40B4-BE49-F238E27FC236}">
                    <a16:creationId xmlns:a16="http://schemas.microsoft.com/office/drawing/2014/main" id="{6366E4F3-174F-DF08-3CF6-FC54961A13AB}"/>
                  </a:ext>
                </a:extLst>
              </p:cNvPr>
              <p:cNvPicPr/>
              <p:nvPr/>
            </p:nvPicPr>
            <p:blipFill>
              <a:blip r:embed="rId20"/>
              <a:stretch>
                <a:fillRect/>
              </a:stretch>
            </p:blipFill>
            <p:spPr>
              <a:xfrm>
                <a:off x="4301447" y="31670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60" name="Ink 2059">
                <a:extLst>
                  <a:ext uri="{FF2B5EF4-FFF2-40B4-BE49-F238E27FC236}">
                    <a16:creationId xmlns:a16="http://schemas.microsoft.com/office/drawing/2014/main" id="{796D7EAD-80DD-61DC-C8C2-BD26A53277F3}"/>
                  </a:ext>
                </a:extLst>
              </p14:cNvPr>
              <p14:cNvContentPartPr/>
              <p14:nvPr/>
            </p14:nvContentPartPr>
            <p14:xfrm>
              <a:off x="5524163" y="4321423"/>
              <a:ext cx="49320" cy="16200"/>
            </p14:xfrm>
          </p:contentPart>
        </mc:Choice>
        <mc:Fallback>
          <p:pic>
            <p:nvPicPr>
              <p:cNvPr id="2060" name="Ink 2059">
                <a:extLst>
                  <a:ext uri="{FF2B5EF4-FFF2-40B4-BE49-F238E27FC236}">
                    <a16:creationId xmlns:a16="http://schemas.microsoft.com/office/drawing/2014/main" id="{796D7EAD-80DD-61DC-C8C2-BD26A53277F3}"/>
                  </a:ext>
                </a:extLst>
              </p:cNvPr>
              <p:cNvPicPr/>
              <p:nvPr/>
            </p:nvPicPr>
            <p:blipFill>
              <a:blip r:embed="rId39"/>
              <a:stretch>
                <a:fillRect/>
              </a:stretch>
            </p:blipFill>
            <p:spPr>
              <a:xfrm>
                <a:off x="5506523" y="4303423"/>
                <a:ext cx="849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061" name="Ink 2060">
                <a:extLst>
                  <a:ext uri="{FF2B5EF4-FFF2-40B4-BE49-F238E27FC236}">
                    <a16:creationId xmlns:a16="http://schemas.microsoft.com/office/drawing/2014/main" id="{01B46409-B3C4-4929-95E7-9F5619FF2BEA}"/>
                  </a:ext>
                </a:extLst>
              </p14:cNvPr>
              <p14:cNvContentPartPr/>
              <p14:nvPr/>
            </p14:nvContentPartPr>
            <p14:xfrm>
              <a:off x="5560283" y="3687103"/>
              <a:ext cx="360" cy="360"/>
            </p14:xfrm>
          </p:contentPart>
        </mc:Choice>
        <mc:Fallback>
          <p:pic>
            <p:nvPicPr>
              <p:cNvPr id="2061" name="Ink 2060">
                <a:extLst>
                  <a:ext uri="{FF2B5EF4-FFF2-40B4-BE49-F238E27FC236}">
                    <a16:creationId xmlns:a16="http://schemas.microsoft.com/office/drawing/2014/main" id="{01B46409-B3C4-4929-95E7-9F5619FF2BEA}"/>
                  </a:ext>
                </a:extLst>
              </p:cNvPr>
              <p:cNvPicPr/>
              <p:nvPr/>
            </p:nvPicPr>
            <p:blipFill>
              <a:blip r:embed="rId41"/>
              <a:stretch>
                <a:fillRect/>
              </a:stretch>
            </p:blipFill>
            <p:spPr>
              <a:xfrm>
                <a:off x="5542643" y="3669103"/>
                <a:ext cx="36000" cy="36000"/>
              </a:xfrm>
              <a:prstGeom prst="rect">
                <a:avLst/>
              </a:prstGeom>
            </p:spPr>
          </p:pic>
        </mc:Fallback>
      </mc:AlternateContent>
      <p:grpSp>
        <p:nvGrpSpPr>
          <p:cNvPr id="2064" name="Group 2063">
            <a:extLst>
              <a:ext uri="{FF2B5EF4-FFF2-40B4-BE49-F238E27FC236}">
                <a16:creationId xmlns:a16="http://schemas.microsoft.com/office/drawing/2014/main" id="{8D498972-C028-8620-ABED-119C26DEF032}"/>
              </a:ext>
            </a:extLst>
          </p:cNvPr>
          <p:cNvGrpSpPr/>
          <p:nvPr/>
        </p:nvGrpSpPr>
        <p:grpSpPr>
          <a:xfrm>
            <a:off x="4430003" y="3238303"/>
            <a:ext cx="360" cy="17280"/>
            <a:chOff x="4430003" y="3238303"/>
            <a:chExt cx="360" cy="17280"/>
          </a:xfrm>
        </p:grpSpPr>
        <mc:AlternateContent xmlns:mc="http://schemas.openxmlformats.org/markup-compatibility/2006">
          <mc:Choice xmlns:p14="http://schemas.microsoft.com/office/powerpoint/2010/main" Requires="p14">
            <p:contentPart p14:bwMode="auto" r:id="rId42">
              <p14:nvContentPartPr>
                <p14:cNvPr id="2062" name="Ink 2061">
                  <a:extLst>
                    <a:ext uri="{FF2B5EF4-FFF2-40B4-BE49-F238E27FC236}">
                      <a16:creationId xmlns:a16="http://schemas.microsoft.com/office/drawing/2014/main" id="{35B852EC-BAD4-DA4A-008A-D833475B394B}"/>
                    </a:ext>
                  </a:extLst>
                </p14:cNvPr>
                <p14:cNvContentPartPr/>
                <p14:nvPr/>
              </p14:nvContentPartPr>
              <p14:xfrm>
                <a:off x="4430003" y="3255223"/>
                <a:ext cx="360" cy="360"/>
              </p14:xfrm>
            </p:contentPart>
          </mc:Choice>
          <mc:Fallback>
            <p:pic>
              <p:nvPicPr>
                <p:cNvPr id="2062" name="Ink 2061">
                  <a:extLst>
                    <a:ext uri="{FF2B5EF4-FFF2-40B4-BE49-F238E27FC236}">
                      <a16:creationId xmlns:a16="http://schemas.microsoft.com/office/drawing/2014/main" id="{35B852EC-BAD4-DA4A-008A-D833475B394B}"/>
                    </a:ext>
                  </a:extLst>
                </p:cNvPr>
                <p:cNvPicPr/>
                <p:nvPr/>
              </p:nvPicPr>
              <p:blipFill>
                <a:blip r:embed="rId41"/>
                <a:stretch>
                  <a:fillRect/>
                </a:stretch>
              </p:blipFill>
              <p:spPr>
                <a:xfrm>
                  <a:off x="4412363" y="3237583"/>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063" name="Ink 2062">
                  <a:extLst>
                    <a:ext uri="{FF2B5EF4-FFF2-40B4-BE49-F238E27FC236}">
                      <a16:creationId xmlns:a16="http://schemas.microsoft.com/office/drawing/2014/main" id="{09A2D978-36D4-D9CB-E3D6-95EF6DF74F3C}"/>
                    </a:ext>
                  </a:extLst>
                </p14:cNvPr>
                <p14:cNvContentPartPr/>
                <p14:nvPr/>
              </p14:nvContentPartPr>
              <p14:xfrm>
                <a:off x="4430003" y="3238303"/>
                <a:ext cx="360" cy="360"/>
              </p14:xfrm>
            </p:contentPart>
          </mc:Choice>
          <mc:Fallback>
            <p:pic>
              <p:nvPicPr>
                <p:cNvPr id="2063" name="Ink 2062">
                  <a:extLst>
                    <a:ext uri="{FF2B5EF4-FFF2-40B4-BE49-F238E27FC236}">
                      <a16:creationId xmlns:a16="http://schemas.microsoft.com/office/drawing/2014/main" id="{09A2D978-36D4-D9CB-E3D6-95EF6DF74F3C}"/>
                    </a:ext>
                  </a:extLst>
                </p:cNvPr>
                <p:cNvPicPr/>
                <p:nvPr/>
              </p:nvPicPr>
              <p:blipFill>
                <a:blip r:embed="rId41"/>
                <a:stretch>
                  <a:fillRect/>
                </a:stretch>
              </p:blipFill>
              <p:spPr>
                <a:xfrm>
                  <a:off x="4412363" y="3220303"/>
                  <a:ext cx="36000" cy="36000"/>
                </a:xfrm>
                <a:prstGeom prst="rect">
                  <a:avLst/>
                </a:prstGeom>
              </p:spPr>
            </p:pic>
          </mc:Fallback>
        </mc:AlternateContent>
      </p:grpSp>
      <p:grpSp>
        <p:nvGrpSpPr>
          <p:cNvPr id="2067" name="Group 2066">
            <a:extLst>
              <a:ext uri="{FF2B5EF4-FFF2-40B4-BE49-F238E27FC236}">
                <a16:creationId xmlns:a16="http://schemas.microsoft.com/office/drawing/2014/main" id="{5E8CCF8D-41ED-0508-7F07-64577AD3D324}"/>
              </a:ext>
            </a:extLst>
          </p:cNvPr>
          <p:cNvGrpSpPr/>
          <p:nvPr/>
        </p:nvGrpSpPr>
        <p:grpSpPr>
          <a:xfrm>
            <a:off x="3866963" y="3230023"/>
            <a:ext cx="360" cy="21240"/>
            <a:chOff x="3866963" y="3230023"/>
            <a:chExt cx="360" cy="21240"/>
          </a:xfrm>
        </p:grpSpPr>
        <mc:AlternateContent xmlns:mc="http://schemas.openxmlformats.org/markup-compatibility/2006">
          <mc:Choice xmlns:p14="http://schemas.microsoft.com/office/powerpoint/2010/main" Requires="p14">
            <p:contentPart p14:bwMode="auto" r:id="rId44">
              <p14:nvContentPartPr>
                <p14:cNvPr id="2065" name="Ink 2064">
                  <a:extLst>
                    <a:ext uri="{FF2B5EF4-FFF2-40B4-BE49-F238E27FC236}">
                      <a16:creationId xmlns:a16="http://schemas.microsoft.com/office/drawing/2014/main" id="{C2BBFDF6-00D5-6D43-ED61-639F317D8437}"/>
                    </a:ext>
                  </a:extLst>
                </p14:cNvPr>
                <p14:cNvContentPartPr/>
                <p14:nvPr/>
              </p14:nvContentPartPr>
              <p14:xfrm>
                <a:off x="3866963" y="3230023"/>
                <a:ext cx="360" cy="360"/>
              </p14:xfrm>
            </p:contentPart>
          </mc:Choice>
          <mc:Fallback>
            <p:pic>
              <p:nvPicPr>
                <p:cNvPr id="2065" name="Ink 2064">
                  <a:extLst>
                    <a:ext uri="{FF2B5EF4-FFF2-40B4-BE49-F238E27FC236}">
                      <a16:creationId xmlns:a16="http://schemas.microsoft.com/office/drawing/2014/main" id="{C2BBFDF6-00D5-6D43-ED61-639F317D8437}"/>
                    </a:ext>
                  </a:extLst>
                </p:cNvPr>
                <p:cNvPicPr/>
                <p:nvPr/>
              </p:nvPicPr>
              <p:blipFill>
                <a:blip r:embed="rId41"/>
                <a:stretch>
                  <a:fillRect/>
                </a:stretch>
              </p:blipFill>
              <p:spPr>
                <a:xfrm>
                  <a:off x="3849323" y="3212023"/>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066" name="Ink 2065">
                  <a:extLst>
                    <a:ext uri="{FF2B5EF4-FFF2-40B4-BE49-F238E27FC236}">
                      <a16:creationId xmlns:a16="http://schemas.microsoft.com/office/drawing/2014/main" id="{B2719493-718C-C22C-A8BB-1F458C1833F9}"/>
                    </a:ext>
                  </a:extLst>
                </p14:cNvPr>
                <p14:cNvContentPartPr/>
                <p14:nvPr/>
              </p14:nvContentPartPr>
              <p14:xfrm>
                <a:off x="3866963" y="3250903"/>
                <a:ext cx="360" cy="360"/>
              </p14:xfrm>
            </p:contentPart>
          </mc:Choice>
          <mc:Fallback>
            <p:pic>
              <p:nvPicPr>
                <p:cNvPr id="2066" name="Ink 2065">
                  <a:extLst>
                    <a:ext uri="{FF2B5EF4-FFF2-40B4-BE49-F238E27FC236}">
                      <a16:creationId xmlns:a16="http://schemas.microsoft.com/office/drawing/2014/main" id="{B2719493-718C-C22C-A8BB-1F458C1833F9}"/>
                    </a:ext>
                  </a:extLst>
                </p:cNvPr>
                <p:cNvPicPr/>
                <p:nvPr/>
              </p:nvPicPr>
              <p:blipFill>
                <a:blip r:embed="rId41"/>
                <a:stretch>
                  <a:fillRect/>
                </a:stretch>
              </p:blipFill>
              <p:spPr>
                <a:xfrm>
                  <a:off x="3849323" y="3233263"/>
                  <a:ext cx="36000" cy="36000"/>
                </a:xfrm>
                <a:prstGeom prst="rect">
                  <a:avLst/>
                </a:prstGeom>
              </p:spPr>
            </p:pic>
          </mc:Fallback>
        </mc:AlternateContent>
      </p:grpSp>
      <p:cxnSp>
        <p:nvCxnSpPr>
          <p:cNvPr id="2068" name="Straight Arrow Connector 2067">
            <a:extLst>
              <a:ext uri="{FF2B5EF4-FFF2-40B4-BE49-F238E27FC236}">
                <a16:creationId xmlns:a16="http://schemas.microsoft.com/office/drawing/2014/main" id="{7349D997-6A1E-B7AB-01BB-05AE4EEDF328}"/>
              </a:ext>
            </a:extLst>
          </p:cNvPr>
          <p:cNvCxnSpPr>
            <a:cxnSpLocks/>
          </p:cNvCxnSpPr>
          <p:nvPr/>
        </p:nvCxnSpPr>
        <p:spPr>
          <a:xfrm>
            <a:off x="2311400" y="3238303"/>
            <a:ext cx="539017" cy="172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72" name="Straight Arrow Connector 2071">
            <a:extLst>
              <a:ext uri="{FF2B5EF4-FFF2-40B4-BE49-F238E27FC236}">
                <a16:creationId xmlns:a16="http://schemas.microsoft.com/office/drawing/2014/main" id="{143D50A2-9065-D84A-025D-FD3FAF1D0402}"/>
              </a:ext>
            </a:extLst>
          </p:cNvPr>
          <p:cNvCxnSpPr>
            <a:cxnSpLocks/>
          </p:cNvCxnSpPr>
          <p:nvPr/>
        </p:nvCxnSpPr>
        <p:spPr>
          <a:xfrm>
            <a:off x="3821762" y="3238303"/>
            <a:ext cx="665335"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74" name="Straight Arrow Connector 2073">
            <a:extLst>
              <a:ext uri="{FF2B5EF4-FFF2-40B4-BE49-F238E27FC236}">
                <a16:creationId xmlns:a16="http://schemas.microsoft.com/office/drawing/2014/main" id="{B89EDC00-62E8-5066-186B-BFFED33BBF1B}"/>
              </a:ext>
            </a:extLst>
          </p:cNvPr>
          <p:cNvCxnSpPr>
            <a:cxnSpLocks/>
          </p:cNvCxnSpPr>
          <p:nvPr/>
        </p:nvCxnSpPr>
        <p:spPr>
          <a:xfrm>
            <a:off x="6651625" y="4902590"/>
            <a:ext cx="709512"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76" name="Straight Arrow Connector 2075">
            <a:extLst>
              <a:ext uri="{FF2B5EF4-FFF2-40B4-BE49-F238E27FC236}">
                <a16:creationId xmlns:a16="http://schemas.microsoft.com/office/drawing/2014/main" id="{B4973AAE-67AA-8270-A45A-53AFA0C04479}"/>
              </a:ext>
            </a:extLst>
          </p:cNvPr>
          <p:cNvCxnSpPr>
            <a:cxnSpLocks/>
          </p:cNvCxnSpPr>
          <p:nvPr/>
        </p:nvCxnSpPr>
        <p:spPr>
          <a:xfrm>
            <a:off x="8337814" y="4890350"/>
            <a:ext cx="1588625"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78" name="Straight Arrow Connector 2077">
            <a:extLst>
              <a:ext uri="{FF2B5EF4-FFF2-40B4-BE49-F238E27FC236}">
                <a16:creationId xmlns:a16="http://schemas.microsoft.com/office/drawing/2014/main" id="{767CDABF-1488-84E3-3487-D92EFAC2FB9A}"/>
              </a:ext>
            </a:extLst>
          </p:cNvPr>
          <p:cNvCxnSpPr>
            <a:cxnSpLocks/>
          </p:cNvCxnSpPr>
          <p:nvPr/>
        </p:nvCxnSpPr>
        <p:spPr>
          <a:xfrm>
            <a:off x="5560283" y="3649133"/>
            <a:ext cx="1040" cy="73263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2" name="Straight Arrow Connector 2081">
            <a:extLst>
              <a:ext uri="{FF2B5EF4-FFF2-40B4-BE49-F238E27FC236}">
                <a16:creationId xmlns:a16="http://schemas.microsoft.com/office/drawing/2014/main" id="{57C40895-7B78-3A83-DEDA-A2D73BCEE66F}"/>
              </a:ext>
            </a:extLst>
          </p:cNvPr>
          <p:cNvCxnSpPr/>
          <p:nvPr/>
        </p:nvCxnSpPr>
        <p:spPr>
          <a:xfrm>
            <a:off x="6651625" y="3238303"/>
            <a:ext cx="1535642" cy="0"/>
          </a:xfrm>
          <a:prstGeom prst="straightConnector1">
            <a:avLst/>
          </a:prstGeom>
          <a:ln w="285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085" name="Picture 2084">
            <a:extLst>
              <a:ext uri="{FF2B5EF4-FFF2-40B4-BE49-F238E27FC236}">
                <a16:creationId xmlns:a16="http://schemas.microsoft.com/office/drawing/2014/main" id="{A8A5595C-46AF-A278-C66A-7DF3F13FBB43}"/>
              </a:ext>
            </a:extLst>
          </p:cNvPr>
          <p:cNvPicPr>
            <a:picLocks noChangeAspect="1"/>
          </p:cNvPicPr>
          <p:nvPr/>
        </p:nvPicPr>
        <p:blipFill>
          <a:blip r:embed="rId46"/>
          <a:stretch>
            <a:fillRect/>
          </a:stretch>
        </p:blipFill>
        <p:spPr>
          <a:xfrm>
            <a:off x="6781182" y="2948976"/>
            <a:ext cx="1276528" cy="247685"/>
          </a:xfrm>
          <a:prstGeom prst="rect">
            <a:avLst/>
          </a:prstGeom>
        </p:spPr>
      </p:pic>
      <mc:AlternateContent xmlns:mc="http://schemas.openxmlformats.org/markup-compatibility/2006">
        <mc:Choice xmlns:p14="http://schemas.microsoft.com/office/powerpoint/2010/main" Requires="p14">
          <p:contentPart p14:bwMode="auto" r:id="rId47">
            <p14:nvContentPartPr>
              <p14:cNvPr id="2086" name="Ink 2085">
                <a:extLst>
                  <a:ext uri="{FF2B5EF4-FFF2-40B4-BE49-F238E27FC236}">
                    <a16:creationId xmlns:a16="http://schemas.microsoft.com/office/drawing/2014/main" id="{1BBA92C4-59A5-3E07-5F43-D356752915B3}"/>
                  </a:ext>
                </a:extLst>
              </p14:cNvPr>
              <p14:cNvContentPartPr/>
              <p14:nvPr/>
            </p14:nvContentPartPr>
            <p14:xfrm>
              <a:off x="6326493" y="2082187"/>
              <a:ext cx="1042560" cy="69480"/>
            </p14:xfrm>
          </p:contentPart>
        </mc:Choice>
        <mc:Fallback>
          <p:pic>
            <p:nvPicPr>
              <p:cNvPr id="2086" name="Ink 2085">
                <a:extLst>
                  <a:ext uri="{FF2B5EF4-FFF2-40B4-BE49-F238E27FC236}">
                    <a16:creationId xmlns:a16="http://schemas.microsoft.com/office/drawing/2014/main" id="{1BBA92C4-59A5-3E07-5F43-D356752915B3}"/>
                  </a:ext>
                </a:extLst>
              </p:cNvPr>
              <p:cNvPicPr/>
              <p:nvPr/>
            </p:nvPicPr>
            <p:blipFill>
              <a:blip r:embed="rId48"/>
              <a:stretch>
                <a:fillRect/>
              </a:stretch>
            </p:blipFill>
            <p:spPr>
              <a:xfrm>
                <a:off x="6263493" y="2019187"/>
                <a:ext cx="1168200" cy="195120"/>
              </a:xfrm>
              <a:prstGeom prst="rect">
                <a:avLst/>
              </a:prstGeom>
            </p:spPr>
          </p:pic>
        </mc:Fallback>
      </mc:AlternateContent>
      <p:pic>
        <p:nvPicPr>
          <p:cNvPr id="2087" name="Picture 2086">
            <a:extLst>
              <a:ext uri="{FF2B5EF4-FFF2-40B4-BE49-F238E27FC236}">
                <a16:creationId xmlns:a16="http://schemas.microsoft.com/office/drawing/2014/main" id="{94D9A4AA-78E5-D3C7-D868-89BE5D2692BC}"/>
              </a:ext>
            </a:extLst>
          </p:cNvPr>
          <p:cNvPicPr>
            <a:picLocks noChangeAspect="1"/>
          </p:cNvPicPr>
          <p:nvPr/>
        </p:nvPicPr>
        <p:blipFill>
          <a:blip r:embed="rId46"/>
          <a:stretch>
            <a:fillRect/>
          </a:stretch>
        </p:blipFill>
        <p:spPr>
          <a:xfrm>
            <a:off x="6253209" y="2025211"/>
            <a:ext cx="1073022" cy="208198"/>
          </a:xfrm>
          <a:prstGeom prst="rect">
            <a:avLst/>
          </a:prstGeom>
        </p:spPr>
      </p:pic>
      <p:sp>
        <p:nvSpPr>
          <p:cNvPr id="2088" name="Shape 2">
            <a:extLst>
              <a:ext uri="{FF2B5EF4-FFF2-40B4-BE49-F238E27FC236}">
                <a16:creationId xmlns:a16="http://schemas.microsoft.com/office/drawing/2014/main" id="{87A56E35-3559-B597-4CF1-54A6309CE25D}"/>
              </a:ext>
            </a:extLst>
          </p:cNvPr>
          <p:cNvSpPr/>
          <p:nvPr/>
        </p:nvSpPr>
        <p:spPr>
          <a:xfrm>
            <a:off x="180824" y="478128"/>
            <a:ext cx="11737197" cy="693125"/>
          </a:xfrm>
          <a:prstGeom prst="rect">
            <a:avLst/>
          </a:prstGeom>
          <a:solidFill>
            <a:srgbClr val="1B2A4A"/>
          </a:solidFill>
          <a:ln/>
          <a:effectLst>
            <a:outerShdw blurRad="101600" dist="38100" dir="8100000" algn="bl" rotWithShape="0">
              <a:srgbClr val="000000">
                <a:alpha val="15000"/>
              </a:srgbClr>
            </a:outerShdw>
          </a:effectLst>
        </p:spPr>
      </p:sp>
      <p:sp>
        <p:nvSpPr>
          <p:cNvPr id="2089" name="Text 3">
            <a:extLst>
              <a:ext uri="{FF2B5EF4-FFF2-40B4-BE49-F238E27FC236}">
                <a16:creationId xmlns:a16="http://schemas.microsoft.com/office/drawing/2014/main" id="{59EB1754-EB8F-40E2-34AE-2BFD20ED3B1B}"/>
              </a:ext>
            </a:extLst>
          </p:cNvPr>
          <p:cNvSpPr/>
          <p:nvPr/>
        </p:nvSpPr>
        <p:spPr>
          <a:xfrm>
            <a:off x="180824" y="343670"/>
            <a:ext cx="11737197" cy="960120"/>
          </a:xfrm>
          <a:prstGeom prst="rect">
            <a:avLst/>
          </a:prstGeom>
          <a:noFill/>
          <a:ln/>
        </p:spPr>
        <p:txBody>
          <a:bodyPr wrap="square" rtlCol="0" anchor="ctr"/>
          <a:lstStyle/>
          <a:p>
            <a:pPr marL="0" indent="0" algn="ctr">
              <a:buNone/>
            </a:pPr>
            <a:r>
              <a:rPr lang="en-US" sz="1500" b="1" dirty="0">
                <a:solidFill>
                  <a:srgbClr val="F5C842"/>
                </a:solidFill>
              </a:rPr>
              <a:t>A variational autoencoder</a:t>
            </a:r>
            <a:r>
              <a:rPr lang="en-US" sz="1500" dirty="0">
                <a:solidFill>
                  <a:srgbClr val="FFFFFF"/>
                </a:solidFill>
              </a:rPr>
              <a:t> is a neural network that learns to </a:t>
            </a:r>
            <a:r>
              <a:rPr lang="en-US" sz="1500" b="1" dirty="0">
                <a:solidFill>
                  <a:srgbClr val="4CAF82"/>
                </a:solidFill>
              </a:rPr>
              <a:t>encode</a:t>
            </a:r>
            <a:r>
              <a:rPr lang="en-US" sz="1500" dirty="0">
                <a:solidFill>
                  <a:srgbClr val="FFFFFF"/>
                </a:solidFill>
              </a:rPr>
              <a:t> data into a probability distribution (Gaussian) and then </a:t>
            </a:r>
            <a:r>
              <a:rPr lang="en-US" sz="1500" b="1" dirty="0">
                <a:solidFill>
                  <a:srgbClr val="E8748A"/>
                </a:solidFill>
              </a:rPr>
              <a:t>generate </a:t>
            </a:r>
            <a:r>
              <a:rPr lang="en-US" sz="1500" dirty="0">
                <a:solidFill>
                  <a:srgbClr val="FFFFFF"/>
                </a:solidFill>
              </a:rPr>
              <a:t>reconstructions by sampling from it — enabling the generation of new, realistic images.</a:t>
            </a:r>
            <a:endParaRPr lang="en-US" sz="1500" dirty="0"/>
          </a:p>
        </p:txBody>
      </p:sp>
    </p:spTree>
    <p:extLst>
      <p:ext uri="{BB962C8B-B14F-4D97-AF65-F5344CB8AC3E}">
        <p14:creationId xmlns:p14="http://schemas.microsoft.com/office/powerpoint/2010/main" val="1965893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a:extLst>
              <a:ext uri="{FF2B5EF4-FFF2-40B4-BE49-F238E27FC236}">
                <a16:creationId xmlns:a16="http://schemas.microsoft.com/office/drawing/2014/main" id="{64AB622C-798C-7A04-A309-0497924C7BAD}"/>
              </a:ext>
            </a:extLst>
          </p:cNvPr>
          <p:cNvSpPr/>
          <p:nvPr/>
        </p:nvSpPr>
        <p:spPr>
          <a:xfrm rot="5400000">
            <a:off x="2841743" y="3779080"/>
            <a:ext cx="1634960" cy="1634958"/>
          </a:xfrm>
          <a:prstGeom prst="trapezoid">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pic>
        <p:nvPicPr>
          <p:cNvPr id="4" name="Picture 3">
            <a:extLst>
              <a:ext uri="{FF2B5EF4-FFF2-40B4-BE49-F238E27FC236}">
                <a16:creationId xmlns:a16="http://schemas.microsoft.com/office/drawing/2014/main" id="{E450A1BD-6AE9-378F-0023-80661B1D4D74}"/>
              </a:ext>
            </a:extLst>
          </p:cNvPr>
          <p:cNvPicPr>
            <a:picLocks noChangeAspect="1"/>
          </p:cNvPicPr>
          <p:nvPr/>
        </p:nvPicPr>
        <p:blipFill>
          <a:blip r:embed="rId2"/>
          <a:stretch>
            <a:fillRect/>
          </a:stretch>
        </p:blipFill>
        <p:spPr>
          <a:xfrm>
            <a:off x="860752" y="3788427"/>
            <a:ext cx="1634960" cy="1634960"/>
          </a:xfrm>
          <a:prstGeom prst="rect">
            <a:avLst/>
          </a:prstGeom>
        </p:spPr>
      </p:pic>
      <p:sp>
        <p:nvSpPr>
          <p:cNvPr id="5" name="Rectangle 4">
            <a:extLst>
              <a:ext uri="{FF2B5EF4-FFF2-40B4-BE49-F238E27FC236}">
                <a16:creationId xmlns:a16="http://schemas.microsoft.com/office/drawing/2014/main" id="{AB09139A-D114-2274-3D76-985BD760803A}"/>
              </a:ext>
            </a:extLst>
          </p:cNvPr>
          <p:cNvSpPr/>
          <p:nvPr/>
        </p:nvSpPr>
        <p:spPr>
          <a:xfrm>
            <a:off x="7265979" y="4190345"/>
            <a:ext cx="421241" cy="80010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6" name="Picture 5">
            <a:extLst>
              <a:ext uri="{FF2B5EF4-FFF2-40B4-BE49-F238E27FC236}">
                <a16:creationId xmlns:a16="http://schemas.microsoft.com/office/drawing/2014/main" id="{B9E7ECDE-1A59-3115-187B-4344B6E304E7}"/>
              </a:ext>
            </a:extLst>
          </p:cNvPr>
          <p:cNvPicPr>
            <a:picLocks noChangeAspect="1"/>
          </p:cNvPicPr>
          <p:nvPr/>
        </p:nvPicPr>
        <p:blipFill>
          <a:blip r:embed="rId3"/>
          <a:stretch>
            <a:fillRect/>
          </a:stretch>
        </p:blipFill>
        <p:spPr>
          <a:xfrm>
            <a:off x="9791204" y="3779079"/>
            <a:ext cx="1633682" cy="1633682"/>
          </a:xfrm>
          <a:prstGeom prst="rect">
            <a:avLst/>
          </a:prstGeom>
        </p:spPr>
      </p:pic>
      <p:cxnSp>
        <p:nvCxnSpPr>
          <p:cNvPr id="7" name="Straight Arrow Connector 6">
            <a:extLst>
              <a:ext uri="{FF2B5EF4-FFF2-40B4-BE49-F238E27FC236}">
                <a16:creationId xmlns:a16="http://schemas.microsoft.com/office/drawing/2014/main" id="{00E09DF3-E34B-6BEA-126A-B205C4C47A60}"/>
              </a:ext>
            </a:extLst>
          </p:cNvPr>
          <p:cNvCxnSpPr>
            <a:cxnSpLocks/>
          </p:cNvCxnSpPr>
          <p:nvPr/>
        </p:nvCxnSpPr>
        <p:spPr>
          <a:xfrm>
            <a:off x="2486578" y="4677077"/>
            <a:ext cx="3551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6C24BFE-3A40-12A9-C5D9-94F38F6CE883}"/>
              </a:ext>
            </a:extLst>
          </p:cNvPr>
          <p:cNvSpPr txBox="1"/>
          <p:nvPr/>
        </p:nvSpPr>
        <p:spPr>
          <a:xfrm>
            <a:off x="3016996" y="4384966"/>
            <a:ext cx="1284454" cy="461665"/>
          </a:xfrm>
          <a:prstGeom prst="rect">
            <a:avLst/>
          </a:prstGeom>
          <a:noFill/>
        </p:spPr>
        <p:txBody>
          <a:bodyPr wrap="square" rtlCol="0">
            <a:spAutoFit/>
          </a:bodyPr>
          <a:lstStyle/>
          <a:p>
            <a:r>
              <a:rPr lang="en-US" sz="2400" dirty="0"/>
              <a:t>Encoder</a:t>
            </a:r>
            <a:endParaRPr lang="ro-RO" sz="2400" dirty="0"/>
          </a:p>
        </p:txBody>
      </p:sp>
      <p:sp>
        <p:nvSpPr>
          <p:cNvPr id="11" name="TextBox 10">
            <a:extLst>
              <a:ext uri="{FF2B5EF4-FFF2-40B4-BE49-F238E27FC236}">
                <a16:creationId xmlns:a16="http://schemas.microsoft.com/office/drawing/2014/main" id="{26A56DBB-EFD6-936C-0CDE-4E1B350813B9}"/>
              </a:ext>
            </a:extLst>
          </p:cNvPr>
          <p:cNvSpPr txBox="1"/>
          <p:nvPr/>
        </p:nvSpPr>
        <p:spPr>
          <a:xfrm>
            <a:off x="7328432" y="4405727"/>
            <a:ext cx="296333" cy="369332"/>
          </a:xfrm>
          <a:prstGeom prst="rect">
            <a:avLst/>
          </a:prstGeom>
          <a:noFill/>
        </p:spPr>
        <p:txBody>
          <a:bodyPr wrap="square" rtlCol="0">
            <a:spAutoFit/>
          </a:bodyPr>
          <a:lstStyle/>
          <a:p>
            <a:r>
              <a:rPr lang="en-US" dirty="0">
                <a:latin typeface="Viner Hand ITC" panose="03070502030502020203" pitchFamily="66" charset="0"/>
              </a:rPr>
              <a:t>z</a:t>
            </a:r>
            <a:endParaRPr lang="ro-RO" dirty="0">
              <a:latin typeface="Viner Hand ITC" panose="03070502030502020203" pitchFamily="66" charset="0"/>
            </a:endParaRPr>
          </a:p>
        </p:txBody>
      </p:sp>
      <p:sp>
        <p:nvSpPr>
          <p:cNvPr id="13" name="Rectangle 12">
            <a:extLst>
              <a:ext uri="{FF2B5EF4-FFF2-40B4-BE49-F238E27FC236}">
                <a16:creationId xmlns:a16="http://schemas.microsoft.com/office/drawing/2014/main" id="{FA2DFACF-649C-F28D-3297-DB0A7294C660}"/>
              </a:ext>
            </a:extLst>
          </p:cNvPr>
          <p:cNvSpPr/>
          <p:nvPr/>
        </p:nvSpPr>
        <p:spPr>
          <a:xfrm>
            <a:off x="5269744" y="4192620"/>
            <a:ext cx="1600925" cy="8001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5" name="Rectangle 14">
            <a:extLst>
              <a:ext uri="{FF2B5EF4-FFF2-40B4-BE49-F238E27FC236}">
                <a16:creationId xmlns:a16="http://schemas.microsoft.com/office/drawing/2014/main" id="{950AF18E-8FD6-C223-6915-40EFBB5FB5AF}"/>
              </a:ext>
            </a:extLst>
          </p:cNvPr>
          <p:cNvSpPr/>
          <p:nvPr/>
        </p:nvSpPr>
        <p:spPr>
          <a:xfrm>
            <a:off x="4657907" y="4201394"/>
            <a:ext cx="421241" cy="357113"/>
          </a:xfrm>
          <a:prstGeom prst="rect">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8" name="Trapezoid 17">
            <a:extLst>
              <a:ext uri="{FF2B5EF4-FFF2-40B4-BE49-F238E27FC236}">
                <a16:creationId xmlns:a16="http://schemas.microsoft.com/office/drawing/2014/main" id="{7BF19F78-CF4F-21DF-0EAF-96E187C66598}"/>
              </a:ext>
            </a:extLst>
          </p:cNvPr>
          <p:cNvSpPr/>
          <p:nvPr/>
        </p:nvSpPr>
        <p:spPr>
          <a:xfrm rot="16200000">
            <a:off x="7810213" y="3759201"/>
            <a:ext cx="1634960" cy="1634958"/>
          </a:xfrm>
          <a:prstGeom prst="trapezoid">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19" name="TextBox 18">
            <a:extLst>
              <a:ext uri="{FF2B5EF4-FFF2-40B4-BE49-F238E27FC236}">
                <a16:creationId xmlns:a16="http://schemas.microsoft.com/office/drawing/2014/main" id="{059652F2-F015-E02F-4B8A-6242E3890D72}"/>
              </a:ext>
            </a:extLst>
          </p:cNvPr>
          <p:cNvSpPr txBox="1"/>
          <p:nvPr/>
        </p:nvSpPr>
        <p:spPr>
          <a:xfrm>
            <a:off x="7985466" y="4365087"/>
            <a:ext cx="1544457" cy="461665"/>
          </a:xfrm>
          <a:prstGeom prst="rect">
            <a:avLst/>
          </a:prstGeom>
          <a:noFill/>
        </p:spPr>
        <p:txBody>
          <a:bodyPr wrap="square" rtlCol="0">
            <a:spAutoFit/>
          </a:bodyPr>
          <a:lstStyle/>
          <a:p>
            <a:r>
              <a:rPr lang="en-US" sz="2400" dirty="0"/>
              <a:t>Decoder</a:t>
            </a:r>
            <a:endParaRPr lang="ro-RO" sz="2400" dirty="0"/>
          </a:p>
        </p:txBody>
      </p:sp>
      <p:pic>
        <p:nvPicPr>
          <p:cNvPr id="24" name="Picture 23">
            <a:extLst>
              <a:ext uri="{FF2B5EF4-FFF2-40B4-BE49-F238E27FC236}">
                <a16:creationId xmlns:a16="http://schemas.microsoft.com/office/drawing/2014/main" id="{476CBCB4-971B-5B5D-F878-6BC7EE605C9E}"/>
              </a:ext>
            </a:extLst>
          </p:cNvPr>
          <p:cNvPicPr>
            <a:picLocks noChangeAspect="1"/>
          </p:cNvPicPr>
          <p:nvPr/>
        </p:nvPicPr>
        <p:blipFill>
          <a:blip r:embed="rId4"/>
          <a:stretch>
            <a:fillRect/>
          </a:stretch>
        </p:blipFill>
        <p:spPr>
          <a:xfrm>
            <a:off x="4757409" y="4251344"/>
            <a:ext cx="228632" cy="257211"/>
          </a:xfrm>
          <a:prstGeom prst="rect">
            <a:avLst/>
          </a:prstGeom>
        </p:spPr>
      </p:pic>
      <p:sp>
        <p:nvSpPr>
          <p:cNvPr id="25" name="Rectangle 24">
            <a:extLst>
              <a:ext uri="{FF2B5EF4-FFF2-40B4-BE49-F238E27FC236}">
                <a16:creationId xmlns:a16="http://schemas.microsoft.com/office/drawing/2014/main" id="{F07CF69D-AD36-F250-CF1F-F556D4CB4773}"/>
              </a:ext>
            </a:extLst>
          </p:cNvPr>
          <p:cNvSpPr/>
          <p:nvPr/>
        </p:nvSpPr>
        <p:spPr>
          <a:xfrm>
            <a:off x="4657907" y="4648196"/>
            <a:ext cx="421241" cy="357113"/>
          </a:xfrm>
          <a:prstGeom prst="rect">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27" name="Picture 26">
            <a:extLst>
              <a:ext uri="{FF2B5EF4-FFF2-40B4-BE49-F238E27FC236}">
                <a16:creationId xmlns:a16="http://schemas.microsoft.com/office/drawing/2014/main" id="{D035CB46-54AB-9765-AE23-16945AB2C7D5}"/>
              </a:ext>
            </a:extLst>
          </p:cNvPr>
          <p:cNvPicPr>
            <a:picLocks noChangeAspect="1"/>
          </p:cNvPicPr>
          <p:nvPr/>
        </p:nvPicPr>
        <p:blipFill>
          <a:blip r:embed="rId5"/>
          <a:stretch>
            <a:fillRect/>
          </a:stretch>
        </p:blipFill>
        <p:spPr>
          <a:xfrm>
            <a:off x="4755132" y="4726591"/>
            <a:ext cx="242495" cy="200321"/>
          </a:xfrm>
          <a:prstGeom prst="rect">
            <a:avLst/>
          </a:prstGeom>
        </p:spPr>
      </p:pic>
      <p:cxnSp>
        <p:nvCxnSpPr>
          <p:cNvPr id="33" name="Straight Arrow Connector 32">
            <a:extLst>
              <a:ext uri="{FF2B5EF4-FFF2-40B4-BE49-F238E27FC236}">
                <a16:creationId xmlns:a16="http://schemas.microsoft.com/office/drawing/2014/main" id="{4C41F090-1FF1-28A6-E643-C9AC093EE431}"/>
              </a:ext>
            </a:extLst>
          </p:cNvPr>
          <p:cNvCxnSpPr>
            <a:cxnSpLocks/>
          </p:cNvCxnSpPr>
          <p:nvPr/>
        </p:nvCxnSpPr>
        <p:spPr>
          <a:xfrm>
            <a:off x="9445172" y="4577450"/>
            <a:ext cx="3551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E3073536-661E-93DE-9E0D-D603A5D9136B}"/>
              </a:ext>
            </a:extLst>
          </p:cNvPr>
          <p:cNvPicPr>
            <a:picLocks noChangeAspect="1"/>
          </p:cNvPicPr>
          <p:nvPr/>
        </p:nvPicPr>
        <p:blipFill>
          <a:blip r:embed="rId6"/>
          <a:stretch>
            <a:fillRect/>
          </a:stretch>
        </p:blipFill>
        <p:spPr>
          <a:xfrm>
            <a:off x="6923741" y="4519936"/>
            <a:ext cx="295090" cy="140914"/>
          </a:xfrm>
          <a:prstGeom prst="rect">
            <a:avLst/>
          </a:prstGeom>
        </p:spPr>
      </p:pic>
      <p:pic>
        <p:nvPicPr>
          <p:cNvPr id="45" name="Picture 44">
            <a:extLst>
              <a:ext uri="{FF2B5EF4-FFF2-40B4-BE49-F238E27FC236}">
                <a16:creationId xmlns:a16="http://schemas.microsoft.com/office/drawing/2014/main" id="{BF6EDB2A-1C13-BD5D-1283-5DAA30047F47}"/>
              </a:ext>
            </a:extLst>
          </p:cNvPr>
          <p:cNvPicPr>
            <a:picLocks noChangeAspect="1"/>
          </p:cNvPicPr>
          <p:nvPr/>
        </p:nvPicPr>
        <p:blipFill>
          <a:blip r:embed="rId7"/>
          <a:stretch>
            <a:fillRect/>
          </a:stretch>
        </p:blipFill>
        <p:spPr>
          <a:xfrm>
            <a:off x="5497970" y="4424906"/>
            <a:ext cx="1057423" cy="362001"/>
          </a:xfrm>
          <a:prstGeom prst="rect">
            <a:avLst/>
          </a:prstGeom>
        </p:spPr>
      </p:pic>
      <p:sp>
        <p:nvSpPr>
          <p:cNvPr id="46" name="Shape 0">
            <a:extLst>
              <a:ext uri="{FF2B5EF4-FFF2-40B4-BE49-F238E27FC236}">
                <a16:creationId xmlns:a16="http://schemas.microsoft.com/office/drawing/2014/main" id="{5797ABA1-B13E-D6DF-8C32-AFC90351B32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6146" name="Picture 2" descr="Simple GIFs | Tenor">
            <a:extLst>
              <a:ext uri="{FF2B5EF4-FFF2-40B4-BE49-F238E27FC236}">
                <a16:creationId xmlns:a16="http://schemas.microsoft.com/office/drawing/2014/main" id="{AE65F260-070B-B385-97D4-C82FD009D8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4849" y="915618"/>
            <a:ext cx="2542302" cy="2542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367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DB706-9AD9-0F5F-9CDA-239D31CC23BB}"/>
              </a:ext>
            </a:extLst>
          </p:cNvPr>
          <p:cNvSpPr txBox="1"/>
          <p:nvPr/>
        </p:nvSpPr>
        <p:spPr>
          <a:xfrm>
            <a:off x="2451100" y="1495862"/>
            <a:ext cx="8293100" cy="707886"/>
          </a:xfrm>
          <a:prstGeom prst="rect">
            <a:avLst/>
          </a:prstGeom>
          <a:noFill/>
        </p:spPr>
        <p:txBody>
          <a:bodyPr wrap="square" rtlCol="0">
            <a:spAutoFit/>
          </a:bodyPr>
          <a:lstStyle/>
          <a:p>
            <a:r>
              <a:rPr lang="en-US" sz="4000" i="1" dirty="0"/>
              <a:t>But we have another problem….</a:t>
            </a:r>
            <a:endParaRPr lang="ro-RO" sz="4000" i="1" dirty="0"/>
          </a:p>
        </p:txBody>
      </p:sp>
      <p:pic>
        <p:nvPicPr>
          <p:cNvPr id="7178" name="Picture 10" descr="Facepalm Crowd GIF - Facepalm Crowd - Discover &amp; Share GIFs">
            <a:extLst>
              <a:ext uri="{FF2B5EF4-FFF2-40B4-BE49-F238E27FC236}">
                <a16:creationId xmlns:a16="http://schemas.microsoft.com/office/drawing/2014/main" id="{8D00DF41-EF93-1640-D6BA-EFF481F2A9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2635251"/>
            <a:ext cx="5238750" cy="2928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590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96F7E-8AC9-77CF-C02F-33028803FFF8}"/>
              </a:ext>
            </a:extLst>
          </p:cNvPr>
          <p:cNvPicPr>
            <a:picLocks noChangeAspect="1"/>
          </p:cNvPicPr>
          <p:nvPr/>
        </p:nvPicPr>
        <p:blipFill>
          <a:blip r:embed="rId2"/>
          <a:stretch>
            <a:fillRect/>
          </a:stretch>
        </p:blipFill>
        <p:spPr>
          <a:xfrm>
            <a:off x="1341325" y="1641288"/>
            <a:ext cx="1609950" cy="1590897"/>
          </a:xfrm>
          <a:prstGeom prst="rect">
            <a:avLst/>
          </a:prstGeom>
        </p:spPr>
      </p:pic>
      <p:sp>
        <p:nvSpPr>
          <p:cNvPr id="4" name="Shape 0">
            <a:extLst>
              <a:ext uri="{FF2B5EF4-FFF2-40B4-BE49-F238E27FC236}">
                <a16:creationId xmlns:a16="http://schemas.microsoft.com/office/drawing/2014/main" id="{787DC5AB-27F2-8C5A-D17A-0BB682C2F1EB}"/>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8" name="Picture 7">
            <a:extLst>
              <a:ext uri="{FF2B5EF4-FFF2-40B4-BE49-F238E27FC236}">
                <a16:creationId xmlns:a16="http://schemas.microsoft.com/office/drawing/2014/main" id="{30D0F123-22F3-EAE1-ECFE-E07D2B33CADE}"/>
              </a:ext>
            </a:extLst>
          </p:cNvPr>
          <p:cNvPicPr>
            <a:picLocks noChangeAspect="1"/>
          </p:cNvPicPr>
          <p:nvPr/>
        </p:nvPicPr>
        <p:blipFill>
          <a:blip r:embed="rId3"/>
          <a:stretch>
            <a:fillRect/>
          </a:stretch>
        </p:blipFill>
        <p:spPr>
          <a:xfrm>
            <a:off x="3428888" y="1641288"/>
            <a:ext cx="1600423" cy="1629002"/>
          </a:xfrm>
          <a:prstGeom prst="rect">
            <a:avLst/>
          </a:prstGeom>
        </p:spPr>
      </p:pic>
      <p:pic>
        <p:nvPicPr>
          <p:cNvPr id="10" name="Picture 9">
            <a:extLst>
              <a:ext uri="{FF2B5EF4-FFF2-40B4-BE49-F238E27FC236}">
                <a16:creationId xmlns:a16="http://schemas.microsoft.com/office/drawing/2014/main" id="{4D338D43-2CBA-2089-22F1-AA1D49FEE102}"/>
              </a:ext>
            </a:extLst>
          </p:cNvPr>
          <p:cNvPicPr>
            <a:picLocks noChangeAspect="1"/>
          </p:cNvPicPr>
          <p:nvPr/>
        </p:nvPicPr>
        <p:blipFill>
          <a:blip r:embed="rId4"/>
          <a:stretch>
            <a:fillRect/>
          </a:stretch>
        </p:blipFill>
        <p:spPr>
          <a:xfrm>
            <a:off x="1341325" y="3613073"/>
            <a:ext cx="1590897" cy="1600423"/>
          </a:xfrm>
          <a:prstGeom prst="rect">
            <a:avLst/>
          </a:prstGeom>
        </p:spPr>
      </p:pic>
      <p:pic>
        <p:nvPicPr>
          <p:cNvPr id="12" name="Picture 11">
            <a:extLst>
              <a:ext uri="{FF2B5EF4-FFF2-40B4-BE49-F238E27FC236}">
                <a16:creationId xmlns:a16="http://schemas.microsoft.com/office/drawing/2014/main" id="{6599D6A1-19F4-29FF-2976-FB76F961C1DE}"/>
              </a:ext>
            </a:extLst>
          </p:cNvPr>
          <p:cNvPicPr>
            <a:picLocks noChangeAspect="1"/>
          </p:cNvPicPr>
          <p:nvPr/>
        </p:nvPicPr>
        <p:blipFill>
          <a:blip r:embed="rId5"/>
          <a:stretch>
            <a:fillRect/>
          </a:stretch>
        </p:blipFill>
        <p:spPr>
          <a:xfrm>
            <a:off x="3428888" y="3613072"/>
            <a:ext cx="1581371" cy="1600423"/>
          </a:xfrm>
          <a:prstGeom prst="rect">
            <a:avLst/>
          </a:prstGeom>
        </p:spPr>
      </p:pic>
      <p:pic>
        <p:nvPicPr>
          <p:cNvPr id="14" name="Picture 13">
            <a:extLst>
              <a:ext uri="{FF2B5EF4-FFF2-40B4-BE49-F238E27FC236}">
                <a16:creationId xmlns:a16="http://schemas.microsoft.com/office/drawing/2014/main" id="{27720113-8CC6-22C4-C227-D60B7DB45946}"/>
              </a:ext>
            </a:extLst>
          </p:cNvPr>
          <p:cNvPicPr>
            <a:picLocks noChangeAspect="1"/>
          </p:cNvPicPr>
          <p:nvPr/>
        </p:nvPicPr>
        <p:blipFill>
          <a:blip r:embed="rId6"/>
          <a:stretch>
            <a:fillRect/>
          </a:stretch>
        </p:blipFill>
        <p:spPr>
          <a:xfrm>
            <a:off x="7162689" y="1663514"/>
            <a:ext cx="1590897" cy="1619476"/>
          </a:xfrm>
          <a:prstGeom prst="rect">
            <a:avLst/>
          </a:prstGeom>
        </p:spPr>
      </p:pic>
      <p:pic>
        <p:nvPicPr>
          <p:cNvPr id="16" name="Picture 15">
            <a:extLst>
              <a:ext uri="{FF2B5EF4-FFF2-40B4-BE49-F238E27FC236}">
                <a16:creationId xmlns:a16="http://schemas.microsoft.com/office/drawing/2014/main" id="{264A0CB2-9A36-C415-C554-9825B35C06DD}"/>
              </a:ext>
            </a:extLst>
          </p:cNvPr>
          <p:cNvPicPr>
            <a:picLocks noChangeAspect="1"/>
          </p:cNvPicPr>
          <p:nvPr/>
        </p:nvPicPr>
        <p:blipFill>
          <a:blip r:embed="rId7"/>
          <a:stretch>
            <a:fillRect/>
          </a:stretch>
        </p:blipFill>
        <p:spPr>
          <a:xfrm>
            <a:off x="9240725" y="1663514"/>
            <a:ext cx="1609950" cy="1619476"/>
          </a:xfrm>
          <a:prstGeom prst="rect">
            <a:avLst/>
          </a:prstGeom>
        </p:spPr>
      </p:pic>
      <p:pic>
        <p:nvPicPr>
          <p:cNvPr id="18" name="Picture 17">
            <a:extLst>
              <a:ext uri="{FF2B5EF4-FFF2-40B4-BE49-F238E27FC236}">
                <a16:creationId xmlns:a16="http://schemas.microsoft.com/office/drawing/2014/main" id="{9152C911-4CB4-99D9-8E90-299C8B390DF7}"/>
              </a:ext>
            </a:extLst>
          </p:cNvPr>
          <p:cNvPicPr>
            <a:picLocks noChangeAspect="1"/>
          </p:cNvPicPr>
          <p:nvPr/>
        </p:nvPicPr>
        <p:blipFill>
          <a:blip r:embed="rId8"/>
          <a:stretch>
            <a:fillRect/>
          </a:stretch>
        </p:blipFill>
        <p:spPr>
          <a:xfrm>
            <a:off x="7162688" y="3613072"/>
            <a:ext cx="1590897" cy="1609950"/>
          </a:xfrm>
          <a:prstGeom prst="rect">
            <a:avLst/>
          </a:prstGeom>
        </p:spPr>
      </p:pic>
      <p:pic>
        <p:nvPicPr>
          <p:cNvPr id="20" name="Picture 19">
            <a:extLst>
              <a:ext uri="{FF2B5EF4-FFF2-40B4-BE49-F238E27FC236}">
                <a16:creationId xmlns:a16="http://schemas.microsoft.com/office/drawing/2014/main" id="{52562ECA-8C50-477A-2B90-27EFC6DF82CE}"/>
              </a:ext>
            </a:extLst>
          </p:cNvPr>
          <p:cNvPicPr>
            <a:picLocks noChangeAspect="1"/>
          </p:cNvPicPr>
          <p:nvPr/>
        </p:nvPicPr>
        <p:blipFill>
          <a:blip r:embed="rId9"/>
          <a:stretch>
            <a:fillRect/>
          </a:stretch>
        </p:blipFill>
        <p:spPr>
          <a:xfrm>
            <a:off x="9269304" y="3613072"/>
            <a:ext cx="1581371" cy="1571844"/>
          </a:xfrm>
          <a:prstGeom prst="rect">
            <a:avLst/>
          </a:prstGeom>
        </p:spPr>
      </p:pic>
      <p:sp>
        <p:nvSpPr>
          <p:cNvPr id="21" name="TextBox 20">
            <a:extLst>
              <a:ext uri="{FF2B5EF4-FFF2-40B4-BE49-F238E27FC236}">
                <a16:creationId xmlns:a16="http://schemas.microsoft.com/office/drawing/2014/main" id="{6F88D0A0-1E30-B9ED-9A34-3175CBA1B8AD}"/>
              </a:ext>
            </a:extLst>
          </p:cNvPr>
          <p:cNvSpPr txBox="1"/>
          <p:nvPr/>
        </p:nvSpPr>
        <p:spPr>
          <a:xfrm>
            <a:off x="1904999" y="1010138"/>
            <a:ext cx="2870201" cy="523220"/>
          </a:xfrm>
          <a:prstGeom prst="rect">
            <a:avLst/>
          </a:prstGeom>
          <a:noFill/>
        </p:spPr>
        <p:txBody>
          <a:bodyPr wrap="square" rtlCol="0">
            <a:spAutoFit/>
          </a:bodyPr>
          <a:lstStyle/>
          <a:p>
            <a:r>
              <a:rPr lang="en-US" sz="2800" u="sng" dirty="0" err="1"/>
              <a:t>CelebA</a:t>
            </a:r>
            <a:r>
              <a:rPr lang="en-US" sz="2800" u="sng" dirty="0"/>
              <a:t> dataset</a:t>
            </a:r>
            <a:endParaRPr lang="ro-RO" sz="2800" u="sng" dirty="0"/>
          </a:p>
        </p:txBody>
      </p:sp>
      <p:sp>
        <p:nvSpPr>
          <p:cNvPr id="22" name="TextBox 21">
            <a:extLst>
              <a:ext uri="{FF2B5EF4-FFF2-40B4-BE49-F238E27FC236}">
                <a16:creationId xmlns:a16="http://schemas.microsoft.com/office/drawing/2014/main" id="{0E056676-341E-8528-B722-82DDFB642857}"/>
              </a:ext>
            </a:extLst>
          </p:cNvPr>
          <p:cNvSpPr txBox="1"/>
          <p:nvPr/>
        </p:nvSpPr>
        <p:spPr>
          <a:xfrm>
            <a:off x="7607299" y="1010138"/>
            <a:ext cx="2870201" cy="523220"/>
          </a:xfrm>
          <a:prstGeom prst="rect">
            <a:avLst/>
          </a:prstGeom>
          <a:noFill/>
        </p:spPr>
        <p:txBody>
          <a:bodyPr wrap="square" rtlCol="0">
            <a:spAutoFit/>
          </a:bodyPr>
          <a:lstStyle/>
          <a:p>
            <a:r>
              <a:rPr lang="en-US" sz="2800" u="sng" dirty="0"/>
              <a:t>Reconstructions</a:t>
            </a:r>
            <a:endParaRPr lang="ro-RO" sz="2800" u="sng" dirty="0"/>
          </a:p>
        </p:txBody>
      </p:sp>
      <p:sp>
        <p:nvSpPr>
          <p:cNvPr id="23" name="Text 1">
            <a:extLst>
              <a:ext uri="{FF2B5EF4-FFF2-40B4-BE49-F238E27FC236}">
                <a16:creationId xmlns:a16="http://schemas.microsoft.com/office/drawing/2014/main" id="{0EDE494D-04F8-3A15-F799-4918BCD27605}"/>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VAE produces blurry images</a:t>
            </a:r>
          </a:p>
        </p:txBody>
      </p:sp>
      <p:sp>
        <p:nvSpPr>
          <p:cNvPr id="27" name="TextBox 26">
            <a:extLst>
              <a:ext uri="{FF2B5EF4-FFF2-40B4-BE49-F238E27FC236}">
                <a16:creationId xmlns:a16="http://schemas.microsoft.com/office/drawing/2014/main" id="{143AAE7D-19DF-652E-B1EE-F1F81B1B6554}"/>
              </a:ext>
            </a:extLst>
          </p:cNvPr>
          <p:cNvSpPr txBox="1"/>
          <p:nvPr/>
        </p:nvSpPr>
        <p:spPr>
          <a:xfrm>
            <a:off x="1341325" y="5380672"/>
            <a:ext cx="10807699" cy="1477328"/>
          </a:xfrm>
          <a:prstGeom prst="rect">
            <a:avLst/>
          </a:prstGeom>
          <a:noFill/>
        </p:spPr>
        <p:txBody>
          <a:bodyPr wrap="square">
            <a:spAutoFit/>
          </a:bodyPr>
          <a:lstStyle/>
          <a:p>
            <a:pPr marL="285750" indent="-285750">
              <a:buFont typeface="Arial" panose="020B0604020202020204" pitchFamily="34" charset="0"/>
              <a:buChar char="•"/>
            </a:pPr>
            <a:r>
              <a:rPr lang="en-US" b="1" dirty="0"/>
              <a:t>Averaging over possibilities</a:t>
            </a:r>
            <a:r>
              <a:rPr lang="en-US" dirty="0"/>
              <a:t> — the decoder samples from a distribution and averages multiple possible reconstructions, producing blurry, imprecise outputs.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Continuous latent space is underused</a:t>
            </a:r>
            <a:r>
              <a:rPr lang="en-US" dirty="0"/>
              <a:t> — large regions remain empty or sparsely populated, making generation less efficient and less sharp.</a:t>
            </a:r>
            <a:endParaRPr lang="ro-RO" dirty="0"/>
          </a:p>
        </p:txBody>
      </p:sp>
      <p:pic>
        <p:nvPicPr>
          <p:cNvPr id="8196" name="Picture 4" descr="5 Why Images – Browse 1,147 Stock Photos, Vectors, and Video | Adobe Stock">
            <a:extLst>
              <a:ext uri="{FF2B5EF4-FFF2-40B4-BE49-F238E27FC236}">
                <a16:creationId xmlns:a16="http://schemas.microsoft.com/office/drawing/2014/main" id="{151999FE-0598-08DD-3FCE-3E0B7EE82D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5594384"/>
            <a:ext cx="1459884" cy="778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147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B051-C68A-AED2-09AE-83498C42F8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D3AE03-03F2-DCC1-0E80-FCE24F3BBAB0}"/>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C7F5E34E-4159-0A3E-75EC-0F1E5C0C62EE}"/>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3</a:t>
            </a:r>
            <a:endParaRPr lang="en-US" sz="1867" dirty="0"/>
          </a:p>
        </p:txBody>
      </p:sp>
      <p:sp>
        <p:nvSpPr>
          <p:cNvPr id="7" name="Text 2">
            <a:extLst>
              <a:ext uri="{FF2B5EF4-FFF2-40B4-BE49-F238E27FC236}">
                <a16:creationId xmlns:a16="http://schemas.microsoft.com/office/drawing/2014/main" id="{D51A3D65-7E5C-4E76-1094-986317B5EB24}"/>
              </a:ext>
            </a:extLst>
          </p:cNvPr>
          <p:cNvSpPr/>
          <p:nvPr/>
        </p:nvSpPr>
        <p:spPr>
          <a:xfrm>
            <a:off x="853440" y="2255520"/>
            <a:ext cx="1122426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What is a vector quantized variational autoencoder </a:t>
            </a:r>
            <a:br>
              <a:rPr lang="en-US" sz="6000" b="1" dirty="0">
                <a:solidFill>
                  <a:srgbClr val="000000"/>
                </a:solidFill>
                <a:latin typeface="Calibri" pitchFamily="34" charset="0"/>
                <a:ea typeface="Calibri" pitchFamily="34" charset="-122"/>
                <a:cs typeface="Calibri" pitchFamily="34" charset="-120"/>
              </a:rPr>
            </a:br>
            <a:r>
              <a:rPr lang="en-US" sz="6000" b="1" dirty="0">
                <a:solidFill>
                  <a:srgbClr val="000000"/>
                </a:solidFill>
                <a:latin typeface="Calibri" pitchFamily="34" charset="0"/>
                <a:ea typeface="Calibri" pitchFamily="34" charset="-122"/>
                <a:cs typeface="Calibri" pitchFamily="34" charset="-120"/>
              </a:rPr>
              <a:t>(VQ-VAE) ?</a:t>
            </a:r>
          </a:p>
        </p:txBody>
      </p:sp>
    </p:spTree>
    <p:extLst>
      <p:ext uri="{BB962C8B-B14F-4D97-AF65-F5344CB8AC3E}">
        <p14:creationId xmlns:p14="http://schemas.microsoft.com/office/powerpoint/2010/main" val="208262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FAD8AD1-0D55-4679-C936-96D2B0989835}"/>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 name="Picture 3">
            <a:extLst>
              <a:ext uri="{FF2B5EF4-FFF2-40B4-BE49-F238E27FC236}">
                <a16:creationId xmlns:a16="http://schemas.microsoft.com/office/drawing/2014/main" id="{81E11D9E-2725-4FAC-4B31-7598552494A6}"/>
              </a:ext>
            </a:extLst>
          </p:cNvPr>
          <p:cNvPicPr>
            <a:picLocks noChangeAspect="1"/>
          </p:cNvPicPr>
          <p:nvPr/>
        </p:nvPicPr>
        <p:blipFill>
          <a:blip r:embed="rId2"/>
          <a:stretch>
            <a:fillRect/>
          </a:stretch>
        </p:blipFill>
        <p:spPr>
          <a:xfrm>
            <a:off x="980361" y="318653"/>
            <a:ext cx="10231278" cy="6220693"/>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E0341842-B432-F44C-BD19-6AEEB364A23A}"/>
                  </a:ext>
                </a:extLst>
              </p14:cNvPr>
              <p14:cNvContentPartPr/>
              <p14:nvPr/>
            </p14:nvContentPartPr>
            <p14:xfrm>
              <a:off x="5619046" y="329503"/>
              <a:ext cx="822394" cy="1033630"/>
            </p14:xfrm>
          </p:contentPart>
        </mc:Choice>
        <mc:Fallback>
          <p:pic>
            <p:nvPicPr>
              <p:cNvPr id="6" name="Ink 5">
                <a:extLst>
                  <a:ext uri="{FF2B5EF4-FFF2-40B4-BE49-F238E27FC236}">
                    <a16:creationId xmlns:a16="http://schemas.microsoft.com/office/drawing/2014/main" id="{E0341842-B432-F44C-BD19-6AEEB364A23A}"/>
                  </a:ext>
                </a:extLst>
              </p:cNvPr>
              <p:cNvPicPr/>
              <p:nvPr/>
            </p:nvPicPr>
            <p:blipFill>
              <a:blip r:embed="rId4"/>
              <a:stretch>
                <a:fillRect/>
              </a:stretch>
            </p:blipFill>
            <p:spPr>
              <a:xfrm>
                <a:off x="5601043" y="311862"/>
                <a:ext cx="858041" cy="1069272"/>
              </a:xfrm>
              <a:prstGeom prst="rect">
                <a:avLst/>
              </a:prstGeom>
            </p:spPr>
          </p:pic>
        </mc:Fallback>
      </mc:AlternateContent>
      <p:sp>
        <p:nvSpPr>
          <p:cNvPr id="10" name="Arc 9">
            <a:extLst>
              <a:ext uri="{FF2B5EF4-FFF2-40B4-BE49-F238E27FC236}">
                <a16:creationId xmlns:a16="http://schemas.microsoft.com/office/drawing/2014/main" id="{6D59E4F3-4810-F40D-8F0F-BF10EFD71825}"/>
              </a:ext>
            </a:extLst>
          </p:cNvPr>
          <p:cNvSpPr/>
          <p:nvPr/>
        </p:nvSpPr>
        <p:spPr>
          <a:xfrm>
            <a:off x="3539494" y="840080"/>
            <a:ext cx="5857141" cy="2074106"/>
          </a:xfrm>
          <a:prstGeom prst="arc">
            <a:avLst>
              <a:gd name="adj1" fmla="val 16200000"/>
              <a:gd name="adj2" fmla="val 1"/>
            </a:avLst>
          </a:prstGeom>
          <a:ln w="285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9DB4295A-9E24-FF32-2B31-0AF9987C4745}"/>
                  </a:ext>
                </a:extLst>
              </p14:cNvPr>
              <p14:cNvContentPartPr/>
              <p14:nvPr/>
            </p14:nvContentPartPr>
            <p14:xfrm>
              <a:off x="9265760" y="1742000"/>
              <a:ext cx="137520" cy="137520"/>
            </p14:xfrm>
          </p:contentPart>
        </mc:Choice>
        <mc:Fallback>
          <p:pic>
            <p:nvPicPr>
              <p:cNvPr id="18" name="Ink 17">
                <a:extLst>
                  <a:ext uri="{FF2B5EF4-FFF2-40B4-BE49-F238E27FC236}">
                    <a16:creationId xmlns:a16="http://schemas.microsoft.com/office/drawing/2014/main" id="{9DB4295A-9E24-FF32-2B31-0AF9987C4745}"/>
                  </a:ext>
                </a:extLst>
              </p:cNvPr>
              <p:cNvPicPr/>
              <p:nvPr/>
            </p:nvPicPr>
            <p:blipFill>
              <a:blip r:embed="rId6"/>
              <a:stretch>
                <a:fillRect/>
              </a:stretch>
            </p:blipFill>
            <p:spPr>
              <a:xfrm>
                <a:off x="9248120" y="1724360"/>
                <a:ext cx="1731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0" name="Ink 19">
                <a:extLst>
                  <a:ext uri="{FF2B5EF4-FFF2-40B4-BE49-F238E27FC236}">
                    <a16:creationId xmlns:a16="http://schemas.microsoft.com/office/drawing/2014/main" id="{D0BDFDB0-9583-1D24-D722-7A1EC6B560AE}"/>
                  </a:ext>
                </a:extLst>
              </p14:cNvPr>
              <p14:cNvContentPartPr/>
              <p14:nvPr/>
            </p14:nvContentPartPr>
            <p14:xfrm>
              <a:off x="9408380" y="1697403"/>
              <a:ext cx="46800" cy="173520"/>
            </p14:xfrm>
          </p:contentPart>
        </mc:Choice>
        <mc:Fallback>
          <p:pic>
            <p:nvPicPr>
              <p:cNvPr id="20" name="Ink 19">
                <a:extLst>
                  <a:ext uri="{FF2B5EF4-FFF2-40B4-BE49-F238E27FC236}">
                    <a16:creationId xmlns:a16="http://schemas.microsoft.com/office/drawing/2014/main" id="{D0BDFDB0-9583-1D24-D722-7A1EC6B560AE}"/>
                  </a:ext>
                </a:extLst>
              </p:cNvPr>
              <p:cNvPicPr/>
              <p:nvPr/>
            </p:nvPicPr>
            <p:blipFill>
              <a:blip r:embed="rId8"/>
              <a:stretch>
                <a:fillRect/>
              </a:stretch>
            </p:blipFill>
            <p:spPr>
              <a:xfrm>
                <a:off x="9390380" y="1679763"/>
                <a:ext cx="82440" cy="209160"/>
              </a:xfrm>
              <a:prstGeom prst="rect">
                <a:avLst/>
              </a:prstGeom>
            </p:spPr>
          </p:pic>
        </mc:Fallback>
      </mc:AlternateContent>
      <p:sp>
        <p:nvSpPr>
          <p:cNvPr id="21" name="TextBox 20">
            <a:extLst>
              <a:ext uri="{FF2B5EF4-FFF2-40B4-BE49-F238E27FC236}">
                <a16:creationId xmlns:a16="http://schemas.microsoft.com/office/drawing/2014/main" id="{AA4DC2B7-935D-36A9-BFE6-8EA80DBE5951}"/>
              </a:ext>
            </a:extLst>
          </p:cNvPr>
          <p:cNvSpPr txBox="1"/>
          <p:nvPr/>
        </p:nvSpPr>
        <p:spPr>
          <a:xfrm>
            <a:off x="7855655" y="1982804"/>
            <a:ext cx="4336345" cy="1754326"/>
          </a:xfrm>
          <a:prstGeom prst="rect">
            <a:avLst/>
          </a:prstGeom>
          <a:noFill/>
        </p:spPr>
        <p:txBody>
          <a:bodyPr wrap="square" rtlCol="0">
            <a:spAutoFit/>
          </a:bodyPr>
          <a:lstStyle/>
          <a:p>
            <a:r>
              <a:rPr lang="en-US" dirty="0">
                <a:solidFill>
                  <a:srgbClr val="FF0000"/>
                </a:solidFill>
              </a:rPr>
              <a:t>Each such a piece is called a </a:t>
            </a:r>
            <a:r>
              <a:rPr lang="en-US" b="1" i="1" dirty="0">
                <a:solidFill>
                  <a:srgbClr val="FF0000"/>
                </a:solidFill>
              </a:rPr>
              <a:t>feature vector </a:t>
            </a:r>
            <a:r>
              <a:rPr lang="en-US" dirty="0">
                <a:solidFill>
                  <a:srgbClr val="FF0000"/>
                </a:solidFill>
              </a:rPr>
              <a:t>within the latent space. For each feature vector from the encoded image, we identify the nearest embedding vector in the codebook and replace the feature vector with this closest match.</a:t>
            </a:r>
            <a:endParaRPr lang="ro-RO" dirty="0">
              <a:solidFill>
                <a:srgbClr val="FF0000"/>
              </a:solidFill>
            </a:endParaRPr>
          </a:p>
        </p:txBody>
      </p:sp>
      <p:pic>
        <p:nvPicPr>
          <p:cNvPr id="28" name="Picture 27">
            <a:extLst>
              <a:ext uri="{FF2B5EF4-FFF2-40B4-BE49-F238E27FC236}">
                <a16:creationId xmlns:a16="http://schemas.microsoft.com/office/drawing/2014/main" id="{3F12B12E-5C0D-06F2-4417-2CFD9C1E8428}"/>
              </a:ext>
            </a:extLst>
          </p:cNvPr>
          <p:cNvPicPr>
            <a:picLocks noChangeAspect="1"/>
          </p:cNvPicPr>
          <p:nvPr/>
        </p:nvPicPr>
        <p:blipFill>
          <a:blip r:embed="rId9"/>
          <a:stretch>
            <a:fillRect/>
          </a:stretch>
        </p:blipFill>
        <p:spPr>
          <a:xfrm>
            <a:off x="3001297" y="1225000"/>
            <a:ext cx="696943" cy="583479"/>
          </a:xfrm>
          <a:prstGeom prst="rect">
            <a:avLst/>
          </a:prstGeom>
        </p:spPr>
      </p:pic>
      <p:pic>
        <p:nvPicPr>
          <p:cNvPr id="30" name="Picture 29">
            <a:extLst>
              <a:ext uri="{FF2B5EF4-FFF2-40B4-BE49-F238E27FC236}">
                <a16:creationId xmlns:a16="http://schemas.microsoft.com/office/drawing/2014/main" id="{5A75397C-782A-5189-0B05-6332D9DCA644}"/>
              </a:ext>
            </a:extLst>
          </p:cNvPr>
          <p:cNvPicPr>
            <a:picLocks noChangeAspect="1"/>
          </p:cNvPicPr>
          <p:nvPr/>
        </p:nvPicPr>
        <p:blipFill>
          <a:blip r:embed="rId10"/>
          <a:stretch>
            <a:fillRect/>
          </a:stretch>
        </p:blipFill>
        <p:spPr>
          <a:xfrm>
            <a:off x="8446496" y="4991648"/>
            <a:ext cx="692424" cy="630749"/>
          </a:xfrm>
          <a:prstGeom prst="rect">
            <a:avLst/>
          </a:prstGeom>
        </p:spPr>
      </p:pic>
      <p:sp>
        <p:nvSpPr>
          <p:cNvPr id="31" name="TextBox 30">
            <a:extLst>
              <a:ext uri="{FF2B5EF4-FFF2-40B4-BE49-F238E27FC236}">
                <a16:creationId xmlns:a16="http://schemas.microsoft.com/office/drawing/2014/main" id="{1D995D30-FF1C-7F7C-4E46-766D78191C95}"/>
              </a:ext>
            </a:extLst>
          </p:cNvPr>
          <p:cNvSpPr txBox="1"/>
          <p:nvPr/>
        </p:nvSpPr>
        <p:spPr>
          <a:xfrm>
            <a:off x="8309948" y="5068399"/>
            <a:ext cx="955812" cy="553998"/>
          </a:xfrm>
          <a:prstGeom prst="rect">
            <a:avLst/>
          </a:prstGeom>
          <a:noFill/>
        </p:spPr>
        <p:txBody>
          <a:bodyPr wrap="square" rtlCol="0">
            <a:spAutoFit/>
          </a:bodyPr>
          <a:lstStyle/>
          <a:p>
            <a:pPr algn="ctr"/>
            <a:r>
              <a:rPr lang="en-US" sz="1500" dirty="0"/>
              <a:t>VQ-VAE Decoder</a:t>
            </a:r>
            <a:endParaRPr lang="ro-RO" sz="1500" dirty="0"/>
          </a:p>
        </p:txBody>
      </p:sp>
      <p:sp>
        <p:nvSpPr>
          <p:cNvPr id="32" name="TextBox 31">
            <a:extLst>
              <a:ext uri="{FF2B5EF4-FFF2-40B4-BE49-F238E27FC236}">
                <a16:creationId xmlns:a16="http://schemas.microsoft.com/office/drawing/2014/main" id="{644A40FA-9EBD-515A-AF0B-A4D916D75465}"/>
              </a:ext>
            </a:extLst>
          </p:cNvPr>
          <p:cNvSpPr txBox="1"/>
          <p:nvPr/>
        </p:nvSpPr>
        <p:spPr>
          <a:xfrm>
            <a:off x="2871862" y="1254481"/>
            <a:ext cx="955812" cy="553998"/>
          </a:xfrm>
          <a:prstGeom prst="rect">
            <a:avLst/>
          </a:prstGeom>
          <a:noFill/>
        </p:spPr>
        <p:txBody>
          <a:bodyPr wrap="square" rtlCol="0">
            <a:spAutoFit/>
          </a:bodyPr>
          <a:lstStyle/>
          <a:p>
            <a:pPr algn="ctr"/>
            <a:r>
              <a:rPr lang="en-US" sz="1500" dirty="0"/>
              <a:t>VQ-VAE Encoder</a:t>
            </a:r>
            <a:endParaRPr lang="ro-RO" sz="1500" dirty="0"/>
          </a:p>
        </p:txBody>
      </p:sp>
      <p:cxnSp>
        <p:nvCxnSpPr>
          <p:cNvPr id="34" name="Straight Connector 33">
            <a:extLst>
              <a:ext uri="{FF2B5EF4-FFF2-40B4-BE49-F238E27FC236}">
                <a16:creationId xmlns:a16="http://schemas.microsoft.com/office/drawing/2014/main" id="{A2F79C7A-B0B6-00F2-9624-C7D0EC45DCDA}"/>
              </a:ext>
            </a:extLst>
          </p:cNvPr>
          <p:cNvCxnSpPr>
            <a:cxnSpLocks/>
          </p:cNvCxnSpPr>
          <p:nvPr/>
        </p:nvCxnSpPr>
        <p:spPr>
          <a:xfrm flipH="1" flipV="1">
            <a:off x="4718050" y="524933"/>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4AFB210B-53D5-CF6E-C2D8-D7E3FF819BB5}"/>
              </a:ext>
            </a:extLst>
          </p:cNvPr>
          <p:cNvCxnSpPr>
            <a:cxnSpLocks/>
          </p:cNvCxnSpPr>
          <p:nvPr/>
        </p:nvCxnSpPr>
        <p:spPr>
          <a:xfrm flipH="1" flipV="1">
            <a:off x="5191042" y="524932"/>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FB8ACED6-8839-89AE-8EDB-139CE9F51A8C}"/>
              </a:ext>
            </a:extLst>
          </p:cNvPr>
          <p:cNvCxnSpPr>
            <a:cxnSpLocks/>
          </p:cNvCxnSpPr>
          <p:nvPr/>
        </p:nvCxnSpPr>
        <p:spPr>
          <a:xfrm flipH="1" flipV="1">
            <a:off x="5664034" y="524932"/>
            <a:ext cx="230354" cy="237067"/>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E8ED4E42-2CDA-331E-286E-6AF9D1B9F790}"/>
              </a:ext>
            </a:extLst>
          </p:cNvPr>
          <p:cNvCxnSpPr>
            <a:cxnSpLocks/>
          </p:cNvCxnSpPr>
          <p:nvPr/>
        </p:nvCxnSpPr>
        <p:spPr>
          <a:xfrm flipH="1" flipV="1">
            <a:off x="4244776" y="987468"/>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946B37DA-61C8-C08D-E974-5F405920F4FE}"/>
              </a:ext>
            </a:extLst>
          </p:cNvPr>
          <p:cNvCxnSpPr>
            <a:cxnSpLocks/>
          </p:cNvCxnSpPr>
          <p:nvPr/>
        </p:nvCxnSpPr>
        <p:spPr>
          <a:xfrm flipH="1" flipV="1">
            <a:off x="4249189" y="1437976"/>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19EB3410-7365-CFCC-F9AB-CF64F9C587C6}"/>
              </a:ext>
            </a:extLst>
          </p:cNvPr>
          <p:cNvCxnSpPr>
            <a:cxnSpLocks/>
          </p:cNvCxnSpPr>
          <p:nvPr/>
        </p:nvCxnSpPr>
        <p:spPr>
          <a:xfrm flipH="1" flipV="1">
            <a:off x="4249188" y="1916054"/>
            <a:ext cx="233363" cy="237067"/>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p14="http://schemas.microsoft.com/office/powerpoint/2010/main" Requires="p14">
          <p:contentPart p14:bwMode="auto" r:id="rId11">
            <p14:nvContentPartPr>
              <p14:cNvPr id="49" name="Ink 48">
                <a:extLst>
                  <a:ext uri="{FF2B5EF4-FFF2-40B4-BE49-F238E27FC236}">
                    <a16:creationId xmlns:a16="http://schemas.microsoft.com/office/drawing/2014/main" id="{00FDC60B-BB6B-ADFC-BAD8-BAACEBCDDE06}"/>
                  </a:ext>
                </a:extLst>
              </p14:cNvPr>
              <p14:cNvContentPartPr/>
              <p14:nvPr/>
            </p14:nvContentPartPr>
            <p14:xfrm>
              <a:off x="5958300" y="905713"/>
              <a:ext cx="303120" cy="2520"/>
            </p14:xfrm>
          </p:contentPart>
        </mc:Choice>
        <mc:Fallback>
          <p:pic>
            <p:nvPicPr>
              <p:cNvPr id="49" name="Ink 48">
                <a:extLst>
                  <a:ext uri="{FF2B5EF4-FFF2-40B4-BE49-F238E27FC236}">
                    <a16:creationId xmlns:a16="http://schemas.microsoft.com/office/drawing/2014/main" id="{00FDC60B-BB6B-ADFC-BAD8-BAACEBCDDE06}"/>
                  </a:ext>
                </a:extLst>
              </p:cNvPr>
              <p:cNvPicPr/>
              <p:nvPr/>
            </p:nvPicPr>
            <p:blipFill>
              <a:blip r:embed="rId12"/>
              <a:stretch>
                <a:fillRect/>
              </a:stretch>
            </p:blipFill>
            <p:spPr>
              <a:xfrm>
                <a:off x="5886300" y="761713"/>
                <a:ext cx="44676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1" name="Ink 50">
                <a:extLst>
                  <a:ext uri="{FF2B5EF4-FFF2-40B4-BE49-F238E27FC236}">
                    <a16:creationId xmlns:a16="http://schemas.microsoft.com/office/drawing/2014/main" id="{E52ED1C5-9F91-D9A3-632A-5C6FA21AE6D6}"/>
                  </a:ext>
                </a:extLst>
              </p14:cNvPr>
              <p14:cNvContentPartPr/>
              <p14:nvPr/>
            </p14:nvContentPartPr>
            <p14:xfrm>
              <a:off x="5958300" y="1066633"/>
              <a:ext cx="303120" cy="2520"/>
            </p14:xfrm>
          </p:contentPart>
        </mc:Choice>
        <mc:Fallback>
          <p:pic>
            <p:nvPicPr>
              <p:cNvPr id="51" name="Ink 50">
                <a:extLst>
                  <a:ext uri="{FF2B5EF4-FFF2-40B4-BE49-F238E27FC236}">
                    <a16:creationId xmlns:a16="http://schemas.microsoft.com/office/drawing/2014/main" id="{E52ED1C5-9F91-D9A3-632A-5C6FA21AE6D6}"/>
                  </a:ext>
                </a:extLst>
              </p:cNvPr>
              <p:cNvPicPr/>
              <p:nvPr/>
            </p:nvPicPr>
            <p:blipFill>
              <a:blip r:embed="rId12"/>
              <a:stretch>
                <a:fillRect/>
              </a:stretch>
            </p:blipFill>
            <p:spPr>
              <a:xfrm>
                <a:off x="5886300" y="922633"/>
                <a:ext cx="44676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3" name="Ink 52">
                <a:extLst>
                  <a:ext uri="{FF2B5EF4-FFF2-40B4-BE49-F238E27FC236}">
                    <a16:creationId xmlns:a16="http://schemas.microsoft.com/office/drawing/2014/main" id="{A5334F88-A01A-C76F-84EB-0A1B53D51BF2}"/>
                  </a:ext>
                </a:extLst>
              </p14:cNvPr>
              <p14:cNvContentPartPr/>
              <p14:nvPr/>
            </p14:nvContentPartPr>
            <p14:xfrm>
              <a:off x="1280368" y="3129878"/>
              <a:ext cx="1244160" cy="528840"/>
            </p14:xfrm>
          </p:contentPart>
        </mc:Choice>
        <mc:Fallback>
          <p:pic>
            <p:nvPicPr>
              <p:cNvPr id="53" name="Ink 52">
                <a:extLst>
                  <a:ext uri="{FF2B5EF4-FFF2-40B4-BE49-F238E27FC236}">
                    <a16:creationId xmlns:a16="http://schemas.microsoft.com/office/drawing/2014/main" id="{A5334F88-A01A-C76F-84EB-0A1B53D51BF2}"/>
                  </a:ext>
                </a:extLst>
              </p:cNvPr>
              <p:cNvPicPr/>
              <p:nvPr/>
            </p:nvPicPr>
            <p:blipFill>
              <a:blip r:embed="rId15"/>
              <a:stretch>
                <a:fillRect/>
              </a:stretch>
            </p:blipFill>
            <p:spPr>
              <a:xfrm>
                <a:off x="1217368" y="3066878"/>
                <a:ext cx="1369800" cy="654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4" name="Ink 53">
                <a:extLst>
                  <a:ext uri="{FF2B5EF4-FFF2-40B4-BE49-F238E27FC236}">
                    <a16:creationId xmlns:a16="http://schemas.microsoft.com/office/drawing/2014/main" id="{C7514D66-48A9-4244-2177-C12080E1DB8D}"/>
                  </a:ext>
                </a:extLst>
              </p14:cNvPr>
              <p14:cNvContentPartPr/>
              <p14:nvPr/>
            </p14:nvContentPartPr>
            <p14:xfrm>
              <a:off x="1237390" y="3530500"/>
              <a:ext cx="37440" cy="135000"/>
            </p14:xfrm>
          </p:contentPart>
        </mc:Choice>
        <mc:Fallback>
          <p:pic>
            <p:nvPicPr>
              <p:cNvPr id="54" name="Ink 53">
                <a:extLst>
                  <a:ext uri="{FF2B5EF4-FFF2-40B4-BE49-F238E27FC236}">
                    <a16:creationId xmlns:a16="http://schemas.microsoft.com/office/drawing/2014/main" id="{C7514D66-48A9-4244-2177-C12080E1DB8D}"/>
                  </a:ext>
                </a:extLst>
              </p:cNvPr>
              <p:cNvPicPr/>
              <p:nvPr/>
            </p:nvPicPr>
            <p:blipFill>
              <a:blip r:embed="rId17"/>
              <a:stretch>
                <a:fillRect/>
              </a:stretch>
            </p:blipFill>
            <p:spPr>
              <a:xfrm>
                <a:off x="1174390" y="3467860"/>
                <a:ext cx="163080" cy="260640"/>
              </a:xfrm>
              <a:prstGeom prst="rect">
                <a:avLst/>
              </a:prstGeom>
            </p:spPr>
          </p:pic>
        </mc:Fallback>
      </mc:AlternateContent>
      <p:sp>
        <p:nvSpPr>
          <p:cNvPr id="55" name="TextBox 54">
            <a:extLst>
              <a:ext uri="{FF2B5EF4-FFF2-40B4-BE49-F238E27FC236}">
                <a16:creationId xmlns:a16="http://schemas.microsoft.com/office/drawing/2014/main" id="{3875CF3F-BC78-62C4-3898-302A53C5BA62}"/>
              </a:ext>
            </a:extLst>
          </p:cNvPr>
          <p:cNvSpPr txBox="1"/>
          <p:nvPr/>
        </p:nvSpPr>
        <p:spPr>
          <a:xfrm>
            <a:off x="497126" y="3036584"/>
            <a:ext cx="2268859" cy="784830"/>
          </a:xfrm>
          <a:prstGeom prst="rect">
            <a:avLst/>
          </a:prstGeom>
          <a:noFill/>
        </p:spPr>
        <p:txBody>
          <a:bodyPr wrap="square" rtlCol="0">
            <a:spAutoFit/>
          </a:bodyPr>
          <a:lstStyle/>
          <a:p>
            <a:pPr algn="ctr"/>
            <a:r>
              <a:rPr lang="en-US" sz="1500" dirty="0"/>
              <a:t>Codebook</a:t>
            </a:r>
          </a:p>
          <a:p>
            <a:pPr algn="ctr"/>
            <a:r>
              <a:rPr lang="en-US" sz="1500" dirty="0"/>
              <a:t>(a collection of  embedding vectors e</a:t>
            </a:r>
            <a:r>
              <a:rPr lang="en-US" sz="1500" i="1" baseline="-25000" dirty="0"/>
              <a:t>k</a:t>
            </a:r>
            <a:r>
              <a:rPr lang="en-US" sz="1500" dirty="0"/>
              <a:t>)</a:t>
            </a:r>
            <a:endParaRPr lang="ro-RO" sz="1500" dirty="0"/>
          </a:p>
        </p:txBody>
      </p:sp>
      <p:cxnSp>
        <p:nvCxnSpPr>
          <p:cNvPr id="56" name="Straight Connector 55">
            <a:extLst>
              <a:ext uri="{FF2B5EF4-FFF2-40B4-BE49-F238E27FC236}">
                <a16:creationId xmlns:a16="http://schemas.microsoft.com/office/drawing/2014/main" id="{6E20AD57-3710-86BC-675C-387501652A46}"/>
              </a:ext>
            </a:extLst>
          </p:cNvPr>
          <p:cNvCxnSpPr>
            <a:cxnSpLocks/>
          </p:cNvCxnSpPr>
          <p:nvPr/>
        </p:nvCxnSpPr>
        <p:spPr>
          <a:xfrm flipH="1" flipV="1">
            <a:off x="4244776" y="5744023"/>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C2333628-195A-6DF3-0C8B-28B71759DBED}"/>
              </a:ext>
            </a:extLst>
          </p:cNvPr>
          <p:cNvCxnSpPr>
            <a:cxnSpLocks/>
          </p:cNvCxnSpPr>
          <p:nvPr/>
        </p:nvCxnSpPr>
        <p:spPr>
          <a:xfrm flipH="1" flipV="1">
            <a:off x="4244776" y="5277864"/>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151BF60A-56CF-0D14-3D92-965244BBF21D}"/>
              </a:ext>
            </a:extLst>
          </p:cNvPr>
          <p:cNvCxnSpPr>
            <a:cxnSpLocks/>
          </p:cNvCxnSpPr>
          <p:nvPr/>
        </p:nvCxnSpPr>
        <p:spPr>
          <a:xfrm flipH="1" flipV="1">
            <a:off x="4244776" y="4807718"/>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Connector 58">
            <a:extLst>
              <a:ext uri="{FF2B5EF4-FFF2-40B4-BE49-F238E27FC236}">
                <a16:creationId xmlns:a16="http://schemas.microsoft.com/office/drawing/2014/main" id="{408325FA-83DA-E44D-1EC3-5076C7C22144}"/>
              </a:ext>
            </a:extLst>
          </p:cNvPr>
          <p:cNvCxnSpPr>
            <a:cxnSpLocks/>
          </p:cNvCxnSpPr>
          <p:nvPr/>
        </p:nvCxnSpPr>
        <p:spPr>
          <a:xfrm flipH="1" flipV="1">
            <a:off x="4718050" y="4346864"/>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F013F036-5F72-2F30-67CA-26BCF23FE10D}"/>
              </a:ext>
            </a:extLst>
          </p:cNvPr>
          <p:cNvCxnSpPr>
            <a:cxnSpLocks/>
          </p:cNvCxnSpPr>
          <p:nvPr/>
        </p:nvCxnSpPr>
        <p:spPr>
          <a:xfrm flipH="1" flipV="1">
            <a:off x="5191042" y="4346863"/>
            <a:ext cx="233363" cy="237067"/>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E72F9ACD-C39A-FD9D-E994-E3163B775137}"/>
              </a:ext>
            </a:extLst>
          </p:cNvPr>
          <p:cNvCxnSpPr>
            <a:cxnSpLocks/>
          </p:cNvCxnSpPr>
          <p:nvPr/>
        </p:nvCxnSpPr>
        <p:spPr>
          <a:xfrm flipH="1" flipV="1">
            <a:off x="5661025" y="4346862"/>
            <a:ext cx="233363" cy="237067"/>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p14="http://schemas.microsoft.com/office/powerpoint/2010/main" Requires="p14">
          <p:contentPart p14:bwMode="auto" r:id="rId18">
            <p14:nvContentPartPr>
              <p14:cNvPr id="63" name="Ink 62">
                <a:extLst>
                  <a:ext uri="{FF2B5EF4-FFF2-40B4-BE49-F238E27FC236}">
                    <a16:creationId xmlns:a16="http://schemas.microsoft.com/office/drawing/2014/main" id="{AF583F36-C555-87C4-C4FA-067B208A3225}"/>
                  </a:ext>
                </a:extLst>
              </p14:cNvPr>
              <p14:cNvContentPartPr/>
              <p14:nvPr/>
            </p14:nvContentPartPr>
            <p14:xfrm>
              <a:off x="5867085" y="606075"/>
              <a:ext cx="213120" cy="13320"/>
            </p14:xfrm>
          </p:contentPart>
        </mc:Choice>
        <mc:Fallback>
          <p:pic>
            <p:nvPicPr>
              <p:cNvPr id="63" name="Ink 62">
                <a:extLst>
                  <a:ext uri="{FF2B5EF4-FFF2-40B4-BE49-F238E27FC236}">
                    <a16:creationId xmlns:a16="http://schemas.microsoft.com/office/drawing/2014/main" id="{AF583F36-C555-87C4-C4FA-067B208A3225}"/>
                  </a:ext>
                </a:extLst>
              </p:cNvPr>
              <p:cNvPicPr/>
              <p:nvPr/>
            </p:nvPicPr>
            <p:blipFill>
              <a:blip r:embed="rId19"/>
              <a:stretch>
                <a:fillRect/>
              </a:stretch>
            </p:blipFill>
            <p:spPr>
              <a:xfrm>
                <a:off x="5831445" y="534075"/>
                <a:ext cx="2847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4" name="Ink 63">
                <a:extLst>
                  <a:ext uri="{FF2B5EF4-FFF2-40B4-BE49-F238E27FC236}">
                    <a16:creationId xmlns:a16="http://schemas.microsoft.com/office/drawing/2014/main" id="{1EE4692C-E8E4-BBAE-CD6E-9AE6ACD1EDBE}"/>
                  </a:ext>
                </a:extLst>
              </p14:cNvPr>
              <p14:cNvContentPartPr/>
              <p14:nvPr/>
            </p14:nvContentPartPr>
            <p14:xfrm>
              <a:off x="5881485" y="634875"/>
              <a:ext cx="291240" cy="55080"/>
            </p14:xfrm>
          </p:contentPart>
        </mc:Choice>
        <mc:Fallback>
          <p:pic>
            <p:nvPicPr>
              <p:cNvPr id="64" name="Ink 63">
                <a:extLst>
                  <a:ext uri="{FF2B5EF4-FFF2-40B4-BE49-F238E27FC236}">
                    <a16:creationId xmlns:a16="http://schemas.microsoft.com/office/drawing/2014/main" id="{1EE4692C-E8E4-BBAE-CD6E-9AE6ACD1EDBE}"/>
                  </a:ext>
                </a:extLst>
              </p:cNvPr>
              <p:cNvPicPr/>
              <p:nvPr/>
            </p:nvPicPr>
            <p:blipFill>
              <a:blip r:embed="rId21"/>
              <a:stretch>
                <a:fillRect/>
              </a:stretch>
            </p:blipFill>
            <p:spPr>
              <a:xfrm>
                <a:off x="5845845" y="562875"/>
                <a:ext cx="3628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65" name="Ink 64">
                <a:extLst>
                  <a:ext uri="{FF2B5EF4-FFF2-40B4-BE49-F238E27FC236}">
                    <a16:creationId xmlns:a16="http://schemas.microsoft.com/office/drawing/2014/main" id="{5890D196-1916-8C50-2E27-2A531FB6B829}"/>
                  </a:ext>
                </a:extLst>
              </p14:cNvPr>
              <p14:cNvContentPartPr/>
              <p14:nvPr/>
            </p14:nvContentPartPr>
            <p14:xfrm>
              <a:off x="6075165" y="612555"/>
              <a:ext cx="200880" cy="194040"/>
            </p14:xfrm>
          </p:contentPart>
        </mc:Choice>
        <mc:Fallback>
          <p:pic>
            <p:nvPicPr>
              <p:cNvPr id="65" name="Ink 64">
                <a:extLst>
                  <a:ext uri="{FF2B5EF4-FFF2-40B4-BE49-F238E27FC236}">
                    <a16:creationId xmlns:a16="http://schemas.microsoft.com/office/drawing/2014/main" id="{5890D196-1916-8C50-2E27-2A531FB6B829}"/>
                  </a:ext>
                </a:extLst>
              </p:cNvPr>
              <p:cNvPicPr/>
              <p:nvPr/>
            </p:nvPicPr>
            <p:blipFill>
              <a:blip r:embed="rId23"/>
              <a:stretch>
                <a:fillRect/>
              </a:stretch>
            </p:blipFill>
            <p:spPr>
              <a:xfrm>
                <a:off x="6039525" y="540915"/>
                <a:ext cx="27252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66" name="Ink 65">
                <a:extLst>
                  <a:ext uri="{FF2B5EF4-FFF2-40B4-BE49-F238E27FC236}">
                    <a16:creationId xmlns:a16="http://schemas.microsoft.com/office/drawing/2014/main" id="{E40B13D6-C0AC-4DF9-897D-2A4ADB294AAD}"/>
                  </a:ext>
                </a:extLst>
              </p14:cNvPr>
              <p14:cNvContentPartPr/>
              <p14:nvPr/>
            </p14:nvContentPartPr>
            <p14:xfrm>
              <a:off x="5872125" y="612555"/>
              <a:ext cx="102240" cy="96840"/>
            </p14:xfrm>
          </p:contentPart>
        </mc:Choice>
        <mc:Fallback>
          <p:pic>
            <p:nvPicPr>
              <p:cNvPr id="66" name="Ink 65">
                <a:extLst>
                  <a:ext uri="{FF2B5EF4-FFF2-40B4-BE49-F238E27FC236}">
                    <a16:creationId xmlns:a16="http://schemas.microsoft.com/office/drawing/2014/main" id="{E40B13D6-C0AC-4DF9-897D-2A4ADB294AAD}"/>
                  </a:ext>
                </a:extLst>
              </p:cNvPr>
              <p:cNvPicPr/>
              <p:nvPr/>
            </p:nvPicPr>
            <p:blipFill>
              <a:blip r:embed="rId25"/>
              <a:stretch>
                <a:fillRect/>
              </a:stretch>
            </p:blipFill>
            <p:spPr>
              <a:xfrm>
                <a:off x="5836125" y="540915"/>
                <a:ext cx="1738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68" name="Ink 67">
                <a:extLst>
                  <a:ext uri="{FF2B5EF4-FFF2-40B4-BE49-F238E27FC236}">
                    <a16:creationId xmlns:a16="http://schemas.microsoft.com/office/drawing/2014/main" id="{B6C232D7-760D-4B47-101F-FCF8E18B5AE9}"/>
                  </a:ext>
                </a:extLst>
              </p14:cNvPr>
              <p14:cNvContentPartPr/>
              <p14:nvPr/>
            </p14:nvContentPartPr>
            <p14:xfrm>
              <a:off x="5938365" y="612555"/>
              <a:ext cx="105480" cy="11160"/>
            </p14:xfrm>
          </p:contentPart>
        </mc:Choice>
        <mc:Fallback>
          <p:pic>
            <p:nvPicPr>
              <p:cNvPr id="68" name="Ink 67">
                <a:extLst>
                  <a:ext uri="{FF2B5EF4-FFF2-40B4-BE49-F238E27FC236}">
                    <a16:creationId xmlns:a16="http://schemas.microsoft.com/office/drawing/2014/main" id="{B6C232D7-760D-4B47-101F-FCF8E18B5AE9}"/>
                  </a:ext>
                </a:extLst>
              </p:cNvPr>
              <p:cNvPicPr/>
              <p:nvPr/>
            </p:nvPicPr>
            <p:blipFill>
              <a:blip r:embed="rId27"/>
              <a:stretch>
                <a:fillRect/>
              </a:stretch>
            </p:blipFill>
            <p:spPr>
              <a:xfrm>
                <a:off x="5902725" y="540915"/>
                <a:ext cx="1771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70" name="Ink 69">
                <a:extLst>
                  <a:ext uri="{FF2B5EF4-FFF2-40B4-BE49-F238E27FC236}">
                    <a16:creationId xmlns:a16="http://schemas.microsoft.com/office/drawing/2014/main" id="{4038906F-4351-87DD-EE34-4CDB2FF7B67A}"/>
                  </a:ext>
                </a:extLst>
              </p14:cNvPr>
              <p14:cNvContentPartPr/>
              <p14:nvPr/>
            </p14:nvContentPartPr>
            <p14:xfrm>
              <a:off x="5783010" y="576580"/>
              <a:ext cx="137520" cy="7560"/>
            </p14:xfrm>
          </p:contentPart>
        </mc:Choice>
        <mc:Fallback>
          <p:pic>
            <p:nvPicPr>
              <p:cNvPr id="70" name="Ink 69">
                <a:extLst>
                  <a:ext uri="{FF2B5EF4-FFF2-40B4-BE49-F238E27FC236}">
                    <a16:creationId xmlns:a16="http://schemas.microsoft.com/office/drawing/2014/main" id="{4038906F-4351-87DD-EE34-4CDB2FF7B67A}"/>
                  </a:ext>
                </a:extLst>
              </p:cNvPr>
              <p:cNvPicPr/>
              <p:nvPr/>
            </p:nvPicPr>
            <p:blipFill>
              <a:blip r:embed="rId29"/>
              <a:stretch>
                <a:fillRect/>
              </a:stretch>
            </p:blipFill>
            <p:spPr>
              <a:xfrm>
                <a:off x="5765370" y="540580"/>
                <a:ext cx="17316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71" name="Ink 70">
                <a:extLst>
                  <a:ext uri="{FF2B5EF4-FFF2-40B4-BE49-F238E27FC236}">
                    <a16:creationId xmlns:a16="http://schemas.microsoft.com/office/drawing/2014/main" id="{E360B7A2-B9EE-C0C3-B7C4-C60FB8C8FD5F}"/>
                  </a:ext>
                </a:extLst>
              </p14:cNvPr>
              <p14:cNvContentPartPr/>
              <p14:nvPr/>
            </p14:nvContentPartPr>
            <p14:xfrm>
              <a:off x="5784810" y="580900"/>
              <a:ext cx="88920" cy="55440"/>
            </p14:xfrm>
          </p:contentPart>
        </mc:Choice>
        <mc:Fallback>
          <p:pic>
            <p:nvPicPr>
              <p:cNvPr id="71" name="Ink 70">
                <a:extLst>
                  <a:ext uri="{FF2B5EF4-FFF2-40B4-BE49-F238E27FC236}">
                    <a16:creationId xmlns:a16="http://schemas.microsoft.com/office/drawing/2014/main" id="{E360B7A2-B9EE-C0C3-B7C4-C60FB8C8FD5F}"/>
                  </a:ext>
                </a:extLst>
              </p:cNvPr>
              <p:cNvPicPr/>
              <p:nvPr/>
            </p:nvPicPr>
            <p:blipFill>
              <a:blip r:embed="rId31"/>
              <a:stretch>
                <a:fillRect/>
              </a:stretch>
            </p:blipFill>
            <p:spPr>
              <a:xfrm>
                <a:off x="5766810" y="544900"/>
                <a:ext cx="1245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73" name="Ink 72">
                <a:extLst>
                  <a:ext uri="{FF2B5EF4-FFF2-40B4-BE49-F238E27FC236}">
                    <a16:creationId xmlns:a16="http://schemas.microsoft.com/office/drawing/2014/main" id="{7DFAE858-C039-31DC-8F56-C64651C4FD68}"/>
                  </a:ext>
                </a:extLst>
              </p14:cNvPr>
              <p14:cNvContentPartPr/>
              <p14:nvPr/>
            </p14:nvContentPartPr>
            <p14:xfrm rot="787406">
              <a:off x="5784409" y="575525"/>
              <a:ext cx="94402" cy="85990"/>
            </p14:xfrm>
          </p:contentPart>
        </mc:Choice>
        <mc:Fallback>
          <p:pic>
            <p:nvPicPr>
              <p:cNvPr id="73" name="Ink 72">
                <a:extLst>
                  <a:ext uri="{FF2B5EF4-FFF2-40B4-BE49-F238E27FC236}">
                    <a16:creationId xmlns:a16="http://schemas.microsoft.com/office/drawing/2014/main" id="{7DFAE858-C039-31DC-8F56-C64651C4FD68}"/>
                  </a:ext>
                </a:extLst>
              </p:cNvPr>
              <p:cNvPicPr/>
              <p:nvPr/>
            </p:nvPicPr>
            <p:blipFill>
              <a:blip r:embed="rId33"/>
              <a:stretch>
                <a:fillRect/>
              </a:stretch>
            </p:blipFill>
            <p:spPr>
              <a:xfrm rot="787406">
                <a:off x="5766754" y="539546"/>
                <a:ext cx="130073" cy="157588"/>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74" name="Ink 73">
                <a:extLst>
                  <a:ext uri="{FF2B5EF4-FFF2-40B4-BE49-F238E27FC236}">
                    <a16:creationId xmlns:a16="http://schemas.microsoft.com/office/drawing/2014/main" id="{F6C99D5D-2FD0-BFDB-3AB2-D1E5D6E63F8C}"/>
                  </a:ext>
                </a:extLst>
              </p14:cNvPr>
              <p14:cNvContentPartPr/>
              <p14:nvPr/>
            </p14:nvContentPartPr>
            <p14:xfrm>
              <a:off x="5775810" y="576940"/>
              <a:ext cx="42840" cy="34560"/>
            </p14:xfrm>
          </p:contentPart>
        </mc:Choice>
        <mc:Fallback>
          <p:pic>
            <p:nvPicPr>
              <p:cNvPr id="74" name="Ink 73">
                <a:extLst>
                  <a:ext uri="{FF2B5EF4-FFF2-40B4-BE49-F238E27FC236}">
                    <a16:creationId xmlns:a16="http://schemas.microsoft.com/office/drawing/2014/main" id="{F6C99D5D-2FD0-BFDB-3AB2-D1E5D6E63F8C}"/>
                  </a:ext>
                </a:extLst>
              </p:cNvPr>
              <p:cNvPicPr/>
              <p:nvPr/>
            </p:nvPicPr>
            <p:blipFill>
              <a:blip r:embed="rId35"/>
              <a:stretch>
                <a:fillRect/>
              </a:stretch>
            </p:blipFill>
            <p:spPr>
              <a:xfrm>
                <a:off x="5757810" y="541300"/>
                <a:ext cx="7848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75" name="Ink 74">
                <a:extLst>
                  <a:ext uri="{FF2B5EF4-FFF2-40B4-BE49-F238E27FC236}">
                    <a16:creationId xmlns:a16="http://schemas.microsoft.com/office/drawing/2014/main" id="{6ABD224C-7AAC-C060-6844-EA7A4AF608FE}"/>
                  </a:ext>
                </a:extLst>
              </p14:cNvPr>
              <p14:cNvContentPartPr/>
              <p14:nvPr/>
            </p14:nvContentPartPr>
            <p14:xfrm>
              <a:off x="5907210" y="568300"/>
              <a:ext cx="204840" cy="360"/>
            </p14:xfrm>
          </p:contentPart>
        </mc:Choice>
        <mc:Fallback>
          <p:pic>
            <p:nvPicPr>
              <p:cNvPr id="75" name="Ink 74">
                <a:extLst>
                  <a:ext uri="{FF2B5EF4-FFF2-40B4-BE49-F238E27FC236}">
                    <a16:creationId xmlns:a16="http://schemas.microsoft.com/office/drawing/2014/main" id="{6ABD224C-7AAC-C060-6844-EA7A4AF608FE}"/>
                  </a:ext>
                </a:extLst>
              </p:cNvPr>
              <p:cNvPicPr/>
              <p:nvPr/>
            </p:nvPicPr>
            <p:blipFill>
              <a:blip r:embed="rId37"/>
              <a:stretch>
                <a:fillRect/>
              </a:stretch>
            </p:blipFill>
            <p:spPr>
              <a:xfrm>
                <a:off x="5889570" y="532300"/>
                <a:ext cx="24048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76" name="Ink 75">
                <a:extLst>
                  <a:ext uri="{FF2B5EF4-FFF2-40B4-BE49-F238E27FC236}">
                    <a16:creationId xmlns:a16="http://schemas.microsoft.com/office/drawing/2014/main" id="{81109351-11F8-EBF5-C5E0-8037914A5F60}"/>
                  </a:ext>
                </a:extLst>
              </p14:cNvPr>
              <p14:cNvContentPartPr/>
              <p14:nvPr/>
            </p14:nvContentPartPr>
            <p14:xfrm>
              <a:off x="5705250" y="565060"/>
              <a:ext cx="81720" cy="3600"/>
            </p14:xfrm>
          </p:contentPart>
        </mc:Choice>
        <mc:Fallback>
          <p:pic>
            <p:nvPicPr>
              <p:cNvPr id="76" name="Ink 75">
                <a:extLst>
                  <a:ext uri="{FF2B5EF4-FFF2-40B4-BE49-F238E27FC236}">
                    <a16:creationId xmlns:a16="http://schemas.microsoft.com/office/drawing/2014/main" id="{81109351-11F8-EBF5-C5E0-8037914A5F60}"/>
                  </a:ext>
                </a:extLst>
              </p:cNvPr>
              <p:cNvPicPr/>
              <p:nvPr/>
            </p:nvPicPr>
            <p:blipFill>
              <a:blip r:embed="rId39"/>
              <a:stretch>
                <a:fillRect/>
              </a:stretch>
            </p:blipFill>
            <p:spPr>
              <a:xfrm>
                <a:off x="5687610" y="529060"/>
                <a:ext cx="117360" cy="75240"/>
              </a:xfrm>
              <a:prstGeom prst="rect">
                <a:avLst/>
              </a:prstGeom>
            </p:spPr>
          </p:pic>
        </mc:Fallback>
      </mc:AlternateContent>
      <p:pic>
        <p:nvPicPr>
          <p:cNvPr id="79" name="Picture 78">
            <a:extLst>
              <a:ext uri="{FF2B5EF4-FFF2-40B4-BE49-F238E27FC236}">
                <a16:creationId xmlns:a16="http://schemas.microsoft.com/office/drawing/2014/main" id="{87B3C035-DAEB-8FB2-E284-DB067645D521}"/>
              </a:ext>
            </a:extLst>
          </p:cNvPr>
          <p:cNvPicPr>
            <a:picLocks noChangeAspect="1"/>
          </p:cNvPicPr>
          <p:nvPr/>
        </p:nvPicPr>
        <p:blipFill>
          <a:blip r:embed="rId40"/>
          <a:stretch>
            <a:fillRect/>
          </a:stretch>
        </p:blipFill>
        <p:spPr>
          <a:xfrm rot="2792949">
            <a:off x="5663446" y="597733"/>
            <a:ext cx="95864" cy="45719"/>
          </a:xfrm>
          <a:prstGeom prst="rect">
            <a:avLst/>
          </a:prstGeom>
        </p:spPr>
      </p:pic>
    </p:spTree>
    <p:extLst>
      <p:ext uri="{BB962C8B-B14F-4D97-AF65-F5344CB8AC3E}">
        <p14:creationId xmlns:p14="http://schemas.microsoft.com/office/powerpoint/2010/main" val="1390643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FBE5B-72A2-7EE8-CBB6-E7702EB98B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A343A95-DE66-68EE-9A0A-22709C1694E7}"/>
              </a:ext>
            </a:extLst>
          </p:cNvPr>
          <p:cNvSpPr txBox="1"/>
          <p:nvPr/>
        </p:nvSpPr>
        <p:spPr>
          <a:xfrm>
            <a:off x="365761" y="1443841"/>
            <a:ext cx="11694694" cy="5078313"/>
          </a:xfrm>
          <a:prstGeom prst="rect">
            <a:avLst/>
          </a:prstGeom>
          <a:noFill/>
        </p:spPr>
        <p:txBody>
          <a:bodyPr wrap="square">
            <a:spAutoFit/>
          </a:bodyPr>
          <a:lstStyle/>
          <a:p>
            <a:r>
              <a:rPr lang="en-US" b="1" dirty="0"/>
              <a:t>3 Core Components:</a:t>
            </a:r>
            <a:endParaRPr lang="en-US" dirty="0"/>
          </a:p>
          <a:p>
            <a:pPr marL="285750" indent="-285750">
              <a:buFont typeface="Arial" panose="020B0604020202020204" pitchFamily="34" charset="0"/>
              <a:buChar char="•"/>
            </a:pPr>
            <a:r>
              <a:rPr lang="en-US" b="1" dirty="0"/>
              <a:t>Encoder</a:t>
            </a:r>
            <a:r>
              <a:rPr lang="en-US" dirty="0"/>
              <a:t> — compresses input images into continuous latent vectors</a:t>
            </a:r>
          </a:p>
          <a:p>
            <a:pPr marL="285750" indent="-285750">
              <a:buFont typeface="Arial" panose="020B0604020202020204" pitchFamily="34" charset="0"/>
              <a:buChar char="•"/>
            </a:pPr>
            <a:r>
              <a:rPr lang="en-US" b="1" dirty="0"/>
              <a:t>Codebook</a:t>
            </a:r>
            <a:r>
              <a:rPr lang="en-US" dirty="0"/>
              <a:t> — a finite set of discrete embedding vectors; each latent vector is replaced by its nearest match</a:t>
            </a:r>
          </a:p>
          <a:p>
            <a:pPr marL="285750" indent="-285750">
              <a:buFont typeface="Arial" panose="020B0604020202020204" pitchFamily="34" charset="0"/>
              <a:buChar char="•"/>
            </a:pPr>
            <a:r>
              <a:rPr lang="en-US" b="1" dirty="0"/>
              <a:t>Decoder</a:t>
            </a:r>
            <a:r>
              <a:rPr lang="en-US" dirty="0"/>
              <a:t> — reconstructs the image from the discrete (quantized) embeddings</a:t>
            </a:r>
          </a:p>
          <a:p>
            <a:br>
              <a:rPr lang="en-US" dirty="0"/>
            </a:br>
            <a:endParaRPr lang="en-US" dirty="0"/>
          </a:p>
          <a:p>
            <a:r>
              <a:rPr lang="en-US" b="1" dirty="0"/>
              <a:t>How Quantization Works:</a:t>
            </a:r>
          </a:p>
          <a:p>
            <a:pPr marL="285750" indent="-285750">
              <a:buFont typeface="Arial" panose="020B0604020202020204" pitchFamily="34" charset="0"/>
              <a:buChar char="•"/>
            </a:pPr>
            <a:r>
              <a:rPr lang="en-US" dirty="0"/>
              <a:t>Each image is encoded into a grid of feature vectors (e.g. 24×24 = 576 vectors)</a:t>
            </a:r>
          </a:p>
          <a:p>
            <a:pPr marL="285750" indent="-285750">
              <a:buFont typeface="Arial" panose="020B0604020202020204" pitchFamily="34" charset="0"/>
              <a:buChar char="•"/>
            </a:pPr>
            <a:r>
              <a:rPr lang="en-US" dirty="0"/>
              <a:t>Each feature vector is matched to the nearest embedding in the codebook (e.g. 1024 embeddings)</a:t>
            </a:r>
          </a:p>
          <a:p>
            <a:pPr marL="285750" indent="-285750">
              <a:buFont typeface="Arial" panose="020B0604020202020204" pitchFamily="34" charset="0"/>
              <a:buChar char="•"/>
            </a:pPr>
            <a:r>
              <a:rPr lang="en-US" dirty="0"/>
              <a:t>The result is a sequence of integers — each representing a codebook index (e.g. 873, 862, …, 148) — a compact discrete representation of the image.</a:t>
            </a:r>
            <a:br>
              <a:rPr lang="en-US" dirty="0"/>
            </a:br>
            <a:endParaRPr lang="en-US" dirty="0"/>
          </a:p>
          <a:p>
            <a:r>
              <a:rPr lang="en-US" b="1" dirty="0"/>
              <a:t>Two Loss Functions:</a:t>
            </a:r>
            <a:endParaRPr lang="en-US" dirty="0"/>
          </a:p>
          <a:p>
            <a:pPr marL="285750" indent="-285750">
              <a:buFont typeface="Arial" panose="020B0604020202020204" pitchFamily="34" charset="0"/>
              <a:buChar char="•"/>
            </a:pPr>
            <a:r>
              <a:rPr lang="en-US" b="1" dirty="0"/>
              <a:t>Reconstruction loss</a:t>
            </a:r>
            <a:r>
              <a:rPr lang="en-US" dirty="0"/>
              <a:t> — difference between original and reconstructed image</a:t>
            </a:r>
          </a:p>
          <a:p>
            <a:pPr marL="285750" indent="-285750">
              <a:buFont typeface="Arial" panose="020B0604020202020204" pitchFamily="34" charset="0"/>
              <a:buChar char="•"/>
            </a:pPr>
            <a:r>
              <a:rPr lang="en-US" b="1" dirty="0"/>
              <a:t>Quantization loss</a:t>
            </a:r>
            <a:r>
              <a:rPr lang="en-US" dirty="0"/>
              <a:t> — how closely encoder outputs match their assigned codebook embeddings</a:t>
            </a:r>
          </a:p>
          <a:p>
            <a:br>
              <a:rPr lang="en-US" dirty="0"/>
            </a:br>
            <a:endParaRPr lang="en-US" dirty="0"/>
          </a:p>
          <a:p>
            <a:endParaRPr lang="ro-RO" dirty="0"/>
          </a:p>
        </p:txBody>
      </p:sp>
      <p:sp>
        <p:nvSpPr>
          <p:cNvPr id="6" name="Shape 0">
            <a:extLst>
              <a:ext uri="{FF2B5EF4-FFF2-40B4-BE49-F238E27FC236}">
                <a16:creationId xmlns:a16="http://schemas.microsoft.com/office/drawing/2014/main" id="{5676A735-0240-0633-9A1A-8A25246CFB0D}"/>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7" name="Shape 5">
            <a:extLst>
              <a:ext uri="{FF2B5EF4-FFF2-40B4-BE49-F238E27FC236}">
                <a16:creationId xmlns:a16="http://schemas.microsoft.com/office/drawing/2014/main" id="{542D0651-0EE0-B811-718E-509AEB9E53E1}"/>
              </a:ext>
            </a:extLst>
          </p:cNvPr>
          <p:cNvSpPr/>
          <p:nvPr/>
        </p:nvSpPr>
        <p:spPr>
          <a:xfrm>
            <a:off x="86673" y="1529272"/>
            <a:ext cx="228600" cy="228600"/>
          </a:xfrm>
          <a:prstGeom prst="ellipse">
            <a:avLst/>
          </a:prstGeom>
          <a:solidFill>
            <a:srgbClr val="FFC000"/>
          </a:solidFill>
          <a:ln/>
        </p:spPr>
      </p:sp>
      <p:sp>
        <p:nvSpPr>
          <p:cNvPr id="8" name="Shape 5">
            <a:extLst>
              <a:ext uri="{FF2B5EF4-FFF2-40B4-BE49-F238E27FC236}">
                <a16:creationId xmlns:a16="http://schemas.microsoft.com/office/drawing/2014/main" id="{50DDF9BB-6C54-6A76-8EED-116635F8310F}"/>
              </a:ext>
            </a:extLst>
          </p:cNvPr>
          <p:cNvSpPr/>
          <p:nvPr/>
        </p:nvSpPr>
        <p:spPr>
          <a:xfrm>
            <a:off x="81734" y="3167399"/>
            <a:ext cx="228600" cy="228600"/>
          </a:xfrm>
          <a:prstGeom prst="ellipse">
            <a:avLst/>
          </a:prstGeom>
          <a:solidFill>
            <a:srgbClr val="FFC000"/>
          </a:solidFill>
          <a:ln/>
        </p:spPr>
      </p:sp>
      <p:sp>
        <p:nvSpPr>
          <p:cNvPr id="9" name="Shape 5">
            <a:extLst>
              <a:ext uri="{FF2B5EF4-FFF2-40B4-BE49-F238E27FC236}">
                <a16:creationId xmlns:a16="http://schemas.microsoft.com/office/drawing/2014/main" id="{1CDF8ACB-E4A2-A098-5274-53BC87102B1D}"/>
              </a:ext>
            </a:extLst>
          </p:cNvPr>
          <p:cNvSpPr/>
          <p:nvPr/>
        </p:nvSpPr>
        <p:spPr>
          <a:xfrm>
            <a:off x="81734" y="4827735"/>
            <a:ext cx="228600" cy="228600"/>
          </a:xfrm>
          <a:prstGeom prst="ellipse">
            <a:avLst/>
          </a:prstGeom>
          <a:solidFill>
            <a:srgbClr val="FFC000"/>
          </a:solidFill>
          <a:ln/>
        </p:spPr>
      </p:sp>
      <p:sp>
        <p:nvSpPr>
          <p:cNvPr id="11" name="Text 1">
            <a:extLst>
              <a:ext uri="{FF2B5EF4-FFF2-40B4-BE49-F238E27FC236}">
                <a16:creationId xmlns:a16="http://schemas.microsoft.com/office/drawing/2014/main" id="{43DF7465-BE1C-F791-3737-E90359F8839F}"/>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Just a bit of theory</a:t>
            </a:r>
            <a:endParaRPr lang="en-US" sz="3467" dirty="0"/>
          </a:p>
        </p:txBody>
      </p:sp>
      <p:pic>
        <p:nvPicPr>
          <p:cNvPr id="5122" name="Picture 2" descr="Pinching hand emoji — Emoji Family">
            <a:extLst>
              <a:ext uri="{FF2B5EF4-FFF2-40B4-BE49-F238E27FC236}">
                <a16:creationId xmlns:a16="http://schemas.microsoft.com/office/drawing/2014/main" id="{01E4D065-3C74-C2EC-1A00-AEE67E23D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4042" y="163187"/>
            <a:ext cx="866223" cy="866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069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99F50-0420-E99E-16A0-1D5FE6C94D3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E6D6D7-7474-6311-E340-E1F51E68DA9F}"/>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D8A28C0-2A31-80B1-6980-E7A4F16908CC}"/>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4</a:t>
            </a:r>
            <a:endParaRPr lang="en-US" sz="1867" dirty="0"/>
          </a:p>
        </p:txBody>
      </p:sp>
      <p:sp>
        <p:nvSpPr>
          <p:cNvPr id="7" name="Text 2">
            <a:extLst>
              <a:ext uri="{FF2B5EF4-FFF2-40B4-BE49-F238E27FC236}">
                <a16:creationId xmlns:a16="http://schemas.microsoft.com/office/drawing/2014/main" id="{B06D300D-0D37-D3EB-6D47-E68A613A8D3A}"/>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What is a generative </a:t>
            </a:r>
            <a:br>
              <a:rPr lang="en-US" sz="6000" b="1" dirty="0">
                <a:solidFill>
                  <a:srgbClr val="000000"/>
                </a:solidFill>
                <a:latin typeface="Calibri" pitchFamily="34" charset="0"/>
                <a:ea typeface="Calibri" pitchFamily="34" charset="-122"/>
                <a:cs typeface="Calibri" pitchFamily="34" charset="-120"/>
              </a:rPr>
            </a:br>
            <a:r>
              <a:rPr lang="en-US" sz="6000" b="1" dirty="0">
                <a:solidFill>
                  <a:srgbClr val="000000"/>
                </a:solidFill>
                <a:latin typeface="Calibri" pitchFamily="34" charset="0"/>
                <a:ea typeface="Calibri" pitchFamily="34" charset="-122"/>
                <a:cs typeface="Calibri" pitchFamily="34" charset="-120"/>
              </a:rPr>
              <a:t>adversarial network (GAN) ?</a:t>
            </a:r>
          </a:p>
        </p:txBody>
      </p:sp>
    </p:spTree>
    <p:extLst>
      <p:ext uri="{BB962C8B-B14F-4D97-AF65-F5344CB8AC3E}">
        <p14:creationId xmlns:p14="http://schemas.microsoft.com/office/powerpoint/2010/main" val="3228754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ooking back at the original vanilla GAN and its evolution over time | by  Anjana Samindra Perera | Towards AI">
            <a:extLst>
              <a:ext uri="{FF2B5EF4-FFF2-40B4-BE49-F238E27FC236}">
                <a16:creationId xmlns:a16="http://schemas.microsoft.com/office/drawing/2014/main" id="{B670E83E-EC15-3DC3-9CD6-68DC9098F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883" y="402618"/>
            <a:ext cx="11476234" cy="6455382"/>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a:extLst>
              <a:ext uri="{FF2B5EF4-FFF2-40B4-BE49-F238E27FC236}">
                <a16:creationId xmlns:a16="http://schemas.microsoft.com/office/drawing/2014/main" id="{0396FFD7-E0F7-CDDC-E965-CDD89D5B0767}"/>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4171525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GAN examples">
            <a:extLst>
              <a:ext uri="{FF2B5EF4-FFF2-40B4-BE49-F238E27FC236}">
                <a16:creationId xmlns:a16="http://schemas.microsoft.com/office/drawing/2014/main" id="{C5F9D4C5-C210-8CC1-A219-B20FDB217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766" y="991402"/>
            <a:ext cx="10560829" cy="5331293"/>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a:extLst>
              <a:ext uri="{FF2B5EF4-FFF2-40B4-BE49-F238E27FC236}">
                <a16:creationId xmlns:a16="http://schemas.microsoft.com/office/drawing/2014/main" id="{D0143C15-222D-3275-9A73-DFFAB23D7629}"/>
              </a:ext>
            </a:extLst>
          </p:cNvPr>
          <p:cNvSpPr/>
          <p:nvPr/>
        </p:nvSpPr>
        <p:spPr>
          <a:xfrm>
            <a:off x="0" y="0"/>
            <a:ext cx="12192000" cy="97536"/>
          </a:xfrm>
          <a:prstGeom prst="rect">
            <a:avLst/>
          </a:prstGeom>
          <a:solidFill>
            <a:srgbClr val="1565C0"/>
          </a:solidFill>
          <a:ln w="12700">
            <a:solidFill>
              <a:srgbClr val="1565C0"/>
            </a:solidFill>
            <a:prstDash val="solid"/>
          </a:ln>
        </p:spPr>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D69F277-B079-2479-77FF-D99F83C2EC2D}"/>
                  </a:ext>
                </a:extLst>
              </p14:cNvPr>
              <p14:cNvContentPartPr/>
              <p14:nvPr/>
            </p14:nvContentPartPr>
            <p14:xfrm>
              <a:off x="817844" y="3656198"/>
              <a:ext cx="1931040" cy="213480"/>
            </p14:xfrm>
          </p:contentPart>
        </mc:Choice>
        <mc:Fallback>
          <p:pic>
            <p:nvPicPr>
              <p:cNvPr id="3" name="Ink 2">
                <a:extLst>
                  <a:ext uri="{FF2B5EF4-FFF2-40B4-BE49-F238E27FC236}">
                    <a16:creationId xmlns:a16="http://schemas.microsoft.com/office/drawing/2014/main" id="{9D69F277-B079-2479-77FF-D99F83C2EC2D}"/>
                  </a:ext>
                </a:extLst>
              </p:cNvPr>
              <p:cNvPicPr/>
              <p:nvPr/>
            </p:nvPicPr>
            <p:blipFill>
              <a:blip r:embed="rId4"/>
              <a:stretch>
                <a:fillRect/>
              </a:stretch>
            </p:blipFill>
            <p:spPr>
              <a:xfrm>
                <a:off x="754844" y="3593198"/>
                <a:ext cx="2056680" cy="339120"/>
              </a:xfrm>
              <a:prstGeom prst="rect">
                <a:avLst/>
              </a:prstGeom>
            </p:spPr>
          </p:pic>
        </mc:Fallback>
      </mc:AlternateContent>
      <p:sp>
        <p:nvSpPr>
          <p:cNvPr id="4" name="TextBox 3">
            <a:extLst>
              <a:ext uri="{FF2B5EF4-FFF2-40B4-BE49-F238E27FC236}">
                <a16:creationId xmlns:a16="http://schemas.microsoft.com/office/drawing/2014/main" id="{F8B38874-0764-2F68-1857-7202A59C0DB8}"/>
              </a:ext>
            </a:extLst>
          </p:cNvPr>
          <p:cNvSpPr txBox="1"/>
          <p:nvPr/>
        </p:nvSpPr>
        <p:spPr>
          <a:xfrm>
            <a:off x="817844" y="3656198"/>
            <a:ext cx="2156059" cy="369332"/>
          </a:xfrm>
          <a:prstGeom prst="rect">
            <a:avLst/>
          </a:prstGeom>
          <a:noFill/>
        </p:spPr>
        <p:txBody>
          <a:bodyPr wrap="square" rtlCol="0">
            <a:spAutoFit/>
          </a:bodyPr>
          <a:lstStyle/>
          <a:p>
            <a:r>
              <a:rPr lang="en-US" dirty="0"/>
              <a:t>Random noise</a:t>
            </a:r>
            <a:endParaRPr lang="ro-RO" dirty="0"/>
          </a:p>
        </p:txBody>
      </p:sp>
    </p:spTree>
    <p:extLst>
      <p:ext uri="{BB962C8B-B14F-4D97-AF65-F5344CB8AC3E}">
        <p14:creationId xmlns:p14="http://schemas.microsoft.com/office/powerpoint/2010/main" val="3829973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600F19-43AA-B42E-385B-559527E6620D}"/>
              </a:ext>
            </a:extLst>
          </p:cNvPr>
          <p:cNvSpPr txBox="1"/>
          <p:nvPr/>
        </p:nvSpPr>
        <p:spPr>
          <a:xfrm>
            <a:off x="365761" y="1443841"/>
            <a:ext cx="11694694" cy="3970318"/>
          </a:xfrm>
          <a:prstGeom prst="rect">
            <a:avLst/>
          </a:prstGeom>
          <a:noFill/>
        </p:spPr>
        <p:txBody>
          <a:bodyPr wrap="square">
            <a:spAutoFit/>
          </a:bodyPr>
          <a:lstStyle/>
          <a:p>
            <a:r>
              <a:rPr lang="en-US" b="1" dirty="0"/>
              <a:t>GANs</a:t>
            </a:r>
            <a:r>
              <a:rPr lang="en-US" dirty="0"/>
              <a:t> are a class of generative models built on a game-theoretic framework between two competing neural networks: </a:t>
            </a:r>
          </a:p>
          <a:p>
            <a:endParaRPr lang="en-US" dirty="0"/>
          </a:p>
          <a:p>
            <a:r>
              <a:rPr lang="en-US" i="1" dirty="0"/>
              <a:t>        </a:t>
            </a:r>
            <a:r>
              <a:rPr lang="en-US" b="1" i="1" dirty="0"/>
              <a:t>Generator</a:t>
            </a:r>
            <a:r>
              <a:rPr lang="en-US" dirty="0"/>
              <a:t>—Takes random noise, typically sampled from a normal distribution, and transforms it into synthetic data samples that aim to resemble the real data distribution. </a:t>
            </a:r>
          </a:p>
          <a:p>
            <a:endParaRPr lang="en-US" dirty="0"/>
          </a:p>
          <a:p>
            <a:r>
              <a:rPr lang="en-US" i="1" dirty="0"/>
              <a:t>        </a:t>
            </a:r>
            <a:r>
              <a:rPr lang="en-US" b="1" i="1" dirty="0"/>
              <a:t>Discriminator</a:t>
            </a:r>
            <a:r>
              <a:rPr lang="en-US" dirty="0"/>
              <a:t>—Receives both real samples from the training set and generated samples from the generator, and then attempts to correctly classify them as real or fake.</a:t>
            </a:r>
          </a:p>
          <a:p>
            <a:endParaRPr lang="en-US" dirty="0"/>
          </a:p>
          <a:p>
            <a:endParaRPr lang="en-US" dirty="0"/>
          </a:p>
          <a:p>
            <a:r>
              <a:rPr lang="en-US" dirty="0"/>
              <a:t>The generator and discriminator engage in a two-player minimax game: </a:t>
            </a:r>
          </a:p>
          <a:p>
            <a:endParaRPr lang="en-US" dirty="0"/>
          </a:p>
          <a:p>
            <a:r>
              <a:rPr lang="en-US" dirty="0"/>
              <a:t>        The discriminator seeks to maximize its ability to distinguish real samples from fakes. </a:t>
            </a:r>
          </a:p>
          <a:p>
            <a:endParaRPr lang="en-US" dirty="0"/>
          </a:p>
          <a:p>
            <a:r>
              <a:rPr lang="en-US" dirty="0"/>
              <a:t>        The generator aims to minimize the discriminator’s ability to correctly identify fake samples.</a:t>
            </a:r>
            <a:endParaRPr lang="ro-RO" dirty="0"/>
          </a:p>
        </p:txBody>
      </p:sp>
      <p:sp>
        <p:nvSpPr>
          <p:cNvPr id="6" name="Shape 0">
            <a:extLst>
              <a:ext uri="{FF2B5EF4-FFF2-40B4-BE49-F238E27FC236}">
                <a16:creationId xmlns:a16="http://schemas.microsoft.com/office/drawing/2014/main" id="{22C2805C-D48D-9203-85EC-C995778494E8}"/>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7" name="Shape 5">
            <a:extLst>
              <a:ext uri="{FF2B5EF4-FFF2-40B4-BE49-F238E27FC236}">
                <a16:creationId xmlns:a16="http://schemas.microsoft.com/office/drawing/2014/main" id="{727A629D-147A-1D89-C83E-184E26E9DC61}"/>
              </a:ext>
            </a:extLst>
          </p:cNvPr>
          <p:cNvSpPr/>
          <p:nvPr/>
        </p:nvSpPr>
        <p:spPr>
          <a:xfrm>
            <a:off x="502920" y="2075039"/>
            <a:ext cx="228600" cy="228600"/>
          </a:xfrm>
          <a:prstGeom prst="ellipse">
            <a:avLst/>
          </a:prstGeom>
          <a:solidFill>
            <a:srgbClr val="FFC000"/>
          </a:solidFill>
          <a:ln/>
        </p:spPr>
      </p:sp>
      <p:sp>
        <p:nvSpPr>
          <p:cNvPr id="8" name="Shape 5">
            <a:extLst>
              <a:ext uri="{FF2B5EF4-FFF2-40B4-BE49-F238E27FC236}">
                <a16:creationId xmlns:a16="http://schemas.microsoft.com/office/drawing/2014/main" id="{4D61786F-3E1D-0A9A-E331-3D3AFF17674B}"/>
              </a:ext>
            </a:extLst>
          </p:cNvPr>
          <p:cNvSpPr/>
          <p:nvPr/>
        </p:nvSpPr>
        <p:spPr>
          <a:xfrm>
            <a:off x="502920" y="2891657"/>
            <a:ext cx="228600" cy="228600"/>
          </a:xfrm>
          <a:prstGeom prst="ellipse">
            <a:avLst/>
          </a:prstGeom>
          <a:solidFill>
            <a:srgbClr val="FFC000"/>
          </a:solidFill>
          <a:ln/>
        </p:spPr>
      </p:sp>
      <p:sp>
        <p:nvSpPr>
          <p:cNvPr id="9" name="Shape 5">
            <a:extLst>
              <a:ext uri="{FF2B5EF4-FFF2-40B4-BE49-F238E27FC236}">
                <a16:creationId xmlns:a16="http://schemas.microsoft.com/office/drawing/2014/main" id="{48DB219B-DA1B-74FA-15C1-89ECC68E8CEC}"/>
              </a:ext>
            </a:extLst>
          </p:cNvPr>
          <p:cNvSpPr/>
          <p:nvPr/>
        </p:nvSpPr>
        <p:spPr>
          <a:xfrm>
            <a:off x="502920" y="4537502"/>
            <a:ext cx="228600" cy="228600"/>
          </a:xfrm>
          <a:prstGeom prst="ellipse">
            <a:avLst/>
          </a:prstGeom>
          <a:solidFill>
            <a:srgbClr val="FFC000"/>
          </a:solidFill>
          <a:ln/>
        </p:spPr>
      </p:sp>
      <p:sp>
        <p:nvSpPr>
          <p:cNvPr id="10" name="Shape 5">
            <a:extLst>
              <a:ext uri="{FF2B5EF4-FFF2-40B4-BE49-F238E27FC236}">
                <a16:creationId xmlns:a16="http://schemas.microsoft.com/office/drawing/2014/main" id="{BDDD21C2-0889-E677-453C-F6167A75C4D6}"/>
              </a:ext>
            </a:extLst>
          </p:cNvPr>
          <p:cNvSpPr/>
          <p:nvPr/>
        </p:nvSpPr>
        <p:spPr>
          <a:xfrm>
            <a:off x="502920" y="5043624"/>
            <a:ext cx="228600" cy="228600"/>
          </a:xfrm>
          <a:prstGeom prst="ellipse">
            <a:avLst/>
          </a:prstGeom>
          <a:solidFill>
            <a:srgbClr val="FFC000"/>
          </a:solidFill>
          <a:ln/>
        </p:spPr>
      </p:sp>
      <p:sp>
        <p:nvSpPr>
          <p:cNvPr id="11" name="Text 1">
            <a:extLst>
              <a:ext uri="{FF2B5EF4-FFF2-40B4-BE49-F238E27FC236}">
                <a16:creationId xmlns:a16="http://schemas.microsoft.com/office/drawing/2014/main" id="{A723CE6C-1256-BD42-8F16-5D5D65E1AC30}"/>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Just a bit of theory</a:t>
            </a:r>
            <a:endParaRPr lang="en-US" sz="3467" dirty="0"/>
          </a:p>
        </p:txBody>
      </p:sp>
      <p:pic>
        <p:nvPicPr>
          <p:cNvPr id="5122" name="Picture 2" descr="Pinching hand emoji — Emoji Family">
            <a:extLst>
              <a:ext uri="{FF2B5EF4-FFF2-40B4-BE49-F238E27FC236}">
                <a16:creationId xmlns:a16="http://schemas.microsoft.com/office/drawing/2014/main" id="{D5BBD510-AE34-8537-C249-C3E47B918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4042" y="163187"/>
            <a:ext cx="866223" cy="866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426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5016-1CFA-1581-2466-604025DAF7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B68697-252E-9B70-70A3-E7973D86B40D}"/>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DC44CAC7-D718-D481-1340-078B515B67C4}"/>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5</a:t>
            </a:r>
            <a:endParaRPr lang="en-US" sz="1867" dirty="0"/>
          </a:p>
        </p:txBody>
      </p:sp>
      <p:sp>
        <p:nvSpPr>
          <p:cNvPr id="7" name="Text 2">
            <a:extLst>
              <a:ext uri="{FF2B5EF4-FFF2-40B4-BE49-F238E27FC236}">
                <a16:creationId xmlns:a16="http://schemas.microsoft.com/office/drawing/2014/main" id="{D9291AF9-A010-84BF-8519-C362B94405AC}"/>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What is a Vector Quantized Generative Adversarial Network (VQGAN) ?</a:t>
            </a:r>
          </a:p>
        </p:txBody>
      </p:sp>
    </p:spTree>
    <p:extLst>
      <p:ext uri="{BB962C8B-B14F-4D97-AF65-F5344CB8AC3E}">
        <p14:creationId xmlns:p14="http://schemas.microsoft.com/office/powerpoint/2010/main" val="1082075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71DA63-FD74-F072-6274-EFB6EABE4964}"/>
              </a:ext>
            </a:extLst>
          </p:cNvPr>
          <p:cNvPicPr>
            <a:picLocks noChangeAspect="1"/>
          </p:cNvPicPr>
          <p:nvPr/>
        </p:nvPicPr>
        <p:blipFill>
          <a:blip r:embed="rId2"/>
          <a:stretch>
            <a:fillRect/>
          </a:stretch>
        </p:blipFill>
        <p:spPr>
          <a:xfrm>
            <a:off x="3334455" y="1453599"/>
            <a:ext cx="5523089" cy="4282998"/>
          </a:xfrm>
          <a:prstGeom prst="rect">
            <a:avLst/>
          </a:prstGeom>
        </p:spPr>
      </p:pic>
      <p:pic>
        <p:nvPicPr>
          <p:cNvPr id="7" name="Picture 4" descr="GAN examples">
            <a:extLst>
              <a:ext uri="{FF2B5EF4-FFF2-40B4-BE49-F238E27FC236}">
                <a16:creationId xmlns:a16="http://schemas.microsoft.com/office/drawing/2014/main" id="{C393113F-BEDB-1AF9-0B57-8BFB5CE5F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0653" y="2821373"/>
            <a:ext cx="3065364" cy="15474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DC527A-4A2E-353A-7DD4-00B9846B2EC5}"/>
              </a:ext>
            </a:extLst>
          </p:cNvPr>
          <p:cNvSpPr txBox="1"/>
          <p:nvPr/>
        </p:nvSpPr>
        <p:spPr>
          <a:xfrm>
            <a:off x="10003585" y="1841500"/>
            <a:ext cx="1079500" cy="584775"/>
          </a:xfrm>
          <a:prstGeom prst="rect">
            <a:avLst/>
          </a:prstGeom>
          <a:noFill/>
        </p:spPr>
        <p:txBody>
          <a:bodyPr wrap="square" rtlCol="0">
            <a:spAutoFit/>
          </a:bodyPr>
          <a:lstStyle/>
          <a:p>
            <a:r>
              <a:rPr lang="en-US" sz="3200" b="1" dirty="0"/>
              <a:t>GAN</a:t>
            </a:r>
            <a:endParaRPr lang="ro-RO" sz="3200" b="1" dirty="0"/>
          </a:p>
        </p:txBody>
      </p:sp>
      <p:sp>
        <p:nvSpPr>
          <p:cNvPr id="9" name="TextBox 8">
            <a:extLst>
              <a:ext uri="{FF2B5EF4-FFF2-40B4-BE49-F238E27FC236}">
                <a16:creationId xmlns:a16="http://schemas.microsoft.com/office/drawing/2014/main" id="{C7BE65BD-A64B-50BA-3117-CA627CFFA438}"/>
              </a:ext>
            </a:extLst>
          </p:cNvPr>
          <p:cNvSpPr txBox="1"/>
          <p:nvPr/>
        </p:nvSpPr>
        <p:spPr>
          <a:xfrm>
            <a:off x="1108915" y="1841499"/>
            <a:ext cx="1652520" cy="584775"/>
          </a:xfrm>
          <a:prstGeom prst="rect">
            <a:avLst/>
          </a:prstGeom>
          <a:noFill/>
        </p:spPr>
        <p:txBody>
          <a:bodyPr wrap="square" rtlCol="0">
            <a:spAutoFit/>
          </a:bodyPr>
          <a:lstStyle/>
          <a:p>
            <a:r>
              <a:rPr lang="en-US" sz="3200" b="1" dirty="0"/>
              <a:t>VQ-VAE</a:t>
            </a:r>
            <a:endParaRPr lang="ro-RO" sz="3200" b="1" dirty="0"/>
          </a:p>
        </p:txBody>
      </p:sp>
      <p:pic>
        <p:nvPicPr>
          <p:cNvPr id="11" name="Picture 10">
            <a:extLst>
              <a:ext uri="{FF2B5EF4-FFF2-40B4-BE49-F238E27FC236}">
                <a16:creationId xmlns:a16="http://schemas.microsoft.com/office/drawing/2014/main" id="{67A07829-64BC-97CA-9BC5-8848D3DEE2C2}"/>
              </a:ext>
            </a:extLst>
          </p:cNvPr>
          <p:cNvPicPr>
            <a:picLocks noChangeAspect="1"/>
          </p:cNvPicPr>
          <p:nvPr/>
        </p:nvPicPr>
        <p:blipFill>
          <a:blip r:embed="rId4"/>
          <a:stretch>
            <a:fillRect/>
          </a:stretch>
        </p:blipFill>
        <p:spPr>
          <a:xfrm>
            <a:off x="115983" y="2604555"/>
            <a:ext cx="3363451" cy="1827172"/>
          </a:xfrm>
          <a:prstGeom prst="rect">
            <a:avLst/>
          </a:prstGeom>
        </p:spPr>
      </p:pic>
    </p:spTree>
    <p:extLst>
      <p:ext uri="{BB962C8B-B14F-4D97-AF65-F5344CB8AC3E}">
        <p14:creationId xmlns:p14="http://schemas.microsoft.com/office/powerpoint/2010/main" val="3758658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97B46-746B-CAF3-F392-6B9AB3CACE54}"/>
              </a:ext>
            </a:extLst>
          </p:cNvPr>
          <p:cNvPicPr>
            <a:picLocks noChangeAspect="1"/>
          </p:cNvPicPr>
          <p:nvPr/>
        </p:nvPicPr>
        <p:blipFill>
          <a:blip r:embed="rId2"/>
          <a:stretch>
            <a:fillRect/>
          </a:stretch>
        </p:blipFill>
        <p:spPr>
          <a:xfrm>
            <a:off x="1404283" y="280548"/>
            <a:ext cx="9383434" cy="6296904"/>
          </a:xfrm>
          <a:prstGeom prst="rect">
            <a:avLst/>
          </a:prstGeom>
        </p:spPr>
      </p:pic>
      <p:sp>
        <p:nvSpPr>
          <p:cNvPr id="4" name="Shape 0">
            <a:extLst>
              <a:ext uri="{FF2B5EF4-FFF2-40B4-BE49-F238E27FC236}">
                <a16:creationId xmlns:a16="http://schemas.microsoft.com/office/drawing/2014/main" id="{D347D883-F929-82AB-4BF0-6B24B2E57552}"/>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1795814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1</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The Full</a:t>
            </a:r>
          </a:p>
          <a:p>
            <a:r>
              <a:rPr lang="en-US" sz="6000" b="1" dirty="0">
                <a:solidFill>
                  <a:srgbClr val="000000"/>
                </a:solidFill>
                <a:latin typeface="Calibri" pitchFamily="34" charset="0"/>
                <a:ea typeface="Calibri" pitchFamily="34" charset="-122"/>
                <a:cs typeface="Calibri" pitchFamily="34" charset="-120"/>
              </a:rPr>
              <a:t>VQGAN Pipeline:</a:t>
            </a:r>
          </a:p>
          <a:p>
            <a:r>
              <a:rPr lang="en-US" sz="6000" b="1" dirty="0">
                <a:solidFill>
                  <a:srgbClr val="000000"/>
                </a:solidFill>
                <a:latin typeface="Calibri" pitchFamily="34" charset="0"/>
                <a:ea typeface="Calibri" pitchFamily="34" charset="-122"/>
                <a:cs typeface="Calibri" pitchFamily="34" charset="-120"/>
              </a:rPr>
              <a:t>Image ↔ Integers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82878" y="146304"/>
            <a:ext cx="12109122"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Quick Demo: Fish Image → 576 Integers → Reconstructed Image</a:t>
            </a:r>
            <a:endParaRPr lang="en-US" sz="3467" dirty="0"/>
          </a:p>
        </p:txBody>
      </p:sp>
      <p:sp>
        <p:nvSpPr>
          <p:cNvPr id="45" name="Shape 0">
            <a:extLst>
              <a:ext uri="{FF2B5EF4-FFF2-40B4-BE49-F238E27FC236}">
                <a16:creationId xmlns:a16="http://schemas.microsoft.com/office/drawing/2014/main" id="{B72514D7-285A-5D02-C518-DA15E5C65619}"/>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6" name="Shape 6">
            <a:extLst>
              <a:ext uri="{FF2B5EF4-FFF2-40B4-BE49-F238E27FC236}">
                <a16:creationId xmlns:a16="http://schemas.microsoft.com/office/drawing/2014/main" id="{8C5C7803-30A7-9014-18CC-068F84DCC11D}"/>
              </a:ext>
            </a:extLst>
          </p:cNvPr>
          <p:cNvSpPr/>
          <p:nvPr/>
        </p:nvSpPr>
        <p:spPr>
          <a:xfrm>
            <a:off x="458804" y="1489349"/>
            <a:ext cx="11522810" cy="5025981"/>
          </a:xfrm>
          <a:prstGeom prst="rect">
            <a:avLst/>
          </a:prstGeom>
          <a:solidFill>
            <a:srgbClr val="1E2A3A"/>
          </a:solidFill>
          <a:ln w="10160">
            <a:solidFill>
              <a:srgbClr val="00E5FF"/>
            </a:solidFill>
            <a:prstDash val="solid"/>
          </a:ln>
        </p:spPr>
        <p:txBody>
          <a:bodyPr/>
          <a:lstStyle/>
          <a:p>
            <a:r>
              <a:rPr lang="en-US" sz="1100" dirty="0">
                <a:solidFill>
                  <a:srgbClr val="A8D8EA"/>
                </a:solidFill>
                <a:latin typeface="Consolas" pitchFamily="34" charset="0"/>
                <a:ea typeface="Consolas" pitchFamily="34" charset="-122"/>
                <a:cs typeface="Consolas" pitchFamily="34" charset="-120"/>
              </a:rPr>
              <a:t>import requests, </a:t>
            </a:r>
            <a:r>
              <a:rPr lang="en-US" sz="1100" dirty="0" err="1">
                <a:solidFill>
                  <a:srgbClr val="A8D8EA"/>
                </a:solidFill>
                <a:latin typeface="Consolas" pitchFamily="34" charset="0"/>
                <a:ea typeface="Consolas" pitchFamily="34" charset="-122"/>
                <a:cs typeface="Consolas" pitchFamily="34" charset="-120"/>
              </a:rPr>
              <a:t>os</a:t>
            </a:r>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import torch</a:t>
            </a:r>
          </a:p>
          <a:p>
            <a:r>
              <a:rPr lang="en-US" sz="1100" dirty="0">
                <a:solidFill>
                  <a:srgbClr val="A8D8EA"/>
                </a:solidFill>
                <a:latin typeface="Consolas" pitchFamily="34" charset="0"/>
                <a:ea typeface="Consolas" pitchFamily="34" charset="-122"/>
                <a:cs typeface="Consolas" pitchFamily="34" charset="-120"/>
              </a:rPr>
              <a:t>from </a:t>
            </a:r>
            <a:r>
              <a:rPr lang="en-US" sz="1100" dirty="0" err="1">
                <a:solidFill>
                  <a:srgbClr val="A8D8EA"/>
                </a:solidFill>
                <a:latin typeface="Consolas" pitchFamily="34" charset="0"/>
                <a:ea typeface="Consolas" pitchFamily="34" charset="-122"/>
                <a:cs typeface="Consolas" pitchFamily="34" charset="-120"/>
              </a:rPr>
              <a:t>omegaconf</a:t>
            </a:r>
            <a:r>
              <a:rPr lang="en-US" sz="1100" dirty="0">
                <a:solidFill>
                  <a:srgbClr val="A8D8EA"/>
                </a:solidFill>
                <a:latin typeface="Consolas" pitchFamily="34" charset="0"/>
                <a:ea typeface="Consolas" pitchFamily="34" charset="-122"/>
                <a:cs typeface="Consolas" pitchFamily="34" charset="-120"/>
              </a:rPr>
              <a:t> import </a:t>
            </a:r>
            <a:r>
              <a:rPr lang="en-US" sz="1100" dirty="0" err="1">
                <a:solidFill>
                  <a:srgbClr val="A8D8EA"/>
                </a:solidFill>
                <a:latin typeface="Consolas" pitchFamily="34" charset="0"/>
                <a:ea typeface="Consolas" pitchFamily="34" charset="-122"/>
                <a:cs typeface="Consolas" pitchFamily="34" charset="-120"/>
              </a:rPr>
              <a:t>OmegaConf</a:t>
            </a:r>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from </a:t>
            </a:r>
            <a:r>
              <a:rPr lang="en-US" sz="1100" dirty="0" err="1">
                <a:solidFill>
                  <a:srgbClr val="A8D8EA"/>
                </a:solidFill>
                <a:latin typeface="Consolas" pitchFamily="34" charset="0"/>
                <a:ea typeface="Consolas" pitchFamily="34" charset="-122"/>
                <a:cs typeface="Consolas" pitchFamily="34" charset="-120"/>
              </a:rPr>
              <a:t>taming.models.vqgan</a:t>
            </a:r>
            <a:r>
              <a:rPr lang="en-US" sz="1100" dirty="0">
                <a:solidFill>
                  <a:srgbClr val="A8D8EA"/>
                </a:solidFill>
                <a:latin typeface="Consolas" pitchFamily="34" charset="0"/>
                <a:ea typeface="Consolas" pitchFamily="34" charset="-122"/>
                <a:cs typeface="Consolas" pitchFamily="34" charset="-120"/>
              </a:rPr>
              <a:t> import </a:t>
            </a:r>
            <a:r>
              <a:rPr lang="en-US" sz="1100" dirty="0" err="1">
                <a:solidFill>
                  <a:srgbClr val="A8D8EA"/>
                </a:solidFill>
                <a:latin typeface="Consolas" pitchFamily="34" charset="0"/>
                <a:ea typeface="Consolas" pitchFamily="34" charset="-122"/>
                <a:cs typeface="Consolas" pitchFamily="34" charset="-120"/>
              </a:rPr>
              <a:t>VQModel</a:t>
            </a:r>
            <a:endParaRPr lang="en-US" sz="1100" dirty="0">
              <a:solidFill>
                <a:srgbClr val="A8D8EA"/>
              </a:solidFill>
              <a:latin typeface="Consolas" pitchFamily="34" charset="0"/>
              <a:ea typeface="Consolas" pitchFamily="34" charset="-122"/>
              <a:cs typeface="Consolas" pitchFamily="34" charset="-120"/>
            </a:endParaRPr>
          </a:p>
          <a:p>
            <a:r>
              <a:rPr lang="en-US" sz="1100" dirty="0" err="1">
                <a:solidFill>
                  <a:srgbClr val="A8D8EA"/>
                </a:solidFill>
                <a:latin typeface="Consolas" pitchFamily="34" charset="0"/>
                <a:ea typeface="Consolas" pitchFamily="34" charset="-122"/>
                <a:cs typeface="Consolas" pitchFamily="34" charset="-120"/>
              </a:rPr>
              <a:t>torch.set_grad_enabled</a:t>
            </a:r>
            <a:r>
              <a:rPr lang="en-US" sz="1100" dirty="0">
                <a:solidFill>
                  <a:srgbClr val="A8D8EA"/>
                </a:solidFill>
                <a:latin typeface="Consolas" pitchFamily="34" charset="0"/>
                <a:ea typeface="Consolas" pitchFamily="34" charset="-122"/>
                <a:cs typeface="Consolas" pitchFamily="34" charset="-120"/>
              </a:rPr>
              <a:t>(False) # Disables gradient computation to speed up inference</a:t>
            </a:r>
          </a:p>
          <a:p>
            <a:r>
              <a:rPr lang="en-US" sz="1100" dirty="0">
                <a:solidFill>
                  <a:srgbClr val="A8D8EA"/>
                </a:solidFill>
                <a:latin typeface="Consolas" pitchFamily="34" charset="0"/>
                <a:ea typeface="Consolas" pitchFamily="34" charset="-122"/>
                <a:cs typeface="Consolas" pitchFamily="34" charset="-120"/>
              </a:rPr>
              <a:t>device = "cuda:0" if </a:t>
            </a:r>
            <a:r>
              <a:rPr lang="en-US" sz="1100" dirty="0" err="1">
                <a:solidFill>
                  <a:srgbClr val="A8D8EA"/>
                </a:solidFill>
                <a:latin typeface="Consolas" pitchFamily="34" charset="0"/>
                <a:ea typeface="Consolas" pitchFamily="34" charset="-122"/>
                <a:cs typeface="Consolas" pitchFamily="34" charset="-120"/>
              </a:rPr>
              <a:t>torch.cuda.is_available</a:t>
            </a:r>
            <a:r>
              <a:rPr lang="en-US" sz="1100" dirty="0">
                <a:solidFill>
                  <a:srgbClr val="A8D8EA"/>
                </a:solidFill>
                <a:latin typeface="Consolas" pitchFamily="34" charset="0"/>
                <a:ea typeface="Consolas" pitchFamily="34" charset="-122"/>
                <a:cs typeface="Consolas" pitchFamily="34" charset="-120"/>
              </a:rPr>
              <a:t>() else "</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url1=('https://heibox.uni-heidelberg.de/f/140747ba53464f49b476/?dl=1')</a:t>
            </a:r>
          </a:p>
          <a:p>
            <a:r>
              <a:rPr lang="en-US" sz="1100" dirty="0">
                <a:solidFill>
                  <a:srgbClr val="A8D8EA"/>
                </a:solidFill>
                <a:latin typeface="Consolas" pitchFamily="34" charset="0"/>
                <a:ea typeface="Consolas" pitchFamily="34" charset="-122"/>
                <a:cs typeface="Consolas" pitchFamily="34" charset="-120"/>
              </a:rPr>
              <a:t>url2=('https://heibox.uni-heidelberg.de/f/6ecf2af6c658432c8298/?dl=1')</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file1="files/vqgan_imagenet_f16_1024.ckpt"</a:t>
            </a:r>
          </a:p>
          <a:p>
            <a:r>
              <a:rPr lang="en-US" sz="1100" dirty="0">
                <a:solidFill>
                  <a:srgbClr val="A8D8EA"/>
                </a:solidFill>
                <a:latin typeface="Consolas" pitchFamily="34" charset="0"/>
                <a:ea typeface="Consolas" pitchFamily="34" charset="-122"/>
                <a:cs typeface="Consolas" pitchFamily="34" charset="-120"/>
              </a:rPr>
              <a:t>file2="files/vqgan_imagenet_f16_1024.yaml" # Defines URLs and filenames for the model weights and configuration</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if not </a:t>
            </a:r>
            <a:r>
              <a:rPr lang="en-US" sz="1100" dirty="0" err="1">
                <a:solidFill>
                  <a:srgbClr val="A8D8EA"/>
                </a:solidFill>
                <a:latin typeface="Consolas" pitchFamily="34" charset="0"/>
                <a:ea typeface="Consolas" pitchFamily="34" charset="-122"/>
                <a:cs typeface="Consolas" pitchFamily="34" charset="-120"/>
              </a:rPr>
              <a:t>os.path.exists</a:t>
            </a:r>
            <a:r>
              <a:rPr lang="en-US" sz="1100" dirty="0">
                <a:solidFill>
                  <a:srgbClr val="A8D8EA"/>
                </a:solidFill>
                <a:latin typeface="Consolas" pitchFamily="34" charset="0"/>
                <a:ea typeface="Consolas" pitchFamily="34" charset="-122"/>
                <a:cs typeface="Consolas" pitchFamily="34" charset="-120"/>
              </a:rPr>
              <a:t>(file1):</a:t>
            </a:r>
          </a:p>
          <a:p>
            <a:r>
              <a:rPr lang="en-US" sz="1100" dirty="0">
                <a:solidFill>
                  <a:srgbClr val="A8D8EA"/>
                </a:solidFill>
                <a:latin typeface="Consolas" pitchFamily="34" charset="0"/>
                <a:ea typeface="Consolas" pitchFamily="34" charset="-122"/>
                <a:cs typeface="Consolas" pitchFamily="34" charset="-120"/>
              </a:rPr>
              <a:t>    fb=</a:t>
            </a:r>
            <a:r>
              <a:rPr lang="en-US" sz="1100" dirty="0" err="1">
                <a:solidFill>
                  <a:srgbClr val="A8D8EA"/>
                </a:solidFill>
                <a:latin typeface="Consolas" pitchFamily="34" charset="0"/>
                <a:ea typeface="Consolas" pitchFamily="34" charset="-122"/>
                <a:cs typeface="Consolas" pitchFamily="34" charset="-120"/>
              </a:rPr>
              <a:t>requests.get</a:t>
            </a:r>
            <a:r>
              <a:rPr lang="en-US" sz="1100" dirty="0">
                <a:solidFill>
                  <a:srgbClr val="A8D8EA"/>
                </a:solidFill>
                <a:latin typeface="Consolas" pitchFamily="34" charset="0"/>
                <a:ea typeface="Consolas" pitchFamily="34" charset="-122"/>
                <a:cs typeface="Consolas" pitchFamily="34" charset="-120"/>
              </a:rPr>
              <a:t>(url1)</a:t>
            </a:r>
          </a:p>
          <a:p>
            <a:r>
              <a:rPr lang="en-US" sz="1100" dirty="0">
                <a:solidFill>
                  <a:srgbClr val="A8D8EA"/>
                </a:solidFill>
                <a:latin typeface="Consolas" pitchFamily="34" charset="0"/>
                <a:ea typeface="Consolas" pitchFamily="34" charset="-122"/>
                <a:cs typeface="Consolas" pitchFamily="34" charset="-120"/>
              </a:rPr>
              <a:t>    with open(file1,"wb") as f:</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f.write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fb.content</a:t>
            </a:r>
            <a:r>
              <a:rPr lang="en-US" sz="1100" dirty="0">
                <a:solidFill>
                  <a:srgbClr val="A8D8EA"/>
                </a:solidFill>
                <a:latin typeface="Consolas" pitchFamily="34" charset="0"/>
                <a:ea typeface="Consolas" pitchFamily="34" charset="-122"/>
                <a:cs typeface="Consolas" pitchFamily="34" charset="-120"/>
              </a:rPr>
              <a:t>)    # If the weights file is missing, download it from the specified URL.</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if not </a:t>
            </a:r>
            <a:r>
              <a:rPr lang="en-US" sz="1100" dirty="0" err="1">
                <a:solidFill>
                  <a:srgbClr val="A8D8EA"/>
                </a:solidFill>
                <a:latin typeface="Consolas" pitchFamily="34" charset="0"/>
                <a:ea typeface="Consolas" pitchFamily="34" charset="-122"/>
                <a:cs typeface="Consolas" pitchFamily="34" charset="-120"/>
              </a:rPr>
              <a:t>os.path.exists</a:t>
            </a:r>
            <a:r>
              <a:rPr lang="en-US" sz="1100" dirty="0">
                <a:solidFill>
                  <a:srgbClr val="A8D8EA"/>
                </a:solidFill>
                <a:latin typeface="Consolas" pitchFamily="34" charset="0"/>
                <a:ea typeface="Consolas" pitchFamily="34" charset="-122"/>
                <a:cs typeface="Consolas" pitchFamily="34" charset="-120"/>
              </a:rPr>
              <a:t>(file2):</a:t>
            </a:r>
          </a:p>
          <a:p>
            <a:r>
              <a:rPr lang="en-US" sz="1100" dirty="0">
                <a:solidFill>
                  <a:srgbClr val="A8D8EA"/>
                </a:solidFill>
                <a:latin typeface="Consolas" pitchFamily="34" charset="0"/>
                <a:ea typeface="Consolas" pitchFamily="34" charset="-122"/>
                <a:cs typeface="Consolas" pitchFamily="34" charset="-120"/>
              </a:rPr>
              <a:t>    fb=</a:t>
            </a:r>
            <a:r>
              <a:rPr lang="en-US" sz="1100" dirty="0" err="1">
                <a:solidFill>
                  <a:srgbClr val="A8D8EA"/>
                </a:solidFill>
                <a:latin typeface="Consolas" pitchFamily="34" charset="0"/>
                <a:ea typeface="Consolas" pitchFamily="34" charset="-122"/>
                <a:cs typeface="Consolas" pitchFamily="34" charset="-120"/>
              </a:rPr>
              <a:t>requests.get</a:t>
            </a:r>
            <a:r>
              <a:rPr lang="en-US" sz="1100" dirty="0">
                <a:solidFill>
                  <a:srgbClr val="A8D8EA"/>
                </a:solidFill>
                <a:latin typeface="Consolas" pitchFamily="34" charset="0"/>
                <a:ea typeface="Consolas" pitchFamily="34" charset="-122"/>
                <a:cs typeface="Consolas" pitchFamily="34" charset="-120"/>
              </a:rPr>
              <a:t>(url2)</a:t>
            </a:r>
          </a:p>
          <a:p>
            <a:r>
              <a:rPr lang="en-US" sz="1100" dirty="0">
                <a:solidFill>
                  <a:srgbClr val="A8D8EA"/>
                </a:solidFill>
                <a:latin typeface="Consolas" pitchFamily="34" charset="0"/>
                <a:ea typeface="Consolas" pitchFamily="34" charset="-122"/>
                <a:cs typeface="Consolas" pitchFamily="34" charset="-120"/>
              </a:rPr>
              <a:t>    with open(file2,"wb") as f:</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f.write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fb.content</a:t>
            </a:r>
            <a:r>
              <a:rPr lang="en-US" sz="1100" dirty="0">
                <a:solidFill>
                  <a:srgbClr val="A8D8EA"/>
                </a:solidFill>
                <a:latin typeface="Consolas" pitchFamily="34" charset="0"/>
                <a:ea typeface="Consolas" pitchFamily="34" charset="-122"/>
                <a:cs typeface="Consolas" pitchFamily="34" charset="-120"/>
              </a:rPr>
              <a:t>)    # If the configuration file is missing, download it from the specified URL.</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load_model</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config = </a:t>
            </a:r>
            <a:r>
              <a:rPr lang="en-US" sz="1100" dirty="0" err="1">
                <a:solidFill>
                  <a:srgbClr val="A8D8EA"/>
                </a:solidFill>
                <a:latin typeface="Consolas" pitchFamily="34" charset="0"/>
                <a:ea typeface="Consolas" pitchFamily="34" charset="-122"/>
                <a:cs typeface="Consolas" pitchFamily="34" charset="-120"/>
              </a:rPr>
              <a:t>OmegaConf.load</a:t>
            </a:r>
            <a:r>
              <a:rPr lang="en-US" sz="1100" dirty="0">
                <a:solidFill>
                  <a:srgbClr val="A8D8EA"/>
                </a:solidFill>
                <a:latin typeface="Consolas" pitchFamily="34" charset="0"/>
                <a:ea typeface="Consolas" pitchFamily="34" charset="-122"/>
                <a:cs typeface="Consolas" pitchFamily="34" charset="-120"/>
              </a:rPr>
              <a:t>(file2)    # Loads model configuration</a:t>
            </a:r>
          </a:p>
          <a:p>
            <a:r>
              <a:rPr lang="en-US" sz="1100" dirty="0">
                <a:solidFill>
                  <a:srgbClr val="A8D8EA"/>
                </a:solidFill>
                <a:latin typeface="Consolas" pitchFamily="34" charset="0"/>
                <a:ea typeface="Consolas" pitchFamily="34" charset="-122"/>
                <a:cs typeface="Consolas" pitchFamily="34" charset="-120"/>
              </a:rPr>
              <a:t>    model = </a:t>
            </a:r>
            <a:r>
              <a:rPr lang="en-US" sz="1100" dirty="0" err="1">
                <a:solidFill>
                  <a:srgbClr val="A8D8EA"/>
                </a:solidFill>
                <a:latin typeface="Consolas" pitchFamily="34" charset="0"/>
                <a:ea typeface="Consolas" pitchFamily="34" charset="-122"/>
                <a:cs typeface="Consolas" pitchFamily="34" charset="-120"/>
              </a:rPr>
              <a:t>VQModel</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config.model.params</a:t>
            </a:r>
            <a:r>
              <a:rPr lang="en-US" sz="1100" dirty="0">
                <a:solidFill>
                  <a:srgbClr val="A8D8EA"/>
                </a:solidFill>
                <a:latin typeface="Consolas" pitchFamily="34" charset="0"/>
                <a:ea typeface="Consolas" pitchFamily="34" charset="-122"/>
                <a:cs typeface="Consolas" pitchFamily="34" charset="-120"/>
              </a:rPr>
              <a:t>).to(device)    # Imports the VQGAN model from the GitHub repository</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sd</a:t>
            </a:r>
            <a:r>
              <a:rPr lang="en-US" sz="1100" dirty="0">
                <a:solidFill>
                  <a:srgbClr val="A8D8EA"/>
                </a:solidFill>
                <a:latin typeface="Consolas" pitchFamily="34" charset="0"/>
                <a:ea typeface="Consolas" pitchFamily="34" charset="-122"/>
                <a:cs typeface="Consolas" pitchFamily="34" charset="-120"/>
              </a:rPr>
              <a:t> = </a:t>
            </a:r>
            <a:r>
              <a:rPr lang="en-US" sz="1100" dirty="0" err="1">
                <a:solidFill>
                  <a:srgbClr val="A8D8EA"/>
                </a:solidFill>
                <a:latin typeface="Consolas" pitchFamily="34" charset="0"/>
                <a:ea typeface="Consolas" pitchFamily="34" charset="-122"/>
                <a:cs typeface="Consolas" pitchFamily="34" charset="-120"/>
              </a:rPr>
              <a:t>torch.load</a:t>
            </a:r>
            <a:r>
              <a:rPr lang="en-US" sz="1100" dirty="0">
                <a:solidFill>
                  <a:srgbClr val="A8D8EA"/>
                </a:solidFill>
                <a:latin typeface="Consolas" pitchFamily="34" charset="0"/>
                <a:ea typeface="Consolas" pitchFamily="34" charset="-122"/>
                <a:cs typeface="Consolas" pitchFamily="34" charset="-120"/>
              </a:rPr>
              <a:t>(file1)["</a:t>
            </a:r>
            <a:r>
              <a:rPr lang="en-US" sz="1100" dirty="0" err="1">
                <a:solidFill>
                  <a:srgbClr val="A8D8EA"/>
                </a:solidFill>
                <a:latin typeface="Consolas" pitchFamily="34" charset="0"/>
                <a:ea typeface="Consolas" pitchFamily="34" charset="-122"/>
                <a:cs typeface="Consolas" pitchFamily="34" charset="-120"/>
              </a:rPr>
              <a:t>state_dict</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missing, unexpected = </a:t>
            </a:r>
            <a:r>
              <a:rPr lang="en-US" sz="1100" dirty="0" err="1">
                <a:solidFill>
                  <a:srgbClr val="A8D8EA"/>
                </a:solidFill>
                <a:latin typeface="Consolas" pitchFamily="34" charset="0"/>
                <a:ea typeface="Consolas" pitchFamily="34" charset="-122"/>
                <a:cs typeface="Consolas" pitchFamily="34" charset="-120"/>
              </a:rPr>
              <a:t>model.load_state_dict</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sd</a:t>
            </a:r>
            <a:r>
              <a:rPr lang="en-US" sz="1100" dirty="0">
                <a:solidFill>
                  <a:srgbClr val="A8D8EA"/>
                </a:solidFill>
                <a:latin typeface="Consolas" pitchFamily="34" charset="0"/>
                <a:ea typeface="Consolas" pitchFamily="34" charset="-122"/>
                <a:cs typeface="Consolas" pitchFamily="34" charset="-120"/>
              </a:rPr>
              <a:t>, strict=False)    # Loads pretrained weights to the VQGAN model</a:t>
            </a:r>
          </a:p>
          <a:p>
            <a:r>
              <a:rPr lang="en-US" sz="1100" dirty="0">
                <a:solidFill>
                  <a:srgbClr val="A8D8EA"/>
                </a:solidFill>
                <a:latin typeface="Consolas" pitchFamily="34" charset="0"/>
                <a:ea typeface="Consolas" pitchFamily="34" charset="-122"/>
                <a:cs typeface="Consolas" pitchFamily="34" charset="-120"/>
              </a:rPr>
              <a:t>    return model</a:t>
            </a:r>
          </a:p>
        </p:txBody>
      </p:sp>
      <p:sp>
        <p:nvSpPr>
          <p:cNvPr id="47" name="Text 7">
            <a:extLst>
              <a:ext uri="{FF2B5EF4-FFF2-40B4-BE49-F238E27FC236}">
                <a16:creationId xmlns:a16="http://schemas.microsoft.com/office/drawing/2014/main" id="{753EDE93-0FF2-9B61-1A87-9FF2EE9F662C}"/>
              </a:ext>
            </a:extLst>
          </p:cNvPr>
          <p:cNvSpPr/>
          <p:nvPr/>
        </p:nvSpPr>
        <p:spPr>
          <a:xfrm>
            <a:off x="629492" y="1814976"/>
            <a:ext cx="10875264" cy="4011971"/>
          </a:xfrm>
          <a:prstGeom prst="rect">
            <a:avLst/>
          </a:prstGeom>
          <a:noFill/>
          <a:ln/>
        </p:spPr>
        <p:txBody>
          <a:bodyPr wrap="square" lIns="0" tIns="0" rIns="0" bIns="0" rtlCol="0" anchor="t"/>
          <a:lstStyle/>
          <a:p>
            <a:endParaRPr lang="en-US" sz="1307" dirty="0"/>
          </a:p>
        </p:txBody>
      </p:sp>
      <p:sp>
        <p:nvSpPr>
          <p:cNvPr id="51" name="TextBox 50">
            <a:extLst>
              <a:ext uri="{FF2B5EF4-FFF2-40B4-BE49-F238E27FC236}">
                <a16:creationId xmlns:a16="http://schemas.microsoft.com/office/drawing/2014/main" id="{ABD92DF2-99F0-5AE3-93BC-6EA6F7E3B3FD}"/>
              </a:ext>
            </a:extLst>
          </p:cNvPr>
          <p:cNvSpPr txBox="1"/>
          <p:nvPr/>
        </p:nvSpPr>
        <p:spPr>
          <a:xfrm>
            <a:off x="380198" y="1061733"/>
            <a:ext cx="6150542" cy="369332"/>
          </a:xfrm>
          <a:prstGeom prst="rect">
            <a:avLst/>
          </a:prstGeom>
          <a:noFill/>
        </p:spPr>
        <p:txBody>
          <a:bodyPr wrap="square">
            <a:spAutoFit/>
          </a:bodyPr>
          <a:lstStyle/>
          <a:p>
            <a:r>
              <a:rPr lang="en-US" dirty="0"/>
              <a:t>Downloads and loads the pretrained VQGAN model:</a:t>
            </a:r>
            <a:endParaRPr lang="ro-RO"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1B78-6723-E2A4-F59D-1BA65E7398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1233F3-1B70-2574-8BC6-EBA1BC5019B8}"/>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5A1F2520-7F94-22D3-7543-6FC8746BF4BF}"/>
              </a:ext>
            </a:extLst>
          </p:cNvPr>
          <p:cNvSpPr/>
          <p:nvPr/>
        </p:nvSpPr>
        <p:spPr>
          <a:xfrm>
            <a:off x="82878" y="146304"/>
            <a:ext cx="12109122"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Quick Demo: Fish Image → 576 Integers → Reconstructed Image</a:t>
            </a:r>
            <a:endParaRPr lang="en-US" sz="3467" dirty="0"/>
          </a:p>
        </p:txBody>
      </p:sp>
      <p:sp>
        <p:nvSpPr>
          <p:cNvPr id="45" name="Shape 0">
            <a:extLst>
              <a:ext uri="{FF2B5EF4-FFF2-40B4-BE49-F238E27FC236}">
                <a16:creationId xmlns:a16="http://schemas.microsoft.com/office/drawing/2014/main" id="{54B4CD02-7DD8-AA19-4608-D489B29710A0}"/>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6" name="Shape 6">
            <a:extLst>
              <a:ext uri="{FF2B5EF4-FFF2-40B4-BE49-F238E27FC236}">
                <a16:creationId xmlns:a16="http://schemas.microsoft.com/office/drawing/2014/main" id="{BBCBF46D-EC09-553E-4D2B-73E4FC55FE7E}"/>
              </a:ext>
            </a:extLst>
          </p:cNvPr>
          <p:cNvSpPr/>
          <p:nvPr/>
        </p:nvSpPr>
        <p:spPr>
          <a:xfrm>
            <a:off x="487680" y="1575977"/>
            <a:ext cx="11522810" cy="4645837"/>
          </a:xfrm>
          <a:prstGeom prst="rect">
            <a:avLst/>
          </a:prstGeom>
          <a:solidFill>
            <a:srgbClr val="1E2A3A"/>
          </a:solidFill>
          <a:ln w="10160">
            <a:solidFill>
              <a:srgbClr val="00E5FF"/>
            </a:solidFill>
            <a:prstDash val="solid"/>
          </a:ln>
        </p:spPr>
        <p:txBody>
          <a:bodyPr/>
          <a:lstStyle/>
          <a:p>
            <a:r>
              <a:rPr lang="en-US" sz="1100" dirty="0">
                <a:solidFill>
                  <a:srgbClr val="A8D8EA"/>
                </a:solidFill>
                <a:latin typeface="Consolas" pitchFamily="34" charset="0"/>
                <a:ea typeface="Consolas" pitchFamily="34" charset="-122"/>
                <a:cs typeface="Consolas" pitchFamily="34" charset="-120"/>
              </a:rPr>
              <a:t>import PIL</a:t>
            </a:r>
          </a:p>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torchvision.transforms</a:t>
            </a:r>
            <a:r>
              <a:rPr lang="en-US" sz="1100" dirty="0">
                <a:solidFill>
                  <a:srgbClr val="A8D8EA"/>
                </a:solidFill>
                <a:latin typeface="Consolas" pitchFamily="34" charset="0"/>
                <a:ea typeface="Consolas" pitchFamily="34" charset="-122"/>
                <a:cs typeface="Consolas" pitchFamily="34" charset="-120"/>
              </a:rPr>
              <a:t> as T</a:t>
            </a:r>
          </a:p>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torchvision.transforms.functional</a:t>
            </a:r>
            <a:r>
              <a:rPr lang="en-US" sz="1100" dirty="0">
                <a:solidFill>
                  <a:srgbClr val="A8D8EA"/>
                </a:solidFill>
                <a:latin typeface="Consolas" pitchFamily="34" charset="0"/>
                <a:ea typeface="Consolas" pitchFamily="34" charset="-122"/>
                <a:cs typeface="Consolas" pitchFamily="34" charset="-120"/>
              </a:rPr>
              <a:t> as TF</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file_name</a:t>
            </a:r>
            <a:r>
              <a:rPr lang="en-US" sz="1100" dirty="0">
                <a:solidFill>
                  <a:srgbClr val="A8D8EA"/>
                </a:solidFill>
                <a:latin typeface="Consolas" pitchFamily="34" charset="0"/>
                <a:ea typeface="Consolas" pitchFamily="34" charset="-122"/>
                <a:cs typeface="Consolas" pitchFamily="34" charset="-120"/>
              </a:rPr>
              <a:t>):    # Defines a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 function to center crop images and resize them</a:t>
            </a:r>
          </a:p>
          <a:p>
            <a:r>
              <a:rPr lang="en-US" sz="1100" dirty="0">
                <a:solidFill>
                  <a:srgbClr val="A8D8EA"/>
                </a:solidFill>
                <a:latin typeface="Consolas" pitchFamily="34" charset="0"/>
                <a:ea typeface="Consolas" pitchFamily="34" charset="-122"/>
                <a:cs typeface="Consolas" pitchFamily="34" charset="-120"/>
              </a:rPr>
              <a:t>    size=384</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PIL.Image.open</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file_name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s = min(</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r = size / s</a:t>
            </a:r>
          </a:p>
          <a:p>
            <a:r>
              <a:rPr lang="en-US" sz="1100" dirty="0">
                <a:solidFill>
                  <a:srgbClr val="A8D8EA"/>
                </a:solidFill>
                <a:latin typeface="Consolas" pitchFamily="34" charset="0"/>
                <a:ea typeface="Consolas" pitchFamily="34" charset="-122"/>
                <a:cs typeface="Consolas" pitchFamily="34" charset="-120"/>
              </a:rPr>
              <a:t>    s = (round(r * </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[1]), round(r * </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[0]))</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 </a:t>
            </a:r>
            <a:r>
              <a:rPr lang="en-US" sz="1100" dirty="0" err="1">
                <a:solidFill>
                  <a:srgbClr val="A8D8EA"/>
                </a:solidFill>
                <a:latin typeface="Consolas" pitchFamily="34" charset="0"/>
                <a:ea typeface="Consolas" pitchFamily="34" charset="-122"/>
                <a:cs typeface="Consolas" pitchFamily="34" charset="-120"/>
              </a:rPr>
              <a:t>TF.resize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s, interpolation=</a:t>
            </a:r>
            <a:r>
              <a:rPr lang="en-US" sz="1100" dirty="0" err="1">
                <a:solidFill>
                  <a:srgbClr val="A8D8EA"/>
                </a:solidFill>
                <a:latin typeface="Consolas" pitchFamily="34" charset="0"/>
                <a:ea typeface="Consolas" pitchFamily="34" charset="-122"/>
                <a:cs typeface="Consolas" pitchFamily="34" charset="-120"/>
              </a:rPr>
              <a:t>PIL.Image.LANCZOS</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 </a:t>
            </a:r>
            <a:r>
              <a:rPr lang="en-US" sz="1100" dirty="0" err="1">
                <a:solidFill>
                  <a:srgbClr val="A8D8EA"/>
                </a:solidFill>
                <a:latin typeface="Consolas" pitchFamily="34" charset="0"/>
                <a:ea typeface="Consolas" pitchFamily="34" charset="-122"/>
                <a:cs typeface="Consolas" pitchFamily="34" charset="-120"/>
              </a:rPr>
              <a:t>TF.center_crop</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output_size</a:t>
            </a:r>
            <a:r>
              <a:rPr lang="en-US" sz="1100" dirty="0">
                <a:solidFill>
                  <a:srgbClr val="A8D8EA"/>
                </a:solidFill>
                <a:latin typeface="Consolas" pitchFamily="34" charset="0"/>
                <a:ea typeface="Consolas" pitchFamily="34" charset="-122"/>
                <a:cs typeface="Consolas" pitchFamily="34" charset="-120"/>
              </a:rPr>
              <a:t>=2 * [size])</a:t>
            </a:r>
          </a:p>
          <a:p>
            <a:r>
              <a:rPr lang="en-US" sz="1100" dirty="0">
                <a:solidFill>
                  <a:srgbClr val="A8D8EA"/>
                </a:solidFill>
                <a:latin typeface="Consolas" pitchFamily="34" charset="0"/>
                <a:ea typeface="Consolas" pitchFamily="34" charset="-122"/>
                <a:cs typeface="Consolas" pitchFamily="34" charset="-120"/>
              </a:rPr>
              <a:t>    return </a:t>
            </a:r>
            <a:r>
              <a:rPr lang="en-US" sz="1100" dirty="0" err="1">
                <a:solidFill>
                  <a:srgbClr val="A8D8EA"/>
                </a:solidFill>
                <a:latin typeface="Consolas" pitchFamily="34" charset="0"/>
                <a:ea typeface="Consolas" pitchFamily="34" charset="-122"/>
                <a:cs typeface="Consolas" pitchFamily="34" charset="-120"/>
              </a:rPr>
              <a:t>torch.unsqueeze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T.ToTensor</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0)*2-1</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image_to_sequence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model,image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z=</a:t>
            </a:r>
            <a:r>
              <a:rPr lang="en-US" sz="1100" dirty="0" err="1">
                <a:solidFill>
                  <a:srgbClr val="A8D8EA"/>
                </a:solidFill>
                <a:latin typeface="Consolas" pitchFamily="34" charset="0"/>
                <a:ea typeface="Consolas" pitchFamily="34" charset="-122"/>
                <a:cs typeface="Consolas" pitchFamily="34" charset="-120"/>
              </a:rPr>
              <a:t>model.encoder</a:t>
            </a:r>
            <a:r>
              <a:rPr lang="en-US" sz="1100" dirty="0">
                <a:solidFill>
                  <a:srgbClr val="A8D8EA"/>
                </a:solidFill>
                <a:latin typeface="Consolas" pitchFamily="34" charset="0"/>
                <a:ea typeface="Consolas" pitchFamily="34" charset="-122"/>
                <a:cs typeface="Consolas" pitchFamily="34" charset="-120"/>
              </a:rPr>
              <a:t>(image.to(device))</a:t>
            </a:r>
          </a:p>
          <a:p>
            <a:r>
              <a:rPr lang="en-US" sz="1100" dirty="0">
                <a:solidFill>
                  <a:srgbClr val="A8D8EA"/>
                </a:solidFill>
                <a:latin typeface="Consolas" pitchFamily="34" charset="0"/>
                <a:ea typeface="Consolas" pitchFamily="34" charset="-122"/>
                <a:cs typeface="Consolas" pitchFamily="34" charset="-120"/>
              </a:rPr>
              <a:t>    z=</a:t>
            </a:r>
            <a:r>
              <a:rPr lang="en-US" sz="1100" dirty="0" err="1">
                <a:solidFill>
                  <a:srgbClr val="A8D8EA"/>
                </a:solidFill>
                <a:latin typeface="Consolas" pitchFamily="34" charset="0"/>
                <a:ea typeface="Consolas" pitchFamily="34" charset="-122"/>
                <a:cs typeface="Consolas" pitchFamily="34" charset="-120"/>
              </a:rPr>
              <a:t>model.quant_conv</a:t>
            </a:r>
            <a:r>
              <a:rPr lang="en-US" sz="1100" dirty="0">
                <a:solidFill>
                  <a:srgbClr val="A8D8EA"/>
                </a:solidFill>
                <a:latin typeface="Consolas" pitchFamily="34" charset="0"/>
                <a:ea typeface="Consolas" pitchFamily="34" charset="-122"/>
                <a:cs typeface="Consolas" pitchFamily="34" charset="-120"/>
              </a:rPr>
              <a:t>(z)</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z_q</a:t>
            </a:r>
            <a:r>
              <a:rPr lang="en-US" sz="1100" dirty="0">
                <a:solidFill>
                  <a:srgbClr val="A8D8EA"/>
                </a:solidFill>
                <a:latin typeface="Consolas" pitchFamily="34" charset="0"/>
                <a:ea typeface="Consolas" pitchFamily="34" charset="-122"/>
                <a:cs typeface="Consolas" pitchFamily="34" charset="-120"/>
              </a:rPr>
              <a:t>, _ , indices= </a:t>
            </a:r>
            <a:r>
              <a:rPr lang="en-US" sz="1100" dirty="0" err="1">
                <a:solidFill>
                  <a:srgbClr val="A8D8EA"/>
                </a:solidFill>
                <a:latin typeface="Consolas" pitchFamily="34" charset="0"/>
                <a:ea typeface="Consolas" pitchFamily="34" charset="-122"/>
                <a:cs typeface="Consolas" pitchFamily="34" charset="-120"/>
              </a:rPr>
              <a:t>model.quantize</a:t>
            </a:r>
            <a:r>
              <a:rPr lang="en-US" sz="1100" dirty="0">
                <a:solidFill>
                  <a:srgbClr val="A8D8EA"/>
                </a:solidFill>
                <a:latin typeface="Consolas" pitchFamily="34" charset="0"/>
                <a:ea typeface="Consolas" pitchFamily="34" charset="-122"/>
                <a:cs typeface="Consolas" pitchFamily="34" charset="-120"/>
              </a:rPr>
              <a:t>(z)</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int_sequence</a:t>
            </a:r>
            <a:r>
              <a:rPr lang="en-US" sz="1100" dirty="0">
                <a:solidFill>
                  <a:srgbClr val="A8D8EA"/>
                </a:solidFill>
                <a:latin typeface="Consolas" pitchFamily="34" charset="0"/>
                <a:ea typeface="Consolas" pitchFamily="34" charset="-122"/>
                <a:cs typeface="Consolas" pitchFamily="34" charset="-120"/>
              </a:rPr>
              <a:t> = indices[2]</a:t>
            </a:r>
          </a:p>
          <a:p>
            <a:r>
              <a:rPr lang="en-US" sz="1100" dirty="0">
                <a:solidFill>
                  <a:srgbClr val="A8D8EA"/>
                </a:solidFill>
                <a:latin typeface="Consolas" pitchFamily="34" charset="0"/>
                <a:ea typeface="Consolas" pitchFamily="34" charset="-122"/>
                <a:cs typeface="Consolas" pitchFamily="34" charset="-120"/>
              </a:rPr>
              <a:t>    return </a:t>
            </a:r>
            <a:r>
              <a:rPr lang="en-US" sz="1100" dirty="0" err="1">
                <a:solidFill>
                  <a:srgbClr val="A8D8EA"/>
                </a:solidFill>
                <a:latin typeface="Consolas" pitchFamily="34" charset="0"/>
                <a:ea typeface="Consolas" pitchFamily="34" charset="-122"/>
                <a:cs typeface="Consolas" pitchFamily="34" charset="-120"/>
              </a:rPr>
              <a:t>int_sequence</a:t>
            </a:r>
            <a:endParaRPr lang="en-US" sz="1100" dirty="0">
              <a:solidFill>
                <a:srgbClr val="A8D8EA"/>
              </a:solidFill>
              <a:latin typeface="Consolas" pitchFamily="34" charset="0"/>
              <a:ea typeface="Consolas" pitchFamily="34" charset="-122"/>
              <a:cs typeface="Consolas" pitchFamily="34" charset="-120"/>
            </a:endParaRP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sequence_to_image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model,sequence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z_q2 = </a:t>
            </a:r>
            <a:r>
              <a:rPr lang="en-US" sz="1100" dirty="0" err="1">
                <a:solidFill>
                  <a:srgbClr val="A8D8EA"/>
                </a:solidFill>
                <a:latin typeface="Consolas" pitchFamily="34" charset="0"/>
                <a:ea typeface="Consolas" pitchFamily="34" charset="-122"/>
                <a:cs typeface="Consolas" pitchFamily="34" charset="-120"/>
              </a:rPr>
              <a:t>model.quantize.embedding</a:t>
            </a:r>
            <a:r>
              <a:rPr lang="en-US" sz="1100" dirty="0">
                <a:solidFill>
                  <a:srgbClr val="A8D8EA"/>
                </a:solidFill>
                <a:latin typeface="Consolas" pitchFamily="34" charset="0"/>
                <a:ea typeface="Consolas" pitchFamily="34" charset="-122"/>
                <a:cs typeface="Consolas" pitchFamily="34" charset="-120"/>
              </a:rPr>
              <a:t>(sequence)</a:t>
            </a:r>
          </a:p>
          <a:p>
            <a:r>
              <a:rPr lang="en-US" sz="1100" dirty="0">
                <a:solidFill>
                  <a:srgbClr val="A8D8EA"/>
                </a:solidFill>
                <a:latin typeface="Consolas" pitchFamily="34" charset="0"/>
                <a:ea typeface="Consolas" pitchFamily="34" charset="-122"/>
                <a:cs typeface="Consolas" pitchFamily="34" charset="-120"/>
              </a:rPr>
              <a:t>    z_q2 = z_q2.permute(1,0).view((1,256,24,24))</a:t>
            </a:r>
          </a:p>
          <a:p>
            <a:r>
              <a:rPr lang="en-US" sz="1100" dirty="0">
                <a:solidFill>
                  <a:srgbClr val="A8D8EA"/>
                </a:solidFill>
                <a:latin typeface="Consolas" pitchFamily="34" charset="0"/>
                <a:ea typeface="Consolas" pitchFamily="34" charset="-122"/>
                <a:cs typeface="Consolas" pitchFamily="34" charset="-120"/>
              </a:rPr>
              <a:t>    z_post2 = </a:t>
            </a:r>
            <a:r>
              <a:rPr lang="en-US" sz="1100" dirty="0" err="1">
                <a:solidFill>
                  <a:srgbClr val="A8D8EA"/>
                </a:solidFill>
                <a:latin typeface="Consolas" pitchFamily="34" charset="0"/>
                <a:ea typeface="Consolas" pitchFamily="34" charset="-122"/>
                <a:cs typeface="Consolas" pitchFamily="34" charset="-120"/>
              </a:rPr>
              <a:t>model.post_quant_conv</a:t>
            </a:r>
            <a:r>
              <a:rPr lang="en-US" sz="1100" dirty="0">
                <a:solidFill>
                  <a:srgbClr val="A8D8EA"/>
                </a:solidFill>
                <a:latin typeface="Consolas" pitchFamily="34" charset="0"/>
                <a:ea typeface="Consolas" pitchFamily="34" charset="-122"/>
                <a:cs typeface="Consolas" pitchFamily="34" charset="-120"/>
              </a:rPr>
              <a:t>(z_q2)</a:t>
            </a:r>
          </a:p>
          <a:p>
            <a:r>
              <a:rPr lang="en-US" sz="1100" dirty="0">
                <a:solidFill>
                  <a:srgbClr val="A8D8EA"/>
                </a:solidFill>
                <a:latin typeface="Consolas" pitchFamily="34" charset="0"/>
                <a:ea typeface="Consolas" pitchFamily="34" charset="-122"/>
                <a:cs typeface="Consolas" pitchFamily="34" charset="-120"/>
              </a:rPr>
              <a:t>    z_recon2 = </a:t>
            </a:r>
            <a:r>
              <a:rPr lang="en-US" sz="1100" dirty="0" err="1">
                <a:solidFill>
                  <a:srgbClr val="A8D8EA"/>
                </a:solidFill>
                <a:latin typeface="Consolas" pitchFamily="34" charset="0"/>
                <a:ea typeface="Consolas" pitchFamily="34" charset="-122"/>
                <a:cs typeface="Consolas" pitchFamily="34" charset="-120"/>
              </a:rPr>
              <a:t>model.decoder</a:t>
            </a:r>
            <a:r>
              <a:rPr lang="en-US" sz="1100" dirty="0">
                <a:solidFill>
                  <a:srgbClr val="A8D8EA"/>
                </a:solidFill>
                <a:latin typeface="Consolas" pitchFamily="34" charset="0"/>
                <a:ea typeface="Consolas" pitchFamily="34" charset="-122"/>
                <a:cs typeface="Consolas" pitchFamily="34" charset="-120"/>
              </a:rPr>
              <a:t>(z_post2)</a:t>
            </a:r>
          </a:p>
          <a:p>
            <a:r>
              <a:rPr lang="en-US" sz="1100" dirty="0">
                <a:solidFill>
                  <a:srgbClr val="A8D8EA"/>
                </a:solidFill>
                <a:latin typeface="Consolas" pitchFamily="34" charset="0"/>
                <a:ea typeface="Consolas" pitchFamily="34" charset="-122"/>
                <a:cs typeface="Consolas" pitchFamily="34" charset="-120"/>
              </a:rPr>
              <a:t>    return z_recon2</a:t>
            </a:r>
          </a:p>
        </p:txBody>
      </p:sp>
      <p:sp>
        <p:nvSpPr>
          <p:cNvPr id="47" name="Text 7">
            <a:extLst>
              <a:ext uri="{FF2B5EF4-FFF2-40B4-BE49-F238E27FC236}">
                <a16:creationId xmlns:a16="http://schemas.microsoft.com/office/drawing/2014/main" id="{4B30F62E-7C51-9952-8ABC-4B6CF3A767A9}"/>
              </a:ext>
            </a:extLst>
          </p:cNvPr>
          <p:cNvSpPr/>
          <p:nvPr/>
        </p:nvSpPr>
        <p:spPr>
          <a:xfrm>
            <a:off x="658368" y="1901604"/>
            <a:ext cx="10875264" cy="4011971"/>
          </a:xfrm>
          <a:prstGeom prst="rect">
            <a:avLst/>
          </a:prstGeom>
          <a:noFill/>
          <a:ln/>
        </p:spPr>
        <p:txBody>
          <a:bodyPr wrap="square" lIns="0" tIns="0" rIns="0" bIns="0" rtlCol="0" anchor="t"/>
          <a:lstStyle/>
          <a:p>
            <a:endParaRPr lang="en-US" sz="1307" dirty="0"/>
          </a:p>
        </p:txBody>
      </p:sp>
      <p:sp>
        <p:nvSpPr>
          <p:cNvPr id="5" name="TextBox 4">
            <a:extLst>
              <a:ext uri="{FF2B5EF4-FFF2-40B4-BE49-F238E27FC236}">
                <a16:creationId xmlns:a16="http://schemas.microsoft.com/office/drawing/2014/main" id="{607BA84D-E02E-CF8A-8F03-B46A212B759C}"/>
              </a:ext>
            </a:extLst>
          </p:cNvPr>
          <p:cNvSpPr txBox="1"/>
          <p:nvPr/>
        </p:nvSpPr>
        <p:spPr>
          <a:xfrm>
            <a:off x="402423" y="1110546"/>
            <a:ext cx="11131209" cy="369332"/>
          </a:xfrm>
          <a:prstGeom prst="rect">
            <a:avLst/>
          </a:prstGeom>
          <a:noFill/>
        </p:spPr>
        <p:txBody>
          <a:bodyPr wrap="square">
            <a:spAutoFit/>
          </a:bodyPr>
          <a:lstStyle/>
          <a:p>
            <a:r>
              <a:rPr lang="en-US" dirty="0"/>
              <a:t>Defines functions to encode an image into 576 integers and decode them back into an image:</a:t>
            </a:r>
            <a:endParaRPr lang="ro-RO" dirty="0"/>
          </a:p>
        </p:txBody>
      </p:sp>
    </p:spTree>
    <p:extLst>
      <p:ext uri="{BB962C8B-B14F-4D97-AF65-F5344CB8AC3E}">
        <p14:creationId xmlns:p14="http://schemas.microsoft.com/office/powerpoint/2010/main" val="3521289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930B-7191-E522-506D-2CBDADFDB3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EDAF8B-958E-A725-C177-33607C16208C}"/>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1DD7D068-5AFB-D6DA-1706-C0CF2FCE4791}"/>
              </a:ext>
            </a:extLst>
          </p:cNvPr>
          <p:cNvSpPr/>
          <p:nvPr/>
        </p:nvSpPr>
        <p:spPr>
          <a:xfrm>
            <a:off x="82878" y="146304"/>
            <a:ext cx="12109122"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Quick Demo: Fish Image → 576 Integers → Reconstructed Image</a:t>
            </a:r>
            <a:endParaRPr lang="en-US" sz="3467" dirty="0"/>
          </a:p>
        </p:txBody>
      </p:sp>
      <p:sp>
        <p:nvSpPr>
          <p:cNvPr id="45" name="Shape 0">
            <a:extLst>
              <a:ext uri="{FF2B5EF4-FFF2-40B4-BE49-F238E27FC236}">
                <a16:creationId xmlns:a16="http://schemas.microsoft.com/office/drawing/2014/main" id="{0A1F6A7A-4066-CCFC-38A8-0C45F646C211}"/>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6" name="Shape 6">
            <a:extLst>
              <a:ext uri="{FF2B5EF4-FFF2-40B4-BE49-F238E27FC236}">
                <a16:creationId xmlns:a16="http://schemas.microsoft.com/office/drawing/2014/main" id="{D0A7A608-E7DF-8B93-1379-F3DFCFD5B732}"/>
              </a:ext>
            </a:extLst>
          </p:cNvPr>
          <p:cNvSpPr/>
          <p:nvPr/>
        </p:nvSpPr>
        <p:spPr>
          <a:xfrm>
            <a:off x="487680" y="1195507"/>
            <a:ext cx="11522810" cy="2691757"/>
          </a:xfrm>
          <a:prstGeom prst="rect">
            <a:avLst/>
          </a:prstGeom>
          <a:solidFill>
            <a:srgbClr val="1E2A3A"/>
          </a:solidFill>
          <a:ln w="10160">
            <a:solidFill>
              <a:srgbClr val="00E5FF"/>
            </a:solidFill>
            <a:prstDash val="solid"/>
          </a:ln>
        </p:spPr>
        <p:txBody>
          <a:bodyPr/>
          <a:lstStyle/>
          <a:p>
            <a:r>
              <a:rPr lang="en-US" sz="1000" dirty="0">
                <a:solidFill>
                  <a:srgbClr val="A8D8EA"/>
                </a:solidFill>
                <a:latin typeface="Consolas" pitchFamily="34" charset="0"/>
                <a:ea typeface="Consolas" pitchFamily="34" charset="-122"/>
                <a:cs typeface="Consolas" pitchFamily="34" charset="-120"/>
              </a:rPr>
              <a:t>import </a:t>
            </a:r>
            <a:r>
              <a:rPr lang="en-US" sz="1000" dirty="0" err="1">
                <a:solidFill>
                  <a:srgbClr val="A8D8EA"/>
                </a:solidFill>
                <a:latin typeface="Consolas" pitchFamily="34" charset="0"/>
                <a:ea typeface="Consolas" pitchFamily="34" charset="-122"/>
                <a:cs typeface="Consolas" pitchFamily="34" charset="-120"/>
              </a:rPr>
              <a:t>matplotlib.pyplot</a:t>
            </a:r>
            <a:r>
              <a:rPr lang="en-US" sz="1000" dirty="0">
                <a:solidFill>
                  <a:srgbClr val="A8D8EA"/>
                </a:solidFill>
                <a:latin typeface="Consolas" pitchFamily="34" charset="0"/>
                <a:ea typeface="Consolas" pitchFamily="34" charset="-122"/>
                <a:cs typeface="Consolas" pitchFamily="34" charset="-120"/>
              </a:rPr>
              <a:t> as </a:t>
            </a:r>
            <a:r>
              <a:rPr lang="en-US" sz="1000" dirty="0" err="1">
                <a:solidFill>
                  <a:srgbClr val="A8D8EA"/>
                </a:solidFill>
                <a:latin typeface="Consolas" pitchFamily="34" charset="0"/>
                <a:ea typeface="Consolas" pitchFamily="34" charset="-122"/>
                <a:cs typeface="Consolas" pitchFamily="34" charset="-120"/>
              </a:rPr>
              <a:t>plt</a:t>
            </a:r>
            <a:endParaRPr lang="en-US" sz="1000" dirty="0">
              <a:solidFill>
                <a:srgbClr val="A8D8EA"/>
              </a:solidFill>
              <a:latin typeface="Consolas" pitchFamily="34" charset="0"/>
              <a:ea typeface="Consolas" pitchFamily="34" charset="-122"/>
              <a:cs typeface="Consolas" pitchFamily="34" charset="-120"/>
            </a:endParaRPr>
          </a:p>
          <a:p>
            <a:endParaRPr lang="en-US" sz="1000" dirty="0">
              <a:solidFill>
                <a:srgbClr val="A8D8EA"/>
              </a:solidFill>
              <a:latin typeface="Consolas" pitchFamily="34" charset="0"/>
              <a:ea typeface="Consolas" pitchFamily="34" charset="-122"/>
              <a:cs typeface="Consolas" pitchFamily="34" charset="-120"/>
            </a:endParaRPr>
          </a:p>
          <a:p>
            <a:r>
              <a:rPr lang="en-US" sz="1000" dirty="0">
                <a:solidFill>
                  <a:srgbClr val="A8D8EA"/>
                </a:solidFill>
                <a:latin typeface="Consolas" pitchFamily="34" charset="0"/>
                <a:ea typeface="Consolas" pitchFamily="34" charset="-122"/>
                <a:cs typeface="Consolas" pitchFamily="34" charset="-120"/>
              </a:rPr>
              <a:t>model=</a:t>
            </a:r>
            <a:r>
              <a:rPr lang="en-US" sz="1000" dirty="0" err="1">
                <a:solidFill>
                  <a:srgbClr val="A8D8EA"/>
                </a:solidFill>
                <a:latin typeface="Consolas" pitchFamily="34" charset="0"/>
                <a:ea typeface="Consolas" pitchFamily="34" charset="-122"/>
                <a:cs typeface="Consolas" pitchFamily="34" charset="-120"/>
              </a:rPr>
              <a:t>load_model</a:t>
            </a:r>
            <a:r>
              <a:rPr lang="en-US" sz="1000" dirty="0">
                <a:solidFill>
                  <a:srgbClr val="A8D8EA"/>
                </a:solidFill>
                <a:latin typeface="Consolas" pitchFamily="34" charset="0"/>
                <a:ea typeface="Consolas" pitchFamily="34" charset="-122"/>
                <a:cs typeface="Consolas" pitchFamily="34" charset="-120"/>
              </a:rPr>
              <a:t>()    # Loads the pretrained VQGAN (may take a few minutes)</a:t>
            </a:r>
          </a:p>
          <a:p>
            <a:r>
              <a:rPr lang="en-US" sz="1000" dirty="0">
                <a:solidFill>
                  <a:srgbClr val="A8D8EA"/>
                </a:solidFill>
                <a:latin typeface="Consolas" pitchFamily="34" charset="0"/>
                <a:ea typeface="Consolas" pitchFamily="34" charset="-122"/>
                <a:cs typeface="Consolas" pitchFamily="34" charset="-120"/>
              </a:rPr>
              <a:t>image=</a:t>
            </a:r>
            <a:r>
              <a:rPr lang="en-US" sz="1000" dirty="0" err="1">
                <a:solidFill>
                  <a:srgbClr val="A8D8EA"/>
                </a:solidFill>
                <a:latin typeface="Consolas" pitchFamily="34" charset="0"/>
                <a:ea typeface="Consolas" pitchFamily="34" charset="-122"/>
                <a:cs typeface="Consolas" pitchFamily="34" charset="-120"/>
              </a:rPr>
              <a:t>process_image</a:t>
            </a:r>
            <a:r>
              <a:rPr lang="en-US" sz="1000" dirty="0">
                <a:solidFill>
                  <a:srgbClr val="A8D8EA"/>
                </a:solidFill>
                <a:latin typeface="Consolas" pitchFamily="34" charset="0"/>
                <a:ea typeface="Consolas" pitchFamily="34" charset="-122"/>
                <a:cs typeface="Consolas" pitchFamily="34" charset="-120"/>
              </a:rPr>
              <a:t>("files/fish.png")</a:t>
            </a:r>
          </a:p>
          <a:p>
            <a:r>
              <a:rPr lang="en-US" sz="1000" dirty="0">
                <a:solidFill>
                  <a:srgbClr val="A8D8EA"/>
                </a:solidFill>
                <a:latin typeface="Consolas" pitchFamily="34" charset="0"/>
                <a:ea typeface="Consolas" pitchFamily="34" charset="-122"/>
                <a:cs typeface="Consolas" pitchFamily="34" charset="-120"/>
              </a:rPr>
              <a:t>sequence=</a:t>
            </a:r>
            <a:r>
              <a:rPr lang="en-US" sz="1000" dirty="0" err="1">
                <a:solidFill>
                  <a:srgbClr val="A8D8EA"/>
                </a:solidFill>
                <a:latin typeface="Consolas" pitchFamily="34" charset="0"/>
                <a:ea typeface="Consolas" pitchFamily="34" charset="-122"/>
                <a:cs typeface="Consolas" pitchFamily="34" charset="-120"/>
              </a:rPr>
              <a:t>image_to_sequence</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model,image</a:t>
            </a:r>
            <a:r>
              <a:rPr lang="en-US" sz="1000" dirty="0">
                <a:solidFill>
                  <a:srgbClr val="A8D8EA"/>
                </a:solidFill>
                <a:latin typeface="Consolas" pitchFamily="34" charset="0"/>
                <a:ea typeface="Consolas" pitchFamily="34" charset="-122"/>
                <a:cs typeface="Consolas" pitchFamily="34" charset="-120"/>
              </a:rPr>
              <a:t>)    # Converts the image into a sequence of integers</a:t>
            </a:r>
          </a:p>
          <a:p>
            <a:r>
              <a:rPr lang="en-US" sz="1000" dirty="0">
                <a:solidFill>
                  <a:srgbClr val="A8D8EA"/>
                </a:solidFill>
                <a:latin typeface="Consolas" pitchFamily="34" charset="0"/>
                <a:ea typeface="Consolas" pitchFamily="34" charset="-122"/>
                <a:cs typeface="Consolas" pitchFamily="34" charset="-120"/>
              </a:rPr>
              <a:t>print("the image is converted to:\n", sequence)    # Prints out the sequence</a:t>
            </a:r>
          </a:p>
          <a:p>
            <a:r>
              <a:rPr lang="en-US" sz="1000" dirty="0">
                <a:solidFill>
                  <a:srgbClr val="A8D8EA"/>
                </a:solidFill>
                <a:latin typeface="Consolas" pitchFamily="34" charset="0"/>
                <a:ea typeface="Consolas" pitchFamily="34" charset="-122"/>
                <a:cs typeface="Consolas" pitchFamily="34" charset="-120"/>
              </a:rPr>
              <a:t>reconstruct=</a:t>
            </a:r>
            <a:r>
              <a:rPr lang="en-US" sz="1000" dirty="0" err="1">
                <a:solidFill>
                  <a:srgbClr val="A8D8EA"/>
                </a:solidFill>
                <a:latin typeface="Consolas" pitchFamily="34" charset="0"/>
                <a:ea typeface="Consolas" pitchFamily="34" charset="-122"/>
                <a:cs typeface="Consolas" pitchFamily="34" charset="-120"/>
              </a:rPr>
              <a:t>sequence_to_image</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model,sequence</a:t>
            </a:r>
            <a:r>
              <a:rPr lang="en-US" sz="1000" dirty="0">
                <a:solidFill>
                  <a:srgbClr val="A8D8EA"/>
                </a:solidFill>
                <a:latin typeface="Consolas" pitchFamily="34" charset="0"/>
                <a:ea typeface="Consolas" pitchFamily="34" charset="-122"/>
                <a:cs typeface="Consolas" pitchFamily="34" charset="-120"/>
              </a:rPr>
              <a:t>)    # Reconstructs the image based on the sequence</a:t>
            </a:r>
          </a:p>
          <a:p>
            <a:r>
              <a:rPr lang="en-US" sz="1000" dirty="0" err="1">
                <a:solidFill>
                  <a:srgbClr val="A8D8EA"/>
                </a:solidFill>
                <a:latin typeface="Consolas" pitchFamily="34" charset="0"/>
                <a:ea typeface="Consolas" pitchFamily="34" charset="-122"/>
                <a:cs typeface="Consolas" pitchFamily="34" charset="-120"/>
              </a:rPr>
              <a:t>imgs</a:t>
            </a:r>
            <a:r>
              <a:rPr lang="en-US" sz="1000" dirty="0">
                <a:solidFill>
                  <a:srgbClr val="A8D8EA"/>
                </a:solidFill>
                <a:latin typeface="Consolas" pitchFamily="34" charset="0"/>
                <a:ea typeface="Consolas" pitchFamily="34" charset="-122"/>
                <a:cs typeface="Consolas" pitchFamily="34" charset="-120"/>
              </a:rPr>
              <a:t>=[image[0].</a:t>
            </a:r>
            <a:r>
              <a:rPr lang="en-US" sz="1000" dirty="0" err="1">
                <a:solidFill>
                  <a:srgbClr val="A8D8EA"/>
                </a:solidFill>
                <a:latin typeface="Consolas" pitchFamily="34" charset="0"/>
                <a:ea typeface="Consolas" pitchFamily="34" charset="-122"/>
                <a:cs typeface="Consolas" pitchFamily="34" charset="-120"/>
              </a:rPr>
              <a:t>cpu</a:t>
            </a:r>
            <a:r>
              <a:rPr lang="en-US" sz="1000" dirty="0">
                <a:solidFill>
                  <a:srgbClr val="A8D8EA"/>
                </a:solidFill>
                <a:latin typeface="Consolas" pitchFamily="34" charset="0"/>
                <a:ea typeface="Consolas" pitchFamily="34" charset="-122"/>
                <a:cs typeface="Consolas" pitchFamily="34" charset="-120"/>
              </a:rPr>
              <a:t>().permute(1,2,0)*0.5+0.5, reconstruct[0].</a:t>
            </a:r>
            <a:r>
              <a:rPr lang="en-US" sz="1000" dirty="0" err="1">
                <a:solidFill>
                  <a:srgbClr val="A8D8EA"/>
                </a:solidFill>
                <a:latin typeface="Consolas" pitchFamily="34" charset="0"/>
                <a:ea typeface="Consolas" pitchFamily="34" charset="-122"/>
                <a:cs typeface="Consolas" pitchFamily="34" charset="-120"/>
              </a:rPr>
              <a:t>cpu</a:t>
            </a:r>
            <a:r>
              <a:rPr lang="en-US" sz="1000" dirty="0">
                <a:solidFill>
                  <a:srgbClr val="A8D8EA"/>
                </a:solidFill>
                <a:latin typeface="Consolas" pitchFamily="34" charset="0"/>
                <a:ea typeface="Consolas" pitchFamily="34" charset="-122"/>
                <a:cs typeface="Consolas" pitchFamily="34" charset="-120"/>
              </a:rPr>
              <a:t>().permute(1,2,0)*0.5+0.5]</a:t>
            </a:r>
          </a:p>
          <a:p>
            <a:r>
              <a:rPr lang="en-US" sz="1000" dirty="0">
                <a:solidFill>
                  <a:srgbClr val="A8D8EA"/>
                </a:solidFill>
                <a:latin typeface="Consolas" pitchFamily="34" charset="0"/>
                <a:ea typeface="Consolas" pitchFamily="34" charset="-122"/>
                <a:cs typeface="Consolas" pitchFamily="34" charset="-120"/>
              </a:rPr>
              <a:t>captions=["</a:t>
            </a:r>
            <a:r>
              <a:rPr lang="en-US" sz="1000" dirty="0" err="1">
                <a:solidFill>
                  <a:srgbClr val="A8D8EA"/>
                </a:solidFill>
                <a:latin typeface="Consolas" pitchFamily="34" charset="0"/>
                <a:ea typeface="Consolas" pitchFamily="34" charset="-122"/>
                <a:cs typeface="Consolas" pitchFamily="34" charset="-120"/>
              </a:rPr>
              <a:t>original","reconstructed</a:t>
            </a:r>
            <a:r>
              <a:rPr lang="en-US" sz="1000" dirty="0">
                <a:solidFill>
                  <a:srgbClr val="A8D8EA"/>
                </a:solidFill>
                <a:latin typeface="Consolas" pitchFamily="34" charset="0"/>
                <a:ea typeface="Consolas" pitchFamily="34" charset="-122"/>
                <a:cs typeface="Consolas" pitchFamily="34" charset="-120"/>
              </a:rPr>
              <a:t>"]</a:t>
            </a:r>
          </a:p>
          <a:p>
            <a:r>
              <a:rPr lang="en-US" sz="1000" dirty="0" err="1">
                <a:solidFill>
                  <a:srgbClr val="A8D8EA"/>
                </a:solidFill>
                <a:latin typeface="Consolas" pitchFamily="34" charset="0"/>
                <a:ea typeface="Consolas" pitchFamily="34" charset="-122"/>
                <a:cs typeface="Consolas" pitchFamily="34" charset="-120"/>
              </a:rPr>
              <a:t>plt.figure</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figsize</a:t>
            </a:r>
            <a:r>
              <a:rPr lang="en-US" sz="1000" dirty="0">
                <a:solidFill>
                  <a:srgbClr val="A8D8EA"/>
                </a:solidFill>
                <a:latin typeface="Consolas" pitchFamily="34" charset="0"/>
                <a:ea typeface="Consolas" pitchFamily="34" charset="-122"/>
                <a:cs typeface="Consolas" pitchFamily="34" charset="-120"/>
              </a:rPr>
              <a:t>=(8,5),dpi=100)</a:t>
            </a:r>
          </a:p>
          <a:p>
            <a:r>
              <a:rPr lang="en-US" sz="1000" dirty="0">
                <a:solidFill>
                  <a:srgbClr val="A8D8EA"/>
                </a:solidFill>
                <a:latin typeface="Consolas" pitchFamily="34" charset="0"/>
                <a:ea typeface="Consolas" pitchFamily="34" charset="-122"/>
                <a:cs typeface="Consolas" pitchFamily="34" charset="-120"/>
              </a:rPr>
              <a:t>for </a:t>
            </a:r>
            <a:r>
              <a:rPr lang="en-US" sz="1000" dirty="0" err="1">
                <a:solidFill>
                  <a:srgbClr val="A8D8EA"/>
                </a:solidFill>
                <a:latin typeface="Consolas" pitchFamily="34" charset="0"/>
                <a:ea typeface="Consolas" pitchFamily="34" charset="-122"/>
                <a:cs typeface="Consolas" pitchFamily="34" charset="-120"/>
              </a:rPr>
              <a:t>i</a:t>
            </a:r>
            <a:r>
              <a:rPr lang="en-US" sz="1000" dirty="0">
                <a:solidFill>
                  <a:srgbClr val="A8D8EA"/>
                </a:solidFill>
                <a:latin typeface="Consolas" pitchFamily="34" charset="0"/>
                <a:ea typeface="Consolas" pitchFamily="34" charset="-122"/>
                <a:cs typeface="Consolas" pitchFamily="34" charset="-120"/>
              </a:rPr>
              <a:t> in range(2):    # Displays the original and reconstructed images</a:t>
            </a:r>
          </a:p>
          <a:p>
            <a:r>
              <a:rPr lang="en-US" sz="1000" dirty="0">
                <a:solidFill>
                  <a:srgbClr val="A8D8EA"/>
                </a:solidFill>
                <a:latin typeface="Consolas" pitchFamily="34" charset="0"/>
                <a:ea typeface="Consolas" pitchFamily="34" charset="-122"/>
                <a:cs typeface="Consolas" pitchFamily="34" charset="-120"/>
              </a:rPr>
              <a:t>    </a:t>
            </a:r>
            <a:r>
              <a:rPr lang="en-US" sz="1000" dirty="0" err="1">
                <a:solidFill>
                  <a:srgbClr val="A8D8EA"/>
                </a:solidFill>
                <a:latin typeface="Consolas" pitchFamily="34" charset="0"/>
                <a:ea typeface="Consolas" pitchFamily="34" charset="-122"/>
                <a:cs typeface="Consolas" pitchFamily="34" charset="-120"/>
              </a:rPr>
              <a:t>plt.subplot</a:t>
            </a:r>
            <a:r>
              <a:rPr lang="en-US" sz="1000" dirty="0">
                <a:solidFill>
                  <a:srgbClr val="A8D8EA"/>
                </a:solidFill>
                <a:latin typeface="Consolas" pitchFamily="34" charset="0"/>
                <a:ea typeface="Consolas" pitchFamily="34" charset="-122"/>
                <a:cs typeface="Consolas" pitchFamily="34" charset="-120"/>
              </a:rPr>
              <a:t>(1,2,i+1)</a:t>
            </a:r>
          </a:p>
          <a:p>
            <a:r>
              <a:rPr lang="en-US" sz="1000" dirty="0">
                <a:solidFill>
                  <a:srgbClr val="A8D8EA"/>
                </a:solidFill>
                <a:latin typeface="Consolas" pitchFamily="34" charset="0"/>
                <a:ea typeface="Consolas" pitchFamily="34" charset="-122"/>
                <a:cs typeface="Consolas" pitchFamily="34" charset="-120"/>
              </a:rPr>
              <a:t>    </a:t>
            </a:r>
            <a:r>
              <a:rPr lang="en-US" sz="1000" dirty="0" err="1">
                <a:solidFill>
                  <a:srgbClr val="A8D8EA"/>
                </a:solidFill>
                <a:latin typeface="Consolas" pitchFamily="34" charset="0"/>
                <a:ea typeface="Consolas" pitchFamily="34" charset="-122"/>
                <a:cs typeface="Consolas" pitchFamily="34" charset="-120"/>
              </a:rPr>
              <a:t>plt.imshow</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imgs</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i</a:t>
            </a:r>
            <a:r>
              <a:rPr lang="en-US" sz="1000" dirty="0">
                <a:solidFill>
                  <a:srgbClr val="A8D8EA"/>
                </a:solidFill>
                <a:latin typeface="Consolas" pitchFamily="34" charset="0"/>
                <a:ea typeface="Consolas" pitchFamily="34" charset="-122"/>
                <a:cs typeface="Consolas" pitchFamily="34" charset="-120"/>
              </a:rPr>
              <a:t>].clamp(0,1))</a:t>
            </a:r>
          </a:p>
          <a:p>
            <a:r>
              <a:rPr lang="en-US" sz="1000" dirty="0">
                <a:solidFill>
                  <a:srgbClr val="A8D8EA"/>
                </a:solidFill>
                <a:latin typeface="Consolas" pitchFamily="34" charset="0"/>
                <a:ea typeface="Consolas" pitchFamily="34" charset="-122"/>
                <a:cs typeface="Consolas" pitchFamily="34" charset="-120"/>
              </a:rPr>
              <a:t>    </a:t>
            </a:r>
            <a:r>
              <a:rPr lang="en-US" sz="1000" dirty="0" err="1">
                <a:solidFill>
                  <a:srgbClr val="A8D8EA"/>
                </a:solidFill>
                <a:latin typeface="Consolas" pitchFamily="34" charset="0"/>
                <a:ea typeface="Consolas" pitchFamily="34" charset="-122"/>
                <a:cs typeface="Consolas" pitchFamily="34" charset="-120"/>
              </a:rPr>
              <a:t>plt.title</a:t>
            </a:r>
            <a:r>
              <a:rPr lang="en-US" sz="1000" dirty="0">
                <a:solidFill>
                  <a:srgbClr val="A8D8EA"/>
                </a:solidFill>
                <a:latin typeface="Consolas" pitchFamily="34" charset="0"/>
                <a:ea typeface="Consolas" pitchFamily="34" charset="-122"/>
                <a:cs typeface="Consolas" pitchFamily="34" charset="-120"/>
              </a:rPr>
              <a:t>(captions[</a:t>
            </a:r>
            <a:r>
              <a:rPr lang="en-US" sz="1000" dirty="0" err="1">
                <a:solidFill>
                  <a:srgbClr val="A8D8EA"/>
                </a:solidFill>
                <a:latin typeface="Consolas" pitchFamily="34" charset="0"/>
                <a:ea typeface="Consolas" pitchFamily="34" charset="-122"/>
                <a:cs typeface="Consolas" pitchFamily="34" charset="-120"/>
              </a:rPr>
              <a:t>i</a:t>
            </a:r>
            <a:r>
              <a:rPr lang="en-US" sz="1000" dirty="0">
                <a:solidFill>
                  <a:srgbClr val="A8D8EA"/>
                </a:solidFill>
                <a:latin typeface="Consolas" pitchFamily="34" charset="0"/>
                <a:ea typeface="Consolas" pitchFamily="34" charset="-122"/>
                <a:cs typeface="Consolas" pitchFamily="34" charset="-120"/>
              </a:rPr>
              <a:t>],</a:t>
            </a:r>
            <a:r>
              <a:rPr lang="en-US" sz="1000" dirty="0" err="1">
                <a:solidFill>
                  <a:srgbClr val="A8D8EA"/>
                </a:solidFill>
                <a:latin typeface="Consolas" pitchFamily="34" charset="0"/>
                <a:ea typeface="Consolas" pitchFamily="34" charset="-122"/>
                <a:cs typeface="Consolas" pitchFamily="34" charset="-120"/>
              </a:rPr>
              <a:t>fontsize</a:t>
            </a:r>
            <a:r>
              <a:rPr lang="en-US" sz="1000" dirty="0">
                <a:solidFill>
                  <a:srgbClr val="A8D8EA"/>
                </a:solidFill>
                <a:latin typeface="Consolas" pitchFamily="34" charset="0"/>
                <a:ea typeface="Consolas" pitchFamily="34" charset="-122"/>
                <a:cs typeface="Consolas" pitchFamily="34" charset="-120"/>
              </a:rPr>
              <a:t>=25)</a:t>
            </a:r>
          </a:p>
          <a:p>
            <a:r>
              <a:rPr lang="en-US" sz="1000" dirty="0">
                <a:solidFill>
                  <a:srgbClr val="A8D8EA"/>
                </a:solidFill>
                <a:latin typeface="Consolas" pitchFamily="34" charset="0"/>
                <a:ea typeface="Consolas" pitchFamily="34" charset="-122"/>
                <a:cs typeface="Consolas" pitchFamily="34" charset="-120"/>
              </a:rPr>
              <a:t>    </a:t>
            </a:r>
            <a:r>
              <a:rPr lang="en-US" sz="1000" dirty="0" err="1">
                <a:solidFill>
                  <a:srgbClr val="A8D8EA"/>
                </a:solidFill>
                <a:latin typeface="Consolas" pitchFamily="34" charset="0"/>
                <a:ea typeface="Consolas" pitchFamily="34" charset="-122"/>
                <a:cs typeface="Consolas" pitchFamily="34" charset="-120"/>
              </a:rPr>
              <a:t>plt.axis</a:t>
            </a:r>
            <a:r>
              <a:rPr lang="en-US" sz="1000" dirty="0">
                <a:solidFill>
                  <a:srgbClr val="A8D8EA"/>
                </a:solidFill>
                <a:latin typeface="Consolas" pitchFamily="34" charset="0"/>
                <a:ea typeface="Consolas" pitchFamily="34" charset="-122"/>
                <a:cs typeface="Consolas" pitchFamily="34" charset="-120"/>
              </a:rPr>
              <a:t>('off')</a:t>
            </a:r>
          </a:p>
          <a:p>
            <a:r>
              <a:rPr lang="en-US" sz="1000" dirty="0" err="1">
                <a:solidFill>
                  <a:srgbClr val="A8D8EA"/>
                </a:solidFill>
                <a:latin typeface="Consolas" pitchFamily="34" charset="0"/>
                <a:ea typeface="Consolas" pitchFamily="34" charset="-122"/>
                <a:cs typeface="Consolas" pitchFamily="34" charset="-120"/>
              </a:rPr>
              <a:t>plt.tight_layout</a:t>
            </a:r>
            <a:r>
              <a:rPr lang="en-US" sz="1000" dirty="0">
                <a:solidFill>
                  <a:srgbClr val="A8D8EA"/>
                </a:solidFill>
                <a:latin typeface="Consolas" pitchFamily="34" charset="0"/>
                <a:ea typeface="Consolas" pitchFamily="34" charset="-122"/>
                <a:cs typeface="Consolas" pitchFamily="34" charset="-120"/>
              </a:rPr>
              <a:t>()</a:t>
            </a:r>
          </a:p>
          <a:p>
            <a:r>
              <a:rPr lang="en-US" sz="1000" dirty="0" err="1">
                <a:solidFill>
                  <a:srgbClr val="A8D8EA"/>
                </a:solidFill>
                <a:latin typeface="Consolas" pitchFamily="34" charset="0"/>
                <a:ea typeface="Consolas" pitchFamily="34" charset="-122"/>
                <a:cs typeface="Consolas" pitchFamily="34" charset="-120"/>
              </a:rPr>
              <a:t>plt.show</a:t>
            </a:r>
            <a:r>
              <a:rPr lang="en-US" sz="1000" dirty="0">
                <a:solidFill>
                  <a:srgbClr val="A8D8EA"/>
                </a:solidFill>
                <a:latin typeface="Consolas" pitchFamily="34" charset="0"/>
                <a:ea typeface="Consolas" pitchFamily="34" charset="-122"/>
                <a:cs typeface="Consolas" pitchFamily="34" charset="-120"/>
              </a:rPr>
              <a:t>()</a:t>
            </a:r>
          </a:p>
        </p:txBody>
      </p:sp>
      <p:sp>
        <p:nvSpPr>
          <p:cNvPr id="47" name="Text 7">
            <a:extLst>
              <a:ext uri="{FF2B5EF4-FFF2-40B4-BE49-F238E27FC236}">
                <a16:creationId xmlns:a16="http://schemas.microsoft.com/office/drawing/2014/main" id="{3908FA1A-F31B-EFC9-31C9-C4D2C2E20284}"/>
              </a:ext>
            </a:extLst>
          </p:cNvPr>
          <p:cNvSpPr/>
          <p:nvPr/>
        </p:nvSpPr>
        <p:spPr>
          <a:xfrm>
            <a:off x="658368" y="1227835"/>
            <a:ext cx="10875264" cy="4011971"/>
          </a:xfrm>
          <a:prstGeom prst="rect">
            <a:avLst/>
          </a:prstGeom>
          <a:noFill/>
          <a:ln/>
        </p:spPr>
        <p:txBody>
          <a:bodyPr wrap="square" lIns="0" tIns="0" rIns="0" bIns="0" rtlCol="0" anchor="t"/>
          <a:lstStyle/>
          <a:p>
            <a:endParaRPr lang="en-US" sz="1307" dirty="0"/>
          </a:p>
        </p:txBody>
      </p:sp>
      <p:pic>
        <p:nvPicPr>
          <p:cNvPr id="5" name="Picture 4">
            <a:extLst>
              <a:ext uri="{FF2B5EF4-FFF2-40B4-BE49-F238E27FC236}">
                <a16:creationId xmlns:a16="http://schemas.microsoft.com/office/drawing/2014/main" id="{FBB83F27-CD57-881E-A53F-8377D916CAB9}"/>
              </a:ext>
            </a:extLst>
          </p:cNvPr>
          <p:cNvPicPr>
            <a:picLocks noChangeAspect="1"/>
          </p:cNvPicPr>
          <p:nvPr/>
        </p:nvPicPr>
        <p:blipFill>
          <a:blip r:embed="rId3"/>
          <a:stretch>
            <a:fillRect/>
          </a:stretch>
        </p:blipFill>
        <p:spPr>
          <a:xfrm>
            <a:off x="572178" y="3994067"/>
            <a:ext cx="2503256" cy="2758611"/>
          </a:xfrm>
          <a:prstGeom prst="rect">
            <a:avLst/>
          </a:prstGeom>
        </p:spPr>
      </p:pic>
      <p:pic>
        <p:nvPicPr>
          <p:cNvPr id="7" name="Picture 6">
            <a:extLst>
              <a:ext uri="{FF2B5EF4-FFF2-40B4-BE49-F238E27FC236}">
                <a16:creationId xmlns:a16="http://schemas.microsoft.com/office/drawing/2014/main" id="{5C341F1B-E5A4-B5C6-BDB8-116C3E95B9AD}"/>
              </a:ext>
            </a:extLst>
          </p:cNvPr>
          <p:cNvPicPr>
            <a:picLocks noChangeAspect="1"/>
          </p:cNvPicPr>
          <p:nvPr/>
        </p:nvPicPr>
        <p:blipFill>
          <a:blip r:embed="rId4"/>
          <a:stretch>
            <a:fillRect/>
          </a:stretch>
        </p:blipFill>
        <p:spPr>
          <a:xfrm>
            <a:off x="9209416" y="4020830"/>
            <a:ext cx="2494904" cy="2705083"/>
          </a:xfrm>
          <a:prstGeom prst="rect">
            <a:avLst/>
          </a:prstGeom>
        </p:spPr>
      </p:pic>
      <p:sp>
        <p:nvSpPr>
          <p:cNvPr id="9" name="TextBox 8">
            <a:extLst>
              <a:ext uri="{FF2B5EF4-FFF2-40B4-BE49-F238E27FC236}">
                <a16:creationId xmlns:a16="http://schemas.microsoft.com/office/drawing/2014/main" id="{1FDD561A-9F58-9BDC-1322-A230A8ED7F9A}"/>
              </a:ext>
            </a:extLst>
          </p:cNvPr>
          <p:cNvSpPr txBox="1"/>
          <p:nvPr/>
        </p:nvSpPr>
        <p:spPr>
          <a:xfrm>
            <a:off x="3623139" y="5188706"/>
            <a:ext cx="5028600" cy="369332"/>
          </a:xfrm>
          <a:prstGeom prst="rect">
            <a:avLst/>
          </a:prstGeom>
          <a:noFill/>
        </p:spPr>
        <p:txBody>
          <a:bodyPr wrap="square">
            <a:spAutoFit/>
          </a:bodyPr>
          <a:lstStyle/>
          <a:p>
            <a:r>
              <a:rPr lang="ro-RO" dirty="0"/>
              <a:t>tensor([ 508,  343,  261,</a:t>
            </a:r>
            <a:r>
              <a:rPr lang="en-US" dirty="0"/>
              <a:t> …, 542], device='cuda:0')</a:t>
            </a:r>
            <a:endParaRPr lang="ro-RO" dirty="0"/>
          </a:p>
        </p:txBody>
      </p:sp>
      <p:cxnSp>
        <p:nvCxnSpPr>
          <p:cNvPr id="11" name="Straight Arrow Connector 10">
            <a:extLst>
              <a:ext uri="{FF2B5EF4-FFF2-40B4-BE49-F238E27FC236}">
                <a16:creationId xmlns:a16="http://schemas.microsoft.com/office/drawing/2014/main" id="{FBC6A2D2-75C5-0849-04D9-7F25145E3B0D}"/>
              </a:ext>
            </a:extLst>
          </p:cNvPr>
          <p:cNvCxnSpPr>
            <a:stCxn id="5" idx="3"/>
            <a:endCxn id="9" idx="1"/>
          </p:cNvCxnSpPr>
          <p:nvPr/>
        </p:nvCxnSpPr>
        <p:spPr>
          <a:xfrm flipV="1">
            <a:off x="3075434" y="5373372"/>
            <a:ext cx="5477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AB1215B-43ED-9255-7EDE-4F017E87D5B6}"/>
              </a:ext>
            </a:extLst>
          </p:cNvPr>
          <p:cNvCxnSpPr>
            <a:stCxn id="9" idx="3"/>
            <a:endCxn id="7" idx="1"/>
          </p:cNvCxnSpPr>
          <p:nvPr/>
        </p:nvCxnSpPr>
        <p:spPr>
          <a:xfrm>
            <a:off x="8651739" y="5373372"/>
            <a:ext cx="5576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ight Brace 14">
            <a:extLst>
              <a:ext uri="{FF2B5EF4-FFF2-40B4-BE49-F238E27FC236}">
                <a16:creationId xmlns:a16="http://schemas.microsoft.com/office/drawing/2014/main" id="{4CD2A977-9003-82CC-2479-E4196C398C6A}"/>
              </a:ext>
            </a:extLst>
          </p:cNvPr>
          <p:cNvSpPr/>
          <p:nvPr/>
        </p:nvSpPr>
        <p:spPr>
          <a:xfrm rot="5400000">
            <a:off x="5512562" y="4540410"/>
            <a:ext cx="193841" cy="221790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6" name="TextBox 15">
            <a:extLst>
              <a:ext uri="{FF2B5EF4-FFF2-40B4-BE49-F238E27FC236}">
                <a16:creationId xmlns:a16="http://schemas.microsoft.com/office/drawing/2014/main" id="{16CD76B2-244D-562A-F258-03F619EB73FD}"/>
              </a:ext>
            </a:extLst>
          </p:cNvPr>
          <p:cNvSpPr txBox="1"/>
          <p:nvPr/>
        </p:nvSpPr>
        <p:spPr>
          <a:xfrm>
            <a:off x="4864528" y="5689584"/>
            <a:ext cx="1626670" cy="369332"/>
          </a:xfrm>
          <a:prstGeom prst="rect">
            <a:avLst/>
          </a:prstGeom>
          <a:noFill/>
        </p:spPr>
        <p:txBody>
          <a:bodyPr wrap="square" rtlCol="0">
            <a:spAutoFit/>
          </a:bodyPr>
          <a:lstStyle/>
          <a:p>
            <a:r>
              <a:rPr lang="en-US" dirty="0"/>
              <a:t>576 elements</a:t>
            </a:r>
            <a:endParaRPr lang="ro-RO" dirty="0"/>
          </a:p>
        </p:txBody>
      </p:sp>
      <p:sp>
        <p:nvSpPr>
          <p:cNvPr id="18" name="TextBox 17">
            <a:extLst>
              <a:ext uri="{FF2B5EF4-FFF2-40B4-BE49-F238E27FC236}">
                <a16:creationId xmlns:a16="http://schemas.microsoft.com/office/drawing/2014/main" id="{41CBF8E1-1724-FFC5-D583-DEBA942F441B}"/>
              </a:ext>
            </a:extLst>
          </p:cNvPr>
          <p:cNvSpPr txBox="1"/>
          <p:nvPr/>
        </p:nvSpPr>
        <p:spPr>
          <a:xfrm>
            <a:off x="391092" y="799084"/>
            <a:ext cx="8083411" cy="923330"/>
          </a:xfrm>
          <a:prstGeom prst="rect">
            <a:avLst/>
          </a:prstGeom>
          <a:noFill/>
        </p:spPr>
        <p:txBody>
          <a:bodyPr wrap="square">
            <a:spAutoFit/>
          </a:bodyPr>
          <a:lstStyle/>
          <a:p>
            <a:pPr algn="l">
              <a:buNone/>
            </a:pPr>
            <a:r>
              <a:rPr lang="en-US" b="0" i="0" dirty="0">
                <a:solidFill>
                  <a:srgbClr val="121212"/>
                </a:solidFill>
                <a:effectLst/>
                <a:latin typeface="Anthropic Serif"/>
              </a:rPr>
              <a:t>Runs the full pipeline: fish image → 576 integers → reconstructed image:</a:t>
            </a:r>
          </a:p>
          <a:p>
            <a:pPr>
              <a:buNone/>
            </a:pPr>
            <a:br>
              <a:rPr lang="en-US" dirty="0"/>
            </a:br>
            <a:endParaRPr lang="ro-RO" dirty="0"/>
          </a:p>
        </p:txBody>
      </p:sp>
    </p:spTree>
    <p:extLst>
      <p:ext uri="{BB962C8B-B14F-4D97-AF65-F5344CB8AC3E}">
        <p14:creationId xmlns:p14="http://schemas.microsoft.com/office/powerpoint/2010/main" val="1247072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2</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Inside the VQGAN:</a:t>
            </a:r>
          </a:p>
          <a:p>
            <a:r>
              <a:rPr lang="en-US" sz="6000" b="1" dirty="0">
                <a:solidFill>
                  <a:srgbClr val="000000"/>
                </a:solidFill>
                <a:latin typeface="Calibri" pitchFamily="34" charset="0"/>
                <a:ea typeface="Calibri" pitchFamily="34" charset="-122"/>
                <a:cs typeface="Calibri" pitchFamily="34" charset="-120"/>
              </a:rPr>
              <a:t>Encoder, Quantization</a:t>
            </a:r>
          </a:p>
          <a:p>
            <a:r>
              <a:rPr lang="en-US" sz="6000" b="1" dirty="0">
                <a:solidFill>
                  <a:srgbClr val="000000"/>
                </a:solidFill>
                <a:latin typeface="Calibri" pitchFamily="34" charset="0"/>
                <a:ea typeface="Calibri" pitchFamily="34" charset="-122"/>
                <a:cs typeface="Calibri" pitchFamily="34" charset="-120"/>
              </a:rPr>
              <a:t>&amp; Decoder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The VQGAN Encoder: Image → Latent Representation</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The encoder compresses 3×384×384 to 256×24×24 using 4 strided convolutional layers.</a:t>
            </a:r>
            <a:endParaRPr lang="en-US" sz="1733" dirty="0"/>
          </a:p>
        </p:txBody>
      </p:sp>
      <p:sp>
        <p:nvSpPr>
          <p:cNvPr id="48" name="Shape 0">
            <a:extLst>
              <a:ext uri="{FF2B5EF4-FFF2-40B4-BE49-F238E27FC236}">
                <a16:creationId xmlns:a16="http://schemas.microsoft.com/office/drawing/2014/main" id="{7CACAED8-08C6-0F23-E312-8D810EFBAE0C}"/>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9" name="Shape 6">
            <a:extLst>
              <a:ext uri="{FF2B5EF4-FFF2-40B4-BE49-F238E27FC236}">
                <a16:creationId xmlns:a16="http://schemas.microsoft.com/office/drawing/2014/main" id="{B9C43DFD-C5AA-89C3-A341-D15404BC104B}"/>
              </a:ext>
            </a:extLst>
          </p:cNvPr>
          <p:cNvSpPr/>
          <p:nvPr/>
        </p:nvSpPr>
        <p:spPr>
          <a:xfrm>
            <a:off x="487680" y="1575977"/>
            <a:ext cx="11522810" cy="3621665"/>
          </a:xfrm>
          <a:prstGeom prst="rect">
            <a:avLst/>
          </a:prstGeom>
          <a:solidFill>
            <a:srgbClr val="1E2A3A"/>
          </a:solidFill>
          <a:ln w="10160">
            <a:solidFill>
              <a:srgbClr val="00E5FF"/>
            </a:solidFill>
            <a:prstDash val="solid"/>
          </a:ln>
        </p:spPr>
        <p:txBody>
          <a:bodyPr/>
          <a:lstStyle/>
          <a:p>
            <a:r>
              <a:rPr lang="en-US" sz="1100" dirty="0">
                <a:solidFill>
                  <a:srgbClr val="A8D8EA"/>
                </a:solidFill>
                <a:latin typeface="Consolas" pitchFamily="34" charset="0"/>
                <a:ea typeface="Consolas" pitchFamily="34" charset="-122"/>
                <a:cs typeface="Consolas" pitchFamily="34" charset="-120"/>
              </a:rPr>
              <a:t>import PIL</a:t>
            </a:r>
          </a:p>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torchvision.transforms</a:t>
            </a:r>
            <a:r>
              <a:rPr lang="en-US" sz="1100" dirty="0">
                <a:solidFill>
                  <a:srgbClr val="A8D8EA"/>
                </a:solidFill>
                <a:latin typeface="Consolas" pitchFamily="34" charset="0"/>
                <a:ea typeface="Consolas" pitchFamily="34" charset="-122"/>
                <a:cs typeface="Consolas" pitchFamily="34" charset="-120"/>
              </a:rPr>
              <a:t> as T</a:t>
            </a:r>
          </a:p>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torchvision.transforms.functional</a:t>
            </a:r>
            <a:r>
              <a:rPr lang="en-US" sz="1100" dirty="0">
                <a:solidFill>
                  <a:srgbClr val="A8D8EA"/>
                </a:solidFill>
                <a:latin typeface="Consolas" pitchFamily="34" charset="0"/>
                <a:ea typeface="Consolas" pitchFamily="34" charset="-122"/>
                <a:cs typeface="Consolas" pitchFamily="34" charset="-120"/>
              </a:rPr>
              <a:t> as TF</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def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file_name</a:t>
            </a:r>
            <a:r>
              <a:rPr lang="en-US" sz="1100" dirty="0">
                <a:solidFill>
                  <a:srgbClr val="A8D8EA"/>
                </a:solidFill>
                <a:latin typeface="Consolas" pitchFamily="34" charset="0"/>
                <a:ea typeface="Consolas" pitchFamily="34" charset="-122"/>
                <a:cs typeface="Consolas" pitchFamily="34" charset="-120"/>
              </a:rPr>
              <a:t>):    # Defines a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 function to center crop images and resize them</a:t>
            </a:r>
          </a:p>
          <a:p>
            <a:r>
              <a:rPr lang="en-US" sz="1100" dirty="0">
                <a:solidFill>
                  <a:srgbClr val="A8D8EA"/>
                </a:solidFill>
                <a:latin typeface="Consolas" pitchFamily="34" charset="0"/>
                <a:ea typeface="Consolas" pitchFamily="34" charset="-122"/>
                <a:cs typeface="Consolas" pitchFamily="34" charset="-120"/>
              </a:rPr>
              <a:t>    size=384</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PIL.Image.open</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file_name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s = min(</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r = size / s</a:t>
            </a:r>
          </a:p>
          <a:p>
            <a:r>
              <a:rPr lang="en-US" sz="1100" dirty="0">
                <a:solidFill>
                  <a:srgbClr val="A8D8EA"/>
                </a:solidFill>
                <a:latin typeface="Consolas" pitchFamily="34" charset="0"/>
                <a:ea typeface="Consolas" pitchFamily="34" charset="-122"/>
                <a:cs typeface="Consolas" pitchFamily="34" charset="-120"/>
              </a:rPr>
              <a:t>    s = (round(r * </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[1]), round(r * </a:t>
            </a:r>
            <a:r>
              <a:rPr lang="en-US" sz="1100" dirty="0" err="1">
                <a:solidFill>
                  <a:srgbClr val="A8D8EA"/>
                </a:solidFill>
                <a:latin typeface="Consolas" pitchFamily="34" charset="0"/>
                <a:ea typeface="Consolas" pitchFamily="34" charset="-122"/>
                <a:cs typeface="Consolas" pitchFamily="34" charset="-120"/>
              </a:rPr>
              <a:t>img.size</a:t>
            </a:r>
            <a:r>
              <a:rPr lang="en-US" sz="1100" dirty="0">
                <a:solidFill>
                  <a:srgbClr val="A8D8EA"/>
                </a:solidFill>
                <a:latin typeface="Consolas" pitchFamily="34" charset="0"/>
                <a:ea typeface="Consolas" pitchFamily="34" charset="-122"/>
                <a:cs typeface="Consolas" pitchFamily="34" charset="-120"/>
              </a:rPr>
              <a:t>[0]))</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 </a:t>
            </a:r>
            <a:r>
              <a:rPr lang="en-US" sz="1100" dirty="0" err="1">
                <a:solidFill>
                  <a:srgbClr val="A8D8EA"/>
                </a:solidFill>
                <a:latin typeface="Consolas" pitchFamily="34" charset="0"/>
                <a:ea typeface="Consolas" pitchFamily="34" charset="-122"/>
                <a:cs typeface="Consolas" pitchFamily="34" charset="-120"/>
              </a:rPr>
              <a:t>TF.resize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s, interpolation=</a:t>
            </a:r>
            <a:r>
              <a:rPr lang="en-US" sz="1100" dirty="0" err="1">
                <a:solidFill>
                  <a:srgbClr val="A8D8EA"/>
                </a:solidFill>
                <a:latin typeface="Consolas" pitchFamily="34" charset="0"/>
                <a:ea typeface="Consolas" pitchFamily="34" charset="-122"/>
                <a:cs typeface="Consolas" pitchFamily="34" charset="-120"/>
              </a:rPr>
              <a:t>PIL.Image.LANCZOS</a:t>
            </a:r>
            <a:r>
              <a:rPr lang="en-US" sz="1100" dirty="0">
                <a:solidFill>
                  <a:srgbClr val="A8D8EA"/>
                </a:solidFill>
                <a:latin typeface="Consolas" pitchFamily="34" charset="0"/>
                <a:ea typeface="Consolas" pitchFamily="34" charset="-122"/>
                <a:cs typeface="Consolas" pitchFamily="34" charset="-120"/>
              </a:rPr>
              <a:t>)</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 </a:t>
            </a:r>
            <a:r>
              <a:rPr lang="en-US" sz="1100" dirty="0" err="1">
                <a:solidFill>
                  <a:srgbClr val="A8D8EA"/>
                </a:solidFill>
                <a:latin typeface="Consolas" pitchFamily="34" charset="0"/>
                <a:ea typeface="Consolas" pitchFamily="34" charset="-122"/>
                <a:cs typeface="Consolas" pitchFamily="34" charset="-120"/>
              </a:rPr>
              <a:t>TF.center_crop</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output_size</a:t>
            </a:r>
            <a:r>
              <a:rPr lang="en-US" sz="1100" dirty="0">
                <a:solidFill>
                  <a:srgbClr val="A8D8EA"/>
                </a:solidFill>
                <a:latin typeface="Consolas" pitchFamily="34" charset="0"/>
                <a:ea typeface="Consolas" pitchFamily="34" charset="-122"/>
                <a:cs typeface="Consolas" pitchFamily="34" charset="-120"/>
              </a:rPr>
              <a:t>=2 * [size])</a:t>
            </a:r>
          </a:p>
          <a:p>
            <a:r>
              <a:rPr lang="en-US" sz="1100" dirty="0">
                <a:solidFill>
                  <a:srgbClr val="A8D8EA"/>
                </a:solidFill>
                <a:latin typeface="Consolas" pitchFamily="34" charset="0"/>
                <a:ea typeface="Consolas" pitchFamily="34" charset="-122"/>
                <a:cs typeface="Consolas" pitchFamily="34" charset="-120"/>
              </a:rPr>
              <a:t>    return </a:t>
            </a:r>
            <a:r>
              <a:rPr lang="en-US" sz="1100" dirty="0" err="1">
                <a:solidFill>
                  <a:srgbClr val="A8D8EA"/>
                </a:solidFill>
                <a:latin typeface="Consolas" pitchFamily="34" charset="0"/>
                <a:ea typeface="Consolas" pitchFamily="34" charset="-122"/>
                <a:cs typeface="Consolas" pitchFamily="34" charset="-120"/>
              </a:rPr>
              <a:t>torch.unsqueeze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T.ToTensor</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a:t>
            </a:r>
            <a:r>
              <a:rPr lang="en-US" sz="1100" dirty="0">
                <a:solidFill>
                  <a:srgbClr val="A8D8EA"/>
                </a:solidFill>
                <a:latin typeface="Consolas" pitchFamily="34" charset="0"/>
                <a:ea typeface="Consolas" pitchFamily="34" charset="-122"/>
                <a:cs typeface="Consolas" pitchFamily="34" charset="-120"/>
              </a:rPr>
              <a:t>), 0)*2-1</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image1 =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("files/cat.png") # Applies the </a:t>
            </a:r>
            <a:r>
              <a:rPr lang="en-US" sz="1100" dirty="0" err="1">
                <a:solidFill>
                  <a:srgbClr val="A8D8EA"/>
                </a:solidFill>
                <a:latin typeface="Consolas" pitchFamily="34" charset="0"/>
                <a:ea typeface="Consolas" pitchFamily="34" charset="-122"/>
                <a:cs typeface="Consolas" pitchFamily="34" charset="-120"/>
              </a:rPr>
              <a:t>process_image</a:t>
            </a:r>
            <a:r>
              <a:rPr lang="en-US" sz="1100" dirty="0">
                <a:solidFill>
                  <a:srgbClr val="A8D8EA"/>
                </a:solidFill>
                <a:latin typeface="Consolas" pitchFamily="34" charset="0"/>
                <a:ea typeface="Consolas" pitchFamily="34" charset="-122"/>
                <a:cs typeface="Consolas" pitchFamily="34" charset="-120"/>
              </a:rPr>
              <a:t>() function on the cat image</a:t>
            </a:r>
          </a:p>
          <a:p>
            <a:r>
              <a:rPr lang="en-US" sz="1100" dirty="0">
                <a:solidFill>
                  <a:srgbClr val="A8D8EA"/>
                </a:solidFill>
                <a:latin typeface="Consolas" pitchFamily="34" charset="0"/>
                <a:ea typeface="Consolas" pitchFamily="34" charset="-122"/>
                <a:cs typeface="Consolas" pitchFamily="34" charset="-120"/>
              </a:rPr>
              <a:t>print(</a:t>
            </a:r>
            <a:r>
              <a:rPr lang="en-US" sz="1100" dirty="0" err="1">
                <a:solidFill>
                  <a:srgbClr val="A8D8EA"/>
                </a:solidFill>
                <a:latin typeface="Consolas" pitchFamily="34" charset="0"/>
                <a:ea typeface="Consolas" pitchFamily="34" charset="-122"/>
                <a:cs typeface="Consolas" pitchFamily="34" charset="-120"/>
              </a:rPr>
              <a:t>f"the</a:t>
            </a:r>
            <a:r>
              <a:rPr lang="en-US" sz="1100" dirty="0">
                <a:solidFill>
                  <a:srgbClr val="A8D8EA"/>
                </a:solidFill>
                <a:latin typeface="Consolas" pitchFamily="34" charset="0"/>
                <a:ea typeface="Consolas" pitchFamily="34" charset="-122"/>
                <a:cs typeface="Consolas" pitchFamily="34" charset="-120"/>
              </a:rPr>
              <a:t> shape of the original image is {image1.shape}")</a:t>
            </a:r>
          </a:p>
          <a:p>
            <a:endParaRPr lang="en-US" sz="1100" dirty="0">
              <a:solidFill>
                <a:srgbClr val="A8D8EA"/>
              </a:solidFill>
              <a:latin typeface="Consolas" pitchFamily="34" charset="0"/>
              <a:ea typeface="Consolas" pitchFamily="34" charset="-122"/>
              <a:cs typeface="Consolas" pitchFamily="34" charset="-120"/>
            </a:endParaRP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z = </a:t>
            </a:r>
            <a:r>
              <a:rPr lang="en-US" sz="1100" dirty="0" err="1">
                <a:solidFill>
                  <a:srgbClr val="A8D8EA"/>
                </a:solidFill>
                <a:latin typeface="Consolas" pitchFamily="34" charset="0"/>
                <a:ea typeface="Consolas" pitchFamily="34" charset="-122"/>
                <a:cs typeface="Consolas" pitchFamily="34" charset="-120"/>
              </a:rPr>
              <a:t>model.encoder</a:t>
            </a:r>
            <a:r>
              <a:rPr lang="en-US" sz="1100" dirty="0">
                <a:solidFill>
                  <a:srgbClr val="A8D8EA"/>
                </a:solidFill>
                <a:latin typeface="Consolas" pitchFamily="34" charset="0"/>
                <a:ea typeface="Consolas" pitchFamily="34" charset="-122"/>
                <a:cs typeface="Consolas" pitchFamily="34" charset="-120"/>
              </a:rPr>
              <a:t>(image1.to(device))</a:t>
            </a:r>
          </a:p>
          <a:p>
            <a:r>
              <a:rPr lang="en-US" sz="1100" dirty="0">
                <a:solidFill>
                  <a:srgbClr val="A8D8EA"/>
                </a:solidFill>
                <a:latin typeface="Consolas" pitchFamily="34" charset="0"/>
                <a:ea typeface="Consolas" pitchFamily="34" charset="-122"/>
                <a:cs typeface="Consolas" pitchFamily="34" charset="-120"/>
              </a:rPr>
              <a:t>z = </a:t>
            </a:r>
            <a:r>
              <a:rPr lang="en-US" sz="1100" dirty="0" err="1">
                <a:solidFill>
                  <a:srgbClr val="A8D8EA"/>
                </a:solidFill>
                <a:latin typeface="Consolas" pitchFamily="34" charset="0"/>
                <a:ea typeface="Consolas" pitchFamily="34" charset="-122"/>
                <a:cs typeface="Consolas" pitchFamily="34" charset="-120"/>
              </a:rPr>
              <a:t>model.quant_conv</a:t>
            </a:r>
            <a:r>
              <a:rPr lang="en-US" sz="1100" dirty="0">
                <a:solidFill>
                  <a:srgbClr val="A8D8EA"/>
                </a:solidFill>
                <a:latin typeface="Consolas" pitchFamily="34" charset="0"/>
                <a:ea typeface="Consolas" pitchFamily="34" charset="-122"/>
                <a:cs typeface="Consolas" pitchFamily="34" charset="-120"/>
              </a:rPr>
              <a:t>(z)</a:t>
            </a:r>
          </a:p>
          <a:p>
            <a:r>
              <a:rPr lang="en-US" sz="1100" dirty="0">
                <a:solidFill>
                  <a:srgbClr val="A8D8EA"/>
                </a:solidFill>
                <a:latin typeface="Consolas" pitchFamily="34" charset="0"/>
                <a:ea typeface="Consolas" pitchFamily="34" charset="-122"/>
                <a:cs typeface="Consolas" pitchFamily="34" charset="-120"/>
              </a:rPr>
              <a:t>print(</a:t>
            </a:r>
            <a:r>
              <a:rPr lang="en-US" sz="1100" dirty="0" err="1">
                <a:solidFill>
                  <a:srgbClr val="A8D8EA"/>
                </a:solidFill>
                <a:latin typeface="Consolas" pitchFamily="34" charset="0"/>
                <a:ea typeface="Consolas" pitchFamily="34" charset="-122"/>
                <a:cs typeface="Consolas" pitchFamily="34" charset="-120"/>
              </a:rPr>
              <a:t>f"the</a:t>
            </a:r>
            <a:r>
              <a:rPr lang="en-US" sz="1100" dirty="0">
                <a:solidFill>
                  <a:srgbClr val="A8D8EA"/>
                </a:solidFill>
                <a:latin typeface="Consolas" pitchFamily="34" charset="0"/>
                <a:ea typeface="Consolas" pitchFamily="34" charset="-122"/>
                <a:cs typeface="Consolas" pitchFamily="34" charset="-120"/>
              </a:rPr>
              <a:t> shape of the latent representation is {</a:t>
            </a:r>
            <a:r>
              <a:rPr lang="en-US" sz="1100" dirty="0" err="1">
                <a:solidFill>
                  <a:srgbClr val="A8D8EA"/>
                </a:solidFill>
                <a:latin typeface="Consolas" pitchFamily="34" charset="0"/>
                <a:ea typeface="Consolas" pitchFamily="34" charset="-122"/>
                <a:cs typeface="Consolas" pitchFamily="34" charset="-120"/>
              </a:rPr>
              <a:t>z.shape</a:t>
            </a:r>
            <a:r>
              <a:rPr lang="en-US" sz="1100" dirty="0">
                <a:solidFill>
                  <a:srgbClr val="A8D8EA"/>
                </a:solidFill>
                <a:latin typeface="Consolas" pitchFamily="34" charset="0"/>
                <a:ea typeface="Consolas" pitchFamily="34" charset="-122"/>
                <a:cs typeface="Consolas" pitchFamily="34" charset="-120"/>
              </a:rPr>
              <a:t>}")</a:t>
            </a:r>
          </a:p>
        </p:txBody>
      </p:sp>
      <p:sp>
        <p:nvSpPr>
          <p:cNvPr id="50" name="Text 7">
            <a:extLst>
              <a:ext uri="{FF2B5EF4-FFF2-40B4-BE49-F238E27FC236}">
                <a16:creationId xmlns:a16="http://schemas.microsoft.com/office/drawing/2014/main" id="{74DA3BE4-E35C-7934-91EF-C50F59FA7E2D}"/>
              </a:ext>
            </a:extLst>
          </p:cNvPr>
          <p:cNvSpPr/>
          <p:nvPr/>
        </p:nvSpPr>
        <p:spPr>
          <a:xfrm>
            <a:off x="658368" y="1901604"/>
            <a:ext cx="10875264" cy="4011971"/>
          </a:xfrm>
          <a:prstGeom prst="rect">
            <a:avLst/>
          </a:prstGeom>
          <a:noFill/>
          <a:ln/>
        </p:spPr>
        <p:txBody>
          <a:bodyPr wrap="square" lIns="0" tIns="0" rIns="0" bIns="0" rtlCol="0" anchor="t"/>
          <a:lstStyle/>
          <a:p>
            <a:endParaRPr lang="en-US" sz="1307" dirty="0"/>
          </a:p>
        </p:txBody>
      </p:sp>
      <p:sp>
        <p:nvSpPr>
          <p:cNvPr id="51" name="Shape 5">
            <a:extLst>
              <a:ext uri="{FF2B5EF4-FFF2-40B4-BE49-F238E27FC236}">
                <a16:creationId xmlns:a16="http://schemas.microsoft.com/office/drawing/2014/main" id="{A1E63140-CF0D-EA31-B2ED-D92D00DBB0C8}"/>
              </a:ext>
            </a:extLst>
          </p:cNvPr>
          <p:cNvSpPr/>
          <p:nvPr/>
        </p:nvSpPr>
        <p:spPr>
          <a:xfrm>
            <a:off x="487680" y="5378702"/>
            <a:ext cx="11522809" cy="1050974"/>
          </a:xfrm>
          <a:prstGeom prst="rect">
            <a:avLst/>
          </a:prstGeom>
          <a:solidFill>
            <a:srgbClr val="E8F5E9"/>
          </a:solidFill>
          <a:ln w="12700">
            <a:solidFill>
              <a:srgbClr val="A5D6A7"/>
            </a:solidFill>
            <a:prstDash val="solid"/>
          </a:ln>
        </p:spPr>
      </p:sp>
      <p:sp>
        <p:nvSpPr>
          <p:cNvPr id="52" name="Text 6">
            <a:extLst>
              <a:ext uri="{FF2B5EF4-FFF2-40B4-BE49-F238E27FC236}">
                <a16:creationId xmlns:a16="http://schemas.microsoft.com/office/drawing/2014/main" id="{FEF47180-160A-43A7-6107-74E5D4FB0454}"/>
              </a:ext>
            </a:extLst>
          </p:cNvPr>
          <p:cNvSpPr/>
          <p:nvPr/>
        </p:nvSpPr>
        <p:spPr>
          <a:xfrm>
            <a:off x="615697" y="5370277"/>
            <a:ext cx="11175886" cy="1050973"/>
          </a:xfrm>
          <a:prstGeom prst="rect">
            <a:avLst/>
          </a:prstGeom>
          <a:noFill/>
          <a:ln/>
        </p:spPr>
        <p:txBody>
          <a:bodyPr wrap="square" rtlCol="0" anchor="t"/>
          <a:lstStyle/>
          <a:p>
            <a:r>
              <a:rPr lang="en-US" b="1" dirty="0">
                <a:solidFill>
                  <a:srgbClr val="2E7D5E"/>
                </a:solidFill>
                <a:latin typeface="Calibri" pitchFamily="34" charset="0"/>
                <a:ea typeface="Calibri" pitchFamily="34" charset="-122"/>
                <a:cs typeface="Calibri" pitchFamily="34" charset="-120"/>
              </a:rPr>
              <a:t>Expected output</a:t>
            </a:r>
          </a:p>
          <a:p>
            <a:r>
              <a:rPr lang="en-US" sz="1600" b="1" dirty="0">
                <a:solidFill>
                  <a:srgbClr val="2E7D5E"/>
                </a:solidFill>
                <a:latin typeface="Calibri" pitchFamily="34" charset="0"/>
                <a:ea typeface="Calibri" pitchFamily="34" charset="-122"/>
                <a:cs typeface="Calibri" pitchFamily="34" charset="-120"/>
              </a:rPr>
              <a:t>
</a:t>
            </a:r>
            <a:r>
              <a:rPr lang="en-US" sz="1600" dirty="0">
                <a:solidFill>
                  <a:srgbClr val="1B4F2A"/>
                </a:solidFill>
                <a:latin typeface="Calibri" pitchFamily="34" charset="0"/>
                <a:ea typeface="Calibri" pitchFamily="34" charset="-122"/>
                <a:cs typeface="Calibri" pitchFamily="34" charset="-120"/>
              </a:rPr>
              <a:t>the shape of the original image is </a:t>
            </a:r>
            <a:r>
              <a:rPr lang="en-US" sz="1600" dirty="0" err="1">
                <a:solidFill>
                  <a:srgbClr val="1B4F2A"/>
                </a:solidFill>
                <a:latin typeface="Calibri" pitchFamily="34" charset="0"/>
                <a:ea typeface="Calibri" pitchFamily="34" charset="-122"/>
                <a:cs typeface="Calibri" pitchFamily="34" charset="-120"/>
              </a:rPr>
              <a:t>torch.Size</a:t>
            </a:r>
            <a:r>
              <a:rPr lang="en-US" sz="1600" dirty="0">
                <a:solidFill>
                  <a:srgbClr val="1B4F2A"/>
                </a:solidFill>
                <a:latin typeface="Calibri" pitchFamily="34" charset="0"/>
                <a:ea typeface="Calibri" pitchFamily="34" charset="-122"/>
                <a:cs typeface="Calibri" pitchFamily="34" charset="-120"/>
              </a:rPr>
              <a:t>([1, 3, 384, 384])</a:t>
            </a:r>
          </a:p>
          <a:p>
            <a:r>
              <a:rPr lang="en-US" sz="1600" dirty="0">
                <a:solidFill>
                  <a:srgbClr val="1B4F2A"/>
                </a:solidFill>
                <a:latin typeface="Calibri" pitchFamily="34" charset="0"/>
                <a:ea typeface="Calibri" pitchFamily="34" charset="-122"/>
                <a:cs typeface="Calibri" pitchFamily="34" charset="-120"/>
              </a:rPr>
              <a:t>the shape of the latent representation is </a:t>
            </a:r>
            <a:r>
              <a:rPr lang="en-US" sz="1600" dirty="0" err="1">
                <a:solidFill>
                  <a:srgbClr val="1B4F2A"/>
                </a:solidFill>
                <a:latin typeface="Calibri" pitchFamily="34" charset="0"/>
                <a:ea typeface="Calibri" pitchFamily="34" charset="-122"/>
                <a:cs typeface="Calibri" pitchFamily="34" charset="-120"/>
              </a:rPr>
              <a:t>torch.Size</a:t>
            </a:r>
            <a:r>
              <a:rPr lang="en-US" sz="1600" dirty="0">
                <a:solidFill>
                  <a:srgbClr val="1B4F2A"/>
                </a:solidFill>
                <a:latin typeface="Calibri" pitchFamily="34" charset="0"/>
                <a:ea typeface="Calibri" pitchFamily="34" charset="-122"/>
                <a:cs typeface="Calibri" pitchFamily="34" charset="-120"/>
              </a:rPr>
              <a:t>([1, 256, 24, 24])</a:t>
            </a:r>
          </a:p>
          <a:p>
            <a:endParaRPr lang="en-US" sz="1600" dirty="0"/>
          </a:p>
          <a:p>
            <a:pPr marL="0" indent="0">
              <a:buNone/>
            </a:pP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4A4B0-E767-B575-D2EF-F006A60ED2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076DDF9-B77F-8344-B19C-2C2FC3366206}"/>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4E979C41-55E3-648B-A197-BA1F78CAAF1D}"/>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The VQGAN Encoder: Image → Latent Representation</a:t>
            </a:r>
            <a:endParaRPr lang="en-US" sz="3467" dirty="0"/>
          </a:p>
        </p:txBody>
      </p:sp>
      <p:sp>
        <p:nvSpPr>
          <p:cNvPr id="4" name="Text 2">
            <a:extLst>
              <a:ext uri="{FF2B5EF4-FFF2-40B4-BE49-F238E27FC236}">
                <a16:creationId xmlns:a16="http://schemas.microsoft.com/office/drawing/2014/main" id="{597BC418-0AB4-FDDC-2773-C8749014282C}"/>
              </a:ext>
            </a:extLst>
          </p:cNvPr>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The encoder compresses 1x3×384×384 to 1x256×24×24 using 4 strided convolutional layers.</a:t>
            </a:r>
            <a:endParaRPr lang="en-US" sz="1733" dirty="0"/>
          </a:p>
        </p:txBody>
      </p:sp>
      <p:sp>
        <p:nvSpPr>
          <p:cNvPr id="48" name="Shape 0">
            <a:extLst>
              <a:ext uri="{FF2B5EF4-FFF2-40B4-BE49-F238E27FC236}">
                <a16:creationId xmlns:a16="http://schemas.microsoft.com/office/drawing/2014/main" id="{0AA13817-0B52-10BF-4DD8-BEFA3F64DCCF}"/>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6" name="Picture 5">
            <a:extLst>
              <a:ext uri="{FF2B5EF4-FFF2-40B4-BE49-F238E27FC236}">
                <a16:creationId xmlns:a16="http://schemas.microsoft.com/office/drawing/2014/main" id="{BCCD43B9-BA4B-7923-3759-20E9A9775BE8}"/>
              </a:ext>
            </a:extLst>
          </p:cNvPr>
          <p:cNvPicPr>
            <a:picLocks noChangeAspect="1"/>
          </p:cNvPicPr>
          <p:nvPr/>
        </p:nvPicPr>
        <p:blipFill>
          <a:blip r:embed="rId3"/>
          <a:stretch>
            <a:fillRect/>
          </a:stretch>
        </p:blipFill>
        <p:spPr>
          <a:xfrm>
            <a:off x="713280" y="3761321"/>
            <a:ext cx="4321492" cy="2531866"/>
          </a:xfrm>
          <a:prstGeom prst="rect">
            <a:avLst/>
          </a:prstGeom>
        </p:spPr>
      </p:pic>
      <p:pic>
        <p:nvPicPr>
          <p:cNvPr id="7" name="Picture 2" descr="Why do my glasses need cleaning all the time? | Book An Eye Test">
            <a:extLst>
              <a:ext uri="{FF2B5EF4-FFF2-40B4-BE49-F238E27FC236}">
                <a16:creationId xmlns:a16="http://schemas.microsoft.com/office/drawing/2014/main" id="{986F5AA6-6740-1B9B-4953-1B5204E70A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3944" y="1631247"/>
            <a:ext cx="2198150" cy="1465433"/>
          </a:xfrm>
          <a:prstGeom prst="rect">
            <a:avLst/>
          </a:prstGeom>
          <a:noFill/>
          <a:extLst>
            <a:ext uri="{909E8E84-426E-40DD-AFC4-6F175D3DCCD1}">
              <a14:hiddenFill xmlns:a14="http://schemas.microsoft.com/office/drawing/2010/main">
                <a:solidFill>
                  <a:srgbClr val="FFFFFF"/>
                </a:solidFill>
              </a14:hiddenFill>
            </a:ext>
          </a:extLst>
        </p:spPr>
      </p:pic>
      <p:sp>
        <p:nvSpPr>
          <p:cNvPr id="8" name="Arrow: Down 7">
            <a:extLst>
              <a:ext uri="{FF2B5EF4-FFF2-40B4-BE49-F238E27FC236}">
                <a16:creationId xmlns:a16="http://schemas.microsoft.com/office/drawing/2014/main" id="{F73A74EE-0AE4-DE86-66C4-24FF3BC1105D}"/>
              </a:ext>
            </a:extLst>
          </p:cNvPr>
          <p:cNvSpPr/>
          <p:nvPr/>
        </p:nvSpPr>
        <p:spPr>
          <a:xfrm>
            <a:off x="2771686" y="3242198"/>
            <a:ext cx="481264" cy="7603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0" name="Straight Connector 9">
            <a:extLst>
              <a:ext uri="{FF2B5EF4-FFF2-40B4-BE49-F238E27FC236}">
                <a16:creationId xmlns:a16="http://schemas.microsoft.com/office/drawing/2014/main" id="{C2192B65-5683-40BB-870E-5CB8A794D551}"/>
              </a:ext>
            </a:extLst>
          </p:cNvPr>
          <p:cNvCxnSpPr/>
          <p:nvPr/>
        </p:nvCxnSpPr>
        <p:spPr>
          <a:xfrm flipH="1" flipV="1">
            <a:off x="3718270" y="4610705"/>
            <a:ext cx="190500" cy="19050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E15CF472-F861-1563-95FB-E52D7FBBE893}"/>
              </a:ext>
            </a:extLst>
          </p:cNvPr>
          <p:cNvCxnSpPr/>
          <p:nvPr/>
        </p:nvCxnSpPr>
        <p:spPr>
          <a:xfrm flipH="1" flipV="1">
            <a:off x="4086570" y="4610705"/>
            <a:ext cx="190500" cy="19050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B76F418A-D7D2-4FF4-AF41-3AAB5CDB056F}"/>
              </a:ext>
            </a:extLst>
          </p:cNvPr>
          <p:cNvCxnSpPr/>
          <p:nvPr/>
        </p:nvCxnSpPr>
        <p:spPr>
          <a:xfrm flipH="1" flipV="1">
            <a:off x="4454870" y="4610705"/>
            <a:ext cx="190500" cy="19050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8220D4EA-C666-FC88-0312-00491A5AC888}"/>
              </a:ext>
            </a:extLst>
          </p:cNvPr>
          <p:cNvCxnSpPr/>
          <p:nvPr/>
        </p:nvCxnSpPr>
        <p:spPr>
          <a:xfrm flipH="1" flipV="1">
            <a:off x="3354203" y="4974772"/>
            <a:ext cx="190500" cy="19050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5F97264F-5993-24DB-1624-B087E240D74E}"/>
              </a:ext>
            </a:extLst>
          </p:cNvPr>
          <p:cNvCxnSpPr/>
          <p:nvPr/>
        </p:nvCxnSpPr>
        <p:spPr>
          <a:xfrm flipH="1" flipV="1">
            <a:off x="3354203" y="5347305"/>
            <a:ext cx="190500" cy="19050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EA15F66C-CB73-79D7-A20B-6BDAECA2E548}"/>
              </a:ext>
            </a:extLst>
          </p:cNvPr>
          <p:cNvCxnSpPr/>
          <p:nvPr/>
        </p:nvCxnSpPr>
        <p:spPr>
          <a:xfrm flipH="1" flipV="1">
            <a:off x="3354203" y="5719838"/>
            <a:ext cx="190500" cy="19050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FE8914D-4B26-C19A-7973-5416410DA9EF}"/>
              </a:ext>
            </a:extLst>
          </p:cNvPr>
          <p:cNvSpPr txBox="1"/>
          <p:nvPr/>
        </p:nvSpPr>
        <p:spPr>
          <a:xfrm>
            <a:off x="373880" y="6211669"/>
            <a:ext cx="1814517" cy="646331"/>
          </a:xfrm>
          <a:prstGeom prst="rect">
            <a:avLst/>
          </a:prstGeom>
          <a:noFill/>
        </p:spPr>
        <p:txBody>
          <a:bodyPr wrap="square">
            <a:spAutoFit/>
          </a:bodyPr>
          <a:lstStyle/>
          <a:p>
            <a:pPr algn="ctr"/>
            <a:r>
              <a:rPr lang="en-US" sz="1800" dirty="0">
                <a:solidFill>
                  <a:srgbClr val="595959"/>
                </a:solidFill>
                <a:latin typeface="Calibri" pitchFamily="34" charset="0"/>
                <a:ea typeface="Calibri" pitchFamily="34" charset="-122"/>
                <a:cs typeface="Calibri" pitchFamily="34" charset="-120"/>
              </a:rPr>
              <a:t> Shape</a:t>
            </a:r>
            <a:br>
              <a:rPr lang="en-US" sz="1800" dirty="0">
                <a:solidFill>
                  <a:srgbClr val="595959"/>
                </a:solidFill>
                <a:latin typeface="Calibri" pitchFamily="34" charset="0"/>
                <a:ea typeface="Calibri" pitchFamily="34" charset="-122"/>
                <a:cs typeface="Calibri" pitchFamily="34" charset="-120"/>
              </a:rPr>
            </a:br>
            <a:r>
              <a:rPr lang="en-US" sz="1800" dirty="0">
                <a:solidFill>
                  <a:srgbClr val="595959"/>
                </a:solidFill>
                <a:latin typeface="Calibri" pitchFamily="34" charset="0"/>
                <a:ea typeface="Calibri" pitchFamily="34" charset="-122"/>
                <a:cs typeface="Calibri" pitchFamily="34" charset="-120"/>
              </a:rPr>
              <a:t>1x3×384×384 </a:t>
            </a:r>
            <a:endParaRPr lang="ro-RO" dirty="0"/>
          </a:p>
        </p:txBody>
      </p:sp>
      <p:sp>
        <p:nvSpPr>
          <p:cNvPr id="20" name="TextBox 19">
            <a:extLst>
              <a:ext uri="{FF2B5EF4-FFF2-40B4-BE49-F238E27FC236}">
                <a16:creationId xmlns:a16="http://schemas.microsoft.com/office/drawing/2014/main" id="{2679C61C-AA49-DE42-B22B-2AE7D85C7C5E}"/>
              </a:ext>
            </a:extLst>
          </p:cNvPr>
          <p:cNvSpPr txBox="1"/>
          <p:nvPr/>
        </p:nvSpPr>
        <p:spPr>
          <a:xfrm>
            <a:off x="3354203" y="6211669"/>
            <a:ext cx="1814517" cy="646331"/>
          </a:xfrm>
          <a:prstGeom prst="rect">
            <a:avLst/>
          </a:prstGeom>
          <a:noFill/>
        </p:spPr>
        <p:txBody>
          <a:bodyPr wrap="square">
            <a:spAutoFit/>
          </a:bodyPr>
          <a:lstStyle/>
          <a:p>
            <a:pPr algn="ctr"/>
            <a:r>
              <a:rPr lang="en-US" sz="1800" dirty="0">
                <a:solidFill>
                  <a:srgbClr val="595959"/>
                </a:solidFill>
                <a:latin typeface="Calibri" pitchFamily="34" charset="0"/>
                <a:ea typeface="Calibri" pitchFamily="34" charset="-122"/>
                <a:cs typeface="Calibri" pitchFamily="34" charset="-120"/>
              </a:rPr>
              <a:t> Shape</a:t>
            </a:r>
            <a:br>
              <a:rPr lang="en-US" sz="1800" dirty="0">
                <a:solidFill>
                  <a:srgbClr val="595959"/>
                </a:solidFill>
                <a:latin typeface="Calibri" pitchFamily="34" charset="0"/>
                <a:ea typeface="Calibri" pitchFamily="34" charset="-122"/>
                <a:cs typeface="Calibri" pitchFamily="34" charset="-120"/>
              </a:rPr>
            </a:br>
            <a:r>
              <a:rPr lang="en-US" sz="1800" dirty="0">
                <a:solidFill>
                  <a:srgbClr val="595959"/>
                </a:solidFill>
                <a:latin typeface="Calibri" pitchFamily="34" charset="0"/>
                <a:ea typeface="Calibri" pitchFamily="34" charset="-122"/>
                <a:cs typeface="Calibri" pitchFamily="34" charset="-120"/>
              </a:rPr>
              <a:t>1x256x24x24 </a:t>
            </a:r>
            <a:endParaRPr lang="ro-RO" dirty="0"/>
          </a:p>
        </p:txBody>
      </p:sp>
      <p:pic>
        <p:nvPicPr>
          <p:cNvPr id="22" name="Picture 21">
            <a:extLst>
              <a:ext uri="{FF2B5EF4-FFF2-40B4-BE49-F238E27FC236}">
                <a16:creationId xmlns:a16="http://schemas.microsoft.com/office/drawing/2014/main" id="{3A5C77B5-F2E0-027D-634D-253E5978EF74}"/>
              </a:ext>
            </a:extLst>
          </p:cNvPr>
          <p:cNvPicPr>
            <a:picLocks noChangeAspect="1"/>
          </p:cNvPicPr>
          <p:nvPr/>
        </p:nvPicPr>
        <p:blipFill>
          <a:blip r:embed="rId5"/>
          <a:stretch>
            <a:fillRect/>
          </a:stretch>
        </p:blipFill>
        <p:spPr>
          <a:xfrm>
            <a:off x="6185626" y="2426404"/>
            <a:ext cx="5916612" cy="3152379"/>
          </a:xfrm>
          <a:prstGeom prst="rect">
            <a:avLst/>
          </a:prstGeom>
        </p:spPr>
      </p:pic>
      <mc:AlternateContent xmlns:mc="http://schemas.openxmlformats.org/markup-compatibility/2006">
        <mc:Choice xmlns:p14="http://schemas.microsoft.com/office/powerpoint/2010/main" Requires="p14">
          <p:contentPart p14:bwMode="auto" r:id="rId6">
            <p14:nvContentPartPr>
              <p14:cNvPr id="27" name="Ink 26">
                <a:extLst>
                  <a:ext uri="{FF2B5EF4-FFF2-40B4-BE49-F238E27FC236}">
                    <a16:creationId xmlns:a16="http://schemas.microsoft.com/office/drawing/2014/main" id="{2E47F89A-C718-204E-567C-165B7DA939E8}"/>
                  </a:ext>
                </a:extLst>
              </p14:cNvPr>
              <p14:cNvContentPartPr/>
              <p14:nvPr/>
            </p14:nvContentPartPr>
            <p14:xfrm>
              <a:off x="2836333" y="977078"/>
              <a:ext cx="6063435" cy="264025"/>
            </p14:xfrm>
          </p:contentPart>
        </mc:Choice>
        <mc:Fallback>
          <p:pic>
            <p:nvPicPr>
              <p:cNvPr id="27" name="Ink 26">
                <a:extLst>
                  <a:ext uri="{FF2B5EF4-FFF2-40B4-BE49-F238E27FC236}">
                    <a16:creationId xmlns:a16="http://schemas.microsoft.com/office/drawing/2014/main" id="{2E47F89A-C718-204E-567C-165B7DA939E8}"/>
                  </a:ext>
                </a:extLst>
              </p:cNvPr>
              <p:cNvPicPr/>
              <p:nvPr/>
            </p:nvPicPr>
            <p:blipFill>
              <a:blip r:embed="rId7"/>
              <a:stretch>
                <a:fillRect/>
              </a:stretch>
            </p:blipFill>
            <p:spPr>
              <a:xfrm>
                <a:off x="2818693" y="959093"/>
                <a:ext cx="6099075" cy="299636"/>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9" name="Ink 28">
                <a:extLst>
                  <a:ext uri="{FF2B5EF4-FFF2-40B4-BE49-F238E27FC236}">
                    <a16:creationId xmlns:a16="http://schemas.microsoft.com/office/drawing/2014/main" id="{FA2224F8-3607-279E-BD3B-94A23C4339D1}"/>
                  </a:ext>
                </a:extLst>
              </p14:cNvPr>
              <p14:cNvContentPartPr/>
              <p14:nvPr/>
            </p14:nvContentPartPr>
            <p14:xfrm>
              <a:off x="6772800" y="1295320"/>
              <a:ext cx="1143360" cy="948240"/>
            </p14:xfrm>
          </p:contentPart>
        </mc:Choice>
        <mc:Fallback>
          <p:pic>
            <p:nvPicPr>
              <p:cNvPr id="29" name="Ink 28">
                <a:extLst>
                  <a:ext uri="{FF2B5EF4-FFF2-40B4-BE49-F238E27FC236}">
                    <a16:creationId xmlns:a16="http://schemas.microsoft.com/office/drawing/2014/main" id="{FA2224F8-3607-279E-BD3B-94A23C4339D1}"/>
                  </a:ext>
                </a:extLst>
              </p:cNvPr>
              <p:cNvPicPr/>
              <p:nvPr/>
            </p:nvPicPr>
            <p:blipFill>
              <a:blip r:embed="rId9"/>
              <a:stretch>
                <a:fillRect/>
              </a:stretch>
            </p:blipFill>
            <p:spPr>
              <a:xfrm>
                <a:off x="6755160" y="1277320"/>
                <a:ext cx="1179000" cy="983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1" name="Ink 30">
                <a:extLst>
                  <a:ext uri="{FF2B5EF4-FFF2-40B4-BE49-F238E27FC236}">
                    <a16:creationId xmlns:a16="http://schemas.microsoft.com/office/drawing/2014/main" id="{09D4B9F0-1BDD-6A51-7E21-5CF9EBEEA6D7}"/>
                  </a:ext>
                </a:extLst>
              </p14:cNvPr>
              <p14:cNvContentPartPr/>
              <p14:nvPr/>
            </p14:nvContentPartPr>
            <p14:xfrm>
              <a:off x="7662000" y="2226640"/>
              <a:ext cx="297360" cy="25920"/>
            </p14:xfrm>
          </p:contentPart>
        </mc:Choice>
        <mc:Fallback>
          <p:pic>
            <p:nvPicPr>
              <p:cNvPr id="31" name="Ink 30">
                <a:extLst>
                  <a:ext uri="{FF2B5EF4-FFF2-40B4-BE49-F238E27FC236}">
                    <a16:creationId xmlns:a16="http://schemas.microsoft.com/office/drawing/2014/main" id="{09D4B9F0-1BDD-6A51-7E21-5CF9EBEEA6D7}"/>
                  </a:ext>
                </a:extLst>
              </p:cNvPr>
              <p:cNvPicPr/>
              <p:nvPr/>
            </p:nvPicPr>
            <p:blipFill>
              <a:blip r:embed="rId11"/>
              <a:stretch>
                <a:fillRect/>
              </a:stretch>
            </p:blipFill>
            <p:spPr>
              <a:xfrm>
                <a:off x="7644000" y="2208640"/>
                <a:ext cx="3330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4" name="Ink 33">
                <a:extLst>
                  <a:ext uri="{FF2B5EF4-FFF2-40B4-BE49-F238E27FC236}">
                    <a16:creationId xmlns:a16="http://schemas.microsoft.com/office/drawing/2014/main" id="{D2826ED9-5DF7-20C9-A368-8A83A68A390C}"/>
                  </a:ext>
                </a:extLst>
              </p14:cNvPr>
              <p14:cNvContentPartPr/>
              <p14:nvPr/>
            </p14:nvContentPartPr>
            <p14:xfrm>
              <a:off x="7856760" y="1972480"/>
              <a:ext cx="101880" cy="254160"/>
            </p14:xfrm>
          </p:contentPart>
        </mc:Choice>
        <mc:Fallback>
          <p:pic>
            <p:nvPicPr>
              <p:cNvPr id="34" name="Ink 33">
                <a:extLst>
                  <a:ext uri="{FF2B5EF4-FFF2-40B4-BE49-F238E27FC236}">
                    <a16:creationId xmlns:a16="http://schemas.microsoft.com/office/drawing/2014/main" id="{D2826ED9-5DF7-20C9-A368-8A83A68A390C}"/>
                  </a:ext>
                </a:extLst>
              </p:cNvPr>
              <p:cNvPicPr/>
              <p:nvPr/>
            </p:nvPicPr>
            <p:blipFill>
              <a:blip r:embed="rId13"/>
              <a:stretch>
                <a:fillRect/>
              </a:stretch>
            </p:blipFill>
            <p:spPr>
              <a:xfrm>
                <a:off x="7839120" y="1954840"/>
                <a:ext cx="13752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5" name="Ink 34">
                <a:extLst>
                  <a:ext uri="{FF2B5EF4-FFF2-40B4-BE49-F238E27FC236}">
                    <a16:creationId xmlns:a16="http://schemas.microsoft.com/office/drawing/2014/main" id="{C666FE6F-1636-BD2E-83FA-E9DA36BAA32C}"/>
                  </a:ext>
                </a:extLst>
              </p14:cNvPr>
              <p14:cNvContentPartPr/>
              <p14:nvPr/>
            </p14:nvContentPartPr>
            <p14:xfrm>
              <a:off x="7965120" y="2245240"/>
              <a:ext cx="360" cy="360"/>
            </p14:xfrm>
          </p:contentPart>
        </mc:Choice>
        <mc:Fallback>
          <p:pic>
            <p:nvPicPr>
              <p:cNvPr id="35" name="Ink 34">
                <a:extLst>
                  <a:ext uri="{FF2B5EF4-FFF2-40B4-BE49-F238E27FC236}">
                    <a16:creationId xmlns:a16="http://schemas.microsoft.com/office/drawing/2014/main" id="{C666FE6F-1636-BD2E-83FA-E9DA36BAA32C}"/>
                  </a:ext>
                </a:extLst>
              </p:cNvPr>
              <p:cNvPicPr/>
              <p:nvPr/>
            </p:nvPicPr>
            <p:blipFill>
              <a:blip r:embed="rId15"/>
              <a:stretch>
                <a:fillRect/>
              </a:stretch>
            </p:blipFill>
            <p:spPr>
              <a:xfrm>
                <a:off x="7947480" y="2227600"/>
                <a:ext cx="36000" cy="36000"/>
              </a:xfrm>
              <a:prstGeom prst="rect">
                <a:avLst/>
              </a:prstGeom>
            </p:spPr>
          </p:pic>
        </mc:Fallback>
      </mc:AlternateContent>
    </p:spTree>
    <p:extLst>
      <p:ext uri="{BB962C8B-B14F-4D97-AF65-F5344CB8AC3E}">
        <p14:creationId xmlns:p14="http://schemas.microsoft.com/office/powerpoint/2010/main" val="1997396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Codebook Quantization: Continuous → Discrete</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model.quantize() replaces each latent vector with the nearest entry in the 1024-entry codebook.</a:t>
            </a:r>
            <a:endParaRPr lang="en-US" sz="1733" dirty="0"/>
          </a:p>
        </p:txBody>
      </p:sp>
      <p:sp>
        <p:nvSpPr>
          <p:cNvPr id="48" name="Shape 0">
            <a:extLst>
              <a:ext uri="{FF2B5EF4-FFF2-40B4-BE49-F238E27FC236}">
                <a16:creationId xmlns:a16="http://schemas.microsoft.com/office/drawing/2014/main" id="{E3ED1127-D0E0-A5BB-0570-2C0EC20E3413}"/>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51" name="Shape 6">
            <a:extLst>
              <a:ext uri="{FF2B5EF4-FFF2-40B4-BE49-F238E27FC236}">
                <a16:creationId xmlns:a16="http://schemas.microsoft.com/office/drawing/2014/main" id="{CAFF7E3D-7F0A-1995-CC52-0F253B11B070}"/>
              </a:ext>
            </a:extLst>
          </p:cNvPr>
          <p:cNvSpPr/>
          <p:nvPr/>
        </p:nvSpPr>
        <p:spPr>
          <a:xfrm>
            <a:off x="334595" y="1370220"/>
            <a:ext cx="11522810" cy="723392"/>
          </a:xfrm>
          <a:prstGeom prst="rect">
            <a:avLst/>
          </a:prstGeom>
          <a:solidFill>
            <a:srgbClr val="1E2A3A"/>
          </a:solidFill>
          <a:ln w="10160">
            <a:solidFill>
              <a:srgbClr val="00E5FF"/>
            </a:solidFill>
            <a:prstDash val="solid"/>
          </a:ln>
        </p:spPr>
        <p:txBody>
          <a:bodyPr/>
          <a:lstStyle/>
          <a:p>
            <a:r>
              <a:rPr lang="en-US" sz="1200" dirty="0" err="1">
                <a:solidFill>
                  <a:srgbClr val="A8D8EA"/>
                </a:solidFill>
                <a:latin typeface="Consolas" pitchFamily="34" charset="0"/>
                <a:ea typeface="Consolas" pitchFamily="34" charset="-122"/>
                <a:cs typeface="Consolas" pitchFamily="34" charset="-120"/>
              </a:rPr>
              <a:t>z_q</a:t>
            </a:r>
            <a:r>
              <a:rPr lang="en-US" sz="1200" dirty="0">
                <a:solidFill>
                  <a:srgbClr val="A8D8EA"/>
                </a:solidFill>
                <a:latin typeface="Consolas" pitchFamily="34" charset="0"/>
                <a:ea typeface="Consolas" pitchFamily="34" charset="-122"/>
                <a:cs typeface="Consolas" pitchFamily="34" charset="-120"/>
              </a:rPr>
              <a:t>, _ , indices= </a:t>
            </a:r>
            <a:r>
              <a:rPr lang="en-US" sz="1200" dirty="0" err="1">
                <a:solidFill>
                  <a:srgbClr val="A8D8EA"/>
                </a:solidFill>
                <a:latin typeface="Consolas" pitchFamily="34" charset="0"/>
                <a:ea typeface="Consolas" pitchFamily="34" charset="-122"/>
                <a:cs typeface="Consolas" pitchFamily="34" charset="-120"/>
              </a:rPr>
              <a:t>model.quantize</a:t>
            </a:r>
            <a:r>
              <a:rPr lang="en-US" sz="1200" dirty="0">
                <a:solidFill>
                  <a:srgbClr val="A8D8EA"/>
                </a:solidFill>
                <a:latin typeface="Consolas" pitchFamily="34" charset="0"/>
                <a:ea typeface="Consolas" pitchFamily="34" charset="-122"/>
                <a:cs typeface="Consolas" pitchFamily="34" charset="-120"/>
              </a:rPr>
              <a:t>(z)    # Quantizes the latent vectors by replacing each one with its nearest neighbor in the codebook</a:t>
            </a:r>
          </a:p>
          <a:p>
            <a:r>
              <a:rPr lang="en-US" sz="1200" dirty="0" err="1">
                <a:solidFill>
                  <a:srgbClr val="A8D8EA"/>
                </a:solidFill>
                <a:latin typeface="Consolas" pitchFamily="34" charset="0"/>
                <a:ea typeface="Consolas" pitchFamily="34" charset="-122"/>
                <a:cs typeface="Consolas" pitchFamily="34" charset="-120"/>
              </a:rPr>
              <a:t>int_sequence</a:t>
            </a:r>
            <a:r>
              <a:rPr lang="en-US" sz="1200" dirty="0">
                <a:solidFill>
                  <a:srgbClr val="A8D8EA"/>
                </a:solidFill>
                <a:latin typeface="Consolas" pitchFamily="34" charset="0"/>
                <a:ea typeface="Consolas" pitchFamily="34" charset="-122"/>
                <a:cs typeface="Consolas" pitchFamily="34" charset="-120"/>
              </a:rPr>
              <a:t> = indices[2]    # Extracts the sequence of integers (indices of the selected codebook vectors)</a:t>
            </a:r>
          </a:p>
          <a:p>
            <a:r>
              <a:rPr lang="en-US" sz="1200" dirty="0">
                <a:solidFill>
                  <a:srgbClr val="A8D8EA"/>
                </a:solidFill>
                <a:latin typeface="Consolas" pitchFamily="34" charset="0"/>
                <a:ea typeface="Consolas" pitchFamily="34" charset="-122"/>
                <a:cs typeface="Consolas" pitchFamily="34" charset="-120"/>
              </a:rPr>
              <a:t>print(</a:t>
            </a:r>
            <a:r>
              <a:rPr lang="en-US" sz="1200" dirty="0" err="1">
                <a:solidFill>
                  <a:srgbClr val="A8D8EA"/>
                </a:solidFill>
                <a:latin typeface="Consolas" pitchFamily="34" charset="0"/>
                <a:ea typeface="Consolas" pitchFamily="34" charset="-122"/>
                <a:cs typeface="Consolas" pitchFamily="34" charset="-120"/>
              </a:rPr>
              <a:t>int_sequence</a:t>
            </a:r>
            <a:r>
              <a:rPr lang="en-US" sz="1200" dirty="0">
                <a:solidFill>
                  <a:srgbClr val="A8D8EA"/>
                </a:solidFill>
                <a:latin typeface="Consolas" pitchFamily="34" charset="0"/>
                <a:ea typeface="Consolas" pitchFamily="34" charset="-122"/>
                <a:cs typeface="Consolas" pitchFamily="34" charset="-120"/>
              </a:rPr>
              <a:t>)</a:t>
            </a:r>
          </a:p>
        </p:txBody>
      </p:sp>
      <p:sp>
        <p:nvSpPr>
          <p:cNvPr id="52" name="Text 7">
            <a:extLst>
              <a:ext uri="{FF2B5EF4-FFF2-40B4-BE49-F238E27FC236}">
                <a16:creationId xmlns:a16="http://schemas.microsoft.com/office/drawing/2014/main" id="{3CDF984A-6751-8571-864B-0B2A828E85BB}"/>
              </a:ext>
            </a:extLst>
          </p:cNvPr>
          <p:cNvSpPr/>
          <p:nvPr/>
        </p:nvSpPr>
        <p:spPr>
          <a:xfrm>
            <a:off x="597408" y="2245226"/>
            <a:ext cx="10875264" cy="4011971"/>
          </a:xfrm>
          <a:prstGeom prst="rect">
            <a:avLst/>
          </a:prstGeom>
          <a:noFill/>
          <a:ln/>
        </p:spPr>
        <p:txBody>
          <a:bodyPr wrap="square" lIns="0" tIns="0" rIns="0" bIns="0" rtlCol="0" anchor="t"/>
          <a:lstStyle/>
          <a:p>
            <a:endParaRPr lang="en-US" sz="1307" dirty="0"/>
          </a:p>
        </p:txBody>
      </p:sp>
      <p:sp>
        <p:nvSpPr>
          <p:cNvPr id="53" name="Shape 5">
            <a:extLst>
              <a:ext uri="{FF2B5EF4-FFF2-40B4-BE49-F238E27FC236}">
                <a16:creationId xmlns:a16="http://schemas.microsoft.com/office/drawing/2014/main" id="{D20800AA-EF10-BF78-824B-ED5C05181DEA}"/>
              </a:ext>
            </a:extLst>
          </p:cNvPr>
          <p:cNvSpPr/>
          <p:nvPr/>
        </p:nvSpPr>
        <p:spPr>
          <a:xfrm>
            <a:off x="334595" y="2183317"/>
            <a:ext cx="11522809" cy="723392"/>
          </a:xfrm>
          <a:prstGeom prst="rect">
            <a:avLst/>
          </a:prstGeom>
          <a:solidFill>
            <a:srgbClr val="E8F5E9"/>
          </a:solidFill>
          <a:ln w="12700">
            <a:solidFill>
              <a:srgbClr val="A5D6A7"/>
            </a:solidFill>
            <a:prstDash val="solid"/>
          </a:ln>
        </p:spPr>
      </p:sp>
      <p:sp>
        <p:nvSpPr>
          <p:cNvPr id="54" name="Text 6">
            <a:extLst>
              <a:ext uri="{FF2B5EF4-FFF2-40B4-BE49-F238E27FC236}">
                <a16:creationId xmlns:a16="http://schemas.microsoft.com/office/drawing/2014/main" id="{F01122F3-BDE4-AA0B-DA57-CCFDA13A6CC2}"/>
              </a:ext>
            </a:extLst>
          </p:cNvPr>
          <p:cNvSpPr/>
          <p:nvPr/>
        </p:nvSpPr>
        <p:spPr>
          <a:xfrm>
            <a:off x="462612" y="2174893"/>
            <a:ext cx="11175886" cy="792324"/>
          </a:xfrm>
          <a:prstGeom prst="rect">
            <a:avLst/>
          </a:prstGeom>
          <a:noFill/>
          <a:ln/>
        </p:spPr>
        <p:txBody>
          <a:bodyPr wrap="square" rtlCol="0" anchor="t"/>
          <a:lstStyle/>
          <a:p>
            <a:r>
              <a:rPr lang="en-US" sz="1600" b="1" dirty="0">
                <a:solidFill>
                  <a:srgbClr val="2E7D5E"/>
                </a:solidFill>
                <a:latin typeface="Calibri" pitchFamily="34" charset="0"/>
                <a:ea typeface="Calibri" pitchFamily="34" charset="-122"/>
                <a:cs typeface="Calibri" pitchFamily="34" charset="-120"/>
              </a:rPr>
              <a:t>Expected output</a:t>
            </a:r>
          </a:p>
          <a:p>
            <a:r>
              <a:rPr lang="en-US" sz="1400" b="1" dirty="0">
                <a:solidFill>
                  <a:srgbClr val="2E7D5E"/>
                </a:solidFill>
                <a:latin typeface="Calibri" pitchFamily="34" charset="0"/>
                <a:ea typeface="Calibri" pitchFamily="34" charset="-122"/>
                <a:cs typeface="Calibri" pitchFamily="34" charset="-120"/>
              </a:rPr>
              <a:t>
</a:t>
            </a:r>
            <a:r>
              <a:rPr lang="en-US" sz="1400" dirty="0">
                <a:solidFill>
                  <a:srgbClr val="1B4F2A"/>
                </a:solidFill>
                <a:latin typeface="Calibri" pitchFamily="34" charset="0"/>
                <a:ea typeface="Calibri" pitchFamily="34" charset="-122"/>
                <a:cs typeface="Calibri" pitchFamily="34" charset="-120"/>
              </a:rPr>
              <a:t>tensor([ 873,  862,  873, …, 148], device='cuda:0')</a:t>
            </a:r>
            <a:endParaRPr lang="en-US" sz="1400" dirty="0"/>
          </a:p>
          <a:p>
            <a:pPr marL="0" indent="0">
              <a:buNone/>
            </a:pPr>
            <a:endParaRPr lang="en-US" sz="1400" dirty="0"/>
          </a:p>
        </p:txBody>
      </p:sp>
      <p:pic>
        <p:nvPicPr>
          <p:cNvPr id="56" name="Picture 55">
            <a:extLst>
              <a:ext uri="{FF2B5EF4-FFF2-40B4-BE49-F238E27FC236}">
                <a16:creationId xmlns:a16="http://schemas.microsoft.com/office/drawing/2014/main" id="{842F7E0D-A00E-6082-6425-0A58397901DF}"/>
              </a:ext>
            </a:extLst>
          </p:cNvPr>
          <p:cNvPicPr>
            <a:picLocks noChangeAspect="1"/>
          </p:cNvPicPr>
          <p:nvPr/>
        </p:nvPicPr>
        <p:blipFill>
          <a:blip r:embed="rId3"/>
          <a:stretch>
            <a:fillRect/>
          </a:stretch>
        </p:blipFill>
        <p:spPr>
          <a:xfrm>
            <a:off x="236373" y="3117430"/>
            <a:ext cx="7366570" cy="3605946"/>
          </a:xfrm>
          <a:prstGeom prst="rect">
            <a:avLst/>
          </a:prstGeom>
        </p:spPr>
      </p:pic>
      <p:sp>
        <p:nvSpPr>
          <p:cNvPr id="58" name="TextBox 57">
            <a:extLst>
              <a:ext uri="{FF2B5EF4-FFF2-40B4-BE49-F238E27FC236}">
                <a16:creationId xmlns:a16="http://schemas.microsoft.com/office/drawing/2014/main" id="{F8D478FD-7ADD-9181-A49D-E3D575B7BDDF}"/>
              </a:ext>
            </a:extLst>
          </p:cNvPr>
          <p:cNvSpPr txBox="1"/>
          <p:nvPr/>
        </p:nvSpPr>
        <p:spPr>
          <a:xfrm>
            <a:off x="5770651" y="3029126"/>
            <a:ext cx="6339156" cy="738664"/>
          </a:xfrm>
          <a:prstGeom prst="rect">
            <a:avLst/>
          </a:prstGeom>
          <a:noFill/>
        </p:spPr>
        <p:txBody>
          <a:bodyPr wrap="square">
            <a:spAutoFit/>
          </a:bodyPr>
          <a:lstStyle/>
          <a:p>
            <a:pPr marL="285750" indent="-285750">
              <a:buFont typeface="Arial" panose="020B0604020202020204" pitchFamily="34" charset="0"/>
              <a:buChar char="•"/>
            </a:pPr>
            <a:r>
              <a:rPr lang="en-US" sz="1400" dirty="0">
                <a:solidFill>
                  <a:srgbClr val="1F3864"/>
                </a:solidFill>
                <a:latin typeface="Calibri" pitchFamily="34" charset="0"/>
                <a:ea typeface="Calibri" pitchFamily="34" charset="-122"/>
                <a:cs typeface="Calibri" pitchFamily="34" charset="-120"/>
              </a:rPr>
              <a:t>The codebook is a learnable lookup table of 1024 vectors, each 256-dimensional.</a:t>
            </a:r>
          </a:p>
          <a:p>
            <a:pPr marL="285750" indent="-285750">
              <a:buFont typeface="Arial" panose="020B0604020202020204" pitchFamily="34" charset="0"/>
              <a:buChar char="•"/>
            </a:pPr>
            <a:r>
              <a:rPr lang="en-US" sz="1400" dirty="0">
                <a:solidFill>
                  <a:srgbClr val="1F3864"/>
                </a:solidFill>
                <a:latin typeface="Calibri" pitchFamily="34" charset="0"/>
                <a:ea typeface="Calibri" pitchFamily="34" charset="-122"/>
                <a:cs typeface="Calibri" pitchFamily="34" charset="-120"/>
              </a:rPr>
              <a:t>Quantization = nearest-</a:t>
            </a:r>
            <a:r>
              <a:rPr lang="en-US" sz="1400" dirty="0" err="1">
                <a:solidFill>
                  <a:srgbClr val="1F3864"/>
                </a:solidFill>
                <a:latin typeface="Calibri" pitchFamily="34" charset="0"/>
                <a:ea typeface="Calibri" pitchFamily="34" charset="-122"/>
                <a:cs typeface="Calibri" pitchFamily="34" charset="-120"/>
              </a:rPr>
              <a:t>neighbour</a:t>
            </a:r>
            <a:r>
              <a:rPr lang="en-US" sz="1400" dirty="0">
                <a:solidFill>
                  <a:srgbClr val="1F3864"/>
                </a:solidFill>
                <a:latin typeface="Calibri" pitchFamily="34" charset="0"/>
                <a:ea typeface="Calibri" pitchFamily="34" charset="-122"/>
                <a:cs typeface="Calibri" pitchFamily="34" charset="-120"/>
              </a:rPr>
              <a:t> search in 256-dim space. </a:t>
            </a:r>
          </a:p>
          <a:p>
            <a:pPr marL="285750" indent="-285750">
              <a:buFont typeface="Arial" panose="020B0604020202020204" pitchFamily="34" charset="0"/>
              <a:buChar char="•"/>
            </a:pPr>
            <a:r>
              <a:rPr lang="en-US" sz="1400" dirty="0">
                <a:solidFill>
                  <a:srgbClr val="1F3864"/>
                </a:solidFill>
                <a:latin typeface="Calibri" pitchFamily="34" charset="0"/>
                <a:ea typeface="Calibri" pitchFamily="34" charset="-122"/>
                <a:cs typeface="Calibri" pitchFamily="34" charset="-120"/>
              </a:rPr>
              <a:t>The result is a sequence of 576 integers, each in [0, 1023].</a:t>
            </a:r>
            <a:endParaRPr lang="en-US" sz="1400" dirty="0"/>
          </a:p>
        </p:txBody>
      </p:sp>
      <p:cxnSp>
        <p:nvCxnSpPr>
          <p:cNvPr id="60" name="Straight Connector 59">
            <a:extLst>
              <a:ext uri="{FF2B5EF4-FFF2-40B4-BE49-F238E27FC236}">
                <a16:creationId xmlns:a16="http://schemas.microsoft.com/office/drawing/2014/main" id="{41C09B6B-6B52-4FF6-CAB7-91646EB3F35E}"/>
              </a:ext>
            </a:extLst>
          </p:cNvPr>
          <p:cNvCxnSpPr>
            <a:cxnSpLocks/>
          </p:cNvCxnSpPr>
          <p:nvPr/>
        </p:nvCxnSpPr>
        <p:spPr>
          <a:xfrm flipH="1" flipV="1">
            <a:off x="695325" y="4670425"/>
            <a:ext cx="195912" cy="203200"/>
          </a:xfrm>
          <a:prstGeom prst="line">
            <a:avLst/>
          </a:prstGeom>
        </p:spPr>
        <p:style>
          <a:lnRef idx="2">
            <a:schemeClr val="dk1"/>
          </a:lnRef>
          <a:fillRef idx="0">
            <a:schemeClr val="dk1"/>
          </a:fillRef>
          <a:effectRef idx="1">
            <a:schemeClr val="dk1"/>
          </a:effectRef>
          <a:fontRef idx="minor">
            <a:schemeClr val="tx1"/>
          </a:fontRef>
        </p:style>
      </p:cxnSp>
      <p:cxnSp>
        <p:nvCxnSpPr>
          <p:cNvPr id="63" name="Straight Connector 62">
            <a:extLst>
              <a:ext uri="{FF2B5EF4-FFF2-40B4-BE49-F238E27FC236}">
                <a16:creationId xmlns:a16="http://schemas.microsoft.com/office/drawing/2014/main" id="{1E5CE033-2C1B-F64D-5194-9253741C9FC5}"/>
              </a:ext>
            </a:extLst>
          </p:cNvPr>
          <p:cNvCxnSpPr>
            <a:cxnSpLocks/>
          </p:cNvCxnSpPr>
          <p:nvPr/>
        </p:nvCxnSpPr>
        <p:spPr>
          <a:xfrm flipH="1" flipV="1">
            <a:off x="1111848" y="4670425"/>
            <a:ext cx="195912" cy="203200"/>
          </a:xfrm>
          <a:prstGeom prst="line">
            <a:avLst/>
          </a:prstGeom>
        </p:spPr>
        <p:style>
          <a:lnRef idx="2">
            <a:schemeClr val="dk1"/>
          </a:lnRef>
          <a:fillRef idx="0">
            <a:schemeClr val="dk1"/>
          </a:fillRef>
          <a:effectRef idx="1">
            <a:schemeClr val="dk1"/>
          </a:effectRef>
          <a:fontRef idx="minor">
            <a:schemeClr val="tx1"/>
          </a:fontRef>
        </p:style>
      </p:cxnSp>
      <p:cxnSp>
        <p:nvCxnSpPr>
          <p:cNvPr id="64" name="Straight Connector 63">
            <a:extLst>
              <a:ext uri="{FF2B5EF4-FFF2-40B4-BE49-F238E27FC236}">
                <a16:creationId xmlns:a16="http://schemas.microsoft.com/office/drawing/2014/main" id="{CF03AFB7-F58F-37F3-017A-73D52CEB2BE0}"/>
              </a:ext>
            </a:extLst>
          </p:cNvPr>
          <p:cNvCxnSpPr>
            <a:cxnSpLocks/>
          </p:cNvCxnSpPr>
          <p:nvPr/>
        </p:nvCxnSpPr>
        <p:spPr>
          <a:xfrm flipH="1" flipV="1">
            <a:off x="1570839" y="4670425"/>
            <a:ext cx="195912" cy="203200"/>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8ACD6C96-D44C-D2F2-5E27-F1B6A4D45E54}"/>
              </a:ext>
            </a:extLst>
          </p:cNvPr>
          <p:cNvCxnSpPr>
            <a:cxnSpLocks/>
          </p:cNvCxnSpPr>
          <p:nvPr/>
        </p:nvCxnSpPr>
        <p:spPr>
          <a:xfrm flipH="1" flipV="1">
            <a:off x="260350" y="5113506"/>
            <a:ext cx="202262" cy="203200"/>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012D6EFA-16C0-7243-C980-C1413AD313F4}"/>
              </a:ext>
            </a:extLst>
          </p:cNvPr>
          <p:cNvCxnSpPr>
            <a:cxnSpLocks/>
          </p:cNvCxnSpPr>
          <p:nvPr/>
        </p:nvCxnSpPr>
        <p:spPr>
          <a:xfrm flipH="1" flipV="1">
            <a:off x="260350" y="5527427"/>
            <a:ext cx="202262" cy="20320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13573B14-ABB6-DB91-889A-B1966E17A119}"/>
              </a:ext>
            </a:extLst>
          </p:cNvPr>
          <p:cNvCxnSpPr>
            <a:cxnSpLocks/>
          </p:cNvCxnSpPr>
          <p:nvPr/>
        </p:nvCxnSpPr>
        <p:spPr>
          <a:xfrm flipH="1" flipV="1">
            <a:off x="260350" y="5941348"/>
            <a:ext cx="202262" cy="203200"/>
          </a:xfrm>
          <a:prstGeom prst="line">
            <a:avLst/>
          </a:prstGeom>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7C57052D-5FC4-DAA5-E6D4-3FED2E86CA1E}"/>
              </a:ext>
            </a:extLst>
          </p:cNvPr>
          <p:cNvCxnSpPr>
            <a:cxnSpLocks/>
          </p:cNvCxnSpPr>
          <p:nvPr/>
        </p:nvCxnSpPr>
        <p:spPr>
          <a:xfrm flipH="1" flipV="1">
            <a:off x="4368801" y="4684712"/>
            <a:ext cx="198438" cy="209550"/>
          </a:xfrm>
          <a:prstGeom prst="line">
            <a:avLst/>
          </a:prstGeom>
        </p:spPr>
        <p:style>
          <a:lnRef idx="2">
            <a:schemeClr val="dk1"/>
          </a:lnRef>
          <a:fillRef idx="0">
            <a:schemeClr val="dk1"/>
          </a:fillRef>
          <a:effectRef idx="1">
            <a:schemeClr val="dk1"/>
          </a:effectRef>
          <a:fontRef idx="minor">
            <a:schemeClr val="tx1"/>
          </a:fontRef>
        </p:style>
      </p:cxnSp>
      <p:cxnSp>
        <p:nvCxnSpPr>
          <p:cNvPr id="77" name="Straight Connector 76">
            <a:extLst>
              <a:ext uri="{FF2B5EF4-FFF2-40B4-BE49-F238E27FC236}">
                <a16:creationId xmlns:a16="http://schemas.microsoft.com/office/drawing/2014/main" id="{D2ADFA71-C071-C192-7931-19962F9856ED}"/>
              </a:ext>
            </a:extLst>
          </p:cNvPr>
          <p:cNvCxnSpPr>
            <a:cxnSpLocks/>
          </p:cNvCxnSpPr>
          <p:nvPr/>
        </p:nvCxnSpPr>
        <p:spPr>
          <a:xfrm flipH="1" flipV="1">
            <a:off x="4799417" y="4684712"/>
            <a:ext cx="198438" cy="209550"/>
          </a:xfrm>
          <a:prstGeom prst="line">
            <a:avLst/>
          </a:prstGeom>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F3DA6C42-D495-FBC5-932B-E2FDC4934BB1}"/>
              </a:ext>
            </a:extLst>
          </p:cNvPr>
          <p:cNvCxnSpPr>
            <a:cxnSpLocks/>
          </p:cNvCxnSpPr>
          <p:nvPr/>
        </p:nvCxnSpPr>
        <p:spPr>
          <a:xfrm flipH="1" flipV="1">
            <a:off x="5244315" y="4688416"/>
            <a:ext cx="198438" cy="209550"/>
          </a:xfrm>
          <a:prstGeom prst="line">
            <a:avLst/>
          </a:prstGeom>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D4F4A920-8EF2-EFFF-7EB1-CD0E675F60E1}"/>
              </a:ext>
            </a:extLst>
          </p:cNvPr>
          <p:cNvCxnSpPr>
            <a:cxnSpLocks/>
          </p:cNvCxnSpPr>
          <p:nvPr/>
        </p:nvCxnSpPr>
        <p:spPr>
          <a:xfrm flipH="1" flipV="1">
            <a:off x="3934883" y="5113506"/>
            <a:ext cx="205722" cy="203200"/>
          </a:xfrm>
          <a:prstGeom prst="line">
            <a:avLst/>
          </a:prstGeom>
        </p:spPr>
        <p:style>
          <a:lnRef idx="2">
            <a:schemeClr val="dk1"/>
          </a:lnRef>
          <a:fillRef idx="0">
            <a:schemeClr val="dk1"/>
          </a:fillRef>
          <a:effectRef idx="1">
            <a:schemeClr val="dk1"/>
          </a:effectRef>
          <a:fontRef idx="minor">
            <a:schemeClr val="tx1"/>
          </a:fontRef>
        </p:style>
      </p:cxnSp>
      <p:cxnSp>
        <p:nvCxnSpPr>
          <p:cNvPr id="82" name="Straight Connector 81">
            <a:extLst>
              <a:ext uri="{FF2B5EF4-FFF2-40B4-BE49-F238E27FC236}">
                <a16:creationId xmlns:a16="http://schemas.microsoft.com/office/drawing/2014/main" id="{81946276-B9F5-56D2-7183-19C3CCEA82EA}"/>
              </a:ext>
            </a:extLst>
          </p:cNvPr>
          <p:cNvCxnSpPr>
            <a:cxnSpLocks/>
          </p:cNvCxnSpPr>
          <p:nvPr/>
        </p:nvCxnSpPr>
        <p:spPr>
          <a:xfrm flipH="1" flipV="1">
            <a:off x="3934883" y="5527427"/>
            <a:ext cx="205722" cy="203200"/>
          </a:xfrm>
          <a:prstGeom prst="line">
            <a:avLst/>
          </a:prstGeom>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14905214-92B2-75BC-7B7C-75C466C489D2}"/>
              </a:ext>
            </a:extLst>
          </p:cNvPr>
          <p:cNvCxnSpPr>
            <a:cxnSpLocks/>
          </p:cNvCxnSpPr>
          <p:nvPr/>
        </p:nvCxnSpPr>
        <p:spPr>
          <a:xfrm flipH="1" flipV="1">
            <a:off x="3934883" y="5987111"/>
            <a:ext cx="205722" cy="2032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From Integer Sequence Back to a High-Resolution Image</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Map each integer to its codebook embedding, reshape, then decode with post_quant_conv + decoder.</a:t>
            </a:r>
            <a:endParaRPr lang="en-US" sz="1733" dirty="0"/>
          </a:p>
        </p:txBody>
      </p:sp>
      <p:sp>
        <p:nvSpPr>
          <p:cNvPr id="45" name="Shape 0">
            <a:extLst>
              <a:ext uri="{FF2B5EF4-FFF2-40B4-BE49-F238E27FC236}">
                <a16:creationId xmlns:a16="http://schemas.microsoft.com/office/drawing/2014/main" id="{ACCF611A-39C4-207A-4708-024B7D25FF8D}"/>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8" name="Shape 6">
            <a:extLst>
              <a:ext uri="{FF2B5EF4-FFF2-40B4-BE49-F238E27FC236}">
                <a16:creationId xmlns:a16="http://schemas.microsoft.com/office/drawing/2014/main" id="{87C383A6-A31A-1052-CE80-B080883C3ED7}"/>
              </a:ext>
            </a:extLst>
          </p:cNvPr>
          <p:cNvSpPr/>
          <p:nvPr/>
        </p:nvSpPr>
        <p:spPr>
          <a:xfrm>
            <a:off x="334595" y="1370220"/>
            <a:ext cx="11522810" cy="1378186"/>
          </a:xfrm>
          <a:prstGeom prst="rect">
            <a:avLst/>
          </a:prstGeom>
          <a:solidFill>
            <a:srgbClr val="1E2A3A"/>
          </a:solidFill>
          <a:ln w="10160">
            <a:solidFill>
              <a:srgbClr val="00E5FF"/>
            </a:solidFill>
            <a:prstDash val="solid"/>
          </a:ln>
        </p:spPr>
        <p:txBody>
          <a:bodyPr/>
          <a:lstStyle/>
          <a:p>
            <a:r>
              <a:rPr lang="en-US" sz="1200" dirty="0">
                <a:solidFill>
                  <a:srgbClr val="A8D8EA"/>
                </a:solidFill>
                <a:latin typeface="Consolas" pitchFamily="34" charset="0"/>
                <a:ea typeface="Consolas" pitchFamily="34" charset="-122"/>
                <a:cs typeface="Consolas" pitchFamily="34" charset="-120"/>
              </a:rPr>
              <a:t>z_q2 = </a:t>
            </a:r>
            <a:r>
              <a:rPr lang="en-US" sz="1200" dirty="0" err="1">
                <a:solidFill>
                  <a:srgbClr val="A8D8EA"/>
                </a:solidFill>
                <a:latin typeface="Consolas" pitchFamily="34" charset="0"/>
                <a:ea typeface="Consolas" pitchFamily="34" charset="-122"/>
                <a:cs typeface="Consolas" pitchFamily="34" charset="-120"/>
              </a:rPr>
              <a:t>model.quantize.embedding</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int_sequence</a:t>
            </a:r>
            <a:r>
              <a:rPr lang="en-US" sz="1200" dirty="0">
                <a:solidFill>
                  <a:srgbClr val="A8D8EA"/>
                </a:solidFill>
                <a:latin typeface="Consolas" pitchFamily="34" charset="0"/>
                <a:ea typeface="Consolas" pitchFamily="34" charset="-122"/>
                <a:cs typeface="Consolas" pitchFamily="34" charset="-120"/>
              </a:rPr>
              <a:t>)</a:t>
            </a:r>
          </a:p>
          <a:p>
            <a:r>
              <a:rPr lang="en-US" sz="1200" dirty="0">
                <a:solidFill>
                  <a:srgbClr val="A8D8EA"/>
                </a:solidFill>
                <a:latin typeface="Consolas" pitchFamily="34" charset="0"/>
                <a:ea typeface="Consolas" pitchFamily="34" charset="-122"/>
                <a:cs typeface="Consolas" pitchFamily="34" charset="-120"/>
              </a:rPr>
              <a:t>z_q2 = z_q2.permute(1,0).view(</a:t>
            </a:r>
            <a:r>
              <a:rPr lang="en-US" sz="1200" dirty="0" err="1">
                <a:solidFill>
                  <a:srgbClr val="A8D8EA"/>
                </a:solidFill>
                <a:latin typeface="Consolas" pitchFamily="34" charset="0"/>
                <a:ea typeface="Consolas" pitchFamily="34" charset="-122"/>
                <a:cs typeface="Consolas" pitchFamily="34" charset="-120"/>
              </a:rPr>
              <a:t>z_q.shape</a:t>
            </a:r>
            <a:r>
              <a:rPr lang="en-US" sz="1200" dirty="0">
                <a:solidFill>
                  <a:srgbClr val="A8D8EA"/>
                </a:solidFill>
                <a:latin typeface="Consolas" pitchFamily="34" charset="0"/>
                <a:ea typeface="Consolas" pitchFamily="34" charset="-122"/>
                <a:cs typeface="Consolas" pitchFamily="34" charset="-120"/>
              </a:rPr>
              <a:t>)    # Builds a quantized latent representation, z_q2, based on the sequence of integers</a:t>
            </a:r>
          </a:p>
          <a:p>
            <a:r>
              <a:rPr lang="en-US" sz="1200" dirty="0">
                <a:solidFill>
                  <a:srgbClr val="A8D8EA"/>
                </a:solidFill>
                <a:latin typeface="Consolas" pitchFamily="34" charset="0"/>
                <a:ea typeface="Consolas" pitchFamily="34" charset="-122"/>
                <a:cs typeface="Consolas" pitchFamily="34" charset="-120"/>
              </a:rPr>
              <a:t>z_post2 = </a:t>
            </a:r>
            <a:r>
              <a:rPr lang="en-US" sz="1200" dirty="0" err="1">
                <a:solidFill>
                  <a:srgbClr val="A8D8EA"/>
                </a:solidFill>
                <a:latin typeface="Consolas" pitchFamily="34" charset="0"/>
                <a:ea typeface="Consolas" pitchFamily="34" charset="-122"/>
                <a:cs typeface="Consolas" pitchFamily="34" charset="-120"/>
              </a:rPr>
              <a:t>model.post_quant_conv</a:t>
            </a:r>
            <a:r>
              <a:rPr lang="en-US" sz="1200" dirty="0">
                <a:solidFill>
                  <a:srgbClr val="A8D8EA"/>
                </a:solidFill>
                <a:latin typeface="Consolas" pitchFamily="34" charset="0"/>
                <a:ea typeface="Consolas" pitchFamily="34" charset="-122"/>
                <a:cs typeface="Consolas" pitchFamily="34" charset="-120"/>
              </a:rPr>
              <a:t>(z_q2)</a:t>
            </a:r>
          </a:p>
          <a:p>
            <a:r>
              <a:rPr lang="en-US" sz="1200" dirty="0">
                <a:solidFill>
                  <a:srgbClr val="A8D8EA"/>
                </a:solidFill>
                <a:latin typeface="Consolas" pitchFamily="34" charset="0"/>
                <a:ea typeface="Consolas" pitchFamily="34" charset="-122"/>
                <a:cs typeface="Consolas" pitchFamily="34" charset="-120"/>
              </a:rPr>
              <a:t>z_recon2 = </a:t>
            </a:r>
            <a:r>
              <a:rPr lang="en-US" sz="1200" dirty="0" err="1">
                <a:solidFill>
                  <a:srgbClr val="A8D8EA"/>
                </a:solidFill>
                <a:latin typeface="Consolas" pitchFamily="34" charset="0"/>
                <a:ea typeface="Consolas" pitchFamily="34" charset="-122"/>
                <a:cs typeface="Consolas" pitchFamily="34" charset="-120"/>
              </a:rPr>
              <a:t>model.decoder</a:t>
            </a:r>
            <a:r>
              <a:rPr lang="en-US" sz="1200" dirty="0">
                <a:solidFill>
                  <a:srgbClr val="A8D8EA"/>
                </a:solidFill>
                <a:latin typeface="Consolas" pitchFamily="34" charset="0"/>
                <a:ea typeface="Consolas" pitchFamily="34" charset="-122"/>
                <a:cs typeface="Consolas" pitchFamily="34" charset="-120"/>
              </a:rPr>
              <a:t>(z_post2)    # Converts the latent representation into an image using the VQGAN decoder</a:t>
            </a:r>
          </a:p>
          <a:p>
            <a:endParaRPr lang="en-US" sz="1200" dirty="0">
              <a:solidFill>
                <a:srgbClr val="A8D8EA"/>
              </a:solidFill>
              <a:latin typeface="Consolas" pitchFamily="34" charset="0"/>
              <a:ea typeface="Consolas" pitchFamily="34" charset="-122"/>
              <a:cs typeface="Consolas" pitchFamily="34" charset="-120"/>
            </a:endParaRPr>
          </a:p>
          <a:p>
            <a:r>
              <a:rPr lang="en-US" sz="1200" dirty="0" err="1">
                <a:solidFill>
                  <a:srgbClr val="A8D8EA"/>
                </a:solidFill>
                <a:latin typeface="Consolas" pitchFamily="34" charset="0"/>
                <a:ea typeface="Consolas" pitchFamily="34" charset="-122"/>
                <a:cs typeface="Consolas" pitchFamily="34" charset="-120"/>
              </a:rPr>
              <a:t>z_post</a:t>
            </a:r>
            <a:r>
              <a:rPr lang="en-US" sz="1200" dirty="0">
                <a:solidFill>
                  <a:srgbClr val="A8D8EA"/>
                </a:solidFill>
                <a:latin typeface="Consolas" pitchFamily="34" charset="0"/>
                <a:ea typeface="Consolas" pitchFamily="34" charset="-122"/>
                <a:cs typeface="Consolas" pitchFamily="34" charset="-120"/>
              </a:rPr>
              <a:t> = </a:t>
            </a:r>
            <a:r>
              <a:rPr lang="en-US" sz="1200" dirty="0" err="1">
                <a:solidFill>
                  <a:srgbClr val="A8D8EA"/>
                </a:solidFill>
                <a:latin typeface="Consolas" pitchFamily="34" charset="0"/>
                <a:ea typeface="Consolas" pitchFamily="34" charset="-122"/>
                <a:cs typeface="Consolas" pitchFamily="34" charset="-120"/>
              </a:rPr>
              <a:t>model.post_quant_conv</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z_q</a:t>
            </a:r>
            <a:r>
              <a:rPr lang="en-US" sz="1200" dirty="0">
                <a:solidFill>
                  <a:srgbClr val="A8D8EA"/>
                </a:solidFill>
                <a:latin typeface="Consolas" pitchFamily="34" charset="0"/>
                <a:ea typeface="Consolas" pitchFamily="34" charset="-122"/>
                <a:cs typeface="Consolas" pitchFamily="34" charset="-120"/>
              </a:rPr>
              <a:t>)</a:t>
            </a:r>
          </a:p>
          <a:p>
            <a:r>
              <a:rPr lang="en-US" sz="1200" dirty="0" err="1">
                <a:solidFill>
                  <a:srgbClr val="A8D8EA"/>
                </a:solidFill>
                <a:latin typeface="Consolas" pitchFamily="34" charset="0"/>
                <a:ea typeface="Consolas" pitchFamily="34" charset="-122"/>
                <a:cs typeface="Consolas" pitchFamily="34" charset="-120"/>
              </a:rPr>
              <a:t>z_recon</a:t>
            </a:r>
            <a:r>
              <a:rPr lang="en-US" sz="1200" dirty="0">
                <a:solidFill>
                  <a:srgbClr val="A8D8EA"/>
                </a:solidFill>
                <a:latin typeface="Consolas" pitchFamily="34" charset="0"/>
                <a:ea typeface="Consolas" pitchFamily="34" charset="-122"/>
                <a:cs typeface="Consolas" pitchFamily="34" charset="-120"/>
              </a:rPr>
              <a:t> = </a:t>
            </a:r>
            <a:r>
              <a:rPr lang="en-US" sz="1200" dirty="0" err="1">
                <a:solidFill>
                  <a:srgbClr val="A8D8EA"/>
                </a:solidFill>
                <a:latin typeface="Consolas" pitchFamily="34" charset="0"/>
                <a:ea typeface="Consolas" pitchFamily="34" charset="-122"/>
                <a:cs typeface="Consolas" pitchFamily="34" charset="-120"/>
              </a:rPr>
              <a:t>model.decoder</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z_post</a:t>
            </a:r>
            <a:r>
              <a:rPr lang="en-US" sz="1200" dirty="0">
                <a:solidFill>
                  <a:srgbClr val="A8D8EA"/>
                </a:solidFill>
                <a:latin typeface="Consolas" pitchFamily="34" charset="0"/>
                <a:ea typeface="Consolas" pitchFamily="34" charset="-122"/>
                <a:cs typeface="Consolas" pitchFamily="34" charset="-120"/>
              </a:rPr>
              <a:t>)    # Reconstructs the cat image using the quantized latent representation, </a:t>
            </a:r>
            <a:r>
              <a:rPr lang="en-US" sz="1200" dirty="0" err="1">
                <a:solidFill>
                  <a:srgbClr val="A8D8EA"/>
                </a:solidFill>
                <a:latin typeface="Consolas" pitchFamily="34" charset="0"/>
                <a:ea typeface="Consolas" pitchFamily="34" charset="-122"/>
                <a:cs typeface="Consolas" pitchFamily="34" charset="-120"/>
              </a:rPr>
              <a:t>z_q</a:t>
            </a:r>
            <a:endParaRPr lang="en-US" sz="1200" dirty="0">
              <a:solidFill>
                <a:srgbClr val="A8D8EA"/>
              </a:solidFill>
              <a:latin typeface="Consolas" pitchFamily="34" charset="0"/>
              <a:ea typeface="Consolas" pitchFamily="34" charset="-122"/>
              <a:cs typeface="Consolas" pitchFamily="34" charset="-120"/>
            </a:endParaRPr>
          </a:p>
        </p:txBody>
      </p:sp>
      <p:pic>
        <p:nvPicPr>
          <p:cNvPr id="49" name="Picture 48">
            <a:extLst>
              <a:ext uri="{FF2B5EF4-FFF2-40B4-BE49-F238E27FC236}">
                <a16:creationId xmlns:a16="http://schemas.microsoft.com/office/drawing/2014/main" id="{A86F8120-11B9-2F52-D810-E33F893A7C75}"/>
              </a:ext>
            </a:extLst>
          </p:cNvPr>
          <p:cNvPicPr>
            <a:picLocks noChangeAspect="1"/>
          </p:cNvPicPr>
          <p:nvPr/>
        </p:nvPicPr>
        <p:blipFill>
          <a:blip r:embed="rId3"/>
          <a:stretch>
            <a:fillRect/>
          </a:stretch>
        </p:blipFill>
        <p:spPr>
          <a:xfrm>
            <a:off x="4236012" y="3116526"/>
            <a:ext cx="3719976" cy="320305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1291-A2DA-2FF7-44E5-AC39CDF6D4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ED90A3-3DB1-A647-9C94-AFAA5C43CE59}"/>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35C66588-2A7B-E179-A675-A4D238E671AE}"/>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From Integer Sequence Back to a High-Resolution Image</a:t>
            </a:r>
            <a:endParaRPr lang="en-US" sz="3467" dirty="0"/>
          </a:p>
        </p:txBody>
      </p:sp>
      <p:sp>
        <p:nvSpPr>
          <p:cNvPr id="45" name="Shape 0">
            <a:extLst>
              <a:ext uri="{FF2B5EF4-FFF2-40B4-BE49-F238E27FC236}">
                <a16:creationId xmlns:a16="http://schemas.microsoft.com/office/drawing/2014/main" id="{F78C7061-502C-7C07-372E-1E2968AC5394}"/>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57" name="Picture 156">
            <a:extLst>
              <a:ext uri="{FF2B5EF4-FFF2-40B4-BE49-F238E27FC236}">
                <a16:creationId xmlns:a16="http://schemas.microsoft.com/office/drawing/2014/main" id="{9651721A-9F08-CD7F-4648-2F6F3615DA2A}"/>
              </a:ext>
            </a:extLst>
          </p:cNvPr>
          <p:cNvPicPr>
            <a:picLocks noChangeAspect="1"/>
          </p:cNvPicPr>
          <p:nvPr/>
        </p:nvPicPr>
        <p:blipFill>
          <a:blip r:embed="rId3"/>
          <a:stretch>
            <a:fillRect/>
          </a:stretch>
        </p:blipFill>
        <p:spPr>
          <a:xfrm>
            <a:off x="59267" y="4076679"/>
            <a:ext cx="6230219" cy="2467319"/>
          </a:xfrm>
          <a:prstGeom prst="rect">
            <a:avLst/>
          </a:prstGeom>
        </p:spPr>
      </p:pic>
      <p:pic>
        <p:nvPicPr>
          <p:cNvPr id="159" name="Picture 158">
            <a:extLst>
              <a:ext uri="{FF2B5EF4-FFF2-40B4-BE49-F238E27FC236}">
                <a16:creationId xmlns:a16="http://schemas.microsoft.com/office/drawing/2014/main" id="{3B11441D-3171-82C4-4C2D-0C8DD9C9B3D6}"/>
              </a:ext>
            </a:extLst>
          </p:cNvPr>
          <p:cNvPicPr>
            <a:picLocks noChangeAspect="1"/>
          </p:cNvPicPr>
          <p:nvPr/>
        </p:nvPicPr>
        <p:blipFill>
          <a:blip r:embed="rId4"/>
          <a:stretch>
            <a:fillRect/>
          </a:stretch>
        </p:blipFill>
        <p:spPr>
          <a:xfrm>
            <a:off x="6289486" y="4940631"/>
            <a:ext cx="2562583" cy="1438476"/>
          </a:xfrm>
          <a:prstGeom prst="rect">
            <a:avLst/>
          </a:prstGeom>
        </p:spPr>
      </p:pic>
      <p:pic>
        <p:nvPicPr>
          <p:cNvPr id="161" name="Picture 160">
            <a:extLst>
              <a:ext uri="{FF2B5EF4-FFF2-40B4-BE49-F238E27FC236}">
                <a16:creationId xmlns:a16="http://schemas.microsoft.com/office/drawing/2014/main" id="{8C0FAA74-055A-96C2-90EF-909AFBD514FB}"/>
              </a:ext>
            </a:extLst>
          </p:cNvPr>
          <p:cNvPicPr>
            <a:picLocks noChangeAspect="1"/>
          </p:cNvPicPr>
          <p:nvPr/>
        </p:nvPicPr>
        <p:blipFill>
          <a:blip r:embed="rId5"/>
          <a:stretch>
            <a:fillRect/>
          </a:stretch>
        </p:blipFill>
        <p:spPr>
          <a:xfrm>
            <a:off x="59267" y="993450"/>
            <a:ext cx="12022666" cy="2329790"/>
          </a:xfrm>
          <a:prstGeom prst="rect">
            <a:avLst/>
          </a:prstGeom>
        </p:spPr>
      </p:pic>
      <mc:AlternateContent xmlns:mc="http://schemas.openxmlformats.org/markup-compatibility/2006">
        <mc:Choice xmlns:p14="http://schemas.microsoft.com/office/powerpoint/2010/main" Requires="p14">
          <p:contentPart p14:bwMode="auto" r:id="rId6">
            <p14:nvContentPartPr>
              <p14:cNvPr id="162" name="Ink 161">
                <a:extLst>
                  <a:ext uri="{FF2B5EF4-FFF2-40B4-BE49-F238E27FC236}">
                    <a16:creationId xmlns:a16="http://schemas.microsoft.com/office/drawing/2014/main" id="{361E7930-D685-69F2-F28B-F4EA69ED564B}"/>
                  </a:ext>
                </a:extLst>
              </p14:cNvPr>
              <p14:cNvContentPartPr/>
              <p14:nvPr/>
            </p14:nvContentPartPr>
            <p14:xfrm>
              <a:off x="11445468" y="1016664"/>
              <a:ext cx="595800" cy="31680"/>
            </p14:xfrm>
          </p:contentPart>
        </mc:Choice>
        <mc:Fallback>
          <p:pic>
            <p:nvPicPr>
              <p:cNvPr id="162" name="Ink 161">
                <a:extLst>
                  <a:ext uri="{FF2B5EF4-FFF2-40B4-BE49-F238E27FC236}">
                    <a16:creationId xmlns:a16="http://schemas.microsoft.com/office/drawing/2014/main" id="{361E7930-D685-69F2-F28B-F4EA69ED564B}"/>
                  </a:ext>
                </a:extLst>
              </p:cNvPr>
              <p:cNvPicPr/>
              <p:nvPr/>
            </p:nvPicPr>
            <p:blipFill>
              <a:blip r:embed="rId7"/>
              <a:stretch>
                <a:fillRect/>
              </a:stretch>
            </p:blipFill>
            <p:spPr>
              <a:xfrm>
                <a:off x="11382468" y="954024"/>
                <a:ext cx="721440" cy="157320"/>
              </a:xfrm>
              <a:prstGeom prst="rect">
                <a:avLst/>
              </a:prstGeom>
            </p:spPr>
          </p:pic>
        </mc:Fallback>
      </mc:AlternateContent>
      <p:pic>
        <p:nvPicPr>
          <p:cNvPr id="173" name="Picture 172">
            <a:extLst>
              <a:ext uri="{FF2B5EF4-FFF2-40B4-BE49-F238E27FC236}">
                <a16:creationId xmlns:a16="http://schemas.microsoft.com/office/drawing/2014/main" id="{AC343391-E529-4063-F243-11CFC50CB667}"/>
              </a:ext>
            </a:extLst>
          </p:cNvPr>
          <p:cNvPicPr>
            <a:picLocks noChangeAspect="1"/>
          </p:cNvPicPr>
          <p:nvPr/>
        </p:nvPicPr>
        <p:blipFill>
          <a:blip r:embed="rId8"/>
          <a:stretch>
            <a:fillRect/>
          </a:stretch>
        </p:blipFill>
        <p:spPr>
          <a:xfrm>
            <a:off x="4491026" y="3244835"/>
            <a:ext cx="80974" cy="100027"/>
          </a:xfrm>
          <a:prstGeom prst="rect">
            <a:avLst/>
          </a:prstGeom>
        </p:spPr>
      </p:pic>
      <p:pic>
        <p:nvPicPr>
          <p:cNvPr id="174" name="Picture 173">
            <a:extLst>
              <a:ext uri="{FF2B5EF4-FFF2-40B4-BE49-F238E27FC236}">
                <a16:creationId xmlns:a16="http://schemas.microsoft.com/office/drawing/2014/main" id="{1F54B9D7-1766-A71A-2EF4-AA5B244D3191}"/>
              </a:ext>
            </a:extLst>
          </p:cNvPr>
          <p:cNvPicPr>
            <a:picLocks noChangeAspect="1"/>
          </p:cNvPicPr>
          <p:nvPr/>
        </p:nvPicPr>
        <p:blipFill>
          <a:blip r:embed="rId8"/>
          <a:stretch>
            <a:fillRect/>
          </a:stretch>
        </p:blipFill>
        <p:spPr>
          <a:xfrm>
            <a:off x="4714875" y="6466196"/>
            <a:ext cx="80974" cy="100027"/>
          </a:xfrm>
          <a:prstGeom prst="rect">
            <a:avLst/>
          </a:prstGeom>
        </p:spPr>
      </p:pic>
      <p:pic>
        <p:nvPicPr>
          <p:cNvPr id="176" name="Picture 175">
            <a:extLst>
              <a:ext uri="{FF2B5EF4-FFF2-40B4-BE49-F238E27FC236}">
                <a16:creationId xmlns:a16="http://schemas.microsoft.com/office/drawing/2014/main" id="{84A2C02F-B894-E617-3565-4BEC4C56B594}"/>
              </a:ext>
            </a:extLst>
          </p:cNvPr>
          <p:cNvPicPr>
            <a:picLocks noChangeAspect="1"/>
          </p:cNvPicPr>
          <p:nvPr/>
        </p:nvPicPr>
        <p:blipFill>
          <a:blip r:embed="rId9"/>
          <a:stretch>
            <a:fillRect/>
          </a:stretch>
        </p:blipFill>
        <p:spPr>
          <a:xfrm>
            <a:off x="8233621" y="2115482"/>
            <a:ext cx="45719" cy="1086002"/>
          </a:xfrm>
          <a:prstGeom prst="rect">
            <a:avLst/>
          </a:prstGeom>
        </p:spPr>
      </p:pic>
      <p:sp>
        <p:nvSpPr>
          <p:cNvPr id="201" name="Arrow: Left-Right 200">
            <a:extLst>
              <a:ext uri="{FF2B5EF4-FFF2-40B4-BE49-F238E27FC236}">
                <a16:creationId xmlns:a16="http://schemas.microsoft.com/office/drawing/2014/main" id="{4EB10586-440A-A26C-8A59-79B28B17B003}"/>
              </a:ext>
            </a:extLst>
          </p:cNvPr>
          <p:cNvSpPr/>
          <p:nvPr/>
        </p:nvSpPr>
        <p:spPr>
          <a:xfrm rot="18850462">
            <a:off x="8444740" y="4266340"/>
            <a:ext cx="3565238" cy="48463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03" name="TextBox 202">
            <a:extLst>
              <a:ext uri="{FF2B5EF4-FFF2-40B4-BE49-F238E27FC236}">
                <a16:creationId xmlns:a16="http://schemas.microsoft.com/office/drawing/2014/main" id="{AEEA1401-3A49-2FC2-9900-2BAEA240613F}"/>
              </a:ext>
            </a:extLst>
          </p:cNvPr>
          <p:cNvSpPr txBox="1"/>
          <p:nvPr/>
        </p:nvSpPr>
        <p:spPr>
          <a:xfrm>
            <a:off x="8618317" y="3670270"/>
            <a:ext cx="1727759" cy="923330"/>
          </a:xfrm>
          <a:prstGeom prst="rect">
            <a:avLst/>
          </a:prstGeom>
          <a:noFill/>
        </p:spPr>
        <p:txBody>
          <a:bodyPr wrap="square">
            <a:spAutoFit/>
          </a:bodyPr>
          <a:lstStyle/>
          <a:p>
            <a:pPr algn="ctr"/>
            <a:r>
              <a:rPr lang="en-US" sz="1800" dirty="0">
                <a:solidFill>
                  <a:srgbClr val="1F3864"/>
                </a:solidFill>
                <a:latin typeface="Calibri" pitchFamily="34" charset="0"/>
                <a:ea typeface="Calibri" pitchFamily="34" charset="-122"/>
                <a:cs typeface="Calibri" pitchFamily="34" charset="-120"/>
              </a:rPr>
              <a:t>identical reconstructed images</a:t>
            </a:r>
            <a:endParaRPr lang="ro-RO" dirty="0"/>
          </a:p>
        </p:txBody>
      </p:sp>
      <p:sp>
        <p:nvSpPr>
          <p:cNvPr id="204" name="TextBox 203">
            <a:extLst>
              <a:ext uri="{FF2B5EF4-FFF2-40B4-BE49-F238E27FC236}">
                <a16:creationId xmlns:a16="http://schemas.microsoft.com/office/drawing/2014/main" id="{479AC063-B741-018A-F90B-74E2D7706B4B}"/>
              </a:ext>
            </a:extLst>
          </p:cNvPr>
          <p:cNvSpPr txBox="1"/>
          <p:nvPr/>
        </p:nvSpPr>
        <p:spPr>
          <a:xfrm>
            <a:off x="9411319" y="4825749"/>
            <a:ext cx="2832007" cy="1477328"/>
          </a:xfrm>
          <a:prstGeom prst="rect">
            <a:avLst/>
          </a:prstGeom>
          <a:noFill/>
        </p:spPr>
        <p:txBody>
          <a:bodyPr wrap="square">
            <a:spAutoFit/>
          </a:bodyPr>
          <a:lstStyle/>
          <a:p>
            <a:pPr algn="ctr"/>
            <a:r>
              <a:rPr lang="en-US" sz="1800" b="1" dirty="0">
                <a:solidFill>
                  <a:srgbClr val="FF0000"/>
                </a:solidFill>
                <a:latin typeface="Calibri" pitchFamily="34" charset="0"/>
                <a:ea typeface="Calibri" pitchFamily="34" charset="-122"/>
                <a:cs typeface="Calibri" pitchFamily="34" charset="-120"/>
              </a:rPr>
              <a:t>Conclusion</a:t>
            </a:r>
            <a:r>
              <a:rPr lang="en-US" sz="1800" dirty="0">
                <a:solidFill>
                  <a:srgbClr val="FF0000"/>
                </a:solidFill>
                <a:latin typeface="Calibri" pitchFamily="34" charset="0"/>
                <a:ea typeface="Calibri" pitchFamily="34" charset="-122"/>
                <a:cs typeface="Calibri" pitchFamily="34" charset="-120"/>
              </a:rPr>
              <a:t>?</a:t>
            </a:r>
            <a:br>
              <a:rPr lang="en-US" sz="1800" dirty="0">
                <a:solidFill>
                  <a:srgbClr val="FF0000"/>
                </a:solidFill>
                <a:latin typeface="Calibri" pitchFamily="34" charset="0"/>
                <a:ea typeface="Calibri" pitchFamily="34" charset="-122"/>
                <a:cs typeface="Calibri" pitchFamily="34" charset="-120"/>
              </a:rPr>
            </a:br>
            <a:r>
              <a:rPr lang="en-US" dirty="0">
                <a:solidFill>
                  <a:srgbClr val="FF0000"/>
                </a:solidFill>
              </a:rPr>
              <a:t> VQGAN is capable to regenerate an image solely from a sequence of integers !</a:t>
            </a:r>
            <a:endParaRPr lang="ro-RO" dirty="0">
              <a:solidFill>
                <a:srgbClr val="FF0000"/>
              </a:solidFill>
            </a:endParaRPr>
          </a:p>
        </p:txBody>
      </p:sp>
    </p:spTree>
    <p:extLst>
      <p:ext uri="{BB962C8B-B14F-4D97-AF65-F5344CB8AC3E}">
        <p14:creationId xmlns:p14="http://schemas.microsoft.com/office/powerpoint/2010/main" val="4236175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7328"/>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Exercises</a:t>
            </a:r>
            <a:endParaRPr lang="en-US" sz="3467" dirty="0"/>
          </a:p>
        </p:txBody>
      </p:sp>
      <p:sp>
        <p:nvSpPr>
          <p:cNvPr id="4" name="Shape 2"/>
          <p:cNvSpPr/>
          <p:nvPr/>
        </p:nvSpPr>
        <p:spPr>
          <a:xfrm>
            <a:off x="304800" y="761042"/>
            <a:ext cx="877824" cy="1072896"/>
          </a:xfrm>
          <a:prstGeom prst="rect">
            <a:avLst/>
          </a:prstGeom>
          <a:solidFill>
            <a:srgbClr val="1F5BAD"/>
          </a:solidFill>
          <a:ln w="12700">
            <a:solidFill>
              <a:srgbClr val="1F5BAD"/>
            </a:solidFill>
            <a:prstDash val="solid"/>
          </a:ln>
        </p:spPr>
      </p:sp>
      <p:sp>
        <p:nvSpPr>
          <p:cNvPr id="5" name="Text 3"/>
          <p:cNvSpPr/>
          <p:nvPr/>
        </p:nvSpPr>
        <p:spPr>
          <a:xfrm>
            <a:off x="304800" y="761042"/>
            <a:ext cx="877824" cy="10728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6" name="Shape 4"/>
          <p:cNvSpPr/>
          <p:nvPr/>
        </p:nvSpPr>
        <p:spPr>
          <a:xfrm>
            <a:off x="1219200" y="761042"/>
            <a:ext cx="10424160" cy="1072896"/>
          </a:xfrm>
          <a:prstGeom prst="rect">
            <a:avLst/>
          </a:prstGeom>
          <a:solidFill>
            <a:srgbClr val="EEF3FB"/>
          </a:solidFill>
          <a:ln w="12700">
            <a:solidFill>
              <a:srgbClr val="CCCCCC"/>
            </a:solidFill>
            <a:prstDash val="solid"/>
          </a:ln>
        </p:spPr>
      </p:sp>
      <p:sp>
        <p:nvSpPr>
          <p:cNvPr id="7" name="Text 5"/>
          <p:cNvSpPr/>
          <p:nvPr/>
        </p:nvSpPr>
        <p:spPr>
          <a:xfrm>
            <a:off x="1365504" y="834194"/>
            <a:ext cx="10119360" cy="316992"/>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Process bird.png and bunny.png</a:t>
            </a:r>
            <a:endParaRPr lang="en-US" sz="1600" dirty="0"/>
          </a:p>
        </p:txBody>
      </p:sp>
      <p:sp>
        <p:nvSpPr>
          <p:cNvPr id="8" name="Text 6"/>
          <p:cNvSpPr/>
          <p:nvPr/>
        </p:nvSpPr>
        <p:spPr>
          <a:xfrm>
            <a:off x="1365504" y="1175570"/>
            <a:ext cx="10119360" cy="34137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Use process_image() on bird.png and bunny.png. Name them image3 and image4. Feed to pretrained VQGAN to get reconstruct3 and reconstruct4.</a:t>
            </a:r>
            <a:endParaRPr lang="en-US" sz="1467" dirty="0"/>
          </a:p>
        </p:txBody>
      </p:sp>
      <p:sp>
        <p:nvSpPr>
          <p:cNvPr id="9" name="Text 7"/>
          <p:cNvSpPr/>
          <p:nvPr/>
        </p:nvSpPr>
        <p:spPr>
          <a:xfrm>
            <a:off x="1365504" y="1541329"/>
            <a:ext cx="10119360" cy="341375"/>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Same reconstruct1, reconstruct2 pattern from section 2.1. Use model(image3.to(device)) — returns (reconstruct, ...).</a:t>
            </a:r>
            <a:endParaRPr lang="en-US" sz="1267" dirty="0"/>
          </a:p>
        </p:txBody>
      </p:sp>
      <p:sp>
        <p:nvSpPr>
          <p:cNvPr id="10" name="Shape 8"/>
          <p:cNvSpPr/>
          <p:nvPr/>
        </p:nvSpPr>
        <p:spPr>
          <a:xfrm>
            <a:off x="304800" y="1943666"/>
            <a:ext cx="877824" cy="1072896"/>
          </a:xfrm>
          <a:prstGeom prst="rect">
            <a:avLst/>
          </a:prstGeom>
          <a:solidFill>
            <a:srgbClr val="1F5BAD"/>
          </a:solidFill>
          <a:ln w="12700">
            <a:solidFill>
              <a:srgbClr val="1F5BAD"/>
            </a:solidFill>
            <a:prstDash val="solid"/>
          </a:ln>
        </p:spPr>
      </p:sp>
      <p:sp>
        <p:nvSpPr>
          <p:cNvPr id="11" name="Text 9"/>
          <p:cNvSpPr/>
          <p:nvPr/>
        </p:nvSpPr>
        <p:spPr>
          <a:xfrm>
            <a:off x="304800" y="1943666"/>
            <a:ext cx="877824" cy="10728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2" name="Shape 10"/>
          <p:cNvSpPr/>
          <p:nvPr/>
        </p:nvSpPr>
        <p:spPr>
          <a:xfrm>
            <a:off x="1219200" y="1943666"/>
            <a:ext cx="10424160" cy="1072896"/>
          </a:xfrm>
          <a:prstGeom prst="rect">
            <a:avLst/>
          </a:prstGeom>
          <a:solidFill>
            <a:srgbClr val="FFFFFF"/>
          </a:solidFill>
          <a:ln w="12700">
            <a:solidFill>
              <a:srgbClr val="CCCCCC"/>
            </a:solidFill>
            <a:prstDash val="solid"/>
          </a:ln>
        </p:spPr>
      </p:sp>
      <p:sp>
        <p:nvSpPr>
          <p:cNvPr id="13" name="Text 11"/>
          <p:cNvSpPr/>
          <p:nvPr/>
        </p:nvSpPr>
        <p:spPr>
          <a:xfrm>
            <a:off x="1365504" y="2016818"/>
            <a:ext cx="10119360" cy="316992"/>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Plot all four in 1×4 grid</a:t>
            </a:r>
            <a:endParaRPr lang="en-US" sz="1600" dirty="0"/>
          </a:p>
        </p:txBody>
      </p:sp>
      <p:sp>
        <p:nvSpPr>
          <p:cNvPr id="14" name="Text 12"/>
          <p:cNvSpPr/>
          <p:nvPr/>
        </p:nvSpPr>
        <p:spPr>
          <a:xfrm>
            <a:off x="1365504" y="2358194"/>
            <a:ext cx="10119360" cy="34137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Place image3, reconstruct3, image4, reconstruct4 in list imgs. Plot 1×4 grid with captions 'original' and 'reconstructed' alternating.</a:t>
            </a:r>
            <a:endParaRPr lang="en-US" sz="1467" dirty="0"/>
          </a:p>
        </p:txBody>
      </p:sp>
      <p:sp>
        <p:nvSpPr>
          <p:cNvPr id="15" name="Text 13"/>
          <p:cNvSpPr/>
          <p:nvPr/>
        </p:nvSpPr>
        <p:spPr>
          <a:xfrm>
            <a:off x="1365504" y="2723954"/>
            <a:ext cx="10119360" cy="292608"/>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Same code as section 2.1 for cat and fish. captions = ['original','reconstructed']*2. plt.subplot(1,4,i+1).</a:t>
            </a:r>
            <a:endParaRPr lang="en-US" sz="1267" dirty="0"/>
          </a:p>
        </p:txBody>
      </p:sp>
      <p:sp>
        <p:nvSpPr>
          <p:cNvPr id="16" name="Shape 14"/>
          <p:cNvSpPr/>
          <p:nvPr/>
        </p:nvSpPr>
        <p:spPr>
          <a:xfrm>
            <a:off x="304800" y="3126290"/>
            <a:ext cx="877824" cy="1072896"/>
          </a:xfrm>
          <a:prstGeom prst="rect">
            <a:avLst/>
          </a:prstGeom>
          <a:solidFill>
            <a:srgbClr val="1F5BAD"/>
          </a:solidFill>
          <a:ln w="12700">
            <a:solidFill>
              <a:srgbClr val="1F5BAD"/>
            </a:solidFill>
            <a:prstDash val="solid"/>
          </a:ln>
        </p:spPr>
      </p:sp>
      <p:sp>
        <p:nvSpPr>
          <p:cNvPr id="17" name="Text 15"/>
          <p:cNvSpPr/>
          <p:nvPr/>
        </p:nvSpPr>
        <p:spPr>
          <a:xfrm>
            <a:off x="304800" y="3126290"/>
            <a:ext cx="877824" cy="10728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18" name="Shape 16"/>
          <p:cNvSpPr/>
          <p:nvPr/>
        </p:nvSpPr>
        <p:spPr>
          <a:xfrm>
            <a:off x="1219200" y="3126290"/>
            <a:ext cx="10424160" cy="1072896"/>
          </a:xfrm>
          <a:prstGeom prst="rect">
            <a:avLst/>
          </a:prstGeom>
          <a:solidFill>
            <a:srgbClr val="EEF3FB"/>
          </a:solidFill>
          <a:ln w="12700">
            <a:solidFill>
              <a:srgbClr val="CCCCCC"/>
            </a:solidFill>
            <a:prstDash val="solid"/>
          </a:ln>
        </p:spPr>
      </p:sp>
      <p:sp>
        <p:nvSpPr>
          <p:cNvPr id="19" name="Text 17"/>
          <p:cNvSpPr/>
          <p:nvPr/>
        </p:nvSpPr>
        <p:spPr>
          <a:xfrm>
            <a:off x="1365504" y="3199442"/>
            <a:ext cx="10119360" cy="316992"/>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Quantize the fish image → int_sequence2</a:t>
            </a:r>
            <a:endParaRPr lang="en-US" sz="1600" dirty="0"/>
          </a:p>
        </p:txBody>
      </p:sp>
      <p:sp>
        <p:nvSpPr>
          <p:cNvPr id="20" name="Text 18"/>
          <p:cNvSpPr/>
          <p:nvPr/>
        </p:nvSpPr>
        <p:spPr>
          <a:xfrm>
            <a:off x="1365504" y="3540818"/>
            <a:ext cx="10119360" cy="34137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Encode image2 through encoder + quant_conv + quantize. Name the quantized latent z2_q and the integer sequence int_sequence2. Print int_sequence2.</a:t>
            </a:r>
            <a:endParaRPr lang="en-US" sz="1467" dirty="0"/>
          </a:p>
        </p:txBody>
      </p:sp>
      <p:sp>
        <p:nvSpPr>
          <p:cNvPr id="21" name="Text 19"/>
          <p:cNvSpPr/>
          <p:nvPr/>
        </p:nvSpPr>
        <p:spPr>
          <a:xfrm>
            <a:off x="1365504" y="3906578"/>
            <a:ext cx="10119360" cy="316992"/>
          </a:xfrm>
          <a:prstGeom prst="rect">
            <a:avLst/>
          </a:prstGeom>
          <a:noFill/>
          <a:ln/>
        </p:spPr>
        <p:txBody>
          <a:bodyPr wrap="square" rtlCol="0" anchor="ctr"/>
          <a:lstStyle/>
          <a:p>
            <a:r>
              <a:rPr lang="en-US" sz="1267" i="1" dirty="0">
                <a:solidFill>
                  <a:srgbClr val="888888"/>
                </a:solidFill>
                <a:latin typeface="Calibri" pitchFamily="34" charset="0"/>
                <a:ea typeface="Calibri" pitchFamily="34" charset="-122"/>
                <a:cs typeface="Calibri" pitchFamily="34" charset="-120"/>
              </a:rPr>
              <a:t>Hint: z=model.encoder(image2.to(device)), z=model.quant_conv(z), z2_q,_,indices=model.quantize(z), int_sequence2=indices[2].</a:t>
            </a:r>
            <a:endParaRPr lang="en-US" sz="1267" dirty="0"/>
          </a:p>
        </p:txBody>
      </p:sp>
      <p:sp>
        <p:nvSpPr>
          <p:cNvPr id="22" name="Shape 20"/>
          <p:cNvSpPr/>
          <p:nvPr/>
        </p:nvSpPr>
        <p:spPr>
          <a:xfrm>
            <a:off x="304800" y="4308914"/>
            <a:ext cx="877824" cy="1121664"/>
          </a:xfrm>
          <a:prstGeom prst="rect">
            <a:avLst/>
          </a:prstGeom>
          <a:solidFill>
            <a:srgbClr val="1F5BAD"/>
          </a:solidFill>
          <a:ln w="12700">
            <a:solidFill>
              <a:srgbClr val="1F5BAD"/>
            </a:solidFill>
            <a:prstDash val="solid"/>
          </a:ln>
        </p:spPr>
      </p:sp>
      <p:sp>
        <p:nvSpPr>
          <p:cNvPr id="23" name="Text 21"/>
          <p:cNvSpPr/>
          <p:nvPr/>
        </p:nvSpPr>
        <p:spPr>
          <a:xfrm>
            <a:off x="304800" y="4308914"/>
            <a:ext cx="877824" cy="10728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4" name="Shape 22"/>
          <p:cNvSpPr/>
          <p:nvPr/>
        </p:nvSpPr>
        <p:spPr>
          <a:xfrm>
            <a:off x="1219200" y="4308914"/>
            <a:ext cx="10424160" cy="1121664"/>
          </a:xfrm>
          <a:prstGeom prst="rect">
            <a:avLst/>
          </a:prstGeom>
          <a:solidFill>
            <a:srgbClr val="FFFFFF"/>
          </a:solidFill>
          <a:ln w="12700">
            <a:solidFill>
              <a:srgbClr val="CCCCCC"/>
            </a:solidFill>
            <a:prstDash val="solid"/>
          </a:ln>
        </p:spPr>
      </p:sp>
      <p:sp>
        <p:nvSpPr>
          <p:cNvPr id="25" name="Text 23"/>
          <p:cNvSpPr/>
          <p:nvPr/>
        </p:nvSpPr>
        <p:spPr>
          <a:xfrm>
            <a:off x="1365504" y="4382066"/>
            <a:ext cx="10119360" cy="316992"/>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Reconstruct fish from int_sequence2</a:t>
            </a:r>
            <a:endParaRPr lang="en-US" sz="1600" dirty="0"/>
          </a:p>
        </p:txBody>
      </p:sp>
      <p:sp>
        <p:nvSpPr>
          <p:cNvPr id="26" name="Text 24"/>
          <p:cNvSpPr/>
          <p:nvPr/>
        </p:nvSpPr>
        <p:spPr>
          <a:xfrm>
            <a:off x="1365504" y="4723442"/>
            <a:ext cx="10119360" cy="34137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Map each integer in int_sequence2 to its codebook embedding using model.quantize.embedding(). Reshape to z_q shape. Decode with post_quant_conv + decoder. Name it z2_recon2.</a:t>
            </a:r>
            <a:endParaRPr lang="en-US" sz="1467" dirty="0"/>
          </a:p>
        </p:txBody>
      </p:sp>
      <p:sp>
        <p:nvSpPr>
          <p:cNvPr id="27" name="Text 25"/>
          <p:cNvSpPr/>
          <p:nvPr/>
        </p:nvSpPr>
        <p:spPr>
          <a:xfrm>
            <a:off x="1365504" y="5089202"/>
            <a:ext cx="10119360" cy="341376"/>
          </a:xfrm>
          <a:prstGeom prst="rect">
            <a:avLst/>
          </a:prstGeom>
          <a:noFill/>
          <a:ln/>
        </p:spPr>
        <p:txBody>
          <a:bodyPr wrap="square" rtlCol="0" anchor="ctr"/>
          <a:lstStyle/>
          <a:p>
            <a:r>
              <a:rPr lang="en-US" sz="1100" i="1" dirty="0">
                <a:solidFill>
                  <a:srgbClr val="888888"/>
                </a:solidFill>
                <a:latin typeface="Calibri" pitchFamily="34" charset="0"/>
                <a:ea typeface="Calibri" pitchFamily="34" charset="-122"/>
                <a:cs typeface="Calibri" pitchFamily="34" charset="-120"/>
              </a:rPr>
              <a:t>Hint: z2_q2=model.quantize.embedding(int_sequence2).permute(1,0).view(z2_q.shape). z2_post2=model.post_quant_conv(z2_q2). z2_recon2=model.decoder(z2_post2).</a:t>
            </a:r>
            <a:endParaRPr lang="en-US" sz="1100" dirty="0"/>
          </a:p>
        </p:txBody>
      </p:sp>
      <p:sp>
        <p:nvSpPr>
          <p:cNvPr id="28" name="Shape 26"/>
          <p:cNvSpPr/>
          <p:nvPr/>
        </p:nvSpPr>
        <p:spPr>
          <a:xfrm>
            <a:off x="304800" y="5540307"/>
            <a:ext cx="877824" cy="1220158"/>
          </a:xfrm>
          <a:prstGeom prst="rect">
            <a:avLst/>
          </a:prstGeom>
          <a:solidFill>
            <a:srgbClr val="1F5BAD"/>
          </a:solidFill>
          <a:ln w="12700">
            <a:solidFill>
              <a:srgbClr val="1F5BAD"/>
            </a:solidFill>
            <a:prstDash val="solid"/>
          </a:ln>
        </p:spPr>
      </p:sp>
      <p:sp>
        <p:nvSpPr>
          <p:cNvPr id="29" name="Text 27"/>
          <p:cNvSpPr/>
          <p:nvPr/>
        </p:nvSpPr>
        <p:spPr>
          <a:xfrm>
            <a:off x="304800" y="5540307"/>
            <a:ext cx="877824" cy="10728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30" name="Shape 28"/>
          <p:cNvSpPr/>
          <p:nvPr/>
        </p:nvSpPr>
        <p:spPr>
          <a:xfrm>
            <a:off x="1219200" y="5540306"/>
            <a:ext cx="10424160" cy="1220159"/>
          </a:xfrm>
          <a:prstGeom prst="rect">
            <a:avLst/>
          </a:prstGeom>
          <a:solidFill>
            <a:srgbClr val="EEF3FB"/>
          </a:solidFill>
          <a:ln w="12700">
            <a:solidFill>
              <a:srgbClr val="CCCCCC"/>
            </a:solidFill>
            <a:prstDash val="solid"/>
          </a:ln>
        </p:spPr>
      </p:sp>
      <p:sp>
        <p:nvSpPr>
          <p:cNvPr id="31" name="Text 29"/>
          <p:cNvSpPr/>
          <p:nvPr/>
        </p:nvSpPr>
        <p:spPr>
          <a:xfrm>
            <a:off x="1365504" y="5613459"/>
            <a:ext cx="10119360" cy="316992"/>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Reconstruct from z2_q and compare</a:t>
            </a:r>
            <a:endParaRPr lang="en-US" sz="1600" dirty="0"/>
          </a:p>
        </p:txBody>
      </p:sp>
      <p:sp>
        <p:nvSpPr>
          <p:cNvPr id="32" name="Text 30"/>
          <p:cNvSpPr/>
          <p:nvPr/>
        </p:nvSpPr>
        <p:spPr>
          <a:xfrm>
            <a:off x="1365504" y="5954835"/>
            <a:ext cx="10119360" cy="34137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Reconstruct fish from z2_q (not int_sequence2) — name it z2_recon. Plot z2_recon and z2_recon2 side by side in a 1×2 grid. They should look identical.</a:t>
            </a:r>
            <a:endParaRPr lang="en-US" sz="1467" dirty="0"/>
          </a:p>
        </p:txBody>
      </p:sp>
      <p:sp>
        <p:nvSpPr>
          <p:cNvPr id="33" name="Text 31"/>
          <p:cNvSpPr/>
          <p:nvPr/>
        </p:nvSpPr>
        <p:spPr>
          <a:xfrm>
            <a:off x="1365504" y="6320594"/>
            <a:ext cx="10119360" cy="439871"/>
          </a:xfrm>
          <a:prstGeom prst="rect">
            <a:avLst/>
          </a:prstGeom>
          <a:noFill/>
          <a:ln/>
        </p:spPr>
        <p:txBody>
          <a:bodyPr wrap="square" rtlCol="0" anchor="ctr"/>
          <a:lstStyle/>
          <a:p>
            <a:r>
              <a:rPr lang="en-US" sz="1200" i="1" dirty="0">
                <a:solidFill>
                  <a:srgbClr val="888888"/>
                </a:solidFill>
                <a:latin typeface="Calibri" pitchFamily="34" charset="0"/>
                <a:ea typeface="Calibri" pitchFamily="34" charset="-122"/>
                <a:cs typeface="Calibri" pitchFamily="34" charset="-120"/>
              </a:rPr>
              <a:t>Hint: z2_post=model.post_quant_conv(z2_q). z2_recon=model.decoder(z2_post). plt.subplot(1,2,i+1). Captions: 'reconstructed based on quantized vectors' and 'reconstructed based on sequence of indices'.</a:t>
            </a:r>
            <a:endParaRPr lang="en-US" sz="1200" dirty="0"/>
          </a:p>
        </p:txBody>
      </p:sp>
      <p:sp>
        <p:nvSpPr>
          <p:cNvPr id="34" name="Shape 0">
            <a:extLst>
              <a:ext uri="{FF2B5EF4-FFF2-40B4-BE49-F238E27FC236}">
                <a16:creationId xmlns:a16="http://schemas.microsoft.com/office/drawing/2014/main" id="{480485DE-FBBD-D68A-8BD9-9F8AA8085115}"/>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9652-93F3-7080-446D-5FAA2200A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9DFE17-8D6D-826D-B758-D295A8655F6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 name="Picture 2" descr="What I cannot create, I do not understand&quot; - Richard Feynman At the end of  March, I stepped down from the position of PrecisionLoop's CEO. The last  4.5 years at AI startups">
            <a:extLst>
              <a:ext uri="{FF2B5EF4-FFF2-40B4-BE49-F238E27FC236}">
                <a16:creationId xmlns:a16="http://schemas.microsoft.com/office/drawing/2014/main" id="{9D02F9B2-1C03-5E0E-3150-DA618318D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234" y="918833"/>
            <a:ext cx="9003532" cy="5020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651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Process bird.png and bunny.png</a:t>
            </a:r>
          </a:p>
        </p:txBody>
      </p:sp>
      <p:sp>
        <p:nvSpPr>
          <p:cNvPr id="6" name="Shape 4"/>
          <p:cNvSpPr/>
          <p:nvPr/>
        </p:nvSpPr>
        <p:spPr>
          <a:xfrm>
            <a:off x="487680" y="877824"/>
            <a:ext cx="11216640" cy="609600"/>
          </a:xfrm>
          <a:prstGeom prst="rect">
            <a:avLst/>
          </a:prstGeom>
          <a:solidFill>
            <a:srgbClr val="E3F2FD"/>
          </a:solidFill>
          <a:ln w="10160">
            <a:solidFill>
              <a:srgbClr val="1565C0"/>
            </a:solidFill>
            <a:prstDash val="solid"/>
          </a:ln>
        </p:spPr>
      </p:sp>
      <p:sp>
        <p:nvSpPr>
          <p:cNvPr id="7" name="Text 5"/>
          <p:cNvSpPr/>
          <p:nvPr/>
        </p:nvSpPr>
        <p:spPr>
          <a:xfrm>
            <a:off x="658368" y="916591"/>
            <a:ext cx="10850880" cy="530486"/>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Download the two images, bird.png and bunny.png. Place the two images in the files folder. Use the </a:t>
            </a:r>
            <a:r>
              <a:rPr lang="en-US" sz="1333" i="1" dirty="0" err="1">
                <a:solidFill>
                  <a:srgbClr val="1A237E"/>
                </a:solidFill>
                <a:latin typeface="Calibri" pitchFamily="34" charset="0"/>
                <a:ea typeface="Calibri" pitchFamily="34" charset="-122"/>
                <a:cs typeface="Calibri" pitchFamily="34" charset="-120"/>
              </a:rPr>
              <a:t>process_image</a:t>
            </a:r>
            <a:r>
              <a:rPr lang="en-US" sz="1333" i="1" dirty="0">
                <a:solidFill>
                  <a:srgbClr val="1A237E"/>
                </a:solidFill>
                <a:latin typeface="Calibri" pitchFamily="34" charset="0"/>
                <a:ea typeface="Calibri" pitchFamily="34" charset="-122"/>
                <a:cs typeface="Calibri" pitchFamily="34" charset="-120"/>
              </a:rPr>
              <a:t>() function to process the two images, and name the processed images image3 and image4, respectively. Feed the two processed images to the pretrained VQGAN to obtain two reconstructed images, reconstruct3 and reconstruct4.</a:t>
            </a:r>
            <a:endParaRPr lang="en-US" sz="1333" dirty="0"/>
          </a:p>
        </p:txBody>
      </p:sp>
      <p:sp>
        <p:nvSpPr>
          <p:cNvPr id="8" name="Shape 6"/>
          <p:cNvSpPr/>
          <p:nvPr/>
        </p:nvSpPr>
        <p:spPr>
          <a:xfrm>
            <a:off x="487680" y="1560575"/>
            <a:ext cx="11522810" cy="4166458"/>
          </a:xfrm>
          <a:prstGeom prst="rect">
            <a:avLst/>
          </a:prstGeom>
          <a:solidFill>
            <a:srgbClr val="1E2A3A"/>
          </a:solidFill>
          <a:ln w="10160">
            <a:solidFill>
              <a:srgbClr val="00E5FF"/>
            </a:solidFill>
            <a:prstDash val="solid"/>
          </a:ln>
        </p:spPr>
        <p:txBody>
          <a:bodyPr/>
          <a:lstStyle/>
          <a:p>
            <a:r>
              <a:rPr lang="en-US" sz="950" dirty="0">
                <a:solidFill>
                  <a:srgbClr val="A8D8EA"/>
                </a:solidFill>
                <a:latin typeface="Consolas" pitchFamily="34" charset="0"/>
                <a:ea typeface="Consolas" pitchFamily="34" charset="-122"/>
                <a:cs typeface="Consolas" pitchFamily="34" charset="-120"/>
              </a:rPr>
              <a:t>import PIL</a:t>
            </a:r>
          </a:p>
          <a:p>
            <a:r>
              <a:rPr lang="en-US" sz="950" dirty="0">
                <a:solidFill>
                  <a:srgbClr val="A8D8EA"/>
                </a:solidFill>
                <a:latin typeface="Consolas" pitchFamily="34" charset="0"/>
                <a:ea typeface="Consolas" pitchFamily="34" charset="-122"/>
                <a:cs typeface="Consolas" pitchFamily="34" charset="-120"/>
              </a:rPr>
              <a:t>import </a:t>
            </a:r>
            <a:r>
              <a:rPr lang="en-US" sz="950" dirty="0" err="1">
                <a:solidFill>
                  <a:srgbClr val="A8D8EA"/>
                </a:solidFill>
                <a:latin typeface="Consolas" pitchFamily="34" charset="0"/>
                <a:ea typeface="Consolas" pitchFamily="34" charset="-122"/>
                <a:cs typeface="Consolas" pitchFamily="34" charset="-120"/>
              </a:rPr>
              <a:t>torchvision.transforms</a:t>
            </a:r>
            <a:r>
              <a:rPr lang="en-US" sz="950" dirty="0">
                <a:solidFill>
                  <a:srgbClr val="A8D8EA"/>
                </a:solidFill>
                <a:latin typeface="Consolas" pitchFamily="34" charset="0"/>
                <a:ea typeface="Consolas" pitchFamily="34" charset="-122"/>
                <a:cs typeface="Consolas" pitchFamily="34" charset="-120"/>
              </a:rPr>
              <a:t> as T</a:t>
            </a:r>
          </a:p>
          <a:p>
            <a:r>
              <a:rPr lang="en-US" sz="950" dirty="0">
                <a:solidFill>
                  <a:srgbClr val="A8D8EA"/>
                </a:solidFill>
                <a:latin typeface="Consolas" pitchFamily="34" charset="0"/>
                <a:ea typeface="Consolas" pitchFamily="34" charset="-122"/>
                <a:cs typeface="Consolas" pitchFamily="34" charset="-120"/>
              </a:rPr>
              <a:t>import </a:t>
            </a:r>
            <a:r>
              <a:rPr lang="en-US" sz="950" dirty="0" err="1">
                <a:solidFill>
                  <a:srgbClr val="A8D8EA"/>
                </a:solidFill>
                <a:latin typeface="Consolas" pitchFamily="34" charset="0"/>
                <a:ea typeface="Consolas" pitchFamily="34" charset="-122"/>
                <a:cs typeface="Consolas" pitchFamily="34" charset="-120"/>
              </a:rPr>
              <a:t>torchvision.transforms.functional</a:t>
            </a:r>
            <a:r>
              <a:rPr lang="en-US" sz="950" dirty="0">
                <a:solidFill>
                  <a:srgbClr val="A8D8EA"/>
                </a:solidFill>
                <a:latin typeface="Consolas" pitchFamily="34" charset="0"/>
                <a:ea typeface="Consolas" pitchFamily="34" charset="-122"/>
                <a:cs typeface="Consolas" pitchFamily="34" charset="-120"/>
              </a:rPr>
              <a:t> as TF</a:t>
            </a:r>
          </a:p>
          <a:p>
            <a:r>
              <a:rPr lang="en-US" sz="950" dirty="0">
                <a:solidFill>
                  <a:srgbClr val="A8D8EA"/>
                </a:solidFill>
                <a:latin typeface="Consolas" pitchFamily="34" charset="0"/>
                <a:ea typeface="Consolas" pitchFamily="34" charset="-122"/>
                <a:cs typeface="Consolas" pitchFamily="34" charset="-120"/>
              </a:rPr>
              <a:t>import torch</a:t>
            </a:r>
          </a:p>
          <a:p>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 </a:t>
            </a:r>
            <a:r>
              <a:rPr lang="en-US" sz="950" dirty="0" err="1">
                <a:solidFill>
                  <a:srgbClr val="A8D8EA"/>
                </a:solidFill>
                <a:latin typeface="Consolas" pitchFamily="34" charset="0"/>
                <a:ea typeface="Consolas" pitchFamily="34" charset="-122"/>
                <a:cs typeface="Consolas" pitchFamily="34" charset="-120"/>
              </a:rPr>
              <a:t>process_image</a:t>
            </a:r>
            <a:r>
              <a:rPr lang="en-US" sz="950" dirty="0">
                <a:solidFill>
                  <a:srgbClr val="A8D8EA"/>
                </a:solidFill>
                <a:latin typeface="Consolas" pitchFamily="34" charset="0"/>
                <a:ea typeface="Consolas" pitchFamily="34" charset="-122"/>
                <a:cs typeface="Consolas" pitchFamily="34" charset="-120"/>
              </a:rPr>
              <a:t>() is already defined in section 2 of the lab — reuse it</a:t>
            </a:r>
          </a:p>
          <a:p>
            <a:r>
              <a:rPr lang="en-US" sz="950" dirty="0">
                <a:solidFill>
                  <a:srgbClr val="A8D8EA"/>
                </a:solidFill>
                <a:latin typeface="Consolas" pitchFamily="34" charset="0"/>
                <a:ea typeface="Consolas" pitchFamily="34" charset="-122"/>
                <a:cs typeface="Consolas" pitchFamily="34" charset="-120"/>
              </a:rPr>
              <a:t>def </a:t>
            </a:r>
            <a:r>
              <a:rPr lang="en-US" sz="950" dirty="0" err="1">
                <a:solidFill>
                  <a:srgbClr val="A8D8EA"/>
                </a:solidFill>
                <a:latin typeface="Consolas" pitchFamily="34" charset="0"/>
                <a:ea typeface="Consolas" pitchFamily="34" charset="-122"/>
                <a:cs typeface="Consolas" pitchFamily="34" charset="-120"/>
              </a:rPr>
              <a:t>process_image</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file_name</a:t>
            </a:r>
            <a:r>
              <a:rPr lang="en-US" sz="950" dirty="0">
                <a:solidFill>
                  <a:srgbClr val="A8D8EA"/>
                </a:solidFill>
                <a:latin typeface="Consolas" pitchFamily="34" charset="0"/>
                <a:ea typeface="Consolas" pitchFamily="34" charset="-122"/>
                <a:cs typeface="Consolas" pitchFamily="34" charset="-120"/>
              </a:rPr>
              <a:t>):</a:t>
            </a:r>
          </a:p>
          <a:p>
            <a:r>
              <a:rPr lang="en-US" sz="950" dirty="0">
                <a:solidFill>
                  <a:srgbClr val="A8D8EA"/>
                </a:solidFill>
                <a:latin typeface="Consolas" pitchFamily="34" charset="0"/>
                <a:ea typeface="Consolas" pitchFamily="34" charset="-122"/>
                <a:cs typeface="Consolas" pitchFamily="34" charset="-120"/>
              </a:rPr>
              <a:t>    size = 384</a:t>
            </a:r>
          </a:p>
          <a:p>
            <a:r>
              <a:rPr lang="en-US" sz="950" dirty="0">
                <a:solidFill>
                  <a:srgbClr val="A8D8EA"/>
                </a:solidFill>
                <a:latin typeface="Consolas" pitchFamily="34" charset="0"/>
                <a:ea typeface="Consolas" pitchFamily="34" charset="-122"/>
                <a:cs typeface="Consolas" pitchFamily="34" charset="-120"/>
              </a:rPr>
              <a:t>    </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 </a:t>
            </a:r>
            <a:r>
              <a:rPr lang="en-US" sz="950" dirty="0" err="1">
                <a:solidFill>
                  <a:srgbClr val="A8D8EA"/>
                </a:solidFill>
                <a:latin typeface="Consolas" pitchFamily="34" charset="0"/>
                <a:ea typeface="Consolas" pitchFamily="34" charset="-122"/>
                <a:cs typeface="Consolas" pitchFamily="34" charset="-120"/>
              </a:rPr>
              <a:t>PIL.Image.open</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file_name</a:t>
            </a:r>
            <a:r>
              <a:rPr lang="en-US" sz="950" dirty="0">
                <a:solidFill>
                  <a:srgbClr val="A8D8EA"/>
                </a:solidFill>
                <a:latin typeface="Consolas" pitchFamily="34" charset="0"/>
                <a:ea typeface="Consolas" pitchFamily="34" charset="-122"/>
                <a:cs typeface="Consolas" pitchFamily="34" charset="-120"/>
              </a:rPr>
              <a:t>)</a:t>
            </a:r>
          </a:p>
          <a:p>
            <a:r>
              <a:rPr lang="en-US" sz="950" dirty="0">
                <a:solidFill>
                  <a:srgbClr val="A8D8EA"/>
                </a:solidFill>
                <a:latin typeface="Consolas" pitchFamily="34" charset="0"/>
                <a:ea typeface="Consolas" pitchFamily="34" charset="-122"/>
                <a:cs typeface="Consolas" pitchFamily="34" charset="-120"/>
              </a:rPr>
              <a:t>    s    = min(</a:t>
            </a:r>
            <a:r>
              <a:rPr lang="en-US" sz="950" dirty="0" err="1">
                <a:solidFill>
                  <a:srgbClr val="A8D8EA"/>
                </a:solidFill>
                <a:latin typeface="Consolas" pitchFamily="34" charset="0"/>
                <a:ea typeface="Consolas" pitchFamily="34" charset="-122"/>
                <a:cs typeface="Consolas" pitchFamily="34" charset="-120"/>
              </a:rPr>
              <a:t>img.size</a:t>
            </a:r>
            <a:r>
              <a:rPr lang="en-US" sz="950" dirty="0">
                <a:solidFill>
                  <a:srgbClr val="A8D8EA"/>
                </a:solidFill>
                <a:latin typeface="Consolas" pitchFamily="34" charset="0"/>
                <a:ea typeface="Consolas" pitchFamily="34" charset="-122"/>
                <a:cs typeface="Consolas" pitchFamily="34" charset="-120"/>
              </a:rPr>
              <a:t>)</a:t>
            </a:r>
          </a:p>
          <a:p>
            <a:r>
              <a:rPr lang="en-US" sz="950" dirty="0">
                <a:solidFill>
                  <a:srgbClr val="A8D8EA"/>
                </a:solidFill>
                <a:latin typeface="Consolas" pitchFamily="34" charset="0"/>
                <a:ea typeface="Consolas" pitchFamily="34" charset="-122"/>
                <a:cs typeface="Consolas" pitchFamily="34" charset="-120"/>
              </a:rPr>
              <a:t>    r    = size / s</a:t>
            </a:r>
          </a:p>
          <a:p>
            <a:r>
              <a:rPr lang="en-US" sz="950" dirty="0">
                <a:solidFill>
                  <a:srgbClr val="A8D8EA"/>
                </a:solidFill>
                <a:latin typeface="Consolas" pitchFamily="34" charset="0"/>
                <a:ea typeface="Consolas" pitchFamily="34" charset="-122"/>
                <a:cs typeface="Consolas" pitchFamily="34" charset="-120"/>
              </a:rPr>
              <a:t>    s    = (round(r * </a:t>
            </a:r>
            <a:r>
              <a:rPr lang="en-US" sz="950" dirty="0" err="1">
                <a:solidFill>
                  <a:srgbClr val="A8D8EA"/>
                </a:solidFill>
                <a:latin typeface="Consolas" pitchFamily="34" charset="0"/>
                <a:ea typeface="Consolas" pitchFamily="34" charset="-122"/>
                <a:cs typeface="Consolas" pitchFamily="34" charset="-120"/>
              </a:rPr>
              <a:t>img.size</a:t>
            </a:r>
            <a:r>
              <a:rPr lang="en-US" sz="950" dirty="0">
                <a:solidFill>
                  <a:srgbClr val="A8D8EA"/>
                </a:solidFill>
                <a:latin typeface="Consolas" pitchFamily="34" charset="0"/>
                <a:ea typeface="Consolas" pitchFamily="34" charset="-122"/>
                <a:cs typeface="Consolas" pitchFamily="34" charset="-120"/>
              </a:rPr>
              <a:t>[1]), round(r * </a:t>
            </a:r>
            <a:r>
              <a:rPr lang="en-US" sz="950" dirty="0" err="1">
                <a:solidFill>
                  <a:srgbClr val="A8D8EA"/>
                </a:solidFill>
                <a:latin typeface="Consolas" pitchFamily="34" charset="0"/>
                <a:ea typeface="Consolas" pitchFamily="34" charset="-122"/>
                <a:cs typeface="Consolas" pitchFamily="34" charset="-120"/>
              </a:rPr>
              <a:t>img.size</a:t>
            </a:r>
            <a:r>
              <a:rPr lang="en-US" sz="950" dirty="0">
                <a:solidFill>
                  <a:srgbClr val="A8D8EA"/>
                </a:solidFill>
                <a:latin typeface="Consolas" pitchFamily="34" charset="0"/>
                <a:ea typeface="Consolas" pitchFamily="34" charset="-122"/>
                <a:cs typeface="Consolas" pitchFamily="34" charset="-120"/>
              </a:rPr>
              <a:t>[0]))</a:t>
            </a:r>
          </a:p>
          <a:p>
            <a:r>
              <a:rPr lang="en-US" sz="950" dirty="0">
                <a:solidFill>
                  <a:srgbClr val="A8D8EA"/>
                </a:solidFill>
                <a:latin typeface="Consolas" pitchFamily="34" charset="0"/>
                <a:ea typeface="Consolas" pitchFamily="34" charset="-122"/>
                <a:cs typeface="Consolas" pitchFamily="34" charset="-120"/>
              </a:rPr>
              <a:t>    </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 </a:t>
            </a:r>
            <a:r>
              <a:rPr lang="en-US" sz="950" dirty="0" err="1">
                <a:solidFill>
                  <a:srgbClr val="A8D8EA"/>
                </a:solidFill>
                <a:latin typeface="Consolas" pitchFamily="34" charset="0"/>
                <a:ea typeface="Consolas" pitchFamily="34" charset="-122"/>
                <a:cs typeface="Consolas" pitchFamily="34" charset="-120"/>
              </a:rPr>
              <a:t>TF.resize</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s, interpolation=</a:t>
            </a:r>
            <a:r>
              <a:rPr lang="en-US" sz="950" dirty="0" err="1">
                <a:solidFill>
                  <a:srgbClr val="A8D8EA"/>
                </a:solidFill>
                <a:latin typeface="Consolas" pitchFamily="34" charset="0"/>
                <a:ea typeface="Consolas" pitchFamily="34" charset="-122"/>
                <a:cs typeface="Consolas" pitchFamily="34" charset="-120"/>
              </a:rPr>
              <a:t>PIL.Image.LANCZOS</a:t>
            </a:r>
            <a:r>
              <a:rPr lang="en-US" sz="950" dirty="0">
                <a:solidFill>
                  <a:srgbClr val="A8D8EA"/>
                </a:solidFill>
                <a:latin typeface="Consolas" pitchFamily="34" charset="0"/>
                <a:ea typeface="Consolas" pitchFamily="34" charset="-122"/>
                <a:cs typeface="Consolas" pitchFamily="34" charset="-120"/>
              </a:rPr>
              <a:t>)</a:t>
            </a:r>
          </a:p>
          <a:p>
            <a:r>
              <a:rPr lang="en-US" sz="950" dirty="0">
                <a:solidFill>
                  <a:srgbClr val="A8D8EA"/>
                </a:solidFill>
                <a:latin typeface="Consolas" pitchFamily="34" charset="0"/>
                <a:ea typeface="Consolas" pitchFamily="34" charset="-122"/>
                <a:cs typeface="Consolas" pitchFamily="34" charset="-120"/>
              </a:rPr>
              <a:t>    </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 </a:t>
            </a:r>
            <a:r>
              <a:rPr lang="en-US" sz="950" dirty="0" err="1">
                <a:solidFill>
                  <a:srgbClr val="A8D8EA"/>
                </a:solidFill>
                <a:latin typeface="Consolas" pitchFamily="34" charset="0"/>
                <a:ea typeface="Consolas" pitchFamily="34" charset="-122"/>
                <a:cs typeface="Consolas" pitchFamily="34" charset="-120"/>
              </a:rPr>
              <a:t>TF.center_crop</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a:t>
            </a:r>
            <a:r>
              <a:rPr lang="en-US" sz="950" dirty="0" err="1">
                <a:solidFill>
                  <a:srgbClr val="A8D8EA"/>
                </a:solidFill>
                <a:latin typeface="Consolas" pitchFamily="34" charset="0"/>
                <a:ea typeface="Consolas" pitchFamily="34" charset="-122"/>
                <a:cs typeface="Consolas" pitchFamily="34" charset="-120"/>
              </a:rPr>
              <a:t>output_size</a:t>
            </a:r>
            <a:r>
              <a:rPr lang="en-US" sz="950" dirty="0">
                <a:solidFill>
                  <a:srgbClr val="A8D8EA"/>
                </a:solidFill>
                <a:latin typeface="Consolas" pitchFamily="34" charset="0"/>
                <a:ea typeface="Consolas" pitchFamily="34" charset="-122"/>
                <a:cs typeface="Consolas" pitchFamily="34" charset="-120"/>
              </a:rPr>
              <a:t>=2 * [size])</a:t>
            </a:r>
          </a:p>
          <a:p>
            <a:r>
              <a:rPr lang="en-US" sz="950" dirty="0">
                <a:solidFill>
                  <a:srgbClr val="A8D8EA"/>
                </a:solidFill>
                <a:latin typeface="Consolas" pitchFamily="34" charset="0"/>
                <a:ea typeface="Consolas" pitchFamily="34" charset="-122"/>
                <a:cs typeface="Consolas" pitchFamily="34" charset="-120"/>
              </a:rPr>
              <a:t>    return </a:t>
            </a:r>
            <a:r>
              <a:rPr lang="en-US" sz="950" dirty="0" err="1">
                <a:solidFill>
                  <a:srgbClr val="A8D8EA"/>
                </a:solidFill>
                <a:latin typeface="Consolas" pitchFamily="34" charset="0"/>
                <a:ea typeface="Consolas" pitchFamily="34" charset="-122"/>
                <a:cs typeface="Consolas" pitchFamily="34" charset="-120"/>
              </a:rPr>
              <a:t>torch.unsqueeze</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T.ToTensor</a:t>
            </a:r>
            <a:r>
              <a:rPr lang="en-US" sz="950" dirty="0">
                <a:solidFill>
                  <a:srgbClr val="A8D8EA"/>
                </a:solidFill>
                <a:latin typeface="Consolas" pitchFamily="34" charset="0"/>
                <a:ea typeface="Consolas" pitchFamily="34" charset="-122"/>
                <a:cs typeface="Consolas" pitchFamily="34" charset="-120"/>
              </a:rPr>
              <a:t>()(</a:t>
            </a:r>
            <a:r>
              <a:rPr lang="en-US" sz="950" dirty="0" err="1">
                <a:solidFill>
                  <a:srgbClr val="A8D8EA"/>
                </a:solidFill>
                <a:latin typeface="Consolas" pitchFamily="34" charset="0"/>
                <a:ea typeface="Consolas" pitchFamily="34" charset="-122"/>
                <a:cs typeface="Consolas" pitchFamily="34" charset="-120"/>
              </a:rPr>
              <a:t>img</a:t>
            </a:r>
            <a:r>
              <a:rPr lang="en-US" sz="950" dirty="0">
                <a:solidFill>
                  <a:srgbClr val="A8D8EA"/>
                </a:solidFill>
                <a:latin typeface="Consolas" pitchFamily="34" charset="0"/>
                <a:ea typeface="Consolas" pitchFamily="34" charset="-122"/>
                <a:cs typeface="Consolas" pitchFamily="34" charset="-120"/>
              </a:rPr>
              <a:t>), 0) * 2 - 1</a:t>
            </a:r>
          </a:p>
          <a:p>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image3 = </a:t>
            </a:r>
            <a:r>
              <a:rPr lang="en-US" sz="950" dirty="0" err="1">
                <a:solidFill>
                  <a:srgbClr val="A8D8EA"/>
                </a:solidFill>
                <a:latin typeface="Consolas" pitchFamily="34" charset="0"/>
                <a:ea typeface="Consolas" pitchFamily="34" charset="-122"/>
                <a:cs typeface="Consolas" pitchFamily="34" charset="-120"/>
              </a:rPr>
              <a:t>process_image</a:t>
            </a:r>
            <a:r>
              <a:rPr lang="en-US" sz="950" dirty="0">
                <a:solidFill>
                  <a:srgbClr val="A8D8EA"/>
                </a:solidFill>
                <a:latin typeface="Consolas" pitchFamily="34" charset="0"/>
                <a:ea typeface="Consolas" pitchFamily="34" charset="-122"/>
                <a:cs typeface="Consolas" pitchFamily="34" charset="-120"/>
              </a:rPr>
              <a:t>("files/bird.png")    # (1, 3, 384, 384), range [-1,1]</a:t>
            </a:r>
          </a:p>
          <a:p>
            <a:r>
              <a:rPr lang="en-US" sz="950" dirty="0">
                <a:solidFill>
                  <a:srgbClr val="A8D8EA"/>
                </a:solidFill>
                <a:latin typeface="Consolas" pitchFamily="34" charset="0"/>
                <a:ea typeface="Consolas" pitchFamily="34" charset="-122"/>
                <a:cs typeface="Consolas" pitchFamily="34" charset="-120"/>
              </a:rPr>
              <a:t>image4 = </a:t>
            </a:r>
            <a:r>
              <a:rPr lang="en-US" sz="950" dirty="0" err="1">
                <a:solidFill>
                  <a:srgbClr val="A8D8EA"/>
                </a:solidFill>
                <a:latin typeface="Consolas" pitchFamily="34" charset="0"/>
                <a:ea typeface="Consolas" pitchFamily="34" charset="-122"/>
                <a:cs typeface="Consolas" pitchFamily="34" charset="-120"/>
              </a:rPr>
              <a:t>process_image</a:t>
            </a:r>
            <a:r>
              <a:rPr lang="en-US" sz="950" dirty="0">
                <a:solidFill>
                  <a:srgbClr val="A8D8EA"/>
                </a:solidFill>
                <a:latin typeface="Consolas" pitchFamily="34" charset="0"/>
                <a:ea typeface="Consolas" pitchFamily="34" charset="-122"/>
                <a:cs typeface="Consolas" pitchFamily="34" charset="-120"/>
              </a:rPr>
              <a:t>("files/bunny.png")   # (1, 3, 384, 384), range [-1,1]</a:t>
            </a:r>
          </a:p>
          <a:p>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print(f"image3 shape: {image3.shape}")</a:t>
            </a:r>
          </a:p>
          <a:p>
            <a:r>
              <a:rPr lang="en-US" sz="950" dirty="0">
                <a:solidFill>
                  <a:srgbClr val="A8D8EA"/>
                </a:solidFill>
                <a:latin typeface="Consolas" pitchFamily="34" charset="0"/>
                <a:ea typeface="Consolas" pitchFamily="34" charset="-122"/>
                <a:cs typeface="Consolas" pitchFamily="34" charset="-120"/>
              </a:rPr>
              <a:t>print(f"image4 shape: {image4.shape}")</a:t>
            </a:r>
          </a:p>
          <a:p>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 Run the full VQGAN encode → quantize → decode pipeline</a:t>
            </a:r>
          </a:p>
          <a:p>
            <a:r>
              <a:rPr lang="en-US" sz="950" dirty="0">
                <a:solidFill>
                  <a:srgbClr val="A8D8EA"/>
                </a:solidFill>
                <a:latin typeface="Consolas" pitchFamily="34" charset="0"/>
                <a:ea typeface="Consolas" pitchFamily="34" charset="-122"/>
                <a:cs typeface="Consolas" pitchFamily="34" charset="-120"/>
              </a:rPr>
              <a:t>reconstruct3, _ = model(image3.to(device))  # model() calls </a:t>
            </a:r>
            <a:r>
              <a:rPr lang="en-US" sz="950" dirty="0" err="1">
                <a:solidFill>
                  <a:srgbClr val="A8D8EA"/>
                </a:solidFill>
                <a:latin typeface="Consolas" pitchFamily="34" charset="0"/>
                <a:ea typeface="Consolas" pitchFamily="34" charset="-122"/>
                <a:cs typeface="Consolas" pitchFamily="34" charset="-120"/>
              </a:rPr>
              <a:t>encoder+quantize+decoder</a:t>
            </a:r>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reconstruct4, _ = model(image4.to(device))</a:t>
            </a:r>
          </a:p>
          <a:p>
            <a:endParaRPr lang="en-US" sz="950" dirty="0">
              <a:solidFill>
                <a:srgbClr val="A8D8EA"/>
              </a:solidFill>
              <a:latin typeface="Consolas" pitchFamily="34" charset="0"/>
              <a:ea typeface="Consolas" pitchFamily="34" charset="-122"/>
              <a:cs typeface="Consolas" pitchFamily="34" charset="-120"/>
            </a:endParaRPr>
          </a:p>
          <a:p>
            <a:r>
              <a:rPr lang="en-US" sz="950" dirty="0">
                <a:solidFill>
                  <a:srgbClr val="A8D8EA"/>
                </a:solidFill>
                <a:latin typeface="Consolas" pitchFamily="34" charset="0"/>
                <a:ea typeface="Consolas" pitchFamily="34" charset="-122"/>
                <a:cs typeface="Consolas" pitchFamily="34" charset="-120"/>
              </a:rPr>
              <a:t>print(f"reconstruct3 shape: {reconstruct3.shape}")</a:t>
            </a:r>
          </a:p>
          <a:p>
            <a:r>
              <a:rPr lang="en-US" sz="950" dirty="0">
                <a:solidFill>
                  <a:srgbClr val="A8D8EA"/>
                </a:solidFill>
                <a:latin typeface="Consolas" pitchFamily="34" charset="0"/>
                <a:ea typeface="Consolas" pitchFamily="34" charset="-122"/>
                <a:cs typeface="Consolas" pitchFamily="34" charset="-120"/>
              </a:rPr>
              <a:t>print(f"reconstruct4 shape: {reconstruct4.shape}")</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AAF9C5C2-C72E-6364-FE19-48B58D9CAF95}"/>
              </a:ext>
            </a:extLst>
          </p:cNvPr>
          <p:cNvSpPr/>
          <p:nvPr/>
        </p:nvSpPr>
        <p:spPr>
          <a:xfrm>
            <a:off x="487679" y="5800185"/>
            <a:ext cx="11522809" cy="960924"/>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127CB948-2BA0-2C91-7F24-DA571D198281}"/>
              </a:ext>
            </a:extLst>
          </p:cNvPr>
          <p:cNvSpPr/>
          <p:nvPr/>
        </p:nvSpPr>
        <p:spPr>
          <a:xfrm>
            <a:off x="495865" y="5848954"/>
            <a:ext cx="11175886" cy="843441"/>
          </a:xfrm>
          <a:prstGeom prst="rect">
            <a:avLst/>
          </a:prstGeom>
          <a:noFill/>
          <a:ln/>
        </p:spPr>
        <p:txBody>
          <a:bodyPr wrap="square" rtlCol="0" anchor="t"/>
          <a:lstStyle/>
          <a:p>
            <a:r>
              <a:rPr lang="en-US" sz="1050" b="1" dirty="0">
                <a:solidFill>
                  <a:srgbClr val="2E7D5E"/>
                </a:solidFill>
                <a:latin typeface="Calibri" pitchFamily="34" charset="0"/>
                <a:ea typeface="Calibri" pitchFamily="34" charset="-122"/>
                <a:cs typeface="Calibri" pitchFamily="34" charset="-120"/>
              </a:rPr>
              <a:t>Expected output
</a:t>
            </a:r>
            <a:r>
              <a:rPr lang="en-US" sz="1050" dirty="0">
                <a:solidFill>
                  <a:srgbClr val="1B4F2A"/>
                </a:solidFill>
                <a:latin typeface="Calibri" pitchFamily="34" charset="0"/>
                <a:ea typeface="Calibri" pitchFamily="34" charset="-122"/>
                <a:cs typeface="Calibri" pitchFamily="34" charset="-120"/>
              </a:rPr>
              <a:t>image3 shape: </a:t>
            </a:r>
            <a:r>
              <a:rPr lang="en-US" sz="1050" dirty="0" err="1">
                <a:solidFill>
                  <a:srgbClr val="1B4F2A"/>
                </a:solidFill>
                <a:latin typeface="Calibri" pitchFamily="34" charset="0"/>
                <a:ea typeface="Calibri" pitchFamily="34" charset="-122"/>
                <a:cs typeface="Calibri" pitchFamily="34" charset="-120"/>
              </a:rPr>
              <a:t>torch.Size</a:t>
            </a:r>
            <a:r>
              <a:rPr lang="en-US" sz="1050" dirty="0">
                <a:solidFill>
                  <a:srgbClr val="1B4F2A"/>
                </a:solidFill>
                <a:latin typeface="Calibri" pitchFamily="34" charset="0"/>
                <a:ea typeface="Calibri" pitchFamily="34" charset="-122"/>
                <a:cs typeface="Calibri" pitchFamily="34" charset="-120"/>
              </a:rPr>
              <a:t>([1, 3, 384, 384])</a:t>
            </a:r>
            <a:endParaRPr lang="en-US" sz="1050" dirty="0"/>
          </a:p>
          <a:p>
            <a:r>
              <a:rPr lang="en-US" sz="1050" dirty="0">
                <a:solidFill>
                  <a:srgbClr val="1B4F2A"/>
                </a:solidFill>
                <a:latin typeface="Calibri" pitchFamily="34" charset="0"/>
                <a:ea typeface="Calibri" pitchFamily="34" charset="-122"/>
                <a:cs typeface="Calibri" pitchFamily="34" charset="-120"/>
              </a:rPr>
              <a:t>image4 shape: </a:t>
            </a:r>
            <a:r>
              <a:rPr lang="en-US" sz="1050" dirty="0" err="1">
                <a:solidFill>
                  <a:srgbClr val="1B4F2A"/>
                </a:solidFill>
                <a:latin typeface="Calibri" pitchFamily="34" charset="0"/>
                <a:ea typeface="Calibri" pitchFamily="34" charset="-122"/>
                <a:cs typeface="Calibri" pitchFamily="34" charset="-120"/>
              </a:rPr>
              <a:t>torch.Size</a:t>
            </a:r>
            <a:r>
              <a:rPr lang="en-US" sz="1050" dirty="0">
                <a:solidFill>
                  <a:srgbClr val="1B4F2A"/>
                </a:solidFill>
                <a:latin typeface="Calibri" pitchFamily="34" charset="0"/>
                <a:ea typeface="Calibri" pitchFamily="34" charset="-122"/>
                <a:cs typeface="Calibri" pitchFamily="34" charset="-120"/>
              </a:rPr>
              <a:t>([1, 3, 384, 384])</a:t>
            </a:r>
            <a:endParaRPr lang="en-US" sz="1050" dirty="0"/>
          </a:p>
          <a:p>
            <a:r>
              <a:rPr lang="en-US" sz="1050" dirty="0">
                <a:solidFill>
                  <a:srgbClr val="1B4F2A"/>
                </a:solidFill>
                <a:latin typeface="Calibri" pitchFamily="34" charset="0"/>
                <a:ea typeface="Calibri" pitchFamily="34" charset="-122"/>
                <a:cs typeface="Calibri" pitchFamily="34" charset="-120"/>
              </a:rPr>
              <a:t>reconstruct3 shape: </a:t>
            </a:r>
            <a:r>
              <a:rPr lang="en-US" sz="1050" dirty="0" err="1">
                <a:solidFill>
                  <a:srgbClr val="1B4F2A"/>
                </a:solidFill>
                <a:latin typeface="Calibri" pitchFamily="34" charset="0"/>
                <a:ea typeface="Calibri" pitchFamily="34" charset="-122"/>
                <a:cs typeface="Calibri" pitchFamily="34" charset="-120"/>
              </a:rPr>
              <a:t>torch.Size</a:t>
            </a:r>
            <a:r>
              <a:rPr lang="en-US" sz="1050" dirty="0">
                <a:solidFill>
                  <a:srgbClr val="1B4F2A"/>
                </a:solidFill>
                <a:latin typeface="Calibri" pitchFamily="34" charset="0"/>
                <a:ea typeface="Calibri" pitchFamily="34" charset="-122"/>
                <a:cs typeface="Calibri" pitchFamily="34" charset="-120"/>
              </a:rPr>
              <a:t>([1, 3, 384, 384])</a:t>
            </a:r>
            <a:endParaRPr lang="en-US" sz="1050" dirty="0"/>
          </a:p>
          <a:p>
            <a:r>
              <a:rPr lang="en-US" sz="1050" dirty="0">
                <a:solidFill>
                  <a:srgbClr val="1B4F2A"/>
                </a:solidFill>
                <a:latin typeface="Calibri" pitchFamily="34" charset="0"/>
                <a:ea typeface="Calibri" pitchFamily="34" charset="-122"/>
                <a:cs typeface="Calibri" pitchFamily="34" charset="-120"/>
              </a:rPr>
              <a:t>reconstruct4 shape: </a:t>
            </a:r>
            <a:r>
              <a:rPr lang="en-US" sz="1050" dirty="0" err="1">
                <a:solidFill>
                  <a:srgbClr val="1B4F2A"/>
                </a:solidFill>
                <a:latin typeface="Calibri" pitchFamily="34" charset="0"/>
                <a:ea typeface="Calibri" pitchFamily="34" charset="-122"/>
                <a:cs typeface="Calibri" pitchFamily="34" charset="-120"/>
              </a:rPr>
              <a:t>torch.Size</a:t>
            </a:r>
            <a:r>
              <a:rPr lang="en-US" sz="1050" dirty="0">
                <a:solidFill>
                  <a:srgbClr val="1B4F2A"/>
                </a:solidFill>
                <a:latin typeface="Calibri" pitchFamily="34" charset="0"/>
                <a:ea typeface="Calibri" pitchFamily="34" charset="-122"/>
                <a:cs typeface="Calibri" pitchFamily="34" charset="-120"/>
              </a:rPr>
              <a:t>([1, 3, 384, 384])</a:t>
            </a:r>
            <a:endParaRPr lang="en-US" sz="1050" dirty="0"/>
          </a:p>
          <a:p>
            <a:pPr marL="0" indent="0">
              <a:buNone/>
            </a:pP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Plot all four in 1×4 grid</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Place the two original images, image3 and image4, and the two reconstructed ones, reconstruct3 and reconstruct4, in a list </a:t>
            </a:r>
            <a:r>
              <a:rPr lang="en-US" sz="1333" i="1" dirty="0" err="1">
                <a:solidFill>
                  <a:srgbClr val="1A237E"/>
                </a:solidFill>
                <a:latin typeface="Calibri" pitchFamily="34" charset="0"/>
                <a:ea typeface="Calibri" pitchFamily="34" charset="-122"/>
                <a:cs typeface="Calibri" pitchFamily="34" charset="-120"/>
              </a:rPr>
              <a:t>imgs</a:t>
            </a:r>
            <a:r>
              <a:rPr lang="en-US" sz="1333" i="1" dirty="0">
                <a:solidFill>
                  <a:srgbClr val="1A237E"/>
                </a:solidFill>
                <a:latin typeface="Calibri" pitchFamily="34" charset="0"/>
                <a:ea typeface="Calibri" pitchFamily="34" charset="-122"/>
                <a:cs typeface="Calibri" pitchFamily="34" charset="-120"/>
              </a:rPr>
              <a:t>. Plot the four images in a  1×4  grid, and add a caption of either original or reconstructed above each image.</a:t>
            </a:r>
            <a:endParaRPr lang="en-US" sz="1333" dirty="0"/>
          </a:p>
        </p:txBody>
      </p:sp>
      <p:sp>
        <p:nvSpPr>
          <p:cNvPr id="8" name="Shape 6"/>
          <p:cNvSpPr/>
          <p:nvPr/>
        </p:nvSpPr>
        <p:spPr>
          <a:xfrm>
            <a:off x="487680" y="1560574"/>
            <a:ext cx="11522810" cy="3242432"/>
          </a:xfrm>
          <a:prstGeom prst="rect">
            <a:avLst/>
          </a:prstGeom>
          <a:solidFill>
            <a:srgbClr val="1E2A3A"/>
          </a:solidFill>
          <a:ln w="10160">
            <a:solidFill>
              <a:srgbClr val="00E5FF"/>
            </a:solidFill>
            <a:prstDash val="solid"/>
          </a:ln>
        </p:spPr>
        <p:txBody>
          <a:bodyPr/>
          <a:lstStyle/>
          <a:p>
            <a:r>
              <a:rPr lang="en-US" sz="1100" dirty="0">
                <a:solidFill>
                  <a:srgbClr val="A8D8EA"/>
                </a:solidFill>
                <a:latin typeface="Consolas" pitchFamily="34" charset="0"/>
                <a:ea typeface="Consolas" pitchFamily="34" charset="-122"/>
                <a:cs typeface="Consolas" pitchFamily="34" charset="-120"/>
              </a:rPr>
              <a:t>import </a:t>
            </a:r>
            <a:r>
              <a:rPr lang="en-US" sz="1100" dirty="0" err="1">
                <a:solidFill>
                  <a:srgbClr val="A8D8EA"/>
                </a:solidFill>
                <a:latin typeface="Consolas" pitchFamily="34" charset="0"/>
                <a:ea typeface="Consolas" pitchFamily="34" charset="-122"/>
                <a:cs typeface="Consolas" pitchFamily="34" charset="-120"/>
              </a:rPr>
              <a:t>matplotlib.pyplot</a:t>
            </a:r>
            <a:r>
              <a:rPr lang="en-US" sz="1100" dirty="0">
                <a:solidFill>
                  <a:srgbClr val="A8D8EA"/>
                </a:solidFill>
                <a:latin typeface="Consolas" pitchFamily="34" charset="0"/>
                <a:ea typeface="Consolas" pitchFamily="34" charset="-122"/>
                <a:cs typeface="Consolas" pitchFamily="34" charset="-120"/>
              </a:rPr>
              <a:t> as </a:t>
            </a:r>
            <a:r>
              <a:rPr lang="en-US" sz="1100" dirty="0" err="1">
                <a:solidFill>
                  <a:srgbClr val="A8D8EA"/>
                </a:solidFill>
                <a:latin typeface="Consolas" pitchFamily="34" charset="0"/>
                <a:ea typeface="Consolas" pitchFamily="34" charset="-122"/>
                <a:cs typeface="Consolas" pitchFamily="34" charset="-120"/>
              </a:rPr>
              <a:t>plt</a:t>
            </a:r>
            <a:endParaRPr lang="en-US" sz="1100" dirty="0">
              <a:solidFill>
                <a:srgbClr val="A8D8EA"/>
              </a:solidFill>
              <a:latin typeface="Consolas" pitchFamily="34" charset="0"/>
              <a:ea typeface="Consolas" pitchFamily="34" charset="-122"/>
              <a:cs typeface="Consolas" pitchFamily="34" charset="-120"/>
            </a:endParaRPr>
          </a:p>
          <a:p>
            <a:endParaRPr lang="en-US" sz="1100" dirty="0">
              <a:solidFill>
                <a:srgbClr val="A8D8EA"/>
              </a:solidFill>
              <a:latin typeface="Consolas" pitchFamily="34" charset="0"/>
              <a:ea typeface="Consolas" pitchFamily="34" charset="-122"/>
              <a:cs typeface="Consolas" pitchFamily="34" charset="-120"/>
            </a:endParaRPr>
          </a:p>
          <a:p>
            <a:r>
              <a:rPr lang="en-US" sz="1100" dirty="0" err="1">
                <a:solidFill>
                  <a:srgbClr val="A8D8EA"/>
                </a:solidFill>
                <a:latin typeface="Consolas" pitchFamily="34" charset="0"/>
                <a:ea typeface="Consolas" pitchFamily="34" charset="-122"/>
                <a:cs typeface="Consolas" pitchFamily="34" charset="-120"/>
              </a:rPr>
              <a:t>imgs</a:t>
            </a:r>
            <a:r>
              <a:rPr lang="en-US" sz="1100" dirty="0">
                <a:solidFill>
                  <a:srgbClr val="A8D8EA"/>
                </a:solidFill>
                <a:latin typeface="Consolas" pitchFamily="34" charset="0"/>
                <a:ea typeface="Consolas" pitchFamily="34" charset="-122"/>
                <a:cs typeface="Consolas" pitchFamily="34" charset="-120"/>
              </a:rPr>
              <a:t> = [</a:t>
            </a:r>
          </a:p>
          <a:p>
            <a:r>
              <a:rPr lang="en-US" sz="1100" dirty="0">
                <a:solidFill>
                  <a:srgbClr val="A8D8EA"/>
                </a:solidFill>
                <a:latin typeface="Consolas" pitchFamily="34" charset="0"/>
                <a:ea typeface="Consolas" pitchFamily="34" charset="-122"/>
                <a:cs typeface="Consolas" pitchFamily="34" charset="-120"/>
              </a:rPr>
              <a:t>    image3[0].</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().permute(1, 2, 0) * 0.5 + 0.5,          # bird original</a:t>
            </a:r>
          </a:p>
          <a:p>
            <a:r>
              <a:rPr lang="en-US" sz="1100" dirty="0">
                <a:solidFill>
                  <a:srgbClr val="A8D8EA"/>
                </a:solidFill>
                <a:latin typeface="Consolas" pitchFamily="34" charset="0"/>
                <a:ea typeface="Consolas" pitchFamily="34" charset="-122"/>
                <a:cs typeface="Consolas" pitchFamily="34" charset="-120"/>
              </a:rPr>
              <a:t>    reconstruct3[0].</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().permute(1, 2, 0) * 0.5 + 0.5,    # bird reconstructed</a:t>
            </a:r>
          </a:p>
          <a:p>
            <a:r>
              <a:rPr lang="en-US" sz="1100" dirty="0">
                <a:solidFill>
                  <a:srgbClr val="A8D8EA"/>
                </a:solidFill>
                <a:latin typeface="Consolas" pitchFamily="34" charset="0"/>
                <a:ea typeface="Consolas" pitchFamily="34" charset="-122"/>
                <a:cs typeface="Consolas" pitchFamily="34" charset="-120"/>
              </a:rPr>
              <a:t>    image4[0].</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().permute(1, 2, 0) * 0.5 + 0.5,          # bunny original</a:t>
            </a:r>
          </a:p>
          <a:p>
            <a:r>
              <a:rPr lang="en-US" sz="1100" dirty="0">
                <a:solidFill>
                  <a:srgbClr val="A8D8EA"/>
                </a:solidFill>
                <a:latin typeface="Consolas" pitchFamily="34" charset="0"/>
                <a:ea typeface="Consolas" pitchFamily="34" charset="-122"/>
                <a:cs typeface="Consolas" pitchFamily="34" charset="-120"/>
              </a:rPr>
              <a:t>    reconstruct4[0].</a:t>
            </a:r>
            <a:r>
              <a:rPr lang="en-US" sz="1100" dirty="0" err="1">
                <a:solidFill>
                  <a:srgbClr val="A8D8EA"/>
                </a:solidFill>
                <a:latin typeface="Consolas" pitchFamily="34" charset="0"/>
                <a:ea typeface="Consolas" pitchFamily="34" charset="-122"/>
                <a:cs typeface="Consolas" pitchFamily="34" charset="-120"/>
              </a:rPr>
              <a:t>cpu</a:t>
            </a:r>
            <a:r>
              <a:rPr lang="en-US" sz="1100" dirty="0">
                <a:solidFill>
                  <a:srgbClr val="A8D8EA"/>
                </a:solidFill>
                <a:latin typeface="Consolas" pitchFamily="34" charset="0"/>
                <a:ea typeface="Consolas" pitchFamily="34" charset="-122"/>
                <a:cs typeface="Consolas" pitchFamily="34" charset="-120"/>
              </a:rPr>
              <a:t>().permute(1, 2, 0) * 0.5 + 0.5,    # bunny reconstructed</a:t>
            </a:r>
          </a:p>
          <a:p>
            <a:r>
              <a:rPr lang="en-US" sz="1100" dirty="0">
                <a:solidFill>
                  <a:srgbClr val="A8D8EA"/>
                </a:solidFill>
                <a:latin typeface="Consolas" pitchFamily="34" charset="0"/>
                <a:ea typeface="Consolas" pitchFamily="34" charset="-122"/>
                <a:cs typeface="Consolas" pitchFamily="34" charset="-120"/>
              </a:rPr>
              <a:t>]</a:t>
            </a:r>
          </a:p>
          <a:p>
            <a:endParaRPr lang="en-US" sz="1100" dirty="0">
              <a:solidFill>
                <a:srgbClr val="A8D8EA"/>
              </a:solidFill>
              <a:latin typeface="Consolas" pitchFamily="34" charset="0"/>
              <a:ea typeface="Consolas" pitchFamily="34" charset="-122"/>
              <a:cs typeface="Consolas" pitchFamily="34" charset="-120"/>
            </a:endParaRPr>
          </a:p>
          <a:p>
            <a:r>
              <a:rPr lang="en-US" sz="1100" dirty="0">
                <a:solidFill>
                  <a:srgbClr val="A8D8EA"/>
                </a:solidFill>
                <a:latin typeface="Consolas" pitchFamily="34" charset="0"/>
                <a:ea typeface="Consolas" pitchFamily="34" charset="-122"/>
                <a:cs typeface="Consolas" pitchFamily="34" charset="-120"/>
              </a:rPr>
              <a:t>captions = ["original", "reconstructed"] * 2   # alternates for all 4</a:t>
            </a:r>
          </a:p>
          <a:p>
            <a:endParaRPr lang="en-US" sz="1100" dirty="0">
              <a:solidFill>
                <a:srgbClr val="A8D8EA"/>
              </a:solidFill>
              <a:latin typeface="Consolas" pitchFamily="34" charset="0"/>
              <a:ea typeface="Consolas" pitchFamily="34" charset="-122"/>
              <a:cs typeface="Consolas" pitchFamily="34" charset="-120"/>
            </a:endParaRPr>
          </a:p>
          <a:p>
            <a:r>
              <a:rPr lang="en-US" sz="1100" dirty="0" err="1">
                <a:solidFill>
                  <a:srgbClr val="A8D8EA"/>
                </a:solidFill>
                <a:latin typeface="Consolas" pitchFamily="34" charset="0"/>
                <a:ea typeface="Consolas" pitchFamily="34" charset="-122"/>
                <a:cs typeface="Consolas" pitchFamily="34" charset="-120"/>
              </a:rPr>
              <a:t>plt.figure</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figsize</a:t>
            </a:r>
            <a:r>
              <a:rPr lang="en-US" sz="1100" dirty="0">
                <a:solidFill>
                  <a:srgbClr val="A8D8EA"/>
                </a:solidFill>
                <a:latin typeface="Consolas" pitchFamily="34" charset="0"/>
                <a:ea typeface="Consolas" pitchFamily="34" charset="-122"/>
                <a:cs typeface="Consolas" pitchFamily="34" charset="-120"/>
              </a:rPr>
              <a:t>=(10, 3), dpi=100)</a:t>
            </a:r>
          </a:p>
          <a:p>
            <a:r>
              <a:rPr lang="en-US" sz="1100" dirty="0">
                <a:solidFill>
                  <a:srgbClr val="A8D8EA"/>
                </a:solidFill>
                <a:latin typeface="Consolas" pitchFamily="34" charset="0"/>
                <a:ea typeface="Consolas" pitchFamily="34" charset="-122"/>
                <a:cs typeface="Consolas" pitchFamily="34" charset="-120"/>
              </a:rPr>
              <a:t>for </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in range(4):</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plt.subplot</a:t>
            </a:r>
            <a:r>
              <a:rPr lang="en-US" sz="1100" dirty="0">
                <a:solidFill>
                  <a:srgbClr val="A8D8EA"/>
                </a:solidFill>
                <a:latin typeface="Consolas" pitchFamily="34" charset="0"/>
                <a:ea typeface="Consolas" pitchFamily="34" charset="-122"/>
                <a:cs typeface="Consolas" pitchFamily="34" charset="-120"/>
              </a:rPr>
              <a:t>(1, 4, </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+ 1)</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plt.imshow</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imgs</a:t>
            </a:r>
            <a:r>
              <a:rPr lang="en-US" sz="1100" dirty="0">
                <a:solidFill>
                  <a:srgbClr val="A8D8EA"/>
                </a:solidFill>
                <a:latin typeface="Consolas" pitchFamily="34" charset="0"/>
                <a:ea typeface="Consolas" pitchFamily="34" charset="-122"/>
                <a:cs typeface="Consolas" pitchFamily="34" charset="-120"/>
              </a:rPr>
              <a:t>[</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].clamp(0, 1))          # clamp prevents display artefacts</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plt.title</a:t>
            </a:r>
            <a:r>
              <a:rPr lang="en-US" sz="1100" dirty="0">
                <a:solidFill>
                  <a:srgbClr val="A8D8EA"/>
                </a:solidFill>
                <a:latin typeface="Consolas" pitchFamily="34" charset="0"/>
                <a:ea typeface="Consolas" pitchFamily="34" charset="-122"/>
                <a:cs typeface="Consolas" pitchFamily="34" charset="-120"/>
              </a:rPr>
              <a:t>(captions[</a:t>
            </a:r>
            <a:r>
              <a:rPr lang="en-US" sz="1100" dirty="0" err="1">
                <a:solidFill>
                  <a:srgbClr val="A8D8EA"/>
                </a:solidFill>
                <a:latin typeface="Consolas" pitchFamily="34" charset="0"/>
                <a:ea typeface="Consolas" pitchFamily="34" charset="-122"/>
                <a:cs typeface="Consolas" pitchFamily="34" charset="-120"/>
              </a:rPr>
              <a:t>i</a:t>
            </a:r>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fontsize</a:t>
            </a:r>
            <a:r>
              <a:rPr lang="en-US" sz="1100" dirty="0">
                <a:solidFill>
                  <a:srgbClr val="A8D8EA"/>
                </a:solidFill>
                <a:latin typeface="Consolas" pitchFamily="34" charset="0"/>
                <a:ea typeface="Consolas" pitchFamily="34" charset="-122"/>
                <a:cs typeface="Consolas" pitchFamily="34" charset="-120"/>
              </a:rPr>
              <a:t>=13)</a:t>
            </a:r>
          </a:p>
          <a:p>
            <a:r>
              <a:rPr lang="en-US" sz="1100" dirty="0">
                <a:solidFill>
                  <a:srgbClr val="A8D8EA"/>
                </a:solidFill>
                <a:latin typeface="Consolas" pitchFamily="34" charset="0"/>
                <a:ea typeface="Consolas" pitchFamily="34" charset="-122"/>
                <a:cs typeface="Consolas" pitchFamily="34" charset="-120"/>
              </a:rPr>
              <a:t>    </a:t>
            </a:r>
            <a:r>
              <a:rPr lang="en-US" sz="1100" dirty="0" err="1">
                <a:solidFill>
                  <a:srgbClr val="A8D8EA"/>
                </a:solidFill>
                <a:latin typeface="Consolas" pitchFamily="34" charset="0"/>
                <a:ea typeface="Consolas" pitchFamily="34" charset="-122"/>
                <a:cs typeface="Consolas" pitchFamily="34" charset="-120"/>
              </a:rPr>
              <a:t>plt.axis</a:t>
            </a:r>
            <a:r>
              <a:rPr lang="en-US" sz="1100" dirty="0">
                <a:solidFill>
                  <a:srgbClr val="A8D8EA"/>
                </a:solidFill>
                <a:latin typeface="Consolas" pitchFamily="34" charset="0"/>
                <a:ea typeface="Consolas" pitchFamily="34" charset="-122"/>
                <a:cs typeface="Consolas" pitchFamily="34" charset="-120"/>
              </a:rPr>
              <a:t>("off")</a:t>
            </a:r>
          </a:p>
          <a:p>
            <a:r>
              <a:rPr lang="en-US" sz="1100" dirty="0" err="1">
                <a:solidFill>
                  <a:srgbClr val="A8D8EA"/>
                </a:solidFill>
                <a:latin typeface="Consolas" pitchFamily="34" charset="0"/>
                <a:ea typeface="Consolas" pitchFamily="34" charset="-122"/>
                <a:cs typeface="Consolas" pitchFamily="34" charset="-120"/>
              </a:rPr>
              <a:t>plt.tight_layout</a:t>
            </a:r>
            <a:r>
              <a:rPr lang="en-US" sz="1100" dirty="0">
                <a:solidFill>
                  <a:srgbClr val="A8D8EA"/>
                </a:solidFill>
                <a:latin typeface="Consolas" pitchFamily="34" charset="0"/>
                <a:ea typeface="Consolas" pitchFamily="34" charset="-122"/>
                <a:cs typeface="Consolas" pitchFamily="34" charset="-120"/>
              </a:rPr>
              <a:t>()</a:t>
            </a:r>
          </a:p>
          <a:p>
            <a:r>
              <a:rPr lang="en-US" sz="1100" dirty="0" err="1">
                <a:solidFill>
                  <a:srgbClr val="A8D8EA"/>
                </a:solidFill>
                <a:latin typeface="Consolas" pitchFamily="34" charset="0"/>
                <a:ea typeface="Consolas" pitchFamily="34" charset="-122"/>
                <a:cs typeface="Consolas" pitchFamily="34" charset="-120"/>
              </a:rPr>
              <a:t>plt.show</a:t>
            </a:r>
            <a:r>
              <a:rPr lang="en-US" sz="1100" dirty="0">
                <a:solidFill>
                  <a:srgbClr val="A8D8EA"/>
                </a:solidFill>
                <a:latin typeface="Consolas" pitchFamily="34" charset="0"/>
                <a:ea typeface="Consolas" pitchFamily="34" charset="-122"/>
                <a:cs typeface="Consolas" pitchFamily="34" charset="-120"/>
              </a:rPr>
              <a:t>()</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pic>
        <p:nvPicPr>
          <p:cNvPr id="1026" name="Picture 2">
            <a:extLst>
              <a:ext uri="{FF2B5EF4-FFF2-40B4-BE49-F238E27FC236}">
                <a16:creationId xmlns:a16="http://schemas.microsoft.com/office/drawing/2014/main" id="{E443580E-8F91-B49D-82D7-32EC2165C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697" y="4854392"/>
            <a:ext cx="6994434" cy="19307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3</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Quantize the fish image → int_sequence2</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Find out the quantized latent representation for the fish image, and name it z2_q. Find out the sequence of integers that represent the fish image, and call it int_sequence2. Print out the  576  values in int_sequence2.</a:t>
            </a:r>
            <a:endParaRPr lang="en-US" sz="1333" dirty="0"/>
          </a:p>
        </p:txBody>
      </p:sp>
      <p:sp>
        <p:nvSpPr>
          <p:cNvPr id="8" name="Shape 6"/>
          <p:cNvSpPr/>
          <p:nvPr/>
        </p:nvSpPr>
        <p:spPr>
          <a:xfrm>
            <a:off x="487680" y="1560574"/>
            <a:ext cx="11522810" cy="2289531"/>
          </a:xfrm>
          <a:prstGeom prst="rect">
            <a:avLst/>
          </a:prstGeom>
          <a:solidFill>
            <a:srgbClr val="1E2A3A"/>
          </a:solidFill>
          <a:ln w="10160">
            <a:solidFill>
              <a:srgbClr val="00E5FF"/>
            </a:solidFill>
            <a:prstDash val="solid"/>
          </a:ln>
        </p:spPr>
        <p:txBody>
          <a:bodyPr/>
          <a:lstStyle/>
          <a:p>
            <a:r>
              <a:rPr lang="en-US" sz="1200" dirty="0">
                <a:solidFill>
                  <a:srgbClr val="A8D8EA"/>
                </a:solidFill>
                <a:latin typeface="Consolas" pitchFamily="34" charset="0"/>
                <a:ea typeface="Consolas" pitchFamily="34" charset="-122"/>
                <a:cs typeface="Consolas" pitchFamily="34" charset="-120"/>
              </a:rPr>
              <a:t># image2 was defined in section 2 of the lab: </a:t>
            </a:r>
            <a:r>
              <a:rPr lang="en-US" sz="1200" dirty="0" err="1">
                <a:solidFill>
                  <a:srgbClr val="A8D8EA"/>
                </a:solidFill>
                <a:latin typeface="Consolas" pitchFamily="34" charset="0"/>
                <a:ea typeface="Consolas" pitchFamily="34" charset="-122"/>
                <a:cs typeface="Consolas" pitchFamily="34" charset="-120"/>
              </a:rPr>
              <a:t>process_image</a:t>
            </a:r>
            <a:r>
              <a:rPr lang="en-US" sz="1200" dirty="0">
                <a:solidFill>
                  <a:srgbClr val="A8D8EA"/>
                </a:solidFill>
                <a:latin typeface="Consolas" pitchFamily="34" charset="0"/>
                <a:ea typeface="Consolas" pitchFamily="34" charset="-122"/>
                <a:cs typeface="Consolas" pitchFamily="34" charset="-120"/>
              </a:rPr>
              <a:t>("files/fish.png")</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z2 = </a:t>
            </a:r>
            <a:r>
              <a:rPr lang="en-US" sz="1200" dirty="0" err="1">
                <a:solidFill>
                  <a:srgbClr val="A8D8EA"/>
                </a:solidFill>
                <a:latin typeface="Consolas" pitchFamily="34" charset="0"/>
                <a:ea typeface="Consolas" pitchFamily="34" charset="-122"/>
                <a:cs typeface="Consolas" pitchFamily="34" charset="-120"/>
              </a:rPr>
              <a:t>model.encoder</a:t>
            </a:r>
            <a:r>
              <a:rPr lang="en-US" sz="1200" dirty="0">
                <a:solidFill>
                  <a:srgbClr val="A8D8EA"/>
                </a:solidFill>
                <a:latin typeface="Consolas" pitchFamily="34" charset="0"/>
                <a:ea typeface="Consolas" pitchFamily="34" charset="-122"/>
                <a:cs typeface="Consolas" pitchFamily="34" charset="-120"/>
              </a:rPr>
              <a:t>(image2.to(device))        # continuous encoder output</a:t>
            </a:r>
          </a:p>
          <a:p>
            <a:r>
              <a:rPr lang="en-US" sz="1200" dirty="0">
                <a:solidFill>
                  <a:srgbClr val="A8D8EA"/>
                </a:solidFill>
                <a:latin typeface="Consolas" pitchFamily="34" charset="0"/>
                <a:ea typeface="Consolas" pitchFamily="34" charset="-122"/>
                <a:cs typeface="Consolas" pitchFamily="34" charset="-120"/>
              </a:rPr>
              <a:t>z2 = </a:t>
            </a:r>
            <a:r>
              <a:rPr lang="en-US" sz="1200" dirty="0" err="1">
                <a:solidFill>
                  <a:srgbClr val="A8D8EA"/>
                </a:solidFill>
                <a:latin typeface="Consolas" pitchFamily="34" charset="0"/>
                <a:ea typeface="Consolas" pitchFamily="34" charset="-122"/>
                <a:cs typeface="Consolas" pitchFamily="34" charset="-120"/>
              </a:rPr>
              <a:t>model.quant_conv</a:t>
            </a:r>
            <a:r>
              <a:rPr lang="en-US" sz="1200" dirty="0">
                <a:solidFill>
                  <a:srgbClr val="A8D8EA"/>
                </a:solidFill>
                <a:latin typeface="Consolas" pitchFamily="34" charset="0"/>
                <a:ea typeface="Consolas" pitchFamily="34" charset="-122"/>
                <a:cs typeface="Consolas" pitchFamily="34" charset="-120"/>
              </a:rPr>
              <a:t>(z2)                    # project to codebook dimension</a:t>
            </a:r>
          </a:p>
          <a:p>
            <a:r>
              <a:rPr lang="en-US" sz="1200" dirty="0">
                <a:solidFill>
                  <a:srgbClr val="A8D8EA"/>
                </a:solidFill>
                <a:latin typeface="Consolas" pitchFamily="34" charset="0"/>
                <a:ea typeface="Consolas" pitchFamily="34" charset="-122"/>
                <a:cs typeface="Consolas" pitchFamily="34" charset="-120"/>
              </a:rPr>
              <a:t>print(</a:t>
            </a:r>
            <a:r>
              <a:rPr lang="en-US" sz="1200" dirty="0" err="1">
                <a:solidFill>
                  <a:srgbClr val="A8D8EA"/>
                </a:solidFill>
                <a:latin typeface="Consolas" pitchFamily="34" charset="0"/>
                <a:ea typeface="Consolas" pitchFamily="34" charset="-122"/>
                <a:cs typeface="Consolas" pitchFamily="34" charset="-120"/>
              </a:rPr>
              <a:t>f"latent</a:t>
            </a:r>
            <a:r>
              <a:rPr lang="en-US" sz="1200" dirty="0">
                <a:solidFill>
                  <a:srgbClr val="A8D8EA"/>
                </a:solidFill>
                <a:latin typeface="Consolas" pitchFamily="34" charset="0"/>
                <a:ea typeface="Consolas" pitchFamily="34" charset="-122"/>
                <a:cs typeface="Consolas" pitchFamily="34" charset="-120"/>
              </a:rPr>
              <a:t> z2 shape: {z2.shape}")        # → (1, 256, 24, 24)</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z2_q, _, indices = </a:t>
            </a:r>
            <a:r>
              <a:rPr lang="en-US" sz="1200" dirty="0" err="1">
                <a:solidFill>
                  <a:srgbClr val="A8D8EA"/>
                </a:solidFill>
                <a:latin typeface="Consolas" pitchFamily="34" charset="0"/>
                <a:ea typeface="Consolas" pitchFamily="34" charset="-122"/>
                <a:cs typeface="Consolas" pitchFamily="34" charset="-120"/>
              </a:rPr>
              <a:t>model.quantize</a:t>
            </a:r>
            <a:r>
              <a:rPr lang="en-US" sz="1200" dirty="0">
                <a:solidFill>
                  <a:srgbClr val="A8D8EA"/>
                </a:solidFill>
                <a:latin typeface="Consolas" pitchFamily="34" charset="0"/>
                <a:ea typeface="Consolas" pitchFamily="34" charset="-122"/>
                <a:cs typeface="Consolas" pitchFamily="34" charset="-120"/>
              </a:rPr>
              <a:t>(z2)        # nearest-</a:t>
            </a:r>
            <a:r>
              <a:rPr lang="en-US" sz="1200" dirty="0" err="1">
                <a:solidFill>
                  <a:srgbClr val="A8D8EA"/>
                </a:solidFill>
                <a:latin typeface="Consolas" pitchFamily="34" charset="0"/>
                <a:ea typeface="Consolas" pitchFamily="34" charset="-122"/>
                <a:cs typeface="Consolas" pitchFamily="34" charset="-120"/>
              </a:rPr>
              <a:t>neighbour</a:t>
            </a:r>
            <a:r>
              <a:rPr lang="en-US" sz="1200" dirty="0">
                <a:solidFill>
                  <a:srgbClr val="A8D8EA"/>
                </a:solidFill>
                <a:latin typeface="Consolas" pitchFamily="34" charset="0"/>
                <a:ea typeface="Consolas" pitchFamily="34" charset="-122"/>
                <a:cs typeface="Consolas" pitchFamily="34" charset="-120"/>
              </a:rPr>
              <a:t> quantization</a:t>
            </a:r>
          </a:p>
          <a:p>
            <a:r>
              <a:rPr lang="en-US" sz="1200" dirty="0">
                <a:solidFill>
                  <a:srgbClr val="A8D8EA"/>
                </a:solidFill>
                <a:latin typeface="Consolas" pitchFamily="34" charset="0"/>
                <a:ea typeface="Consolas" pitchFamily="34" charset="-122"/>
                <a:cs typeface="Consolas" pitchFamily="34" charset="-120"/>
              </a:rPr>
              <a:t>int_sequence2   = indices[2]                 # flat integer sequence</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print(f"z2_q shape:         {z2_q.shape}")   # → (1, 256, 24, 24)</a:t>
            </a:r>
          </a:p>
          <a:p>
            <a:r>
              <a:rPr lang="en-US" sz="1200" dirty="0">
                <a:solidFill>
                  <a:srgbClr val="A8D8EA"/>
                </a:solidFill>
                <a:latin typeface="Consolas" pitchFamily="34" charset="0"/>
                <a:ea typeface="Consolas" pitchFamily="34" charset="-122"/>
                <a:cs typeface="Consolas" pitchFamily="34" charset="-120"/>
              </a:rPr>
              <a:t>print(f"int_sequence2 shape:{int_sequence2.shape}")  # → (576,)</a:t>
            </a:r>
          </a:p>
          <a:p>
            <a:r>
              <a:rPr lang="en-US" sz="1200" dirty="0">
                <a:solidFill>
                  <a:srgbClr val="A8D8EA"/>
                </a:solidFill>
                <a:latin typeface="Consolas" pitchFamily="34" charset="0"/>
                <a:ea typeface="Consolas" pitchFamily="34" charset="-122"/>
                <a:cs typeface="Consolas" pitchFamily="34" charset="-120"/>
              </a:rPr>
              <a:t>print("int_sequence2:\n", int_sequence2)    # prints 576 integers (0–1023)</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AAF9C5C2-C72E-6364-FE19-48B58D9CAF95}"/>
              </a:ext>
            </a:extLst>
          </p:cNvPr>
          <p:cNvSpPr/>
          <p:nvPr/>
        </p:nvSpPr>
        <p:spPr>
          <a:xfrm>
            <a:off x="530351" y="4284769"/>
            <a:ext cx="11522809" cy="1021082"/>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127CB948-2BA0-2C91-7F24-DA571D198281}"/>
              </a:ext>
            </a:extLst>
          </p:cNvPr>
          <p:cNvSpPr/>
          <p:nvPr/>
        </p:nvSpPr>
        <p:spPr>
          <a:xfrm>
            <a:off x="658368" y="4276344"/>
            <a:ext cx="11175886" cy="1021082"/>
          </a:xfrm>
          <a:prstGeom prst="rect">
            <a:avLst/>
          </a:prstGeom>
          <a:noFill/>
          <a:ln/>
        </p:spPr>
        <p:txBody>
          <a:bodyPr wrap="square" rtlCol="0" anchor="t"/>
          <a:lstStyle/>
          <a:p>
            <a:r>
              <a:rPr lang="en-US" sz="1200" b="1" dirty="0">
                <a:solidFill>
                  <a:srgbClr val="2E7D5E"/>
                </a:solidFill>
                <a:latin typeface="Calibri" pitchFamily="34" charset="0"/>
                <a:ea typeface="Calibri" pitchFamily="34" charset="-122"/>
                <a:cs typeface="Calibri" pitchFamily="34" charset="-120"/>
              </a:rPr>
              <a:t>Expected output
</a:t>
            </a:r>
            <a:r>
              <a:rPr lang="en-US" sz="1200" dirty="0">
                <a:solidFill>
                  <a:srgbClr val="1B4F2A"/>
                </a:solidFill>
                <a:latin typeface="Calibri" pitchFamily="34" charset="0"/>
                <a:ea typeface="Calibri" pitchFamily="34" charset="-122"/>
                <a:cs typeface="Calibri" pitchFamily="34" charset="-120"/>
              </a:rPr>
              <a:t>latent z2 shape: </a:t>
            </a:r>
            <a:r>
              <a:rPr lang="en-US" sz="1200" dirty="0" err="1">
                <a:solidFill>
                  <a:srgbClr val="1B4F2A"/>
                </a:solidFill>
                <a:latin typeface="Calibri" pitchFamily="34" charset="0"/>
                <a:ea typeface="Calibri" pitchFamily="34" charset="-122"/>
                <a:cs typeface="Calibri" pitchFamily="34" charset="-120"/>
              </a:rPr>
              <a:t>torch.Size</a:t>
            </a:r>
            <a:r>
              <a:rPr lang="en-US" sz="1200" dirty="0">
                <a:solidFill>
                  <a:srgbClr val="1B4F2A"/>
                </a:solidFill>
                <a:latin typeface="Calibri" pitchFamily="34" charset="0"/>
                <a:ea typeface="Calibri" pitchFamily="34" charset="-122"/>
                <a:cs typeface="Calibri" pitchFamily="34" charset="-120"/>
              </a:rPr>
              <a:t>([1, 256, 24, 24])</a:t>
            </a:r>
            <a:endParaRPr lang="en-US" sz="1200" dirty="0"/>
          </a:p>
          <a:p>
            <a:r>
              <a:rPr lang="en-US" sz="1200" dirty="0">
                <a:solidFill>
                  <a:srgbClr val="1B4F2A"/>
                </a:solidFill>
                <a:latin typeface="Calibri" pitchFamily="34" charset="0"/>
                <a:ea typeface="Calibri" pitchFamily="34" charset="-122"/>
                <a:cs typeface="Calibri" pitchFamily="34" charset="-120"/>
              </a:rPr>
              <a:t>z2_q shape: </a:t>
            </a:r>
            <a:r>
              <a:rPr lang="en-US" sz="1200" dirty="0" err="1">
                <a:solidFill>
                  <a:srgbClr val="1B4F2A"/>
                </a:solidFill>
                <a:latin typeface="Calibri" pitchFamily="34" charset="0"/>
                <a:ea typeface="Calibri" pitchFamily="34" charset="-122"/>
                <a:cs typeface="Calibri" pitchFamily="34" charset="-120"/>
              </a:rPr>
              <a:t>torch.Size</a:t>
            </a:r>
            <a:r>
              <a:rPr lang="en-US" sz="1200" dirty="0">
                <a:solidFill>
                  <a:srgbClr val="1B4F2A"/>
                </a:solidFill>
                <a:latin typeface="Calibri" pitchFamily="34" charset="0"/>
                <a:ea typeface="Calibri" pitchFamily="34" charset="-122"/>
                <a:cs typeface="Calibri" pitchFamily="34" charset="-120"/>
              </a:rPr>
              <a:t>([1, 256, 24, 24])</a:t>
            </a:r>
            <a:endParaRPr lang="en-US" sz="1200" dirty="0"/>
          </a:p>
          <a:p>
            <a:r>
              <a:rPr lang="en-US" sz="1200" dirty="0">
                <a:solidFill>
                  <a:srgbClr val="1B4F2A"/>
                </a:solidFill>
                <a:latin typeface="Calibri" pitchFamily="34" charset="0"/>
                <a:ea typeface="Calibri" pitchFamily="34" charset="-122"/>
                <a:cs typeface="Calibri" pitchFamily="34" charset="-120"/>
              </a:rPr>
              <a:t>int_sequence2 shape: </a:t>
            </a:r>
            <a:r>
              <a:rPr lang="en-US" sz="1200" dirty="0" err="1">
                <a:solidFill>
                  <a:srgbClr val="1B4F2A"/>
                </a:solidFill>
                <a:latin typeface="Calibri" pitchFamily="34" charset="0"/>
                <a:ea typeface="Calibri" pitchFamily="34" charset="-122"/>
                <a:cs typeface="Calibri" pitchFamily="34" charset="-120"/>
              </a:rPr>
              <a:t>torch.Size</a:t>
            </a:r>
            <a:r>
              <a:rPr lang="en-US" sz="1200" dirty="0">
                <a:solidFill>
                  <a:srgbClr val="1B4F2A"/>
                </a:solidFill>
                <a:latin typeface="Calibri" pitchFamily="34" charset="0"/>
                <a:ea typeface="Calibri" pitchFamily="34" charset="-122"/>
                <a:cs typeface="Calibri" pitchFamily="34" charset="-120"/>
              </a:rPr>
              <a:t>([576,])</a:t>
            </a:r>
            <a:endParaRPr lang="en-US" sz="1200" dirty="0"/>
          </a:p>
          <a:p>
            <a:r>
              <a:rPr lang="en-US" sz="1200" dirty="0">
                <a:solidFill>
                  <a:srgbClr val="1B4F2A"/>
                </a:solidFill>
                <a:latin typeface="Calibri" pitchFamily="34" charset="0"/>
                <a:ea typeface="Calibri" pitchFamily="34" charset="-122"/>
                <a:cs typeface="Calibri" pitchFamily="34" charset="-120"/>
              </a:rPr>
              <a:t>int_sequence2:   tensor([508, 343, 261, ..., 534, 330, 542])</a:t>
            </a:r>
            <a:endParaRPr lang="en-US" sz="1200" dirty="0"/>
          </a:p>
          <a:p>
            <a:pPr marL="0" indent="0">
              <a:buNone/>
            </a:pP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4</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Reconstruct fish from int_sequence2</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Map each integer in int_sequence2 to its corresponding feature vector in the codebook to assemble a complete quantized latent representation z2_q2. Pass z2_q2 through the VQGAN decoder to reconstruct the fish image, and name the reconstructed image z2_recon2.</a:t>
            </a:r>
            <a:endParaRPr lang="en-US" sz="1333" dirty="0"/>
          </a:p>
        </p:txBody>
      </p:sp>
      <p:sp>
        <p:nvSpPr>
          <p:cNvPr id="8" name="Shape 6"/>
          <p:cNvSpPr/>
          <p:nvPr/>
        </p:nvSpPr>
        <p:spPr>
          <a:xfrm>
            <a:off x="487680" y="1560574"/>
            <a:ext cx="11522810" cy="2877312"/>
          </a:xfrm>
          <a:prstGeom prst="rect">
            <a:avLst/>
          </a:prstGeom>
          <a:solidFill>
            <a:srgbClr val="1E2A3A"/>
          </a:solidFill>
          <a:ln w="10160">
            <a:solidFill>
              <a:srgbClr val="00E5FF"/>
            </a:solidFill>
            <a:prstDash val="solid"/>
          </a:ln>
        </p:spPr>
        <p:txBody>
          <a:bodyPr/>
          <a:lstStyle/>
          <a:p>
            <a:r>
              <a:rPr lang="en-US" sz="1200" dirty="0">
                <a:solidFill>
                  <a:srgbClr val="A8D8EA"/>
                </a:solidFill>
                <a:latin typeface="Consolas" pitchFamily="34" charset="0"/>
                <a:ea typeface="Consolas" pitchFamily="34" charset="-122"/>
                <a:cs typeface="Consolas" pitchFamily="34" charset="-120"/>
              </a:rPr>
              <a:t># Step 1: look up each integer in the codebook embedding table</a:t>
            </a:r>
          </a:p>
          <a:p>
            <a:r>
              <a:rPr lang="en-US" sz="1200" dirty="0">
                <a:solidFill>
                  <a:srgbClr val="A8D8EA"/>
                </a:solidFill>
                <a:latin typeface="Consolas" pitchFamily="34" charset="0"/>
                <a:ea typeface="Consolas" pitchFamily="34" charset="-122"/>
                <a:cs typeface="Consolas" pitchFamily="34" charset="-120"/>
              </a:rPr>
              <a:t>z2_q2 = </a:t>
            </a:r>
            <a:r>
              <a:rPr lang="en-US" sz="1200" dirty="0" err="1">
                <a:solidFill>
                  <a:srgbClr val="A8D8EA"/>
                </a:solidFill>
                <a:latin typeface="Consolas" pitchFamily="34" charset="0"/>
                <a:ea typeface="Consolas" pitchFamily="34" charset="-122"/>
                <a:cs typeface="Consolas" pitchFamily="34" charset="-120"/>
              </a:rPr>
              <a:t>model.quantize.embedding</a:t>
            </a:r>
            <a:r>
              <a:rPr lang="en-US" sz="1200" dirty="0">
                <a:solidFill>
                  <a:srgbClr val="A8D8EA"/>
                </a:solidFill>
                <a:latin typeface="Consolas" pitchFamily="34" charset="0"/>
                <a:ea typeface="Consolas" pitchFamily="34" charset="-122"/>
                <a:cs typeface="Consolas" pitchFamily="34" charset="-120"/>
              </a:rPr>
              <a:t>(int_sequence2)   # shape: (576, 256)</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Step 2: reshape back to spatial latent format</a:t>
            </a:r>
          </a:p>
          <a:p>
            <a:r>
              <a:rPr lang="en-US" sz="1200" dirty="0">
                <a:solidFill>
                  <a:srgbClr val="A8D8EA"/>
                </a:solidFill>
                <a:latin typeface="Consolas" pitchFamily="34" charset="0"/>
                <a:ea typeface="Consolas" pitchFamily="34" charset="-122"/>
                <a:cs typeface="Consolas" pitchFamily="34" charset="-120"/>
              </a:rPr>
              <a:t>z2_q2 = z2_q2.permute(1, 0).view(z2_q.shape)     # shape: (1, 256, 24, 24)</a:t>
            </a:r>
          </a:p>
          <a:p>
            <a:r>
              <a:rPr lang="en-US" sz="1200" dirty="0">
                <a:solidFill>
                  <a:srgbClr val="A8D8EA"/>
                </a:solidFill>
                <a:latin typeface="Consolas" pitchFamily="34" charset="0"/>
                <a:ea typeface="Consolas" pitchFamily="34" charset="-122"/>
                <a:cs typeface="Consolas" pitchFamily="34" charset="-120"/>
              </a:rPr>
              <a:t>#         permute(1,0) → (256, 576)</a:t>
            </a:r>
          </a:p>
          <a:p>
            <a:r>
              <a:rPr lang="en-US" sz="1200" dirty="0">
                <a:solidFill>
                  <a:srgbClr val="A8D8EA"/>
                </a:solidFill>
                <a:latin typeface="Consolas" pitchFamily="34" charset="0"/>
                <a:ea typeface="Consolas" pitchFamily="34" charset="-122"/>
                <a:cs typeface="Consolas" pitchFamily="34" charset="-120"/>
              </a:rPr>
              <a:t>#         view(z2_q.shape) → (1, 256, 24, 24)</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Step 3: post-quantization convolution (symmetric to </a:t>
            </a:r>
            <a:r>
              <a:rPr lang="en-US" sz="1200" dirty="0" err="1">
                <a:solidFill>
                  <a:srgbClr val="A8D8EA"/>
                </a:solidFill>
                <a:latin typeface="Consolas" pitchFamily="34" charset="0"/>
                <a:ea typeface="Consolas" pitchFamily="34" charset="-122"/>
                <a:cs typeface="Consolas" pitchFamily="34" charset="-120"/>
              </a:rPr>
              <a:t>quant_conv</a:t>
            </a:r>
            <a:r>
              <a:rPr lang="en-US" sz="1200" dirty="0">
                <a:solidFill>
                  <a:srgbClr val="A8D8EA"/>
                </a:solidFill>
                <a:latin typeface="Consolas" pitchFamily="34" charset="0"/>
                <a:ea typeface="Consolas" pitchFamily="34" charset="-122"/>
                <a:cs typeface="Consolas" pitchFamily="34" charset="-120"/>
              </a:rPr>
              <a:t>)</a:t>
            </a:r>
          </a:p>
          <a:p>
            <a:r>
              <a:rPr lang="en-US" sz="1200" dirty="0">
                <a:solidFill>
                  <a:srgbClr val="A8D8EA"/>
                </a:solidFill>
                <a:latin typeface="Consolas" pitchFamily="34" charset="0"/>
                <a:ea typeface="Consolas" pitchFamily="34" charset="-122"/>
                <a:cs typeface="Consolas" pitchFamily="34" charset="-120"/>
              </a:rPr>
              <a:t>z2_post2 = </a:t>
            </a:r>
            <a:r>
              <a:rPr lang="en-US" sz="1200" dirty="0" err="1">
                <a:solidFill>
                  <a:srgbClr val="A8D8EA"/>
                </a:solidFill>
                <a:latin typeface="Consolas" pitchFamily="34" charset="0"/>
                <a:ea typeface="Consolas" pitchFamily="34" charset="-122"/>
                <a:cs typeface="Consolas" pitchFamily="34" charset="-120"/>
              </a:rPr>
              <a:t>model.post_quant_conv</a:t>
            </a:r>
            <a:r>
              <a:rPr lang="en-US" sz="1200" dirty="0">
                <a:solidFill>
                  <a:srgbClr val="A8D8EA"/>
                </a:solidFill>
                <a:latin typeface="Consolas" pitchFamily="34" charset="0"/>
                <a:ea typeface="Consolas" pitchFamily="34" charset="-122"/>
                <a:cs typeface="Consolas" pitchFamily="34" charset="-120"/>
              </a:rPr>
              <a:t>(z2_q2)           # shape: (1, 256, 24, 24)</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Step 4: decode to high-resolution image</a:t>
            </a:r>
          </a:p>
          <a:p>
            <a:r>
              <a:rPr lang="en-US" sz="1200" dirty="0">
                <a:solidFill>
                  <a:srgbClr val="A8D8EA"/>
                </a:solidFill>
                <a:latin typeface="Consolas" pitchFamily="34" charset="0"/>
                <a:ea typeface="Consolas" pitchFamily="34" charset="-122"/>
                <a:cs typeface="Consolas" pitchFamily="34" charset="-120"/>
              </a:rPr>
              <a:t>z2_recon2 = </a:t>
            </a:r>
            <a:r>
              <a:rPr lang="en-US" sz="1200" dirty="0" err="1">
                <a:solidFill>
                  <a:srgbClr val="A8D8EA"/>
                </a:solidFill>
                <a:latin typeface="Consolas" pitchFamily="34" charset="0"/>
                <a:ea typeface="Consolas" pitchFamily="34" charset="-122"/>
                <a:cs typeface="Consolas" pitchFamily="34" charset="-120"/>
              </a:rPr>
              <a:t>model.decoder</a:t>
            </a:r>
            <a:r>
              <a:rPr lang="en-US" sz="1200" dirty="0">
                <a:solidFill>
                  <a:srgbClr val="A8D8EA"/>
                </a:solidFill>
                <a:latin typeface="Consolas" pitchFamily="34" charset="0"/>
                <a:ea typeface="Consolas" pitchFamily="34" charset="-122"/>
                <a:cs typeface="Consolas" pitchFamily="34" charset="-120"/>
              </a:rPr>
              <a:t>(z2_post2)               # shape: (1, 3, 384, 384)</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print(f"z2_recon2 shape: {z2_recon2.shape}")</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2" name="Shape 5">
            <a:extLst>
              <a:ext uri="{FF2B5EF4-FFF2-40B4-BE49-F238E27FC236}">
                <a16:creationId xmlns:a16="http://schemas.microsoft.com/office/drawing/2014/main" id="{AAF9C5C2-C72E-6364-FE19-48B58D9CAF95}"/>
              </a:ext>
            </a:extLst>
          </p:cNvPr>
          <p:cNvSpPr/>
          <p:nvPr/>
        </p:nvSpPr>
        <p:spPr>
          <a:xfrm>
            <a:off x="487680" y="4738923"/>
            <a:ext cx="11522809" cy="534872"/>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127CB948-2BA0-2C91-7F24-DA571D198281}"/>
              </a:ext>
            </a:extLst>
          </p:cNvPr>
          <p:cNvSpPr/>
          <p:nvPr/>
        </p:nvSpPr>
        <p:spPr>
          <a:xfrm>
            <a:off x="615697" y="4730498"/>
            <a:ext cx="11175886" cy="566928"/>
          </a:xfrm>
          <a:prstGeom prst="rect">
            <a:avLst/>
          </a:prstGeom>
          <a:noFill/>
          <a:ln/>
        </p:spPr>
        <p:txBody>
          <a:bodyPr wrap="square" rtlCol="0" anchor="t"/>
          <a:lstStyle/>
          <a:p>
            <a:r>
              <a:rPr lang="en-US" sz="1400" b="1" dirty="0">
                <a:solidFill>
                  <a:srgbClr val="2E7D5E"/>
                </a:solidFill>
                <a:latin typeface="Calibri" pitchFamily="34" charset="0"/>
                <a:ea typeface="Calibri" pitchFamily="34" charset="-122"/>
                <a:cs typeface="Calibri" pitchFamily="34" charset="-120"/>
              </a:rPr>
              <a:t>Expected output
</a:t>
            </a:r>
            <a:r>
              <a:rPr lang="en-US" sz="1400" dirty="0">
                <a:solidFill>
                  <a:srgbClr val="1B4F2A"/>
                </a:solidFill>
                <a:latin typeface="Calibri" pitchFamily="34" charset="0"/>
                <a:ea typeface="Calibri" pitchFamily="34" charset="-122"/>
                <a:cs typeface="Calibri" pitchFamily="34" charset="-120"/>
              </a:rPr>
              <a:t>z2_recon2 shape:  </a:t>
            </a:r>
            <a:r>
              <a:rPr lang="en-US" sz="1400" dirty="0" err="1">
                <a:solidFill>
                  <a:srgbClr val="1B4F2A"/>
                </a:solidFill>
                <a:latin typeface="Calibri" pitchFamily="34" charset="0"/>
                <a:ea typeface="Calibri" pitchFamily="34" charset="-122"/>
                <a:cs typeface="Calibri" pitchFamily="34" charset="-120"/>
              </a:rPr>
              <a:t>torch.Size</a:t>
            </a:r>
            <a:r>
              <a:rPr lang="en-US" sz="1400" dirty="0">
                <a:solidFill>
                  <a:srgbClr val="1B4F2A"/>
                </a:solidFill>
                <a:latin typeface="Calibri" pitchFamily="34" charset="0"/>
                <a:ea typeface="Calibri" pitchFamily="34" charset="-122"/>
                <a:cs typeface="Calibri" pitchFamily="34" charset="-120"/>
              </a:rPr>
              <a:t>([1, 3, 384, 384])</a:t>
            </a:r>
            <a:endParaRPr lang="en-US" sz="1400" dirty="0"/>
          </a:p>
          <a:p>
            <a:pPr marL="0" indent="0">
              <a:buNone/>
            </a:pP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5</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Reconstruct from z2_q and compare</a:t>
            </a: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First, reconstruct the fish image based on the quantized latent representation first generated, z2_q, in Exercise 3, and name the reconstructed fish image z2_recon. Plot z2_recon and z2_recon2 side by side in a  1×2  grid to compare them.</a:t>
            </a:r>
            <a:endParaRPr lang="en-US" sz="1333" dirty="0"/>
          </a:p>
        </p:txBody>
      </p:sp>
      <p:sp>
        <p:nvSpPr>
          <p:cNvPr id="8" name="Shape 6"/>
          <p:cNvSpPr/>
          <p:nvPr/>
        </p:nvSpPr>
        <p:spPr>
          <a:xfrm>
            <a:off x="487680" y="1560574"/>
            <a:ext cx="11522810" cy="5023106"/>
          </a:xfrm>
          <a:prstGeom prst="rect">
            <a:avLst/>
          </a:prstGeom>
          <a:solidFill>
            <a:srgbClr val="1E2A3A"/>
          </a:solidFill>
          <a:ln w="10160">
            <a:solidFill>
              <a:srgbClr val="00E5FF"/>
            </a:solidFill>
            <a:prstDash val="solid"/>
          </a:ln>
        </p:spPr>
        <p:txBody>
          <a:bodyPr/>
          <a:lstStyle/>
          <a:p>
            <a:r>
              <a:rPr lang="en-US" sz="1200" dirty="0">
                <a:solidFill>
                  <a:srgbClr val="A8D8EA"/>
                </a:solidFill>
                <a:latin typeface="Consolas" pitchFamily="34" charset="0"/>
                <a:ea typeface="Consolas" pitchFamily="34" charset="-122"/>
                <a:cs typeface="Consolas" pitchFamily="34" charset="-120"/>
              </a:rPr>
              <a:t>import </a:t>
            </a:r>
            <a:r>
              <a:rPr lang="en-US" sz="1200" dirty="0" err="1">
                <a:solidFill>
                  <a:srgbClr val="A8D8EA"/>
                </a:solidFill>
                <a:latin typeface="Consolas" pitchFamily="34" charset="0"/>
                <a:ea typeface="Consolas" pitchFamily="34" charset="-122"/>
                <a:cs typeface="Consolas" pitchFamily="34" charset="-120"/>
              </a:rPr>
              <a:t>matplotlib.pyplot</a:t>
            </a:r>
            <a:r>
              <a:rPr lang="en-US" sz="1200" dirty="0">
                <a:solidFill>
                  <a:srgbClr val="A8D8EA"/>
                </a:solidFill>
                <a:latin typeface="Consolas" pitchFamily="34" charset="0"/>
                <a:ea typeface="Consolas" pitchFamily="34" charset="-122"/>
                <a:cs typeface="Consolas" pitchFamily="34" charset="-120"/>
              </a:rPr>
              <a:t> as </a:t>
            </a:r>
            <a:r>
              <a:rPr lang="en-US" sz="1200" dirty="0" err="1">
                <a:solidFill>
                  <a:srgbClr val="A8D8EA"/>
                </a:solidFill>
                <a:latin typeface="Consolas" pitchFamily="34" charset="0"/>
                <a:ea typeface="Consolas" pitchFamily="34" charset="-122"/>
                <a:cs typeface="Consolas" pitchFamily="34" charset="-120"/>
              </a:rPr>
              <a:t>plt</a:t>
            </a:r>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import torch</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z2_post  = </a:t>
            </a:r>
            <a:r>
              <a:rPr lang="en-US" sz="1200" dirty="0" err="1">
                <a:solidFill>
                  <a:srgbClr val="A8D8EA"/>
                </a:solidFill>
                <a:latin typeface="Consolas" pitchFamily="34" charset="0"/>
                <a:ea typeface="Consolas" pitchFamily="34" charset="-122"/>
                <a:cs typeface="Consolas" pitchFamily="34" charset="-120"/>
              </a:rPr>
              <a:t>model.post_quant_conv</a:t>
            </a:r>
            <a:r>
              <a:rPr lang="en-US" sz="1200" dirty="0">
                <a:solidFill>
                  <a:srgbClr val="A8D8EA"/>
                </a:solidFill>
                <a:latin typeface="Consolas" pitchFamily="34" charset="0"/>
                <a:ea typeface="Consolas" pitchFamily="34" charset="-122"/>
                <a:cs typeface="Consolas" pitchFamily="34" charset="-120"/>
              </a:rPr>
              <a:t>(z2_q)    # skip </a:t>
            </a:r>
            <a:r>
              <a:rPr lang="en-US" sz="1200" dirty="0" err="1">
                <a:solidFill>
                  <a:srgbClr val="A8D8EA"/>
                </a:solidFill>
                <a:latin typeface="Consolas" pitchFamily="34" charset="0"/>
                <a:ea typeface="Consolas" pitchFamily="34" charset="-122"/>
                <a:cs typeface="Consolas" pitchFamily="34" charset="-120"/>
              </a:rPr>
              <a:t>quant_conv</a:t>
            </a:r>
            <a:r>
              <a:rPr lang="en-US" sz="1200" dirty="0">
                <a:solidFill>
                  <a:srgbClr val="A8D8EA"/>
                </a:solidFill>
                <a:latin typeface="Consolas" pitchFamily="34" charset="0"/>
                <a:ea typeface="Consolas" pitchFamily="34" charset="-122"/>
                <a:cs typeface="Consolas" pitchFamily="34" charset="-120"/>
              </a:rPr>
              <a:t> — z2_q already quantized</a:t>
            </a:r>
          </a:p>
          <a:p>
            <a:r>
              <a:rPr lang="en-US" sz="1200" dirty="0">
                <a:solidFill>
                  <a:srgbClr val="A8D8EA"/>
                </a:solidFill>
                <a:latin typeface="Consolas" pitchFamily="34" charset="0"/>
                <a:ea typeface="Consolas" pitchFamily="34" charset="-122"/>
                <a:cs typeface="Consolas" pitchFamily="34" charset="-120"/>
              </a:rPr>
              <a:t>z2_recon = </a:t>
            </a:r>
            <a:r>
              <a:rPr lang="en-US" sz="1200" dirty="0" err="1">
                <a:solidFill>
                  <a:srgbClr val="A8D8EA"/>
                </a:solidFill>
                <a:latin typeface="Consolas" pitchFamily="34" charset="0"/>
                <a:ea typeface="Consolas" pitchFamily="34" charset="-122"/>
                <a:cs typeface="Consolas" pitchFamily="34" charset="-120"/>
              </a:rPr>
              <a:t>model.decoder</a:t>
            </a:r>
            <a:r>
              <a:rPr lang="en-US" sz="1200" dirty="0">
                <a:solidFill>
                  <a:srgbClr val="A8D8EA"/>
                </a:solidFill>
                <a:latin typeface="Consolas" pitchFamily="34" charset="0"/>
                <a:ea typeface="Consolas" pitchFamily="34" charset="-122"/>
                <a:cs typeface="Consolas" pitchFamily="34" charset="-120"/>
              </a:rPr>
              <a:t>(z2_post)         # shape: (1, 3, 384, 384)</a:t>
            </a:r>
          </a:p>
          <a:p>
            <a:endParaRPr lang="en-US" sz="1200" dirty="0">
              <a:solidFill>
                <a:srgbClr val="A8D8EA"/>
              </a:solidFill>
              <a:latin typeface="Consolas" pitchFamily="34" charset="0"/>
              <a:ea typeface="Consolas" pitchFamily="34" charset="-122"/>
              <a:cs typeface="Consolas" pitchFamily="34" charset="-120"/>
            </a:endParaRPr>
          </a:p>
          <a:p>
            <a:r>
              <a:rPr lang="en-US" sz="1200">
                <a:solidFill>
                  <a:srgbClr val="A8D8EA"/>
                </a:solidFill>
                <a:latin typeface="Consolas" pitchFamily="34" charset="0"/>
                <a:ea typeface="Consolas" pitchFamily="34" charset="-122"/>
                <a:cs typeface="Consolas" pitchFamily="34" charset="-120"/>
              </a:rPr>
              <a:t># Plot </a:t>
            </a:r>
            <a:r>
              <a:rPr lang="en-US" sz="1200" dirty="0">
                <a:solidFill>
                  <a:srgbClr val="A8D8EA"/>
                </a:solidFill>
                <a:latin typeface="Consolas" pitchFamily="34" charset="0"/>
                <a:ea typeface="Consolas" pitchFamily="34" charset="-122"/>
                <a:cs typeface="Consolas" pitchFamily="34" charset="-120"/>
              </a:rPr>
              <a:t>side by side in a </a:t>
            </a:r>
            <a:r>
              <a:rPr lang="en-US" sz="1200">
                <a:solidFill>
                  <a:srgbClr val="A8D8EA"/>
                </a:solidFill>
                <a:latin typeface="Consolas" pitchFamily="34" charset="0"/>
                <a:ea typeface="Consolas" pitchFamily="34" charset="-122"/>
                <a:cs typeface="Consolas" pitchFamily="34" charset="-120"/>
              </a:rPr>
              <a:t>1×2 grid</a:t>
            </a:r>
            <a:endParaRPr lang="en-US" sz="1200" dirty="0">
              <a:solidFill>
                <a:srgbClr val="A8D8EA"/>
              </a:solidFill>
              <a:latin typeface="Consolas" pitchFamily="34" charset="0"/>
              <a:ea typeface="Consolas" pitchFamily="34" charset="-122"/>
              <a:cs typeface="Consolas" pitchFamily="34" charset="-120"/>
            </a:endParaRPr>
          </a:p>
          <a:p>
            <a:r>
              <a:rPr lang="en-US" sz="1200" dirty="0" err="1">
                <a:solidFill>
                  <a:srgbClr val="A8D8EA"/>
                </a:solidFill>
                <a:latin typeface="Consolas" pitchFamily="34" charset="0"/>
                <a:ea typeface="Consolas" pitchFamily="34" charset="-122"/>
                <a:cs typeface="Consolas" pitchFamily="34" charset="-120"/>
              </a:rPr>
              <a:t>imgs</a:t>
            </a:r>
            <a:r>
              <a:rPr lang="en-US" sz="1200" dirty="0">
                <a:solidFill>
                  <a:srgbClr val="A8D8EA"/>
                </a:solidFill>
                <a:latin typeface="Consolas" pitchFamily="34" charset="0"/>
                <a:ea typeface="Consolas" pitchFamily="34" charset="-122"/>
                <a:cs typeface="Consolas" pitchFamily="34" charset="-120"/>
              </a:rPr>
              <a:t> = [</a:t>
            </a:r>
          </a:p>
          <a:p>
            <a:r>
              <a:rPr lang="en-US" sz="1200" dirty="0">
                <a:solidFill>
                  <a:srgbClr val="A8D8EA"/>
                </a:solidFill>
                <a:latin typeface="Consolas" pitchFamily="34" charset="0"/>
                <a:ea typeface="Consolas" pitchFamily="34" charset="-122"/>
                <a:cs typeface="Consolas" pitchFamily="34" charset="-120"/>
              </a:rPr>
              <a:t>    z2_recon[0].</a:t>
            </a:r>
            <a:r>
              <a:rPr lang="en-US" sz="1200" dirty="0" err="1">
                <a:solidFill>
                  <a:srgbClr val="A8D8EA"/>
                </a:solidFill>
                <a:latin typeface="Consolas" pitchFamily="34" charset="0"/>
                <a:ea typeface="Consolas" pitchFamily="34" charset="-122"/>
                <a:cs typeface="Consolas" pitchFamily="34" charset="-120"/>
              </a:rPr>
              <a:t>cpu</a:t>
            </a:r>
            <a:r>
              <a:rPr lang="en-US" sz="1200" dirty="0">
                <a:solidFill>
                  <a:srgbClr val="A8D8EA"/>
                </a:solidFill>
                <a:latin typeface="Consolas" pitchFamily="34" charset="0"/>
                <a:ea typeface="Consolas" pitchFamily="34" charset="-122"/>
                <a:cs typeface="Consolas" pitchFamily="34" charset="-120"/>
              </a:rPr>
              <a:t>().permute(1, 2, 0)  * 0.5 + 0.5,   # from z2_q</a:t>
            </a:r>
          </a:p>
          <a:p>
            <a:r>
              <a:rPr lang="en-US" sz="1200" dirty="0">
                <a:solidFill>
                  <a:srgbClr val="A8D8EA"/>
                </a:solidFill>
                <a:latin typeface="Consolas" pitchFamily="34" charset="0"/>
                <a:ea typeface="Consolas" pitchFamily="34" charset="-122"/>
                <a:cs typeface="Consolas" pitchFamily="34" charset="-120"/>
              </a:rPr>
              <a:t>    z2_recon2[0].</a:t>
            </a:r>
            <a:r>
              <a:rPr lang="en-US" sz="1200" dirty="0" err="1">
                <a:solidFill>
                  <a:srgbClr val="A8D8EA"/>
                </a:solidFill>
                <a:latin typeface="Consolas" pitchFamily="34" charset="0"/>
                <a:ea typeface="Consolas" pitchFamily="34" charset="-122"/>
                <a:cs typeface="Consolas" pitchFamily="34" charset="-120"/>
              </a:rPr>
              <a:t>cpu</a:t>
            </a:r>
            <a:r>
              <a:rPr lang="en-US" sz="1200" dirty="0">
                <a:solidFill>
                  <a:srgbClr val="A8D8EA"/>
                </a:solidFill>
                <a:latin typeface="Consolas" pitchFamily="34" charset="0"/>
                <a:ea typeface="Consolas" pitchFamily="34" charset="-122"/>
                <a:cs typeface="Consolas" pitchFamily="34" charset="-120"/>
              </a:rPr>
              <a:t>().permute(1, 2, 0) * 0.5 + 0.5,   # from int_sequence2</a:t>
            </a:r>
          </a:p>
          <a:p>
            <a:r>
              <a:rPr lang="en-US" sz="1200" dirty="0">
                <a:solidFill>
                  <a:srgbClr val="A8D8EA"/>
                </a:solidFill>
                <a:latin typeface="Consolas" pitchFamily="34" charset="0"/>
                <a:ea typeface="Consolas" pitchFamily="34" charset="-122"/>
                <a:cs typeface="Consolas" pitchFamily="34" charset="-120"/>
              </a:rPr>
              <a:t>]</a:t>
            </a:r>
          </a:p>
          <a:p>
            <a:r>
              <a:rPr lang="en-US" sz="1200" dirty="0">
                <a:solidFill>
                  <a:srgbClr val="A8D8EA"/>
                </a:solidFill>
                <a:latin typeface="Consolas" pitchFamily="34" charset="0"/>
                <a:ea typeface="Consolas" pitchFamily="34" charset="-122"/>
                <a:cs typeface="Consolas" pitchFamily="34" charset="-120"/>
              </a:rPr>
              <a:t>captions = [</a:t>
            </a:r>
          </a:p>
          <a:p>
            <a:r>
              <a:rPr lang="en-US" sz="1200" dirty="0">
                <a:solidFill>
                  <a:srgbClr val="A8D8EA"/>
                </a:solidFill>
                <a:latin typeface="Consolas" pitchFamily="34" charset="0"/>
                <a:ea typeface="Consolas" pitchFamily="34" charset="-122"/>
                <a:cs typeface="Consolas" pitchFamily="34" charset="-120"/>
              </a:rPr>
              <a:t>    "reconstructed based on\</a:t>
            </a:r>
            <a:r>
              <a:rPr lang="en-US" sz="1200" dirty="0" err="1">
                <a:solidFill>
                  <a:srgbClr val="A8D8EA"/>
                </a:solidFill>
                <a:latin typeface="Consolas" pitchFamily="34" charset="0"/>
                <a:ea typeface="Consolas" pitchFamily="34" charset="-122"/>
                <a:cs typeface="Consolas" pitchFamily="34" charset="-120"/>
              </a:rPr>
              <a:t>nquantized</a:t>
            </a:r>
            <a:r>
              <a:rPr lang="en-US" sz="1200" dirty="0">
                <a:solidFill>
                  <a:srgbClr val="A8D8EA"/>
                </a:solidFill>
                <a:latin typeface="Consolas" pitchFamily="34" charset="0"/>
                <a:ea typeface="Consolas" pitchFamily="34" charset="-122"/>
                <a:cs typeface="Consolas" pitchFamily="34" charset="-120"/>
              </a:rPr>
              <a:t> vectors",</a:t>
            </a:r>
          </a:p>
          <a:p>
            <a:r>
              <a:rPr lang="en-US" sz="1200" dirty="0">
                <a:solidFill>
                  <a:srgbClr val="A8D8EA"/>
                </a:solidFill>
                <a:latin typeface="Consolas" pitchFamily="34" charset="0"/>
                <a:ea typeface="Consolas" pitchFamily="34" charset="-122"/>
                <a:cs typeface="Consolas" pitchFamily="34" charset="-120"/>
              </a:rPr>
              <a:t>    "reconstructed based on\</a:t>
            </a:r>
            <a:r>
              <a:rPr lang="en-US" sz="1200" dirty="0" err="1">
                <a:solidFill>
                  <a:srgbClr val="A8D8EA"/>
                </a:solidFill>
                <a:latin typeface="Consolas" pitchFamily="34" charset="0"/>
                <a:ea typeface="Consolas" pitchFamily="34" charset="-122"/>
                <a:cs typeface="Consolas" pitchFamily="34" charset="-120"/>
              </a:rPr>
              <a:t>na</a:t>
            </a:r>
            <a:r>
              <a:rPr lang="en-US" sz="1200" dirty="0">
                <a:solidFill>
                  <a:srgbClr val="A8D8EA"/>
                </a:solidFill>
                <a:latin typeface="Consolas" pitchFamily="34" charset="0"/>
                <a:ea typeface="Consolas" pitchFamily="34" charset="-122"/>
                <a:cs typeface="Consolas" pitchFamily="34" charset="-120"/>
              </a:rPr>
              <a:t> sequence of indices",</a:t>
            </a:r>
          </a:p>
          <a:p>
            <a:r>
              <a:rPr lang="en-US" sz="1200" dirty="0">
                <a:solidFill>
                  <a:srgbClr val="A8D8EA"/>
                </a:solidFill>
                <a:latin typeface="Consolas" pitchFamily="34" charset="0"/>
                <a:ea typeface="Consolas" pitchFamily="34" charset="-122"/>
                <a:cs typeface="Consolas" pitchFamily="34" charset="-120"/>
              </a:rPr>
              <a:t>]</a:t>
            </a:r>
          </a:p>
          <a:p>
            <a:endParaRPr lang="en-US" sz="1200" dirty="0">
              <a:solidFill>
                <a:srgbClr val="A8D8EA"/>
              </a:solidFill>
              <a:latin typeface="Consolas" pitchFamily="34" charset="0"/>
              <a:ea typeface="Consolas" pitchFamily="34" charset="-122"/>
              <a:cs typeface="Consolas" pitchFamily="34" charset="-120"/>
            </a:endParaRPr>
          </a:p>
          <a:p>
            <a:r>
              <a:rPr lang="en-US" sz="1200" dirty="0" err="1">
                <a:solidFill>
                  <a:srgbClr val="A8D8EA"/>
                </a:solidFill>
                <a:latin typeface="Consolas" pitchFamily="34" charset="0"/>
                <a:ea typeface="Consolas" pitchFamily="34" charset="-122"/>
                <a:cs typeface="Consolas" pitchFamily="34" charset="-120"/>
              </a:rPr>
              <a:t>plt.figure</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figsize</a:t>
            </a:r>
            <a:r>
              <a:rPr lang="en-US" sz="1200" dirty="0">
                <a:solidFill>
                  <a:srgbClr val="A8D8EA"/>
                </a:solidFill>
                <a:latin typeface="Consolas" pitchFamily="34" charset="0"/>
                <a:ea typeface="Consolas" pitchFamily="34" charset="-122"/>
                <a:cs typeface="Consolas" pitchFamily="34" charset="-120"/>
              </a:rPr>
              <a:t>=(8, 4), dpi=100)</a:t>
            </a:r>
          </a:p>
          <a:p>
            <a:r>
              <a:rPr lang="en-US" sz="1200" dirty="0">
                <a:solidFill>
                  <a:srgbClr val="A8D8EA"/>
                </a:solidFill>
                <a:latin typeface="Consolas" pitchFamily="34" charset="0"/>
                <a:ea typeface="Consolas" pitchFamily="34" charset="-122"/>
                <a:cs typeface="Consolas" pitchFamily="34" charset="-120"/>
              </a:rPr>
              <a:t>for </a:t>
            </a:r>
            <a:r>
              <a:rPr lang="en-US" sz="1200" dirty="0" err="1">
                <a:solidFill>
                  <a:srgbClr val="A8D8EA"/>
                </a:solidFill>
                <a:latin typeface="Consolas" pitchFamily="34" charset="0"/>
                <a:ea typeface="Consolas" pitchFamily="34" charset="-122"/>
                <a:cs typeface="Consolas" pitchFamily="34" charset="-120"/>
              </a:rPr>
              <a:t>i</a:t>
            </a:r>
            <a:r>
              <a:rPr lang="en-US" sz="1200" dirty="0">
                <a:solidFill>
                  <a:srgbClr val="A8D8EA"/>
                </a:solidFill>
                <a:latin typeface="Consolas" pitchFamily="34" charset="0"/>
                <a:ea typeface="Consolas" pitchFamily="34" charset="-122"/>
                <a:cs typeface="Consolas" pitchFamily="34" charset="-120"/>
              </a:rPr>
              <a:t> in range(2):</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plt.subplot</a:t>
            </a:r>
            <a:r>
              <a:rPr lang="en-US" sz="1200" dirty="0">
                <a:solidFill>
                  <a:srgbClr val="A8D8EA"/>
                </a:solidFill>
                <a:latin typeface="Consolas" pitchFamily="34" charset="0"/>
                <a:ea typeface="Consolas" pitchFamily="34" charset="-122"/>
                <a:cs typeface="Consolas" pitchFamily="34" charset="-120"/>
              </a:rPr>
              <a:t>(1, 2, </a:t>
            </a:r>
            <a:r>
              <a:rPr lang="en-US" sz="1200" dirty="0" err="1">
                <a:solidFill>
                  <a:srgbClr val="A8D8EA"/>
                </a:solidFill>
                <a:latin typeface="Consolas" pitchFamily="34" charset="0"/>
                <a:ea typeface="Consolas" pitchFamily="34" charset="-122"/>
                <a:cs typeface="Consolas" pitchFamily="34" charset="-120"/>
              </a:rPr>
              <a:t>i</a:t>
            </a:r>
            <a:r>
              <a:rPr lang="en-US" sz="1200" dirty="0">
                <a:solidFill>
                  <a:srgbClr val="A8D8EA"/>
                </a:solidFill>
                <a:latin typeface="Consolas" pitchFamily="34" charset="0"/>
                <a:ea typeface="Consolas" pitchFamily="34" charset="-122"/>
                <a:cs typeface="Consolas" pitchFamily="34" charset="-120"/>
              </a:rPr>
              <a:t> + 1)</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plt.imshow</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imgs</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i</a:t>
            </a:r>
            <a:r>
              <a:rPr lang="en-US" sz="1200" dirty="0">
                <a:solidFill>
                  <a:srgbClr val="A8D8EA"/>
                </a:solidFill>
                <a:latin typeface="Consolas" pitchFamily="34" charset="0"/>
                <a:ea typeface="Consolas" pitchFamily="34" charset="-122"/>
                <a:cs typeface="Consolas" pitchFamily="34" charset="-120"/>
              </a:rPr>
              <a:t>].clamp(0, 1))</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plt.title</a:t>
            </a:r>
            <a:r>
              <a:rPr lang="en-US" sz="1200" dirty="0">
                <a:solidFill>
                  <a:srgbClr val="A8D8EA"/>
                </a:solidFill>
                <a:latin typeface="Consolas" pitchFamily="34" charset="0"/>
                <a:ea typeface="Consolas" pitchFamily="34" charset="-122"/>
                <a:cs typeface="Consolas" pitchFamily="34" charset="-120"/>
              </a:rPr>
              <a:t>(captions[</a:t>
            </a:r>
            <a:r>
              <a:rPr lang="en-US" sz="1200" dirty="0" err="1">
                <a:solidFill>
                  <a:srgbClr val="A8D8EA"/>
                </a:solidFill>
                <a:latin typeface="Consolas" pitchFamily="34" charset="0"/>
                <a:ea typeface="Consolas" pitchFamily="34" charset="-122"/>
                <a:cs typeface="Consolas" pitchFamily="34" charset="-120"/>
              </a:rPr>
              <a:t>i</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fontsize</a:t>
            </a:r>
            <a:r>
              <a:rPr lang="en-US" sz="1200" dirty="0">
                <a:solidFill>
                  <a:srgbClr val="A8D8EA"/>
                </a:solidFill>
                <a:latin typeface="Consolas" pitchFamily="34" charset="0"/>
                <a:ea typeface="Consolas" pitchFamily="34" charset="-122"/>
                <a:cs typeface="Consolas" pitchFamily="34" charset="-120"/>
              </a:rPr>
              <a:t>=14)</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plt.axis</a:t>
            </a:r>
            <a:r>
              <a:rPr lang="en-US" sz="1200" dirty="0">
                <a:solidFill>
                  <a:srgbClr val="A8D8EA"/>
                </a:solidFill>
                <a:latin typeface="Consolas" pitchFamily="34" charset="0"/>
                <a:ea typeface="Consolas" pitchFamily="34" charset="-122"/>
                <a:cs typeface="Consolas" pitchFamily="34" charset="-120"/>
              </a:rPr>
              <a:t>("off")</a:t>
            </a:r>
          </a:p>
          <a:p>
            <a:r>
              <a:rPr lang="en-US" sz="1200" dirty="0" err="1">
                <a:solidFill>
                  <a:srgbClr val="A8D8EA"/>
                </a:solidFill>
                <a:latin typeface="Consolas" pitchFamily="34" charset="0"/>
                <a:ea typeface="Consolas" pitchFamily="34" charset="-122"/>
                <a:cs typeface="Consolas" pitchFamily="34" charset="-120"/>
              </a:rPr>
              <a:t>plt.tight_layout</a:t>
            </a:r>
            <a:r>
              <a:rPr lang="en-US" sz="1200" dirty="0">
                <a:solidFill>
                  <a:srgbClr val="A8D8EA"/>
                </a:solidFill>
                <a:latin typeface="Consolas" pitchFamily="34" charset="0"/>
                <a:ea typeface="Consolas" pitchFamily="34" charset="-122"/>
                <a:cs typeface="Consolas" pitchFamily="34" charset="-120"/>
              </a:rPr>
              <a:t>()</a:t>
            </a:r>
          </a:p>
          <a:p>
            <a:r>
              <a:rPr lang="en-US" sz="1200" dirty="0" err="1">
                <a:solidFill>
                  <a:srgbClr val="A8D8EA"/>
                </a:solidFill>
                <a:latin typeface="Consolas" pitchFamily="34" charset="0"/>
                <a:ea typeface="Consolas" pitchFamily="34" charset="-122"/>
                <a:cs typeface="Consolas" pitchFamily="34" charset="-120"/>
              </a:rPr>
              <a:t>plt.show</a:t>
            </a:r>
            <a:r>
              <a:rPr lang="en-US" sz="1200" dirty="0">
                <a:solidFill>
                  <a:srgbClr val="A8D8EA"/>
                </a:solidFill>
                <a:latin typeface="Consolas" pitchFamily="34" charset="0"/>
                <a:ea typeface="Consolas" pitchFamily="34" charset="-122"/>
                <a:cs typeface="Consolas" pitchFamily="34" charset="-120"/>
              </a:rPr>
              <a:t>()</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Verify they are numerically identical</a:t>
            </a:r>
          </a:p>
          <a:p>
            <a:r>
              <a:rPr lang="en-US" sz="1200" dirty="0">
                <a:solidFill>
                  <a:srgbClr val="A8D8EA"/>
                </a:solidFill>
                <a:latin typeface="Consolas" pitchFamily="34" charset="0"/>
                <a:ea typeface="Consolas" pitchFamily="34" charset="-122"/>
                <a:cs typeface="Consolas" pitchFamily="34" charset="-120"/>
              </a:rPr>
              <a:t>print("Max pixel difference:", (z2_recon - z2_recon2).abs().max().item())</a:t>
            </a:r>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5A4B7-4C65-4F4C-A0C6-98E667564DB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D14B79-6C50-7E69-71B2-A8B18579595F}"/>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2645B966-730B-1B03-2C05-E2522FAA8C2F}"/>
              </a:ext>
            </a:extLst>
          </p:cNvPr>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a:extLst>
              <a:ext uri="{FF2B5EF4-FFF2-40B4-BE49-F238E27FC236}">
                <a16:creationId xmlns:a16="http://schemas.microsoft.com/office/drawing/2014/main" id="{8B27F5FC-1D5B-0E23-2ABA-4C140380D2D8}"/>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5</a:t>
            </a:r>
            <a:endParaRPr lang="en-US" sz="1467" dirty="0"/>
          </a:p>
        </p:txBody>
      </p:sp>
      <p:sp>
        <p:nvSpPr>
          <p:cNvPr id="5" name="Text 3">
            <a:extLst>
              <a:ext uri="{FF2B5EF4-FFF2-40B4-BE49-F238E27FC236}">
                <a16:creationId xmlns:a16="http://schemas.microsoft.com/office/drawing/2014/main" id="{3D75D2D7-BC08-7017-088B-57165A6B4611}"/>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Reconstruct from z2_q and compare</a:t>
            </a:r>
          </a:p>
        </p:txBody>
      </p:sp>
      <p:sp>
        <p:nvSpPr>
          <p:cNvPr id="6" name="Shape 4">
            <a:extLst>
              <a:ext uri="{FF2B5EF4-FFF2-40B4-BE49-F238E27FC236}">
                <a16:creationId xmlns:a16="http://schemas.microsoft.com/office/drawing/2014/main" id="{E6A0C507-4C2F-35B4-8B3D-EDAB70B6AAC8}"/>
              </a:ext>
            </a:extLst>
          </p:cNvPr>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8CEB7287-C7C0-8BC4-F7F6-8093072EB07B}"/>
              </a:ext>
            </a:extLst>
          </p:cNvPr>
          <p:cNvSpPr/>
          <p:nvPr/>
        </p:nvSpPr>
        <p:spPr>
          <a:xfrm>
            <a:off x="658368" y="916591"/>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First, reconstruct the fish image based on the quantized latent representation first generated, z2_q, in Exercise 3, and name the reconstructed fish image z2_recon. Plot z2_recon and z2_recon2 side by side in a  1×2  grid to compare them.</a:t>
            </a:r>
            <a:endParaRPr lang="en-US" sz="1333" dirty="0"/>
          </a:p>
        </p:txBody>
      </p:sp>
      <p:sp>
        <p:nvSpPr>
          <p:cNvPr id="12" name="Shape 5">
            <a:extLst>
              <a:ext uri="{FF2B5EF4-FFF2-40B4-BE49-F238E27FC236}">
                <a16:creationId xmlns:a16="http://schemas.microsoft.com/office/drawing/2014/main" id="{4DE92A91-FEB3-E8FB-BEC2-B67F94F6446A}"/>
              </a:ext>
            </a:extLst>
          </p:cNvPr>
          <p:cNvSpPr/>
          <p:nvPr/>
        </p:nvSpPr>
        <p:spPr>
          <a:xfrm>
            <a:off x="2605238" y="5478619"/>
            <a:ext cx="6981524" cy="436596"/>
          </a:xfrm>
          <a:prstGeom prst="rect">
            <a:avLst/>
          </a:prstGeom>
          <a:solidFill>
            <a:srgbClr val="E8F5E9"/>
          </a:solidFill>
          <a:ln w="12700">
            <a:solidFill>
              <a:srgbClr val="A5D6A7"/>
            </a:solidFill>
            <a:prstDash val="solid"/>
          </a:ln>
        </p:spPr>
      </p:sp>
      <p:sp>
        <p:nvSpPr>
          <p:cNvPr id="13" name="Text 6">
            <a:extLst>
              <a:ext uri="{FF2B5EF4-FFF2-40B4-BE49-F238E27FC236}">
                <a16:creationId xmlns:a16="http://schemas.microsoft.com/office/drawing/2014/main" id="{F8F8BE53-8FA0-A931-9405-E39F2FC1DF92}"/>
              </a:ext>
            </a:extLst>
          </p:cNvPr>
          <p:cNvSpPr/>
          <p:nvPr/>
        </p:nvSpPr>
        <p:spPr>
          <a:xfrm>
            <a:off x="2605238" y="5348287"/>
            <a:ext cx="4177685" cy="566928"/>
          </a:xfrm>
          <a:prstGeom prst="rect">
            <a:avLst/>
          </a:prstGeom>
          <a:noFill/>
          <a:ln/>
        </p:spPr>
        <p:txBody>
          <a:bodyPr wrap="square" rtlCol="0" anchor="t"/>
          <a:lstStyle/>
          <a:p>
            <a:pPr marL="0" indent="0">
              <a:buNone/>
            </a:pPr>
            <a:r>
              <a:rPr lang="en-US" sz="1400" b="1" dirty="0">
                <a:solidFill>
                  <a:srgbClr val="2E7D5E"/>
                </a:solidFill>
                <a:latin typeface="Calibri" pitchFamily="34" charset="0"/>
                <a:ea typeface="Calibri" pitchFamily="34" charset="-122"/>
                <a:cs typeface="Calibri" pitchFamily="34" charset="-120"/>
              </a:rPr>
              <a:t>
Max pixel difference: 1.3649463653564453e-05</a:t>
            </a:r>
            <a:endParaRPr lang="en-US" sz="1400" dirty="0"/>
          </a:p>
        </p:txBody>
      </p:sp>
      <p:pic>
        <p:nvPicPr>
          <p:cNvPr id="2050" name="Picture 2">
            <a:extLst>
              <a:ext uri="{FF2B5EF4-FFF2-40B4-BE49-F238E27FC236}">
                <a16:creationId xmlns:a16="http://schemas.microsoft.com/office/drawing/2014/main" id="{E517C278-E287-E6E9-64E3-99849C596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25" y="1509713"/>
            <a:ext cx="714375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537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Thank you !</a:t>
            </a:r>
          </a:p>
        </p:txBody>
      </p:sp>
    </p:spTree>
    <p:extLst>
      <p:ext uri="{BB962C8B-B14F-4D97-AF65-F5344CB8AC3E}">
        <p14:creationId xmlns:p14="http://schemas.microsoft.com/office/powerpoint/2010/main" val="44932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4937</TotalTime>
  <Words>4587</Words>
  <Application>Microsoft Office PowerPoint</Application>
  <PresentationFormat>Widescreen</PresentationFormat>
  <Paragraphs>450</Paragraphs>
  <Slides>48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Anthropic Serif</vt:lpstr>
      <vt:lpstr>Aptos</vt:lpstr>
      <vt:lpstr>Aptos Display</vt:lpstr>
      <vt:lpstr>Arial</vt:lpstr>
      <vt:lpstr>Calibri</vt:lpstr>
      <vt:lpstr>Consolas</vt:lpstr>
      <vt:lpstr>Viner Hand ITC</vt:lpstr>
      <vt:lpstr>Office Theme</vt:lpstr>
      <vt:lpstr>Grafică asistată de calculator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evosoft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Grigore Atimut, Ionut Orlando (ADV D EU RO IFA AI DN)</dc:creator>
  <cp:lastModifiedBy>ionut grigore</cp:lastModifiedBy>
  <cp:revision>116</cp:revision>
  <dcterms:created xsi:type="dcterms:W3CDTF">2024-09-13T06:53:36Z</dcterms:created>
  <dcterms:modified xsi:type="dcterms:W3CDTF">2026-05-17T14:14:16Z</dcterms:modified>
</cp:coreProperties>
</file>