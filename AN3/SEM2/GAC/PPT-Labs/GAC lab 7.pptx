
<file path=[Content_Types].xml><?xml version="1.0" encoding="utf-8"?>
<Types xmlns="http://schemas.openxmlformats.org/package/2006/content-types">
  <Default Extension="jfif" ContentType="image/jpeg"/>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96" r:id="rId3"/>
    <p:sldId id="259" r:id="rId4"/>
    <p:sldId id="258" r:id="rId5"/>
    <p:sldId id="327" r:id="rId6"/>
    <p:sldId id="325" r:id="rId7"/>
    <p:sldId id="328" r:id="rId8"/>
    <p:sldId id="320" r:id="rId9"/>
    <p:sldId id="261" r:id="rId10"/>
    <p:sldId id="262" r:id="rId11"/>
    <p:sldId id="321" r:id="rId12"/>
    <p:sldId id="264" r:id="rId13"/>
    <p:sldId id="265" r:id="rId14"/>
    <p:sldId id="319" r:id="rId15"/>
    <p:sldId id="268" r:id="rId16"/>
    <p:sldId id="400" r:id="rId17"/>
    <p:sldId id="269" r:id="rId18"/>
    <p:sldId id="398" r:id="rId19"/>
    <p:sldId id="399" r:id="rId20"/>
    <p:sldId id="322" r:id="rId21"/>
    <p:sldId id="271" r:id="rId22"/>
    <p:sldId id="318" r:id="rId23"/>
    <p:sldId id="272" r:id="rId24"/>
    <p:sldId id="396" r:id="rId25"/>
    <p:sldId id="401" r:id="rId26"/>
    <p:sldId id="397" r:id="rId27"/>
    <p:sldId id="402" r:id="rId28"/>
    <p:sldId id="29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F3D4CF-906D-4A2B-A884-17E1ADF724F4}" v="30" dt="2024-09-14T18:53:25.7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62" d="100"/>
          <a:sy n="62" d="100"/>
        </p:scale>
        <p:origin x="792"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5/10/relationships/revisionInfo" Target="revisionInfo.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8T11:12:41.970"/>
    </inkml:context>
    <inkml:brush xml:id="br0">
      <inkml:brushProperty name="width" value="0.35" units="cm"/>
      <inkml:brushProperty name="height" value="0.35" units="cm"/>
      <inkml:brushProperty name="color" value="#FFFFFF"/>
    </inkml:brush>
  </inkml:definitions>
  <inkml:trace contextRef="#ctx0" brushRef="#br0">0 1 24575,'62'6'0,"-20"-1"0,405 15 0,5-22 0,-150 0 0,-177 2 0,-287-8 0,47 0 0,-867-4-486,834 13-393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8T11:12:43.135"/>
    </inkml:context>
    <inkml:brush xml:id="br0">
      <inkml:brushProperty name="width" value="0.35" units="cm"/>
      <inkml:brushProperty name="height" value="0.35" units="cm"/>
      <inkml:brushProperty name="color" value="#FFFFFF"/>
    </inkml:brush>
  </inkml:definitions>
  <inkml:trace contextRef="#ctx0" brushRef="#br0">0 1 24575,'12'5'0,"-3"1"0,16 6 0,0 0 0,1-2 0,1 0 0,0-2 0,0-1 0,0-2 0,48 5 0,207-7 0,-156-6 0,-105 3 0,36 0 0,-55 0 0,0 0 0,0 1 0,0-1 0,0 0 0,0 1 0,0-1 0,0 1 0,0 0 0,0 0 0,0 0 0,0 0 0,0 0 0,0 0 0,-1 0 0,1 1 0,0-1 0,-1 1 0,1-1 0,-1 1 0,2 2 0,-2-1 0,-1-1 0,1 1 0,-1 0 0,0-1 0,0 1 0,0-1 0,0 1 0,0 0 0,0-1 0,-1 1 0,1 0 0,-1-1 0,0 1 0,0-1 0,0 1 0,0-1 0,-3 4 0,3-3 0,-25 47 0,-2-1 0,-37 48 0,40-60 0,-253 337 0,265-359 0,15-19 0,25-26 0,52-42 0,108-77 0,103-49 0,-153 107 0,-103 67 0,-10 6 0,1 2 0,40-20 0,-63 35 0,-1 0 0,1 0 0,-1 1 0,1-1 0,0 0 0,-1 1 0,1 0 0,-1-1 0,1 1 0,0 0 0,-1 0 0,1 0 0,0 0 0,-1 0 0,4 1 0,-5-1 0,1 1 0,0 0 0,-1 0 0,0 0 0,1-1 0,-1 1 0,1 0 0,-1 0 0,0 0 0,0 0 0,0 0 0,1 0 0,-1 0 0,0-1 0,0 1 0,0 0 0,0 0 0,-1 0 0,1 0 0,0 0 0,0 0 0,0 0 0,-1 0 0,1-1 0,0 1 0,-1 0 0,1 0 0,-2 1 0,-8 24 0,-2-1 0,-1 0 0,-1 0 0,-1-1 0,-1-1 0,-21 23 0,-124 124 0,124-135 0,-17 20 0,-112 105 0,129-128 0,-1-2 0,-70 43 0,102-70 0,0 0 0,0 0 0,0 0 0,0-1 0,-8 2 0,13-4 0,0 1 0,0-1 0,1 0 0,-1 0 0,0 0 0,0 0 0,0 0 0,0 0 0,0 0 0,0 0 0,1 0 0,-1 0 0,0 0 0,0 0 0,0-1 0,0 1 0,1 0 0,-1-1 0,0 1 0,0 0 0,0-1 0,1 1 0,-1-1 0,0 1 0,1-1 0,-1 0 0,0 1 0,1-1 0,-1 0 0,1 1 0,-1-1 0,1 0 0,0 0 0,-1 1 0,1-1 0,0 0 0,-1 0 0,1 0 0,0 0 0,0 1 0,0-1 0,-1 0 0,1 0 0,0 0 0,0 0 0,0 0 0,1 0 0,-1 1 0,0-2 0,3-9 0,-1 1 0,2-1 0,0 1 0,0 0 0,1 0 0,0 0 0,0 1 0,8-10 0,-6 8 0,18-28 0,2 1 0,2 2 0,2 1 0,0 1 0,54-43 0,-41 42 0,2 2 0,1 2 0,2 2 0,56-25 0,-95 49 0,2-1 0,1 0 0,0 1 0,0 1 0,23-5 0,-33 8 0,0 1 0,0 0 0,0 0 0,0-1 0,0 2 0,-1-1 0,1 0 0,0 1 0,0-1 0,0 1 0,-1 0 0,1 0 0,0 0 0,-1 0 0,1 0 0,0 1 0,-1-1 0,0 1 0,1 0 0,-1-1 0,0 1 0,0 0 0,0 0 0,0 1 0,0-1 0,-1 0 0,1 1 0,1 2 0,1 3 0,-1-1 0,0 1 0,-1 0 0,0 0 0,0 0 0,0 0 0,-1 0 0,0 13 0,-2 7 0,-4 37 0,-5-4 0,-3-1 0,-2 0 0,-3-1 0,-2-1 0,-37 73 0,-161 264 0,58-147 0,130-210 0,30-38 0,0 0 0,-1 0 0,1 1 0,0-1 0,0 0 0,0 0 0,-1 0 0,1 0 0,0 1 0,0-1 0,-1 0 0,1 0 0,0 0 0,0 0 0,-1 0 0,1 0 0,0 0 0,0 1 0,-1-1 0,1 0 0,0 0 0,0 0 0,-1 0 0,1 0 0,0 0 0,-1 0 0,1-1 0,0 1 0,0 0 0,-1 0 0,-1-11 0,8-19 0,0 1 0,2 0 0,15-35 0,-14 37 0,85-217-733,9 3 0,139-229 0,-193 385-5259</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8T11:12:43.359"/>
    </inkml:context>
    <inkml:brush xml:id="br0">
      <inkml:brushProperty name="width" value="0.35" units="cm"/>
      <inkml:brushProperty name="height" value="0.35" units="cm"/>
      <inkml:brushProperty name="color" value="#FFFFFF"/>
    </inkml:brush>
  </inkml:definitions>
  <inkml:trace contextRef="#ctx0" brushRef="#br0">118 770 24575,'-9'5'0,"-9"2"0,-6-1 0,1-6 0,5-32 0,5-49 0,5-26 0,4-19 0,16-3 0,13 7 0,10 14 0,0 25-8191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8T11:12:43.726"/>
    </inkml:context>
    <inkml:brush xml:id="br0">
      <inkml:brushProperty name="width" value="0.35" units="cm"/>
      <inkml:brushProperty name="height" value="0.35" units="cm"/>
      <inkml:brushProperty name="color" value="#FFFFFF"/>
    </inkml:brush>
  </inkml:definitions>
  <inkml:trace contextRef="#ctx0" brushRef="#br0">431 0 24575,'2'49'0,"13"71"0,-4-34 0,6 87 0,-9 314 0,-11-438 0,-3 0 0,-18 82 0,19-113 0,0 0 0,-2 0 0,0-1 0,0 0 0,-2 0 0,0-1 0,-1 0 0,0-1 0,-2 0 0,-16 17 0,25-28 0,-1 0 0,-1-1 0,1 0 0,0 0 0,-1 0 0,0 0 0,1-1 0,-1 1 0,0-1 0,0 0 0,0-1 0,-1 0 0,1 1 0,-8-1 0,6 0 0,0-2 0,0 1 0,0-1 0,0 0 0,0 0 0,0-1 0,0 0 0,1-1 0,-13-5 0,1-2 0,0-1 0,1-1 0,1-1 0,0 0 0,1-1 0,-20-24 0,-12-19-1365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8T11:12:56.479"/>
    </inkml:context>
    <inkml:brush xml:id="br0">
      <inkml:brushProperty name="width" value="0.35" units="cm"/>
      <inkml:brushProperty name="height" value="0.35" units="cm"/>
      <inkml:brushProperty name="color" value="#FFFFFF"/>
    </inkml:brush>
  </inkml:definitions>
  <inkml:trace contextRef="#ctx0" brushRef="#br0">1564 492 24575,'1'-13'0,"0"-1"0,1 1 0,1 0 0,0 0 0,0 0 0,1 0 0,1 0 0,0 1 0,9-15 0,10-13 0,37-48 0,-47 69 0,-4 6 0,-1 1 0,2 0 0,-1 0 0,19-14 0,-22 21 0,-1 0 0,1 1 0,0 0 0,0 1 0,0 0 0,0 0 0,1 0 0,-1 1 0,1 0 0,0 0 0,8 0 0,23-1 0,1 1 0,0 3 0,-1 1 0,57 10 0,-85-10 0,0 1 0,-1 0 0,1 1 0,0 0 0,-1 0 0,0 1 0,0 0 0,0 1 0,10 8 0,-9-4 0,1 1 0,-2 0 0,1 0 0,-1 1 0,-1 1 0,9 14 0,4 12 0,-2 1 0,-2 0 0,-1 1 0,-2 1 0,15 71 0,-13-22 0,10 156 0,-27 389 0,-5-554 0,-3-2 0,-33 142 0,25-162 0,-2-2 0,-3 0 0,-2-1 0,-41 70 0,58-114 0,-2 0 0,0-1 0,0 1 0,-1-2 0,-1 1 0,0-1 0,-16 14 0,25-24 0,0 0 0,-1 0 0,1 0 0,0 0 0,-1-1 0,1 1 0,-1 0 0,0-1 0,1 1 0,-1-1 0,1 1 0,-1-1 0,0 0 0,1 0 0,-1 0 0,0 0 0,1 0 0,-1 0 0,0 0 0,1 0 0,-1-1 0,0 1 0,1 0 0,-1-1 0,1 0 0,-1 1 0,1-1 0,-1 0 0,1 0 0,-1 0 0,1 0 0,0 0 0,0 0 0,-1 0 0,1 0 0,0 0 0,0-1 0,0 1 0,-1-3 0,-4-5 0,1-1 0,1 1 0,0-1 0,0 0 0,-3-14 0,-8-38 8,3-1 0,-7-80 0,5-135-88,13 234 42,-4-331-456,-5-125 515,7 444-21,-3 1 0,-17-71 0,19 115 45,1 14 88,0 27 162,-3 377-190,3-44-764,-24 74 498,5-98 192,20-316-31,1-53 0,-38-1025-765,-33 400 653,56 558 112,9 74 0,7 23 0,0 0 0,0 0 0,-1 0 0,1 0 0,0 0 0,0 0 0,0 0 0,0-1 0,0 1 0,0 0 0,0 0 0,-1 0 0,1 0 0,0 0 0,0 0 0,0 0 0,0 0 0,0 0 0,0 0 0,0 0 0,-1 0 0,1 0 0,0 0 0,0 0 0,0 0 0,0 0 0,0 0 0,0 0 0,-1 0 0,1 0 0,0 1 0,0-1 0,0 0 0,0 0 0,0 0 0,0 0 0,0 0 0,0 0 0,-1 0 0,1 0 0,0 0 0,0 0 0,0 1 0,0-1 0,0 0 0,0 0 0,0 0 0,0 0 0,0 0 0,0 0 0,0 1 0,0-1 0,0 0 0,0 0 0,0 0 0,0 0 0,0 0 0,0 0 0,0 1 0,0-1 0,0 0 0,0 0 0,0 0 0,0 0 0,0 0 0,0 0 0,-3 44 0,10 282 22,0-164-208,9 590 58,-16-661 617,-3-73-413,-3-25-64,-6-35-19,-15-76 0,-18-189 0,21-128 185,22 363 222,2 1-1,12-77 1,-11 138-397,1 0-1,0 1 1,1-1-1,0 0 1,0 1-1,10-17 1,-11 22-3,0 0-1,1 1 1,0-1 0,0 1 0,0 0 0,0 0-1,0 0 1,1 0 0,-1 0 0,1 1 0,0-1-1,-1 1 1,1 0 0,0 1 0,1-1 0,-1 0-1,7 0 1,3-1 0,0 1 0,1 1 0,-1 0 0,1 1 0,-1 1 0,0 0 0,19 4 0,-11 0 0,0 1 0,0 1 0,0 1 0,22 12 0,0 4-53,-2 2 0,79 62 0,70 84-242,-98-75 265,-4 4 0,100 149-1,-147-196 31,-42-53 0,0 0 0,1 0 0,0 0 0,-1 0 0,1-1 0,0 1 0,-1 0 0,1 0 0,0-1 0,0 1 0,-1 0 0,1-1 0,0 1 0,0-1 0,0 1 0,0-1 0,0 0 0,0 1 0,0-1 0,0 0 0,0 0 0,0 0 0,0 1 0,0-1 0,0 0 0,0 0 0,1-1 0,0 0 0,-1 0 0,0-1 0,0 1 0,0-1 0,-1 1 0,1-1 0,0 0 0,0 1 0,-1-1 0,1 0 0,-1 1 0,0-1 0,1 0 0,-1 0 0,0-2 0,3-40 55,-1-1-1,-5-48 1,0 4 235,5-15-234,25-174-1,43-98-67,-35 201 4,-34 172 8,0 0 0,0 0 0,-1 0 0,1 0 0,-1 0 0,0 0 0,0 0 0,0 0 0,-1-4 0,-6 12 0,-6 15 0,-294 546 0,182-323 0,107-208 0,-30 52 0,47-87 0,-1 4 0,0 0 0,-1-1 0,1 0 0,-1 1 0,-5 3 0,7-6 0,1-1 0,-1 1 0,0-1 0,0 1 0,1-1 0,-1 1 0,0-1 0,0 0 0,0 0 0,0 1 0,1-1 0,-1 0 0,0 0 0,0 0 0,0 0 0,0 0 0,0 0 0,0 0 0,0 0 0,1 0 0,-1 0 0,0-1 0,0 1 0,0 0 0,0-1 0,1 1 0,-1-1 0,0 1 0,0 0 0,1-1 0,-1 0 0,-1 0 0,-5-7 0,1 0 0,0-1 0,0 0 0,0 0 0,1 0 0,1-1 0,0 1 0,-4-13 0,1 4 0,-30-72 0,4-2 0,4 0 0,-23-137 0,51 222 0,-1-1 0,1-1 0,0 0 0,1 1 0,0-1 0,1-10 0,-1 17 0,0 0 0,1 0 0,-1 0 0,1 0 0,0 0 0,-1 0 0,1 0 0,0 1 0,0-1 0,0 0 0,0 0 0,1 1 0,-1-1 0,0 1 0,1-1 0,-1 1 0,1 0 0,-1 0 0,1-1 0,0 1 0,0 0 0,-1 0 0,1 1 0,0-1 0,0 0 0,0 1 0,0-1 0,2 0 0,17-1 0,0 1 0,0 0 0,0 2 0,0 0 0,0 2 0,33 7 0,-30-6 0,24 6 0,-1 2 0,-1 1 0,0 3 0,-1 1 0,-1 3 0,0 1 0,-2 3 0,-1 1 0,-1 2 0,-1 2 0,-1 1 0,66 69 0,-94-87 0,0-1 0,-1 1 0,0 1 0,-1 0 0,13 27 0,-18-31 0,1 0 0,-2 0 0,0 0 0,0 1 0,0-1 0,-1 1 0,-1-1 0,1 1 0,-2-1 0,-1 13 0,-6 21 0,-3-1 0,-29 78 0,-4 15 0,39-115 0,0 0 0,2 0 0,1 0 0,-1 36 0,4-290 0,2 82 0,-5 78 0,4-79 0,-2 151 0,0 1 0,0 0 0,0-1 0,0 1 0,0 0 0,1-1 0,-1 1 0,0-1 0,1 1 0,-1 0 0,1 0 0,-1-1 0,1 1 0,0 0 0,0 0 0,-1 0 0,1-1 0,0 1 0,0 0 0,0 0 0,0 0 0,0 1 0,0-1 0,0 0 0,1 0 0,1 0 0,-1 0 0,0 1 0,0 0 0,-1 1 0,1-1 0,0 0 0,0 1 0,0-1 0,0 1 0,-1-1 0,1 1 0,0 0 0,-1 0 0,1 0 0,0 0 0,-1 0 0,1 0 0,-1 0 0,1 0 0,-1 1 0,0-1 0,2 2 0,9 11 0,0 1 0,-1 0 0,-1 0 0,0 1 0,-1 0 0,7 19 0,38 112 0,-39-102 0,13 41 0,33 176 0,-55-230 0,14 48 0,-12-65 0,-7-15 0,-1-1 0,1 1 0,-1-1 0,1 1 0,-1-1 0,1 1 0,-1-1 0,0 0 0,1 1 0,-1-1 0,0 0 0,1 1 0,-1-1 0,0 0 0,0 1 0,0-1 0,0 0 0,1 1 0,-1-1 0,0 0 0,0 0 0,0 1 0,-1-2 0,8-63 0,-5-116 0,-3 99 0,17-475 0,-4 69 0,-12 479 0,-1 10 0,1 20 0,1 271 0,-3 206 0,-14-273 0,10-182 0,-3-1 0,-1 0 0,-18 49 0,24-83 0,-63 183 0,66-187 0,-1 0 0,0 1 0,0-1 0,0 0 0,0-1 0,-1 1 0,1 0 0,-1-1 0,0 1 0,0-1 0,0 0 0,0 0 0,-1 0 0,1 0 0,-1-1 0,0 1 0,-6 2 0,-5 1 0,0-1 0,0 0 0,-26 5 0,12-4 0,-76 24 0,-115 48 0,200-70 0,-55 20 0,66-25 0,0-1 0,0 0 0,0 0 0,0-1 0,0 0 0,-10-1 0,19 0 0,-1 0 0,1 0 0,-1 0 0,1 0 0,-1 0 0,1 0 0,-1 0 0,1 0 0,-1 0 0,1 0 0,-1 0 0,1 0 0,-1-1 0,1 1 0,-1 0 0,1 0 0,-1-1 0,1 1 0,-1 0 0,1-1 0,0 1 0,-1 0 0,1-1 0,0 1 0,-1 0 0,1-1 0,0 1 0,-1-2 0,1 2 0,0-1 0,0 0 0,0 0 0,1 0 0,-1 1 0,0-1 0,0 0 0,1 0 0,-1 1 0,1-1 0,-1 0 0,0 0 0,1 1 0,-1-1 0,1 1 0,0-2 0,28-21 0,-9 13 0,36-13 0,-50 20 0,-122 56 0,-38 18-63,-846 367-1116,786-357 1179,-240 103 0,421-168 0,-50 32 0,73-42 0,1 2 0,0-1 0,0 1 0,0 0 0,1 1 0,1 0 0,-1 0 0,-9 17 0,-45 102 1242,60-123-1242,-1 0 0,0 0 0,0 0 0,0 0 0,-1-1 0,1 0 0,-1 1 0,0-1 0,-1 0 0,1-1 0,0 1 0,-1-1 0,0 0 0,-8 4 0,31-14 0,0 0 0,19-13 0,-7 4 0,74-37 0,226-117 0,-307 158 0,24-14 0,-45 25 0,1-1 0,0 0 0,-1 0 0,1 0 0,-1 0 0,1 0 0,-1-1 0,0 1 0,0-1 0,3-5 0,-5 8 0,1 0 0,-1-1 0,0 1 0,0 0 0,0-1 0,0 1 0,0 0 0,0-1 0,0 1 0,0 0 0,0 0 0,0-1 0,0 1 0,0 0 0,0-1 0,0 1 0,0 0 0,0-1 0,0 1 0,-1 0 0,1 0 0,0-1 0,0 1 0,0 0 0,0 0 0,-1-1 0,1 1 0,0 0 0,0 0 0,-1-1 0,-15-3 0,-15 4 0,1 2 0,0 1 0,-32 8 0,26-5 0,-752 119 0,778-124 0,0 1 0,0-1 0,0 0 0,0 0 0,-13-2 0,21 1 0,0 0 0,-1 0 0,1-1 0,0 1 0,0-1 0,0 0 0,0 1 0,0-1 0,0 0 0,1 0 0,-1 0 0,0-1 0,0 1 0,1 0 0,-1-1 0,1 1 0,-1-1 0,1 1 0,-1-1 0,1 0 0,0 0 0,0 1 0,0-1 0,0 0 0,-1-4 0,-1-6 0,2 0 0,-1 0 0,1 0 0,1-1 0,2-23 0,-1 17 0,0 0 0,-3-20 0,1 35 0,1 0 0,-1 1 0,1-1 0,-1 0 0,-1 1 0,1-1 0,0 0 0,-1 1 0,0 0 0,1-1 0,-2 1 0,1 0 0,0 0 0,0 0 0,-5-4 0,112 91 0,43 36 0,-139-113 0,-1 1 0,0 1 0,0-1 0,-1 1 0,0 1 0,0-1 0,-1 1 0,0 0 0,-1 1 0,-1-1 0,1 1 0,-2 0 0,1 0 0,-1 1 0,-1-1 0,0 0 0,0 14 0,0 31 0,-9 111 0,6-162 0,0-11 0,-1-18 0,1-25 0,2 0 0,3-1 0,1 1 0,19-75 0,-14 87 0,2 2 0,1-1 0,2 2 0,1 0 0,2 1 0,35-52 0,-35 62 0,0 0 0,2 0 0,0 2 0,1 0 0,33-23 0,-50 41 0,0 0 0,0 1 0,0-1 0,1 1 0,-1 0 0,1 0 0,-1 0 0,1 1 0,0-1 0,-1 1 0,1 0 0,0 1 0,0-1 0,8 1 0,-12 0 0,1 1 0,0-1 0,0 1 0,-1 0 0,1-1 0,0 1 0,-1 0 0,1 0 0,0 0 0,-1 0 0,1 0 0,-1 0 0,0 0 0,1 1 0,1 1 0,-1 0 0,0 0 0,-1 0 0,1 0 0,-1 0 0,0 1 0,0-1 0,0 0 0,0 1 0,0-1 0,0 6 0,-1 8 0,-1-1 0,0 0 0,-2 1 0,0-1 0,0 0 0,-1 0 0,-1-1 0,-12 26 0,-8 16 0,-2-2 0,-56 86 0,-87 96 0,19-30 0,147-200 0,-1 0 0,1 0 0,0 0 0,-4 11 0,8-18 0,0 1 0,0-1 0,0 0 0,-1 1 0,1-1 0,0 0 0,0 1 0,0-1 0,0 0 0,0 1 0,0-1 0,0 0 0,0 1 0,0-1 0,0 0 0,0 1 0,0-1 0,0 0 0,1 1 0,-1-1 0,0 0 0,0 1 0,0-1 0,0 0 0,1 1 0,-1-1 0,0 0 0,0 0 0,0 1 0,1-1 0,-1 0 0,0 0 0,1 1 0,-1-1 0,0 0 0,0 0 0,1 0 0,-1 0 0,0 1 0,1-1 0,-1 0 0,0 0 0,1 0 0,-1 0 0,0 0 0,1 0 0,-1 0 0,1 0 0,-1 0 0,0 0 0,1 0 0,-1 0 0,0 0 0,1 0 0,-1 0 0,0-1 0,1 1 0,-1 0 0,0 0 0,0 0 0,1 0 0,-1-1 0,1 1 0,11-6 0,1 0 0,21-14 0,348-228-637,168-100-428,-205 169 1065,-310 164 0,37-12 0,-65 25 0,0 0 0,0 1 0,0-1 0,0 1 0,0 1 0,8-1 0,-14 1 0,0 0 0,0 0 0,1 1 0,-1-1 0,0 0 0,0 1 0,0-1 0,1 1 0,-1-1 0,0 1 0,0-1 0,0 1 0,0 0 0,0 0 0,0-1 0,0 1 0,0 0 0,-1 0 0,1 0 0,0 0 0,0 0 0,-1 0 0,1 0 0,0 0 0,-1 1 0,1-1 0,-1 0 0,0 0 0,1 0 0,-1 1 0,0-1 0,0 0 0,0 0 0,0 1 0,0-1 0,0 0 0,0 0 0,0 1 0,-1 1 0,0 6 0,-1 1 0,0-1 0,-1 1 0,0-1 0,-1 0 0,-8 16 0,-3 2 0,-22 30 0,-30 27 5,-116 113 1,108-119 146,63-67-69,-267 275 814,-18-22-898,271-246 1,18-17 0,14-13 0,14-11 0,0 0 0,2 2 0,31-24 0,-33 28 0,420-319-490,-326 263 361,2 5 1,138-58-1,-97 66 129,-145 56 0,0 1 0,0 0 0,0 0 0,0 1 0,0 1 0,0 0 0,14 1 0,-23 0 0,-1 0 0,1 1 0,-1-1 0,1 1 0,-1 0 0,1-1 0,-1 1 0,0 0 0,1 0 0,-1 0 0,0 1 0,0-1 0,0 1 0,0-1 0,0 1 0,0 0 0,0-1 0,0 1 0,-1 0 0,1 0 0,-1 0 0,1 1 0,-1-1 0,0 0 0,0 0 0,0 1 0,0-1 0,1 5 0,-1-1 0,-1 1 0,0 0 0,0 0 0,0 0 0,-1 0 0,0 0 0,0-1 0,-1 1 0,1 0 0,-5 9 0,-5 9 0,-1-1 0,-1 0 0,-27 39 0,-9 2-18,-2-3 0,-89 85 1,-145 95-848,171-158 633,-4-5-1,-179 89 1,-266 78 274,532-234-54,-10 5 234,0-2-1,-1-1 1,-74 13 0,110-27-189,1 1 1,0-1-1,0 0 1,-1 0-1,1-1 1,0 1-1,0-1 1,-1 0-1,-4-2 1,7 1-26,0 1 0,0 0 1,1-1-1,-1 0 0,0 0 1,1 1-1,-1-2 0,1 1 0,-1 0 1,1 0-1,0-1 0,-2-2 1,0-3-9,1 1 0,-1-1 0,1 0 0,1 0 0,0 0 0,0 0 0,0 0 0,1 0 0,0-1 0,1-13 0,1-44 224,3 0 1,2 0-1,3 1 1,31-110-1,-2 54 61,81-178-1,-115 289-284,-3 6 0,1 0 0,-1 0 0,1 0 0,0 0 0,0 1 0,0-1 0,0 1 0,1-1 0,-1 1 0,1 0 0,0 0 0,6-5 0,-9 8 0,1 0 0,0 0 0,-1 0 0,1 0 0,0 1 0,-1-1 0,1 0 0,0 0 0,-1 0 0,1 0 0,0 1 0,-1-1 0,1 0 0,-1 0 0,1 1 0,-1-1 0,1 1 0,0-1 0,-1 0 0,1 1 0,-1-1 0,0 1 0,1-1 0,-1 1 0,1 0 0,-1-1 0,0 1 0,0-1 0,1 2 0,6 9 0,-1 1 0,0 0 0,-1 0 0,-1 0 0,7 26 0,7 70 0,-15-91 0,8 72 0,-4 1 0,-6 123 0,-5-156 0,-2 1 0,-3-1 0,-2-1 0,-33 99 0,39-142 0,0 0 0,-9 15 0,14-27 0,-1-1 0,1 1 0,0 0 0,-1-1 0,1 1 0,0-1 0,-1 1 0,1 0 0,-1-1 0,1 1 0,-1-1 0,0 1 0,1-1 0,-1 1 0,1-1 0,-1 0 0,0 1 0,1-1 0,-1 0 0,0 1 0,0-1 0,0 0 0,1-1 0,-1 1 0,1 0 0,-1 0 0,1-1 0,0 1 0,-1-1 0,1 1 0,0 0 0,-1-1 0,1 1 0,0-1 0,0 1 0,-1-1 0,1 1 0,0-1 0,0 1 0,0-1 0,0 1 0,0-1 0,0 1 0,0-2 0,-1-5 0,0-1 0,1 0 0,1-13 0,8-28 0,1 0 0,3 1 0,22-56 0,7-4-183,4 2 0,5 2 0,109-166 0,-104 190 37,3 3-1,4 2 1,3 3 0,132-112-1,-198 183 147,32-25 0,36-21 0,-60 41 0,1 1 0,0 1 0,0 0 0,0 0 0,1 0 0,0 1 0,-1 1 0,1 0 0,14-2 0,-19 4 0,-1 0 0,0 0 0,0 1 0,0-1 0,0 1 0,0 0 0,0 0 0,0 0 0,0 1 0,0-1 0,0 1 0,-1 0 0,1 0 0,-1 0 0,1 1 0,-1-1 0,0 1 0,0 0 0,5 6 0,-1 0 0,-1 0 0,0 1 0,-1 0 0,0 0 0,0 0 0,4 17 0,2 9 2,-3 0-1,-1 0 1,-1 1-1,-2 0 1,-1 41-1,-5 1-65,-17 111 0,3-95-145,-3-1-1,-48 137 1,42-164 248,-2-2 0,-3-1 1,-3-1-1,-46 64 0,52-90 139,-1-1 0,-3-2-1,0-1 1,-2-1 0,-1-2 0,-51 34 0,84-63-163,0 0 0,0 0-1,0 0 1,-1 0 0,1-1 0,0 1 0,0 0 0,-1-1-1,1 1 1,0 0 0,-1-1 0,1 0 0,0 1-1,-1-1 1,1 0 0,-1 0 0,1 0 0,0 0-1,-1 0 1,1 0 0,-1 0 0,1 0 0,-1 0 0,1-1-1,-2 0 1,2 0 4,0-1 1,0 0-1,0 1 0,0-1 0,0 0 1,1 0-1,-1 0 0,0 1 0,1-1 1,0 0-1,-1 0 0,1 0 0,0 0 1,0 0-1,0 0 0,0 0 0,0 0 1,1 0-1,0-3 0,3-19-19,1 0 0,1 0 0,1 0 0,17-36 0,52-91 0,-59 118 0,-5 10 0,8-15 0,33-49 0,-52 86 0,0 0 0,0-1 0,0 1 0,0 0 0,0-1 0,0 1 0,0 0 0,0 0 0,1 0 0,-1 0 0,0 0 0,1 0 0,-1 0 0,1 0 0,-1 1 0,1-1 0,1 0 0,-2 1 0,-1 0 0,0 0 0,1 0 0,-1 1 0,0-1 0,0 0 0,1 0 0,-1 0 0,0 1 0,0-1 0,1 0 0,-1 0 0,0 1 0,0-1 0,0 0 0,1 0 0,-1 1 0,0-1 0,0 0 0,0 1 0,0-1 0,0 0 0,0 1 0,0-1 0,0 0 0,0 1 0,0 0 0,-2 20 0,-4 2 0,-1-1 0,-1 0 0,-1 0 0,-18 33 0,-62 81 0,35-65 0,-4-2 0,-2-3 0,-3-2 0,-82 62 0,132-115 0,-45 32 0,52-39 0,1-1 0,-1 0 0,1 0 0,-1-1 0,0 1 0,0-1 0,0 0 0,-7 0 0,12-1 0,-1-1 0,0 0 0,0 0 0,1 0 0,-1-1 0,0 1 0,1 0 0,-1-1 0,0 1 0,1-1 0,-1 0 0,0 1 0,1-1 0,-1 0 0,1 0 0,0 0 0,-1 0 0,1 0 0,0 0 0,-1 0 0,1-1 0,0 1 0,0 0 0,0-1 0,0 1 0,0-1 0,-1-2 0,-1-4 0,0 0 0,0 0 0,1 0 0,-2-14 0,-2-19 0,2 0 0,2-1 0,1 1 0,3-1 0,1 1 0,2 0 0,2 0 0,21-71 0,-8 52 0,3 0 0,2 2 0,3 1 0,2 1 0,39-54 0,-48 81 0,0 1 0,44-43 0,-56 61 0,1 1 0,1 1 0,0 0 0,0 0 0,0 1 0,1 1 0,0 0 0,0 0 0,25-7 0,-35 12 0,0 1 0,0 0 0,0-1 0,1 1 0,-1 0 0,0 0 0,0 0 0,0 0 0,1 1 0,-1-1 0,0 0 0,0 1 0,0 0 0,0-1 0,0 1 0,0 0 0,0 0 0,0 0 0,0 1 0,0-1 0,0 0 0,-1 1 0,1-1 0,0 1 0,-1-1 0,0 1 0,1 0 0,-1 0 0,0 0 0,0-1 0,0 1 0,0 0 0,0 0 0,1 4 0,2 6 0,-1 1 0,0-1 0,0 1 0,0 21 0,0 11 0,-3 1 0,-1-1 0,-3 1 0,-1-1 0,-3 0 0,-1-1 0,-2 0 0,-2 0 0,-35 77 0,23-71 0,-2 0 0,-2-2 0,-2-1 0,-2-1 0,-2-2 0,-2-1 0,-66 59 0,87-88 0,0-1 0,-19 12 0,31-22 0,-1-1 0,1 0 0,0 0 0,-1 0 0,0 0 0,1 0 0,-1-1 0,0 0 0,0 0 0,0 0 0,1-1 0,-1 1 0,-10-2 0,11 0 0,1 0 0,-1 0 0,1 0 0,-1-1 0,1 0 0,-1 1 0,1-1 0,0-1 0,0 1 0,0 0 0,0-1 0,1 1 0,-1-1 0,1 0 0,-1 0 0,1 0 0,0 0 0,0 0 0,0 0 0,1-1 0,-1 1 0,1-1 0,-2-7 0,-2-7 0,0 0 0,2-1 0,-2-26 0,5 40 0,-5-45 0,3-1 0,2 1 0,2 0 0,2 0 0,18-83 0,-19 120 0,2 1 0,0-1 0,0 1 0,1 0 0,1 1 0,0-1 0,1 1 0,0 1 0,0-1 0,1 1 0,0 1 0,1 0 0,0 0 0,1 1 0,0 0 0,0 1 0,0 0 0,1 1 0,0 0 0,0 1 0,1 0 0,-1 1 0,18-4 0,-25 7 0,0 0 0,0 0 0,0 0 0,0 1 0,0-1 0,0 1 0,0 1 0,1-1 0,-1 1 0,0-1 0,7 4 0,-9-3 0,0 0 0,0 1 0,-1 0 0,1 0 0,-1 0 0,1 0 0,-1 0 0,0 0 0,0 0 0,0 1 0,0-1 0,0 1 0,0 0 0,-1-1 0,1 1 0,-1 0 0,0 0 0,0 0 0,0 0 0,0 0 0,0 4 0,2 12 0,-1 0 0,0-1 0,-1 1 0,-2 0 0,0-1 0,-4 28 0,-32 120 0,5-59 0,-5-2 0,-4-1 0,-4-2 0,-5-2 0,-104 155 0,148-246 0,-40 54 0,40-56 0,0 0 0,0-1 0,-1 0 0,0 0 0,0-1 0,-9 6 0,15-10 0,0 0 0,1-1 0,-1 0 0,0 1 0,0-1 0,1 1 0,-1-1 0,0 0 0,0 1 0,0-1 0,1 0 0,-1 0 0,0 0 0,0 0 0,0 0 0,0 0 0,0 0 0,0 0 0,1 0 0,-1 0 0,0 0 0,0 0 0,0-1 0,0 1 0,1 0 0,-1-1 0,0 1 0,0-1 0,0 1 0,1 0 0,-1-1 0,-1-1 0,0-1 0,1 1 0,-1-1 0,1-1 0,-1 1 0,1 0 0,0 0 0,0 0 0,-1-6 0,-6-44 0,2 0 0,2 0 0,5-65 0,-1 43 0,0 68 0,23-708 0,-22 702 0,7-40 0,-8 50 0,1 1 0,-1-1 0,1 0 0,0 0 0,0 1 0,0-1 0,0 1 0,1-1 0,-1 1 0,1-1 0,0 1 0,-1 0 0,4-3 0,-4 4 0,0 1 0,0 0 0,0-1 0,0 1 0,0 0 0,0 0 0,0-1 0,0 1 0,0 0 0,0 0 0,0 0 0,0 0 0,0 0 0,0 1 0,0-1 0,1 0 0,-1 0 0,0 1 0,0-1 0,0 0 0,0 1 0,-1-1 0,1 1 0,0 0 0,0-1 0,0 1 0,0 0 0,1 1 0,14 13 0,-1 1 0,0 1 0,-2 0 0,0 1 0,15 26 0,211 418 0,-196-368 0,36 120 0,-67-173 0,-2 0 0,-2 0 0,-1 1 0,-3 0 0,0 75 0,-4-101 0,0-16 0,0 0 0,0 0 0,0 0 0,0 0 0,0 0 0,0 0 0,0 0 0,0 0 0,0 0 0,0 0 0,0 0 0,0 0 0,1 0 0,-1 0 0,0 0 0,0 0 0,0 0 0,0 0 0,0 0 0,0 0 0,0 0 0,0 0 0,0 0 0,0 0 0,0 0 0,0 0 0,0 0 0,0 0 0,0 0 0,0 0 0,0 0 0,0 0 0,0 0 0,0 0 0,1 0 0,-1 1 0,0-1 0,0 0 0,0 0 0,0 0 0,0 0 0,0 0 0,0 0 0,0 0 0,0 0 0,0 0 0,0 0 0,0 0 0,0 0 0,0 0 0,0 0 0,0 0 0,0 0 0,0 0 0,7-23 0,1-1 0,19-47 0,4 1 0,51-87 0,97-123 0,-102 168 0,180-202 0,-248 305 0,31-29 0,-38 36 0,-1 1 0,1-1 0,0 1 0,0 0 0,-1 0 0,1 0 0,0 0 0,0 0 0,0 0 0,0 1 0,0-1 0,0 1 0,1-1 0,-1 1 0,0 0 0,0 0 0,0 0 0,0 0 0,3 0 0,-3 1 0,-1 0 0,1 0 0,-1 0 0,1 0 0,-1 1 0,0-1 0,1 0 0,-1 1 0,0-1 0,0 1 0,0-1 0,0 1 0,0 0 0,0-1 0,-1 1 0,1 0 0,0-1 0,-1 1 0,0 0 0,1 0 0,-1 0 0,0 2 0,3 24 0,-2 0 0,-1 1 0,-1-1 0,-1 0 0,-11 47 0,-5 8 0,-4-1 0,-4-1 0,-3-1 0,-3-2 0,-4-1 0,-77 121 0,105-185 0,-31 42 0,36-51 0,1-1 0,-1 0 0,0 1 0,-1-2 0,1 1 0,-1 0 0,1 0 0,-1-1 0,0 0 0,0 0 0,-4 2 0,7-4 0,0 0 0,1 1 0,-1-1 0,0 0 0,0 0 0,1 0 0,-1 0 0,0 0 0,1 0 0,-1 0 0,0 0 0,1-1 0,-1 1 0,0 0 0,1 0 0,-1-1 0,0 1 0,1 0 0,-1-1 0,0 1 0,1 0 0,-1-1 0,1 1 0,-1-1 0,1 1 0,-1-1 0,1 1 0,-1-1 0,1 1 0,0-1 0,-1 0 0,1 1 0,0-1 0,-1 0 0,1 1 0,0-1 0,0 0 0,0 1 0,-1-2 0,0-5 0,1 1 0,-1-1 0,1 0 0,0 0 0,1 1 0,-1-1 0,3-7 0,8-44 0,26-80 0,32-58 0,-58 166 0,5-14 0,60-154 0,-52 142 0,41-71 0,-61 120 0,0 1 0,0 0 0,1-1 0,0 2 0,10-12 0,-14 17 0,0-1 0,0 1 0,-1-1 0,1 1 0,0-1 0,0 1 0,-1-1 0,1 1 0,0 0 0,0 0 0,0-1 0,0 1 0,0 0 0,0 0 0,-1 0 0,1 0 0,0 0 0,0 0 0,0 0 0,0 0 0,1 1 0,0 0 0,-1 0 0,1 0 0,-1 0 0,0 0 0,1 0 0,-1 0 0,0 1 0,0-1 0,0 0 0,0 1 0,0-1 0,0 1 0,0-1 0,-1 1 0,2 2 0,3 10 0,-1 1 0,0-1 0,-1 0 0,-1 1 0,1 15 0,-2 5 0,-3 47 0,-5-20-58,-2-1 0,-25 83 0,-53 115-266,53-172 291,-3-2 0,-89 146 0,118-219 33,0 0 0,-1-1 0,-11 12 0,18-22 0,1 1 0,0-1 0,-1 0 0,1 0 0,-1 0 0,1 0 0,-1 0 0,0 0 0,1 0 0,-4 0 0,5-1 0,-1 0 0,1 0 0,0 0 0,-1 0 0,1 0 0,-1 0 0,1 0 0,0 0 0,-1 0 0,1 0 0,-1 0 0,1 0 0,0-1 0,-1 1 0,1 0 0,0 0 0,-1 0 0,1-1 0,0 1 0,-1 0 0,1 0 0,0-1 0,-1 1 0,1 0 0,0-1 0,0 1 0,0 0 0,-1-1 0,1 1 0,0-1 0,-1-2 0,0-1 0,1 0 0,-1 0 0,1 1 0,0-1 0,0 0 0,0 0 0,0 0 0,3-7 0,10-43 0,4 0 0,1 1 0,31-60 0,51-101-164,327-553-1915,43 23 492,-424 673 1427,58-87-134,-30 57 220,-72 98 71,0 1 0,1-1 0,-1 0 1,1 1-1,-1 0 0,1-1 0,0 1 0,0 0 0,0 1 0,0-1 0,0 0 0,0 1 0,7-2 0,-9 3 5,-1 0 0,1 0 0,0 0 0,0 0 0,0 0 0,0 0 0,0 1 0,-1-1 0,1 0 0,0 1 0,0-1 0,0 0 0,-1 1 0,1-1 0,0 1 0,-1-1-1,1 1 1,0 0 0,-1-1 0,2 2 0,-1 0 19,1 1-1,0-1 1,-1 1-1,0 0 1,1 0-1,-1 0 1,1 5-1,3 14 206,-2-1 1,0 1-1,0 26 1,-6 78 343,-9 60 12,-55 279 0,-96 173 385,151-600-952,-16 54 252,-63 139 0,89-228-267,0 3 0,-1 0 0,0-1 0,0 0 0,-6 7 0,9-12 0,0 1 0,-1-1 0,1 0 0,0 1 0,-1-1 0,1 0 0,0 1 0,-1-1 0,1 0 0,-1 0 0,1 1 0,-1-1 0,1 0 0,0 0 0,-1 0 0,1 0 0,-1 0 0,1 1 0,-1-1 0,1 0 0,-1 0 0,1 0 0,-1 0 0,0-1 0,0 1 0,1-1 0,-1 1 0,0-1 0,0 0 0,1 1 0,-1-1 0,0 0 0,1 1 0,-1-1 0,1 0 0,-1 0 0,1 0 0,-1 0 0,1 0 0,0 1 0,0-1 0,-1-1 0,-3-17 7,0-1 0,1 1 0,2 0 0,0-34 0,0 30 64,0-283-382,14 0 0,88-522 0,-84 738 311,43-125 0,-56 204 0,0-1 0,1 1 0,1 0 0,7-12 0,-13 23 0,0-1 0,0 1 0,1-1 0,-1 1 0,0-1 0,0 1 0,1-1 0,-1 1 0,0-1 0,1 1 0,-1 0 0,0-1 0,1 1 0,-1 0 0,1-1 0,-1 1 0,0 0 0,1 0 0,-1-1 0,1 1 0,-1 0 0,1 0 0,-1 0 0,1 0 0,-1-1 0,1 1 0,-1 0 0,1 0 0,-1 0 0,1 0 0,-1 0 0,1 0 0,-1 0 0,1 0 0,-1 1 0,1-1 0,-1 0 0,1 0 0,-1 0 0,1 1 0,-1-1 0,1 0 0,-1 0 0,1 1 0,-1-1 0,0 0 0,1 1 0,-1-1 0,0 0 0,1 1 0,-1-1 0,0 1 0,1-1 0,-1 1 0,0-1 0,0 0 0,1 1 0,-1-1 0,0 1 0,0-1 0,0 2 0,4 10 0,-1 1 0,0-1 0,-1 1 0,1 17 0,4 67-209,-5 0-1,-15 147 1,-5-104-164,-42 162 0,29-185 349,-6-1-1,-5-2 1,-82 160 0,72-180 27,-3-2 1,-4-3 0,-5-2 0,-84 89 0,113-137 290,-3-2-1,-78 61 0,110-94-225,0 0-1,0 0 0,0 0 1,-1-1-1,-9 3 0,15-5-65,-1-1 0,1 0 0,0 1 1,-1-1-1,1 0 0,-1 0 0,1 0 0,0 0 0,-1 0 0,1 0 0,-1-1 0,1 1 0,0 0 0,-1-1 0,1 1 0,0-1 0,-1 1 0,1-1 1,0 0-1,0 1 0,0-1 0,-1 0 0,1 0 0,0 0 0,0 0 0,0 0 0,0 0 0,1 0 0,-1 0 0,0-1 0,-1-1 0,-1-4-2,0 1 0,1-1 0,-1 0 0,1 0 0,1-1 0,-1 1 0,1 0 0,0-8 0,1-68 0,0 80 0,7-88 0,3 1 0,5 0 0,29-98 0,-21 113 94,3 1-1,3 1 1,3 1 0,54-86-1,-14 45 141,144-172 0,-204 269-234,28-29 0,-38 43 0,1 0 0,-1 0 0,1 0 0,-1 0 0,1 0 0,-1 0 0,1 1 0,0-1 0,0 1 0,0 0 0,0 0 0,0 0 0,5-1 0,-6 2 0,-1 0 0,0 0 0,0 1 0,0-1 0,0 0 0,0 1 0,0-1 0,0 0 0,0 1 0,0-1 0,0 1 0,0 0 0,0-1 0,0 1 0,0 0 0,-1 0 0,1-1 0,0 1 0,-1 0 0,1 0 0,0 0 0,-1 0 0,1 0 0,-1 0 0,1 0 0,-1 0 0,0 0 0,1 1 0,4 15 0,-2 0 0,1 1 0,-2-1 0,-1 1 0,0 33 0,-1-35 0,-2 87 157,-30 194 0,-51 96 157,64-322-314,13-56 0,6-19 0,7-29 0,42-121-48,139-483-764,-108 270 445,-75 333 367,2-46 0,-7 77 0,1 1 0,-1-1 0,0 0 0,0 0 0,0 1 0,-1-1 0,1 0 0,-1 0 0,1 1 0,-1-1 0,0 0 0,0 1 0,0-1 0,0 1 0,-1-1 0,1 1 0,-4-5 0,5 7 0,-1 0 0,0-1 0,0 1 0,0 0 0,1-1 0,-1 1 0,0 0 0,0 0 0,0 0 0,0 0 0,0 0 0,0 0 0,1 0 0,-1 0 0,0 0 0,0 0 0,0 0 0,0 1 0,0-1 0,-1 1 0,-2 1 0,0 0 0,0 0 0,0 1 0,1 0 0,-7 5 0,-9 11 0,1 1 0,-23 34 0,-194 302 0,92-130 0,82-142 0,60-82 0,-1 0-1,0 1 0,0-1 0,0 0 1,0 0-1,0 0 0,-1 0 0,1-1 1,0 1-1,-1-1 0,1 1 0,-6 1 1,7-3 1,1 0 0,0 0 0,-1 0 0,1 0 0,-1 0 0,1 0 0,-1 0 0,1 0 0,0-1 0,-1 1 0,1 0 0,-1 0 0,1 0 0,0-1 0,-1 1 1,1 0-1,0 0 0,-1-1 0,1 1 0,0 0 0,0-1 0,-1 1 0,1 0 0,0-1 0,0 1 0,-1 0 0,1-1 0,-4-23 143,5-13 191,2 0 0,10-43 0,-9 54-317,5-28-28,3-1 1,3 2-1,1-1 1,3 2-1,2 1 1,3 0-1,1 2 1,3 1-1,2 1 1,2 1-1,1 2 1,44-44-1,-23 37-106,2 2-1,2 2 1,3 3-1,1 3 0,2 2 1,1 3-1,132-51 0,-180 80 117,1 1 0,0 1 0,0 1 0,35-5 0,-48 9 0,1 0 0,-1 0 0,0 1 0,1-1 0,-1 1 0,1 0 0,-1 1 0,0-1 0,0 1 0,0 0 0,0 0 0,0 1 0,0 0 0,-1-1 0,1 2 0,-1-1 0,0 0 0,0 1 0,0 0 0,6 8 0,3 6 0,-1 1 0,-1 0 0,0 0 0,-2 1 0,13 38 0,23 118 0,14 234 0,-36 5 0,-24-168 549,-3-197-366,-1-1-1,-24 94 1,27-134-183,-1-1 0,0 1 0,0-1 0,0 0 0,-9 14 0,11-22 0,1 1 0,0-1 0,0 0 0,0 0 0,0 1 0,0-1 0,0 0 0,-1 0 0,1 0 0,0 1 0,0-1 0,0 0 0,-1 0 0,1 0 0,0 0 0,0 1 0,-1-1 0,1 0 0,0 0 0,0 0 0,-1 0 0,1 0 0,0 0 0,0 0 0,-1 0 0,1 0 0,0 0 0,0 0 0,-1 0 0,1 0 0,0 0 0,-1 0 0,1 0 0,0 0 0,0 0 0,-1 0 0,1 0 0,0 0 0,0 0 0,-1-1 0,1 1 0,0 0 0,0 0 0,0 0 0,-1 0 0,1-1 0,0 1 0,0 0 0,0 0 0,-1 0 0,1-1 0,0 1 0,0 0 0,0 0 0,0-1 0,0 1 0,0 0 0,0 0 0,0-1 0,-1 1 0,1 0 0,0-1 0,-5-22 0,-1-69 0,4-101 0,3 107 0,24-437 0,-22 485 0,-4 26 0,-2 11 0,-10 20 0,8-11 0,-3 6 0,-187 292 0,134-218 0,-101 113 0,152-190 0,-32 31 0,40-40 0,0 0 0,0 0 0,0 0 0,0-1 0,0 1 0,-1-1 0,1 0 0,0 1 0,-1-1 0,1 0 0,-1-1 0,1 1 0,-1 0 0,0-1 0,-4 1 0,5-1 0,1-1 0,-1 0 0,1 0 0,0 0 0,-1 0 0,1 0 0,0 0 0,-1 0 0,1 0 0,0-1 0,0 1 0,0 0 0,0-1 0,0 1 0,1 0 0,-1-1 0,0 1 0,1-1 0,-1 0 0,1 1 0,-1-1 0,1 1 0,-1-3 0,-3-13 0,1-1 0,1 1 0,-2-32 0,7-61 0,-3 108 0,7-109 0,5 1 0,4 0 0,6 1 0,4 1 0,48-127 0,-67 216 0,20-47 0,-24 60 0,0 1 0,0-1 0,1 1 0,-1 0 0,1 0 0,0 0 0,9-8 0,-12 13 0,-1-1 0,1 1 0,-1-1 0,1 1 0,-1 0 0,1-1 0,-1 1 0,1 0 0,-1-1 0,1 1 0,-1 0 0,1 0 0,-1 0 0,1 0 0,-1-1 0,1 1 0,0 0 0,-1 0 0,1 0 0,-1 0 0,1 0 0,0 0 0,-1 0 0,1 1 0,-1-1 0,1 0 0,-1 0 0,1 0 0,0 1 0,-1-1 0,1 0 0,-1 0 0,1 1 0,-1-1 0,0 0 0,1 1 0,-1-1 0,1 1 0,-1-1 0,0 1 0,1-1 0,0 1 0,1 4 0,1 0 0,-1-1 0,0 1 0,0 0 0,-1 0 0,1 0 0,-1 1 0,1 7 0,1 53 0,-2-37 0,2 185-370,-30 285 0,7-340 123,-7 0 0,-69 225 0,27-193 247,54-157 0,-2-1 0,0-1 0,-29 38 0,46-68 15,-1-1 0,0 0 0,0 1 0,0-1-1,0 0 1,0 0 0,0 0 0,0 0 0,-1 0 0,1 0-1,0 0 1,-1 0 0,1 0 0,0 0 0,-1-1 0,1 1-1,-1-1 1,-2 1 0,4-1-3,-1 0 1,1 0-1,-1 0 0,1 0 1,-1 0-1,1-1 0,-1 1 1,1 0-1,0-1 0,-1 1 1,1 0-1,-1 0 0,1-1 1,0 1-1,-1-1 0,1 1 1,0 0-1,-1-1 0,1 1 1,0-1-1,-1 0 0,-4-20 275,3 4-220,2 0-1,0 0 1,4-32 0,16-59-66,-17 92-2,33-136-126,67-181 1,85-140-127,-125 328 253,99-165 0,-153 295 0,1 0 0,0 0 0,20-20 0,-29 33 0,0 1 0,0 0 0,1 0 0,-1 0 0,0 0 0,1 0 0,-1 0 0,1 0 0,0 0 0,-1 0 0,1 1 0,-1-1 0,1 1 0,0-1 0,0 1 0,2-1 0,-3 2 0,1-1 0,-1 0 0,0 1 0,0-1 0,0 0 0,0 1 0,0-1 0,0 1 0,0-1 0,0 1 0,0 0 0,0 0 0,-1-1 0,1 1 0,0 0 0,0 0 0,-1 0 0,1 0 0,1 1 0,1 6 0,0-1 0,0 1 0,0 0 0,-1 0 0,3 16 0,3 31 14,-3 0 0,-1 100-1,-26 117-218,-112 568-812,109-722 1564,13-77-405,16-72-147,138-557-8,-52 234 190,-82 322-59,66-239 977,-70 258-1095,1 0 0,0 1 0,1 0 0,0 0 0,9-12 0,-14 22 0,1 0 0,-1 1 0,1-1 0,0 0 0,-1 1 0,1-1 0,0 1 0,0-1 0,4-1 0,-6 3 0,1 0 0,0 0 0,0 0 0,-1-1 0,1 1 0,0 0 0,0 0 0,0 0 0,-1 1 0,1-1 0,0 0 0,0 0 0,0 0 0,-1 0 0,1 1 0,0-1 0,0 0 0,-1 1 0,1-1 0,0 1 0,-1-1 0,1 1 0,-1-1 0,1 1 0,0-1 0,-1 1 0,1-1 0,-1 1 0,1 0 0,-1-1 0,0 1 0,1 0 0,-1-1 0,1 2 0,4 11 0,-1 0 0,0 0 0,0 0 0,-1 0 0,-1 1 0,-1-1 0,1 23 0,0-13 0,6 785 0,-9-759 0,1-33 0,-1-19 0,1-31 0,0-748 0,0 883 0,-5 233 0,0-298 0,3-31 0,-1-8 0,1-9 0,0-1 0,-1-23 0,-5-759 0,9 536 0,0 40 0,-1 908 0,23-1042 0,29 1 0,-50 335 0,-1 8 0,0 0 0,1 0 0,0 1 0,0-1 0,1 0 0,7-15 0,-10 24 0,1-1 0,-1 1 0,0 0 0,0-1 0,0 1 0,0 0 0,1 0 0,-1-1 0,0 1 0,0 0 0,0-1 0,1 1 0,-1 0 0,0 0 0,1 0 0,-1-1 0,0 1 0,0 0 0,1 0 0,-1 0 0,0 0 0,1 0 0,-1 0 0,0-1 0,1 1 0,-1 0 0,0 0 0,1 0 0,-1 0 0,0 0 0,1 0 0,-1 0 0,0 0 0,1 0 0,-1 1 0,0-1 0,1 0 0,-1 0 0,0 0 0,1 0 0,-1 0 0,0 1 0,1-1 0,-1 0 0,0 0 0,0 0 0,1 1 0,-1-1 0,0 0 0,0 0 0,1 1 0,-1-1 0,0 0 0,0 1 0,0-1 0,0 0 0,1 1 0,7 21 0,0 17 0,-2 0 0,-1 0 0,-2 75 0,-3-80 0,2 38 0,0-9 0,-2 1 0,-11 78 0,2-101 0,-2 0 0,-2 0 0,-21 46 0,-22 68 0,37-81 0,23-245-1365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o-RO"/>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6C7FD6-3FE5-4A5F-960E-8984DBB8385E}" type="datetimeFigureOut">
              <a:rPr lang="ro-RO" smtClean="0"/>
              <a:t>29.04.2026</a:t>
            </a:fld>
            <a:endParaRPr lang="ro-RO"/>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o-RO"/>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o-RO"/>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2FE60D-9D23-4696-9690-79486EB8BF94}" type="slidenum">
              <a:rPr lang="ro-RO" smtClean="0"/>
              <a:t>‹#›</a:t>
            </a:fld>
            <a:endParaRPr lang="ro-RO"/>
          </a:p>
        </p:txBody>
      </p:sp>
    </p:spTree>
    <p:extLst>
      <p:ext uri="{BB962C8B-B14F-4D97-AF65-F5344CB8AC3E}">
        <p14:creationId xmlns:p14="http://schemas.microsoft.com/office/powerpoint/2010/main" val="1314697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6CFD2-9A4E-4514-6D51-F69D2EF79E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04BD31-634B-CB86-4D49-63975FCE27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6DAA51-9987-6344-1E0A-2B86D78A21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111236-377E-B9CA-CF18-1C726326C58E}"/>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5328180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331C5-AF07-D5BB-3FD9-8B02A61E2B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E50990-CCBC-9661-AB7F-2005EB6610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60628A-E381-147A-25E8-307C5C1F4C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5B9982-4F23-37E5-F79C-144DA42D9B6C}"/>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320344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FA0C3-2433-987B-BDEF-90CFFEC2C0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3B1BE8-9F32-63CF-F606-6286EF9372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C5468E-5150-26F5-CB05-0C7B98A939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8B83D8-460E-0F8E-D16C-F6B13FC7DBE6}"/>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2276907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9454153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AA6EC-DFAB-EE23-067F-D7639C4652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E40830-EB57-65B3-3227-23445F15CA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47A8D0-F781-64F1-7C85-53271D7E68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6BD969-0BBC-0F9D-128A-9D6A6AF6C996}"/>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864731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05BD4-3B54-94F4-492F-D249177C38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E1AF77-CA04-417F-4E0B-047E69B3D9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27071C-B4C9-1DFF-6412-39F57FDCB8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A37FEB-7571-126D-EF06-899A98B7EDEB}"/>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9102946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62959-23CD-E2E5-301A-FEEA885236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E893AA-2F58-829B-E17F-5EB2E40E06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D13BD0-774D-6F5F-169A-755FC60863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D2D2E6-F0F7-5CC0-C8EE-DE3EA620CAB0}"/>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016943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54CF6-F725-F90F-8905-F8FD462938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EB8E0F-434E-957C-62E0-44274AB928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632896-A504-DEE8-703A-5F244C99EC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3B8615-0DD7-89C2-38BB-4451321D06B5}"/>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6658987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CC0B8-CC08-3E20-8EBE-6AFAE5043B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8E88AF-EC31-1E37-146B-ED135846B8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E50E9A-84C9-6849-255B-AC6EDE69B0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B1AFAC-6B4B-CF04-545A-9D3E2E16386A}"/>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9618711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F2E89-F7C1-6BC6-029C-BBF418A61E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52938A-C93F-0930-CC3F-A05561DE10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D163EA-B0C3-3470-845F-BAAEBA9ADB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63A26E-9BB0-8468-14EC-C8DA12D252C9}"/>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7467466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93515-BFE0-7B25-7F0B-32260BB53F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08A0DC-5A8E-0E3C-3826-007CFBB152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C51F19F-7538-6987-B450-FE2F5F6491FD}"/>
              </a:ext>
            </a:extLst>
          </p:cNvPr>
          <p:cNvSpPr>
            <a:spLocks noGrp="1"/>
          </p:cNvSpPr>
          <p:nvPr>
            <p:ph type="dt" sz="half" idx="10"/>
          </p:nvPr>
        </p:nvSpPr>
        <p:spPr/>
        <p:txBody>
          <a:bodyPr/>
          <a:lstStyle/>
          <a:p>
            <a:fld id="{0DCDD99F-EB8C-4284-A1FF-6A8FAD5F29B4}" type="datetimeFigureOut">
              <a:rPr lang="en-US" smtClean="0"/>
              <a:t>4/29/2026</a:t>
            </a:fld>
            <a:endParaRPr lang="en-US"/>
          </a:p>
        </p:txBody>
      </p:sp>
      <p:sp>
        <p:nvSpPr>
          <p:cNvPr id="5" name="Footer Placeholder 4">
            <a:extLst>
              <a:ext uri="{FF2B5EF4-FFF2-40B4-BE49-F238E27FC236}">
                <a16:creationId xmlns:a16="http://schemas.microsoft.com/office/drawing/2014/main" id="{8AD55DCE-30C4-D761-DAF6-51D8B58AA3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BE2389-25DB-1FB6-513C-618A054F48EF}"/>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3583693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817A5-7342-D2E4-F868-8B47BB9F5D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2221C5-2045-1B0A-D2BF-188A2E61A3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79F058-BBFF-5CAB-CC6D-94D514C03B9A}"/>
              </a:ext>
            </a:extLst>
          </p:cNvPr>
          <p:cNvSpPr>
            <a:spLocks noGrp="1"/>
          </p:cNvSpPr>
          <p:nvPr>
            <p:ph type="dt" sz="half" idx="10"/>
          </p:nvPr>
        </p:nvSpPr>
        <p:spPr/>
        <p:txBody>
          <a:bodyPr/>
          <a:lstStyle/>
          <a:p>
            <a:fld id="{0DCDD99F-EB8C-4284-A1FF-6A8FAD5F29B4}" type="datetimeFigureOut">
              <a:rPr lang="en-US" smtClean="0"/>
              <a:t>4/29/2026</a:t>
            </a:fld>
            <a:endParaRPr lang="en-US"/>
          </a:p>
        </p:txBody>
      </p:sp>
      <p:sp>
        <p:nvSpPr>
          <p:cNvPr id="5" name="Footer Placeholder 4">
            <a:extLst>
              <a:ext uri="{FF2B5EF4-FFF2-40B4-BE49-F238E27FC236}">
                <a16:creationId xmlns:a16="http://schemas.microsoft.com/office/drawing/2014/main" id="{DD6BEC2B-48AA-5F12-535B-67C035E936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3D0081-0992-0625-8D5E-D57F4461C45C}"/>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358252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659B8-49CB-3E76-C5E7-C5A92D2294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E7EAA7-2CA6-EEEA-6E6F-C44BFDA073D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A3902E-C8D4-EAA7-81F7-10FFD5669466}"/>
              </a:ext>
            </a:extLst>
          </p:cNvPr>
          <p:cNvSpPr>
            <a:spLocks noGrp="1"/>
          </p:cNvSpPr>
          <p:nvPr>
            <p:ph type="dt" sz="half" idx="10"/>
          </p:nvPr>
        </p:nvSpPr>
        <p:spPr/>
        <p:txBody>
          <a:bodyPr/>
          <a:lstStyle/>
          <a:p>
            <a:fld id="{0DCDD99F-EB8C-4284-A1FF-6A8FAD5F29B4}" type="datetimeFigureOut">
              <a:rPr lang="en-US" smtClean="0"/>
              <a:t>4/29/2026</a:t>
            </a:fld>
            <a:endParaRPr lang="en-US"/>
          </a:p>
        </p:txBody>
      </p:sp>
      <p:sp>
        <p:nvSpPr>
          <p:cNvPr id="5" name="Footer Placeholder 4">
            <a:extLst>
              <a:ext uri="{FF2B5EF4-FFF2-40B4-BE49-F238E27FC236}">
                <a16:creationId xmlns:a16="http://schemas.microsoft.com/office/drawing/2014/main" id="{78A22FB0-8B9A-CBF7-321C-481E1297B1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3B2E63-0C39-0A1B-3F07-0610ABD58AF9}"/>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1152608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E26B0-8F8B-3240-6C98-6C67E0A0A8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0137B1-03F3-BE84-95C9-758FAC90DD0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799A3D0-BF22-648C-3983-9974F8B3F1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CA61B3-6E35-B596-0872-114A25A5F585}"/>
              </a:ext>
            </a:extLst>
          </p:cNvPr>
          <p:cNvSpPr>
            <a:spLocks noGrp="1"/>
          </p:cNvSpPr>
          <p:nvPr>
            <p:ph type="dt" sz="half" idx="10"/>
          </p:nvPr>
        </p:nvSpPr>
        <p:spPr/>
        <p:txBody>
          <a:bodyPr/>
          <a:lstStyle/>
          <a:p>
            <a:fld id="{0DCDD99F-EB8C-4284-A1FF-6A8FAD5F29B4}" type="datetimeFigureOut">
              <a:rPr lang="en-US" smtClean="0"/>
              <a:t>4/29/2026</a:t>
            </a:fld>
            <a:endParaRPr lang="en-US"/>
          </a:p>
        </p:txBody>
      </p:sp>
      <p:sp>
        <p:nvSpPr>
          <p:cNvPr id="6" name="Footer Placeholder 5">
            <a:extLst>
              <a:ext uri="{FF2B5EF4-FFF2-40B4-BE49-F238E27FC236}">
                <a16:creationId xmlns:a16="http://schemas.microsoft.com/office/drawing/2014/main" id="{5914AEC8-0542-13AF-2BB3-4FF2BB0ACB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A2C0C5-0CFD-C094-3239-C54E5CE1E83A}"/>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651412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57E4C-F6D0-33E9-7A8C-9FD77931BFD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A7B0CF4-609B-E0A1-FAC6-1BFED52477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9993A1-C36B-2A5A-3A20-88B716578B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0577821-B0A9-048E-3802-3C20DA9D47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BF9B33-E74B-3ACC-8A14-DBC9A54623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4B4D3E6-EEF7-FC2E-6A9E-299F93884B9E}"/>
              </a:ext>
            </a:extLst>
          </p:cNvPr>
          <p:cNvSpPr>
            <a:spLocks noGrp="1"/>
          </p:cNvSpPr>
          <p:nvPr>
            <p:ph type="dt" sz="half" idx="10"/>
          </p:nvPr>
        </p:nvSpPr>
        <p:spPr/>
        <p:txBody>
          <a:bodyPr/>
          <a:lstStyle/>
          <a:p>
            <a:fld id="{0DCDD99F-EB8C-4284-A1FF-6A8FAD5F29B4}" type="datetimeFigureOut">
              <a:rPr lang="en-US" smtClean="0"/>
              <a:t>4/29/2026</a:t>
            </a:fld>
            <a:endParaRPr lang="en-US"/>
          </a:p>
        </p:txBody>
      </p:sp>
      <p:sp>
        <p:nvSpPr>
          <p:cNvPr id="8" name="Footer Placeholder 7">
            <a:extLst>
              <a:ext uri="{FF2B5EF4-FFF2-40B4-BE49-F238E27FC236}">
                <a16:creationId xmlns:a16="http://schemas.microsoft.com/office/drawing/2014/main" id="{6D3737C6-3E0F-3C05-A1D5-D3D812EABB5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D214843-AFA6-1381-287E-7381AB6F4BF4}"/>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3080925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A713A-C285-62F8-FF8B-2500E1E7E38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7919304-A5D7-828B-DE08-29C2EFCBB791}"/>
              </a:ext>
            </a:extLst>
          </p:cNvPr>
          <p:cNvSpPr>
            <a:spLocks noGrp="1"/>
          </p:cNvSpPr>
          <p:nvPr>
            <p:ph type="dt" sz="half" idx="10"/>
          </p:nvPr>
        </p:nvSpPr>
        <p:spPr/>
        <p:txBody>
          <a:bodyPr/>
          <a:lstStyle/>
          <a:p>
            <a:fld id="{0DCDD99F-EB8C-4284-A1FF-6A8FAD5F29B4}" type="datetimeFigureOut">
              <a:rPr lang="en-US" smtClean="0"/>
              <a:t>4/29/2026</a:t>
            </a:fld>
            <a:endParaRPr lang="en-US"/>
          </a:p>
        </p:txBody>
      </p:sp>
      <p:sp>
        <p:nvSpPr>
          <p:cNvPr id="4" name="Footer Placeholder 3">
            <a:extLst>
              <a:ext uri="{FF2B5EF4-FFF2-40B4-BE49-F238E27FC236}">
                <a16:creationId xmlns:a16="http://schemas.microsoft.com/office/drawing/2014/main" id="{5AC68B91-ABE1-1264-FD5B-5A68D518B2E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C852361-74D9-BD99-44F7-86366D3BFC12}"/>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85227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F187FC-EC45-E1B7-C765-E1CA042280A9}"/>
              </a:ext>
            </a:extLst>
          </p:cNvPr>
          <p:cNvSpPr>
            <a:spLocks noGrp="1"/>
          </p:cNvSpPr>
          <p:nvPr>
            <p:ph type="dt" sz="half" idx="10"/>
          </p:nvPr>
        </p:nvSpPr>
        <p:spPr/>
        <p:txBody>
          <a:bodyPr/>
          <a:lstStyle/>
          <a:p>
            <a:fld id="{0DCDD99F-EB8C-4284-A1FF-6A8FAD5F29B4}" type="datetimeFigureOut">
              <a:rPr lang="en-US" smtClean="0"/>
              <a:t>4/29/2026</a:t>
            </a:fld>
            <a:endParaRPr lang="en-US"/>
          </a:p>
        </p:txBody>
      </p:sp>
      <p:sp>
        <p:nvSpPr>
          <p:cNvPr id="3" name="Footer Placeholder 2">
            <a:extLst>
              <a:ext uri="{FF2B5EF4-FFF2-40B4-BE49-F238E27FC236}">
                <a16:creationId xmlns:a16="http://schemas.microsoft.com/office/drawing/2014/main" id="{DCC53A21-7D71-1EDA-2C2E-3163C4D9E1D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699BD65-2A37-FBEA-AA7E-7DCC1CFFBB2E}"/>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42676156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D2B7B-8244-B427-632C-E4BADD2315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E46EC17-4AB3-FE8C-37E2-549B311734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F3B5036-D51E-C813-C4DC-42DBB9299D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086E1B-ED14-4DD8-D450-47796C8AE836}"/>
              </a:ext>
            </a:extLst>
          </p:cNvPr>
          <p:cNvSpPr>
            <a:spLocks noGrp="1"/>
          </p:cNvSpPr>
          <p:nvPr>
            <p:ph type="dt" sz="half" idx="10"/>
          </p:nvPr>
        </p:nvSpPr>
        <p:spPr/>
        <p:txBody>
          <a:bodyPr/>
          <a:lstStyle/>
          <a:p>
            <a:fld id="{0DCDD99F-EB8C-4284-A1FF-6A8FAD5F29B4}" type="datetimeFigureOut">
              <a:rPr lang="en-US" smtClean="0"/>
              <a:t>4/29/2026</a:t>
            </a:fld>
            <a:endParaRPr lang="en-US"/>
          </a:p>
        </p:txBody>
      </p:sp>
      <p:sp>
        <p:nvSpPr>
          <p:cNvPr id="6" name="Footer Placeholder 5">
            <a:extLst>
              <a:ext uri="{FF2B5EF4-FFF2-40B4-BE49-F238E27FC236}">
                <a16:creationId xmlns:a16="http://schemas.microsoft.com/office/drawing/2014/main" id="{47E2D815-945C-01E3-E522-3B1563533C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929CD3-3BCC-509E-7E18-FBE7BDCEFF14}"/>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251736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BDEE9-E1F2-A7B7-7387-D94579520D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E8F011-B056-465D-D499-C91BAED175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5087D3A-793D-5493-E4AE-7E156CEBC8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0FD8F4-FE3E-2564-582F-D9ED561E57F9}"/>
              </a:ext>
            </a:extLst>
          </p:cNvPr>
          <p:cNvSpPr>
            <a:spLocks noGrp="1"/>
          </p:cNvSpPr>
          <p:nvPr>
            <p:ph type="dt" sz="half" idx="10"/>
          </p:nvPr>
        </p:nvSpPr>
        <p:spPr/>
        <p:txBody>
          <a:bodyPr/>
          <a:lstStyle/>
          <a:p>
            <a:fld id="{0DCDD99F-EB8C-4284-A1FF-6A8FAD5F29B4}" type="datetimeFigureOut">
              <a:rPr lang="en-US" smtClean="0"/>
              <a:t>4/29/2026</a:t>
            </a:fld>
            <a:endParaRPr lang="en-US"/>
          </a:p>
        </p:txBody>
      </p:sp>
      <p:sp>
        <p:nvSpPr>
          <p:cNvPr id="6" name="Footer Placeholder 5">
            <a:extLst>
              <a:ext uri="{FF2B5EF4-FFF2-40B4-BE49-F238E27FC236}">
                <a16:creationId xmlns:a16="http://schemas.microsoft.com/office/drawing/2014/main" id="{60217821-7F27-7B5B-F516-CDDD4D326B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F200FC-B01C-CD78-9585-59CD6F9E15E6}"/>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2626020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F3C79-6514-827E-9B05-D39301F284E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71B4939-3A1C-7789-83ED-705872C7FA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CD7480-1B82-8DC5-F3A2-A2DD1CC13C84}"/>
              </a:ext>
            </a:extLst>
          </p:cNvPr>
          <p:cNvSpPr>
            <a:spLocks noGrp="1"/>
          </p:cNvSpPr>
          <p:nvPr>
            <p:ph type="dt" sz="half" idx="10"/>
          </p:nvPr>
        </p:nvSpPr>
        <p:spPr/>
        <p:txBody>
          <a:bodyPr/>
          <a:lstStyle/>
          <a:p>
            <a:fld id="{0DCDD99F-EB8C-4284-A1FF-6A8FAD5F29B4}" type="datetimeFigureOut">
              <a:rPr lang="en-US" smtClean="0"/>
              <a:t>4/29/2026</a:t>
            </a:fld>
            <a:endParaRPr lang="en-US"/>
          </a:p>
        </p:txBody>
      </p:sp>
      <p:sp>
        <p:nvSpPr>
          <p:cNvPr id="5" name="Footer Placeholder 4">
            <a:extLst>
              <a:ext uri="{FF2B5EF4-FFF2-40B4-BE49-F238E27FC236}">
                <a16:creationId xmlns:a16="http://schemas.microsoft.com/office/drawing/2014/main" id="{68B32D53-7276-EB49-B3EF-D792631C1F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04F04F-B346-50FB-B677-4BFA12D0A2C9}"/>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3173068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5FE6BE-0116-01AA-D59A-2998208A7EE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402BD1D-C6C5-78E2-FFAD-4B3A9F6FF0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5363ED-1E78-49E4-A0C5-08435E72A43C}"/>
              </a:ext>
            </a:extLst>
          </p:cNvPr>
          <p:cNvSpPr>
            <a:spLocks noGrp="1"/>
          </p:cNvSpPr>
          <p:nvPr>
            <p:ph type="dt" sz="half" idx="10"/>
          </p:nvPr>
        </p:nvSpPr>
        <p:spPr/>
        <p:txBody>
          <a:bodyPr/>
          <a:lstStyle/>
          <a:p>
            <a:fld id="{0DCDD99F-EB8C-4284-A1FF-6A8FAD5F29B4}" type="datetimeFigureOut">
              <a:rPr lang="en-US" smtClean="0"/>
              <a:t>4/29/2026</a:t>
            </a:fld>
            <a:endParaRPr lang="en-US"/>
          </a:p>
        </p:txBody>
      </p:sp>
      <p:sp>
        <p:nvSpPr>
          <p:cNvPr id="5" name="Footer Placeholder 4">
            <a:extLst>
              <a:ext uri="{FF2B5EF4-FFF2-40B4-BE49-F238E27FC236}">
                <a16:creationId xmlns:a16="http://schemas.microsoft.com/office/drawing/2014/main" id="{4F54C6DF-5541-FE0F-5366-C62807AC72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90F133-9AEA-AD29-1DB8-DBFC63D87BB9}"/>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262301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6764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169C6A-2F2F-7DFF-F209-5978BE0813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61CD4C4-F7B9-F59A-6371-1D9137B3C1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007F3C-CEF5-246C-6364-3400EE320B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CDD99F-EB8C-4284-A1FF-6A8FAD5F29B4}" type="datetimeFigureOut">
              <a:rPr lang="en-US" smtClean="0"/>
              <a:t>4/29/2026</a:t>
            </a:fld>
            <a:endParaRPr lang="en-US"/>
          </a:p>
        </p:txBody>
      </p:sp>
      <p:sp>
        <p:nvSpPr>
          <p:cNvPr id="5" name="Footer Placeholder 4">
            <a:extLst>
              <a:ext uri="{FF2B5EF4-FFF2-40B4-BE49-F238E27FC236}">
                <a16:creationId xmlns:a16="http://schemas.microsoft.com/office/drawing/2014/main" id="{77EB2E7C-1B58-FF56-9254-13AC936CFC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97CFB4B-65BD-C19B-674C-8E8E05BD62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66FE916-C29D-4283-ABA6-E3D372BD3E58}" type="slidenum">
              <a:rPr lang="en-US" smtClean="0"/>
              <a:t>‹#›</a:t>
            </a:fld>
            <a:endParaRPr lang="en-US"/>
          </a:p>
        </p:txBody>
      </p:sp>
    </p:spTree>
    <p:extLst>
      <p:ext uri="{BB962C8B-B14F-4D97-AF65-F5344CB8AC3E}">
        <p14:creationId xmlns:p14="http://schemas.microsoft.com/office/powerpoint/2010/main" val="28012464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customXml" Target="../ink/ink5.xml"/><Relationship Id="rId18" Type="http://schemas.openxmlformats.org/officeDocument/2006/relationships/image" Target="../media/image15.png"/><Relationship Id="rId3" Type="http://schemas.openxmlformats.org/officeDocument/2006/relationships/image" Target="../media/image2.png"/><Relationship Id="rId7" Type="http://schemas.openxmlformats.org/officeDocument/2006/relationships/customXml" Target="../ink/ink2.xml"/><Relationship Id="rId12" Type="http://schemas.openxmlformats.org/officeDocument/2006/relationships/image" Target="../media/image13.png"/><Relationship Id="rId17" Type="http://schemas.openxmlformats.org/officeDocument/2006/relationships/image" Target="../media/image8.png"/><Relationship Id="rId2" Type="http://schemas.openxmlformats.org/officeDocument/2006/relationships/notesSlide" Target="../notesSlides/notesSlide6.xml"/><Relationship Id="rId16" Type="http://schemas.openxmlformats.org/officeDocument/2006/relationships/image" Target="../media/image7.png"/><Relationship Id="rId1" Type="http://schemas.openxmlformats.org/officeDocument/2006/relationships/slideLayout" Target="../slideLayouts/slideLayout12.xml"/><Relationship Id="rId6" Type="http://schemas.openxmlformats.org/officeDocument/2006/relationships/image" Target="../media/image10.png"/><Relationship Id="rId11" Type="http://schemas.openxmlformats.org/officeDocument/2006/relationships/customXml" Target="../ink/ink4.xml"/><Relationship Id="rId5" Type="http://schemas.openxmlformats.org/officeDocument/2006/relationships/customXml" Target="../ink/ink1.xml"/><Relationship Id="rId15" Type="http://schemas.openxmlformats.org/officeDocument/2006/relationships/image" Target="../media/image6.png"/><Relationship Id="rId10" Type="http://schemas.openxmlformats.org/officeDocument/2006/relationships/image" Target="../media/image12.png"/><Relationship Id="rId19" Type="http://schemas.openxmlformats.org/officeDocument/2006/relationships/image" Target="../media/image16.png"/><Relationship Id="rId4" Type="http://schemas.openxmlformats.org/officeDocument/2006/relationships/image" Target="../media/image9.png"/><Relationship Id="rId9" Type="http://schemas.openxmlformats.org/officeDocument/2006/relationships/customXml" Target="../ink/ink3.xml"/><Relationship Id="rId1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9.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19.jpe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4.png"/><Relationship Id="rId4"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31.jfif"/><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A87E9-1A2B-E074-95D6-F62A25193F40}"/>
              </a:ext>
            </a:extLst>
          </p:cNvPr>
          <p:cNvSpPr>
            <a:spLocks noGrp="1"/>
          </p:cNvSpPr>
          <p:nvPr>
            <p:ph type="ctrTitle"/>
          </p:nvPr>
        </p:nvSpPr>
        <p:spPr>
          <a:xfrm>
            <a:off x="1524000" y="1122363"/>
            <a:ext cx="9297880" cy="2387600"/>
          </a:xfrm>
        </p:spPr>
        <p:txBody>
          <a:bodyPr/>
          <a:lstStyle/>
          <a:p>
            <a:r>
              <a:rPr lang="en-US" dirty="0" err="1"/>
              <a:t>Grafică</a:t>
            </a:r>
            <a:r>
              <a:rPr lang="en-US" dirty="0"/>
              <a:t> </a:t>
            </a:r>
            <a:r>
              <a:rPr lang="en-US" dirty="0" err="1"/>
              <a:t>asistată</a:t>
            </a:r>
            <a:r>
              <a:rPr lang="en-US" dirty="0"/>
              <a:t> de calculator</a:t>
            </a:r>
          </a:p>
        </p:txBody>
      </p:sp>
      <p:sp>
        <p:nvSpPr>
          <p:cNvPr id="3" name="Subtitle 2">
            <a:extLst>
              <a:ext uri="{FF2B5EF4-FFF2-40B4-BE49-F238E27FC236}">
                <a16:creationId xmlns:a16="http://schemas.microsoft.com/office/drawing/2014/main" id="{6C37E701-8695-5CB0-A905-07547C6513FA}"/>
              </a:ext>
            </a:extLst>
          </p:cNvPr>
          <p:cNvSpPr>
            <a:spLocks noGrp="1"/>
          </p:cNvSpPr>
          <p:nvPr>
            <p:ph type="subTitle" idx="1"/>
          </p:nvPr>
        </p:nvSpPr>
        <p:spPr/>
        <p:txBody>
          <a:bodyPr/>
          <a:lstStyle/>
          <a:p>
            <a:r>
              <a:rPr lang="en-US" dirty="0" err="1"/>
              <a:t>Laborator</a:t>
            </a:r>
            <a:r>
              <a:rPr lang="en-US" dirty="0"/>
              <a:t> – Grigore </a:t>
            </a:r>
            <a:r>
              <a:rPr lang="en-US" dirty="0" err="1"/>
              <a:t>Ionuț</a:t>
            </a:r>
            <a:endParaRPr lang="en-US" dirty="0"/>
          </a:p>
        </p:txBody>
      </p:sp>
    </p:spTree>
    <p:extLst>
      <p:ext uri="{BB962C8B-B14F-4D97-AF65-F5344CB8AC3E}">
        <p14:creationId xmlns:p14="http://schemas.microsoft.com/office/powerpoint/2010/main" val="27046443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853440" y="975360"/>
            <a:ext cx="8534400" cy="609600"/>
          </a:xfrm>
          <a:prstGeom prst="rect">
            <a:avLst/>
          </a:prstGeom>
          <a:noFill/>
          <a:ln/>
        </p:spPr>
        <p:txBody>
          <a:bodyPr wrap="square" lIns="0" tIns="0" rIns="0" bIns="0" rtlCol="0" anchor="ctr"/>
          <a:lstStyle/>
          <a:p>
            <a:r>
              <a:rPr lang="en-US" sz="2800" dirty="0">
                <a:solidFill>
                  <a:schemeClr val="tx2">
                    <a:lumMod val="75000"/>
                    <a:lumOff val="25000"/>
                  </a:schemeClr>
                </a:solidFill>
                <a:latin typeface="Calibri" pitchFamily="34" charset="0"/>
                <a:ea typeface="Calibri" pitchFamily="34" charset="-122"/>
                <a:cs typeface="Calibri" pitchFamily="34" charset="-120"/>
              </a:rPr>
              <a:t>Laboratory 7</a:t>
            </a:r>
            <a:endParaRPr lang="en-US" sz="2800" dirty="0">
              <a:solidFill>
                <a:schemeClr val="tx2">
                  <a:lumMod val="75000"/>
                  <a:lumOff val="25000"/>
                </a:schemeClr>
              </a:solidFill>
            </a:endParaRPr>
          </a:p>
        </p:txBody>
      </p:sp>
      <p:sp>
        <p:nvSpPr>
          <p:cNvPr id="5" name="Text 3"/>
          <p:cNvSpPr/>
          <p:nvPr/>
        </p:nvSpPr>
        <p:spPr>
          <a:xfrm>
            <a:off x="853440" y="1524000"/>
            <a:ext cx="9144000" cy="2682240"/>
          </a:xfrm>
          <a:prstGeom prst="rect">
            <a:avLst/>
          </a:prstGeom>
          <a:noFill/>
          <a:ln/>
        </p:spPr>
        <p:txBody>
          <a:bodyPr wrap="square" lIns="0" tIns="0" rIns="0" bIns="0" rtlCol="0" anchor="t"/>
          <a:lstStyle/>
          <a:p>
            <a:r>
              <a:rPr lang="en-US" sz="6133" b="1" dirty="0">
                <a:solidFill>
                  <a:srgbClr val="FF0000"/>
                </a:solidFill>
                <a:latin typeface="Calibri" pitchFamily="34" charset="0"/>
                <a:ea typeface="Calibri" pitchFamily="34" charset="-122"/>
                <a:cs typeface="Calibri" pitchFamily="34" charset="-120"/>
              </a:rPr>
              <a:t>CLIP: A Model to Measure the Similarity Between Image and Text</a:t>
            </a:r>
            <a:endParaRPr lang="en-US" sz="6133"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3" name="Text 1"/>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Lab Overview</a:t>
            </a:r>
            <a:endParaRPr lang="en-US" sz="3467" dirty="0"/>
          </a:p>
        </p:txBody>
      </p:sp>
      <p:sp>
        <p:nvSpPr>
          <p:cNvPr id="4" name="Shape 2"/>
          <p:cNvSpPr/>
          <p:nvPr/>
        </p:nvSpPr>
        <p:spPr>
          <a:xfrm>
            <a:off x="426720" y="1097280"/>
            <a:ext cx="914400" cy="1682496"/>
          </a:xfrm>
          <a:prstGeom prst="rect">
            <a:avLst/>
          </a:prstGeom>
          <a:solidFill>
            <a:srgbClr val="1F5BAD"/>
          </a:solidFill>
          <a:ln w="12700">
            <a:solidFill>
              <a:srgbClr val="1F5BAD"/>
            </a:solidFill>
            <a:prstDash val="solid"/>
          </a:ln>
        </p:spPr>
      </p:sp>
      <p:sp>
        <p:nvSpPr>
          <p:cNvPr id="5" name="Text 3"/>
          <p:cNvSpPr/>
          <p:nvPr/>
        </p:nvSpPr>
        <p:spPr>
          <a:xfrm>
            <a:off x="426720" y="1097280"/>
            <a:ext cx="914400" cy="1682496"/>
          </a:xfrm>
          <a:prstGeom prst="rect">
            <a:avLst/>
          </a:prstGeom>
          <a:noFill/>
          <a:ln/>
        </p:spPr>
        <p:txBody>
          <a:bodyPr wrap="square" rtlCol="0" anchor="ctr"/>
          <a:lstStyle/>
          <a:p>
            <a:pPr algn="ctr"/>
            <a:r>
              <a:rPr lang="en-US" sz="2400" b="1" dirty="0">
                <a:solidFill>
                  <a:srgbClr val="FFFFFF"/>
                </a:solidFill>
                <a:latin typeface="Calibri" pitchFamily="34" charset="0"/>
                <a:ea typeface="Calibri" pitchFamily="34" charset="-122"/>
                <a:cs typeface="Calibri" pitchFamily="34" charset="-120"/>
              </a:rPr>
              <a:t>01</a:t>
            </a:r>
            <a:endParaRPr lang="en-US" sz="2400" dirty="0"/>
          </a:p>
        </p:txBody>
      </p:sp>
      <p:sp>
        <p:nvSpPr>
          <p:cNvPr id="6" name="Shape 4"/>
          <p:cNvSpPr/>
          <p:nvPr/>
        </p:nvSpPr>
        <p:spPr>
          <a:xfrm>
            <a:off x="1341120" y="1097280"/>
            <a:ext cx="4693920" cy="1682496"/>
          </a:xfrm>
          <a:prstGeom prst="rect">
            <a:avLst/>
          </a:prstGeom>
          <a:solidFill>
            <a:srgbClr val="FFFFFF"/>
          </a:solidFill>
          <a:ln w="12700">
            <a:solidFill>
              <a:srgbClr val="CCCCCC"/>
            </a:solidFill>
            <a:prstDash val="solid"/>
          </a:ln>
        </p:spPr>
      </p:sp>
      <p:sp>
        <p:nvSpPr>
          <p:cNvPr id="7" name="Text 5"/>
          <p:cNvSpPr/>
          <p:nvPr/>
        </p:nvSpPr>
        <p:spPr>
          <a:xfrm>
            <a:off x="1487424" y="1219200"/>
            <a:ext cx="4450080" cy="365760"/>
          </a:xfrm>
          <a:prstGeom prst="rect">
            <a:avLst/>
          </a:prstGeom>
          <a:noFill/>
          <a:ln/>
        </p:spPr>
        <p:txBody>
          <a:bodyPr wrap="square" rtlCol="0" anchor="ctr"/>
          <a:lstStyle/>
          <a:p>
            <a:r>
              <a:rPr lang="en-US" sz="1600" b="1" dirty="0">
                <a:solidFill>
                  <a:srgbClr val="1F3864"/>
                </a:solidFill>
                <a:latin typeface="Calibri" pitchFamily="34" charset="0"/>
                <a:ea typeface="Calibri" pitchFamily="34" charset="-122"/>
                <a:cs typeface="Calibri" pitchFamily="34" charset="-120"/>
              </a:rPr>
              <a:t>Dataset preparation</a:t>
            </a:r>
            <a:endParaRPr lang="en-US" sz="1600" dirty="0"/>
          </a:p>
        </p:txBody>
      </p:sp>
      <p:sp>
        <p:nvSpPr>
          <p:cNvPr id="8" name="Text 6"/>
          <p:cNvSpPr/>
          <p:nvPr/>
        </p:nvSpPr>
        <p:spPr>
          <a:xfrm>
            <a:off x="1487424" y="1633728"/>
            <a:ext cx="4450080" cy="999744"/>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Load Flickr 8k, tokenize captions with DistilBERT, apply image transforms, build train/</a:t>
            </a:r>
            <a:r>
              <a:rPr lang="en-US" sz="1400" dirty="0" err="1">
                <a:solidFill>
                  <a:srgbClr val="595959"/>
                </a:solidFill>
                <a:latin typeface="Calibri" pitchFamily="34" charset="0"/>
                <a:ea typeface="Calibri" pitchFamily="34" charset="-122"/>
                <a:cs typeface="Calibri" pitchFamily="34" charset="-120"/>
              </a:rPr>
              <a:t>val</a:t>
            </a:r>
            <a:r>
              <a:rPr lang="en-US" sz="1400" dirty="0">
                <a:solidFill>
                  <a:srgbClr val="595959"/>
                </a:solidFill>
                <a:latin typeface="Calibri" pitchFamily="34" charset="0"/>
                <a:ea typeface="Calibri" pitchFamily="34" charset="-122"/>
                <a:cs typeface="Calibri" pitchFamily="34" charset="-120"/>
              </a:rPr>
              <a:t> </a:t>
            </a:r>
            <a:r>
              <a:rPr lang="en-US" sz="1400" dirty="0" err="1">
                <a:solidFill>
                  <a:srgbClr val="595959"/>
                </a:solidFill>
                <a:latin typeface="Calibri" pitchFamily="34" charset="0"/>
                <a:ea typeface="Calibri" pitchFamily="34" charset="-122"/>
                <a:cs typeface="Calibri" pitchFamily="34" charset="-120"/>
              </a:rPr>
              <a:t>dataloaders</a:t>
            </a:r>
            <a:r>
              <a:rPr lang="en-US" sz="1400" dirty="0">
                <a:solidFill>
                  <a:srgbClr val="595959"/>
                </a:solidFill>
                <a:latin typeface="Calibri" pitchFamily="34" charset="0"/>
                <a:ea typeface="Calibri" pitchFamily="34" charset="-122"/>
                <a:cs typeface="Calibri" pitchFamily="34" charset="-120"/>
              </a:rPr>
              <a:t>.</a:t>
            </a:r>
            <a:endParaRPr lang="en-US" sz="1400" dirty="0"/>
          </a:p>
        </p:txBody>
      </p:sp>
      <p:sp>
        <p:nvSpPr>
          <p:cNvPr id="9" name="Shape 7"/>
          <p:cNvSpPr/>
          <p:nvPr/>
        </p:nvSpPr>
        <p:spPr>
          <a:xfrm>
            <a:off x="6315456" y="1097280"/>
            <a:ext cx="914400" cy="1682496"/>
          </a:xfrm>
          <a:prstGeom prst="rect">
            <a:avLst/>
          </a:prstGeom>
          <a:solidFill>
            <a:srgbClr val="1F5BAD"/>
          </a:solidFill>
          <a:ln w="12700">
            <a:solidFill>
              <a:srgbClr val="1F5BAD"/>
            </a:solidFill>
            <a:prstDash val="solid"/>
          </a:ln>
        </p:spPr>
      </p:sp>
      <p:sp>
        <p:nvSpPr>
          <p:cNvPr id="10" name="Text 8"/>
          <p:cNvSpPr/>
          <p:nvPr/>
        </p:nvSpPr>
        <p:spPr>
          <a:xfrm>
            <a:off x="6315456" y="1097280"/>
            <a:ext cx="914400" cy="1682496"/>
          </a:xfrm>
          <a:prstGeom prst="rect">
            <a:avLst/>
          </a:prstGeom>
          <a:noFill/>
          <a:ln/>
        </p:spPr>
        <p:txBody>
          <a:bodyPr wrap="square" rtlCol="0" anchor="ctr"/>
          <a:lstStyle/>
          <a:p>
            <a:pPr algn="ctr"/>
            <a:r>
              <a:rPr lang="en-US" sz="2400" b="1" dirty="0">
                <a:solidFill>
                  <a:srgbClr val="FFFFFF"/>
                </a:solidFill>
                <a:latin typeface="Calibri" pitchFamily="34" charset="0"/>
                <a:ea typeface="Calibri" pitchFamily="34" charset="-122"/>
                <a:cs typeface="Calibri" pitchFamily="34" charset="-120"/>
              </a:rPr>
              <a:t>02</a:t>
            </a:r>
            <a:endParaRPr lang="en-US" sz="2400" dirty="0"/>
          </a:p>
        </p:txBody>
      </p:sp>
      <p:sp>
        <p:nvSpPr>
          <p:cNvPr id="11" name="Shape 9"/>
          <p:cNvSpPr/>
          <p:nvPr/>
        </p:nvSpPr>
        <p:spPr>
          <a:xfrm>
            <a:off x="7229856" y="1097280"/>
            <a:ext cx="4693920" cy="1682496"/>
          </a:xfrm>
          <a:prstGeom prst="rect">
            <a:avLst/>
          </a:prstGeom>
          <a:solidFill>
            <a:srgbClr val="FFFFFF"/>
          </a:solidFill>
          <a:ln w="12700">
            <a:solidFill>
              <a:srgbClr val="CCCCCC"/>
            </a:solidFill>
            <a:prstDash val="solid"/>
          </a:ln>
        </p:spPr>
      </p:sp>
      <p:sp>
        <p:nvSpPr>
          <p:cNvPr id="12" name="Text 10"/>
          <p:cNvSpPr/>
          <p:nvPr/>
        </p:nvSpPr>
        <p:spPr>
          <a:xfrm>
            <a:off x="7376160" y="1219200"/>
            <a:ext cx="4450080" cy="365760"/>
          </a:xfrm>
          <a:prstGeom prst="rect">
            <a:avLst/>
          </a:prstGeom>
          <a:noFill/>
          <a:ln/>
        </p:spPr>
        <p:txBody>
          <a:bodyPr wrap="square" rtlCol="0" anchor="ctr"/>
          <a:lstStyle/>
          <a:p>
            <a:r>
              <a:rPr lang="en-US" sz="1600" b="1" dirty="0">
                <a:solidFill>
                  <a:srgbClr val="1F3864"/>
                </a:solidFill>
                <a:latin typeface="Calibri" pitchFamily="34" charset="0"/>
                <a:ea typeface="Calibri" pitchFamily="34" charset="-122"/>
                <a:cs typeface="Calibri" pitchFamily="34" charset="-120"/>
              </a:rPr>
              <a:t>Text Encoder</a:t>
            </a:r>
            <a:endParaRPr lang="en-US" sz="1600" dirty="0"/>
          </a:p>
        </p:txBody>
      </p:sp>
      <p:sp>
        <p:nvSpPr>
          <p:cNvPr id="13" name="Text 11"/>
          <p:cNvSpPr/>
          <p:nvPr/>
        </p:nvSpPr>
        <p:spPr>
          <a:xfrm>
            <a:off x="7376160" y="1633728"/>
            <a:ext cx="4450080" cy="999744"/>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Use pretrained DistilBERT to convert any caption into a 768-dimensional vector.</a:t>
            </a:r>
            <a:endParaRPr lang="en-US" sz="1400" dirty="0"/>
          </a:p>
        </p:txBody>
      </p:sp>
      <p:sp>
        <p:nvSpPr>
          <p:cNvPr id="14" name="Shape 12"/>
          <p:cNvSpPr/>
          <p:nvPr/>
        </p:nvSpPr>
        <p:spPr>
          <a:xfrm>
            <a:off x="426720" y="2950464"/>
            <a:ext cx="914400" cy="1682496"/>
          </a:xfrm>
          <a:prstGeom prst="rect">
            <a:avLst/>
          </a:prstGeom>
          <a:solidFill>
            <a:srgbClr val="1F5BAD"/>
          </a:solidFill>
          <a:ln w="12700">
            <a:solidFill>
              <a:srgbClr val="1F5BAD"/>
            </a:solidFill>
            <a:prstDash val="solid"/>
          </a:ln>
        </p:spPr>
      </p:sp>
      <p:sp>
        <p:nvSpPr>
          <p:cNvPr id="15" name="Text 13"/>
          <p:cNvSpPr/>
          <p:nvPr/>
        </p:nvSpPr>
        <p:spPr>
          <a:xfrm>
            <a:off x="426720" y="2950464"/>
            <a:ext cx="914400" cy="1682496"/>
          </a:xfrm>
          <a:prstGeom prst="rect">
            <a:avLst/>
          </a:prstGeom>
          <a:noFill/>
          <a:ln/>
        </p:spPr>
        <p:txBody>
          <a:bodyPr wrap="square" rtlCol="0" anchor="ctr"/>
          <a:lstStyle/>
          <a:p>
            <a:pPr algn="ctr"/>
            <a:r>
              <a:rPr lang="en-US" sz="2400" b="1" dirty="0">
                <a:solidFill>
                  <a:srgbClr val="FFFFFF"/>
                </a:solidFill>
                <a:latin typeface="Calibri" pitchFamily="34" charset="0"/>
                <a:ea typeface="Calibri" pitchFamily="34" charset="-122"/>
                <a:cs typeface="Calibri" pitchFamily="34" charset="-120"/>
              </a:rPr>
              <a:t>03</a:t>
            </a:r>
            <a:endParaRPr lang="en-US" sz="2400" dirty="0"/>
          </a:p>
        </p:txBody>
      </p:sp>
      <p:sp>
        <p:nvSpPr>
          <p:cNvPr id="16" name="Shape 14"/>
          <p:cNvSpPr/>
          <p:nvPr/>
        </p:nvSpPr>
        <p:spPr>
          <a:xfrm>
            <a:off x="1341120" y="2950464"/>
            <a:ext cx="4693920" cy="1682496"/>
          </a:xfrm>
          <a:prstGeom prst="rect">
            <a:avLst/>
          </a:prstGeom>
          <a:solidFill>
            <a:srgbClr val="FFFFFF"/>
          </a:solidFill>
          <a:ln w="12700">
            <a:solidFill>
              <a:srgbClr val="CCCCCC"/>
            </a:solidFill>
            <a:prstDash val="solid"/>
          </a:ln>
        </p:spPr>
      </p:sp>
      <p:sp>
        <p:nvSpPr>
          <p:cNvPr id="17" name="Text 15"/>
          <p:cNvSpPr/>
          <p:nvPr/>
        </p:nvSpPr>
        <p:spPr>
          <a:xfrm>
            <a:off x="1487424" y="3072384"/>
            <a:ext cx="4450080" cy="365760"/>
          </a:xfrm>
          <a:prstGeom prst="rect">
            <a:avLst/>
          </a:prstGeom>
          <a:noFill/>
          <a:ln/>
        </p:spPr>
        <p:txBody>
          <a:bodyPr wrap="square" rtlCol="0" anchor="ctr"/>
          <a:lstStyle/>
          <a:p>
            <a:r>
              <a:rPr lang="en-US" sz="1600" b="1" dirty="0">
                <a:solidFill>
                  <a:srgbClr val="1F3864"/>
                </a:solidFill>
                <a:latin typeface="Calibri" pitchFamily="34" charset="0"/>
                <a:ea typeface="Calibri" pitchFamily="34" charset="-122"/>
                <a:cs typeface="Calibri" pitchFamily="34" charset="-120"/>
              </a:rPr>
              <a:t>Image Encoder</a:t>
            </a:r>
            <a:endParaRPr lang="en-US" sz="1600" dirty="0"/>
          </a:p>
        </p:txBody>
      </p:sp>
      <p:sp>
        <p:nvSpPr>
          <p:cNvPr id="18" name="Text 16"/>
          <p:cNvSpPr/>
          <p:nvPr/>
        </p:nvSpPr>
        <p:spPr>
          <a:xfrm>
            <a:off x="1487424" y="3486912"/>
            <a:ext cx="4450080" cy="999744"/>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Use pretrained ResNet50 to convert any 224×224 image into a 2048-dimensional vector.</a:t>
            </a:r>
            <a:endParaRPr lang="en-US" sz="1400" dirty="0"/>
          </a:p>
        </p:txBody>
      </p:sp>
      <p:sp>
        <p:nvSpPr>
          <p:cNvPr id="19" name="Shape 17"/>
          <p:cNvSpPr/>
          <p:nvPr/>
        </p:nvSpPr>
        <p:spPr>
          <a:xfrm>
            <a:off x="6315456" y="2950464"/>
            <a:ext cx="914400" cy="1682496"/>
          </a:xfrm>
          <a:prstGeom prst="rect">
            <a:avLst/>
          </a:prstGeom>
          <a:solidFill>
            <a:srgbClr val="1F5BAD"/>
          </a:solidFill>
          <a:ln w="12700">
            <a:solidFill>
              <a:srgbClr val="1F5BAD"/>
            </a:solidFill>
            <a:prstDash val="solid"/>
          </a:ln>
        </p:spPr>
      </p:sp>
      <p:sp>
        <p:nvSpPr>
          <p:cNvPr id="20" name="Text 18"/>
          <p:cNvSpPr/>
          <p:nvPr/>
        </p:nvSpPr>
        <p:spPr>
          <a:xfrm>
            <a:off x="6315456" y="2950464"/>
            <a:ext cx="914400" cy="1682496"/>
          </a:xfrm>
          <a:prstGeom prst="rect">
            <a:avLst/>
          </a:prstGeom>
          <a:noFill/>
          <a:ln/>
        </p:spPr>
        <p:txBody>
          <a:bodyPr wrap="square" rtlCol="0" anchor="ctr"/>
          <a:lstStyle/>
          <a:p>
            <a:pPr algn="ctr"/>
            <a:r>
              <a:rPr lang="en-US" sz="2400" b="1" dirty="0">
                <a:solidFill>
                  <a:srgbClr val="FFFFFF"/>
                </a:solidFill>
                <a:latin typeface="Calibri" pitchFamily="34" charset="0"/>
                <a:ea typeface="Calibri" pitchFamily="34" charset="-122"/>
                <a:cs typeface="Calibri" pitchFamily="34" charset="-120"/>
              </a:rPr>
              <a:t>04</a:t>
            </a:r>
            <a:endParaRPr lang="en-US" sz="2400" dirty="0"/>
          </a:p>
        </p:txBody>
      </p:sp>
      <p:sp>
        <p:nvSpPr>
          <p:cNvPr id="21" name="Shape 19"/>
          <p:cNvSpPr/>
          <p:nvPr/>
        </p:nvSpPr>
        <p:spPr>
          <a:xfrm>
            <a:off x="7229856" y="2950464"/>
            <a:ext cx="4693920" cy="1682496"/>
          </a:xfrm>
          <a:prstGeom prst="rect">
            <a:avLst/>
          </a:prstGeom>
          <a:solidFill>
            <a:srgbClr val="FFFFFF"/>
          </a:solidFill>
          <a:ln w="12700">
            <a:solidFill>
              <a:srgbClr val="CCCCCC"/>
            </a:solidFill>
            <a:prstDash val="solid"/>
          </a:ln>
        </p:spPr>
      </p:sp>
      <p:sp>
        <p:nvSpPr>
          <p:cNvPr id="22" name="Text 20"/>
          <p:cNvSpPr/>
          <p:nvPr/>
        </p:nvSpPr>
        <p:spPr>
          <a:xfrm>
            <a:off x="7376160" y="3072384"/>
            <a:ext cx="4450080" cy="365760"/>
          </a:xfrm>
          <a:prstGeom prst="rect">
            <a:avLst/>
          </a:prstGeom>
          <a:noFill/>
          <a:ln/>
        </p:spPr>
        <p:txBody>
          <a:bodyPr wrap="square" rtlCol="0" anchor="ctr"/>
          <a:lstStyle/>
          <a:p>
            <a:r>
              <a:rPr lang="en-US" sz="1600" b="1" dirty="0">
                <a:solidFill>
                  <a:srgbClr val="1F3864"/>
                </a:solidFill>
                <a:latin typeface="Calibri" pitchFamily="34" charset="0"/>
                <a:ea typeface="Calibri" pitchFamily="34" charset="-122"/>
                <a:cs typeface="Calibri" pitchFamily="34" charset="-120"/>
              </a:rPr>
              <a:t>Projection Head &amp; CLIP Model</a:t>
            </a:r>
            <a:endParaRPr lang="en-US" sz="1600" dirty="0"/>
          </a:p>
        </p:txBody>
      </p:sp>
      <p:sp>
        <p:nvSpPr>
          <p:cNvPr id="23" name="Text 21"/>
          <p:cNvSpPr/>
          <p:nvPr/>
        </p:nvSpPr>
        <p:spPr>
          <a:xfrm>
            <a:off x="7376160" y="3486912"/>
            <a:ext cx="4450080" cy="999744"/>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Project both encoders to 256-dim. Train with contrastive loss to align matching pairs.</a:t>
            </a:r>
            <a:endParaRPr lang="en-US" sz="1400" dirty="0"/>
          </a:p>
        </p:txBody>
      </p:sp>
      <p:sp>
        <p:nvSpPr>
          <p:cNvPr id="24" name="Shape 22"/>
          <p:cNvSpPr/>
          <p:nvPr/>
        </p:nvSpPr>
        <p:spPr>
          <a:xfrm>
            <a:off x="426720" y="4803648"/>
            <a:ext cx="914400" cy="1682496"/>
          </a:xfrm>
          <a:prstGeom prst="rect">
            <a:avLst/>
          </a:prstGeom>
          <a:solidFill>
            <a:srgbClr val="1F5BAD"/>
          </a:solidFill>
          <a:ln w="12700">
            <a:solidFill>
              <a:srgbClr val="1F5BAD"/>
            </a:solidFill>
            <a:prstDash val="solid"/>
          </a:ln>
        </p:spPr>
      </p:sp>
      <p:sp>
        <p:nvSpPr>
          <p:cNvPr id="25" name="Text 23"/>
          <p:cNvSpPr/>
          <p:nvPr/>
        </p:nvSpPr>
        <p:spPr>
          <a:xfrm>
            <a:off x="426720" y="4803648"/>
            <a:ext cx="914400" cy="1682496"/>
          </a:xfrm>
          <a:prstGeom prst="rect">
            <a:avLst/>
          </a:prstGeom>
          <a:noFill/>
          <a:ln/>
        </p:spPr>
        <p:txBody>
          <a:bodyPr wrap="square" rtlCol="0" anchor="ctr"/>
          <a:lstStyle/>
          <a:p>
            <a:pPr algn="ctr"/>
            <a:r>
              <a:rPr lang="en-US" sz="2400" b="1" dirty="0">
                <a:solidFill>
                  <a:srgbClr val="FFFFFF"/>
                </a:solidFill>
                <a:latin typeface="Calibri" pitchFamily="34" charset="0"/>
                <a:ea typeface="Calibri" pitchFamily="34" charset="-122"/>
                <a:cs typeface="Calibri" pitchFamily="34" charset="-120"/>
              </a:rPr>
              <a:t>05</a:t>
            </a:r>
            <a:endParaRPr lang="en-US" sz="2400" dirty="0"/>
          </a:p>
        </p:txBody>
      </p:sp>
      <p:sp>
        <p:nvSpPr>
          <p:cNvPr id="26" name="Shape 24"/>
          <p:cNvSpPr/>
          <p:nvPr/>
        </p:nvSpPr>
        <p:spPr>
          <a:xfrm>
            <a:off x="1341120" y="4803648"/>
            <a:ext cx="4693920" cy="1682496"/>
          </a:xfrm>
          <a:prstGeom prst="rect">
            <a:avLst/>
          </a:prstGeom>
          <a:solidFill>
            <a:srgbClr val="FFFFFF"/>
          </a:solidFill>
          <a:ln w="12700">
            <a:solidFill>
              <a:srgbClr val="CCCCCC"/>
            </a:solidFill>
            <a:prstDash val="solid"/>
          </a:ln>
        </p:spPr>
      </p:sp>
      <p:sp>
        <p:nvSpPr>
          <p:cNvPr id="27" name="Text 25"/>
          <p:cNvSpPr/>
          <p:nvPr/>
        </p:nvSpPr>
        <p:spPr>
          <a:xfrm>
            <a:off x="1487424" y="4925568"/>
            <a:ext cx="4450080" cy="365760"/>
          </a:xfrm>
          <a:prstGeom prst="rect">
            <a:avLst/>
          </a:prstGeom>
          <a:noFill/>
          <a:ln/>
        </p:spPr>
        <p:txBody>
          <a:bodyPr wrap="square" rtlCol="0" anchor="ctr"/>
          <a:lstStyle/>
          <a:p>
            <a:r>
              <a:rPr lang="en-US" sz="1600" b="1" dirty="0">
                <a:solidFill>
                  <a:srgbClr val="1F3864"/>
                </a:solidFill>
                <a:latin typeface="Calibri" pitchFamily="34" charset="0"/>
                <a:ea typeface="Calibri" pitchFamily="34" charset="-122"/>
                <a:cs typeface="Calibri" pitchFamily="34" charset="-120"/>
              </a:rPr>
              <a:t>Image retrieval (our CLIP)</a:t>
            </a:r>
            <a:endParaRPr lang="en-US" sz="1600" dirty="0"/>
          </a:p>
        </p:txBody>
      </p:sp>
      <p:sp>
        <p:nvSpPr>
          <p:cNvPr id="28" name="Text 26"/>
          <p:cNvSpPr/>
          <p:nvPr/>
        </p:nvSpPr>
        <p:spPr>
          <a:xfrm>
            <a:off x="1487424" y="5340096"/>
            <a:ext cx="4450080" cy="999744"/>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Use the trained CLIP to find the best-matching image for a text prompt from the validation set.</a:t>
            </a:r>
            <a:endParaRPr lang="en-US" sz="1400" dirty="0"/>
          </a:p>
        </p:txBody>
      </p:sp>
      <p:sp>
        <p:nvSpPr>
          <p:cNvPr id="29" name="Shape 27"/>
          <p:cNvSpPr/>
          <p:nvPr/>
        </p:nvSpPr>
        <p:spPr>
          <a:xfrm>
            <a:off x="6315456" y="4803648"/>
            <a:ext cx="914400" cy="1682496"/>
          </a:xfrm>
          <a:prstGeom prst="rect">
            <a:avLst/>
          </a:prstGeom>
          <a:solidFill>
            <a:srgbClr val="1F5BAD"/>
          </a:solidFill>
          <a:ln w="12700">
            <a:solidFill>
              <a:srgbClr val="1F5BAD"/>
            </a:solidFill>
            <a:prstDash val="solid"/>
          </a:ln>
        </p:spPr>
      </p:sp>
      <p:sp>
        <p:nvSpPr>
          <p:cNvPr id="30" name="Text 28"/>
          <p:cNvSpPr/>
          <p:nvPr/>
        </p:nvSpPr>
        <p:spPr>
          <a:xfrm>
            <a:off x="6315456" y="4803648"/>
            <a:ext cx="914400" cy="1682496"/>
          </a:xfrm>
          <a:prstGeom prst="rect">
            <a:avLst/>
          </a:prstGeom>
          <a:noFill/>
          <a:ln/>
        </p:spPr>
        <p:txBody>
          <a:bodyPr wrap="square" rtlCol="0" anchor="ctr"/>
          <a:lstStyle/>
          <a:p>
            <a:pPr algn="ctr"/>
            <a:r>
              <a:rPr lang="en-US" sz="2400" b="1" dirty="0">
                <a:solidFill>
                  <a:srgbClr val="FFFFFF"/>
                </a:solidFill>
                <a:latin typeface="Calibri" pitchFamily="34" charset="0"/>
                <a:ea typeface="Calibri" pitchFamily="34" charset="-122"/>
                <a:cs typeface="Calibri" pitchFamily="34" charset="-120"/>
              </a:rPr>
              <a:t>06</a:t>
            </a:r>
            <a:endParaRPr lang="en-US" sz="2400" dirty="0"/>
          </a:p>
        </p:txBody>
      </p:sp>
      <p:sp>
        <p:nvSpPr>
          <p:cNvPr id="31" name="Shape 29"/>
          <p:cNvSpPr/>
          <p:nvPr/>
        </p:nvSpPr>
        <p:spPr>
          <a:xfrm>
            <a:off x="7229856" y="4803648"/>
            <a:ext cx="4693920" cy="1682496"/>
          </a:xfrm>
          <a:prstGeom prst="rect">
            <a:avLst/>
          </a:prstGeom>
          <a:solidFill>
            <a:srgbClr val="FFFFFF"/>
          </a:solidFill>
          <a:ln w="12700">
            <a:solidFill>
              <a:srgbClr val="CCCCCC"/>
            </a:solidFill>
            <a:prstDash val="solid"/>
          </a:ln>
        </p:spPr>
      </p:sp>
      <p:sp>
        <p:nvSpPr>
          <p:cNvPr id="32" name="Text 30"/>
          <p:cNvSpPr/>
          <p:nvPr/>
        </p:nvSpPr>
        <p:spPr>
          <a:xfrm>
            <a:off x="7376160" y="4925568"/>
            <a:ext cx="4450080" cy="365760"/>
          </a:xfrm>
          <a:prstGeom prst="rect">
            <a:avLst/>
          </a:prstGeom>
          <a:noFill/>
          <a:ln/>
        </p:spPr>
        <p:txBody>
          <a:bodyPr wrap="square" rtlCol="0" anchor="ctr"/>
          <a:lstStyle/>
          <a:p>
            <a:r>
              <a:rPr lang="en-US" sz="1600" b="1" dirty="0">
                <a:solidFill>
                  <a:srgbClr val="1F3864"/>
                </a:solidFill>
                <a:latin typeface="Calibri" pitchFamily="34" charset="0"/>
                <a:ea typeface="Calibri" pitchFamily="34" charset="-122"/>
                <a:cs typeface="Calibri" pitchFamily="34" charset="-120"/>
              </a:rPr>
              <a:t>OpenAI CLIP</a:t>
            </a:r>
            <a:endParaRPr lang="en-US" sz="1600" dirty="0"/>
          </a:p>
        </p:txBody>
      </p:sp>
      <p:sp>
        <p:nvSpPr>
          <p:cNvPr id="33" name="Text 31"/>
          <p:cNvSpPr/>
          <p:nvPr/>
        </p:nvSpPr>
        <p:spPr>
          <a:xfrm>
            <a:off x="7376160" y="5340096"/>
            <a:ext cx="4450080" cy="999744"/>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Use OpenAI's pretrained ViT-B/32 CLIP to search all 8091 Flickr images — faster and more accurate.</a:t>
            </a:r>
            <a:endParaRPr lang="en-US" sz="1400" dirty="0"/>
          </a:p>
        </p:txBody>
      </p:sp>
      <p:sp>
        <p:nvSpPr>
          <p:cNvPr id="34" name="Shape 0">
            <a:extLst>
              <a:ext uri="{FF2B5EF4-FFF2-40B4-BE49-F238E27FC236}">
                <a16:creationId xmlns:a16="http://schemas.microsoft.com/office/drawing/2014/main" id="{8FEE2934-AC04-1602-FDF9-B49544B7717B}"/>
              </a:ext>
            </a:extLst>
          </p:cNvPr>
          <p:cNvSpPr/>
          <p:nvPr/>
        </p:nvSpPr>
        <p:spPr>
          <a:xfrm>
            <a:off x="0" y="0"/>
            <a:ext cx="12192000" cy="97536"/>
          </a:xfrm>
          <a:prstGeom prst="rect">
            <a:avLst/>
          </a:prstGeom>
          <a:solidFill>
            <a:srgbClr val="1565C0"/>
          </a:solidFill>
          <a:ln w="12700">
            <a:solidFill>
              <a:srgbClr val="1565C0"/>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3" name="Text 1"/>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Context — The Bridge Between Images and Text</a:t>
            </a:r>
            <a:endParaRPr lang="en-US" sz="3467" dirty="0"/>
          </a:p>
        </p:txBody>
      </p:sp>
      <p:sp>
        <p:nvSpPr>
          <p:cNvPr id="28" name="Shape 0">
            <a:extLst>
              <a:ext uri="{FF2B5EF4-FFF2-40B4-BE49-F238E27FC236}">
                <a16:creationId xmlns:a16="http://schemas.microsoft.com/office/drawing/2014/main" id="{7639138A-966A-021B-F2E0-A34EABD48ABF}"/>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1048" name="Picture 1047">
            <a:extLst>
              <a:ext uri="{FF2B5EF4-FFF2-40B4-BE49-F238E27FC236}">
                <a16:creationId xmlns:a16="http://schemas.microsoft.com/office/drawing/2014/main" id="{403318CA-6531-ADDE-2932-270F270B84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7710" y="873977"/>
            <a:ext cx="8756579" cy="583771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6CAF2-77AD-2418-0F55-F22626533C1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39C333C-F3F9-148A-2B17-681E04E27F6B}"/>
              </a:ext>
            </a:extLst>
          </p:cNvPr>
          <p:cNvSpPr/>
          <p:nvPr/>
        </p:nvSpPr>
        <p:spPr>
          <a:xfrm>
            <a:off x="0" y="0"/>
            <a:ext cx="12192000" cy="85344"/>
          </a:xfrm>
          <a:prstGeom prst="rect">
            <a:avLst/>
          </a:prstGeom>
          <a:solidFill>
            <a:srgbClr val="1F3864"/>
          </a:solidFill>
          <a:ln w="12700">
            <a:solidFill>
              <a:srgbClr val="1F3864"/>
            </a:solidFill>
            <a:prstDash val="solid"/>
          </a:ln>
        </p:spPr>
      </p:sp>
      <p:sp>
        <p:nvSpPr>
          <p:cNvPr id="3" name="Text 1">
            <a:extLst>
              <a:ext uri="{FF2B5EF4-FFF2-40B4-BE49-F238E27FC236}">
                <a16:creationId xmlns:a16="http://schemas.microsoft.com/office/drawing/2014/main" id="{85778F1A-982A-13F0-EA12-C6514997223C}"/>
              </a:ext>
            </a:extLst>
          </p:cNvPr>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Context — The Bridge Between Images and Text</a:t>
            </a:r>
            <a:endParaRPr lang="en-US" sz="3467" dirty="0"/>
          </a:p>
        </p:txBody>
      </p:sp>
      <p:sp>
        <p:nvSpPr>
          <p:cNvPr id="4" name="Shape 2">
            <a:extLst>
              <a:ext uri="{FF2B5EF4-FFF2-40B4-BE49-F238E27FC236}">
                <a16:creationId xmlns:a16="http://schemas.microsoft.com/office/drawing/2014/main" id="{84357285-3182-E3B1-93B4-0A18479E34B2}"/>
              </a:ext>
            </a:extLst>
          </p:cNvPr>
          <p:cNvSpPr/>
          <p:nvPr/>
        </p:nvSpPr>
        <p:spPr>
          <a:xfrm>
            <a:off x="426719" y="982928"/>
            <a:ext cx="11450205" cy="633984"/>
          </a:xfrm>
          <a:prstGeom prst="rect">
            <a:avLst/>
          </a:prstGeom>
          <a:solidFill>
            <a:srgbClr val="D6E4F7"/>
          </a:solidFill>
          <a:ln w="12700">
            <a:solidFill>
              <a:srgbClr val="1F5BAD"/>
            </a:solidFill>
            <a:prstDash val="solid"/>
          </a:ln>
        </p:spPr>
      </p:sp>
      <p:sp>
        <p:nvSpPr>
          <p:cNvPr id="5" name="Text 3">
            <a:extLst>
              <a:ext uri="{FF2B5EF4-FFF2-40B4-BE49-F238E27FC236}">
                <a16:creationId xmlns:a16="http://schemas.microsoft.com/office/drawing/2014/main" id="{F795F7B9-D5BA-1E90-4901-6B75D1906F6C}"/>
              </a:ext>
            </a:extLst>
          </p:cNvPr>
          <p:cNvSpPr/>
          <p:nvPr/>
        </p:nvSpPr>
        <p:spPr>
          <a:xfrm>
            <a:off x="597408" y="982928"/>
            <a:ext cx="10997184" cy="633984"/>
          </a:xfrm>
          <a:prstGeom prst="rect">
            <a:avLst/>
          </a:prstGeom>
          <a:noFill/>
          <a:ln/>
        </p:spPr>
        <p:txBody>
          <a:bodyPr wrap="square" rtlCol="0" anchor="ctr"/>
          <a:lstStyle/>
          <a:p>
            <a:r>
              <a:rPr lang="en-US" sz="1600" b="1" dirty="0">
                <a:solidFill>
                  <a:srgbClr val="1F3864"/>
                </a:solidFill>
                <a:latin typeface="Calibri" pitchFamily="34" charset="0"/>
                <a:ea typeface="Calibri" pitchFamily="34" charset="-122"/>
                <a:cs typeface="Calibri" pitchFamily="34" charset="-120"/>
              </a:rPr>
              <a:t>CLIP</a:t>
            </a:r>
            <a:r>
              <a:rPr lang="en-US" sz="1600" dirty="0">
                <a:solidFill>
                  <a:srgbClr val="1F3864"/>
                </a:solidFill>
                <a:latin typeface="Calibri" pitchFamily="34" charset="0"/>
                <a:ea typeface="Calibri" pitchFamily="34" charset="-122"/>
                <a:cs typeface="Calibri" pitchFamily="34" charset="-120"/>
              </a:rPr>
              <a:t> = Contrastive Language-Image Pretraining </a:t>
            </a:r>
          </a:p>
          <a:p>
            <a:r>
              <a:rPr lang="en-US" sz="1600" dirty="0">
                <a:solidFill>
                  <a:srgbClr val="1F3864"/>
                </a:solidFill>
                <a:latin typeface="Calibri" pitchFamily="34" charset="0"/>
                <a:ea typeface="Calibri" pitchFamily="34" charset="-122"/>
                <a:cs typeface="Calibri" pitchFamily="34" charset="-120"/>
              </a:rPr>
              <a:t>It answers one question: </a:t>
            </a:r>
            <a:r>
              <a:rPr lang="en-US" sz="1600" i="1" dirty="0">
                <a:solidFill>
                  <a:srgbClr val="1F3864"/>
                </a:solidFill>
                <a:latin typeface="Calibri" pitchFamily="34" charset="0"/>
                <a:ea typeface="Calibri" pitchFamily="34" charset="-122"/>
                <a:cs typeface="Calibri" pitchFamily="34" charset="-120"/>
              </a:rPr>
              <a:t>does this image match this text?</a:t>
            </a:r>
            <a:endParaRPr lang="en-US" sz="1600" i="1" dirty="0"/>
          </a:p>
        </p:txBody>
      </p:sp>
      <p:sp>
        <p:nvSpPr>
          <p:cNvPr id="6" name="Shape 4">
            <a:extLst>
              <a:ext uri="{FF2B5EF4-FFF2-40B4-BE49-F238E27FC236}">
                <a16:creationId xmlns:a16="http://schemas.microsoft.com/office/drawing/2014/main" id="{9B5A2B45-BC96-80B1-138E-1A2FE9F53800}"/>
              </a:ext>
            </a:extLst>
          </p:cNvPr>
          <p:cNvSpPr/>
          <p:nvPr/>
        </p:nvSpPr>
        <p:spPr>
          <a:xfrm>
            <a:off x="426721" y="2010190"/>
            <a:ext cx="11450206" cy="487680"/>
          </a:xfrm>
          <a:prstGeom prst="rect">
            <a:avLst/>
          </a:prstGeom>
          <a:solidFill>
            <a:srgbClr val="1F5BAD"/>
          </a:solidFill>
          <a:ln w="12700">
            <a:solidFill>
              <a:srgbClr val="1F5BAD"/>
            </a:solidFill>
            <a:prstDash val="solid"/>
          </a:ln>
        </p:spPr>
      </p:sp>
      <p:sp>
        <p:nvSpPr>
          <p:cNvPr id="7" name="Text 5">
            <a:extLst>
              <a:ext uri="{FF2B5EF4-FFF2-40B4-BE49-F238E27FC236}">
                <a16:creationId xmlns:a16="http://schemas.microsoft.com/office/drawing/2014/main" id="{7C4B848C-A48B-3783-0342-240F4986339A}"/>
              </a:ext>
            </a:extLst>
          </p:cNvPr>
          <p:cNvSpPr/>
          <p:nvPr/>
        </p:nvSpPr>
        <p:spPr>
          <a:xfrm>
            <a:off x="426721" y="2010190"/>
            <a:ext cx="11450206" cy="487680"/>
          </a:xfrm>
          <a:prstGeom prst="rect">
            <a:avLst/>
          </a:prstGeom>
          <a:noFill/>
          <a:ln/>
        </p:spPr>
        <p:txBody>
          <a:bodyPr wrap="square" rtlCol="0" anchor="ctr"/>
          <a:lstStyle/>
          <a:p>
            <a:pPr algn="ctr"/>
            <a:r>
              <a:rPr lang="en-US" sz="1733" b="1" dirty="0">
                <a:solidFill>
                  <a:srgbClr val="FFFFFF"/>
                </a:solidFill>
                <a:latin typeface="Calibri" pitchFamily="34" charset="0"/>
                <a:ea typeface="Calibri" pitchFamily="34" charset="-122"/>
                <a:cs typeface="Calibri" pitchFamily="34" charset="-120"/>
              </a:rPr>
              <a:t>The problem</a:t>
            </a:r>
            <a:endParaRPr lang="en-US" sz="1733" dirty="0"/>
          </a:p>
        </p:txBody>
      </p:sp>
      <p:sp>
        <p:nvSpPr>
          <p:cNvPr id="9" name="Text 7">
            <a:extLst>
              <a:ext uri="{FF2B5EF4-FFF2-40B4-BE49-F238E27FC236}">
                <a16:creationId xmlns:a16="http://schemas.microsoft.com/office/drawing/2014/main" id="{AA323FE2-01FC-EB51-0EB1-A685EA62B324}"/>
              </a:ext>
            </a:extLst>
          </p:cNvPr>
          <p:cNvSpPr/>
          <p:nvPr/>
        </p:nvSpPr>
        <p:spPr>
          <a:xfrm>
            <a:off x="426720" y="3058702"/>
            <a:ext cx="10773603" cy="658368"/>
          </a:xfrm>
          <a:prstGeom prst="rect">
            <a:avLst/>
          </a:prstGeom>
          <a:noFill/>
          <a:ln/>
        </p:spPr>
        <p:txBody>
          <a:bodyPr wrap="square" rtlCol="0" anchor="ctr"/>
          <a:lstStyle/>
          <a:p>
            <a:r>
              <a:rPr lang="en-US" dirty="0">
                <a:solidFill>
                  <a:srgbClr val="595959"/>
                </a:solidFill>
                <a:latin typeface="Calibri" pitchFamily="34" charset="0"/>
                <a:ea typeface="Calibri" pitchFamily="34" charset="-122"/>
                <a:cs typeface="Calibri" pitchFamily="34" charset="-120"/>
              </a:rPr>
              <a:t>▸  Images are grids of pixels — numbers with no inherent meaning.</a:t>
            </a:r>
            <a:endParaRPr lang="en-US" dirty="0"/>
          </a:p>
        </p:txBody>
      </p:sp>
      <p:sp>
        <p:nvSpPr>
          <p:cNvPr id="11" name="Text 9">
            <a:extLst>
              <a:ext uri="{FF2B5EF4-FFF2-40B4-BE49-F238E27FC236}">
                <a16:creationId xmlns:a16="http://schemas.microsoft.com/office/drawing/2014/main" id="{EF8EBFFC-C923-3114-2918-B94501573825}"/>
              </a:ext>
            </a:extLst>
          </p:cNvPr>
          <p:cNvSpPr/>
          <p:nvPr/>
        </p:nvSpPr>
        <p:spPr>
          <a:xfrm>
            <a:off x="426719" y="4374771"/>
            <a:ext cx="10773603" cy="658368"/>
          </a:xfrm>
          <a:prstGeom prst="rect">
            <a:avLst/>
          </a:prstGeom>
          <a:noFill/>
          <a:ln/>
        </p:spPr>
        <p:txBody>
          <a:bodyPr wrap="square" rtlCol="0" anchor="ctr"/>
          <a:lstStyle/>
          <a:p>
            <a:r>
              <a:rPr lang="en-US" dirty="0">
                <a:solidFill>
                  <a:srgbClr val="595959"/>
                </a:solidFill>
                <a:latin typeface="Calibri" pitchFamily="34" charset="0"/>
                <a:ea typeface="Calibri" pitchFamily="34" charset="-122"/>
                <a:cs typeface="Calibri" pitchFamily="34" charset="-120"/>
              </a:rPr>
              <a:t>▸  Captions are sequences of words — a completely different format.</a:t>
            </a:r>
            <a:endParaRPr lang="en-US" dirty="0"/>
          </a:p>
        </p:txBody>
      </p:sp>
      <p:sp>
        <p:nvSpPr>
          <p:cNvPr id="13" name="Text 11">
            <a:extLst>
              <a:ext uri="{FF2B5EF4-FFF2-40B4-BE49-F238E27FC236}">
                <a16:creationId xmlns:a16="http://schemas.microsoft.com/office/drawing/2014/main" id="{D714BD84-8E7C-E13A-C7E5-9EC85B3F8A3C}"/>
              </a:ext>
            </a:extLst>
          </p:cNvPr>
          <p:cNvSpPr/>
          <p:nvPr/>
        </p:nvSpPr>
        <p:spPr>
          <a:xfrm>
            <a:off x="426719" y="5233738"/>
            <a:ext cx="10773603" cy="658368"/>
          </a:xfrm>
          <a:prstGeom prst="rect">
            <a:avLst/>
          </a:prstGeom>
          <a:noFill/>
          <a:ln/>
        </p:spPr>
        <p:txBody>
          <a:bodyPr wrap="square" rtlCol="0" anchor="ctr"/>
          <a:lstStyle/>
          <a:p>
            <a:r>
              <a:rPr lang="en-US" dirty="0">
                <a:solidFill>
                  <a:srgbClr val="595959"/>
                </a:solidFill>
                <a:latin typeface="Calibri" pitchFamily="34" charset="0"/>
                <a:ea typeface="Calibri" pitchFamily="34" charset="-122"/>
                <a:cs typeface="Calibri" pitchFamily="34" charset="-120"/>
              </a:rPr>
              <a:t>▸  How can a model know that an image of a heart matches the text 'We love GAC!' ?</a:t>
            </a:r>
            <a:endParaRPr lang="en-US" dirty="0"/>
          </a:p>
        </p:txBody>
      </p:sp>
      <p:sp>
        <p:nvSpPr>
          <p:cNvPr id="28" name="Shape 0">
            <a:extLst>
              <a:ext uri="{FF2B5EF4-FFF2-40B4-BE49-F238E27FC236}">
                <a16:creationId xmlns:a16="http://schemas.microsoft.com/office/drawing/2014/main" id="{629BB28A-0A67-9D51-FCA1-ED37B0C3EDAA}"/>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1026" name="Picture 2" descr="OpenAI Logo, symbol, meaning, history, PNG, brand">
            <a:extLst>
              <a:ext uri="{FF2B5EF4-FFF2-40B4-BE49-F238E27FC236}">
                <a16:creationId xmlns:a16="http://schemas.microsoft.com/office/drawing/2014/main" id="{6900B849-E173-9896-552F-395DB92DC2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72928" y="982928"/>
            <a:ext cx="1170432" cy="658368"/>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a:extLst>
              <a:ext uri="{FF2B5EF4-FFF2-40B4-BE49-F238E27FC236}">
                <a16:creationId xmlns:a16="http://schemas.microsoft.com/office/drawing/2014/main" id="{8316D619-6267-0052-0CB3-FF0FC8DAD98E}"/>
              </a:ext>
            </a:extLst>
          </p:cNvPr>
          <p:cNvPicPr>
            <a:picLocks noChangeAspect="1"/>
          </p:cNvPicPr>
          <p:nvPr/>
        </p:nvPicPr>
        <p:blipFill>
          <a:blip r:embed="rId4"/>
          <a:stretch>
            <a:fillRect/>
          </a:stretch>
        </p:blipFill>
        <p:spPr>
          <a:xfrm>
            <a:off x="7098067" y="2855621"/>
            <a:ext cx="2775400" cy="1154057"/>
          </a:xfrm>
          <a:prstGeom prst="rect">
            <a:avLst/>
          </a:prstGeom>
        </p:spPr>
      </p:pic>
      <p:pic>
        <p:nvPicPr>
          <p:cNvPr id="1027" name="Picture 1026">
            <a:extLst>
              <a:ext uri="{FF2B5EF4-FFF2-40B4-BE49-F238E27FC236}">
                <a16:creationId xmlns:a16="http://schemas.microsoft.com/office/drawing/2014/main" id="{7D0224F4-E5DC-42D9-2960-138DC93A7D6D}"/>
              </a:ext>
            </a:extLst>
          </p:cNvPr>
          <p:cNvPicPr>
            <a:picLocks noChangeAspect="1"/>
          </p:cNvPicPr>
          <p:nvPr/>
        </p:nvPicPr>
        <p:blipFill>
          <a:blip r:embed="rId5"/>
          <a:stretch>
            <a:fillRect/>
          </a:stretch>
        </p:blipFill>
        <p:spPr>
          <a:xfrm>
            <a:off x="7628065" y="4210082"/>
            <a:ext cx="1937177" cy="987747"/>
          </a:xfrm>
          <a:prstGeom prst="rect">
            <a:avLst/>
          </a:prstGeom>
        </p:spPr>
      </p:pic>
      <p:pic>
        <p:nvPicPr>
          <p:cNvPr id="1029" name="Picture 1028">
            <a:extLst>
              <a:ext uri="{FF2B5EF4-FFF2-40B4-BE49-F238E27FC236}">
                <a16:creationId xmlns:a16="http://schemas.microsoft.com/office/drawing/2014/main" id="{54DE01F3-95E1-2CF1-D7B3-12F9B8364BC0}"/>
              </a:ext>
            </a:extLst>
          </p:cNvPr>
          <p:cNvPicPr>
            <a:picLocks noChangeAspect="1"/>
          </p:cNvPicPr>
          <p:nvPr/>
        </p:nvPicPr>
        <p:blipFill>
          <a:blip r:embed="rId6"/>
          <a:stretch>
            <a:fillRect/>
          </a:stretch>
        </p:blipFill>
        <p:spPr>
          <a:xfrm>
            <a:off x="8702676" y="4218586"/>
            <a:ext cx="257176" cy="119754"/>
          </a:xfrm>
          <a:prstGeom prst="rect">
            <a:avLst/>
          </a:prstGeom>
        </p:spPr>
      </p:pic>
      <p:pic>
        <p:nvPicPr>
          <p:cNvPr id="1036" name="Picture 1035">
            <a:extLst>
              <a:ext uri="{FF2B5EF4-FFF2-40B4-BE49-F238E27FC236}">
                <a16:creationId xmlns:a16="http://schemas.microsoft.com/office/drawing/2014/main" id="{EC3BD7CA-FE1A-EAD3-2EE4-C0AFF64F6178}"/>
              </a:ext>
            </a:extLst>
          </p:cNvPr>
          <p:cNvPicPr>
            <a:picLocks noChangeAspect="1"/>
          </p:cNvPicPr>
          <p:nvPr/>
        </p:nvPicPr>
        <p:blipFill>
          <a:blip r:embed="rId7"/>
          <a:stretch>
            <a:fillRect/>
          </a:stretch>
        </p:blipFill>
        <p:spPr>
          <a:xfrm>
            <a:off x="5471560" y="5808133"/>
            <a:ext cx="1245306" cy="1001659"/>
          </a:xfrm>
          <a:prstGeom prst="rect">
            <a:avLst/>
          </a:prstGeom>
        </p:spPr>
      </p:pic>
      <p:pic>
        <p:nvPicPr>
          <p:cNvPr id="1038" name="Picture 1037">
            <a:extLst>
              <a:ext uri="{FF2B5EF4-FFF2-40B4-BE49-F238E27FC236}">
                <a16:creationId xmlns:a16="http://schemas.microsoft.com/office/drawing/2014/main" id="{356A0235-4854-4858-F495-5B61ABFA310B}"/>
              </a:ext>
            </a:extLst>
          </p:cNvPr>
          <p:cNvPicPr>
            <a:picLocks noChangeAspect="1"/>
          </p:cNvPicPr>
          <p:nvPr/>
        </p:nvPicPr>
        <p:blipFill>
          <a:blip r:embed="rId8"/>
          <a:stretch>
            <a:fillRect/>
          </a:stretch>
        </p:blipFill>
        <p:spPr>
          <a:xfrm>
            <a:off x="3819532" y="5928015"/>
            <a:ext cx="887221" cy="761786"/>
          </a:xfrm>
          <a:prstGeom prst="rect">
            <a:avLst/>
          </a:prstGeom>
        </p:spPr>
      </p:pic>
      <p:pic>
        <p:nvPicPr>
          <p:cNvPr id="1040" name="Picture 1039">
            <a:extLst>
              <a:ext uri="{FF2B5EF4-FFF2-40B4-BE49-F238E27FC236}">
                <a16:creationId xmlns:a16="http://schemas.microsoft.com/office/drawing/2014/main" id="{06FEB605-10D5-386B-4F62-3AE83BEDBEE6}"/>
              </a:ext>
            </a:extLst>
          </p:cNvPr>
          <p:cNvPicPr>
            <a:picLocks noChangeAspect="1"/>
          </p:cNvPicPr>
          <p:nvPr/>
        </p:nvPicPr>
        <p:blipFill>
          <a:blip r:embed="rId9"/>
          <a:stretch>
            <a:fillRect/>
          </a:stretch>
        </p:blipFill>
        <p:spPr>
          <a:xfrm>
            <a:off x="7481673" y="6180357"/>
            <a:ext cx="1838582" cy="257211"/>
          </a:xfrm>
          <a:prstGeom prst="rect">
            <a:avLst/>
          </a:prstGeom>
        </p:spPr>
      </p:pic>
      <p:cxnSp>
        <p:nvCxnSpPr>
          <p:cNvPr id="1042" name="Straight Arrow Connector 1041">
            <a:extLst>
              <a:ext uri="{FF2B5EF4-FFF2-40B4-BE49-F238E27FC236}">
                <a16:creationId xmlns:a16="http://schemas.microsoft.com/office/drawing/2014/main" id="{B2AACBC1-84C9-6691-1D1C-D202B53B58F0}"/>
              </a:ext>
            </a:extLst>
          </p:cNvPr>
          <p:cNvCxnSpPr>
            <a:stCxn id="1038" idx="3"/>
            <a:endCxn id="1036" idx="1"/>
          </p:cNvCxnSpPr>
          <p:nvPr/>
        </p:nvCxnSpPr>
        <p:spPr>
          <a:xfrm>
            <a:off x="4706753" y="6308908"/>
            <a:ext cx="764807" cy="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45" name="Straight Arrow Connector 1044">
            <a:extLst>
              <a:ext uri="{FF2B5EF4-FFF2-40B4-BE49-F238E27FC236}">
                <a16:creationId xmlns:a16="http://schemas.microsoft.com/office/drawing/2014/main" id="{89611F05-ECE7-E1C5-1959-FBEB7954ADA8}"/>
              </a:ext>
            </a:extLst>
          </p:cNvPr>
          <p:cNvCxnSpPr>
            <a:stCxn id="1040" idx="1"/>
            <a:endCxn id="1036" idx="3"/>
          </p:cNvCxnSpPr>
          <p:nvPr/>
        </p:nvCxnSpPr>
        <p:spPr>
          <a:xfrm flipH="1">
            <a:off x="6716866" y="6308963"/>
            <a:ext cx="76480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68844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C21BD-3B5D-662F-796A-051E6211F08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84626E6-746B-9C20-E9A9-FBECF990C7D0}"/>
              </a:ext>
            </a:extLst>
          </p:cNvPr>
          <p:cNvSpPr/>
          <p:nvPr/>
        </p:nvSpPr>
        <p:spPr>
          <a:xfrm>
            <a:off x="0" y="0"/>
            <a:ext cx="12192000" cy="85344"/>
          </a:xfrm>
          <a:prstGeom prst="rect">
            <a:avLst/>
          </a:prstGeom>
          <a:solidFill>
            <a:srgbClr val="1F3864"/>
          </a:solidFill>
          <a:ln w="12700">
            <a:solidFill>
              <a:srgbClr val="1F3864"/>
            </a:solidFill>
            <a:prstDash val="solid"/>
          </a:ln>
        </p:spPr>
      </p:sp>
      <p:sp>
        <p:nvSpPr>
          <p:cNvPr id="3" name="Text 1">
            <a:extLst>
              <a:ext uri="{FF2B5EF4-FFF2-40B4-BE49-F238E27FC236}">
                <a16:creationId xmlns:a16="http://schemas.microsoft.com/office/drawing/2014/main" id="{8ED252DB-0179-716C-3EB9-3DFDE9F2EE86}"/>
              </a:ext>
            </a:extLst>
          </p:cNvPr>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Context — The Bridge Between Images and Text</a:t>
            </a:r>
            <a:endParaRPr lang="en-US" sz="3467" dirty="0"/>
          </a:p>
        </p:txBody>
      </p:sp>
      <p:sp>
        <p:nvSpPr>
          <p:cNvPr id="4" name="Shape 2">
            <a:extLst>
              <a:ext uri="{FF2B5EF4-FFF2-40B4-BE49-F238E27FC236}">
                <a16:creationId xmlns:a16="http://schemas.microsoft.com/office/drawing/2014/main" id="{58FD1C2D-2DB1-761A-D459-0B94324AB888}"/>
              </a:ext>
            </a:extLst>
          </p:cNvPr>
          <p:cNvSpPr/>
          <p:nvPr/>
        </p:nvSpPr>
        <p:spPr>
          <a:xfrm>
            <a:off x="426725" y="989477"/>
            <a:ext cx="11450205" cy="633984"/>
          </a:xfrm>
          <a:prstGeom prst="rect">
            <a:avLst/>
          </a:prstGeom>
          <a:solidFill>
            <a:srgbClr val="D6E4F7"/>
          </a:solidFill>
          <a:ln w="12700">
            <a:solidFill>
              <a:srgbClr val="1F5BAD"/>
            </a:solidFill>
            <a:prstDash val="solid"/>
          </a:ln>
        </p:spPr>
      </p:sp>
      <p:sp>
        <p:nvSpPr>
          <p:cNvPr id="5" name="Text 3">
            <a:extLst>
              <a:ext uri="{FF2B5EF4-FFF2-40B4-BE49-F238E27FC236}">
                <a16:creationId xmlns:a16="http://schemas.microsoft.com/office/drawing/2014/main" id="{88E30258-E18C-8B92-7285-0D19FD960497}"/>
              </a:ext>
            </a:extLst>
          </p:cNvPr>
          <p:cNvSpPr/>
          <p:nvPr/>
        </p:nvSpPr>
        <p:spPr>
          <a:xfrm>
            <a:off x="597414" y="989477"/>
            <a:ext cx="10997184" cy="633984"/>
          </a:xfrm>
          <a:prstGeom prst="rect">
            <a:avLst/>
          </a:prstGeom>
          <a:noFill/>
          <a:ln/>
        </p:spPr>
        <p:txBody>
          <a:bodyPr wrap="square" rtlCol="0" anchor="ctr"/>
          <a:lstStyle/>
          <a:p>
            <a:r>
              <a:rPr lang="en-US" sz="1600" b="1" dirty="0">
                <a:solidFill>
                  <a:srgbClr val="1F3864"/>
                </a:solidFill>
                <a:latin typeface="Calibri" pitchFamily="34" charset="0"/>
                <a:ea typeface="Calibri" pitchFamily="34" charset="-122"/>
                <a:cs typeface="Calibri" pitchFamily="34" charset="-120"/>
              </a:rPr>
              <a:t>CLIP</a:t>
            </a:r>
            <a:r>
              <a:rPr lang="en-US" sz="1600" dirty="0">
                <a:solidFill>
                  <a:srgbClr val="1F3864"/>
                </a:solidFill>
                <a:latin typeface="Calibri" pitchFamily="34" charset="0"/>
                <a:ea typeface="Calibri" pitchFamily="34" charset="-122"/>
                <a:cs typeface="Calibri" pitchFamily="34" charset="-120"/>
              </a:rPr>
              <a:t> = Contrastive Language-Image Pretraining </a:t>
            </a:r>
          </a:p>
          <a:p>
            <a:r>
              <a:rPr lang="en-US" sz="1600" dirty="0">
                <a:solidFill>
                  <a:srgbClr val="1F3864"/>
                </a:solidFill>
                <a:latin typeface="Calibri" pitchFamily="34" charset="0"/>
                <a:ea typeface="Calibri" pitchFamily="34" charset="-122"/>
                <a:cs typeface="Calibri" pitchFamily="34" charset="-120"/>
              </a:rPr>
              <a:t>It answers one question: </a:t>
            </a:r>
            <a:r>
              <a:rPr lang="en-US" sz="1600" i="1" dirty="0">
                <a:solidFill>
                  <a:srgbClr val="1F3864"/>
                </a:solidFill>
                <a:latin typeface="Calibri" pitchFamily="34" charset="0"/>
                <a:ea typeface="Calibri" pitchFamily="34" charset="-122"/>
                <a:cs typeface="Calibri" pitchFamily="34" charset="-120"/>
              </a:rPr>
              <a:t>does this image match this text?</a:t>
            </a:r>
            <a:endParaRPr lang="en-US" sz="1600" i="1" dirty="0"/>
          </a:p>
        </p:txBody>
      </p:sp>
      <p:sp>
        <p:nvSpPr>
          <p:cNvPr id="6" name="Shape 4">
            <a:extLst>
              <a:ext uri="{FF2B5EF4-FFF2-40B4-BE49-F238E27FC236}">
                <a16:creationId xmlns:a16="http://schemas.microsoft.com/office/drawing/2014/main" id="{1F24BD72-25C4-8BAF-42FB-2D98D965C2AA}"/>
              </a:ext>
            </a:extLst>
          </p:cNvPr>
          <p:cNvSpPr/>
          <p:nvPr/>
        </p:nvSpPr>
        <p:spPr>
          <a:xfrm>
            <a:off x="426727" y="2016739"/>
            <a:ext cx="11450206" cy="487680"/>
          </a:xfrm>
          <a:prstGeom prst="rect">
            <a:avLst/>
          </a:prstGeom>
          <a:solidFill>
            <a:srgbClr val="1F5BAD"/>
          </a:solidFill>
          <a:ln w="12700">
            <a:solidFill>
              <a:srgbClr val="1F5BAD"/>
            </a:solidFill>
            <a:prstDash val="solid"/>
          </a:ln>
        </p:spPr>
      </p:sp>
      <p:sp>
        <p:nvSpPr>
          <p:cNvPr id="7" name="Text 5">
            <a:extLst>
              <a:ext uri="{FF2B5EF4-FFF2-40B4-BE49-F238E27FC236}">
                <a16:creationId xmlns:a16="http://schemas.microsoft.com/office/drawing/2014/main" id="{3635AD4F-8D8D-A3DA-BBA6-4071122F0019}"/>
              </a:ext>
            </a:extLst>
          </p:cNvPr>
          <p:cNvSpPr/>
          <p:nvPr/>
        </p:nvSpPr>
        <p:spPr>
          <a:xfrm>
            <a:off x="426727" y="2016739"/>
            <a:ext cx="11450206" cy="487680"/>
          </a:xfrm>
          <a:prstGeom prst="rect">
            <a:avLst/>
          </a:prstGeom>
          <a:noFill/>
          <a:ln/>
        </p:spPr>
        <p:txBody>
          <a:bodyPr wrap="square" rtlCol="0" anchor="ctr"/>
          <a:lstStyle/>
          <a:p>
            <a:pPr algn="ctr"/>
            <a:endParaRPr lang="en-US" sz="1733" dirty="0"/>
          </a:p>
        </p:txBody>
      </p:sp>
      <p:sp>
        <p:nvSpPr>
          <p:cNvPr id="9" name="Text 7">
            <a:extLst>
              <a:ext uri="{FF2B5EF4-FFF2-40B4-BE49-F238E27FC236}">
                <a16:creationId xmlns:a16="http://schemas.microsoft.com/office/drawing/2014/main" id="{49012EC3-0007-555A-CC8D-2D286B97F82C}"/>
              </a:ext>
            </a:extLst>
          </p:cNvPr>
          <p:cNvSpPr/>
          <p:nvPr/>
        </p:nvSpPr>
        <p:spPr>
          <a:xfrm>
            <a:off x="426720" y="2655856"/>
            <a:ext cx="11354602" cy="658368"/>
          </a:xfrm>
          <a:prstGeom prst="rect">
            <a:avLst/>
          </a:prstGeom>
          <a:noFill/>
          <a:ln/>
        </p:spPr>
        <p:txBody>
          <a:bodyPr wrap="square" rtlCol="0" anchor="ctr"/>
          <a:lstStyle/>
          <a:p>
            <a:r>
              <a:rPr lang="en-US" dirty="0">
                <a:solidFill>
                  <a:srgbClr val="595959"/>
                </a:solidFill>
                <a:latin typeface="Calibri" pitchFamily="34" charset="0"/>
                <a:ea typeface="Calibri" pitchFamily="34" charset="-122"/>
                <a:cs typeface="Calibri" pitchFamily="34" charset="-120"/>
              </a:rPr>
              <a:t>▸ Project both images and text into the same mathematical space. Then train the model so that matching pairs </a:t>
            </a:r>
            <a:br>
              <a:rPr lang="en-US" dirty="0">
                <a:solidFill>
                  <a:srgbClr val="595959"/>
                </a:solidFill>
                <a:latin typeface="Calibri" pitchFamily="34" charset="0"/>
                <a:ea typeface="Calibri" pitchFamily="34" charset="-122"/>
                <a:cs typeface="Calibri" pitchFamily="34" charset="-120"/>
              </a:rPr>
            </a:br>
            <a:r>
              <a:rPr lang="en-US" dirty="0">
                <a:solidFill>
                  <a:srgbClr val="595959"/>
                </a:solidFill>
                <a:latin typeface="Calibri" pitchFamily="34" charset="0"/>
                <a:ea typeface="Calibri" pitchFamily="34" charset="-122"/>
                <a:cs typeface="Calibri" pitchFamily="34" charset="-120"/>
              </a:rPr>
              <a:t>(image + its caption) land close together and non-matching pairs (image + a different caption) are pushed far apart. </a:t>
            </a:r>
            <a:endParaRPr lang="en-US" dirty="0"/>
          </a:p>
        </p:txBody>
      </p:sp>
      <p:sp>
        <p:nvSpPr>
          <p:cNvPr id="28" name="Shape 0">
            <a:extLst>
              <a:ext uri="{FF2B5EF4-FFF2-40B4-BE49-F238E27FC236}">
                <a16:creationId xmlns:a16="http://schemas.microsoft.com/office/drawing/2014/main" id="{6BBC479B-2507-D5E4-125E-C1CCE4A886AE}"/>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1026" name="Picture 2" descr="OpenAI Logo, symbol, meaning, history, PNG, brand">
            <a:extLst>
              <a:ext uri="{FF2B5EF4-FFF2-40B4-BE49-F238E27FC236}">
                <a16:creationId xmlns:a16="http://schemas.microsoft.com/office/drawing/2014/main" id="{B9708B66-F176-0B2C-7EE7-20AE37B63C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72934" y="989477"/>
            <a:ext cx="1170432" cy="658368"/>
          </a:xfrm>
          <a:prstGeom prst="rect">
            <a:avLst/>
          </a:prstGeom>
          <a:noFill/>
          <a:extLst>
            <a:ext uri="{909E8E84-426E-40DD-AFC4-6F175D3DCCD1}">
              <a14:hiddenFill xmlns:a14="http://schemas.microsoft.com/office/drawing/2010/main">
                <a:solidFill>
                  <a:srgbClr val="FFFFFF"/>
                </a:solidFill>
              </a14:hiddenFill>
            </a:ext>
          </a:extLst>
        </p:spPr>
      </p:pic>
      <p:sp>
        <p:nvSpPr>
          <p:cNvPr id="8" name="Shape 14">
            <a:extLst>
              <a:ext uri="{FF2B5EF4-FFF2-40B4-BE49-F238E27FC236}">
                <a16:creationId xmlns:a16="http://schemas.microsoft.com/office/drawing/2014/main" id="{B63443B2-DCC8-41E7-2D07-826FA314E4E6}"/>
              </a:ext>
            </a:extLst>
          </p:cNvPr>
          <p:cNvSpPr/>
          <p:nvPr/>
        </p:nvSpPr>
        <p:spPr>
          <a:xfrm>
            <a:off x="426724" y="2023350"/>
            <a:ext cx="11450205" cy="481069"/>
          </a:xfrm>
          <a:prstGeom prst="rect">
            <a:avLst/>
          </a:prstGeom>
          <a:solidFill>
            <a:srgbClr val="1B6B60"/>
          </a:solidFill>
          <a:ln w="12700">
            <a:solidFill>
              <a:srgbClr val="1B6B60"/>
            </a:solidFill>
            <a:prstDash val="solid"/>
          </a:ln>
        </p:spPr>
      </p:sp>
      <p:sp>
        <p:nvSpPr>
          <p:cNvPr id="12" name="Text 5">
            <a:extLst>
              <a:ext uri="{FF2B5EF4-FFF2-40B4-BE49-F238E27FC236}">
                <a16:creationId xmlns:a16="http://schemas.microsoft.com/office/drawing/2014/main" id="{EFE7FBAE-148D-A903-739D-7815A712D47F}"/>
              </a:ext>
            </a:extLst>
          </p:cNvPr>
          <p:cNvSpPr/>
          <p:nvPr/>
        </p:nvSpPr>
        <p:spPr>
          <a:xfrm>
            <a:off x="426720" y="2005189"/>
            <a:ext cx="11450206" cy="487680"/>
          </a:xfrm>
          <a:prstGeom prst="rect">
            <a:avLst/>
          </a:prstGeom>
          <a:noFill/>
          <a:ln/>
        </p:spPr>
        <p:txBody>
          <a:bodyPr wrap="square" rtlCol="0" anchor="ctr"/>
          <a:lstStyle/>
          <a:p>
            <a:pPr algn="ctr"/>
            <a:r>
              <a:rPr lang="en-US" sz="1733" b="1" dirty="0">
                <a:solidFill>
                  <a:srgbClr val="FFFFFF"/>
                </a:solidFill>
                <a:latin typeface="Calibri" pitchFamily="34" charset="0"/>
                <a:ea typeface="Calibri" pitchFamily="34" charset="-122"/>
                <a:cs typeface="Calibri" pitchFamily="34" charset="-120"/>
              </a:rPr>
              <a:t>The solution</a:t>
            </a:r>
            <a:endParaRPr lang="en-US" sz="1733" dirty="0"/>
          </a:p>
        </p:txBody>
      </p:sp>
      <p:pic>
        <p:nvPicPr>
          <p:cNvPr id="2050" name="Picture 2" descr="an example of CLIP after it's trained, with 2 dimensional embeddings for demonstrative purposes. Notice how, once the encoders are trained, positive pairs end up close together">
            <a:extLst>
              <a:ext uri="{FF2B5EF4-FFF2-40B4-BE49-F238E27FC236}">
                <a16:creationId xmlns:a16="http://schemas.microsoft.com/office/drawing/2014/main" id="{96CDE667-EB00-8C02-F0E4-E3D6D8C676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0" y="3314224"/>
            <a:ext cx="9827415" cy="3543776"/>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77852EAC-F874-A96A-7184-716051B6D2E4}"/>
              </a:ext>
            </a:extLst>
          </p:cNvPr>
          <p:cNvSpPr txBox="1"/>
          <p:nvPr/>
        </p:nvSpPr>
        <p:spPr>
          <a:xfrm>
            <a:off x="8932664" y="6181116"/>
            <a:ext cx="3382627" cy="646331"/>
          </a:xfrm>
          <a:prstGeom prst="rect">
            <a:avLst/>
          </a:prstGeom>
          <a:noFill/>
        </p:spPr>
        <p:txBody>
          <a:bodyPr wrap="square" rtlCol="0">
            <a:spAutoFit/>
          </a:bodyPr>
          <a:lstStyle/>
          <a:p>
            <a:r>
              <a:rPr lang="en-US" b="1" dirty="0"/>
              <a:t>NOTE</a:t>
            </a:r>
            <a:r>
              <a:rPr lang="en-US" dirty="0"/>
              <a:t>: 2D view only — real CLIP embeddings are usually 512D</a:t>
            </a:r>
            <a:endParaRPr lang="ro-RO" dirty="0"/>
          </a:p>
        </p:txBody>
      </p:sp>
    </p:spTree>
    <p:extLst>
      <p:ext uri="{BB962C8B-B14F-4D97-AF65-F5344CB8AC3E}">
        <p14:creationId xmlns:p14="http://schemas.microsoft.com/office/powerpoint/2010/main" val="3057889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8ABE9-17E0-0357-1350-0A98D8A24ED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5E7E5A5-C88B-EB10-12E0-25FE4356F4B5}"/>
              </a:ext>
            </a:extLst>
          </p:cNvPr>
          <p:cNvSpPr/>
          <p:nvPr/>
        </p:nvSpPr>
        <p:spPr>
          <a:xfrm>
            <a:off x="0" y="0"/>
            <a:ext cx="12192000" cy="85344"/>
          </a:xfrm>
          <a:prstGeom prst="rect">
            <a:avLst/>
          </a:prstGeom>
          <a:solidFill>
            <a:srgbClr val="1F3864"/>
          </a:solidFill>
          <a:ln w="12700">
            <a:solidFill>
              <a:srgbClr val="1F3864"/>
            </a:solidFill>
            <a:prstDash val="solid"/>
          </a:ln>
        </p:spPr>
      </p:sp>
      <p:sp>
        <p:nvSpPr>
          <p:cNvPr id="3" name="Text 1">
            <a:extLst>
              <a:ext uri="{FF2B5EF4-FFF2-40B4-BE49-F238E27FC236}">
                <a16:creationId xmlns:a16="http://schemas.microsoft.com/office/drawing/2014/main" id="{251DAAB8-F399-1BF3-5A96-ED9011F6F2C4}"/>
              </a:ext>
            </a:extLst>
          </p:cNvPr>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Context — The Bridge Between Images and Text</a:t>
            </a:r>
            <a:endParaRPr lang="en-US" sz="3467" dirty="0"/>
          </a:p>
        </p:txBody>
      </p:sp>
      <p:sp>
        <p:nvSpPr>
          <p:cNvPr id="4" name="Shape 2">
            <a:extLst>
              <a:ext uri="{FF2B5EF4-FFF2-40B4-BE49-F238E27FC236}">
                <a16:creationId xmlns:a16="http://schemas.microsoft.com/office/drawing/2014/main" id="{80576CED-A85B-911E-EF78-E960D22663E9}"/>
              </a:ext>
            </a:extLst>
          </p:cNvPr>
          <p:cNvSpPr/>
          <p:nvPr/>
        </p:nvSpPr>
        <p:spPr>
          <a:xfrm>
            <a:off x="426725" y="989477"/>
            <a:ext cx="11450205" cy="633984"/>
          </a:xfrm>
          <a:prstGeom prst="rect">
            <a:avLst/>
          </a:prstGeom>
          <a:solidFill>
            <a:srgbClr val="D6E4F7"/>
          </a:solidFill>
          <a:ln w="12700">
            <a:solidFill>
              <a:srgbClr val="1F5BAD"/>
            </a:solidFill>
            <a:prstDash val="solid"/>
          </a:ln>
        </p:spPr>
      </p:sp>
      <p:sp>
        <p:nvSpPr>
          <p:cNvPr id="5" name="Text 3">
            <a:extLst>
              <a:ext uri="{FF2B5EF4-FFF2-40B4-BE49-F238E27FC236}">
                <a16:creationId xmlns:a16="http://schemas.microsoft.com/office/drawing/2014/main" id="{697D6D5F-F989-5E40-86B3-801F082758CC}"/>
              </a:ext>
            </a:extLst>
          </p:cNvPr>
          <p:cNvSpPr/>
          <p:nvPr/>
        </p:nvSpPr>
        <p:spPr>
          <a:xfrm>
            <a:off x="597414" y="989477"/>
            <a:ext cx="10997184" cy="633984"/>
          </a:xfrm>
          <a:prstGeom prst="rect">
            <a:avLst/>
          </a:prstGeom>
          <a:noFill/>
          <a:ln/>
        </p:spPr>
        <p:txBody>
          <a:bodyPr wrap="square" rtlCol="0" anchor="ctr"/>
          <a:lstStyle/>
          <a:p>
            <a:r>
              <a:rPr lang="en-US" sz="2800" b="1" dirty="0">
                <a:solidFill>
                  <a:srgbClr val="1F3864"/>
                </a:solidFill>
                <a:latin typeface="Calibri" pitchFamily="34" charset="0"/>
                <a:ea typeface="Calibri" pitchFamily="34" charset="-122"/>
                <a:cs typeface="Calibri" pitchFamily="34" charset="-120"/>
              </a:rPr>
              <a:t>CLIP</a:t>
            </a:r>
            <a:r>
              <a:rPr lang="en-US" sz="2800" dirty="0">
                <a:solidFill>
                  <a:srgbClr val="1F3864"/>
                </a:solidFill>
                <a:latin typeface="Calibri" pitchFamily="34" charset="0"/>
                <a:ea typeface="Calibri" pitchFamily="34" charset="-122"/>
                <a:cs typeface="Calibri" pitchFamily="34" charset="-120"/>
              </a:rPr>
              <a:t> = Contrastive Language-Image Pretraining </a:t>
            </a:r>
          </a:p>
        </p:txBody>
      </p:sp>
      <p:sp>
        <p:nvSpPr>
          <p:cNvPr id="28" name="Shape 0">
            <a:extLst>
              <a:ext uri="{FF2B5EF4-FFF2-40B4-BE49-F238E27FC236}">
                <a16:creationId xmlns:a16="http://schemas.microsoft.com/office/drawing/2014/main" id="{47DA5B77-E586-44AE-36D8-F6EBA68C85E4}"/>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1026" name="Picture 2" descr="OpenAI Logo, symbol, meaning, history, PNG, brand">
            <a:extLst>
              <a:ext uri="{FF2B5EF4-FFF2-40B4-BE49-F238E27FC236}">
                <a16:creationId xmlns:a16="http://schemas.microsoft.com/office/drawing/2014/main" id="{F7D8D069-D146-272E-7EB2-676DE145A6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72934" y="989477"/>
            <a:ext cx="1170432" cy="658368"/>
          </a:xfrm>
          <a:prstGeom prst="rect">
            <a:avLst/>
          </a:prstGeom>
          <a:noFill/>
          <a:extLst>
            <a:ext uri="{909E8E84-426E-40DD-AFC4-6F175D3DCCD1}">
              <a14:hiddenFill xmlns:a14="http://schemas.microsoft.com/office/drawing/2010/main">
                <a:solidFill>
                  <a:srgbClr val="FFFFFF"/>
                </a:solidFill>
              </a14:hiddenFill>
            </a:ext>
          </a:extLst>
        </p:spPr>
      </p:pic>
      <p:sp>
        <p:nvSpPr>
          <p:cNvPr id="11" name="Text 7">
            <a:extLst>
              <a:ext uri="{FF2B5EF4-FFF2-40B4-BE49-F238E27FC236}">
                <a16:creationId xmlns:a16="http://schemas.microsoft.com/office/drawing/2014/main" id="{DE8AEF1C-F9FF-29C9-6C74-5135D08FDF8B}"/>
              </a:ext>
            </a:extLst>
          </p:cNvPr>
          <p:cNvSpPr/>
          <p:nvPr/>
        </p:nvSpPr>
        <p:spPr>
          <a:xfrm>
            <a:off x="426723" y="4154141"/>
            <a:ext cx="2171695" cy="658368"/>
          </a:xfrm>
          <a:prstGeom prst="rect">
            <a:avLst/>
          </a:prstGeom>
          <a:noFill/>
          <a:ln/>
        </p:spPr>
        <p:txBody>
          <a:bodyPr wrap="square" rtlCol="0" anchor="ctr"/>
          <a:lstStyle/>
          <a:p>
            <a:r>
              <a:rPr lang="en-US" dirty="0">
                <a:solidFill>
                  <a:srgbClr val="595959"/>
                </a:solidFill>
                <a:latin typeface="Calibri" pitchFamily="34" charset="0"/>
                <a:ea typeface="Calibri" pitchFamily="34" charset="-122"/>
                <a:cs typeface="Calibri" pitchFamily="34" charset="-120"/>
              </a:rPr>
              <a:t>▸  Language-Image:</a:t>
            </a:r>
            <a:endParaRPr lang="en-US" dirty="0"/>
          </a:p>
        </p:txBody>
      </p:sp>
      <p:sp>
        <p:nvSpPr>
          <p:cNvPr id="13" name="Text 7">
            <a:extLst>
              <a:ext uri="{FF2B5EF4-FFF2-40B4-BE49-F238E27FC236}">
                <a16:creationId xmlns:a16="http://schemas.microsoft.com/office/drawing/2014/main" id="{94B4DB2C-A672-8253-DAE3-D48B50629DDF}"/>
              </a:ext>
            </a:extLst>
          </p:cNvPr>
          <p:cNvSpPr/>
          <p:nvPr/>
        </p:nvSpPr>
        <p:spPr>
          <a:xfrm>
            <a:off x="420612" y="5620332"/>
            <a:ext cx="1669206" cy="658368"/>
          </a:xfrm>
          <a:prstGeom prst="rect">
            <a:avLst/>
          </a:prstGeom>
          <a:noFill/>
          <a:ln/>
        </p:spPr>
        <p:txBody>
          <a:bodyPr wrap="square" rtlCol="0" anchor="ctr"/>
          <a:lstStyle/>
          <a:p>
            <a:r>
              <a:rPr lang="en-US" dirty="0">
                <a:solidFill>
                  <a:srgbClr val="595959"/>
                </a:solidFill>
                <a:latin typeface="Calibri" pitchFamily="34" charset="0"/>
                <a:ea typeface="Calibri" pitchFamily="34" charset="-122"/>
                <a:cs typeface="Calibri" pitchFamily="34" charset="-120"/>
              </a:rPr>
              <a:t>▸  Pretraining</a:t>
            </a:r>
            <a:endParaRPr lang="en-US" dirty="0"/>
          </a:p>
        </p:txBody>
      </p:sp>
      <p:pic>
        <p:nvPicPr>
          <p:cNvPr id="15" name="Picture 2" descr="an example of CLIP after it's trained, with 2 dimensional embeddings for demonstrative purposes. Notice how, once the encoders are trained, positive pairs end up close together">
            <a:extLst>
              <a:ext uri="{FF2B5EF4-FFF2-40B4-BE49-F238E27FC236}">
                <a16:creationId xmlns:a16="http://schemas.microsoft.com/office/drawing/2014/main" id="{D6399D27-FC5B-CCEB-D9F6-7ED319690A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3317" y="1653850"/>
            <a:ext cx="5654612" cy="2039059"/>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a:extLst>
              <a:ext uri="{FF2B5EF4-FFF2-40B4-BE49-F238E27FC236}">
                <a16:creationId xmlns:a16="http://schemas.microsoft.com/office/drawing/2014/main" id="{73E5E3DF-0177-C740-5443-E5DFD967968D}"/>
              </a:ext>
            </a:extLst>
          </p:cNvPr>
          <p:cNvGrpSpPr/>
          <p:nvPr/>
        </p:nvGrpSpPr>
        <p:grpSpPr>
          <a:xfrm>
            <a:off x="945255" y="1857991"/>
            <a:ext cx="1356840" cy="1917000"/>
            <a:chOff x="2383637" y="1908384"/>
            <a:chExt cx="1356840" cy="1917000"/>
          </a:xfrm>
        </p:grpSpPr>
        <mc:AlternateContent xmlns:mc="http://schemas.openxmlformats.org/markup-compatibility/2006" xmlns:p14="http://schemas.microsoft.com/office/powerpoint/2010/main">
          <mc:Choice Requires="p14">
            <p:contentPart p14:bwMode="auto" r:id="rId5">
              <p14:nvContentPartPr>
                <p14:cNvPr id="16" name="Ink 15">
                  <a:extLst>
                    <a:ext uri="{FF2B5EF4-FFF2-40B4-BE49-F238E27FC236}">
                      <a16:creationId xmlns:a16="http://schemas.microsoft.com/office/drawing/2014/main" id="{23219D06-5504-B5B1-EF13-DA67E20E4BED}"/>
                    </a:ext>
                  </a:extLst>
                </p14:cNvPr>
                <p14:cNvContentPartPr/>
                <p14:nvPr/>
              </p14:nvContentPartPr>
              <p14:xfrm>
                <a:off x="2383637" y="1931424"/>
                <a:ext cx="514800" cy="11880"/>
              </p14:xfrm>
            </p:contentPart>
          </mc:Choice>
          <mc:Fallback xmlns="">
            <p:pic>
              <p:nvPicPr>
                <p:cNvPr id="16" name="Ink 15">
                  <a:extLst>
                    <a:ext uri="{FF2B5EF4-FFF2-40B4-BE49-F238E27FC236}">
                      <a16:creationId xmlns:a16="http://schemas.microsoft.com/office/drawing/2014/main" id="{23219D06-5504-B5B1-EF13-DA67E20E4BED}"/>
                    </a:ext>
                  </a:extLst>
                </p:cNvPr>
                <p:cNvPicPr/>
                <p:nvPr/>
              </p:nvPicPr>
              <p:blipFill>
                <a:blip r:embed="rId6"/>
                <a:stretch>
                  <a:fillRect/>
                </a:stretch>
              </p:blipFill>
              <p:spPr>
                <a:xfrm>
                  <a:off x="2320637" y="1868424"/>
                  <a:ext cx="64044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7" name="Ink 16">
                  <a:extLst>
                    <a:ext uri="{FF2B5EF4-FFF2-40B4-BE49-F238E27FC236}">
                      <a16:creationId xmlns:a16="http://schemas.microsoft.com/office/drawing/2014/main" id="{0F767A1E-673B-195C-66DB-F9C3A63B4F6F}"/>
                    </a:ext>
                  </a:extLst>
                </p14:cNvPr>
                <p14:cNvContentPartPr/>
                <p14:nvPr/>
              </p14:nvContentPartPr>
              <p14:xfrm>
                <a:off x="2465717" y="1920984"/>
                <a:ext cx="455760" cy="592920"/>
              </p14:xfrm>
            </p:contentPart>
          </mc:Choice>
          <mc:Fallback xmlns="">
            <p:pic>
              <p:nvPicPr>
                <p:cNvPr id="17" name="Ink 16">
                  <a:extLst>
                    <a:ext uri="{FF2B5EF4-FFF2-40B4-BE49-F238E27FC236}">
                      <a16:creationId xmlns:a16="http://schemas.microsoft.com/office/drawing/2014/main" id="{0F767A1E-673B-195C-66DB-F9C3A63B4F6F}"/>
                    </a:ext>
                  </a:extLst>
                </p:cNvPr>
                <p:cNvPicPr/>
                <p:nvPr/>
              </p:nvPicPr>
              <p:blipFill>
                <a:blip r:embed="rId8"/>
                <a:stretch>
                  <a:fillRect/>
                </a:stretch>
              </p:blipFill>
              <p:spPr>
                <a:xfrm>
                  <a:off x="2402717" y="1858344"/>
                  <a:ext cx="581400" cy="7185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8" name="Ink 17">
                  <a:extLst>
                    <a:ext uri="{FF2B5EF4-FFF2-40B4-BE49-F238E27FC236}">
                      <a16:creationId xmlns:a16="http://schemas.microsoft.com/office/drawing/2014/main" id="{70CCB1CF-5958-DD5D-6FCE-661E96801EF0}"/>
                    </a:ext>
                  </a:extLst>
                </p14:cNvPr>
                <p14:cNvContentPartPr/>
                <p14:nvPr/>
              </p14:nvContentPartPr>
              <p14:xfrm>
                <a:off x="2536277" y="2291064"/>
                <a:ext cx="42840" cy="284040"/>
              </p14:xfrm>
            </p:contentPart>
          </mc:Choice>
          <mc:Fallback xmlns="">
            <p:pic>
              <p:nvPicPr>
                <p:cNvPr id="18" name="Ink 17">
                  <a:extLst>
                    <a:ext uri="{FF2B5EF4-FFF2-40B4-BE49-F238E27FC236}">
                      <a16:creationId xmlns:a16="http://schemas.microsoft.com/office/drawing/2014/main" id="{70CCB1CF-5958-DD5D-6FCE-661E96801EF0}"/>
                    </a:ext>
                  </a:extLst>
                </p:cNvPr>
                <p:cNvPicPr/>
                <p:nvPr/>
              </p:nvPicPr>
              <p:blipFill>
                <a:blip r:embed="rId10"/>
                <a:stretch>
                  <a:fillRect/>
                </a:stretch>
              </p:blipFill>
              <p:spPr>
                <a:xfrm>
                  <a:off x="2473637" y="2228064"/>
                  <a:ext cx="168480" cy="4096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9" name="Ink 18">
                  <a:extLst>
                    <a:ext uri="{FF2B5EF4-FFF2-40B4-BE49-F238E27FC236}">
                      <a16:creationId xmlns:a16="http://schemas.microsoft.com/office/drawing/2014/main" id="{58964BF6-207D-202B-8ADD-78D3183BB82D}"/>
                    </a:ext>
                  </a:extLst>
                </p14:cNvPr>
                <p14:cNvContentPartPr/>
                <p14:nvPr/>
              </p14:nvContentPartPr>
              <p14:xfrm>
                <a:off x="2547077" y="2167584"/>
                <a:ext cx="174240" cy="497160"/>
              </p14:xfrm>
            </p:contentPart>
          </mc:Choice>
          <mc:Fallback xmlns="">
            <p:pic>
              <p:nvPicPr>
                <p:cNvPr id="19" name="Ink 18">
                  <a:extLst>
                    <a:ext uri="{FF2B5EF4-FFF2-40B4-BE49-F238E27FC236}">
                      <a16:creationId xmlns:a16="http://schemas.microsoft.com/office/drawing/2014/main" id="{58964BF6-207D-202B-8ADD-78D3183BB82D}"/>
                    </a:ext>
                  </a:extLst>
                </p:cNvPr>
                <p:cNvPicPr/>
                <p:nvPr/>
              </p:nvPicPr>
              <p:blipFill>
                <a:blip r:embed="rId12"/>
                <a:stretch>
                  <a:fillRect/>
                </a:stretch>
              </p:blipFill>
              <p:spPr>
                <a:xfrm>
                  <a:off x="2484437" y="2104584"/>
                  <a:ext cx="299880" cy="6228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1" name="Ink 20">
                  <a:extLst>
                    <a:ext uri="{FF2B5EF4-FFF2-40B4-BE49-F238E27FC236}">
                      <a16:creationId xmlns:a16="http://schemas.microsoft.com/office/drawing/2014/main" id="{E7C92A2E-D50E-8CB2-C8EA-4049004C4C56}"/>
                    </a:ext>
                  </a:extLst>
                </p14:cNvPr>
                <p14:cNvContentPartPr/>
                <p14:nvPr/>
              </p14:nvContentPartPr>
              <p14:xfrm>
                <a:off x="2488037" y="1908384"/>
                <a:ext cx="1252440" cy="1917000"/>
              </p14:xfrm>
            </p:contentPart>
          </mc:Choice>
          <mc:Fallback xmlns="">
            <p:pic>
              <p:nvPicPr>
                <p:cNvPr id="21" name="Ink 20">
                  <a:extLst>
                    <a:ext uri="{FF2B5EF4-FFF2-40B4-BE49-F238E27FC236}">
                      <a16:creationId xmlns:a16="http://schemas.microsoft.com/office/drawing/2014/main" id="{E7C92A2E-D50E-8CB2-C8EA-4049004C4C56}"/>
                    </a:ext>
                  </a:extLst>
                </p:cNvPr>
                <p:cNvPicPr/>
                <p:nvPr/>
              </p:nvPicPr>
              <p:blipFill>
                <a:blip r:embed="rId14"/>
                <a:stretch>
                  <a:fillRect/>
                </a:stretch>
              </p:blipFill>
              <p:spPr>
                <a:xfrm>
                  <a:off x="2425037" y="1845384"/>
                  <a:ext cx="1378080" cy="2042640"/>
                </a:xfrm>
                <a:prstGeom prst="rect">
                  <a:avLst/>
                </a:prstGeom>
              </p:spPr>
            </p:pic>
          </mc:Fallback>
        </mc:AlternateContent>
      </p:grpSp>
      <p:sp>
        <p:nvSpPr>
          <p:cNvPr id="31" name="Text 7">
            <a:extLst>
              <a:ext uri="{FF2B5EF4-FFF2-40B4-BE49-F238E27FC236}">
                <a16:creationId xmlns:a16="http://schemas.microsoft.com/office/drawing/2014/main" id="{66D5E3AA-67B2-8DC6-E133-3CEFDE66D551}"/>
              </a:ext>
            </a:extLst>
          </p:cNvPr>
          <p:cNvSpPr/>
          <p:nvPr/>
        </p:nvSpPr>
        <p:spPr>
          <a:xfrm>
            <a:off x="426725" y="2366655"/>
            <a:ext cx="1669204" cy="658368"/>
          </a:xfrm>
          <a:prstGeom prst="rect">
            <a:avLst/>
          </a:prstGeom>
          <a:noFill/>
          <a:ln/>
        </p:spPr>
        <p:txBody>
          <a:bodyPr wrap="square" rtlCol="0" anchor="ctr"/>
          <a:lstStyle/>
          <a:p>
            <a:r>
              <a:rPr lang="en-US" dirty="0">
                <a:solidFill>
                  <a:srgbClr val="595959"/>
                </a:solidFill>
                <a:latin typeface="Calibri" pitchFamily="34" charset="0"/>
                <a:ea typeface="Calibri" pitchFamily="34" charset="-122"/>
                <a:cs typeface="Calibri" pitchFamily="34" charset="-120"/>
              </a:rPr>
              <a:t>▸  Contrastive:</a:t>
            </a:r>
            <a:endParaRPr lang="en-US" dirty="0"/>
          </a:p>
        </p:txBody>
      </p:sp>
      <p:pic>
        <p:nvPicPr>
          <p:cNvPr id="2048" name="Picture 2047">
            <a:extLst>
              <a:ext uri="{FF2B5EF4-FFF2-40B4-BE49-F238E27FC236}">
                <a16:creationId xmlns:a16="http://schemas.microsoft.com/office/drawing/2014/main" id="{B6BAB5C1-C496-E88A-C85C-9C1474011BBF}"/>
              </a:ext>
            </a:extLst>
          </p:cNvPr>
          <p:cNvPicPr>
            <a:picLocks noChangeAspect="1"/>
          </p:cNvPicPr>
          <p:nvPr/>
        </p:nvPicPr>
        <p:blipFill>
          <a:blip r:embed="rId15"/>
          <a:stretch>
            <a:fillRect/>
          </a:stretch>
        </p:blipFill>
        <p:spPr>
          <a:xfrm>
            <a:off x="4608531" y="3982592"/>
            <a:ext cx="1245306" cy="1001659"/>
          </a:xfrm>
          <a:prstGeom prst="rect">
            <a:avLst/>
          </a:prstGeom>
        </p:spPr>
      </p:pic>
      <p:pic>
        <p:nvPicPr>
          <p:cNvPr id="2049" name="Picture 2048">
            <a:extLst>
              <a:ext uri="{FF2B5EF4-FFF2-40B4-BE49-F238E27FC236}">
                <a16:creationId xmlns:a16="http://schemas.microsoft.com/office/drawing/2014/main" id="{4532830E-942F-B254-3174-218A282FA5FF}"/>
              </a:ext>
            </a:extLst>
          </p:cNvPr>
          <p:cNvPicPr>
            <a:picLocks noChangeAspect="1"/>
          </p:cNvPicPr>
          <p:nvPr/>
        </p:nvPicPr>
        <p:blipFill>
          <a:blip r:embed="rId16"/>
          <a:stretch>
            <a:fillRect/>
          </a:stretch>
        </p:blipFill>
        <p:spPr>
          <a:xfrm>
            <a:off x="2956503" y="4102474"/>
            <a:ext cx="887221" cy="761786"/>
          </a:xfrm>
          <a:prstGeom prst="rect">
            <a:avLst/>
          </a:prstGeom>
        </p:spPr>
      </p:pic>
      <p:pic>
        <p:nvPicPr>
          <p:cNvPr id="2051" name="Picture 2050">
            <a:extLst>
              <a:ext uri="{FF2B5EF4-FFF2-40B4-BE49-F238E27FC236}">
                <a16:creationId xmlns:a16="http://schemas.microsoft.com/office/drawing/2014/main" id="{0D26D554-F4C3-3F13-A322-E21BB1E90F8F}"/>
              </a:ext>
            </a:extLst>
          </p:cNvPr>
          <p:cNvPicPr>
            <a:picLocks noChangeAspect="1"/>
          </p:cNvPicPr>
          <p:nvPr/>
        </p:nvPicPr>
        <p:blipFill>
          <a:blip r:embed="rId17"/>
          <a:stretch>
            <a:fillRect/>
          </a:stretch>
        </p:blipFill>
        <p:spPr>
          <a:xfrm>
            <a:off x="6618644" y="4354816"/>
            <a:ext cx="1838582" cy="257211"/>
          </a:xfrm>
          <a:prstGeom prst="rect">
            <a:avLst/>
          </a:prstGeom>
        </p:spPr>
      </p:pic>
      <p:cxnSp>
        <p:nvCxnSpPr>
          <p:cNvPr id="2052" name="Straight Arrow Connector 2051">
            <a:extLst>
              <a:ext uri="{FF2B5EF4-FFF2-40B4-BE49-F238E27FC236}">
                <a16:creationId xmlns:a16="http://schemas.microsoft.com/office/drawing/2014/main" id="{EAE260CB-FD23-4DB9-D475-CC14DC56A0BF}"/>
              </a:ext>
            </a:extLst>
          </p:cNvPr>
          <p:cNvCxnSpPr>
            <a:stCxn id="2049" idx="3"/>
            <a:endCxn id="2048" idx="1"/>
          </p:cNvCxnSpPr>
          <p:nvPr/>
        </p:nvCxnSpPr>
        <p:spPr>
          <a:xfrm>
            <a:off x="3843724" y="4483367"/>
            <a:ext cx="764807" cy="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53" name="Straight Arrow Connector 2052">
            <a:extLst>
              <a:ext uri="{FF2B5EF4-FFF2-40B4-BE49-F238E27FC236}">
                <a16:creationId xmlns:a16="http://schemas.microsoft.com/office/drawing/2014/main" id="{62122984-4EC0-A568-D584-A3D0927DD833}"/>
              </a:ext>
            </a:extLst>
          </p:cNvPr>
          <p:cNvCxnSpPr>
            <a:stCxn id="2051" idx="1"/>
            <a:endCxn id="2048" idx="3"/>
          </p:cNvCxnSpPr>
          <p:nvPr/>
        </p:nvCxnSpPr>
        <p:spPr>
          <a:xfrm flipH="1">
            <a:off x="5853837" y="4483422"/>
            <a:ext cx="76480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055" name="Picture 2054">
            <a:extLst>
              <a:ext uri="{FF2B5EF4-FFF2-40B4-BE49-F238E27FC236}">
                <a16:creationId xmlns:a16="http://schemas.microsoft.com/office/drawing/2014/main" id="{61213D7D-9B50-6414-F03A-859C6E277FD4}"/>
              </a:ext>
            </a:extLst>
          </p:cNvPr>
          <p:cNvPicPr>
            <a:picLocks noChangeAspect="1"/>
          </p:cNvPicPr>
          <p:nvPr/>
        </p:nvPicPr>
        <p:blipFill>
          <a:blip r:embed="rId18"/>
          <a:stretch>
            <a:fillRect/>
          </a:stretch>
        </p:blipFill>
        <p:spPr>
          <a:xfrm>
            <a:off x="7254522" y="1857991"/>
            <a:ext cx="4144911" cy="2010842"/>
          </a:xfrm>
          <a:prstGeom prst="rect">
            <a:avLst/>
          </a:prstGeom>
        </p:spPr>
      </p:pic>
      <p:pic>
        <p:nvPicPr>
          <p:cNvPr id="2057" name="Picture 2056">
            <a:extLst>
              <a:ext uri="{FF2B5EF4-FFF2-40B4-BE49-F238E27FC236}">
                <a16:creationId xmlns:a16="http://schemas.microsoft.com/office/drawing/2014/main" id="{8C486CBB-72BB-E4C8-75A8-CED272FA6527}"/>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2427224" y="5243410"/>
            <a:ext cx="2310344" cy="1540229"/>
          </a:xfrm>
          <a:prstGeom prst="rect">
            <a:avLst/>
          </a:prstGeom>
        </p:spPr>
      </p:pic>
      <p:sp>
        <p:nvSpPr>
          <p:cNvPr id="2058" name="TextBox 2057">
            <a:extLst>
              <a:ext uri="{FF2B5EF4-FFF2-40B4-BE49-F238E27FC236}">
                <a16:creationId xmlns:a16="http://schemas.microsoft.com/office/drawing/2014/main" id="{E515766F-655B-DF93-043C-5C39312A7269}"/>
              </a:ext>
            </a:extLst>
          </p:cNvPr>
          <p:cNvSpPr txBox="1"/>
          <p:nvPr/>
        </p:nvSpPr>
        <p:spPr>
          <a:xfrm>
            <a:off x="4800600" y="5838345"/>
            <a:ext cx="7391400" cy="369332"/>
          </a:xfrm>
          <a:prstGeom prst="rect">
            <a:avLst/>
          </a:prstGeom>
          <a:noFill/>
        </p:spPr>
        <p:txBody>
          <a:bodyPr wrap="square" rtlCol="0">
            <a:spAutoFit/>
          </a:bodyPr>
          <a:lstStyle/>
          <a:p>
            <a:r>
              <a:rPr lang="en-US" dirty="0"/>
              <a:t>already trained by                               (pretrained = already trained </a:t>
            </a:r>
            <a:r>
              <a:rPr lang="en-US" dirty="0">
                <a:sym typeface="Wingdings" panose="05000000000000000000" pitchFamily="2" charset="2"/>
              </a:rPr>
              <a:t>)</a:t>
            </a:r>
            <a:r>
              <a:rPr lang="en-US" dirty="0"/>
              <a:t> </a:t>
            </a:r>
            <a:endParaRPr lang="ro-RO" dirty="0"/>
          </a:p>
        </p:txBody>
      </p:sp>
      <p:pic>
        <p:nvPicPr>
          <p:cNvPr id="2059" name="Picture 2" descr="OpenAI Logo, symbol, meaning, history, PNG, brand">
            <a:extLst>
              <a:ext uri="{FF2B5EF4-FFF2-40B4-BE49-F238E27FC236}">
                <a16:creationId xmlns:a16="http://schemas.microsoft.com/office/drawing/2014/main" id="{1F05639E-57B7-42C8-4831-70C918FC8F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1988" y="5693827"/>
            <a:ext cx="1170432" cy="658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3315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64096"/>
          </a:xfrm>
          <a:prstGeom prst="rect">
            <a:avLst/>
          </a:prstGeom>
          <a:solidFill>
            <a:srgbClr val="00E5FF"/>
          </a:solidFill>
          <a:ln w="12700">
            <a:solidFill>
              <a:srgbClr val="00E5FF"/>
            </a:solidFill>
            <a:prstDash val="solid"/>
          </a:ln>
        </p:spPr>
      </p:sp>
      <p:sp>
        <p:nvSpPr>
          <p:cNvPr id="6" name="Text 1">
            <a:extLst>
              <a:ext uri="{FF2B5EF4-FFF2-40B4-BE49-F238E27FC236}">
                <a16:creationId xmlns:a16="http://schemas.microsoft.com/office/drawing/2014/main" id="{4E4FA7AF-1148-52A1-5E00-E78A6BD255E0}"/>
              </a:ext>
            </a:extLst>
          </p:cNvPr>
          <p:cNvSpPr/>
          <p:nvPr/>
        </p:nvSpPr>
        <p:spPr>
          <a:xfrm>
            <a:off x="853440" y="1706880"/>
            <a:ext cx="9753600" cy="512064"/>
          </a:xfrm>
          <a:prstGeom prst="rect">
            <a:avLst/>
          </a:prstGeom>
          <a:noFill/>
          <a:ln/>
        </p:spPr>
        <p:txBody>
          <a:bodyPr wrap="square" lIns="0" tIns="0" rIns="0" bIns="0" rtlCol="0" anchor="ctr"/>
          <a:lstStyle/>
          <a:p>
            <a:r>
              <a:rPr lang="en-US" sz="1867" dirty="0">
                <a:solidFill>
                  <a:srgbClr val="00E5FF"/>
                </a:solidFill>
                <a:latin typeface="Calibri" pitchFamily="34" charset="0"/>
                <a:ea typeface="Calibri" pitchFamily="34" charset="-122"/>
                <a:cs typeface="Calibri" pitchFamily="34" charset="-120"/>
              </a:rPr>
              <a:t>Section 1</a:t>
            </a:r>
            <a:endParaRPr lang="en-US" sz="1867" dirty="0"/>
          </a:p>
        </p:txBody>
      </p:sp>
      <p:sp>
        <p:nvSpPr>
          <p:cNvPr id="7" name="Text 2">
            <a:extLst>
              <a:ext uri="{FF2B5EF4-FFF2-40B4-BE49-F238E27FC236}">
                <a16:creationId xmlns:a16="http://schemas.microsoft.com/office/drawing/2014/main" id="{C1239377-AFAE-8459-D692-5946FB8E2BB9}"/>
              </a:ext>
            </a:extLst>
          </p:cNvPr>
          <p:cNvSpPr/>
          <p:nvPr/>
        </p:nvSpPr>
        <p:spPr>
          <a:xfrm>
            <a:off x="853440" y="2255520"/>
            <a:ext cx="11157050" cy="2194560"/>
          </a:xfrm>
          <a:prstGeom prst="rect">
            <a:avLst/>
          </a:prstGeom>
          <a:noFill/>
          <a:ln/>
        </p:spPr>
        <p:txBody>
          <a:bodyPr wrap="square" lIns="0" tIns="0" rIns="0" bIns="0" rtlCol="0" anchor="ctr"/>
          <a:lstStyle/>
          <a:p>
            <a:r>
              <a:rPr lang="en-US" sz="6000" b="1" dirty="0">
                <a:solidFill>
                  <a:srgbClr val="000000"/>
                </a:solidFill>
                <a:latin typeface="Calibri" pitchFamily="34" charset="0"/>
                <a:ea typeface="Calibri" pitchFamily="34" charset="-122"/>
                <a:cs typeface="Calibri" pitchFamily="34" charset="-120"/>
              </a:rPr>
              <a:t>Dataset</a:t>
            </a:r>
            <a:endParaRPr lang="en-US" sz="6000" dirty="0"/>
          </a:p>
          <a:p>
            <a:r>
              <a:rPr lang="en-US" sz="6000" b="1" dirty="0">
                <a:solidFill>
                  <a:srgbClr val="000000"/>
                </a:solidFill>
                <a:latin typeface="Calibri" pitchFamily="34" charset="0"/>
                <a:ea typeface="Calibri" pitchFamily="34" charset="-122"/>
                <a:cs typeface="Calibri" pitchFamily="34" charset="-120"/>
              </a:rPr>
              <a:t>Preparation</a:t>
            </a:r>
            <a:endParaRPr lang="en-US" sz="6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3" name="Text 1"/>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The Flickr 8k Dataset</a:t>
            </a:r>
            <a:endParaRPr lang="en-US" sz="3467" dirty="0"/>
          </a:p>
        </p:txBody>
      </p:sp>
      <p:sp>
        <p:nvSpPr>
          <p:cNvPr id="4" name="Text 2"/>
          <p:cNvSpPr/>
          <p:nvPr/>
        </p:nvSpPr>
        <p:spPr>
          <a:xfrm>
            <a:off x="548640" y="950976"/>
            <a:ext cx="11094720" cy="341376"/>
          </a:xfrm>
          <a:prstGeom prst="rect">
            <a:avLst/>
          </a:prstGeom>
          <a:noFill/>
          <a:ln/>
        </p:spPr>
        <p:txBody>
          <a:bodyPr wrap="square" rtlCol="0" anchor="ctr"/>
          <a:lstStyle/>
          <a:p>
            <a:r>
              <a:rPr lang="en-US" sz="1733" i="1" dirty="0">
                <a:solidFill>
                  <a:srgbClr val="595959"/>
                </a:solidFill>
                <a:latin typeface="Calibri" pitchFamily="34" charset="0"/>
                <a:ea typeface="Calibri" pitchFamily="34" charset="-122"/>
                <a:cs typeface="Calibri" pitchFamily="34" charset="-120"/>
              </a:rPr>
              <a:t>8 091 photographs from Flickr, each with 5 human-written captions — ideal for training a CLIP model.</a:t>
            </a:r>
            <a:endParaRPr lang="en-US" sz="1733" dirty="0"/>
          </a:p>
        </p:txBody>
      </p:sp>
      <p:sp>
        <p:nvSpPr>
          <p:cNvPr id="5" name="Shape 3"/>
          <p:cNvSpPr/>
          <p:nvPr/>
        </p:nvSpPr>
        <p:spPr>
          <a:xfrm>
            <a:off x="2771009" y="1341120"/>
            <a:ext cx="2097024" cy="1072896"/>
          </a:xfrm>
          <a:prstGeom prst="rect">
            <a:avLst/>
          </a:prstGeom>
          <a:solidFill>
            <a:srgbClr val="1F5BAD"/>
          </a:solidFill>
          <a:ln w="12700">
            <a:solidFill>
              <a:srgbClr val="1F5BAD"/>
            </a:solidFill>
            <a:prstDash val="solid"/>
          </a:ln>
        </p:spPr>
      </p:sp>
      <p:sp>
        <p:nvSpPr>
          <p:cNvPr id="6" name="Text 4"/>
          <p:cNvSpPr/>
          <p:nvPr/>
        </p:nvSpPr>
        <p:spPr>
          <a:xfrm>
            <a:off x="2771009" y="1389888"/>
            <a:ext cx="2097024" cy="536448"/>
          </a:xfrm>
          <a:prstGeom prst="rect">
            <a:avLst/>
          </a:prstGeom>
          <a:noFill/>
          <a:ln/>
        </p:spPr>
        <p:txBody>
          <a:bodyPr wrap="square" rtlCol="0" anchor="ctr"/>
          <a:lstStyle/>
          <a:p>
            <a:pPr algn="ctr"/>
            <a:r>
              <a:rPr lang="en-US" sz="2400" b="1" dirty="0">
                <a:solidFill>
                  <a:srgbClr val="FFFFFF"/>
                </a:solidFill>
                <a:latin typeface="Calibri" pitchFamily="34" charset="0"/>
                <a:ea typeface="Calibri" pitchFamily="34" charset="-122"/>
                <a:cs typeface="Calibri" pitchFamily="34" charset="-120"/>
              </a:rPr>
              <a:t>8091</a:t>
            </a:r>
            <a:endParaRPr lang="en-US" sz="2400" dirty="0"/>
          </a:p>
        </p:txBody>
      </p:sp>
      <p:sp>
        <p:nvSpPr>
          <p:cNvPr id="7" name="Text 5"/>
          <p:cNvSpPr/>
          <p:nvPr/>
        </p:nvSpPr>
        <p:spPr>
          <a:xfrm>
            <a:off x="2771009" y="1926336"/>
            <a:ext cx="2097024" cy="365760"/>
          </a:xfrm>
          <a:prstGeom prst="rect">
            <a:avLst/>
          </a:prstGeom>
          <a:noFill/>
          <a:ln/>
        </p:spPr>
        <p:txBody>
          <a:bodyPr wrap="square" rtlCol="0" anchor="ctr"/>
          <a:lstStyle/>
          <a:p>
            <a:pPr algn="ctr"/>
            <a:r>
              <a:rPr lang="en-US" sz="1333" dirty="0">
                <a:solidFill>
                  <a:srgbClr val="FFFFFF"/>
                </a:solidFill>
                <a:latin typeface="Calibri" pitchFamily="34" charset="0"/>
                <a:ea typeface="Calibri" pitchFamily="34" charset="-122"/>
                <a:cs typeface="Calibri" pitchFamily="34" charset="-120"/>
              </a:rPr>
              <a:t>Total images</a:t>
            </a:r>
            <a:endParaRPr lang="en-US" sz="1333" dirty="0"/>
          </a:p>
        </p:txBody>
      </p:sp>
      <p:sp>
        <p:nvSpPr>
          <p:cNvPr id="8" name="Shape 6"/>
          <p:cNvSpPr/>
          <p:nvPr/>
        </p:nvSpPr>
        <p:spPr>
          <a:xfrm>
            <a:off x="5063105" y="1341120"/>
            <a:ext cx="2097024" cy="1072896"/>
          </a:xfrm>
          <a:prstGeom prst="rect">
            <a:avLst/>
          </a:prstGeom>
          <a:solidFill>
            <a:srgbClr val="1F5BAD"/>
          </a:solidFill>
          <a:ln w="12700">
            <a:solidFill>
              <a:srgbClr val="1F5BAD"/>
            </a:solidFill>
            <a:prstDash val="solid"/>
          </a:ln>
        </p:spPr>
      </p:sp>
      <p:sp>
        <p:nvSpPr>
          <p:cNvPr id="9" name="Text 7"/>
          <p:cNvSpPr/>
          <p:nvPr/>
        </p:nvSpPr>
        <p:spPr>
          <a:xfrm>
            <a:off x="5063105" y="1389888"/>
            <a:ext cx="2097024" cy="536448"/>
          </a:xfrm>
          <a:prstGeom prst="rect">
            <a:avLst/>
          </a:prstGeom>
          <a:noFill/>
          <a:ln/>
        </p:spPr>
        <p:txBody>
          <a:bodyPr wrap="square" rtlCol="0" anchor="ctr"/>
          <a:lstStyle/>
          <a:p>
            <a:pPr algn="ctr"/>
            <a:r>
              <a:rPr lang="en-US" sz="2400" b="1" dirty="0">
                <a:solidFill>
                  <a:srgbClr val="FFFFFF"/>
                </a:solidFill>
                <a:latin typeface="Calibri" pitchFamily="34" charset="0"/>
                <a:ea typeface="Calibri" pitchFamily="34" charset="-122"/>
                <a:cs typeface="Calibri" pitchFamily="34" charset="-120"/>
              </a:rPr>
              <a:t>40 455</a:t>
            </a:r>
            <a:endParaRPr lang="en-US" sz="2400" dirty="0"/>
          </a:p>
        </p:txBody>
      </p:sp>
      <p:sp>
        <p:nvSpPr>
          <p:cNvPr id="10" name="Text 8"/>
          <p:cNvSpPr/>
          <p:nvPr/>
        </p:nvSpPr>
        <p:spPr>
          <a:xfrm>
            <a:off x="5063105" y="1926336"/>
            <a:ext cx="2097024" cy="365760"/>
          </a:xfrm>
          <a:prstGeom prst="rect">
            <a:avLst/>
          </a:prstGeom>
          <a:noFill/>
          <a:ln/>
        </p:spPr>
        <p:txBody>
          <a:bodyPr wrap="square" rtlCol="0" anchor="ctr"/>
          <a:lstStyle/>
          <a:p>
            <a:pPr algn="ctr"/>
            <a:r>
              <a:rPr lang="en-US" sz="1333" dirty="0">
                <a:solidFill>
                  <a:srgbClr val="FFFFFF"/>
                </a:solidFill>
                <a:latin typeface="Calibri" pitchFamily="34" charset="0"/>
                <a:ea typeface="Calibri" pitchFamily="34" charset="-122"/>
                <a:cs typeface="Calibri" pitchFamily="34" charset="-120"/>
              </a:rPr>
              <a:t>Total captions</a:t>
            </a:r>
            <a:endParaRPr lang="en-US" sz="1333" dirty="0"/>
          </a:p>
        </p:txBody>
      </p:sp>
      <p:sp>
        <p:nvSpPr>
          <p:cNvPr id="11" name="Shape 9"/>
          <p:cNvSpPr/>
          <p:nvPr/>
        </p:nvSpPr>
        <p:spPr>
          <a:xfrm>
            <a:off x="7355201" y="1341120"/>
            <a:ext cx="2097024" cy="1072896"/>
          </a:xfrm>
          <a:prstGeom prst="rect">
            <a:avLst/>
          </a:prstGeom>
          <a:solidFill>
            <a:srgbClr val="1F5BAD"/>
          </a:solidFill>
          <a:ln w="12700">
            <a:solidFill>
              <a:srgbClr val="1F5BAD"/>
            </a:solidFill>
            <a:prstDash val="solid"/>
          </a:ln>
        </p:spPr>
      </p:sp>
      <p:sp>
        <p:nvSpPr>
          <p:cNvPr id="12" name="Text 10"/>
          <p:cNvSpPr/>
          <p:nvPr/>
        </p:nvSpPr>
        <p:spPr>
          <a:xfrm>
            <a:off x="7355201" y="1389888"/>
            <a:ext cx="2097024" cy="536448"/>
          </a:xfrm>
          <a:prstGeom prst="rect">
            <a:avLst/>
          </a:prstGeom>
          <a:noFill/>
          <a:ln/>
        </p:spPr>
        <p:txBody>
          <a:bodyPr wrap="square" rtlCol="0" anchor="ctr"/>
          <a:lstStyle/>
          <a:p>
            <a:pPr algn="ctr"/>
            <a:r>
              <a:rPr lang="en-US" sz="2400" b="1" dirty="0">
                <a:solidFill>
                  <a:srgbClr val="FFFFFF"/>
                </a:solidFill>
                <a:latin typeface="Calibri" pitchFamily="34" charset="0"/>
                <a:ea typeface="Calibri" pitchFamily="34" charset="-122"/>
                <a:cs typeface="Calibri" pitchFamily="34" charset="-120"/>
              </a:rPr>
              <a:t>5</a:t>
            </a:r>
            <a:endParaRPr lang="en-US" sz="2400" dirty="0"/>
          </a:p>
        </p:txBody>
      </p:sp>
      <p:sp>
        <p:nvSpPr>
          <p:cNvPr id="13" name="Text 11"/>
          <p:cNvSpPr/>
          <p:nvPr/>
        </p:nvSpPr>
        <p:spPr>
          <a:xfrm>
            <a:off x="7355201" y="1926336"/>
            <a:ext cx="2097024" cy="365760"/>
          </a:xfrm>
          <a:prstGeom prst="rect">
            <a:avLst/>
          </a:prstGeom>
          <a:noFill/>
          <a:ln/>
        </p:spPr>
        <p:txBody>
          <a:bodyPr wrap="square" rtlCol="0" anchor="ctr"/>
          <a:lstStyle/>
          <a:p>
            <a:pPr algn="ctr"/>
            <a:r>
              <a:rPr lang="en-US" sz="1333" dirty="0">
                <a:solidFill>
                  <a:srgbClr val="FFFFFF"/>
                </a:solidFill>
                <a:latin typeface="Calibri" pitchFamily="34" charset="0"/>
                <a:ea typeface="Calibri" pitchFamily="34" charset="-122"/>
                <a:cs typeface="Calibri" pitchFamily="34" charset="-120"/>
              </a:rPr>
              <a:t>Captions per image</a:t>
            </a:r>
            <a:endParaRPr lang="en-US" sz="1333" dirty="0"/>
          </a:p>
        </p:txBody>
      </p:sp>
      <p:sp>
        <p:nvSpPr>
          <p:cNvPr id="56" name="Shape 0">
            <a:extLst>
              <a:ext uri="{FF2B5EF4-FFF2-40B4-BE49-F238E27FC236}">
                <a16:creationId xmlns:a16="http://schemas.microsoft.com/office/drawing/2014/main" id="{17A2EF4D-541E-C4A4-BF54-777EC588A388}"/>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62" name="Picture 61">
            <a:extLst>
              <a:ext uri="{FF2B5EF4-FFF2-40B4-BE49-F238E27FC236}">
                <a16:creationId xmlns:a16="http://schemas.microsoft.com/office/drawing/2014/main" id="{78C1346D-0BCD-43D2-E977-B3CFF8358911}"/>
              </a:ext>
            </a:extLst>
          </p:cNvPr>
          <p:cNvPicPr>
            <a:picLocks noChangeAspect="1"/>
          </p:cNvPicPr>
          <p:nvPr/>
        </p:nvPicPr>
        <p:blipFill>
          <a:blip r:embed="rId3"/>
          <a:stretch>
            <a:fillRect/>
          </a:stretch>
        </p:blipFill>
        <p:spPr>
          <a:xfrm>
            <a:off x="2771009" y="2647673"/>
            <a:ext cx="6738050" cy="4064023"/>
          </a:xfrm>
          <a:prstGeom prst="rect">
            <a:avLst/>
          </a:prstGeom>
        </p:spPr>
      </p:pic>
      <p:sp>
        <p:nvSpPr>
          <p:cNvPr id="4096" name="TextBox 4095">
            <a:extLst>
              <a:ext uri="{FF2B5EF4-FFF2-40B4-BE49-F238E27FC236}">
                <a16:creationId xmlns:a16="http://schemas.microsoft.com/office/drawing/2014/main" id="{A0DEF15E-12E1-6B80-BE2B-90A9DE38372C}"/>
              </a:ext>
            </a:extLst>
          </p:cNvPr>
          <p:cNvSpPr txBox="1"/>
          <p:nvPr/>
        </p:nvSpPr>
        <p:spPr>
          <a:xfrm>
            <a:off x="133564" y="5907024"/>
            <a:ext cx="3472665" cy="646331"/>
          </a:xfrm>
          <a:prstGeom prst="rect">
            <a:avLst/>
          </a:prstGeom>
          <a:noFill/>
        </p:spPr>
        <p:txBody>
          <a:bodyPr wrap="square">
            <a:spAutoFit/>
          </a:bodyPr>
          <a:lstStyle/>
          <a:p>
            <a:r>
              <a:rPr lang="en-US" b="1" i="0" dirty="0">
                <a:effectLst/>
                <a:latin typeface="Google Sans Text"/>
              </a:rPr>
              <a:t>NOTE</a:t>
            </a:r>
            <a:r>
              <a:rPr lang="en-US" b="0" i="0" dirty="0">
                <a:effectLst/>
                <a:latin typeface="Google Sans Text"/>
              </a:rPr>
              <a:t>: we select the shortest caption out of the 5 for each image</a:t>
            </a:r>
            <a:endParaRPr lang="ro-RO"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3" name="Text 1"/>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Dataset processing</a:t>
            </a:r>
            <a:endParaRPr lang="en-US" sz="3467" dirty="0"/>
          </a:p>
        </p:txBody>
      </p:sp>
      <p:sp>
        <p:nvSpPr>
          <p:cNvPr id="7" name="Shape 5"/>
          <p:cNvSpPr/>
          <p:nvPr/>
        </p:nvSpPr>
        <p:spPr>
          <a:xfrm>
            <a:off x="548640" y="958716"/>
            <a:ext cx="1950720" cy="536448"/>
          </a:xfrm>
          <a:prstGeom prst="rect">
            <a:avLst/>
          </a:prstGeom>
          <a:solidFill>
            <a:srgbClr val="1F5BAD"/>
          </a:solidFill>
          <a:ln w="12700">
            <a:solidFill>
              <a:srgbClr val="1F5BAD"/>
            </a:solidFill>
            <a:prstDash val="solid"/>
          </a:ln>
        </p:spPr>
      </p:sp>
      <p:sp>
        <p:nvSpPr>
          <p:cNvPr id="8" name="Text 6"/>
          <p:cNvSpPr/>
          <p:nvPr/>
        </p:nvSpPr>
        <p:spPr>
          <a:xfrm>
            <a:off x="548640" y="958716"/>
            <a:ext cx="1950720" cy="536448"/>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Caption</a:t>
            </a:r>
            <a:endParaRPr lang="en-US" sz="1467" dirty="0"/>
          </a:p>
        </p:txBody>
      </p:sp>
      <p:sp>
        <p:nvSpPr>
          <p:cNvPr id="9" name="Shape 7"/>
          <p:cNvSpPr/>
          <p:nvPr/>
        </p:nvSpPr>
        <p:spPr>
          <a:xfrm>
            <a:off x="2535936" y="958716"/>
            <a:ext cx="5762843" cy="536448"/>
          </a:xfrm>
          <a:prstGeom prst="rect">
            <a:avLst/>
          </a:prstGeom>
          <a:solidFill>
            <a:srgbClr val="EEF3FB"/>
          </a:solidFill>
          <a:ln w="12700">
            <a:solidFill>
              <a:srgbClr val="CCCCCC"/>
            </a:solidFill>
            <a:prstDash val="solid"/>
          </a:ln>
        </p:spPr>
      </p:sp>
      <p:sp>
        <p:nvSpPr>
          <p:cNvPr id="10" name="Text 8"/>
          <p:cNvSpPr/>
          <p:nvPr/>
        </p:nvSpPr>
        <p:spPr>
          <a:xfrm>
            <a:off x="2657856" y="958716"/>
            <a:ext cx="5519003" cy="536448"/>
          </a:xfrm>
          <a:prstGeom prst="rect">
            <a:avLst/>
          </a:prstGeom>
          <a:noFill/>
          <a:ln/>
        </p:spPr>
        <p:txBody>
          <a:bodyPr wrap="square" rtlCol="0" anchor="ctr"/>
          <a:lstStyle/>
          <a:p>
            <a:r>
              <a:rPr lang="en-US" sz="1467" dirty="0">
                <a:solidFill>
                  <a:srgbClr val="1F3864"/>
                </a:solidFill>
                <a:latin typeface="Courier New" pitchFamily="34" charset="0"/>
                <a:ea typeface="Courier New" pitchFamily="34" charset="-122"/>
                <a:cs typeface="Courier New" pitchFamily="34" charset="-120"/>
              </a:rPr>
              <a:t>"two dogs run"</a:t>
            </a:r>
            <a:endParaRPr lang="en-US" sz="1467" dirty="0"/>
          </a:p>
        </p:txBody>
      </p:sp>
      <p:sp>
        <p:nvSpPr>
          <p:cNvPr id="11" name="Shape 9"/>
          <p:cNvSpPr/>
          <p:nvPr/>
        </p:nvSpPr>
        <p:spPr>
          <a:xfrm>
            <a:off x="548640" y="1568316"/>
            <a:ext cx="1950720" cy="536448"/>
          </a:xfrm>
          <a:prstGeom prst="rect">
            <a:avLst/>
          </a:prstGeom>
          <a:solidFill>
            <a:srgbClr val="1565C0"/>
          </a:solidFill>
          <a:ln w="12700">
            <a:solidFill>
              <a:srgbClr val="1565C0"/>
            </a:solidFill>
            <a:prstDash val="solid"/>
          </a:ln>
        </p:spPr>
      </p:sp>
      <p:sp>
        <p:nvSpPr>
          <p:cNvPr id="12" name="Text 10"/>
          <p:cNvSpPr/>
          <p:nvPr/>
        </p:nvSpPr>
        <p:spPr>
          <a:xfrm>
            <a:off x="548640" y="1568316"/>
            <a:ext cx="1950720" cy="536448"/>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Tokens</a:t>
            </a:r>
            <a:endParaRPr lang="en-US" sz="1467" dirty="0"/>
          </a:p>
        </p:txBody>
      </p:sp>
      <p:sp>
        <p:nvSpPr>
          <p:cNvPr id="13" name="Shape 11"/>
          <p:cNvSpPr/>
          <p:nvPr/>
        </p:nvSpPr>
        <p:spPr>
          <a:xfrm>
            <a:off x="2535936" y="1568316"/>
            <a:ext cx="5762843" cy="536448"/>
          </a:xfrm>
          <a:prstGeom prst="rect">
            <a:avLst/>
          </a:prstGeom>
          <a:solidFill>
            <a:srgbClr val="FFFFFF"/>
          </a:solidFill>
          <a:ln w="12700">
            <a:solidFill>
              <a:srgbClr val="CCCCCC"/>
            </a:solidFill>
            <a:prstDash val="solid"/>
          </a:ln>
        </p:spPr>
      </p:sp>
      <p:sp>
        <p:nvSpPr>
          <p:cNvPr id="14" name="Text 12"/>
          <p:cNvSpPr/>
          <p:nvPr/>
        </p:nvSpPr>
        <p:spPr>
          <a:xfrm>
            <a:off x="2657856" y="1568316"/>
            <a:ext cx="5640923" cy="536448"/>
          </a:xfrm>
          <a:prstGeom prst="rect">
            <a:avLst/>
          </a:prstGeom>
          <a:noFill/>
          <a:ln/>
        </p:spPr>
        <p:txBody>
          <a:bodyPr wrap="square" rtlCol="0" anchor="ctr"/>
          <a:lstStyle/>
          <a:p>
            <a:r>
              <a:rPr lang="en-US" sz="1467" dirty="0">
                <a:solidFill>
                  <a:srgbClr val="595959"/>
                </a:solidFill>
                <a:latin typeface="Courier New" pitchFamily="34" charset="0"/>
                <a:ea typeface="Courier New" pitchFamily="34" charset="-122"/>
                <a:cs typeface="Courier New" pitchFamily="34" charset="-120"/>
              </a:rPr>
              <a:t>[CLS]  two  dogs  run  [SEP]  [PAD]  [PAD]  [PAD]</a:t>
            </a:r>
            <a:endParaRPr lang="en-US" sz="1467" dirty="0"/>
          </a:p>
        </p:txBody>
      </p:sp>
      <p:sp>
        <p:nvSpPr>
          <p:cNvPr id="15" name="Shape 13"/>
          <p:cNvSpPr/>
          <p:nvPr/>
        </p:nvSpPr>
        <p:spPr>
          <a:xfrm>
            <a:off x="548640" y="2177916"/>
            <a:ext cx="1950720" cy="536448"/>
          </a:xfrm>
          <a:prstGeom prst="rect">
            <a:avLst/>
          </a:prstGeom>
          <a:solidFill>
            <a:srgbClr val="0D47A1"/>
          </a:solidFill>
          <a:ln w="12700">
            <a:solidFill>
              <a:srgbClr val="0D47A1"/>
            </a:solidFill>
            <a:prstDash val="solid"/>
          </a:ln>
        </p:spPr>
      </p:sp>
      <p:sp>
        <p:nvSpPr>
          <p:cNvPr id="16" name="Text 14"/>
          <p:cNvSpPr/>
          <p:nvPr/>
        </p:nvSpPr>
        <p:spPr>
          <a:xfrm>
            <a:off x="548640" y="2177916"/>
            <a:ext cx="1950720" cy="536448"/>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input_ids</a:t>
            </a:r>
            <a:endParaRPr lang="en-US" sz="1467" dirty="0"/>
          </a:p>
        </p:txBody>
      </p:sp>
      <p:sp>
        <p:nvSpPr>
          <p:cNvPr id="17" name="Shape 15"/>
          <p:cNvSpPr/>
          <p:nvPr/>
        </p:nvSpPr>
        <p:spPr>
          <a:xfrm>
            <a:off x="2535936" y="2177916"/>
            <a:ext cx="5762843" cy="536448"/>
          </a:xfrm>
          <a:prstGeom prst="rect">
            <a:avLst/>
          </a:prstGeom>
          <a:solidFill>
            <a:srgbClr val="EEF3FB"/>
          </a:solidFill>
          <a:ln w="12700">
            <a:solidFill>
              <a:srgbClr val="CCCCCC"/>
            </a:solidFill>
            <a:prstDash val="solid"/>
          </a:ln>
        </p:spPr>
      </p:sp>
      <p:sp>
        <p:nvSpPr>
          <p:cNvPr id="18" name="Text 16"/>
          <p:cNvSpPr/>
          <p:nvPr/>
        </p:nvSpPr>
        <p:spPr>
          <a:xfrm>
            <a:off x="2657856" y="2177916"/>
            <a:ext cx="5640923" cy="536448"/>
          </a:xfrm>
          <a:prstGeom prst="rect">
            <a:avLst/>
          </a:prstGeom>
          <a:noFill/>
          <a:ln/>
        </p:spPr>
        <p:txBody>
          <a:bodyPr wrap="square" rtlCol="0" anchor="ctr"/>
          <a:lstStyle/>
          <a:p>
            <a:r>
              <a:rPr lang="en-US" sz="1467" dirty="0">
                <a:solidFill>
                  <a:srgbClr val="595959"/>
                </a:solidFill>
                <a:latin typeface="Courier New" pitchFamily="34" charset="0"/>
                <a:ea typeface="Courier New" pitchFamily="34" charset="-122"/>
                <a:cs typeface="Courier New" pitchFamily="34" charset="-120"/>
              </a:rPr>
              <a:t>101  1160  6077  2448  102  0  0  0</a:t>
            </a:r>
            <a:endParaRPr lang="en-US" sz="1467" dirty="0"/>
          </a:p>
        </p:txBody>
      </p:sp>
      <p:sp>
        <p:nvSpPr>
          <p:cNvPr id="19" name="Shape 17"/>
          <p:cNvSpPr/>
          <p:nvPr/>
        </p:nvSpPr>
        <p:spPr>
          <a:xfrm>
            <a:off x="548640" y="2787516"/>
            <a:ext cx="1950720" cy="536448"/>
          </a:xfrm>
          <a:prstGeom prst="rect">
            <a:avLst/>
          </a:prstGeom>
          <a:solidFill>
            <a:srgbClr val="1B6B60"/>
          </a:solidFill>
          <a:ln w="12700">
            <a:solidFill>
              <a:srgbClr val="1B6B60"/>
            </a:solidFill>
            <a:prstDash val="solid"/>
          </a:ln>
        </p:spPr>
      </p:sp>
      <p:sp>
        <p:nvSpPr>
          <p:cNvPr id="20" name="Text 18"/>
          <p:cNvSpPr/>
          <p:nvPr/>
        </p:nvSpPr>
        <p:spPr>
          <a:xfrm>
            <a:off x="548640" y="2787516"/>
            <a:ext cx="1950720" cy="536448"/>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attention_mask</a:t>
            </a:r>
            <a:endParaRPr lang="en-US" sz="1467" dirty="0"/>
          </a:p>
        </p:txBody>
      </p:sp>
      <p:sp>
        <p:nvSpPr>
          <p:cNvPr id="21" name="Shape 19"/>
          <p:cNvSpPr/>
          <p:nvPr/>
        </p:nvSpPr>
        <p:spPr>
          <a:xfrm>
            <a:off x="2535936" y="2787516"/>
            <a:ext cx="5762843" cy="536448"/>
          </a:xfrm>
          <a:prstGeom prst="rect">
            <a:avLst/>
          </a:prstGeom>
          <a:solidFill>
            <a:srgbClr val="FFFFFF"/>
          </a:solidFill>
          <a:ln w="12700">
            <a:solidFill>
              <a:srgbClr val="CCCCCC"/>
            </a:solidFill>
            <a:prstDash val="solid"/>
          </a:ln>
        </p:spPr>
      </p:sp>
      <p:sp>
        <p:nvSpPr>
          <p:cNvPr id="22" name="Text 20"/>
          <p:cNvSpPr/>
          <p:nvPr/>
        </p:nvSpPr>
        <p:spPr>
          <a:xfrm>
            <a:off x="2657856" y="2787516"/>
            <a:ext cx="5640923" cy="536448"/>
          </a:xfrm>
          <a:prstGeom prst="rect">
            <a:avLst/>
          </a:prstGeom>
          <a:noFill/>
          <a:ln/>
        </p:spPr>
        <p:txBody>
          <a:bodyPr wrap="square" rtlCol="0" anchor="ctr"/>
          <a:lstStyle/>
          <a:p>
            <a:r>
              <a:rPr lang="en-US" sz="1467" dirty="0">
                <a:solidFill>
                  <a:srgbClr val="595959"/>
                </a:solidFill>
                <a:latin typeface="Courier New" pitchFamily="34" charset="0"/>
                <a:ea typeface="Courier New" pitchFamily="34" charset="-122"/>
                <a:cs typeface="Courier New" pitchFamily="34" charset="-120"/>
              </a:rPr>
              <a:t>1  1  1  1  1  0  0  0   (0 = ignore padding)</a:t>
            </a:r>
            <a:endParaRPr lang="en-US" sz="1467" dirty="0"/>
          </a:p>
        </p:txBody>
      </p:sp>
      <p:sp>
        <p:nvSpPr>
          <p:cNvPr id="23" name="Shape 21"/>
          <p:cNvSpPr/>
          <p:nvPr/>
        </p:nvSpPr>
        <p:spPr>
          <a:xfrm>
            <a:off x="548640" y="3738492"/>
            <a:ext cx="1950720" cy="536448"/>
          </a:xfrm>
          <a:prstGeom prst="rect">
            <a:avLst/>
          </a:prstGeom>
          <a:solidFill>
            <a:srgbClr val="1F5BAD"/>
          </a:solidFill>
          <a:ln w="12700">
            <a:solidFill>
              <a:srgbClr val="1F5BAD"/>
            </a:solidFill>
            <a:prstDash val="solid"/>
          </a:ln>
        </p:spPr>
      </p:sp>
      <p:sp>
        <p:nvSpPr>
          <p:cNvPr id="24" name="Text 22"/>
          <p:cNvSpPr/>
          <p:nvPr/>
        </p:nvSpPr>
        <p:spPr>
          <a:xfrm>
            <a:off x="548640" y="3738492"/>
            <a:ext cx="1950720" cy="536448"/>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Caption</a:t>
            </a:r>
            <a:endParaRPr lang="en-US" sz="1467" dirty="0"/>
          </a:p>
        </p:txBody>
      </p:sp>
      <p:sp>
        <p:nvSpPr>
          <p:cNvPr id="25" name="Shape 23"/>
          <p:cNvSpPr/>
          <p:nvPr/>
        </p:nvSpPr>
        <p:spPr>
          <a:xfrm>
            <a:off x="2535936" y="3738492"/>
            <a:ext cx="5762843" cy="536448"/>
          </a:xfrm>
          <a:prstGeom prst="rect">
            <a:avLst/>
          </a:prstGeom>
          <a:solidFill>
            <a:srgbClr val="EEF3FB"/>
          </a:solidFill>
          <a:ln w="12700">
            <a:solidFill>
              <a:srgbClr val="CCCCCC"/>
            </a:solidFill>
            <a:prstDash val="solid"/>
          </a:ln>
        </p:spPr>
      </p:sp>
      <p:sp>
        <p:nvSpPr>
          <p:cNvPr id="26" name="Text 24"/>
          <p:cNvSpPr/>
          <p:nvPr/>
        </p:nvSpPr>
        <p:spPr>
          <a:xfrm>
            <a:off x="2657856" y="3738492"/>
            <a:ext cx="5640923" cy="536448"/>
          </a:xfrm>
          <a:prstGeom prst="rect">
            <a:avLst/>
          </a:prstGeom>
          <a:noFill/>
          <a:ln/>
        </p:spPr>
        <p:txBody>
          <a:bodyPr wrap="square" rtlCol="0" anchor="ctr"/>
          <a:lstStyle/>
          <a:p>
            <a:r>
              <a:rPr lang="en-US" sz="1467" dirty="0">
                <a:solidFill>
                  <a:srgbClr val="1F3864"/>
                </a:solidFill>
                <a:latin typeface="Courier New" pitchFamily="34" charset="0"/>
                <a:ea typeface="Courier New" pitchFamily="34" charset="-122"/>
                <a:cs typeface="Courier New" pitchFamily="34" charset="-120"/>
              </a:rPr>
              <a:t>"an eagle flies in the sky"</a:t>
            </a:r>
            <a:endParaRPr lang="en-US" sz="1467" dirty="0"/>
          </a:p>
        </p:txBody>
      </p:sp>
      <p:sp>
        <p:nvSpPr>
          <p:cNvPr id="27" name="Shape 25"/>
          <p:cNvSpPr/>
          <p:nvPr/>
        </p:nvSpPr>
        <p:spPr>
          <a:xfrm>
            <a:off x="548640" y="4348092"/>
            <a:ext cx="1950720" cy="536448"/>
          </a:xfrm>
          <a:prstGeom prst="rect">
            <a:avLst/>
          </a:prstGeom>
          <a:solidFill>
            <a:srgbClr val="1565C0"/>
          </a:solidFill>
          <a:ln w="12700">
            <a:solidFill>
              <a:srgbClr val="1565C0"/>
            </a:solidFill>
            <a:prstDash val="solid"/>
          </a:ln>
        </p:spPr>
      </p:sp>
      <p:sp>
        <p:nvSpPr>
          <p:cNvPr id="28" name="Text 26"/>
          <p:cNvSpPr/>
          <p:nvPr/>
        </p:nvSpPr>
        <p:spPr>
          <a:xfrm>
            <a:off x="548640" y="4348092"/>
            <a:ext cx="1950720" cy="536448"/>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Tokens</a:t>
            </a:r>
            <a:endParaRPr lang="en-US" sz="1467" dirty="0"/>
          </a:p>
        </p:txBody>
      </p:sp>
      <p:sp>
        <p:nvSpPr>
          <p:cNvPr id="29" name="Shape 27"/>
          <p:cNvSpPr/>
          <p:nvPr/>
        </p:nvSpPr>
        <p:spPr>
          <a:xfrm>
            <a:off x="2535936" y="4348092"/>
            <a:ext cx="5762843" cy="536448"/>
          </a:xfrm>
          <a:prstGeom prst="rect">
            <a:avLst/>
          </a:prstGeom>
          <a:solidFill>
            <a:srgbClr val="FFFFFF"/>
          </a:solidFill>
          <a:ln w="12700">
            <a:solidFill>
              <a:srgbClr val="CCCCCC"/>
            </a:solidFill>
            <a:prstDash val="solid"/>
          </a:ln>
        </p:spPr>
      </p:sp>
      <p:sp>
        <p:nvSpPr>
          <p:cNvPr id="30" name="Text 28"/>
          <p:cNvSpPr/>
          <p:nvPr/>
        </p:nvSpPr>
        <p:spPr>
          <a:xfrm>
            <a:off x="2657856" y="4348092"/>
            <a:ext cx="5640923" cy="536448"/>
          </a:xfrm>
          <a:prstGeom prst="rect">
            <a:avLst/>
          </a:prstGeom>
          <a:noFill/>
          <a:ln/>
        </p:spPr>
        <p:txBody>
          <a:bodyPr wrap="square" rtlCol="0" anchor="ctr"/>
          <a:lstStyle/>
          <a:p>
            <a:r>
              <a:rPr lang="en-US" sz="1467" dirty="0">
                <a:solidFill>
                  <a:srgbClr val="595959"/>
                </a:solidFill>
                <a:latin typeface="Courier New" pitchFamily="34" charset="0"/>
                <a:ea typeface="Courier New" pitchFamily="34" charset="-122"/>
                <a:cs typeface="Courier New" pitchFamily="34" charset="-120"/>
              </a:rPr>
              <a:t>[CLS]  an  eagle  flies  in  the  sky  [SEP]</a:t>
            </a:r>
            <a:endParaRPr lang="en-US" sz="1467" dirty="0"/>
          </a:p>
        </p:txBody>
      </p:sp>
      <p:sp>
        <p:nvSpPr>
          <p:cNvPr id="31" name="Shape 29"/>
          <p:cNvSpPr/>
          <p:nvPr/>
        </p:nvSpPr>
        <p:spPr>
          <a:xfrm>
            <a:off x="548640" y="4957692"/>
            <a:ext cx="1950720" cy="536448"/>
          </a:xfrm>
          <a:prstGeom prst="rect">
            <a:avLst/>
          </a:prstGeom>
          <a:solidFill>
            <a:srgbClr val="0D47A1"/>
          </a:solidFill>
          <a:ln w="12700">
            <a:solidFill>
              <a:srgbClr val="0D47A1"/>
            </a:solidFill>
            <a:prstDash val="solid"/>
          </a:ln>
        </p:spPr>
      </p:sp>
      <p:sp>
        <p:nvSpPr>
          <p:cNvPr id="32" name="Text 30"/>
          <p:cNvSpPr/>
          <p:nvPr/>
        </p:nvSpPr>
        <p:spPr>
          <a:xfrm>
            <a:off x="548640" y="4957692"/>
            <a:ext cx="1950720" cy="536448"/>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input_ids</a:t>
            </a:r>
            <a:endParaRPr lang="en-US" sz="1467" dirty="0"/>
          </a:p>
        </p:txBody>
      </p:sp>
      <p:sp>
        <p:nvSpPr>
          <p:cNvPr id="33" name="Shape 31"/>
          <p:cNvSpPr/>
          <p:nvPr/>
        </p:nvSpPr>
        <p:spPr>
          <a:xfrm>
            <a:off x="2535936" y="4957692"/>
            <a:ext cx="5762843" cy="536448"/>
          </a:xfrm>
          <a:prstGeom prst="rect">
            <a:avLst/>
          </a:prstGeom>
          <a:solidFill>
            <a:srgbClr val="EEF3FB"/>
          </a:solidFill>
          <a:ln w="12700">
            <a:solidFill>
              <a:srgbClr val="CCCCCC"/>
            </a:solidFill>
            <a:prstDash val="solid"/>
          </a:ln>
        </p:spPr>
      </p:sp>
      <p:sp>
        <p:nvSpPr>
          <p:cNvPr id="34" name="Text 32"/>
          <p:cNvSpPr/>
          <p:nvPr/>
        </p:nvSpPr>
        <p:spPr>
          <a:xfrm>
            <a:off x="2657856" y="4957692"/>
            <a:ext cx="5640923" cy="536448"/>
          </a:xfrm>
          <a:prstGeom prst="rect">
            <a:avLst/>
          </a:prstGeom>
          <a:noFill/>
          <a:ln/>
        </p:spPr>
        <p:txBody>
          <a:bodyPr wrap="square" rtlCol="0" anchor="ctr"/>
          <a:lstStyle/>
          <a:p>
            <a:r>
              <a:rPr lang="en-US" sz="1467" dirty="0">
                <a:solidFill>
                  <a:srgbClr val="595959"/>
                </a:solidFill>
                <a:latin typeface="Courier New" pitchFamily="34" charset="0"/>
                <a:ea typeface="Courier New" pitchFamily="34" charset="-122"/>
                <a:cs typeface="Courier New" pitchFamily="34" charset="-120"/>
              </a:rPr>
              <a:t>101  2019  8928  8459  1999  1996  3712  102</a:t>
            </a:r>
            <a:endParaRPr lang="en-US" sz="1467" dirty="0"/>
          </a:p>
        </p:txBody>
      </p:sp>
      <p:sp>
        <p:nvSpPr>
          <p:cNvPr id="35" name="Shape 33"/>
          <p:cNvSpPr/>
          <p:nvPr/>
        </p:nvSpPr>
        <p:spPr>
          <a:xfrm>
            <a:off x="548640" y="5567292"/>
            <a:ext cx="1950720" cy="536448"/>
          </a:xfrm>
          <a:prstGeom prst="rect">
            <a:avLst/>
          </a:prstGeom>
          <a:solidFill>
            <a:srgbClr val="1B6B60"/>
          </a:solidFill>
          <a:ln w="12700">
            <a:solidFill>
              <a:srgbClr val="1B6B60"/>
            </a:solidFill>
            <a:prstDash val="solid"/>
          </a:ln>
        </p:spPr>
      </p:sp>
      <p:sp>
        <p:nvSpPr>
          <p:cNvPr id="36" name="Text 34"/>
          <p:cNvSpPr/>
          <p:nvPr/>
        </p:nvSpPr>
        <p:spPr>
          <a:xfrm>
            <a:off x="548640" y="5567292"/>
            <a:ext cx="1950720" cy="536448"/>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attention_mask</a:t>
            </a:r>
            <a:endParaRPr lang="en-US" sz="1467" dirty="0"/>
          </a:p>
        </p:txBody>
      </p:sp>
      <p:sp>
        <p:nvSpPr>
          <p:cNvPr id="37" name="Shape 35"/>
          <p:cNvSpPr/>
          <p:nvPr/>
        </p:nvSpPr>
        <p:spPr>
          <a:xfrm>
            <a:off x="2535936" y="5567292"/>
            <a:ext cx="5762843" cy="536448"/>
          </a:xfrm>
          <a:prstGeom prst="rect">
            <a:avLst/>
          </a:prstGeom>
          <a:solidFill>
            <a:srgbClr val="FFFFFF"/>
          </a:solidFill>
          <a:ln w="12700">
            <a:solidFill>
              <a:srgbClr val="CCCCCC"/>
            </a:solidFill>
            <a:prstDash val="solid"/>
          </a:ln>
        </p:spPr>
      </p:sp>
      <p:sp>
        <p:nvSpPr>
          <p:cNvPr id="38" name="Text 36"/>
          <p:cNvSpPr/>
          <p:nvPr/>
        </p:nvSpPr>
        <p:spPr>
          <a:xfrm>
            <a:off x="2657856" y="5567292"/>
            <a:ext cx="5677499" cy="536448"/>
          </a:xfrm>
          <a:prstGeom prst="rect">
            <a:avLst/>
          </a:prstGeom>
          <a:noFill/>
          <a:ln/>
        </p:spPr>
        <p:txBody>
          <a:bodyPr wrap="square" rtlCol="0" anchor="ctr"/>
          <a:lstStyle/>
          <a:p>
            <a:r>
              <a:rPr lang="en-US" sz="1467" dirty="0">
                <a:solidFill>
                  <a:srgbClr val="595959"/>
                </a:solidFill>
                <a:latin typeface="Courier New" pitchFamily="34" charset="0"/>
                <a:ea typeface="Courier New" pitchFamily="34" charset="-122"/>
                <a:cs typeface="Courier New" pitchFamily="34" charset="-120"/>
              </a:rPr>
              <a:t>1  1  1  1  1  1  1  1   (no padding needed)</a:t>
            </a:r>
            <a:endParaRPr lang="en-US" sz="1467" dirty="0"/>
          </a:p>
        </p:txBody>
      </p:sp>
      <p:sp>
        <p:nvSpPr>
          <p:cNvPr id="39" name="Shape 37"/>
          <p:cNvSpPr/>
          <p:nvPr/>
        </p:nvSpPr>
        <p:spPr>
          <a:xfrm>
            <a:off x="426720" y="6323196"/>
            <a:ext cx="8100831" cy="446652"/>
          </a:xfrm>
          <a:prstGeom prst="rect">
            <a:avLst/>
          </a:prstGeom>
          <a:solidFill>
            <a:srgbClr val="FEF9E7"/>
          </a:solidFill>
          <a:ln w="12700">
            <a:solidFill>
              <a:srgbClr val="F39C12"/>
            </a:solidFill>
            <a:prstDash val="solid"/>
          </a:ln>
        </p:spPr>
      </p:sp>
      <p:sp>
        <p:nvSpPr>
          <p:cNvPr id="40" name="Text 38"/>
          <p:cNvSpPr/>
          <p:nvPr/>
        </p:nvSpPr>
        <p:spPr>
          <a:xfrm>
            <a:off x="597408" y="6323196"/>
            <a:ext cx="7930143" cy="463296"/>
          </a:xfrm>
          <a:prstGeom prst="rect">
            <a:avLst/>
          </a:prstGeom>
          <a:noFill/>
          <a:ln/>
        </p:spPr>
        <p:txBody>
          <a:bodyPr wrap="square" rtlCol="0" anchor="ctr"/>
          <a:lstStyle/>
          <a:p>
            <a:r>
              <a:rPr lang="en-US" sz="1467" dirty="0">
                <a:solidFill>
                  <a:srgbClr val="1F3864"/>
                </a:solidFill>
                <a:latin typeface="Calibri" pitchFamily="34" charset="0"/>
                <a:ea typeface="Calibri" pitchFamily="34" charset="-122"/>
                <a:cs typeface="Calibri" pitchFamily="34" charset="-120"/>
              </a:rPr>
              <a:t>[CLS] = start of sentence marker.  [SEP] = end of sentence.  [PAD] = padding to equalise batch lengths.  </a:t>
            </a:r>
          </a:p>
          <a:p>
            <a:r>
              <a:rPr lang="en-US" sz="1467" dirty="0">
                <a:solidFill>
                  <a:srgbClr val="1F3864"/>
                </a:solidFill>
                <a:latin typeface="Calibri" pitchFamily="34" charset="0"/>
                <a:ea typeface="Calibri" pitchFamily="34" charset="-122"/>
                <a:cs typeface="Calibri" pitchFamily="34" charset="-120"/>
              </a:rPr>
              <a:t>The shorter caption gets padded; the attention_mask tells the model to ignore those zeros.</a:t>
            </a:r>
            <a:endParaRPr lang="en-US" sz="1467" dirty="0"/>
          </a:p>
        </p:txBody>
      </p:sp>
      <p:sp>
        <p:nvSpPr>
          <p:cNvPr id="41" name="Shape 0">
            <a:extLst>
              <a:ext uri="{FF2B5EF4-FFF2-40B4-BE49-F238E27FC236}">
                <a16:creationId xmlns:a16="http://schemas.microsoft.com/office/drawing/2014/main" id="{13736D0D-172D-E982-B386-48A7D203B5F5}"/>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5122" name="Picture 2" descr="Eagle Flying In The Sky Pictures | Download Free Images on Unsplash">
            <a:extLst>
              <a:ext uri="{FF2B5EF4-FFF2-40B4-BE49-F238E27FC236}">
                <a16:creationId xmlns:a16="http://schemas.microsoft.com/office/drawing/2014/main" id="{206EBC35-398B-773D-F9E6-C6D61F6F90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76013" y="4061169"/>
            <a:ext cx="2083519" cy="1793046"/>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Two brown and white dogs running dirt road during daytime photo – Free  Animal Image on Unsplash">
            <a:extLst>
              <a:ext uri="{FF2B5EF4-FFF2-40B4-BE49-F238E27FC236}">
                <a16:creationId xmlns:a16="http://schemas.microsoft.com/office/drawing/2014/main" id="{42255098-AF51-6F0A-1CEA-A23746A918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56064" y="1107657"/>
            <a:ext cx="2103468" cy="2035242"/>
          </a:xfrm>
          <a:prstGeom prst="rect">
            <a:avLst/>
          </a:prstGeom>
          <a:noFill/>
          <a:extLst>
            <a:ext uri="{909E8E84-426E-40DD-AFC4-6F175D3DCCD1}">
              <a14:hiddenFill xmlns:a14="http://schemas.microsoft.com/office/drawing/2010/main">
                <a:solidFill>
                  <a:srgbClr val="FFFFFF"/>
                </a:solidFill>
              </a14:hiddenFill>
            </a:ext>
          </a:extLst>
        </p:spPr>
      </p:pic>
      <p:sp>
        <p:nvSpPr>
          <p:cNvPr id="42" name="Arrow: Left-Right 41">
            <a:extLst>
              <a:ext uri="{FF2B5EF4-FFF2-40B4-BE49-F238E27FC236}">
                <a16:creationId xmlns:a16="http://schemas.microsoft.com/office/drawing/2014/main" id="{97C0BEF7-7DC2-7103-9A09-94FB5FA9AB59}"/>
              </a:ext>
            </a:extLst>
          </p:cNvPr>
          <p:cNvSpPr/>
          <p:nvPr/>
        </p:nvSpPr>
        <p:spPr>
          <a:xfrm>
            <a:off x="8369345" y="2014437"/>
            <a:ext cx="1216152" cy="484632"/>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43" name="Arrow: Left-Right 42">
            <a:extLst>
              <a:ext uri="{FF2B5EF4-FFF2-40B4-BE49-F238E27FC236}">
                <a16:creationId xmlns:a16="http://schemas.microsoft.com/office/drawing/2014/main" id="{BAF13509-50FC-5CE2-941B-893371569484}"/>
              </a:ext>
            </a:extLst>
          </p:cNvPr>
          <p:cNvSpPr/>
          <p:nvPr/>
        </p:nvSpPr>
        <p:spPr>
          <a:xfrm>
            <a:off x="8379320" y="4616316"/>
            <a:ext cx="1216152" cy="484632"/>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44" name="TextBox 43">
            <a:extLst>
              <a:ext uri="{FF2B5EF4-FFF2-40B4-BE49-F238E27FC236}">
                <a16:creationId xmlns:a16="http://schemas.microsoft.com/office/drawing/2014/main" id="{23AA1FF0-09A7-6D95-A065-D46E9D07D3E6}"/>
              </a:ext>
            </a:extLst>
          </p:cNvPr>
          <p:cNvSpPr txBox="1"/>
          <p:nvPr/>
        </p:nvSpPr>
        <p:spPr>
          <a:xfrm>
            <a:off x="9691205" y="3139298"/>
            <a:ext cx="2033185" cy="369332"/>
          </a:xfrm>
          <a:prstGeom prst="rect">
            <a:avLst/>
          </a:prstGeom>
          <a:noFill/>
        </p:spPr>
        <p:txBody>
          <a:bodyPr wrap="none" rtlCol="0">
            <a:spAutoFit/>
          </a:bodyPr>
          <a:lstStyle/>
          <a:p>
            <a:r>
              <a:rPr lang="en-US" dirty="0"/>
              <a:t>resized to 224x224</a:t>
            </a:r>
            <a:endParaRPr lang="ro-RO" dirty="0"/>
          </a:p>
        </p:txBody>
      </p:sp>
      <p:sp>
        <p:nvSpPr>
          <p:cNvPr id="46" name="TextBox 45">
            <a:extLst>
              <a:ext uri="{FF2B5EF4-FFF2-40B4-BE49-F238E27FC236}">
                <a16:creationId xmlns:a16="http://schemas.microsoft.com/office/drawing/2014/main" id="{317C8A96-A413-C7E0-7E94-A415023D4A98}"/>
              </a:ext>
            </a:extLst>
          </p:cNvPr>
          <p:cNvSpPr txBox="1"/>
          <p:nvPr/>
        </p:nvSpPr>
        <p:spPr>
          <a:xfrm>
            <a:off x="9701179" y="5835516"/>
            <a:ext cx="2033185" cy="369332"/>
          </a:xfrm>
          <a:prstGeom prst="rect">
            <a:avLst/>
          </a:prstGeom>
          <a:noFill/>
        </p:spPr>
        <p:txBody>
          <a:bodyPr wrap="none" rtlCol="0">
            <a:spAutoFit/>
          </a:bodyPr>
          <a:lstStyle/>
          <a:p>
            <a:r>
              <a:rPr lang="en-US" dirty="0"/>
              <a:t>resized to 224x224</a:t>
            </a:r>
            <a:endParaRPr lang="ro-RO"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64096"/>
          </a:xfrm>
          <a:prstGeom prst="rect">
            <a:avLst/>
          </a:prstGeom>
          <a:solidFill>
            <a:srgbClr val="00E5FF"/>
          </a:solidFill>
          <a:ln w="12700">
            <a:solidFill>
              <a:srgbClr val="00E5FF"/>
            </a:solidFill>
            <a:prstDash val="solid"/>
          </a:ln>
        </p:spPr>
      </p:sp>
      <p:sp>
        <p:nvSpPr>
          <p:cNvPr id="6" name="Text 1">
            <a:extLst>
              <a:ext uri="{FF2B5EF4-FFF2-40B4-BE49-F238E27FC236}">
                <a16:creationId xmlns:a16="http://schemas.microsoft.com/office/drawing/2014/main" id="{4E4FA7AF-1148-52A1-5E00-E78A6BD255E0}"/>
              </a:ext>
            </a:extLst>
          </p:cNvPr>
          <p:cNvSpPr/>
          <p:nvPr/>
        </p:nvSpPr>
        <p:spPr>
          <a:xfrm>
            <a:off x="853440" y="1706880"/>
            <a:ext cx="9753600" cy="512064"/>
          </a:xfrm>
          <a:prstGeom prst="rect">
            <a:avLst/>
          </a:prstGeom>
          <a:noFill/>
          <a:ln/>
        </p:spPr>
        <p:txBody>
          <a:bodyPr wrap="square" lIns="0" tIns="0" rIns="0" bIns="0" rtlCol="0" anchor="ctr"/>
          <a:lstStyle/>
          <a:p>
            <a:r>
              <a:rPr lang="en-US" sz="1867" dirty="0">
                <a:solidFill>
                  <a:srgbClr val="00E5FF"/>
                </a:solidFill>
                <a:latin typeface="Calibri" pitchFamily="34" charset="0"/>
                <a:ea typeface="Calibri" pitchFamily="34" charset="-122"/>
                <a:cs typeface="Calibri" pitchFamily="34" charset="-120"/>
              </a:rPr>
              <a:t>Section 2</a:t>
            </a:r>
            <a:endParaRPr lang="en-US" sz="1867" dirty="0"/>
          </a:p>
        </p:txBody>
      </p:sp>
      <p:sp>
        <p:nvSpPr>
          <p:cNvPr id="7" name="Text 2">
            <a:extLst>
              <a:ext uri="{FF2B5EF4-FFF2-40B4-BE49-F238E27FC236}">
                <a16:creationId xmlns:a16="http://schemas.microsoft.com/office/drawing/2014/main" id="{C1239377-AFAE-8459-D692-5946FB8E2BB9}"/>
              </a:ext>
            </a:extLst>
          </p:cNvPr>
          <p:cNvSpPr/>
          <p:nvPr/>
        </p:nvSpPr>
        <p:spPr>
          <a:xfrm>
            <a:off x="853440" y="2255520"/>
            <a:ext cx="10363200" cy="2194560"/>
          </a:xfrm>
          <a:prstGeom prst="rect">
            <a:avLst/>
          </a:prstGeom>
          <a:noFill/>
          <a:ln/>
        </p:spPr>
        <p:txBody>
          <a:bodyPr wrap="square" lIns="0" tIns="0" rIns="0" bIns="0" rtlCol="0" anchor="ctr"/>
          <a:lstStyle/>
          <a:p>
            <a:r>
              <a:rPr lang="en-US" sz="6000" b="1" dirty="0">
                <a:solidFill>
                  <a:srgbClr val="000000"/>
                </a:solidFill>
                <a:latin typeface="Calibri" pitchFamily="34" charset="0"/>
                <a:ea typeface="Calibri" pitchFamily="34" charset="-122"/>
                <a:cs typeface="Calibri" pitchFamily="34" charset="-120"/>
              </a:rPr>
              <a:t>Building the</a:t>
            </a:r>
            <a:endParaRPr lang="en-US" sz="6000" dirty="0"/>
          </a:p>
          <a:p>
            <a:r>
              <a:rPr lang="en-US" sz="6000" b="1" dirty="0">
                <a:solidFill>
                  <a:srgbClr val="000000"/>
                </a:solidFill>
                <a:latin typeface="Calibri" pitchFamily="34" charset="0"/>
                <a:ea typeface="Calibri" pitchFamily="34" charset="-122"/>
                <a:cs typeface="Calibri" pitchFamily="34" charset="-120"/>
              </a:rPr>
              <a:t>CLIP Model</a:t>
            </a:r>
            <a:endParaRPr lang="en-US" sz="6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3" name="Text 1"/>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Text Encoder: Pretrained </a:t>
            </a:r>
            <a:r>
              <a:rPr lang="en-US" sz="3467" b="1" dirty="0" err="1">
                <a:solidFill>
                  <a:srgbClr val="1F3864"/>
                </a:solidFill>
                <a:latin typeface="Calibri" pitchFamily="34" charset="0"/>
                <a:ea typeface="Calibri" pitchFamily="34" charset="-122"/>
                <a:cs typeface="Calibri" pitchFamily="34" charset="-120"/>
              </a:rPr>
              <a:t>DistilBERT</a:t>
            </a:r>
            <a:endParaRPr lang="en-US" sz="3467" dirty="0"/>
          </a:p>
        </p:txBody>
      </p:sp>
      <p:sp>
        <p:nvSpPr>
          <p:cNvPr id="4" name="Text 2"/>
          <p:cNvSpPr/>
          <p:nvPr/>
        </p:nvSpPr>
        <p:spPr>
          <a:xfrm>
            <a:off x="548640" y="950976"/>
            <a:ext cx="11094720" cy="341376"/>
          </a:xfrm>
          <a:prstGeom prst="rect">
            <a:avLst/>
          </a:prstGeom>
          <a:noFill/>
          <a:ln/>
        </p:spPr>
        <p:txBody>
          <a:bodyPr wrap="square" rtlCol="0" anchor="ctr"/>
          <a:lstStyle/>
          <a:p>
            <a:r>
              <a:rPr lang="en-US" sz="1733" i="1" dirty="0">
                <a:solidFill>
                  <a:srgbClr val="595959"/>
                </a:solidFill>
                <a:latin typeface="Calibri" pitchFamily="34" charset="0"/>
                <a:ea typeface="Calibri" pitchFamily="34" charset="-122"/>
                <a:cs typeface="Calibri" pitchFamily="34" charset="-120"/>
              </a:rPr>
              <a:t>Converts any caption of any length into a single fixed-size 768-dimensional vector.</a:t>
            </a:r>
            <a:endParaRPr lang="en-US" sz="1733" dirty="0"/>
          </a:p>
        </p:txBody>
      </p:sp>
      <p:sp>
        <p:nvSpPr>
          <p:cNvPr id="39" name="Shape 0">
            <a:extLst>
              <a:ext uri="{FF2B5EF4-FFF2-40B4-BE49-F238E27FC236}">
                <a16:creationId xmlns:a16="http://schemas.microsoft.com/office/drawing/2014/main" id="{8F329A88-EAD0-97AE-2C63-44AC6E9BEE34}"/>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40" name="Text 8">
            <a:extLst>
              <a:ext uri="{FF2B5EF4-FFF2-40B4-BE49-F238E27FC236}">
                <a16:creationId xmlns:a16="http://schemas.microsoft.com/office/drawing/2014/main" id="{0694C0F6-1B5C-0256-40F4-3B5F38CE5B2D}"/>
              </a:ext>
            </a:extLst>
          </p:cNvPr>
          <p:cNvSpPr/>
          <p:nvPr/>
        </p:nvSpPr>
        <p:spPr>
          <a:xfrm>
            <a:off x="5010639" y="1341120"/>
            <a:ext cx="1760032" cy="536448"/>
          </a:xfrm>
          <a:prstGeom prst="rect">
            <a:avLst/>
          </a:prstGeom>
          <a:noFill/>
          <a:ln/>
        </p:spPr>
        <p:txBody>
          <a:bodyPr wrap="square" rtlCol="0" anchor="ctr"/>
          <a:lstStyle/>
          <a:p>
            <a:r>
              <a:rPr lang="en-US" sz="1467" dirty="0">
                <a:solidFill>
                  <a:srgbClr val="1F3864"/>
                </a:solidFill>
                <a:latin typeface="Courier New" pitchFamily="34" charset="0"/>
                <a:ea typeface="Courier New" pitchFamily="34" charset="-122"/>
                <a:cs typeface="Courier New" pitchFamily="34" charset="-120"/>
              </a:rPr>
              <a:t>"two dogs run"</a:t>
            </a:r>
            <a:endParaRPr lang="en-US" sz="1467" dirty="0"/>
          </a:p>
        </p:txBody>
      </p:sp>
      <p:sp>
        <p:nvSpPr>
          <p:cNvPr id="53" name="TextBox 52">
            <a:extLst>
              <a:ext uri="{FF2B5EF4-FFF2-40B4-BE49-F238E27FC236}">
                <a16:creationId xmlns:a16="http://schemas.microsoft.com/office/drawing/2014/main" id="{6F0ADD98-35C3-9B54-9602-177CD987BD94}"/>
              </a:ext>
            </a:extLst>
          </p:cNvPr>
          <p:cNvSpPr txBox="1"/>
          <p:nvPr/>
        </p:nvSpPr>
        <p:spPr>
          <a:xfrm>
            <a:off x="3044576" y="1926336"/>
            <a:ext cx="6102848" cy="318549"/>
          </a:xfrm>
          <a:prstGeom prst="rect">
            <a:avLst/>
          </a:prstGeom>
          <a:noFill/>
        </p:spPr>
        <p:txBody>
          <a:bodyPr wrap="square">
            <a:spAutoFit/>
          </a:bodyPr>
          <a:lstStyle/>
          <a:p>
            <a:r>
              <a:rPr lang="en-US" sz="1470" dirty="0">
                <a:solidFill>
                  <a:srgbClr val="595959"/>
                </a:solidFill>
                <a:latin typeface="Courier New" pitchFamily="34" charset="0"/>
                <a:ea typeface="Courier New" pitchFamily="34" charset="-122"/>
                <a:cs typeface="Courier New" pitchFamily="34" charset="-120"/>
              </a:rPr>
              <a:t>[CLS]  two  dogs  run  [SEP]  [PAD]  [PAD]  [PAD]</a:t>
            </a:r>
            <a:endParaRPr lang="en-US" sz="1470" dirty="0"/>
          </a:p>
        </p:txBody>
      </p:sp>
      <p:sp>
        <p:nvSpPr>
          <p:cNvPr id="55" name="TextBox 54">
            <a:extLst>
              <a:ext uri="{FF2B5EF4-FFF2-40B4-BE49-F238E27FC236}">
                <a16:creationId xmlns:a16="http://schemas.microsoft.com/office/drawing/2014/main" id="{29CD47EF-D980-C920-B86D-2493ECA7F37E}"/>
              </a:ext>
            </a:extLst>
          </p:cNvPr>
          <p:cNvSpPr txBox="1"/>
          <p:nvPr/>
        </p:nvSpPr>
        <p:spPr>
          <a:xfrm>
            <a:off x="3943564" y="2435352"/>
            <a:ext cx="4304872" cy="318549"/>
          </a:xfrm>
          <a:prstGeom prst="rect">
            <a:avLst/>
          </a:prstGeom>
          <a:noFill/>
        </p:spPr>
        <p:txBody>
          <a:bodyPr wrap="square">
            <a:spAutoFit/>
          </a:bodyPr>
          <a:lstStyle/>
          <a:p>
            <a:r>
              <a:rPr lang="en-US" sz="1470" dirty="0">
                <a:solidFill>
                  <a:srgbClr val="595959"/>
                </a:solidFill>
                <a:latin typeface="Courier New" pitchFamily="34" charset="0"/>
                <a:ea typeface="Courier New" pitchFamily="34" charset="-122"/>
                <a:cs typeface="Courier New" pitchFamily="34" charset="-120"/>
              </a:rPr>
              <a:t>101  1160  6077  2448  102  0  0  0</a:t>
            </a:r>
            <a:endParaRPr lang="en-US" sz="1470" dirty="0"/>
          </a:p>
        </p:txBody>
      </p:sp>
      <p:cxnSp>
        <p:nvCxnSpPr>
          <p:cNvPr id="57" name="Straight Arrow Connector 56">
            <a:extLst>
              <a:ext uri="{FF2B5EF4-FFF2-40B4-BE49-F238E27FC236}">
                <a16:creationId xmlns:a16="http://schemas.microsoft.com/office/drawing/2014/main" id="{1EB36FCB-F787-32E2-E04A-D2B4871BD598}"/>
              </a:ext>
            </a:extLst>
          </p:cNvPr>
          <p:cNvCxnSpPr>
            <a:cxnSpLocks/>
          </p:cNvCxnSpPr>
          <p:nvPr/>
        </p:nvCxnSpPr>
        <p:spPr>
          <a:xfrm>
            <a:off x="5890655" y="1714500"/>
            <a:ext cx="0" cy="2751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E364C8F7-6862-958D-C350-97586244799F}"/>
              </a:ext>
            </a:extLst>
          </p:cNvPr>
          <p:cNvCxnSpPr>
            <a:cxnSpLocks/>
          </p:cNvCxnSpPr>
          <p:nvPr/>
        </p:nvCxnSpPr>
        <p:spPr>
          <a:xfrm>
            <a:off x="5894860" y="2209800"/>
            <a:ext cx="0" cy="2751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0" name="Trapezoid 59">
            <a:extLst>
              <a:ext uri="{FF2B5EF4-FFF2-40B4-BE49-F238E27FC236}">
                <a16:creationId xmlns:a16="http://schemas.microsoft.com/office/drawing/2014/main" id="{2F187095-2368-FEB6-5888-156F0AE0A18B}"/>
              </a:ext>
            </a:extLst>
          </p:cNvPr>
          <p:cNvSpPr/>
          <p:nvPr/>
        </p:nvSpPr>
        <p:spPr>
          <a:xfrm rot="10800000">
            <a:off x="4683029" y="2972849"/>
            <a:ext cx="2415252" cy="1216152"/>
          </a:xfrm>
          <a:prstGeom prst="trapezoi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dirty="0"/>
          </a:p>
        </p:txBody>
      </p:sp>
      <p:sp>
        <p:nvSpPr>
          <p:cNvPr id="64" name="TextBox 63">
            <a:extLst>
              <a:ext uri="{FF2B5EF4-FFF2-40B4-BE49-F238E27FC236}">
                <a16:creationId xmlns:a16="http://schemas.microsoft.com/office/drawing/2014/main" id="{712F49E3-B36D-ADEA-DC4A-C56AB2F36E47}"/>
              </a:ext>
            </a:extLst>
          </p:cNvPr>
          <p:cNvSpPr txBox="1"/>
          <p:nvPr/>
        </p:nvSpPr>
        <p:spPr>
          <a:xfrm>
            <a:off x="4858514" y="3134315"/>
            <a:ext cx="2064281" cy="646331"/>
          </a:xfrm>
          <a:prstGeom prst="rect">
            <a:avLst/>
          </a:prstGeom>
          <a:noFill/>
        </p:spPr>
        <p:txBody>
          <a:bodyPr wrap="square">
            <a:spAutoFit/>
          </a:bodyPr>
          <a:lstStyle/>
          <a:p>
            <a:pPr algn="ctr"/>
            <a:r>
              <a:rPr lang="en-US" dirty="0">
                <a:solidFill>
                  <a:schemeClr val="bg1"/>
                </a:solidFill>
              </a:rPr>
              <a:t>Pretrained </a:t>
            </a:r>
            <a:r>
              <a:rPr lang="en-US" dirty="0" err="1">
                <a:solidFill>
                  <a:schemeClr val="bg1"/>
                </a:solidFill>
              </a:rPr>
              <a:t>DistilBERT</a:t>
            </a:r>
            <a:r>
              <a:rPr lang="en-US" dirty="0">
                <a:solidFill>
                  <a:schemeClr val="bg1"/>
                </a:solidFill>
              </a:rPr>
              <a:t> Model</a:t>
            </a:r>
            <a:endParaRPr lang="ro-RO" dirty="0">
              <a:solidFill>
                <a:schemeClr val="bg1"/>
              </a:solidFill>
            </a:endParaRPr>
          </a:p>
        </p:txBody>
      </p:sp>
      <p:cxnSp>
        <p:nvCxnSpPr>
          <p:cNvPr id="65" name="Straight Arrow Connector 64">
            <a:extLst>
              <a:ext uri="{FF2B5EF4-FFF2-40B4-BE49-F238E27FC236}">
                <a16:creationId xmlns:a16="http://schemas.microsoft.com/office/drawing/2014/main" id="{9E6CB735-983C-32CE-CA8A-1FE44CAAA6B4}"/>
              </a:ext>
            </a:extLst>
          </p:cNvPr>
          <p:cNvCxnSpPr>
            <a:cxnSpLocks/>
          </p:cNvCxnSpPr>
          <p:nvPr/>
        </p:nvCxnSpPr>
        <p:spPr>
          <a:xfrm>
            <a:off x="5894831" y="2654300"/>
            <a:ext cx="0" cy="2751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FA018AE6-FDD3-5AF0-389A-D89A60C1BFA9}"/>
              </a:ext>
            </a:extLst>
          </p:cNvPr>
          <p:cNvSpPr txBox="1"/>
          <p:nvPr/>
        </p:nvSpPr>
        <p:spPr>
          <a:xfrm>
            <a:off x="8795074" y="2347116"/>
            <a:ext cx="2848286" cy="544765"/>
          </a:xfrm>
          <a:prstGeom prst="rect">
            <a:avLst/>
          </a:prstGeom>
          <a:noFill/>
        </p:spPr>
        <p:txBody>
          <a:bodyPr wrap="square">
            <a:spAutoFit/>
          </a:bodyPr>
          <a:lstStyle/>
          <a:p>
            <a:r>
              <a:rPr lang="en-US" sz="1470" dirty="0">
                <a:solidFill>
                  <a:srgbClr val="595959"/>
                </a:solidFill>
                <a:latin typeface="Courier New" pitchFamily="34" charset="0"/>
                <a:ea typeface="Courier New" pitchFamily="34" charset="-122"/>
                <a:cs typeface="Courier New" pitchFamily="34" charset="-120"/>
              </a:rPr>
              <a:t>1  1  1  1  1  0  0  0   (0 = ignore padding)</a:t>
            </a:r>
            <a:endParaRPr lang="en-US" sz="1470" dirty="0"/>
          </a:p>
        </p:txBody>
      </p:sp>
      <p:sp>
        <p:nvSpPr>
          <p:cNvPr id="68" name="Plus Sign 67">
            <a:extLst>
              <a:ext uri="{FF2B5EF4-FFF2-40B4-BE49-F238E27FC236}">
                <a16:creationId xmlns:a16="http://schemas.microsoft.com/office/drawing/2014/main" id="{0B991606-9360-D8E4-25BD-A2AD655D4D36}"/>
              </a:ext>
            </a:extLst>
          </p:cNvPr>
          <p:cNvSpPr/>
          <p:nvPr/>
        </p:nvSpPr>
        <p:spPr>
          <a:xfrm>
            <a:off x="8353313" y="2435351"/>
            <a:ext cx="336884" cy="318549"/>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70" name="TextBox 69">
            <a:extLst>
              <a:ext uri="{FF2B5EF4-FFF2-40B4-BE49-F238E27FC236}">
                <a16:creationId xmlns:a16="http://schemas.microsoft.com/office/drawing/2014/main" id="{4FE58B24-0DE9-C847-93F2-98476FCE51A8}"/>
              </a:ext>
            </a:extLst>
          </p:cNvPr>
          <p:cNvSpPr txBox="1"/>
          <p:nvPr/>
        </p:nvSpPr>
        <p:spPr>
          <a:xfrm>
            <a:off x="6985697" y="4503191"/>
            <a:ext cx="2801280" cy="369332"/>
          </a:xfrm>
          <a:prstGeom prst="rect">
            <a:avLst/>
          </a:prstGeom>
          <a:noFill/>
        </p:spPr>
        <p:txBody>
          <a:bodyPr wrap="none" rtlCol="0">
            <a:spAutoFit/>
          </a:bodyPr>
          <a:lstStyle/>
          <a:p>
            <a:r>
              <a:rPr lang="en-US" dirty="0"/>
              <a:t>- vector with 768 elements</a:t>
            </a:r>
            <a:endParaRPr lang="ro-RO" dirty="0"/>
          </a:p>
        </p:txBody>
      </p:sp>
      <p:sp>
        <p:nvSpPr>
          <p:cNvPr id="71" name="Rectangle 70">
            <a:extLst>
              <a:ext uri="{FF2B5EF4-FFF2-40B4-BE49-F238E27FC236}">
                <a16:creationId xmlns:a16="http://schemas.microsoft.com/office/drawing/2014/main" id="{A668FE6E-9D95-66B3-D458-73AB00691237}"/>
              </a:ext>
            </a:extLst>
          </p:cNvPr>
          <p:cNvSpPr/>
          <p:nvPr/>
        </p:nvSpPr>
        <p:spPr>
          <a:xfrm>
            <a:off x="4858514" y="4528583"/>
            <a:ext cx="2127183" cy="318549"/>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cxnSp>
        <p:nvCxnSpPr>
          <p:cNvPr id="72" name="Straight Arrow Connector 71">
            <a:extLst>
              <a:ext uri="{FF2B5EF4-FFF2-40B4-BE49-F238E27FC236}">
                <a16:creationId xmlns:a16="http://schemas.microsoft.com/office/drawing/2014/main" id="{B239B301-02F5-5934-CDA0-6ACFFC9BFD53}"/>
              </a:ext>
            </a:extLst>
          </p:cNvPr>
          <p:cNvCxnSpPr>
            <a:cxnSpLocks/>
          </p:cNvCxnSpPr>
          <p:nvPr/>
        </p:nvCxnSpPr>
        <p:spPr>
          <a:xfrm>
            <a:off x="5890655" y="4228024"/>
            <a:ext cx="0" cy="2751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216BF7C5-00CB-DEA0-4B05-56C4720E33D3}"/>
              </a:ext>
            </a:extLst>
          </p:cNvPr>
          <p:cNvSpPr txBox="1"/>
          <p:nvPr/>
        </p:nvSpPr>
        <p:spPr>
          <a:xfrm>
            <a:off x="7098281" y="3396258"/>
            <a:ext cx="4212435" cy="369332"/>
          </a:xfrm>
          <a:prstGeom prst="rect">
            <a:avLst/>
          </a:prstGeom>
          <a:noFill/>
        </p:spPr>
        <p:txBody>
          <a:bodyPr wrap="none" rtlCol="0">
            <a:spAutoFit/>
          </a:bodyPr>
          <a:lstStyle/>
          <a:p>
            <a:r>
              <a:rPr lang="en-US" dirty="0"/>
              <a:t>- a 66M parameters model developed by </a:t>
            </a:r>
            <a:endParaRPr lang="ro-RO" dirty="0"/>
          </a:p>
        </p:txBody>
      </p:sp>
      <p:pic>
        <p:nvPicPr>
          <p:cNvPr id="6148" name="Picture 4" descr="Google logo - Wikipedia">
            <a:extLst>
              <a:ext uri="{FF2B5EF4-FFF2-40B4-BE49-F238E27FC236}">
                <a16:creationId xmlns:a16="http://schemas.microsoft.com/office/drawing/2014/main" id="{F92FEB3D-F529-9BB0-9CC5-DA132A4128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19752" y="3311853"/>
            <a:ext cx="532899" cy="532899"/>
          </a:xfrm>
          <a:prstGeom prst="rect">
            <a:avLst/>
          </a:prstGeom>
          <a:noFill/>
          <a:extLst>
            <a:ext uri="{909E8E84-426E-40DD-AFC4-6F175D3DCCD1}">
              <a14:hiddenFill xmlns:a14="http://schemas.microsoft.com/office/drawing/2010/main">
                <a:solidFill>
                  <a:srgbClr val="FFFFFF"/>
                </a:solidFill>
              </a14:hiddenFill>
            </a:ext>
          </a:extLst>
        </p:spPr>
      </p:pic>
      <p:sp>
        <p:nvSpPr>
          <p:cNvPr id="74" name="TextBox 73">
            <a:extLst>
              <a:ext uri="{FF2B5EF4-FFF2-40B4-BE49-F238E27FC236}">
                <a16:creationId xmlns:a16="http://schemas.microsoft.com/office/drawing/2014/main" id="{FEA5419B-5FEA-7A46-83D9-759C44C35EC9}"/>
              </a:ext>
            </a:extLst>
          </p:cNvPr>
          <p:cNvSpPr txBox="1"/>
          <p:nvPr/>
        </p:nvSpPr>
        <p:spPr>
          <a:xfrm>
            <a:off x="6985697" y="6367755"/>
            <a:ext cx="2801280" cy="369332"/>
          </a:xfrm>
          <a:prstGeom prst="rect">
            <a:avLst/>
          </a:prstGeom>
          <a:noFill/>
        </p:spPr>
        <p:txBody>
          <a:bodyPr wrap="none" rtlCol="0">
            <a:spAutoFit/>
          </a:bodyPr>
          <a:lstStyle/>
          <a:p>
            <a:r>
              <a:rPr lang="en-US" dirty="0"/>
              <a:t>- vector with 256 elements</a:t>
            </a:r>
            <a:endParaRPr lang="ro-RO" dirty="0"/>
          </a:p>
        </p:txBody>
      </p:sp>
      <p:sp>
        <p:nvSpPr>
          <p:cNvPr id="75" name="Rectangle 74">
            <a:extLst>
              <a:ext uri="{FF2B5EF4-FFF2-40B4-BE49-F238E27FC236}">
                <a16:creationId xmlns:a16="http://schemas.microsoft.com/office/drawing/2014/main" id="{35A55E27-169D-3543-26D1-F540724355CC}"/>
              </a:ext>
            </a:extLst>
          </p:cNvPr>
          <p:cNvSpPr/>
          <p:nvPr/>
        </p:nvSpPr>
        <p:spPr>
          <a:xfrm>
            <a:off x="4858514" y="6393147"/>
            <a:ext cx="2127183" cy="318549"/>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cxnSp>
        <p:nvCxnSpPr>
          <p:cNvPr id="76" name="Straight Arrow Connector 75">
            <a:extLst>
              <a:ext uri="{FF2B5EF4-FFF2-40B4-BE49-F238E27FC236}">
                <a16:creationId xmlns:a16="http://schemas.microsoft.com/office/drawing/2014/main" id="{88A28A4C-36A0-C4F9-6716-A475AB9D4D7C}"/>
              </a:ext>
            </a:extLst>
          </p:cNvPr>
          <p:cNvCxnSpPr>
            <a:cxnSpLocks/>
          </p:cNvCxnSpPr>
          <p:nvPr/>
        </p:nvCxnSpPr>
        <p:spPr>
          <a:xfrm>
            <a:off x="5890655" y="4872523"/>
            <a:ext cx="0" cy="2751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C194A80B-F61A-0AAA-8CF4-3CC4F0D48C72}"/>
              </a:ext>
            </a:extLst>
          </p:cNvPr>
          <p:cNvCxnSpPr>
            <a:cxnSpLocks/>
          </p:cNvCxnSpPr>
          <p:nvPr/>
        </p:nvCxnSpPr>
        <p:spPr>
          <a:xfrm>
            <a:off x="5890655" y="6092588"/>
            <a:ext cx="0" cy="2751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78" name="Picture 77">
            <a:extLst>
              <a:ext uri="{FF2B5EF4-FFF2-40B4-BE49-F238E27FC236}">
                <a16:creationId xmlns:a16="http://schemas.microsoft.com/office/drawing/2014/main" id="{7DCC5445-9744-2555-BE1C-145CDD002672}"/>
              </a:ext>
            </a:extLst>
          </p:cNvPr>
          <p:cNvPicPr>
            <a:picLocks noChangeAspect="1"/>
          </p:cNvPicPr>
          <p:nvPr/>
        </p:nvPicPr>
        <p:blipFill>
          <a:blip r:embed="rId4"/>
          <a:stretch>
            <a:fillRect/>
          </a:stretch>
        </p:blipFill>
        <p:spPr>
          <a:xfrm rot="5400000">
            <a:off x="5417419" y="4843556"/>
            <a:ext cx="946471" cy="1527157"/>
          </a:xfrm>
          <a:prstGeom prst="rect">
            <a:avLst/>
          </a:prstGeom>
        </p:spPr>
      </p:pic>
      <p:sp>
        <p:nvSpPr>
          <p:cNvPr id="79" name="TextBox 78">
            <a:extLst>
              <a:ext uri="{FF2B5EF4-FFF2-40B4-BE49-F238E27FC236}">
                <a16:creationId xmlns:a16="http://schemas.microsoft.com/office/drawing/2014/main" id="{6E5C254C-F0DD-33FD-972A-97D9FB51155E}"/>
              </a:ext>
            </a:extLst>
          </p:cNvPr>
          <p:cNvSpPr txBox="1"/>
          <p:nvPr/>
        </p:nvSpPr>
        <p:spPr>
          <a:xfrm>
            <a:off x="6654233" y="5410082"/>
            <a:ext cx="4419543" cy="369332"/>
          </a:xfrm>
          <a:prstGeom prst="rect">
            <a:avLst/>
          </a:prstGeom>
          <a:noFill/>
        </p:spPr>
        <p:txBody>
          <a:bodyPr wrap="none" rtlCol="0">
            <a:spAutoFit/>
          </a:bodyPr>
          <a:lstStyle/>
          <a:p>
            <a:r>
              <a:rPr lang="en-US" dirty="0"/>
              <a:t>- </a:t>
            </a:r>
            <a:r>
              <a:rPr lang="en-US" dirty="0" err="1"/>
              <a:t>ProjectionHead</a:t>
            </a:r>
            <a:r>
              <a:rPr lang="en-US" dirty="0"/>
              <a:t> consisting of linear layers</a:t>
            </a:r>
            <a:endParaRPr lang="ro-RO" dirty="0"/>
          </a:p>
        </p:txBody>
      </p:sp>
      <p:sp>
        <p:nvSpPr>
          <p:cNvPr id="80" name="TextBox 79">
            <a:extLst>
              <a:ext uri="{FF2B5EF4-FFF2-40B4-BE49-F238E27FC236}">
                <a16:creationId xmlns:a16="http://schemas.microsoft.com/office/drawing/2014/main" id="{8391DEC0-DDDB-6021-2376-4D6519990CBD}"/>
              </a:ext>
            </a:extLst>
          </p:cNvPr>
          <p:cNvSpPr txBox="1"/>
          <p:nvPr/>
        </p:nvSpPr>
        <p:spPr>
          <a:xfrm>
            <a:off x="1729296" y="5283968"/>
            <a:ext cx="3281343" cy="646331"/>
          </a:xfrm>
          <a:prstGeom prst="rect">
            <a:avLst/>
          </a:prstGeom>
          <a:noFill/>
        </p:spPr>
        <p:txBody>
          <a:bodyPr wrap="square" rtlCol="0">
            <a:spAutoFit/>
          </a:bodyPr>
          <a:lstStyle/>
          <a:p>
            <a:r>
              <a:rPr lang="en-US" b="1" dirty="0">
                <a:solidFill>
                  <a:srgbClr val="FF0000"/>
                </a:solidFill>
              </a:rPr>
              <a:t>NOTE</a:t>
            </a:r>
            <a:r>
              <a:rPr lang="en-US" dirty="0">
                <a:solidFill>
                  <a:srgbClr val="FF0000"/>
                </a:solidFill>
              </a:rPr>
              <a:t>: Only this will be trained in order to reduce training time!</a:t>
            </a:r>
            <a:endParaRPr lang="ro-RO" dirty="0">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3" name="Text 1"/>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Image Encoder: Pretrained ResNet50</a:t>
            </a:r>
            <a:endParaRPr lang="en-US" sz="3467" dirty="0"/>
          </a:p>
        </p:txBody>
      </p:sp>
      <p:sp>
        <p:nvSpPr>
          <p:cNvPr id="4" name="Text 2"/>
          <p:cNvSpPr/>
          <p:nvPr/>
        </p:nvSpPr>
        <p:spPr>
          <a:xfrm>
            <a:off x="548640" y="950976"/>
            <a:ext cx="11094720" cy="341376"/>
          </a:xfrm>
          <a:prstGeom prst="rect">
            <a:avLst/>
          </a:prstGeom>
          <a:noFill/>
          <a:ln/>
        </p:spPr>
        <p:txBody>
          <a:bodyPr wrap="square" rtlCol="0" anchor="ctr"/>
          <a:lstStyle/>
          <a:p>
            <a:r>
              <a:rPr lang="en-US" sz="1733" i="1" dirty="0">
                <a:solidFill>
                  <a:srgbClr val="595959"/>
                </a:solidFill>
                <a:latin typeface="Calibri" pitchFamily="34" charset="0"/>
                <a:ea typeface="Calibri" pitchFamily="34" charset="-122"/>
                <a:cs typeface="Calibri" pitchFamily="34" charset="-120"/>
              </a:rPr>
              <a:t>Converts any 224×224 color image into a 2048-dimensional feature vector.</a:t>
            </a:r>
            <a:endParaRPr lang="en-US" sz="1733" dirty="0"/>
          </a:p>
        </p:txBody>
      </p:sp>
      <p:sp>
        <p:nvSpPr>
          <p:cNvPr id="38" name="Shape 0">
            <a:extLst>
              <a:ext uri="{FF2B5EF4-FFF2-40B4-BE49-F238E27FC236}">
                <a16:creationId xmlns:a16="http://schemas.microsoft.com/office/drawing/2014/main" id="{DD176167-9A18-0E8A-06EE-9FAF3C3396DD}"/>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45" name="Trapezoid 44">
            <a:extLst>
              <a:ext uri="{FF2B5EF4-FFF2-40B4-BE49-F238E27FC236}">
                <a16:creationId xmlns:a16="http://schemas.microsoft.com/office/drawing/2014/main" id="{2B858136-D4E9-47DA-62E5-8BB48AA3B1A1}"/>
              </a:ext>
            </a:extLst>
          </p:cNvPr>
          <p:cNvSpPr/>
          <p:nvPr/>
        </p:nvSpPr>
        <p:spPr>
          <a:xfrm rot="10800000">
            <a:off x="4683029" y="2972849"/>
            <a:ext cx="2415252" cy="1216152"/>
          </a:xfrm>
          <a:prstGeom prst="trapezoi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dirty="0"/>
          </a:p>
        </p:txBody>
      </p:sp>
      <p:sp>
        <p:nvSpPr>
          <p:cNvPr id="46" name="TextBox 45">
            <a:extLst>
              <a:ext uri="{FF2B5EF4-FFF2-40B4-BE49-F238E27FC236}">
                <a16:creationId xmlns:a16="http://schemas.microsoft.com/office/drawing/2014/main" id="{0C65F391-1D2F-E065-73E0-DC067F172898}"/>
              </a:ext>
            </a:extLst>
          </p:cNvPr>
          <p:cNvSpPr txBox="1"/>
          <p:nvPr/>
        </p:nvSpPr>
        <p:spPr>
          <a:xfrm>
            <a:off x="4858514" y="3134315"/>
            <a:ext cx="2064281" cy="646331"/>
          </a:xfrm>
          <a:prstGeom prst="rect">
            <a:avLst/>
          </a:prstGeom>
          <a:noFill/>
        </p:spPr>
        <p:txBody>
          <a:bodyPr wrap="square">
            <a:spAutoFit/>
          </a:bodyPr>
          <a:lstStyle/>
          <a:p>
            <a:pPr algn="ctr"/>
            <a:r>
              <a:rPr lang="en-US" dirty="0">
                <a:solidFill>
                  <a:schemeClr val="bg1"/>
                </a:solidFill>
              </a:rPr>
              <a:t>Pretrained ResNet50 Model</a:t>
            </a:r>
            <a:endParaRPr lang="ro-RO" dirty="0">
              <a:solidFill>
                <a:schemeClr val="bg1"/>
              </a:solidFill>
            </a:endParaRPr>
          </a:p>
        </p:txBody>
      </p:sp>
      <p:cxnSp>
        <p:nvCxnSpPr>
          <p:cNvPr id="47" name="Straight Arrow Connector 46">
            <a:extLst>
              <a:ext uri="{FF2B5EF4-FFF2-40B4-BE49-F238E27FC236}">
                <a16:creationId xmlns:a16="http://schemas.microsoft.com/office/drawing/2014/main" id="{9D0735F0-9143-1A7C-C81D-0AFC1EC1A6E5}"/>
              </a:ext>
            </a:extLst>
          </p:cNvPr>
          <p:cNvCxnSpPr>
            <a:cxnSpLocks/>
          </p:cNvCxnSpPr>
          <p:nvPr/>
        </p:nvCxnSpPr>
        <p:spPr>
          <a:xfrm>
            <a:off x="5894831" y="2654300"/>
            <a:ext cx="0" cy="2751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58E5571C-1F06-D8D6-1B9D-0113F0350DC1}"/>
              </a:ext>
            </a:extLst>
          </p:cNvPr>
          <p:cNvSpPr txBox="1"/>
          <p:nvPr/>
        </p:nvSpPr>
        <p:spPr>
          <a:xfrm>
            <a:off x="6985697" y="4503191"/>
            <a:ext cx="2924711" cy="369332"/>
          </a:xfrm>
          <a:prstGeom prst="rect">
            <a:avLst/>
          </a:prstGeom>
          <a:noFill/>
        </p:spPr>
        <p:txBody>
          <a:bodyPr wrap="none" rtlCol="0">
            <a:spAutoFit/>
          </a:bodyPr>
          <a:lstStyle/>
          <a:p>
            <a:r>
              <a:rPr lang="en-US" dirty="0"/>
              <a:t>- vector with 2048 elements</a:t>
            </a:r>
            <a:endParaRPr lang="ro-RO" dirty="0"/>
          </a:p>
        </p:txBody>
      </p:sp>
      <p:sp>
        <p:nvSpPr>
          <p:cNvPr id="51" name="Rectangle 50">
            <a:extLst>
              <a:ext uri="{FF2B5EF4-FFF2-40B4-BE49-F238E27FC236}">
                <a16:creationId xmlns:a16="http://schemas.microsoft.com/office/drawing/2014/main" id="{7C399E16-E683-256C-2EEE-734B0014ECA2}"/>
              </a:ext>
            </a:extLst>
          </p:cNvPr>
          <p:cNvSpPr/>
          <p:nvPr/>
        </p:nvSpPr>
        <p:spPr>
          <a:xfrm>
            <a:off x="4858514" y="4528583"/>
            <a:ext cx="2127183" cy="318549"/>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cxnSp>
        <p:nvCxnSpPr>
          <p:cNvPr id="52" name="Straight Arrow Connector 51">
            <a:extLst>
              <a:ext uri="{FF2B5EF4-FFF2-40B4-BE49-F238E27FC236}">
                <a16:creationId xmlns:a16="http://schemas.microsoft.com/office/drawing/2014/main" id="{685EB757-CC47-2B8E-71FB-42D3889D1FEA}"/>
              </a:ext>
            </a:extLst>
          </p:cNvPr>
          <p:cNvCxnSpPr>
            <a:cxnSpLocks/>
          </p:cNvCxnSpPr>
          <p:nvPr/>
        </p:nvCxnSpPr>
        <p:spPr>
          <a:xfrm>
            <a:off x="5890655" y="4228024"/>
            <a:ext cx="0" cy="2751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5BE50EC4-098B-8568-C18A-9E96BD6D5096}"/>
              </a:ext>
            </a:extLst>
          </p:cNvPr>
          <p:cNvSpPr txBox="1"/>
          <p:nvPr/>
        </p:nvSpPr>
        <p:spPr>
          <a:xfrm>
            <a:off x="7098281" y="3396258"/>
            <a:ext cx="4199611" cy="369332"/>
          </a:xfrm>
          <a:prstGeom prst="rect">
            <a:avLst/>
          </a:prstGeom>
          <a:noFill/>
        </p:spPr>
        <p:txBody>
          <a:bodyPr wrap="none" rtlCol="0">
            <a:spAutoFit/>
          </a:bodyPr>
          <a:lstStyle/>
          <a:p>
            <a:r>
              <a:rPr lang="en-US" dirty="0"/>
              <a:t>- a 23M parameters model developed by </a:t>
            </a:r>
            <a:endParaRPr lang="ro-RO" dirty="0"/>
          </a:p>
        </p:txBody>
      </p:sp>
      <p:sp>
        <p:nvSpPr>
          <p:cNvPr id="55" name="TextBox 54">
            <a:extLst>
              <a:ext uri="{FF2B5EF4-FFF2-40B4-BE49-F238E27FC236}">
                <a16:creationId xmlns:a16="http://schemas.microsoft.com/office/drawing/2014/main" id="{808FB37B-544A-8ED2-DF36-98ED9ED0ACB0}"/>
              </a:ext>
            </a:extLst>
          </p:cNvPr>
          <p:cNvSpPr txBox="1"/>
          <p:nvPr/>
        </p:nvSpPr>
        <p:spPr>
          <a:xfrm>
            <a:off x="6985697" y="6367755"/>
            <a:ext cx="2801280" cy="369332"/>
          </a:xfrm>
          <a:prstGeom prst="rect">
            <a:avLst/>
          </a:prstGeom>
          <a:noFill/>
        </p:spPr>
        <p:txBody>
          <a:bodyPr wrap="none" rtlCol="0">
            <a:spAutoFit/>
          </a:bodyPr>
          <a:lstStyle/>
          <a:p>
            <a:r>
              <a:rPr lang="en-US" dirty="0"/>
              <a:t>- vector with 256 elements</a:t>
            </a:r>
            <a:endParaRPr lang="ro-RO" dirty="0"/>
          </a:p>
        </p:txBody>
      </p:sp>
      <p:sp>
        <p:nvSpPr>
          <p:cNvPr id="56" name="Rectangle 55">
            <a:extLst>
              <a:ext uri="{FF2B5EF4-FFF2-40B4-BE49-F238E27FC236}">
                <a16:creationId xmlns:a16="http://schemas.microsoft.com/office/drawing/2014/main" id="{1B47F606-A01A-D0F7-8B62-1537140186FF}"/>
              </a:ext>
            </a:extLst>
          </p:cNvPr>
          <p:cNvSpPr/>
          <p:nvPr/>
        </p:nvSpPr>
        <p:spPr>
          <a:xfrm>
            <a:off x="4858514" y="6393147"/>
            <a:ext cx="2127183" cy="318549"/>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cxnSp>
        <p:nvCxnSpPr>
          <p:cNvPr id="57" name="Straight Arrow Connector 56">
            <a:extLst>
              <a:ext uri="{FF2B5EF4-FFF2-40B4-BE49-F238E27FC236}">
                <a16:creationId xmlns:a16="http://schemas.microsoft.com/office/drawing/2014/main" id="{9CD924DA-347A-503A-3C93-94105DBA785C}"/>
              </a:ext>
            </a:extLst>
          </p:cNvPr>
          <p:cNvCxnSpPr>
            <a:cxnSpLocks/>
          </p:cNvCxnSpPr>
          <p:nvPr/>
        </p:nvCxnSpPr>
        <p:spPr>
          <a:xfrm>
            <a:off x="5890655" y="4872523"/>
            <a:ext cx="0" cy="2751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FA4CCE9F-0820-6DBC-CE4E-67246A9126FB}"/>
              </a:ext>
            </a:extLst>
          </p:cNvPr>
          <p:cNvCxnSpPr>
            <a:cxnSpLocks/>
          </p:cNvCxnSpPr>
          <p:nvPr/>
        </p:nvCxnSpPr>
        <p:spPr>
          <a:xfrm>
            <a:off x="5890655" y="6092588"/>
            <a:ext cx="0" cy="2751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59" name="Picture 58">
            <a:extLst>
              <a:ext uri="{FF2B5EF4-FFF2-40B4-BE49-F238E27FC236}">
                <a16:creationId xmlns:a16="http://schemas.microsoft.com/office/drawing/2014/main" id="{EF9A5E63-279F-8FE1-547B-765ECABDBCD8}"/>
              </a:ext>
            </a:extLst>
          </p:cNvPr>
          <p:cNvPicPr>
            <a:picLocks noChangeAspect="1"/>
          </p:cNvPicPr>
          <p:nvPr/>
        </p:nvPicPr>
        <p:blipFill>
          <a:blip r:embed="rId3"/>
          <a:stretch>
            <a:fillRect/>
          </a:stretch>
        </p:blipFill>
        <p:spPr>
          <a:xfrm rot="5400000">
            <a:off x="5417419" y="4843556"/>
            <a:ext cx="946471" cy="1527157"/>
          </a:xfrm>
          <a:prstGeom prst="rect">
            <a:avLst/>
          </a:prstGeom>
        </p:spPr>
      </p:pic>
      <p:sp>
        <p:nvSpPr>
          <p:cNvPr id="60" name="TextBox 59">
            <a:extLst>
              <a:ext uri="{FF2B5EF4-FFF2-40B4-BE49-F238E27FC236}">
                <a16:creationId xmlns:a16="http://schemas.microsoft.com/office/drawing/2014/main" id="{9599A8D6-C925-4DBF-5E2C-E459DBE0B2E2}"/>
              </a:ext>
            </a:extLst>
          </p:cNvPr>
          <p:cNvSpPr txBox="1"/>
          <p:nvPr/>
        </p:nvSpPr>
        <p:spPr>
          <a:xfrm>
            <a:off x="6654233" y="5410082"/>
            <a:ext cx="4419543" cy="369332"/>
          </a:xfrm>
          <a:prstGeom prst="rect">
            <a:avLst/>
          </a:prstGeom>
          <a:noFill/>
        </p:spPr>
        <p:txBody>
          <a:bodyPr wrap="none" rtlCol="0">
            <a:spAutoFit/>
          </a:bodyPr>
          <a:lstStyle/>
          <a:p>
            <a:r>
              <a:rPr lang="en-US" dirty="0"/>
              <a:t>- </a:t>
            </a:r>
            <a:r>
              <a:rPr lang="en-US" dirty="0" err="1"/>
              <a:t>ProjectionHead</a:t>
            </a:r>
            <a:r>
              <a:rPr lang="en-US" dirty="0"/>
              <a:t> consisting of linear layers</a:t>
            </a:r>
            <a:endParaRPr lang="ro-RO" dirty="0"/>
          </a:p>
        </p:txBody>
      </p:sp>
      <p:sp>
        <p:nvSpPr>
          <p:cNvPr id="61" name="TextBox 60">
            <a:extLst>
              <a:ext uri="{FF2B5EF4-FFF2-40B4-BE49-F238E27FC236}">
                <a16:creationId xmlns:a16="http://schemas.microsoft.com/office/drawing/2014/main" id="{9D6C2FE6-7BD4-D665-19D7-58AE93A7FCCF}"/>
              </a:ext>
            </a:extLst>
          </p:cNvPr>
          <p:cNvSpPr txBox="1"/>
          <p:nvPr/>
        </p:nvSpPr>
        <p:spPr>
          <a:xfrm>
            <a:off x="1729296" y="5283968"/>
            <a:ext cx="3281343" cy="646331"/>
          </a:xfrm>
          <a:prstGeom prst="rect">
            <a:avLst/>
          </a:prstGeom>
          <a:noFill/>
        </p:spPr>
        <p:txBody>
          <a:bodyPr wrap="square" rtlCol="0">
            <a:spAutoFit/>
          </a:bodyPr>
          <a:lstStyle/>
          <a:p>
            <a:r>
              <a:rPr lang="en-US" b="1" dirty="0">
                <a:solidFill>
                  <a:srgbClr val="FF0000"/>
                </a:solidFill>
              </a:rPr>
              <a:t>NOTE</a:t>
            </a:r>
            <a:r>
              <a:rPr lang="en-US" dirty="0">
                <a:solidFill>
                  <a:srgbClr val="FF0000"/>
                </a:solidFill>
              </a:rPr>
              <a:t>: Only this will be trained in order to reduce training time!</a:t>
            </a:r>
            <a:endParaRPr lang="ro-RO" dirty="0">
              <a:solidFill>
                <a:srgbClr val="FF0000"/>
              </a:solidFill>
            </a:endParaRPr>
          </a:p>
        </p:txBody>
      </p:sp>
      <p:pic>
        <p:nvPicPr>
          <p:cNvPr id="7170" name="Picture 2">
            <a:extLst>
              <a:ext uri="{FF2B5EF4-FFF2-40B4-BE49-F238E27FC236}">
                <a16:creationId xmlns:a16="http://schemas.microsoft.com/office/drawing/2014/main" id="{ED5F8C1A-97F9-7D08-CEE7-CCA2E13DA9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83925" y="3291471"/>
            <a:ext cx="578906" cy="578906"/>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4" descr="Two brown and white dogs running dirt road during daytime photo – Free  Animal Image on Unsplash">
            <a:extLst>
              <a:ext uri="{FF2B5EF4-FFF2-40B4-BE49-F238E27FC236}">
                <a16:creationId xmlns:a16="http://schemas.microsoft.com/office/drawing/2014/main" id="{4FAC15DC-22FA-F930-2D8C-00AB5E575B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30739" y="1304189"/>
            <a:ext cx="1319832" cy="1277023"/>
          </a:xfrm>
          <a:prstGeom prst="rect">
            <a:avLst/>
          </a:prstGeom>
          <a:noFill/>
          <a:extLst>
            <a:ext uri="{909E8E84-426E-40DD-AFC4-6F175D3DCCD1}">
              <a14:hiddenFill xmlns:a14="http://schemas.microsoft.com/office/drawing/2010/main">
                <a:solidFill>
                  <a:srgbClr val="FFFFFF"/>
                </a:solidFill>
              </a14:hiddenFill>
            </a:ext>
          </a:extLst>
        </p:spPr>
      </p:pic>
      <p:sp>
        <p:nvSpPr>
          <p:cNvPr id="63" name="TextBox 62">
            <a:extLst>
              <a:ext uri="{FF2B5EF4-FFF2-40B4-BE49-F238E27FC236}">
                <a16:creationId xmlns:a16="http://schemas.microsoft.com/office/drawing/2014/main" id="{35A00525-5244-8FC4-48AD-60B691E42B33}"/>
              </a:ext>
            </a:extLst>
          </p:cNvPr>
          <p:cNvSpPr txBox="1"/>
          <p:nvPr/>
        </p:nvSpPr>
        <p:spPr>
          <a:xfrm>
            <a:off x="6550571" y="1785566"/>
            <a:ext cx="1637354" cy="307777"/>
          </a:xfrm>
          <a:prstGeom prst="rect">
            <a:avLst/>
          </a:prstGeom>
          <a:noFill/>
        </p:spPr>
        <p:txBody>
          <a:bodyPr wrap="square" rtlCol="0">
            <a:spAutoFit/>
          </a:bodyPr>
          <a:lstStyle/>
          <a:p>
            <a:r>
              <a:rPr lang="en-US" sz="1400" dirty="0"/>
              <a:t>resized to 224x224</a:t>
            </a:r>
            <a:endParaRPr lang="ro-RO"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64096"/>
          </a:xfrm>
          <a:prstGeom prst="rect">
            <a:avLst/>
          </a:prstGeom>
          <a:solidFill>
            <a:srgbClr val="00E5FF"/>
          </a:solidFill>
          <a:ln w="12700">
            <a:solidFill>
              <a:srgbClr val="00E5FF"/>
            </a:solidFill>
            <a:prstDash val="solid"/>
          </a:ln>
        </p:spPr>
      </p:sp>
      <p:sp>
        <p:nvSpPr>
          <p:cNvPr id="6" name="Text 1">
            <a:extLst>
              <a:ext uri="{FF2B5EF4-FFF2-40B4-BE49-F238E27FC236}">
                <a16:creationId xmlns:a16="http://schemas.microsoft.com/office/drawing/2014/main" id="{4E4FA7AF-1148-52A1-5E00-E78A6BD255E0}"/>
              </a:ext>
            </a:extLst>
          </p:cNvPr>
          <p:cNvSpPr/>
          <p:nvPr/>
        </p:nvSpPr>
        <p:spPr>
          <a:xfrm>
            <a:off x="853440" y="1706880"/>
            <a:ext cx="9753600" cy="512064"/>
          </a:xfrm>
          <a:prstGeom prst="rect">
            <a:avLst/>
          </a:prstGeom>
          <a:noFill/>
          <a:ln/>
        </p:spPr>
        <p:txBody>
          <a:bodyPr wrap="square" lIns="0" tIns="0" rIns="0" bIns="0" rtlCol="0" anchor="ctr"/>
          <a:lstStyle/>
          <a:p>
            <a:r>
              <a:rPr lang="en-US" sz="1867" dirty="0">
                <a:solidFill>
                  <a:srgbClr val="00E5FF"/>
                </a:solidFill>
                <a:latin typeface="Calibri" pitchFamily="34" charset="0"/>
                <a:ea typeface="Calibri" pitchFamily="34" charset="-122"/>
                <a:cs typeface="Calibri" pitchFamily="34" charset="-120"/>
              </a:rPr>
              <a:t>Section 3</a:t>
            </a:r>
            <a:endParaRPr lang="en-US" sz="1867" dirty="0"/>
          </a:p>
        </p:txBody>
      </p:sp>
      <p:sp>
        <p:nvSpPr>
          <p:cNvPr id="7" name="Text 2">
            <a:extLst>
              <a:ext uri="{FF2B5EF4-FFF2-40B4-BE49-F238E27FC236}">
                <a16:creationId xmlns:a16="http://schemas.microsoft.com/office/drawing/2014/main" id="{C1239377-AFAE-8459-D692-5946FB8E2BB9}"/>
              </a:ext>
            </a:extLst>
          </p:cNvPr>
          <p:cNvSpPr/>
          <p:nvPr/>
        </p:nvSpPr>
        <p:spPr>
          <a:xfrm>
            <a:off x="853440" y="2255520"/>
            <a:ext cx="10363200" cy="2194560"/>
          </a:xfrm>
          <a:prstGeom prst="rect">
            <a:avLst/>
          </a:prstGeom>
          <a:noFill/>
          <a:ln/>
        </p:spPr>
        <p:txBody>
          <a:bodyPr wrap="square" lIns="0" tIns="0" rIns="0" bIns="0" rtlCol="0" anchor="ctr"/>
          <a:lstStyle/>
          <a:p>
            <a:r>
              <a:rPr lang="en-US" sz="6000" b="1" dirty="0">
                <a:latin typeface="Calibri" pitchFamily="34" charset="0"/>
                <a:ea typeface="Calibri" pitchFamily="34" charset="-122"/>
                <a:cs typeface="Calibri" pitchFamily="34" charset="-120"/>
              </a:rPr>
              <a:t>Training &amp;</a:t>
            </a:r>
          </a:p>
          <a:p>
            <a:r>
              <a:rPr lang="en-US" sz="6000" b="1" dirty="0">
                <a:latin typeface="Calibri" pitchFamily="34" charset="0"/>
                <a:ea typeface="Calibri" pitchFamily="34" charset="-122"/>
                <a:cs typeface="Calibri" pitchFamily="34" charset="-120"/>
              </a:rPr>
              <a:t>Image Retrieval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3" name="Text 1"/>
          <p:cNvSpPr/>
          <p:nvPr/>
        </p:nvSpPr>
        <p:spPr>
          <a:xfrm>
            <a:off x="548640" y="146304"/>
            <a:ext cx="4846115"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Training the CLIP Model</a:t>
            </a:r>
            <a:endParaRPr lang="en-US" sz="3467" dirty="0"/>
          </a:p>
        </p:txBody>
      </p:sp>
      <p:sp>
        <p:nvSpPr>
          <p:cNvPr id="46" name="Shape 0">
            <a:extLst>
              <a:ext uri="{FF2B5EF4-FFF2-40B4-BE49-F238E27FC236}">
                <a16:creationId xmlns:a16="http://schemas.microsoft.com/office/drawing/2014/main" id="{0DDA3F0E-D531-403F-FD94-C0AB3F3A63E2}"/>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51" name="Picture 50">
            <a:extLst>
              <a:ext uri="{FF2B5EF4-FFF2-40B4-BE49-F238E27FC236}">
                <a16:creationId xmlns:a16="http://schemas.microsoft.com/office/drawing/2014/main" id="{84F0C657-5B47-950F-6B78-9043C1700526}"/>
              </a:ext>
            </a:extLst>
          </p:cNvPr>
          <p:cNvPicPr>
            <a:picLocks noChangeAspect="1"/>
          </p:cNvPicPr>
          <p:nvPr/>
        </p:nvPicPr>
        <p:blipFill>
          <a:blip r:embed="rId3"/>
          <a:stretch>
            <a:fillRect/>
          </a:stretch>
        </p:blipFill>
        <p:spPr>
          <a:xfrm>
            <a:off x="89457" y="1681214"/>
            <a:ext cx="6647235" cy="4164781"/>
          </a:xfrm>
          <a:prstGeom prst="rect">
            <a:avLst/>
          </a:prstGeom>
        </p:spPr>
      </p:pic>
      <p:sp>
        <p:nvSpPr>
          <p:cNvPr id="54" name="Text 29">
            <a:extLst>
              <a:ext uri="{FF2B5EF4-FFF2-40B4-BE49-F238E27FC236}">
                <a16:creationId xmlns:a16="http://schemas.microsoft.com/office/drawing/2014/main" id="{8FD62131-3B80-38D8-7DA5-330A62DDABAA}"/>
              </a:ext>
            </a:extLst>
          </p:cNvPr>
          <p:cNvSpPr/>
          <p:nvPr/>
        </p:nvSpPr>
        <p:spPr>
          <a:xfrm>
            <a:off x="6811594" y="3801049"/>
            <a:ext cx="5181600" cy="268224"/>
          </a:xfrm>
          <a:prstGeom prst="rect">
            <a:avLst/>
          </a:prstGeom>
          <a:noFill/>
          <a:ln/>
        </p:spPr>
        <p:txBody>
          <a:bodyPr wrap="square" rtlCol="0" anchor="ctr"/>
          <a:lstStyle/>
          <a:p>
            <a:r>
              <a:rPr lang="en-US" sz="1467" b="1" dirty="0">
                <a:solidFill>
                  <a:srgbClr val="1F3864"/>
                </a:solidFill>
                <a:latin typeface="Calibri" pitchFamily="34" charset="0"/>
                <a:ea typeface="Calibri" pitchFamily="34" charset="-122"/>
                <a:cs typeface="Calibri" pitchFamily="34" charset="-120"/>
              </a:rPr>
              <a:t>Diagonal = correct pairs</a:t>
            </a:r>
            <a:endParaRPr lang="en-US" sz="1467" dirty="0"/>
          </a:p>
        </p:txBody>
      </p:sp>
      <p:sp>
        <p:nvSpPr>
          <p:cNvPr id="55" name="Text 30">
            <a:extLst>
              <a:ext uri="{FF2B5EF4-FFF2-40B4-BE49-F238E27FC236}">
                <a16:creationId xmlns:a16="http://schemas.microsoft.com/office/drawing/2014/main" id="{F90B57B5-C918-0140-04FA-BEBF99FC75B7}"/>
              </a:ext>
            </a:extLst>
          </p:cNvPr>
          <p:cNvSpPr/>
          <p:nvPr/>
        </p:nvSpPr>
        <p:spPr>
          <a:xfrm>
            <a:off x="6811594" y="4185234"/>
            <a:ext cx="5279136" cy="298566"/>
          </a:xfrm>
          <a:prstGeom prst="rect">
            <a:avLst/>
          </a:prstGeom>
          <a:noFill/>
          <a:ln/>
        </p:spPr>
        <p:txBody>
          <a:bodyPr wrap="square" rtlCol="0" anchor="ctr"/>
          <a:lstStyle/>
          <a:p>
            <a:r>
              <a:rPr lang="en-US" sz="1333" dirty="0">
                <a:solidFill>
                  <a:srgbClr val="595959"/>
                </a:solidFill>
                <a:latin typeface="Calibri" pitchFamily="34" charset="0"/>
                <a:ea typeface="Calibri" pitchFamily="34" charset="-122"/>
                <a:cs typeface="Calibri" pitchFamily="34" charset="-120"/>
              </a:rPr>
              <a:t>The N diagonal entries (</a:t>
            </a:r>
            <a:r>
              <a:rPr lang="en-US" sz="1333" dirty="0" err="1">
                <a:solidFill>
                  <a:srgbClr val="595959"/>
                </a:solidFill>
                <a:latin typeface="Calibri" pitchFamily="34" charset="0"/>
                <a:ea typeface="Calibri" pitchFamily="34" charset="-122"/>
                <a:cs typeface="Calibri" pitchFamily="34" charset="-120"/>
              </a:rPr>
              <a:t>i</a:t>
            </a:r>
            <a:r>
              <a:rPr lang="en-US" sz="1333" dirty="0">
                <a:solidFill>
                  <a:srgbClr val="595959"/>
                </a:solidFill>
                <a:latin typeface="Calibri" pitchFamily="34" charset="0"/>
                <a:ea typeface="Calibri" pitchFamily="34" charset="-122"/>
                <a:cs typeface="Calibri" pitchFamily="34" charset="-120"/>
              </a:rPr>
              <a:t>, </a:t>
            </a:r>
            <a:r>
              <a:rPr lang="en-US" sz="1333" dirty="0" err="1">
                <a:solidFill>
                  <a:srgbClr val="595959"/>
                </a:solidFill>
                <a:latin typeface="Calibri" pitchFamily="34" charset="0"/>
                <a:ea typeface="Calibri" pitchFamily="34" charset="-122"/>
                <a:cs typeface="Calibri" pitchFamily="34" charset="-120"/>
              </a:rPr>
              <a:t>i</a:t>
            </a:r>
            <a:r>
              <a:rPr lang="en-US" sz="1333" dirty="0">
                <a:solidFill>
                  <a:srgbClr val="595959"/>
                </a:solidFill>
                <a:latin typeface="Calibri" pitchFamily="34" charset="0"/>
                <a:ea typeface="Calibri" pitchFamily="34" charset="-122"/>
                <a:cs typeface="Calibri" pitchFamily="34" charset="-120"/>
              </a:rPr>
              <a:t>) are the matching pairs. </a:t>
            </a:r>
          </a:p>
          <a:p>
            <a:r>
              <a:rPr lang="en-US" sz="1333" dirty="0">
                <a:solidFill>
                  <a:srgbClr val="595959"/>
                </a:solidFill>
                <a:latin typeface="Calibri" pitchFamily="34" charset="0"/>
                <a:ea typeface="Calibri" pitchFamily="34" charset="-122"/>
                <a:cs typeface="Calibri" pitchFamily="34" charset="-120"/>
              </a:rPr>
              <a:t>The loss pushes these values to be HIGH (texts close to their own images).</a:t>
            </a:r>
            <a:endParaRPr lang="en-US" sz="1333" dirty="0"/>
          </a:p>
        </p:txBody>
      </p:sp>
      <p:sp>
        <p:nvSpPr>
          <p:cNvPr id="58" name="Text 33">
            <a:extLst>
              <a:ext uri="{FF2B5EF4-FFF2-40B4-BE49-F238E27FC236}">
                <a16:creationId xmlns:a16="http://schemas.microsoft.com/office/drawing/2014/main" id="{2E70AA95-8712-08B8-09CB-6A1F0BB853FF}"/>
              </a:ext>
            </a:extLst>
          </p:cNvPr>
          <p:cNvSpPr/>
          <p:nvPr/>
        </p:nvSpPr>
        <p:spPr>
          <a:xfrm>
            <a:off x="6811594" y="4764676"/>
            <a:ext cx="5181600" cy="268224"/>
          </a:xfrm>
          <a:prstGeom prst="rect">
            <a:avLst/>
          </a:prstGeom>
          <a:noFill/>
          <a:ln/>
        </p:spPr>
        <p:txBody>
          <a:bodyPr wrap="square" rtlCol="0" anchor="ctr"/>
          <a:lstStyle/>
          <a:p>
            <a:r>
              <a:rPr lang="en-US" sz="1467" b="1" dirty="0">
                <a:solidFill>
                  <a:srgbClr val="1F3864"/>
                </a:solidFill>
                <a:latin typeface="Calibri" pitchFamily="34" charset="0"/>
                <a:ea typeface="Calibri" pitchFamily="34" charset="-122"/>
                <a:cs typeface="Calibri" pitchFamily="34" charset="-120"/>
              </a:rPr>
              <a:t>Off-diagonal = wrong pairs</a:t>
            </a:r>
            <a:endParaRPr lang="en-US" sz="1467" dirty="0"/>
          </a:p>
        </p:txBody>
      </p:sp>
      <p:sp>
        <p:nvSpPr>
          <p:cNvPr id="59" name="Text 34">
            <a:extLst>
              <a:ext uri="{FF2B5EF4-FFF2-40B4-BE49-F238E27FC236}">
                <a16:creationId xmlns:a16="http://schemas.microsoft.com/office/drawing/2014/main" id="{AA038A08-9E64-B3F6-413A-C49E36B9CBBB}"/>
              </a:ext>
            </a:extLst>
          </p:cNvPr>
          <p:cNvSpPr/>
          <p:nvPr/>
        </p:nvSpPr>
        <p:spPr>
          <a:xfrm>
            <a:off x="6811594" y="5057284"/>
            <a:ext cx="5181600" cy="533880"/>
          </a:xfrm>
          <a:prstGeom prst="rect">
            <a:avLst/>
          </a:prstGeom>
          <a:noFill/>
          <a:ln/>
        </p:spPr>
        <p:txBody>
          <a:bodyPr wrap="square" rtlCol="0" anchor="ctr"/>
          <a:lstStyle/>
          <a:p>
            <a:r>
              <a:rPr lang="en-US" sz="1333" dirty="0">
                <a:solidFill>
                  <a:srgbClr val="595959"/>
                </a:solidFill>
                <a:latin typeface="Calibri" pitchFamily="34" charset="0"/>
                <a:ea typeface="Calibri" pitchFamily="34" charset="-122"/>
                <a:cs typeface="Calibri" pitchFamily="34" charset="-120"/>
              </a:rPr>
              <a:t>The N×N − N = N(N-1) off-diagonal entries are mismatches. </a:t>
            </a:r>
          </a:p>
          <a:p>
            <a:r>
              <a:rPr lang="en-US" sz="1333" dirty="0">
                <a:solidFill>
                  <a:srgbClr val="595959"/>
                </a:solidFill>
                <a:latin typeface="Calibri" pitchFamily="34" charset="0"/>
                <a:ea typeface="Calibri" pitchFamily="34" charset="-122"/>
                <a:cs typeface="Calibri" pitchFamily="34" charset="-120"/>
              </a:rPr>
              <a:t>The loss pushes these values to be LOW (texts far from other images).</a:t>
            </a:r>
            <a:endParaRPr lang="en-US" sz="1333" dirty="0"/>
          </a:p>
        </p:txBody>
      </p:sp>
      <p:sp>
        <p:nvSpPr>
          <p:cNvPr id="62" name="Text 25">
            <a:extLst>
              <a:ext uri="{FF2B5EF4-FFF2-40B4-BE49-F238E27FC236}">
                <a16:creationId xmlns:a16="http://schemas.microsoft.com/office/drawing/2014/main" id="{EFDB55BD-6AD7-ABCF-7CF5-5D3FF719A2A2}"/>
              </a:ext>
            </a:extLst>
          </p:cNvPr>
          <p:cNvSpPr/>
          <p:nvPr/>
        </p:nvSpPr>
        <p:spPr>
          <a:xfrm>
            <a:off x="6811594" y="2764344"/>
            <a:ext cx="5165834" cy="268224"/>
          </a:xfrm>
          <a:prstGeom prst="rect">
            <a:avLst/>
          </a:prstGeom>
          <a:noFill/>
          <a:ln/>
        </p:spPr>
        <p:txBody>
          <a:bodyPr wrap="square" rtlCol="0" anchor="ctr"/>
          <a:lstStyle/>
          <a:p>
            <a:r>
              <a:rPr lang="en-US" sz="1467" b="1" dirty="0">
                <a:solidFill>
                  <a:srgbClr val="1F3864"/>
                </a:solidFill>
                <a:latin typeface="Calibri" pitchFamily="34" charset="0"/>
                <a:ea typeface="Calibri" pitchFamily="34" charset="-122"/>
                <a:cs typeface="Calibri" pitchFamily="34" charset="-120"/>
              </a:rPr>
              <a:t>Similarity matrix (N×N)</a:t>
            </a:r>
            <a:endParaRPr lang="en-US" sz="1467" dirty="0"/>
          </a:p>
        </p:txBody>
      </p:sp>
      <p:sp>
        <p:nvSpPr>
          <p:cNvPr id="63" name="Text 26">
            <a:extLst>
              <a:ext uri="{FF2B5EF4-FFF2-40B4-BE49-F238E27FC236}">
                <a16:creationId xmlns:a16="http://schemas.microsoft.com/office/drawing/2014/main" id="{5A7FB335-CD51-6046-F6A1-E48864FC84C6}"/>
              </a:ext>
            </a:extLst>
          </p:cNvPr>
          <p:cNvSpPr/>
          <p:nvPr/>
        </p:nvSpPr>
        <p:spPr>
          <a:xfrm>
            <a:off x="6811594" y="3056951"/>
            <a:ext cx="5380406" cy="468769"/>
          </a:xfrm>
          <a:prstGeom prst="rect">
            <a:avLst/>
          </a:prstGeom>
          <a:noFill/>
          <a:ln/>
        </p:spPr>
        <p:txBody>
          <a:bodyPr wrap="square" rtlCol="0" anchor="ctr"/>
          <a:lstStyle/>
          <a:p>
            <a:r>
              <a:rPr lang="en-US" sz="1333" dirty="0">
                <a:solidFill>
                  <a:srgbClr val="595959"/>
                </a:solidFill>
                <a:latin typeface="Calibri" pitchFamily="34" charset="0"/>
                <a:ea typeface="Calibri" pitchFamily="34" charset="-122"/>
                <a:cs typeface="Calibri" pitchFamily="34" charset="-120"/>
              </a:rPr>
              <a:t>For a batch of N pairs, compute text_emb @ image_emb.T → a N×N matrix. Entry (i,j) = similarity between caption i and image j.</a:t>
            </a:r>
            <a:endParaRPr lang="en-US" sz="1333"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3" name="Text 1"/>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Training the CLIP Model</a:t>
            </a:r>
            <a:endParaRPr lang="en-US" sz="3467" dirty="0"/>
          </a:p>
        </p:txBody>
      </p:sp>
      <p:sp>
        <p:nvSpPr>
          <p:cNvPr id="46" name="Shape 0">
            <a:extLst>
              <a:ext uri="{FF2B5EF4-FFF2-40B4-BE49-F238E27FC236}">
                <a16:creationId xmlns:a16="http://schemas.microsoft.com/office/drawing/2014/main" id="{0DDA3F0E-D531-403F-FD94-C0AB3F3A63E2}"/>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47" name="SaveClip.App_AQNoRZpvWqQZoxx9NZcgIvdpah7SomaD3S0WfrCjxJDAM-ZcfnCiB6VNOM7d56h691riwEJTXKO04NfrW4YwjrYFBp5ly2YTGpH_BlE">
            <a:hlinkClick r:id="" action="ppaction://media"/>
            <a:extLst>
              <a:ext uri="{FF2B5EF4-FFF2-40B4-BE49-F238E27FC236}">
                <a16:creationId xmlns:a16="http://schemas.microsoft.com/office/drawing/2014/main" id="{8B8D12F3-89B2-9851-1381-84AC7E7B150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123571" y="486187"/>
            <a:ext cx="3375814" cy="6001449"/>
          </a:xfrm>
          <a:prstGeom prst="rect">
            <a:avLst/>
          </a:prstGeom>
        </p:spPr>
      </p:pic>
      <p:sp>
        <p:nvSpPr>
          <p:cNvPr id="48" name="Shape 2">
            <a:extLst>
              <a:ext uri="{FF2B5EF4-FFF2-40B4-BE49-F238E27FC236}">
                <a16:creationId xmlns:a16="http://schemas.microsoft.com/office/drawing/2014/main" id="{2858FBBC-BDB7-3EAF-788F-B96706926427}"/>
              </a:ext>
            </a:extLst>
          </p:cNvPr>
          <p:cNvSpPr/>
          <p:nvPr/>
        </p:nvSpPr>
        <p:spPr>
          <a:xfrm>
            <a:off x="276753" y="1561673"/>
            <a:ext cx="7366571" cy="4346956"/>
          </a:xfrm>
          <a:prstGeom prst="rect">
            <a:avLst/>
          </a:prstGeom>
          <a:solidFill>
            <a:srgbClr val="0A1520"/>
          </a:solidFill>
          <a:ln w="10160">
            <a:solidFill>
              <a:srgbClr val="00E5FF"/>
            </a:solidFill>
            <a:prstDash val="solid"/>
          </a:ln>
        </p:spPr>
        <p:txBody>
          <a:bodyPr/>
          <a:lstStyle/>
          <a:p>
            <a:endParaRPr lang="ro-RO"/>
          </a:p>
        </p:txBody>
      </p:sp>
      <p:sp>
        <p:nvSpPr>
          <p:cNvPr id="49" name="Text 3">
            <a:extLst>
              <a:ext uri="{FF2B5EF4-FFF2-40B4-BE49-F238E27FC236}">
                <a16:creationId xmlns:a16="http://schemas.microsoft.com/office/drawing/2014/main" id="{A7275E77-220A-B7AB-29DF-D39836B0AD74}"/>
              </a:ext>
            </a:extLst>
          </p:cNvPr>
          <p:cNvSpPr/>
          <p:nvPr/>
        </p:nvSpPr>
        <p:spPr>
          <a:xfrm>
            <a:off x="461687" y="1650245"/>
            <a:ext cx="7181637" cy="4567353"/>
          </a:xfrm>
          <a:prstGeom prst="rect">
            <a:avLst/>
          </a:prstGeom>
          <a:noFill/>
          <a:ln/>
        </p:spPr>
        <p:txBody>
          <a:bodyPr wrap="square" lIns="0" tIns="0" rIns="0" bIns="0" rtlCol="0" anchor="t"/>
          <a:lstStyle/>
          <a:p>
            <a:r>
              <a:rPr lang="en-US" sz="1227" dirty="0">
                <a:solidFill>
                  <a:srgbClr val="A8D8EA"/>
                </a:solidFill>
                <a:latin typeface="Consolas" pitchFamily="34" charset="0"/>
                <a:ea typeface="Consolas" pitchFamily="34" charset="-122"/>
                <a:cs typeface="Consolas" pitchFamily="34" charset="-120"/>
              </a:rPr>
              <a:t>scaler = </a:t>
            </a:r>
            <a:r>
              <a:rPr lang="en-US" sz="1227" dirty="0" err="1">
                <a:solidFill>
                  <a:srgbClr val="A8D8EA"/>
                </a:solidFill>
                <a:latin typeface="Consolas" pitchFamily="34" charset="0"/>
                <a:ea typeface="Consolas" pitchFamily="34" charset="-122"/>
                <a:cs typeface="Consolas" pitchFamily="34" charset="-120"/>
              </a:rPr>
              <a:t>torch.amp.GradScaler</a:t>
            </a:r>
            <a:r>
              <a:rPr lang="en-US" sz="1227" dirty="0">
                <a:solidFill>
                  <a:srgbClr val="A8D8EA"/>
                </a:solidFill>
                <a:latin typeface="Consolas" pitchFamily="34" charset="0"/>
                <a:ea typeface="Consolas" pitchFamily="34" charset="-122"/>
                <a:cs typeface="Consolas" pitchFamily="34" charset="-120"/>
              </a:rPr>
              <a:t>("</a:t>
            </a:r>
            <a:r>
              <a:rPr lang="en-US" sz="1227" dirty="0" err="1">
                <a:solidFill>
                  <a:srgbClr val="A8D8EA"/>
                </a:solidFill>
                <a:latin typeface="Consolas" pitchFamily="34" charset="0"/>
                <a:ea typeface="Consolas" pitchFamily="34" charset="-122"/>
                <a:cs typeface="Consolas" pitchFamily="34" charset="-120"/>
              </a:rPr>
              <a:t>cuda</a:t>
            </a:r>
            <a:r>
              <a:rPr lang="en-US" sz="1227" dirty="0">
                <a:solidFill>
                  <a:srgbClr val="A8D8EA"/>
                </a:solidFill>
                <a:latin typeface="Consolas" pitchFamily="34" charset="0"/>
                <a:ea typeface="Consolas" pitchFamily="34" charset="-122"/>
                <a:cs typeface="Consolas" pitchFamily="34" charset="-120"/>
              </a:rPr>
              <a:t>")</a:t>
            </a:r>
          </a:p>
          <a:p>
            <a:r>
              <a:rPr lang="en-US" sz="1227" dirty="0" err="1">
                <a:solidFill>
                  <a:srgbClr val="A8D8EA"/>
                </a:solidFill>
                <a:latin typeface="Consolas" pitchFamily="34" charset="0"/>
                <a:ea typeface="Consolas" pitchFamily="34" charset="-122"/>
                <a:cs typeface="Consolas" pitchFamily="34" charset="-120"/>
              </a:rPr>
              <a:t>best_loss</a:t>
            </a:r>
            <a:r>
              <a:rPr lang="en-US" sz="1227" dirty="0">
                <a:solidFill>
                  <a:srgbClr val="A8D8EA"/>
                </a:solidFill>
                <a:latin typeface="Consolas" pitchFamily="34" charset="0"/>
                <a:ea typeface="Consolas" pitchFamily="34" charset="-122"/>
                <a:cs typeface="Consolas" pitchFamily="34" charset="-120"/>
              </a:rPr>
              <a:t> = float('inf’)</a:t>
            </a:r>
          </a:p>
          <a:p>
            <a:endParaRPr lang="en-US" sz="1227" dirty="0">
              <a:solidFill>
                <a:srgbClr val="A8D8EA"/>
              </a:solidFill>
              <a:latin typeface="Consolas" pitchFamily="34" charset="0"/>
              <a:ea typeface="Consolas" pitchFamily="34" charset="-122"/>
              <a:cs typeface="Consolas" pitchFamily="34" charset="-120"/>
            </a:endParaRPr>
          </a:p>
          <a:p>
            <a:r>
              <a:rPr lang="en-US" sz="1227" dirty="0">
                <a:solidFill>
                  <a:srgbClr val="A8D8EA"/>
                </a:solidFill>
                <a:latin typeface="Consolas" pitchFamily="34" charset="0"/>
                <a:ea typeface="Consolas" pitchFamily="34" charset="-122"/>
                <a:cs typeface="Consolas" pitchFamily="34" charset="-120"/>
              </a:rPr>
              <a:t>for epoch in range(10):</a:t>
            </a:r>
          </a:p>
          <a:p>
            <a:r>
              <a:rPr lang="en-US" sz="1227" dirty="0">
                <a:solidFill>
                  <a:srgbClr val="A8D8EA"/>
                </a:solidFill>
                <a:latin typeface="Consolas" pitchFamily="34" charset="0"/>
                <a:ea typeface="Consolas" pitchFamily="34" charset="-122"/>
                <a:cs typeface="Consolas" pitchFamily="34" charset="-120"/>
              </a:rPr>
              <a:t>    print(</a:t>
            </a:r>
            <a:r>
              <a:rPr lang="en-US" sz="1227" dirty="0" err="1">
                <a:solidFill>
                  <a:srgbClr val="A8D8EA"/>
                </a:solidFill>
                <a:latin typeface="Consolas" pitchFamily="34" charset="0"/>
                <a:ea typeface="Consolas" pitchFamily="34" charset="-122"/>
                <a:cs typeface="Consolas" pitchFamily="34" charset="-120"/>
              </a:rPr>
              <a:t>f"Epoch</a:t>
            </a:r>
            <a:r>
              <a:rPr lang="en-US" sz="1227" dirty="0">
                <a:solidFill>
                  <a:srgbClr val="A8D8EA"/>
                </a:solidFill>
                <a:latin typeface="Consolas" pitchFamily="34" charset="0"/>
                <a:ea typeface="Consolas" pitchFamily="34" charset="-122"/>
                <a:cs typeface="Consolas" pitchFamily="34" charset="-120"/>
              </a:rPr>
              <a:t>: {epoch + 1}")</a:t>
            </a:r>
          </a:p>
          <a:p>
            <a:r>
              <a:rPr lang="en-US" sz="1227" dirty="0">
                <a:solidFill>
                  <a:srgbClr val="A8D8EA"/>
                </a:solidFill>
                <a:latin typeface="Consolas" pitchFamily="34" charset="0"/>
                <a:ea typeface="Consolas" pitchFamily="34" charset="-122"/>
                <a:cs typeface="Consolas" pitchFamily="34" charset="-120"/>
              </a:rPr>
              <a:t>    </a:t>
            </a:r>
            <a:r>
              <a:rPr lang="en-US" sz="1227" dirty="0" err="1">
                <a:solidFill>
                  <a:srgbClr val="A8D8EA"/>
                </a:solidFill>
                <a:latin typeface="Consolas" pitchFamily="34" charset="0"/>
                <a:ea typeface="Consolas" pitchFamily="34" charset="-122"/>
                <a:cs typeface="Consolas" pitchFamily="34" charset="-120"/>
              </a:rPr>
              <a:t>model.train</a:t>
            </a:r>
            <a:r>
              <a:rPr lang="en-US" sz="1227" dirty="0">
                <a:solidFill>
                  <a:srgbClr val="A8D8EA"/>
                </a:solidFill>
                <a:latin typeface="Consolas" pitchFamily="34" charset="0"/>
                <a:ea typeface="Consolas" pitchFamily="34" charset="-122"/>
                <a:cs typeface="Consolas" pitchFamily="34" charset="-120"/>
              </a:rPr>
              <a:t>()</a:t>
            </a:r>
          </a:p>
          <a:p>
            <a:r>
              <a:rPr lang="en-US" sz="1227" dirty="0">
                <a:solidFill>
                  <a:srgbClr val="A8D8EA"/>
                </a:solidFill>
                <a:latin typeface="Consolas" pitchFamily="34" charset="0"/>
                <a:ea typeface="Consolas" pitchFamily="34" charset="-122"/>
                <a:cs typeface="Consolas" pitchFamily="34" charset="-120"/>
              </a:rPr>
              <a:t>    losses = []</a:t>
            </a:r>
          </a:p>
          <a:p>
            <a:r>
              <a:rPr lang="en-US" sz="1227" dirty="0">
                <a:solidFill>
                  <a:srgbClr val="A8D8EA"/>
                </a:solidFill>
                <a:latin typeface="Consolas" pitchFamily="34" charset="0"/>
                <a:ea typeface="Consolas" pitchFamily="34" charset="-122"/>
                <a:cs typeface="Consolas" pitchFamily="34" charset="-120"/>
              </a:rPr>
              <a:t>    </a:t>
            </a:r>
            <a:r>
              <a:rPr lang="en-US" sz="1227" dirty="0" err="1">
                <a:solidFill>
                  <a:srgbClr val="A8D8EA"/>
                </a:solidFill>
                <a:latin typeface="Consolas" pitchFamily="34" charset="0"/>
                <a:ea typeface="Consolas" pitchFamily="34" charset="-122"/>
                <a:cs typeface="Consolas" pitchFamily="34" charset="-120"/>
              </a:rPr>
              <a:t>tqdm_object</a:t>
            </a:r>
            <a:r>
              <a:rPr lang="en-US" sz="1227" dirty="0">
                <a:solidFill>
                  <a:srgbClr val="A8D8EA"/>
                </a:solidFill>
                <a:latin typeface="Consolas" pitchFamily="34" charset="0"/>
                <a:ea typeface="Consolas" pitchFamily="34" charset="-122"/>
                <a:cs typeface="Consolas" pitchFamily="34" charset="-120"/>
              </a:rPr>
              <a:t> = </a:t>
            </a:r>
            <a:r>
              <a:rPr lang="en-US" sz="1227" dirty="0" err="1">
                <a:solidFill>
                  <a:srgbClr val="A8D8EA"/>
                </a:solidFill>
                <a:latin typeface="Consolas" pitchFamily="34" charset="0"/>
                <a:ea typeface="Consolas" pitchFamily="34" charset="-122"/>
                <a:cs typeface="Consolas" pitchFamily="34" charset="-120"/>
              </a:rPr>
              <a:t>tqdm</a:t>
            </a:r>
            <a:r>
              <a:rPr lang="en-US" sz="1227" dirty="0">
                <a:solidFill>
                  <a:srgbClr val="A8D8EA"/>
                </a:solidFill>
                <a:latin typeface="Consolas" pitchFamily="34" charset="0"/>
                <a:ea typeface="Consolas" pitchFamily="34" charset="-122"/>
                <a:cs typeface="Consolas" pitchFamily="34" charset="-120"/>
              </a:rPr>
              <a:t>(</a:t>
            </a:r>
            <a:r>
              <a:rPr lang="en-US" sz="1227" dirty="0" err="1">
                <a:solidFill>
                  <a:srgbClr val="A8D8EA"/>
                </a:solidFill>
                <a:latin typeface="Consolas" pitchFamily="34" charset="0"/>
                <a:ea typeface="Consolas" pitchFamily="34" charset="-122"/>
                <a:cs typeface="Consolas" pitchFamily="34" charset="-120"/>
              </a:rPr>
              <a:t>trainloader</a:t>
            </a:r>
            <a:r>
              <a:rPr lang="en-US" sz="1227" dirty="0">
                <a:solidFill>
                  <a:srgbClr val="A8D8EA"/>
                </a:solidFill>
                <a:latin typeface="Consolas" pitchFamily="34" charset="0"/>
                <a:ea typeface="Consolas" pitchFamily="34" charset="-122"/>
                <a:cs typeface="Consolas" pitchFamily="34" charset="-120"/>
              </a:rPr>
              <a:t>, total=</a:t>
            </a:r>
            <a:r>
              <a:rPr lang="en-US" sz="1227" dirty="0" err="1">
                <a:solidFill>
                  <a:srgbClr val="A8D8EA"/>
                </a:solidFill>
                <a:latin typeface="Consolas" pitchFamily="34" charset="0"/>
                <a:ea typeface="Consolas" pitchFamily="34" charset="-122"/>
                <a:cs typeface="Consolas" pitchFamily="34" charset="-120"/>
              </a:rPr>
              <a:t>len</a:t>
            </a:r>
            <a:r>
              <a:rPr lang="en-US" sz="1227" dirty="0">
                <a:solidFill>
                  <a:srgbClr val="A8D8EA"/>
                </a:solidFill>
                <a:latin typeface="Consolas" pitchFamily="34" charset="0"/>
                <a:ea typeface="Consolas" pitchFamily="34" charset="-122"/>
                <a:cs typeface="Consolas" pitchFamily="34" charset="-120"/>
              </a:rPr>
              <a:t>(</a:t>
            </a:r>
            <a:r>
              <a:rPr lang="en-US" sz="1227" dirty="0" err="1">
                <a:solidFill>
                  <a:srgbClr val="A8D8EA"/>
                </a:solidFill>
                <a:latin typeface="Consolas" pitchFamily="34" charset="0"/>
                <a:ea typeface="Consolas" pitchFamily="34" charset="-122"/>
                <a:cs typeface="Consolas" pitchFamily="34" charset="-120"/>
              </a:rPr>
              <a:t>trainloader</a:t>
            </a:r>
            <a:r>
              <a:rPr lang="en-US" sz="1227" dirty="0">
                <a:solidFill>
                  <a:srgbClr val="A8D8EA"/>
                </a:solidFill>
                <a:latin typeface="Consolas" pitchFamily="34" charset="0"/>
                <a:ea typeface="Consolas" pitchFamily="34" charset="-122"/>
                <a:cs typeface="Consolas" pitchFamily="34" charset="-120"/>
              </a:rPr>
              <a:t>))</a:t>
            </a:r>
          </a:p>
          <a:p>
            <a:r>
              <a:rPr lang="en-US" sz="1227" dirty="0">
                <a:solidFill>
                  <a:srgbClr val="A8D8EA"/>
                </a:solidFill>
                <a:latin typeface="Consolas" pitchFamily="34" charset="0"/>
                <a:ea typeface="Consolas" pitchFamily="34" charset="-122"/>
                <a:cs typeface="Consolas" pitchFamily="34" charset="-120"/>
              </a:rPr>
              <a:t>    for batch in </a:t>
            </a:r>
            <a:r>
              <a:rPr lang="en-US" sz="1227" dirty="0" err="1">
                <a:solidFill>
                  <a:srgbClr val="A8D8EA"/>
                </a:solidFill>
                <a:latin typeface="Consolas" pitchFamily="34" charset="0"/>
                <a:ea typeface="Consolas" pitchFamily="34" charset="-122"/>
                <a:cs typeface="Consolas" pitchFamily="34" charset="-120"/>
              </a:rPr>
              <a:t>tqdm_object</a:t>
            </a:r>
            <a:r>
              <a:rPr lang="en-US" sz="1227" dirty="0">
                <a:solidFill>
                  <a:srgbClr val="A8D8EA"/>
                </a:solidFill>
                <a:latin typeface="Consolas" pitchFamily="34" charset="0"/>
                <a:ea typeface="Consolas" pitchFamily="34" charset="-122"/>
                <a:cs typeface="Consolas" pitchFamily="34" charset="-120"/>
              </a:rPr>
              <a:t>: # Iterates through all batches in the training set</a:t>
            </a:r>
          </a:p>
          <a:p>
            <a:r>
              <a:rPr lang="en-US" sz="1227" dirty="0">
                <a:solidFill>
                  <a:srgbClr val="A8D8EA"/>
                </a:solidFill>
                <a:latin typeface="Consolas" pitchFamily="34" charset="0"/>
                <a:ea typeface="Consolas" pitchFamily="34" charset="-122"/>
                <a:cs typeface="Consolas" pitchFamily="34" charset="-120"/>
              </a:rPr>
              <a:t>        batch = {k: v.to(</a:t>
            </a:r>
            <a:r>
              <a:rPr lang="en-US" sz="1227" dirty="0" err="1">
                <a:solidFill>
                  <a:srgbClr val="A8D8EA"/>
                </a:solidFill>
                <a:latin typeface="Consolas" pitchFamily="34" charset="0"/>
                <a:ea typeface="Consolas" pitchFamily="34" charset="-122"/>
                <a:cs typeface="Consolas" pitchFamily="34" charset="-120"/>
              </a:rPr>
              <a:t>CFG.device</a:t>
            </a:r>
            <a:r>
              <a:rPr lang="en-US" sz="1227" dirty="0">
                <a:solidFill>
                  <a:srgbClr val="A8D8EA"/>
                </a:solidFill>
                <a:latin typeface="Consolas" pitchFamily="34" charset="0"/>
                <a:ea typeface="Consolas" pitchFamily="34" charset="-122"/>
                <a:cs typeface="Consolas" pitchFamily="34" charset="-120"/>
              </a:rPr>
              <a:t>) for k, v in </a:t>
            </a:r>
            <a:r>
              <a:rPr lang="en-US" sz="1227" dirty="0" err="1">
                <a:solidFill>
                  <a:srgbClr val="A8D8EA"/>
                </a:solidFill>
                <a:latin typeface="Consolas" pitchFamily="34" charset="0"/>
                <a:ea typeface="Consolas" pitchFamily="34" charset="-122"/>
                <a:cs typeface="Consolas" pitchFamily="34" charset="-120"/>
              </a:rPr>
              <a:t>batch.items</a:t>
            </a:r>
            <a:r>
              <a:rPr lang="en-US" sz="1227" dirty="0">
                <a:solidFill>
                  <a:srgbClr val="A8D8EA"/>
                </a:solidFill>
                <a:latin typeface="Consolas" pitchFamily="34" charset="0"/>
                <a:ea typeface="Consolas" pitchFamily="34" charset="-122"/>
                <a:cs typeface="Consolas" pitchFamily="34" charset="-120"/>
              </a:rPr>
              <a:t>() if k != "caption"}</a:t>
            </a:r>
          </a:p>
          <a:p>
            <a:r>
              <a:rPr lang="en-US" sz="1227" dirty="0">
                <a:solidFill>
                  <a:srgbClr val="A8D8EA"/>
                </a:solidFill>
                <a:latin typeface="Consolas" pitchFamily="34" charset="0"/>
                <a:ea typeface="Consolas" pitchFamily="34" charset="-122"/>
                <a:cs typeface="Consolas" pitchFamily="34" charset="-120"/>
              </a:rPr>
              <a:t>        with </a:t>
            </a:r>
            <a:r>
              <a:rPr lang="en-US" sz="1227" dirty="0" err="1">
                <a:solidFill>
                  <a:srgbClr val="A8D8EA"/>
                </a:solidFill>
                <a:latin typeface="Consolas" pitchFamily="34" charset="0"/>
                <a:ea typeface="Consolas" pitchFamily="34" charset="-122"/>
                <a:cs typeface="Consolas" pitchFamily="34" charset="-120"/>
              </a:rPr>
              <a:t>torch.amp.autocast</a:t>
            </a:r>
            <a:r>
              <a:rPr lang="en-US" sz="1227" dirty="0">
                <a:solidFill>
                  <a:srgbClr val="A8D8EA"/>
                </a:solidFill>
                <a:latin typeface="Consolas" pitchFamily="34" charset="0"/>
                <a:ea typeface="Consolas" pitchFamily="34" charset="-122"/>
                <a:cs typeface="Consolas" pitchFamily="34" charset="-120"/>
              </a:rPr>
              <a:t>("</a:t>
            </a:r>
            <a:r>
              <a:rPr lang="en-US" sz="1227" dirty="0" err="1">
                <a:solidFill>
                  <a:srgbClr val="A8D8EA"/>
                </a:solidFill>
                <a:latin typeface="Consolas" pitchFamily="34" charset="0"/>
                <a:ea typeface="Consolas" pitchFamily="34" charset="-122"/>
                <a:cs typeface="Consolas" pitchFamily="34" charset="-120"/>
              </a:rPr>
              <a:t>cuda</a:t>
            </a:r>
            <a:r>
              <a:rPr lang="en-US" sz="1227" dirty="0">
                <a:solidFill>
                  <a:srgbClr val="A8D8EA"/>
                </a:solidFill>
                <a:latin typeface="Consolas" pitchFamily="34" charset="0"/>
                <a:ea typeface="Consolas" pitchFamily="34" charset="-122"/>
                <a:cs typeface="Consolas" pitchFamily="34" charset="-120"/>
              </a:rPr>
              <a:t>"):</a:t>
            </a:r>
          </a:p>
          <a:p>
            <a:r>
              <a:rPr lang="en-US" sz="1227" dirty="0">
                <a:solidFill>
                  <a:srgbClr val="A8D8EA"/>
                </a:solidFill>
                <a:latin typeface="Consolas" pitchFamily="34" charset="0"/>
                <a:ea typeface="Consolas" pitchFamily="34" charset="-122"/>
                <a:cs typeface="Consolas" pitchFamily="34" charset="-120"/>
              </a:rPr>
              <a:t>            loss = model(batch) # Calculates the loss in the batch</a:t>
            </a:r>
          </a:p>
          <a:p>
            <a:r>
              <a:rPr lang="en-US" sz="1227" dirty="0">
                <a:solidFill>
                  <a:srgbClr val="A8D8EA"/>
                </a:solidFill>
                <a:latin typeface="Consolas" pitchFamily="34" charset="0"/>
                <a:ea typeface="Consolas" pitchFamily="34" charset="-122"/>
                <a:cs typeface="Consolas" pitchFamily="34" charset="-120"/>
              </a:rPr>
              <a:t>        </a:t>
            </a:r>
            <a:r>
              <a:rPr lang="en-US" sz="1227" dirty="0" err="1">
                <a:solidFill>
                  <a:srgbClr val="A8D8EA"/>
                </a:solidFill>
                <a:latin typeface="Consolas" pitchFamily="34" charset="0"/>
                <a:ea typeface="Consolas" pitchFamily="34" charset="-122"/>
                <a:cs typeface="Consolas" pitchFamily="34" charset="-120"/>
              </a:rPr>
              <a:t>optimizer.zero_grad</a:t>
            </a:r>
            <a:r>
              <a:rPr lang="en-US" sz="1227" dirty="0">
                <a:solidFill>
                  <a:srgbClr val="A8D8EA"/>
                </a:solidFill>
                <a:latin typeface="Consolas" pitchFamily="34" charset="0"/>
                <a:ea typeface="Consolas" pitchFamily="34" charset="-122"/>
                <a:cs typeface="Consolas" pitchFamily="34" charset="-120"/>
              </a:rPr>
              <a:t>()</a:t>
            </a:r>
          </a:p>
          <a:p>
            <a:r>
              <a:rPr lang="en-US" sz="1227" dirty="0">
                <a:solidFill>
                  <a:srgbClr val="A8D8EA"/>
                </a:solidFill>
                <a:latin typeface="Consolas" pitchFamily="34" charset="0"/>
                <a:ea typeface="Consolas" pitchFamily="34" charset="-122"/>
                <a:cs typeface="Consolas" pitchFamily="34" charset="-120"/>
              </a:rPr>
              <a:t>        </a:t>
            </a:r>
            <a:r>
              <a:rPr lang="en-US" sz="1227" dirty="0" err="1">
                <a:solidFill>
                  <a:srgbClr val="A8D8EA"/>
                </a:solidFill>
                <a:latin typeface="Consolas" pitchFamily="34" charset="0"/>
                <a:ea typeface="Consolas" pitchFamily="34" charset="-122"/>
                <a:cs typeface="Consolas" pitchFamily="34" charset="-120"/>
              </a:rPr>
              <a:t>scaler.scale</a:t>
            </a:r>
            <a:r>
              <a:rPr lang="en-US" sz="1227" dirty="0">
                <a:solidFill>
                  <a:srgbClr val="A8D8EA"/>
                </a:solidFill>
                <a:latin typeface="Consolas" pitchFamily="34" charset="0"/>
                <a:ea typeface="Consolas" pitchFamily="34" charset="-122"/>
                <a:cs typeface="Consolas" pitchFamily="34" charset="-120"/>
              </a:rPr>
              <a:t>(loss).backward()</a:t>
            </a:r>
          </a:p>
          <a:p>
            <a:r>
              <a:rPr lang="en-US" sz="1227" dirty="0">
                <a:solidFill>
                  <a:srgbClr val="A8D8EA"/>
                </a:solidFill>
                <a:latin typeface="Consolas" pitchFamily="34" charset="0"/>
                <a:ea typeface="Consolas" pitchFamily="34" charset="-122"/>
                <a:cs typeface="Consolas" pitchFamily="34" charset="-120"/>
              </a:rPr>
              <a:t>        </a:t>
            </a:r>
            <a:r>
              <a:rPr lang="en-US" sz="1227" dirty="0" err="1">
                <a:solidFill>
                  <a:srgbClr val="A8D8EA"/>
                </a:solidFill>
                <a:latin typeface="Consolas" pitchFamily="34" charset="0"/>
                <a:ea typeface="Consolas" pitchFamily="34" charset="-122"/>
                <a:cs typeface="Consolas" pitchFamily="34" charset="-120"/>
              </a:rPr>
              <a:t>scaler.step</a:t>
            </a:r>
            <a:r>
              <a:rPr lang="en-US" sz="1227" dirty="0">
                <a:solidFill>
                  <a:srgbClr val="A8D8EA"/>
                </a:solidFill>
                <a:latin typeface="Consolas" pitchFamily="34" charset="0"/>
                <a:ea typeface="Consolas" pitchFamily="34" charset="-122"/>
                <a:cs typeface="Consolas" pitchFamily="34" charset="-120"/>
              </a:rPr>
              <a:t>(optimizer)</a:t>
            </a:r>
          </a:p>
          <a:p>
            <a:r>
              <a:rPr lang="en-US" sz="1227" dirty="0">
                <a:solidFill>
                  <a:srgbClr val="A8D8EA"/>
                </a:solidFill>
                <a:latin typeface="Consolas" pitchFamily="34" charset="0"/>
                <a:ea typeface="Consolas" pitchFamily="34" charset="-122"/>
                <a:cs typeface="Consolas" pitchFamily="34" charset="-120"/>
              </a:rPr>
              <a:t>        </a:t>
            </a:r>
            <a:r>
              <a:rPr lang="en-US" sz="1227" dirty="0" err="1">
                <a:solidFill>
                  <a:srgbClr val="A8D8EA"/>
                </a:solidFill>
                <a:latin typeface="Consolas" pitchFamily="34" charset="0"/>
                <a:ea typeface="Consolas" pitchFamily="34" charset="-122"/>
                <a:cs typeface="Consolas" pitchFamily="34" charset="-120"/>
              </a:rPr>
              <a:t>scaler.update</a:t>
            </a:r>
            <a:r>
              <a:rPr lang="en-US" sz="1227" dirty="0">
                <a:solidFill>
                  <a:srgbClr val="A8D8EA"/>
                </a:solidFill>
                <a:latin typeface="Consolas" pitchFamily="34" charset="0"/>
                <a:ea typeface="Consolas" pitchFamily="34" charset="-122"/>
                <a:cs typeface="Consolas" pitchFamily="34" charset="-120"/>
              </a:rPr>
              <a:t>() # Adjusts model parameters to minimize the loss</a:t>
            </a:r>
          </a:p>
          <a:p>
            <a:r>
              <a:rPr lang="en-US" sz="1227" dirty="0">
                <a:solidFill>
                  <a:srgbClr val="A8D8EA"/>
                </a:solidFill>
                <a:latin typeface="Consolas" pitchFamily="34" charset="0"/>
                <a:ea typeface="Consolas" pitchFamily="34" charset="-122"/>
                <a:cs typeface="Consolas" pitchFamily="34" charset="-120"/>
              </a:rPr>
              <a:t>        </a:t>
            </a:r>
            <a:r>
              <a:rPr lang="en-US" sz="1227" dirty="0" err="1">
                <a:solidFill>
                  <a:srgbClr val="A8D8EA"/>
                </a:solidFill>
                <a:latin typeface="Consolas" pitchFamily="34" charset="0"/>
                <a:ea typeface="Consolas" pitchFamily="34" charset="-122"/>
                <a:cs typeface="Consolas" pitchFamily="34" charset="-120"/>
              </a:rPr>
              <a:t>losses.append</a:t>
            </a:r>
            <a:r>
              <a:rPr lang="en-US" sz="1227" dirty="0">
                <a:solidFill>
                  <a:srgbClr val="A8D8EA"/>
                </a:solidFill>
                <a:latin typeface="Consolas" pitchFamily="34" charset="0"/>
                <a:ea typeface="Consolas" pitchFamily="34" charset="-122"/>
                <a:cs typeface="Consolas" pitchFamily="34" charset="-120"/>
              </a:rPr>
              <a:t>(</a:t>
            </a:r>
            <a:r>
              <a:rPr lang="en-US" sz="1227" dirty="0" err="1">
                <a:solidFill>
                  <a:srgbClr val="A8D8EA"/>
                </a:solidFill>
                <a:latin typeface="Consolas" pitchFamily="34" charset="0"/>
                <a:ea typeface="Consolas" pitchFamily="34" charset="-122"/>
                <a:cs typeface="Consolas" pitchFamily="34" charset="-120"/>
              </a:rPr>
              <a:t>loss.item</a:t>
            </a:r>
            <a:r>
              <a:rPr lang="en-US" sz="1227" dirty="0">
                <a:solidFill>
                  <a:srgbClr val="A8D8EA"/>
                </a:solidFill>
                <a:latin typeface="Consolas" pitchFamily="34" charset="0"/>
                <a:ea typeface="Consolas" pitchFamily="34" charset="-122"/>
                <a:cs typeface="Consolas" pitchFamily="34" charset="-120"/>
              </a:rPr>
              <a:t>())</a:t>
            </a:r>
          </a:p>
          <a:p>
            <a:r>
              <a:rPr lang="en-US" sz="1227" dirty="0">
                <a:solidFill>
                  <a:srgbClr val="A8D8EA"/>
                </a:solidFill>
                <a:latin typeface="Consolas" pitchFamily="34" charset="0"/>
                <a:ea typeface="Consolas" pitchFamily="34" charset="-122"/>
                <a:cs typeface="Consolas" pitchFamily="34" charset="-120"/>
              </a:rPr>
              <a:t>        </a:t>
            </a:r>
            <a:r>
              <a:rPr lang="en-US" sz="1227" dirty="0" err="1">
                <a:solidFill>
                  <a:srgbClr val="A8D8EA"/>
                </a:solidFill>
                <a:latin typeface="Consolas" pitchFamily="34" charset="0"/>
                <a:ea typeface="Consolas" pitchFamily="34" charset="-122"/>
                <a:cs typeface="Consolas" pitchFamily="34" charset="-120"/>
              </a:rPr>
              <a:t>avgloss</a:t>
            </a:r>
            <a:r>
              <a:rPr lang="en-US" sz="1227" dirty="0">
                <a:solidFill>
                  <a:srgbClr val="A8D8EA"/>
                </a:solidFill>
                <a:latin typeface="Consolas" pitchFamily="34" charset="0"/>
                <a:ea typeface="Consolas" pitchFamily="34" charset="-122"/>
                <a:cs typeface="Consolas" pitchFamily="34" charset="-120"/>
              </a:rPr>
              <a:t>=sum(losses)/</a:t>
            </a:r>
            <a:r>
              <a:rPr lang="en-US" sz="1227" dirty="0" err="1">
                <a:solidFill>
                  <a:srgbClr val="A8D8EA"/>
                </a:solidFill>
                <a:latin typeface="Consolas" pitchFamily="34" charset="0"/>
                <a:ea typeface="Consolas" pitchFamily="34" charset="-122"/>
                <a:cs typeface="Consolas" pitchFamily="34" charset="-120"/>
              </a:rPr>
              <a:t>len</a:t>
            </a:r>
            <a:r>
              <a:rPr lang="en-US" sz="1227" dirty="0">
                <a:solidFill>
                  <a:srgbClr val="A8D8EA"/>
                </a:solidFill>
                <a:latin typeface="Consolas" pitchFamily="34" charset="0"/>
                <a:ea typeface="Consolas" pitchFamily="34" charset="-122"/>
                <a:cs typeface="Consolas" pitchFamily="34" charset="-120"/>
              </a:rPr>
              <a:t>(losses)</a:t>
            </a:r>
          </a:p>
          <a:p>
            <a:r>
              <a:rPr lang="en-US" sz="1227" dirty="0">
                <a:solidFill>
                  <a:srgbClr val="A8D8EA"/>
                </a:solidFill>
                <a:latin typeface="Consolas" pitchFamily="34" charset="0"/>
                <a:ea typeface="Consolas" pitchFamily="34" charset="-122"/>
                <a:cs typeface="Consolas" pitchFamily="34" charset="-120"/>
              </a:rPr>
              <a:t>        </a:t>
            </a:r>
            <a:r>
              <a:rPr lang="en-US" sz="1227" dirty="0" err="1">
                <a:solidFill>
                  <a:srgbClr val="A8D8EA"/>
                </a:solidFill>
                <a:latin typeface="Consolas" pitchFamily="34" charset="0"/>
                <a:ea typeface="Consolas" pitchFamily="34" charset="-122"/>
                <a:cs typeface="Consolas" pitchFamily="34" charset="-120"/>
              </a:rPr>
              <a:t>tqdm_object.set_description</a:t>
            </a:r>
            <a:r>
              <a:rPr lang="en-US" sz="1227" dirty="0">
                <a:solidFill>
                  <a:srgbClr val="A8D8EA"/>
                </a:solidFill>
                <a:latin typeface="Consolas" pitchFamily="34" charset="0"/>
                <a:ea typeface="Consolas" pitchFamily="34" charset="-122"/>
                <a:cs typeface="Consolas" pitchFamily="34" charset="-120"/>
              </a:rPr>
              <a:t>(</a:t>
            </a:r>
            <a:r>
              <a:rPr lang="en-US" sz="1227" dirty="0" err="1">
                <a:solidFill>
                  <a:srgbClr val="A8D8EA"/>
                </a:solidFill>
                <a:latin typeface="Consolas" pitchFamily="34" charset="0"/>
                <a:ea typeface="Consolas" pitchFamily="34" charset="-122"/>
                <a:cs typeface="Consolas" pitchFamily="34" charset="-120"/>
              </a:rPr>
              <a:t>f"loss</a:t>
            </a:r>
            <a:r>
              <a:rPr lang="en-US" sz="1227" dirty="0">
                <a:solidFill>
                  <a:srgbClr val="A8D8EA"/>
                </a:solidFill>
                <a:latin typeface="Consolas" pitchFamily="34" charset="0"/>
                <a:ea typeface="Consolas" pitchFamily="34" charset="-122"/>
                <a:cs typeface="Consolas" pitchFamily="34" charset="-120"/>
              </a:rPr>
              <a:t> is {avgloss:.5f}")</a:t>
            </a:r>
          </a:p>
          <a:p>
            <a:r>
              <a:rPr lang="en-US" sz="1227" dirty="0">
                <a:solidFill>
                  <a:srgbClr val="A8D8EA"/>
                </a:solidFill>
                <a:latin typeface="Consolas" pitchFamily="34" charset="0"/>
                <a:ea typeface="Consolas" pitchFamily="34" charset="-122"/>
                <a:cs typeface="Consolas" pitchFamily="34" charset="-120"/>
              </a:rPr>
              <a:t>    evaluate() # Evaluates the current model and saves model parameters if it </a:t>
            </a:r>
          </a:p>
          <a:p>
            <a:r>
              <a:rPr lang="en-US" sz="1227" dirty="0">
                <a:solidFill>
                  <a:srgbClr val="A8D8EA"/>
                </a:solidFill>
                <a:latin typeface="Consolas" pitchFamily="34" charset="0"/>
                <a:ea typeface="Consolas" pitchFamily="34" charset="-122"/>
                <a:cs typeface="Consolas" pitchFamily="34" charset="-120"/>
              </a:rPr>
              <a:t>               # achieves the best performance so far</a:t>
            </a:r>
          </a:p>
          <a:p>
            <a:r>
              <a:rPr lang="en-US" sz="1227" dirty="0">
                <a:solidFill>
                  <a:srgbClr val="A8D8EA"/>
                </a:solidFill>
                <a:latin typeface="Consolas" pitchFamily="34" charset="0"/>
                <a:ea typeface="Consolas" pitchFamily="34" charset="-122"/>
                <a:cs typeface="Consolas" pitchFamily="34" charset="-120"/>
              </a:rPr>
              <a:t>    </a:t>
            </a:r>
            <a:r>
              <a:rPr lang="en-US" sz="1227" dirty="0" err="1">
                <a:solidFill>
                  <a:srgbClr val="A8D8EA"/>
                </a:solidFill>
                <a:latin typeface="Consolas" pitchFamily="34" charset="0"/>
                <a:ea typeface="Consolas" pitchFamily="34" charset="-122"/>
                <a:cs typeface="Consolas" pitchFamily="34" charset="-120"/>
              </a:rPr>
              <a:t>lr_scheduler.step</a:t>
            </a:r>
            <a:r>
              <a:rPr lang="en-US" sz="1227" dirty="0">
                <a:solidFill>
                  <a:srgbClr val="A8D8EA"/>
                </a:solidFill>
                <a:latin typeface="Consolas" pitchFamily="34" charset="0"/>
                <a:ea typeface="Consolas" pitchFamily="34" charset="-122"/>
                <a:cs typeface="Consolas" pitchFamily="34" charset="-120"/>
              </a:rPr>
              <a:t>(</a:t>
            </a:r>
            <a:r>
              <a:rPr lang="en-US" sz="1227" dirty="0" err="1">
                <a:solidFill>
                  <a:srgbClr val="A8D8EA"/>
                </a:solidFill>
                <a:latin typeface="Consolas" pitchFamily="34" charset="0"/>
                <a:ea typeface="Consolas" pitchFamily="34" charset="-122"/>
                <a:cs typeface="Consolas" pitchFamily="34" charset="-120"/>
              </a:rPr>
              <a:t>avgloss</a:t>
            </a:r>
            <a:r>
              <a:rPr lang="en-US" sz="1227" dirty="0">
                <a:solidFill>
                  <a:srgbClr val="A8D8EA"/>
                </a:solidFill>
                <a:latin typeface="Consolas" pitchFamily="34" charset="0"/>
                <a:ea typeface="Consolas" pitchFamily="34" charset="-122"/>
                <a:cs typeface="Consolas" pitchFamily="34" charset="-120"/>
              </a:rPr>
              <a:t>)</a:t>
            </a:r>
          </a:p>
        </p:txBody>
      </p:sp>
    </p:spTree>
    <p:extLst>
      <p:ext uri="{BB962C8B-B14F-4D97-AF65-F5344CB8AC3E}">
        <p14:creationId xmlns:p14="http://schemas.microsoft.com/office/powerpoint/2010/main" val="1917598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590" fill="hold"/>
                                        <p:tgtEl>
                                          <p:spTgt spid="4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7"/>
                                        </p:tgtEl>
                                      </p:cBhvr>
                                    </p:cmd>
                                  </p:childTnLst>
                                </p:cTn>
                              </p:par>
                            </p:childTnLst>
                          </p:cTn>
                        </p:par>
                      </p:childTnLst>
                    </p:cTn>
                  </p:par>
                </p:childTnLst>
              </p:cTn>
              <p:nextCondLst>
                <p:cond evt="onClick" delay="0">
                  <p:tgtEl>
                    <p:spTgt spid="47"/>
                  </p:tgtEl>
                </p:cond>
              </p:nextCondLst>
            </p:seq>
            <p:video>
              <p:cMediaNode vol="80000">
                <p:cTn id="12" fill="hold" display="0">
                  <p:stCondLst>
                    <p:cond delay="indefinite"/>
                  </p:stCondLst>
                </p:cTn>
                <p:tgtEl>
                  <p:spTgt spid="47"/>
                </p:tgtEl>
              </p:cMediaNode>
            </p:vide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3" name="Text 1"/>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Image Retrieval: How match() Function Works</a:t>
            </a:r>
            <a:endParaRPr lang="en-US" sz="3467" dirty="0"/>
          </a:p>
        </p:txBody>
      </p:sp>
      <p:sp>
        <p:nvSpPr>
          <p:cNvPr id="4" name="Text 2"/>
          <p:cNvSpPr/>
          <p:nvPr/>
        </p:nvSpPr>
        <p:spPr>
          <a:xfrm>
            <a:off x="548640" y="950976"/>
            <a:ext cx="11094720" cy="341376"/>
          </a:xfrm>
          <a:prstGeom prst="rect">
            <a:avLst/>
          </a:prstGeom>
          <a:noFill/>
          <a:ln/>
        </p:spPr>
        <p:txBody>
          <a:bodyPr wrap="square" rtlCol="0" anchor="ctr"/>
          <a:lstStyle/>
          <a:p>
            <a:r>
              <a:rPr lang="en-US" sz="1733" i="1" dirty="0">
                <a:solidFill>
                  <a:srgbClr val="595959"/>
                </a:solidFill>
                <a:latin typeface="Calibri" pitchFamily="34" charset="0"/>
                <a:ea typeface="Calibri" pitchFamily="34" charset="-122"/>
                <a:cs typeface="Calibri" pitchFamily="34" charset="-120"/>
              </a:rPr>
              <a:t>Given any text prompt → find the image whose embedding is most similar.</a:t>
            </a:r>
            <a:endParaRPr lang="en-US" sz="1733" dirty="0"/>
          </a:p>
        </p:txBody>
      </p:sp>
      <p:sp>
        <p:nvSpPr>
          <p:cNvPr id="32" name="Shape 0">
            <a:extLst>
              <a:ext uri="{FF2B5EF4-FFF2-40B4-BE49-F238E27FC236}">
                <a16:creationId xmlns:a16="http://schemas.microsoft.com/office/drawing/2014/main" id="{E8011C29-5EE6-ADDF-3500-97FE1DE28C0E}"/>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34" name="Picture 33">
            <a:extLst>
              <a:ext uri="{FF2B5EF4-FFF2-40B4-BE49-F238E27FC236}">
                <a16:creationId xmlns:a16="http://schemas.microsoft.com/office/drawing/2014/main" id="{C2355355-B49F-6ABA-B166-3E9BC39B6546}"/>
              </a:ext>
            </a:extLst>
          </p:cNvPr>
          <p:cNvPicPr>
            <a:picLocks noChangeAspect="1"/>
          </p:cNvPicPr>
          <p:nvPr/>
        </p:nvPicPr>
        <p:blipFill>
          <a:blip r:embed="rId3"/>
          <a:stretch>
            <a:fillRect/>
          </a:stretch>
        </p:blipFill>
        <p:spPr>
          <a:xfrm>
            <a:off x="2036097" y="1292352"/>
            <a:ext cx="8119806" cy="556564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DE81E-7CD4-6DF9-77F5-63D6AB389E6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137E6A7-C157-D08D-E3EB-2A1C2B34971E}"/>
              </a:ext>
            </a:extLst>
          </p:cNvPr>
          <p:cNvSpPr/>
          <p:nvPr/>
        </p:nvSpPr>
        <p:spPr>
          <a:xfrm>
            <a:off x="0" y="0"/>
            <a:ext cx="12192000" cy="85344"/>
          </a:xfrm>
          <a:prstGeom prst="rect">
            <a:avLst/>
          </a:prstGeom>
          <a:solidFill>
            <a:srgbClr val="1F3864"/>
          </a:solidFill>
          <a:ln w="12700">
            <a:solidFill>
              <a:srgbClr val="1F3864"/>
            </a:solidFill>
            <a:prstDash val="solid"/>
          </a:ln>
        </p:spPr>
      </p:sp>
      <p:sp>
        <p:nvSpPr>
          <p:cNvPr id="3" name="Text 1">
            <a:extLst>
              <a:ext uri="{FF2B5EF4-FFF2-40B4-BE49-F238E27FC236}">
                <a16:creationId xmlns:a16="http://schemas.microsoft.com/office/drawing/2014/main" id="{67721B0E-7ED1-47A9-E7A2-480506B350CF}"/>
              </a:ext>
            </a:extLst>
          </p:cNvPr>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Image Retrieval: How match() Function Works</a:t>
            </a:r>
            <a:endParaRPr lang="en-US" sz="3467" dirty="0"/>
          </a:p>
        </p:txBody>
      </p:sp>
      <p:sp>
        <p:nvSpPr>
          <p:cNvPr id="4" name="Text 2">
            <a:extLst>
              <a:ext uri="{FF2B5EF4-FFF2-40B4-BE49-F238E27FC236}">
                <a16:creationId xmlns:a16="http://schemas.microsoft.com/office/drawing/2014/main" id="{12EEF002-3447-3881-2C11-F5F80F2C02C6}"/>
              </a:ext>
            </a:extLst>
          </p:cNvPr>
          <p:cNvSpPr/>
          <p:nvPr/>
        </p:nvSpPr>
        <p:spPr>
          <a:xfrm>
            <a:off x="548640" y="950976"/>
            <a:ext cx="11094720" cy="341376"/>
          </a:xfrm>
          <a:prstGeom prst="rect">
            <a:avLst/>
          </a:prstGeom>
          <a:noFill/>
          <a:ln/>
        </p:spPr>
        <p:txBody>
          <a:bodyPr wrap="square" rtlCol="0" anchor="ctr"/>
          <a:lstStyle/>
          <a:p>
            <a:r>
              <a:rPr lang="en-US" sz="1733" i="1" dirty="0">
                <a:solidFill>
                  <a:srgbClr val="595959"/>
                </a:solidFill>
                <a:latin typeface="Calibri" pitchFamily="34" charset="0"/>
                <a:ea typeface="Calibri" pitchFamily="34" charset="-122"/>
                <a:cs typeface="Calibri" pitchFamily="34" charset="-120"/>
              </a:rPr>
              <a:t>Given any text prompt → find the image whose embedding is most similar.</a:t>
            </a:r>
            <a:endParaRPr lang="en-US" sz="1733" dirty="0"/>
          </a:p>
        </p:txBody>
      </p:sp>
      <p:sp>
        <p:nvSpPr>
          <p:cNvPr id="5" name="Shape 3">
            <a:extLst>
              <a:ext uri="{FF2B5EF4-FFF2-40B4-BE49-F238E27FC236}">
                <a16:creationId xmlns:a16="http://schemas.microsoft.com/office/drawing/2014/main" id="{0AA42461-7CAB-4B70-C5C8-9E8E8887779F}"/>
              </a:ext>
            </a:extLst>
          </p:cNvPr>
          <p:cNvSpPr/>
          <p:nvPr/>
        </p:nvSpPr>
        <p:spPr>
          <a:xfrm>
            <a:off x="426720" y="1316736"/>
            <a:ext cx="731520" cy="975360"/>
          </a:xfrm>
          <a:prstGeom prst="rect">
            <a:avLst/>
          </a:prstGeom>
          <a:solidFill>
            <a:srgbClr val="1F5BAD"/>
          </a:solidFill>
          <a:ln w="12700">
            <a:solidFill>
              <a:srgbClr val="1F5BAD"/>
            </a:solidFill>
            <a:prstDash val="solid"/>
          </a:ln>
        </p:spPr>
      </p:sp>
      <p:sp>
        <p:nvSpPr>
          <p:cNvPr id="6" name="Text 4">
            <a:extLst>
              <a:ext uri="{FF2B5EF4-FFF2-40B4-BE49-F238E27FC236}">
                <a16:creationId xmlns:a16="http://schemas.microsoft.com/office/drawing/2014/main" id="{37A7D096-99E3-62B4-8D84-BB30CE7EB724}"/>
              </a:ext>
            </a:extLst>
          </p:cNvPr>
          <p:cNvSpPr/>
          <p:nvPr/>
        </p:nvSpPr>
        <p:spPr>
          <a:xfrm>
            <a:off x="426720" y="1316736"/>
            <a:ext cx="731520" cy="975360"/>
          </a:xfrm>
          <a:prstGeom prst="rect">
            <a:avLst/>
          </a:prstGeom>
          <a:noFill/>
          <a:ln/>
        </p:spPr>
        <p:txBody>
          <a:bodyPr wrap="square" rtlCol="0" anchor="ctr"/>
          <a:lstStyle/>
          <a:p>
            <a:pPr algn="ctr"/>
            <a:r>
              <a:rPr lang="en-US" sz="2667" b="1" dirty="0">
                <a:solidFill>
                  <a:srgbClr val="FFFFFF"/>
                </a:solidFill>
                <a:latin typeface="Calibri" pitchFamily="34" charset="0"/>
                <a:ea typeface="Calibri" pitchFamily="34" charset="-122"/>
                <a:cs typeface="Calibri" pitchFamily="34" charset="-120"/>
              </a:rPr>
              <a:t>1</a:t>
            </a:r>
            <a:endParaRPr lang="en-US" sz="2667" dirty="0"/>
          </a:p>
        </p:txBody>
      </p:sp>
      <p:sp>
        <p:nvSpPr>
          <p:cNvPr id="7" name="Shape 5">
            <a:extLst>
              <a:ext uri="{FF2B5EF4-FFF2-40B4-BE49-F238E27FC236}">
                <a16:creationId xmlns:a16="http://schemas.microsoft.com/office/drawing/2014/main" id="{6D8442F6-C2CB-4CDD-7603-BC8031EF7F27}"/>
              </a:ext>
            </a:extLst>
          </p:cNvPr>
          <p:cNvSpPr/>
          <p:nvPr/>
        </p:nvSpPr>
        <p:spPr>
          <a:xfrm>
            <a:off x="1194816" y="1316736"/>
            <a:ext cx="10570464" cy="975360"/>
          </a:xfrm>
          <a:prstGeom prst="rect">
            <a:avLst/>
          </a:prstGeom>
          <a:solidFill>
            <a:srgbClr val="EEF3FB"/>
          </a:solidFill>
          <a:ln w="12700">
            <a:solidFill>
              <a:srgbClr val="CCCCCC"/>
            </a:solidFill>
            <a:prstDash val="solid"/>
          </a:ln>
        </p:spPr>
      </p:sp>
      <p:sp>
        <p:nvSpPr>
          <p:cNvPr id="8" name="Text 6">
            <a:extLst>
              <a:ext uri="{FF2B5EF4-FFF2-40B4-BE49-F238E27FC236}">
                <a16:creationId xmlns:a16="http://schemas.microsoft.com/office/drawing/2014/main" id="{2CD75FA1-60C3-DB2E-A4CB-6A852F6F0D6A}"/>
              </a:ext>
            </a:extLst>
          </p:cNvPr>
          <p:cNvSpPr/>
          <p:nvPr/>
        </p:nvSpPr>
        <p:spPr>
          <a:xfrm>
            <a:off x="1341120" y="1402080"/>
            <a:ext cx="10302240" cy="341376"/>
          </a:xfrm>
          <a:prstGeom prst="rect">
            <a:avLst/>
          </a:prstGeom>
          <a:noFill/>
          <a:ln/>
        </p:spPr>
        <p:txBody>
          <a:bodyPr wrap="square" rtlCol="0" anchor="ctr"/>
          <a:lstStyle/>
          <a:p>
            <a:r>
              <a:rPr lang="en-US" sz="1733" b="1" dirty="0">
                <a:solidFill>
                  <a:srgbClr val="1F3864"/>
                </a:solidFill>
                <a:latin typeface="Calibri" pitchFamily="34" charset="0"/>
                <a:ea typeface="Calibri" pitchFamily="34" charset="-122"/>
                <a:cs typeface="Calibri" pitchFamily="34" charset="-120"/>
              </a:rPr>
              <a:t>Tokenise the prompt</a:t>
            </a:r>
            <a:endParaRPr lang="en-US" sz="1733" dirty="0"/>
          </a:p>
        </p:txBody>
      </p:sp>
      <p:sp>
        <p:nvSpPr>
          <p:cNvPr id="9" name="Text 7">
            <a:extLst>
              <a:ext uri="{FF2B5EF4-FFF2-40B4-BE49-F238E27FC236}">
                <a16:creationId xmlns:a16="http://schemas.microsoft.com/office/drawing/2014/main" id="{1046C72F-8B89-9CC1-CB6F-638EA2321A5A}"/>
              </a:ext>
            </a:extLst>
          </p:cNvPr>
          <p:cNvSpPr/>
          <p:nvPr/>
        </p:nvSpPr>
        <p:spPr>
          <a:xfrm>
            <a:off x="1341120" y="1780032"/>
            <a:ext cx="10302240" cy="438912"/>
          </a:xfrm>
          <a:prstGeom prst="rect">
            <a:avLst/>
          </a:prstGeom>
          <a:noFill/>
          <a:ln/>
        </p:spPr>
        <p:txBody>
          <a:bodyPr wrap="square" rtlCol="0" anchor="ctr"/>
          <a:lstStyle/>
          <a:p>
            <a:r>
              <a:rPr lang="en-US" sz="1467" dirty="0">
                <a:solidFill>
                  <a:srgbClr val="595959"/>
                </a:solidFill>
                <a:latin typeface="Calibri" pitchFamily="34" charset="0"/>
                <a:ea typeface="Calibri" pitchFamily="34" charset="-122"/>
                <a:cs typeface="Calibri" pitchFamily="34" charset="-120"/>
              </a:rPr>
              <a:t>The text prompt (e.g. 'A dog plays on the beach') is fed to the DistilBERT tokenizer → input_ids + attention_mask.</a:t>
            </a:r>
            <a:endParaRPr lang="en-US" sz="1467" dirty="0"/>
          </a:p>
        </p:txBody>
      </p:sp>
      <p:sp>
        <p:nvSpPr>
          <p:cNvPr id="10" name="Shape 8">
            <a:extLst>
              <a:ext uri="{FF2B5EF4-FFF2-40B4-BE49-F238E27FC236}">
                <a16:creationId xmlns:a16="http://schemas.microsoft.com/office/drawing/2014/main" id="{E5B767B4-B8B9-D202-86E4-1DC5419FDBD8}"/>
              </a:ext>
            </a:extLst>
          </p:cNvPr>
          <p:cNvSpPr/>
          <p:nvPr/>
        </p:nvSpPr>
        <p:spPr>
          <a:xfrm>
            <a:off x="426720" y="2389632"/>
            <a:ext cx="731520" cy="975360"/>
          </a:xfrm>
          <a:prstGeom prst="rect">
            <a:avLst/>
          </a:prstGeom>
          <a:solidFill>
            <a:srgbClr val="1565C0"/>
          </a:solidFill>
          <a:ln w="12700">
            <a:solidFill>
              <a:srgbClr val="1565C0"/>
            </a:solidFill>
            <a:prstDash val="solid"/>
          </a:ln>
        </p:spPr>
      </p:sp>
      <p:sp>
        <p:nvSpPr>
          <p:cNvPr id="11" name="Text 9">
            <a:extLst>
              <a:ext uri="{FF2B5EF4-FFF2-40B4-BE49-F238E27FC236}">
                <a16:creationId xmlns:a16="http://schemas.microsoft.com/office/drawing/2014/main" id="{C3ED99CD-E55E-E53E-0961-212945899DA4}"/>
              </a:ext>
            </a:extLst>
          </p:cNvPr>
          <p:cNvSpPr/>
          <p:nvPr/>
        </p:nvSpPr>
        <p:spPr>
          <a:xfrm>
            <a:off x="426720" y="2389632"/>
            <a:ext cx="731520" cy="975360"/>
          </a:xfrm>
          <a:prstGeom prst="rect">
            <a:avLst/>
          </a:prstGeom>
          <a:noFill/>
          <a:ln/>
        </p:spPr>
        <p:txBody>
          <a:bodyPr wrap="square" rtlCol="0" anchor="ctr"/>
          <a:lstStyle/>
          <a:p>
            <a:pPr algn="ctr"/>
            <a:r>
              <a:rPr lang="en-US" sz="2667" b="1" dirty="0">
                <a:solidFill>
                  <a:srgbClr val="FFFFFF"/>
                </a:solidFill>
                <a:latin typeface="Calibri" pitchFamily="34" charset="0"/>
                <a:ea typeface="Calibri" pitchFamily="34" charset="-122"/>
                <a:cs typeface="Calibri" pitchFamily="34" charset="-120"/>
              </a:rPr>
              <a:t>2</a:t>
            </a:r>
            <a:endParaRPr lang="en-US" sz="2667" dirty="0"/>
          </a:p>
        </p:txBody>
      </p:sp>
      <p:sp>
        <p:nvSpPr>
          <p:cNvPr id="12" name="Shape 10">
            <a:extLst>
              <a:ext uri="{FF2B5EF4-FFF2-40B4-BE49-F238E27FC236}">
                <a16:creationId xmlns:a16="http://schemas.microsoft.com/office/drawing/2014/main" id="{2135EDEE-C67D-61E3-1035-5E33955B2F31}"/>
              </a:ext>
            </a:extLst>
          </p:cNvPr>
          <p:cNvSpPr/>
          <p:nvPr/>
        </p:nvSpPr>
        <p:spPr>
          <a:xfrm>
            <a:off x="1194816" y="2389632"/>
            <a:ext cx="10570464" cy="975360"/>
          </a:xfrm>
          <a:prstGeom prst="rect">
            <a:avLst/>
          </a:prstGeom>
          <a:solidFill>
            <a:srgbClr val="FFFFFF"/>
          </a:solidFill>
          <a:ln w="12700">
            <a:solidFill>
              <a:srgbClr val="CCCCCC"/>
            </a:solidFill>
            <a:prstDash val="solid"/>
          </a:ln>
        </p:spPr>
      </p:sp>
      <p:sp>
        <p:nvSpPr>
          <p:cNvPr id="13" name="Text 11">
            <a:extLst>
              <a:ext uri="{FF2B5EF4-FFF2-40B4-BE49-F238E27FC236}">
                <a16:creationId xmlns:a16="http://schemas.microsoft.com/office/drawing/2014/main" id="{59CE3E5F-5FB8-F41B-44CE-3141808F74A8}"/>
              </a:ext>
            </a:extLst>
          </p:cNvPr>
          <p:cNvSpPr/>
          <p:nvPr/>
        </p:nvSpPr>
        <p:spPr>
          <a:xfrm>
            <a:off x="1341120" y="2474976"/>
            <a:ext cx="10302240" cy="341376"/>
          </a:xfrm>
          <a:prstGeom prst="rect">
            <a:avLst/>
          </a:prstGeom>
          <a:noFill/>
          <a:ln/>
        </p:spPr>
        <p:txBody>
          <a:bodyPr wrap="square" rtlCol="0" anchor="ctr"/>
          <a:lstStyle/>
          <a:p>
            <a:r>
              <a:rPr lang="en-US" sz="1733" b="1" dirty="0">
                <a:solidFill>
                  <a:srgbClr val="1F3864"/>
                </a:solidFill>
                <a:latin typeface="Calibri" pitchFamily="34" charset="0"/>
                <a:ea typeface="Calibri" pitchFamily="34" charset="-122"/>
                <a:cs typeface="Calibri" pitchFamily="34" charset="-120"/>
              </a:rPr>
              <a:t>Encode → 768-dim vector</a:t>
            </a:r>
            <a:endParaRPr lang="en-US" sz="1733" dirty="0"/>
          </a:p>
        </p:txBody>
      </p:sp>
      <p:sp>
        <p:nvSpPr>
          <p:cNvPr id="14" name="Text 12">
            <a:extLst>
              <a:ext uri="{FF2B5EF4-FFF2-40B4-BE49-F238E27FC236}">
                <a16:creationId xmlns:a16="http://schemas.microsoft.com/office/drawing/2014/main" id="{26281201-8EE6-D685-5DD8-964B97E2E949}"/>
              </a:ext>
            </a:extLst>
          </p:cNvPr>
          <p:cNvSpPr/>
          <p:nvPr/>
        </p:nvSpPr>
        <p:spPr>
          <a:xfrm>
            <a:off x="1341120" y="2852928"/>
            <a:ext cx="10302240" cy="438912"/>
          </a:xfrm>
          <a:prstGeom prst="rect">
            <a:avLst/>
          </a:prstGeom>
          <a:noFill/>
          <a:ln/>
        </p:spPr>
        <p:txBody>
          <a:bodyPr wrap="square" rtlCol="0" anchor="ctr"/>
          <a:lstStyle/>
          <a:p>
            <a:r>
              <a:rPr lang="en-US" sz="1467" dirty="0">
                <a:solidFill>
                  <a:srgbClr val="595959"/>
                </a:solidFill>
                <a:latin typeface="Calibri" pitchFamily="34" charset="0"/>
                <a:ea typeface="Calibri" pitchFamily="34" charset="-122"/>
                <a:cs typeface="Calibri" pitchFamily="34" charset="-120"/>
              </a:rPr>
              <a:t>The text encoder (pretrained </a:t>
            </a:r>
            <a:r>
              <a:rPr lang="en-US" sz="1467" dirty="0" err="1">
                <a:solidFill>
                  <a:srgbClr val="595959"/>
                </a:solidFill>
                <a:latin typeface="Calibri" pitchFamily="34" charset="0"/>
                <a:ea typeface="Calibri" pitchFamily="34" charset="-122"/>
                <a:cs typeface="Calibri" pitchFamily="34" charset="-120"/>
              </a:rPr>
              <a:t>DistilBERT</a:t>
            </a:r>
            <a:r>
              <a:rPr lang="en-US" sz="1467" dirty="0">
                <a:solidFill>
                  <a:srgbClr val="595959"/>
                </a:solidFill>
                <a:latin typeface="Calibri" pitchFamily="34" charset="0"/>
                <a:ea typeface="Calibri" pitchFamily="34" charset="-122"/>
                <a:cs typeface="Calibri" pitchFamily="34" charset="-120"/>
              </a:rPr>
              <a:t>) converts the token sequence into a 768-dim embedding.</a:t>
            </a:r>
            <a:endParaRPr lang="en-US" sz="1467" dirty="0"/>
          </a:p>
        </p:txBody>
      </p:sp>
      <p:sp>
        <p:nvSpPr>
          <p:cNvPr id="15" name="Shape 13">
            <a:extLst>
              <a:ext uri="{FF2B5EF4-FFF2-40B4-BE49-F238E27FC236}">
                <a16:creationId xmlns:a16="http://schemas.microsoft.com/office/drawing/2014/main" id="{BADBE04A-139B-3486-78EF-29FC42A1D40A}"/>
              </a:ext>
            </a:extLst>
          </p:cNvPr>
          <p:cNvSpPr/>
          <p:nvPr/>
        </p:nvSpPr>
        <p:spPr>
          <a:xfrm>
            <a:off x="426720" y="3462528"/>
            <a:ext cx="731520" cy="975360"/>
          </a:xfrm>
          <a:prstGeom prst="rect">
            <a:avLst/>
          </a:prstGeom>
          <a:solidFill>
            <a:srgbClr val="1B6B60"/>
          </a:solidFill>
          <a:ln w="12700">
            <a:solidFill>
              <a:srgbClr val="1B6B60"/>
            </a:solidFill>
            <a:prstDash val="solid"/>
          </a:ln>
        </p:spPr>
      </p:sp>
      <p:sp>
        <p:nvSpPr>
          <p:cNvPr id="16" name="Text 14">
            <a:extLst>
              <a:ext uri="{FF2B5EF4-FFF2-40B4-BE49-F238E27FC236}">
                <a16:creationId xmlns:a16="http://schemas.microsoft.com/office/drawing/2014/main" id="{A0D6BBC3-88DD-59C4-3615-98A09DB59987}"/>
              </a:ext>
            </a:extLst>
          </p:cNvPr>
          <p:cNvSpPr/>
          <p:nvPr/>
        </p:nvSpPr>
        <p:spPr>
          <a:xfrm>
            <a:off x="426720" y="3462528"/>
            <a:ext cx="731520" cy="975360"/>
          </a:xfrm>
          <a:prstGeom prst="rect">
            <a:avLst/>
          </a:prstGeom>
          <a:noFill/>
          <a:ln/>
        </p:spPr>
        <p:txBody>
          <a:bodyPr wrap="square" rtlCol="0" anchor="ctr"/>
          <a:lstStyle/>
          <a:p>
            <a:pPr algn="ctr"/>
            <a:r>
              <a:rPr lang="en-US" sz="2667" b="1" dirty="0">
                <a:solidFill>
                  <a:srgbClr val="FFFFFF"/>
                </a:solidFill>
                <a:latin typeface="Calibri" pitchFamily="34" charset="0"/>
                <a:ea typeface="Calibri" pitchFamily="34" charset="-122"/>
                <a:cs typeface="Calibri" pitchFamily="34" charset="-120"/>
              </a:rPr>
              <a:t>3</a:t>
            </a:r>
            <a:endParaRPr lang="en-US" sz="2667" dirty="0"/>
          </a:p>
        </p:txBody>
      </p:sp>
      <p:sp>
        <p:nvSpPr>
          <p:cNvPr id="17" name="Shape 15">
            <a:extLst>
              <a:ext uri="{FF2B5EF4-FFF2-40B4-BE49-F238E27FC236}">
                <a16:creationId xmlns:a16="http://schemas.microsoft.com/office/drawing/2014/main" id="{0B0104DB-88D6-6EB2-5564-373C43DE7BB7}"/>
              </a:ext>
            </a:extLst>
          </p:cNvPr>
          <p:cNvSpPr/>
          <p:nvPr/>
        </p:nvSpPr>
        <p:spPr>
          <a:xfrm>
            <a:off x="1194816" y="3462528"/>
            <a:ext cx="10570464" cy="975360"/>
          </a:xfrm>
          <a:prstGeom prst="rect">
            <a:avLst/>
          </a:prstGeom>
          <a:solidFill>
            <a:srgbClr val="EEF3FB"/>
          </a:solidFill>
          <a:ln w="12700">
            <a:solidFill>
              <a:srgbClr val="CCCCCC"/>
            </a:solidFill>
            <a:prstDash val="solid"/>
          </a:ln>
        </p:spPr>
      </p:sp>
      <p:sp>
        <p:nvSpPr>
          <p:cNvPr id="18" name="Text 16">
            <a:extLst>
              <a:ext uri="{FF2B5EF4-FFF2-40B4-BE49-F238E27FC236}">
                <a16:creationId xmlns:a16="http://schemas.microsoft.com/office/drawing/2014/main" id="{B1217A42-8A69-9364-BF74-6E9E5641C2AB}"/>
              </a:ext>
            </a:extLst>
          </p:cNvPr>
          <p:cNvSpPr/>
          <p:nvPr/>
        </p:nvSpPr>
        <p:spPr>
          <a:xfrm>
            <a:off x="1341120" y="3547872"/>
            <a:ext cx="10302240" cy="341376"/>
          </a:xfrm>
          <a:prstGeom prst="rect">
            <a:avLst/>
          </a:prstGeom>
          <a:noFill/>
          <a:ln/>
        </p:spPr>
        <p:txBody>
          <a:bodyPr wrap="square" rtlCol="0" anchor="ctr"/>
          <a:lstStyle/>
          <a:p>
            <a:r>
              <a:rPr lang="en-US" sz="1733" b="1" dirty="0">
                <a:solidFill>
                  <a:srgbClr val="1F3864"/>
                </a:solidFill>
                <a:latin typeface="Calibri" pitchFamily="34" charset="0"/>
                <a:ea typeface="Calibri" pitchFamily="34" charset="-122"/>
                <a:cs typeface="Calibri" pitchFamily="34" charset="-120"/>
              </a:rPr>
              <a:t>Project → 256-dim vector</a:t>
            </a:r>
            <a:endParaRPr lang="en-US" sz="1733" dirty="0"/>
          </a:p>
        </p:txBody>
      </p:sp>
      <p:sp>
        <p:nvSpPr>
          <p:cNvPr id="19" name="Text 17">
            <a:extLst>
              <a:ext uri="{FF2B5EF4-FFF2-40B4-BE49-F238E27FC236}">
                <a16:creationId xmlns:a16="http://schemas.microsoft.com/office/drawing/2014/main" id="{E84C2CEE-2230-FCE5-4333-BC350D78D8D8}"/>
              </a:ext>
            </a:extLst>
          </p:cNvPr>
          <p:cNvSpPr/>
          <p:nvPr/>
        </p:nvSpPr>
        <p:spPr>
          <a:xfrm>
            <a:off x="1341120" y="3925824"/>
            <a:ext cx="10302240" cy="438912"/>
          </a:xfrm>
          <a:prstGeom prst="rect">
            <a:avLst/>
          </a:prstGeom>
          <a:noFill/>
          <a:ln/>
        </p:spPr>
        <p:txBody>
          <a:bodyPr wrap="square" rtlCol="0" anchor="ctr"/>
          <a:lstStyle/>
          <a:p>
            <a:r>
              <a:rPr lang="en-US" sz="1467" dirty="0">
                <a:solidFill>
                  <a:srgbClr val="595959"/>
                </a:solidFill>
                <a:latin typeface="Calibri" pitchFamily="34" charset="0"/>
                <a:ea typeface="Calibri" pitchFamily="34" charset="-122"/>
                <a:cs typeface="Calibri" pitchFamily="34" charset="-120"/>
              </a:rPr>
              <a:t>The projection head maps 768 → 256. This is the text_embedding used for matching.</a:t>
            </a:r>
            <a:endParaRPr lang="en-US" sz="1467" dirty="0"/>
          </a:p>
        </p:txBody>
      </p:sp>
      <p:sp>
        <p:nvSpPr>
          <p:cNvPr id="20" name="Shape 18">
            <a:extLst>
              <a:ext uri="{FF2B5EF4-FFF2-40B4-BE49-F238E27FC236}">
                <a16:creationId xmlns:a16="http://schemas.microsoft.com/office/drawing/2014/main" id="{7736981F-8ADB-B185-0C01-8F2534B16BAE}"/>
              </a:ext>
            </a:extLst>
          </p:cNvPr>
          <p:cNvSpPr/>
          <p:nvPr/>
        </p:nvSpPr>
        <p:spPr>
          <a:xfrm>
            <a:off x="426720" y="4535424"/>
            <a:ext cx="731520" cy="975360"/>
          </a:xfrm>
          <a:prstGeom prst="rect">
            <a:avLst/>
          </a:prstGeom>
          <a:solidFill>
            <a:srgbClr val="6C3483"/>
          </a:solidFill>
          <a:ln w="12700">
            <a:solidFill>
              <a:srgbClr val="6C3483"/>
            </a:solidFill>
            <a:prstDash val="solid"/>
          </a:ln>
        </p:spPr>
      </p:sp>
      <p:sp>
        <p:nvSpPr>
          <p:cNvPr id="21" name="Text 19">
            <a:extLst>
              <a:ext uri="{FF2B5EF4-FFF2-40B4-BE49-F238E27FC236}">
                <a16:creationId xmlns:a16="http://schemas.microsoft.com/office/drawing/2014/main" id="{F058033B-6FA5-C327-B416-ECAEB7E79223}"/>
              </a:ext>
            </a:extLst>
          </p:cNvPr>
          <p:cNvSpPr/>
          <p:nvPr/>
        </p:nvSpPr>
        <p:spPr>
          <a:xfrm>
            <a:off x="426720" y="4535424"/>
            <a:ext cx="731520" cy="975360"/>
          </a:xfrm>
          <a:prstGeom prst="rect">
            <a:avLst/>
          </a:prstGeom>
          <a:noFill/>
          <a:ln/>
        </p:spPr>
        <p:txBody>
          <a:bodyPr wrap="square" rtlCol="0" anchor="ctr"/>
          <a:lstStyle/>
          <a:p>
            <a:pPr algn="ctr"/>
            <a:r>
              <a:rPr lang="en-US" sz="2667" b="1" dirty="0">
                <a:solidFill>
                  <a:srgbClr val="FFFFFF"/>
                </a:solidFill>
                <a:latin typeface="Calibri" pitchFamily="34" charset="0"/>
                <a:ea typeface="Calibri" pitchFamily="34" charset="-122"/>
                <a:cs typeface="Calibri" pitchFamily="34" charset="-120"/>
              </a:rPr>
              <a:t>4</a:t>
            </a:r>
            <a:endParaRPr lang="en-US" sz="2667" dirty="0"/>
          </a:p>
        </p:txBody>
      </p:sp>
      <p:sp>
        <p:nvSpPr>
          <p:cNvPr id="22" name="Shape 20">
            <a:extLst>
              <a:ext uri="{FF2B5EF4-FFF2-40B4-BE49-F238E27FC236}">
                <a16:creationId xmlns:a16="http://schemas.microsoft.com/office/drawing/2014/main" id="{654779AD-18EB-1D25-10F6-76E626180B8A}"/>
              </a:ext>
            </a:extLst>
          </p:cNvPr>
          <p:cNvSpPr/>
          <p:nvPr/>
        </p:nvSpPr>
        <p:spPr>
          <a:xfrm>
            <a:off x="1194816" y="4535424"/>
            <a:ext cx="10570464" cy="975360"/>
          </a:xfrm>
          <a:prstGeom prst="rect">
            <a:avLst/>
          </a:prstGeom>
          <a:solidFill>
            <a:srgbClr val="FFFFFF"/>
          </a:solidFill>
          <a:ln w="12700">
            <a:solidFill>
              <a:srgbClr val="CCCCCC"/>
            </a:solidFill>
            <a:prstDash val="solid"/>
          </a:ln>
        </p:spPr>
      </p:sp>
      <p:sp>
        <p:nvSpPr>
          <p:cNvPr id="23" name="Text 21">
            <a:extLst>
              <a:ext uri="{FF2B5EF4-FFF2-40B4-BE49-F238E27FC236}">
                <a16:creationId xmlns:a16="http://schemas.microsoft.com/office/drawing/2014/main" id="{DE570EE3-3884-F4DF-02C8-FAA836B4CE67}"/>
              </a:ext>
            </a:extLst>
          </p:cNvPr>
          <p:cNvSpPr/>
          <p:nvPr/>
        </p:nvSpPr>
        <p:spPr>
          <a:xfrm>
            <a:off x="1341120" y="4620768"/>
            <a:ext cx="10302240" cy="341376"/>
          </a:xfrm>
          <a:prstGeom prst="rect">
            <a:avLst/>
          </a:prstGeom>
          <a:noFill/>
          <a:ln/>
        </p:spPr>
        <p:txBody>
          <a:bodyPr wrap="square" rtlCol="0" anchor="ctr"/>
          <a:lstStyle/>
          <a:p>
            <a:r>
              <a:rPr lang="en-US" sz="1733" b="1" dirty="0">
                <a:solidFill>
                  <a:srgbClr val="1F3864"/>
                </a:solidFill>
                <a:latin typeface="Calibri" pitchFamily="34" charset="0"/>
                <a:ea typeface="Calibri" pitchFamily="34" charset="-122"/>
                <a:cs typeface="Calibri" pitchFamily="34" charset="-120"/>
              </a:rPr>
              <a:t>Dot product similarity</a:t>
            </a:r>
            <a:endParaRPr lang="en-US" sz="1733" dirty="0"/>
          </a:p>
        </p:txBody>
      </p:sp>
      <p:sp>
        <p:nvSpPr>
          <p:cNvPr id="24" name="Text 22">
            <a:extLst>
              <a:ext uri="{FF2B5EF4-FFF2-40B4-BE49-F238E27FC236}">
                <a16:creationId xmlns:a16="http://schemas.microsoft.com/office/drawing/2014/main" id="{617C0B52-249F-DABD-8013-8E4C6F66709B}"/>
              </a:ext>
            </a:extLst>
          </p:cNvPr>
          <p:cNvSpPr/>
          <p:nvPr/>
        </p:nvSpPr>
        <p:spPr>
          <a:xfrm>
            <a:off x="1341120" y="4998720"/>
            <a:ext cx="10302240" cy="438912"/>
          </a:xfrm>
          <a:prstGeom prst="rect">
            <a:avLst/>
          </a:prstGeom>
          <a:noFill/>
          <a:ln/>
        </p:spPr>
        <p:txBody>
          <a:bodyPr wrap="square" rtlCol="0" anchor="ctr"/>
          <a:lstStyle/>
          <a:p>
            <a:r>
              <a:rPr lang="en-US" sz="1467" dirty="0">
                <a:solidFill>
                  <a:srgbClr val="595959"/>
                </a:solidFill>
                <a:latin typeface="Calibri" pitchFamily="34" charset="0"/>
                <a:ea typeface="Calibri" pitchFamily="34" charset="-122"/>
                <a:cs typeface="Calibri" pitchFamily="34" charset="-120"/>
              </a:rPr>
              <a:t>text_embedding @ image_embeddings.T computes the dot product of the text with every pre-computed image embedding. </a:t>
            </a:r>
          </a:p>
          <a:p>
            <a:r>
              <a:rPr lang="en-US" sz="1467" dirty="0">
                <a:solidFill>
                  <a:srgbClr val="595959"/>
                </a:solidFill>
                <a:latin typeface="Calibri" pitchFamily="34" charset="0"/>
                <a:ea typeface="Calibri" pitchFamily="34" charset="-122"/>
                <a:cs typeface="Calibri" pitchFamily="34" charset="-120"/>
              </a:rPr>
              <a:t>Result: a 1×N score vector, where N is the number of images.</a:t>
            </a:r>
            <a:endParaRPr lang="en-US" sz="1467" dirty="0"/>
          </a:p>
        </p:txBody>
      </p:sp>
      <p:sp>
        <p:nvSpPr>
          <p:cNvPr id="25" name="Shape 23">
            <a:extLst>
              <a:ext uri="{FF2B5EF4-FFF2-40B4-BE49-F238E27FC236}">
                <a16:creationId xmlns:a16="http://schemas.microsoft.com/office/drawing/2014/main" id="{107F93C4-8B30-EC33-122A-825B2A5189EE}"/>
              </a:ext>
            </a:extLst>
          </p:cNvPr>
          <p:cNvSpPr/>
          <p:nvPr/>
        </p:nvSpPr>
        <p:spPr>
          <a:xfrm>
            <a:off x="426720" y="5608320"/>
            <a:ext cx="731520" cy="975360"/>
          </a:xfrm>
          <a:prstGeom prst="rect">
            <a:avLst/>
          </a:prstGeom>
          <a:solidFill>
            <a:srgbClr val="C0392B"/>
          </a:solidFill>
          <a:ln w="12700">
            <a:solidFill>
              <a:srgbClr val="C0392B"/>
            </a:solidFill>
            <a:prstDash val="solid"/>
          </a:ln>
        </p:spPr>
      </p:sp>
      <p:sp>
        <p:nvSpPr>
          <p:cNvPr id="26" name="Text 24">
            <a:extLst>
              <a:ext uri="{FF2B5EF4-FFF2-40B4-BE49-F238E27FC236}">
                <a16:creationId xmlns:a16="http://schemas.microsoft.com/office/drawing/2014/main" id="{DFF940DA-E98E-29F7-55FA-200EE3E87C05}"/>
              </a:ext>
            </a:extLst>
          </p:cNvPr>
          <p:cNvSpPr/>
          <p:nvPr/>
        </p:nvSpPr>
        <p:spPr>
          <a:xfrm>
            <a:off x="426720" y="5608320"/>
            <a:ext cx="731520" cy="975360"/>
          </a:xfrm>
          <a:prstGeom prst="rect">
            <a:avLst/>
          </a:prstGeom>
          <a:noFill/>
          <a:ln/>
        </p:spPr>
        <p:txBody>
          <a:bodyPr wrap="square" rtlCol="0" anchor="ctr"/>
          <a:lstStyle/>
          <a:p>
            <a:pPr algn="ctr"/>
            <a:r>
              <a:rPr lang="en-US" sz="2667" b="1" dirty="0">
                <a:solidFill>
                  <a:srgbClr val="FFFFFF"/>
                </a:solidFill>
                <a:latin typeface="Calibri" pitchFamily="34" charset="0"/>
                <a:ea typeface="Calibri" pitchFamily="34" charset="-122"/>
                <a:cs typeface="Calibri" pitchFamily="34" charset="-120"/>
              </a:rPr>
              <a:t>5</a:t>
            </a:r>
            <a:endParaRPr lang="en-US" sz="2667" dirty="0"/>
          </a:p>
        </p:txBody>
      </p:sp>
      <p:sp>
        <p:nvSpPr>
          <p:cNvPr id="27" name="Shape 25">
            <a:extLst>
              <a:ext uri="{FF2B5EF4-FFF2-40B4-BE49-F238E27FC236}">
                <a16:creationId xmlns:a16="http://schemas.microsoft.com/office/drawing/2014/main" id="{1FE809F5-A307-503C-A857-2CFA7730D599}"/>
              </a:ext>
            </a:extLst>
          </p:cNvPr>
          <p:cNvSpPr/>
          <p:nvPr/>
        </p:nvSpPr>
        <p:spPr>
          <a:xfrm>
            <a:off x="1194816" y="5608320"/>
            <a:ext cx="10570464" cy="975360"/>
          </a:xfrm>
          <a:prstGeom prst="rect">
            <a:avLst/>
          </a:prstGeom>
          <a:solidFill>
            <a:srgbClr val="EEF3FB"/>
          </a:solidFill>
          <a:ln w="12700">
            <a:solidFill>
              <a:srgbClr val="CCCCCC"/>
            </a:solidFill>
            <a:prstDash val="solid"/>
          </a:ln>
        </p:spPr>
      </p:sp>
      <p:sp>
        <p:nvSpPr>
          <p:cNvPr id="28" name="Text 26">
            <a:extLst>
              <a:ext uri="{FF2B5EF4-FFF2-40B4-BE49-F238E27FC236}">
                <a16:creationId xmlns:a16="http://schemas.microsoft.com/office/drawing/2014/main" id="{0D5C5906-666C-D5C0-0200-51D72FF63591}"/>
              </a:ext>
            </a:extLst>
          </p:cNvPr>
          <p:cNvSpPr/>
          <p:nvPr/>
        </p:nvSpPr>
        <p:spPr>
          <a:xfrm>
            <a:off x="1341120" y="5693664"/>
            <a:ext cx="10302240" cy="341376"/>
          </a:xfrm>
          <a:prstGeom prst="rect">
            <a:avLst/>
          </a:prstGeom>
          <a:noFill/>
          <a:ln/>
        </p:spPr>
        <p:txBody>
          <a:bodyPr wrap="square" rtlCol="0" anchor="ctr"/>
          <a:lstStyle/>
          <a:p>
            <a:r>
              <a:rPr lang="en-US" sz="1733" b="1" dirty="0">
                <a:solidFill>
                  <a:srgbClr val="1F3864"/>
                </a:solidFill>
                <a:latin typeface="Calibri" pitchFamily="34" charset="0"/>
                <a:ea typeface="Calibri" pitchFamily="34" charset="-122"/>
                <a:cs typeface="Calibri" pitchFamily="34" charset="-120"/>
              </a:rPr>
              <a:t>Top k scores</a:t>
            </a:r>
            <a:endParaRPr lang="en-US" sz="1733" dirty="0"/>
          </a:p>
        </p:txBody>
      </p:sp>
      <p:sp>
        <p:nvSpPr>
          <p:cNvPr id="29" name="Text 27">
            <a:extLst>
              <a:ext uri="{FF2B5EF4-FFF2-40B4-BE49-F238E27FC236}">
                <a16:creationId xmlns:a16="http://schemas.microsoft.com/office/drawing/2014/main" id="{47D9B457-3C90-FB58-4DE2-8BFD38FFEA0F}"/>
              </a:ext>
            </a:extLst>
          </p:cNvPr>
          <p:cNvSpPr/>
          <p:nvPr/>
        </p:nvSpPr>
        <p:spPr>
          <a:xfrm>
            <a:off x="1341120" y="6071616"/>
            <a:ext cx="10302240" cy="438912"/>
          </a:xfrm>
          <a:prstGeom prst="rect">
            <a:avLst/>
          </a:prstGeom>
          <a:noFill/>
          <a:ln/>
        </p:spPr>
        <p:txBody>
          <a:bodyPr wrap="square" rtlCol="0" anchor="ctr"/>
          <a:lstStyle/>
          <a:p>
            <a:r>
              <a:rPr lang="en-US" sz="1467" dirty="0">
                <a:solidFill>
                  <a:srgbClr val="595959"/>
                </a:solidFill>
                <a:latin typeface="Calibri" pitchFamily="34" charset="0"/>
                <a:ea typeface="Calibri" pitchFamily="34" charset="-122"/>
                <a:cs typeface="Calibri" pitchFamily="34" charset="-120"/>
              </a:rPr>
              <a:t>The image with the highest score is selected. Its filename and original caption are returned alongside the displayed image.</a:t>
            </a:r>
            <a:endParaRPr lang="en-US" sz="1467" dirty="0"/>
          </a:p>
        </p:txBody>
      </p:sp>
      <p:sp>
        <p:nvSpPr>
          <p:cNvPr id="32" name="Shape 0">
            <a:extLst>
              <a:ext uri="{FF2B5EF4-FFF2-40B4-BE49-F238E27FC236}">
                <a16:creationId xmlns:a16="http://schemas.microsoft.com/office/drawing/2014/main" id="{A54C731A-9C17-A9CD-37A7-79CE75D43DE6}"/>
              </a:ext>
            </a:extLst>
          </p:cNvPr>
          <p:cNvSpPr/>
          <p:nvPr/>
        </p:nvSpPr>
        <p:spPr>
          <a:xfrm>
            <a:off x="0" y="0"/>
            <a:ext cx="12192000" cy="97536"/>
          </a:xfrm>
          <a:prstGeom prst="rect">
            <a:avLst/>
          </a:prstGeom>
          <a:solidFill>
            <a:srgbClr val="1565C0"/>
          </a:solidFill>
          <a:ln w="12700">
            <a:solidFill>
              <a:srgbClr val="1565C0"/>
            </a:solidFill>
            <a:prstDash val="solid"/>
          </a:ln>
        </p:spPr>
      </p:sp>
    </p:spTree>
    <p:extLst>
      <p:ext uri="{BB962C8B-B14F-4D97-AF65-F5344CB8AC3E}">
        <p14:creationId xmlns:p14="http://schemas.microsoft.com/office/powerpoint/2010/main" val="13459961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FEE7B-1560-C61F-DE62-A41EDA5F967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CCF1879-A794-61B7-33E8-30939540C121}"/>
              </a:ext>
            </a:extLst>
          </p:cNvPr>
          <p:cNvSpPr/>
          <p:nvPr/>
        </p:nvSpPr>
        <p:spPr>
          <a:xfrm>
            <a:off x="0" y="0"/>
            <a:ext cx="12192000" cy="85344"/>
          </a:xfrm>
          <a:prstGeom prst="rect">
            <a:avLst/>
          </a:prstGeom>
          <a:solidFill>
            <a:srgbClr val="1F3864"/>
          </a:solidFill>
          <a:ln w="12700">
            <a:solidFill>
              <a:srgbClr val="1F3864"/>
            </a:solidFill>
            <a:prstDash val="solid"/>
          </a:ln>
        </p:spPr>
      </p:sp>
      <p:sp>
        <p:nvSpPr>
          <p:cNvPr id="3" name="Text 1">
            <a:extLst>
              <a:ext uri="{FF2B5EF4-FFF2-40B4-BE49-F238E27FC236}">
                <a16:creationId xmlns:a16="http://schemas.microsoft.com/office/drawing/2014/main" id="{53BF3C07-60DB-37EC-D6C8-E95989070C8D}"/>
              </a:ext>
            </a:extLst>
          </p:cNvPr>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Image Retrieval: How match() Function Works</a:t>
            </a:r>
            <a:endParaRPr lang="en-US" sz="3467" dirty="0"/>
          </a:p>
        </p:txBody>
      </p:sp>
      <p:sp>
        <p:nvSpPr>
          <p:cNvPr id="4" name="Text 2">
            <a:extLst>
              <a:ext uri="{FF2B5EF4-FFF2-40B4-BE49-F238E27FC236}">
                <a16:creationId xmlns:a16="http://schemas.microsoft.com/office/drawing/2014/main" id="{63FE691C-828C-4457-6EE3-F5E69226D6BD}"/>
              </a:ext>
            </a:extLst>
          </p:cNvPr>
          <p:cNvSpPr/>
          <p:nvPr/>
        </p:nvSpPr>
        <p:spPr>
          <a:xfrm>
            <a:off x="548640" y="950976"/>
            <a:ext cx="11094720" cy="341376"/>
          </a:xfrm>
          <a:prstGeom prst="rect">
            <a:avLst/>
          </a:prstGeom>
          <a:noFill/>
          <a:ln/>
        </p:spPr>
        <p:txBody>
          <a:bodyPr wrap="square" rtlCol="0" anchor="ctr"/>
          <a:lstStyle/>
          <a:p>
            <a:r>
              <a:rPr lang="en-US" sz="1733" i="1" dirty="0">
                <a:solidFill>
                  <a:srgbClr val="595959"/>
                </a:solidFill>
                <a:latin typeface="Calibri" pitchFamily="34" charset="0"/>
                <a:ea typeface="Calibri" pitchFamily="34" charset="-122"/>
                <a:cs typeface="Calibri" pitchFamily="34" charset="-120"/>
              </a:rPr>
              <a:t>Given any text prompt → find the image whose embedding is most similar.</a:t>
            </a:r>
            <a:endParaRPr lang="en-US" sz="1733" dirty="0"/>
          </a:p>
        </p:txBody>
      </p:sp>
      <p:sp>
        <p:nvSpPr>
          <p:cNvPr id="32" name="Shape 0">
            <a:extLst>
              <a:ext uri="{FF2B5EF4-FFF2-40B4-BE49-F238E27FC236}">
                <a16:creationId xmlns:a16="http://schemas.microsoft.com/office/drawing/2014/main" id="{3A8E4093-56F1-D58C-8B0D-991697835B3F}"/>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31" name="Shape 2">
            <a:extLst>
              <a:ext uri="{FF2B5EF4-FFF2-40B4-BE49-F238E27FC236}">
                <a16:creationId xmlns:a16="http://schemas.microsoft.com/office/drawing/2014/main" id="{E9DC8F06-2C4F-B4D9-7C79-CBD0EC7C3188}"/>
              </a:ext>
            </a:extLst>
          </p:cNvPr>
          <p:cNvSpPr/>
          <p:nvPr/>
        </p:nvSpPr>
        <p:spPr>
          <a:xfrm>
            <a:off x="200021" y="1292352"/>
            <a:ext cx="11791957" cy="3053617"/>
          </a:xfrm>
          <a:prstGeom prst="rect">
            <a:avLst/>
          </a:prstGeom>
          <a:solidFill>
            <a:srgbClr val="0A1520"/>
          </a:solidFill>
          <a:ln w="10160">
            <a:solidFill>
              <a:srgbClr val="00E5FF"/>
            </a:solidFill>
            <a:prstDash val="solid"/>
          </a:ln>
        </p:spPr>
        <p:txBody>
          <a:bodyPr/>
          <a:lstStyle/>
          <a:p>
            <a:endParaRPr lang="ro-RO"/>
          </a:p>
        </p:txBody>
      </p:sp>
      <p:sp>
        <p:nvSpPr>
          <p:cNvPr id="33" name="Text 3">
            <a:extLst>
              <a:ext uri="{FF2B5EF4-FFF2-40B4-BE49-F238E27FC236}">
                <a16:creationId xmlns:a16="http://schemas.microsoft.com/office/drawing/2014/main" id="{C2E27BEB-3C8E-F844-2318-381D4C6A0E8A}"/>
              </a:ext>
            </a:extLst>
          </p:cNvPr>
          <p:cNvSpPr/>
          <p:nvPr/>
        </p:nvSpPr>
        <p:spPr>
          <a:xfrm>
            <a:off x="261665" y="1339671"/>
            <a:ext cx="11730313" cy="3690545"/>
          </a:xfrm>
          <a:prstGeom prst="rect">
            <a:avLst/>
          </a:prstGeom>
          <a:noFill/>
          <a:ln/>
        </p:spPr>
        <p:txBody>
          <a:bodyPr wrap="square" lIns="0" tIns="0" rIns="0" bIns="0" rtlCol="0" anchor="t"/>
          <a:lstStyle/>
          <a:p>
            <a:r>
              <a:rPr lang="en-US" sz="1227" dirty="0">
                <a:solidFill>
                  <a:srgbClr val="A8D8EA"/>
                </a:solidFill>
                <a:latin typeface="Consolas" pitchFamily="34" charset="0"/>
                <a:ea typeface="Consolas" pitchFamily="34" charset="-122"/>
                <a:cs typeface="Consolas" pitchFamily="34" charset="-120"/>
              </a:rPr>
              <a:t>def match(prompt):</a:t>
            </a:r>
          </a:p>
          <a:p>
            <a:r>
              <a:rPr lang="en-US" sz="1227" dirty="0">
                <a:solidFill>
                  <a:srgbClr val="A8D8EA"/>
                </a:solidFill>
                <a:latin typeface="Consolas" pitchFamily="34" charset="0"/>
                <a:ea typeface="Consolas" pitchFamily="34" charset="-122"/>
                <a:cs typeface="Consolas" pitchFamily="34" charset="-120"/>
              </a:rPr>
              <a:t>    encoded = tokenizer([prompt]) # Tokenizes the prompt</a:t>
            </a:r>
          </a:p>
          <a:p>
            <a:r>
              <a:rPr lang="en-US" sz="1227" dirty="0">
                <a:solidFill>
                  <a:srgbClr val="A8D8EA"/>
                </a:solidFill>
                <a:latin typeface="Consolas" pitchFamily="34" charset="0"/>
                <a:ea typeface="Consolas" pitchFamily="34" charset="-122"/>
                <a:cs typeface="Consolas" pitchFamily="34" charset="-120"/>
              </a:rPr>
              <a:t>    batch = {key: </a:t>
            </a:r>
            <a:r>
              <a:rPr lang="en-US" sz="1227" dirty="0" err="1">
                <a:solidFill>
                  <a:srgbClr val="A8D8EA"/>
                </a:solidFill>
                <a:latin typeface="Consolas" pitchFamily="34" charset="0"/>
                <a:ea typeface="Consolas" pitchFamily="34" charset="-122"/>
                <a:cs typeface="Consolas" pitchFamily="34" charset="-120"/>
              </a:rPr>
              <a:t>torch.tensor</a:t>
            </a:r>
            <a:r>
              <a:rPr lang="en-US" sz="1227" dirty="0">
                <a:solidFill>
                  <a:srgbClr val="A8D8EA"/>
                </a:solidFill>
                <a:latin typeface="Consolas" pitchFamily="34" charset="0"/>
                <a:ea typeface="Consolas" pitchFamily="34" charset="-122"/>
                <a:cs typeface="Consolas" pitchFamily="34" charset="-120"/>
              </a:rPr>
              <a:t>(values).to(</a:t>
            </a:r>
            <a:r>
              <a:rPr lang="en-US" sz="1227" dirty="0" err="1">
                <a:solidFill>
                  <a:srgbClr val="A8D8EA"/>
                </a:solidFill>
                <a:latin typeface="Consolas" pitchFamily="34" charset="0"/>
                <a:ea typeface="Consolas" pitchFamily="34" charset="-122"/>
                <a:cs typeface="Consolas" pitchFamily="34" charset="-120"/>
              </a:rPr>
              <a:t>CFG.device</a:t>
            </a:r>
            <a:r>
              <a:rPr lang="en-US" sz="1227" dirty="0">
                <a:solidFill>
                  <a:srgbClr val="A8D8EA"/>
                </a:solidFill>
                <a:latin typeface="Consolas" pitchFamily="34" charset="0"/>
                <a:ea typeface="Consolas" pitchFamily="34" charset="-122"/>
                <a:cs typeface="Consolas" pitchFamily="34" charset="-120"/>
              </a:rPr>
              <a:t>) for key, values in </a:t>
            </a:r>
            <a:r>
              <a:rPr lang="en-US" sz="1227" dirty="0" err="1">
                <a:solidFill>
                  <a:srgbClr val="A8D8EA"/>
                </a:solidFill>
                <a:latin typeface="Consolas" pitchFamily="34" charset="0"/>
                <a:ea typeface="Consolas" pitchFamily="34" charset="-122"/>
                <a:cs typeface="Consolas" pitchFamily="34" charset="-120"/>
              </a:rPr>
              <a:t>encoded.items</a:t>
            </a:r>
            <a:r>
              <a:rPr lang="en-US" sz="1227" dirty="0">
                <a:solidFill>
                  <a:srgbClr val="A8D8EA"/>
                </a:solidFill>
                <a:latin typeface="Consolas" pitchFamily="34" charset="0"/>
                <a:ea typeface="Consolas" pitchFamily="34" charset="-122"/>
                <a:cs typeface="Consolas" pitchFamily="34" charset="-120"/>
              </a:rPr>
              <a:t>()}</a:t>
            </a:r>
          </a:p>
          <a:p>
            <a:endParaRPr lang="en-US" sz="1227" dirty="0">
              <a:solidFill>
                <a:srgbClr val="A8D8EA"/>
              </a:solidFill>
              <a:latin typeface="Consolas" pitchFamily="34" charset="0"/>
              <a:ea typeface="Consolas" pitchFamily="34" charset="-122"/>
              <a:cs typeface="Consolas" pitchFamily="34" charset="-120"/>
            </a:endParaRPr>
          </a:p>
          <a:p>
            <a:r>
              <a:rPr lang="en-US" sz="1227" dirty="0">
                <a:solidFill>
                  <a:srgbClr val="A8D8EA"/>
                </a:solidFill>
                <a:latin typeface="Consolas" pitchFamily="34" charset="0"/>
                <a:ea typeface="Consolas" pitchFamily="34" charset="-122"/>
                <a:cs typeface="Consolas" pitchFamily="34" charset="-120"/>
              </a:rPr>
              <a:t>    with </a:t>
            </a:r>
            <a:r>
              <a:rPr lang="en-US" sz="1227" dirty="0" err="1">
                <a:solidFill>
                  <a:srgbClr val="A8D8EA"/>
                </a:solidFill>
                <a:latin typeface="Consolas" pitchFamily="34" charset="0"/>
                <a:ea typeface="Consolas" pitchFamily="34" charset="-122"/>
                <a:cs typeface="Consolas" pitchFamily="34" charset="-120"/>
              </a:rPr>
              <a:t>torch.no_grad</a:t>
            </a:r>
            <a:r>
              <a:rPr lang="en-US" sz="1227" dirty="0">
                <a:solidFill>
                  <a:srgbClr val="A8D8EA"/>
                </a:solidFill>
                <a:latin typeface="Consolas" pitchFamily="34" charset="0"/>
                <a:ea typeface="Consolas" pitchFamily="34" charset="-122"/>
                <a:cs typeface="Consolas" pitchFamily="34" charset="-120"/>
              </a:rPr>
              <a:t>():</a:t>
            </a:r>
          </a:p>
          <a:p>
            <a:r>
              <a:rPr lang="en-US" sz="1227" dirty="0">
                <a:solidFill>
                  <a:srgbClr val="A8D8EA"/>
                </a:solidFill>
                <a:latin typeface="Consolas" pitchFamily="34" charset="0"/>
                <a:ea typeface="Consolas" pitchFamily="34" charset="-122"/>
                <a:cs typeface="Consolas" pitchFamily="34" charset="-120"/>
              </a:rPr>
              <a:t>        </a:t>
            </a:r>
            <a:r>
              <a:rPr lang="en-US" sz="1227" dirty="0" err="1">
                <a:solidFill>
                  <a:srgbClr val="A8D8EA"/>
                </a:solidFill>
                <a:latin typeface="Consolas" pitchFamily="34" charset="0"/>
                <a:ea typeface="Consolas" pitchFamily="34" charset="-122"/>
                <a:cs typeface="Consolas" pitchFamily="34" charset="-120"/>
              </a:rPr>
              <a:t>text_features</a:t>
            </a:r>
            <a:r>
              <a:rPr lang="en-US" sz="1227" dirty="0">
                <a:solidFill>
                  <a:srgbClr val="A8D8EA"/>
                </a:solidFill>
                <a:latin typeface="Consolas" pitchFamily="34" charset="0"/>
                <a:ea typeface="Consolas" pitchFamily="34" charset="-122"/>
                <a:cs typeface="Consolas" pitchFamily="34" charset="-120"/>
              </a:rPr>
              <a:t> = </a:t>
            </a:r>
            <a:r>
              <a:rPr lang="en-US" sz="1227" dirty="0" err="1">
                <a:solidFill>
                  <a:srgbClr val="A8D8EA"/>
                </a:solidFill>
                <a:latin typeface="Consolas" pitchFamily="34" charset="0"/>
                <a:ea typeface="Consolas" pitchFamily="34" charset="-122"/>
                <a:cs typeface="Consolas" pitchFamily="34" charset="-120"/>
              </a:rPr>
              <a:t>model.text_encoder</a:t>
            </a:r>
            <a:r>
              <a:rPr lang="en-US" sz="1227" dirty="0">
                <a:solidFill>
                  <a:srgbClr val="A8D8EA"/>
                </a:solidFill>
                <a:latin typeface="Consolas" pitchFamily="34" charset="0"/>
                <a:ea typeface="Consolas" pitchFamily="34" charset="-122"/>
                <a:cs typeface="Consolas" pitchFamily="34" charset="-120"/>
              </a:rPr>
              <a:t>(</a:t>
            </a:r>
            <a:r>
              <a:rPr lang="en-US" sz="1227" dirty="0" err="1">
                <a:solidFill>
                  <a:srgbClr val="A8D8EA"/>
                </a:solidFill>
                <a:latin typeface="Consolas" pitchFamily="34" charset="0"/>
                <a:ea typeface="Consolas" pitchFamily="34" charset="-122"/>
                <a:cs typeface="Consolas" pitchFamily="34" charset="-120"/>
              </a:rPr>
              <a:t>input_ids</a:t>
            </a:r>
            <a:r>
              <a:rPr lang="en-US" sz="1227" dirty="0">
                <a:solidFill>
                  <a:srgbClr val="A8D8EA"/>
                </a:solidFill>
                <a:latin typeface="Consolas" pitchFamily="34" charset="0"/>
                <a:ea typeface="Consolas" pitchFamily="34" charset="-122"/>
                <a:cs typeface="Consolas" pitchFamily="34" charset="-120"/>
              </a:rPr>
              <a:t>=batch["</a:t>
            </a:r>
            <a:r>
              <a:rPr lang="en-US" sz="1227" dirty="0" err="1">
                <a:solidFill>
                  <a:srgbClr val="A8D8EA"/>
                </a:solidFill>
                <a:latin typeface="Consolas" pitchFamily="34" charset="0"/>
                <a:ea typeface="Consolas" pitchFamily="34" charset="-122"/>
                <a:cs typeface="Consolas" pitchFamily="34" charset="-120"/>
              </a:rPr>
              <a:t>input_ids</a:t>
            </a:r>
            <a:r>
              <a:rPr lang="en-US" sz="1227" dirty="0">
                <a:solidFill>
                  <a:srgbClr val="A8D8EA"/>
                </a:solidFill>
                <a:latin typeface="Consolas" pitchFamily="34" charset="0"/>
                <a:ea typeface="Consolas" pitchFamily="34" charset="-122"/>
                <a:cs typeface="Consolas" pitchFamily="34" charset="-120"/>
              </a:rPr>
              <a:t>"], </a:t>
            </a:r>
            <a:r>
              <a:rPr lang="en-US" sz="1227" dirty="0" err="1">
                <a:solidFill>
                  <a:srgbClr val="A8D8EA"/>
                </a:solidFill>
                <a:latin typeface="Consolas" pitchFamily="34" charset="0"/>
                <a:ea typeface="Consolas" pitchFamily="34" charset="-122"/>
                <a:cs typeface="Consolas" pitchFamily="34" charset="-120"/>
              </a:rPr>
              <a:t>attention_mask</a:t>
            </a:r>
            <a:r>
              <a:rPr lang="en-US" sz="1227" dirty="0">
                <a:solidFill>
                  <a:srgbClr val="A8D8EA"/>
                </a:solidFill>
                <a:latin typeface="Consolas" pitchFamily="34" charset="0"/>
                <a:ea typeface="Consolas" pitchFamily="34" charset="-122"/>
                <a:cs typeface="Consolas" pitchFamily="34" charset="-120"/>
              </a:rPr>
              <a:t>=batch["</a:t>
            </a:r>
            <a:r>
              <a:rPr lang="en-US" sz="1227" dirty="0" err="1">
                <a:solidFill>
                  <a:srgbClr val="A8D8EA"/>
                </a:solidFill>
                <a:latin typeface="Consolas" pitchFamily="34" charset="0"/>
                <a:ea typeface="Consolas" pitchFamily="34" charset="-122"/>
                <a:cs typeface="Consolas" pitchFamily="34" charset="-120"/>
              </a:rPr>
              <a:t>attention_mask</a:t>
            </a:r>
            <a:r>
              <a:rPr lang="en-US" sz="1227" dirty="0">
                <a:solidFill>
                  <a:srgbClr val="A8D8EA"/>
                </a:solidFill>
                <a:latin typeface="Consolas" pitchFamily="34" charset="0"/>
                <a:ea typeface="Consolas" pitchFamily="34" charset="-122"/>
                <a:cs typeface="Consolas" pitchFamily="34" charset="-120"/>
              </a:rPr>
              <a:t>"])</a:t>
            </a:r>
          </a:p>
          <a:p>
            <a:r>
              <a:rPr lang="en-US" sz="1227" dirty="0">
                <a:solidFill>
                  <a:srgbClr val="A8D8EA"/>
                </a:solidFill>
                <a:latin typeface="Consolas" pitchFamily="34" charset="0"/>
                <a:ea typeface="Consolas" pitchFamily="34" charset="-122"/>
                <a:cs typeface="Consolas" pitchFamily="34" charset="-120"/>
              </a:rPr>
              <a:t>        </a:t>
            </a:r>
            <a:r>
              <a:rPr lang="en-US" sz="1227" dirty="0" err="1">
                <a:solidFill>
                  <a:srgbClr val="A8D8EA"/>
                </a:solidFill>
                <a:latin typeface="Consolas" pitchFamily="34" charset="0"/>
                <a:ea typeface="Consolas" pitchFamily="34" charset="-122"/>
                <a:cs typeface="Consolas" pitchFamily="34" charset="-120"/>
              </a:rPr>
              <a:t>text_embeddings</a:t>
            </a:r>
            <a:r>
              <a:rPr lang="en-US" sz="1227" dirty="0">
                <a:solidFill>
                  <a:srgbClr val="A8D8EA"/>
                </a:solidFill>
                <a:latin typeface="Consolas" pitchFamily="34" charset="0"/>
                <a:ea typeface="Consolas" pitchFamily="34" charset="-122"/>
                <a:cs typeface="Consolas" pitchFamily="34" charset="-120"/>
              </a:rPr>
              <a:t> = </a:t>
            </a:r>
            <a:r>
              <a:rPr lang="en-US" sz="1227" dirty="0" err="1">
                <a:solidFill>
                  <a:srgbClr val="A8D8EA"/>
                </a:solidFill>
                <a:latin typeface="Consolas" pitchFamily="34" charset="0"/>
                <a:ea typeface="Consolas" pitchFamily="34" charset="-122"/>
                <a:cs typeface="Consolas" pitchFamily="34" charset="-120"/>
              </a:rPr>
              <a:t>model.text_projection</a:t>
            </a:r>
            <a:r>
              <a:rPr lang="en-US" sz="1227" dirty="0">
                <a:solidFill>
                  <a:srgbClr val="A8D8EA"/>
                </a:solidFill>
                <a:latin typeface="Consolas" pitchFamily="34" charset="0"/>
                <a:ea typeface="Consolas" pitchFamily="34" charset="-122"/>
                <a:cs typeface="Consolas" pitchFamily="34" charset="-120"/>
              </a:rPr>
              <a:t>(</a:t>
            </a:r>
            <a:r>
              <a:rPr lang="en-US" sz="1227" dirty="0" err="1">
                <a:solidFill>
                  <a:srgbClr val="A8D8EA"/>
                </a:solidFill>
                <a:latin typeface="Consolas" pitchFamily="34" charset="0"/>
                <a:ea typeface="Consolas" pitchFamily="34" charset="-122"/>
                <a:cs typeface="Consolas" pitchFamily="34" charset="-120"/>
              </a:rPr>
              <a:t>text_features</a:t>
            </a:r>
            <a:r>
              <a:rPr lang="en-US" sz="1227" dirty="0">
                <a:solidFill>
                  <a:srgbClr val="A8D8EA"/>
                </a:solidFill>
                <a:latin typeface="Consolas" pitchFamily="34" charset="0"/>
                <a:ea typeface="Consolas" pitchFamily="34" charset="-122"/>
                <a:cs typeface="Consolas" pitchFamily="34" charset="-120"/>
              </a:rPr>
              <a:t>) # Creates a text embedding</a:t>
            </a:r>
          </a:p>
          <a:p>
            <a:r>
              <a:rPr lang="en-US" sz="1227" dirty="0">
                <a:solidFill>
                  <a:srgbClr val="A8D8EA"/>
                </a:solidFill>
                <a:latin typeface="Consolas" pitchFamily="34" charset="0"/>
                <a:ea typeface="Consolas" pitchFamily="34" charset="-122"/>
                <a:cs typeface="Consolas" pitchFamily="34" charset="-120"/>
              </a:rPr>
              <a:t>    </a:t>
            </a:r>
          </a:p>
          <a:p>
            <a:r>
              <a:rPr lang="en-US" sz="1227" dirty="0">
                <a:solidFill>
                  <a:srgbClr val="A8D8EA"/>
                </a:solidFill>
                <a:latin typeface="Consolas" pitchFamily="34" charset="0"/>
                <a:ea typeface="Consolas" pitchFamily="34" charset="-122"/>
                <a:cs typeface="Consolas" pitchFamily="34" charset="-120"/>
              </a:rPr>
              <a:t>    </a:t>
            </a:r>
            <a:r>
              <a:rPr lang="en-US" sz="1227" dirty="0" err="1">
                <a:solidFill>
                  <a:srgbClr val="A8D8EA"/>
                </a:solidFill>
                <a:latin typeface="Consolas" pitchFamily="34" charset="0"/>
                <a:ea typeface="Consolas" pitchFamily="34" charset="-122"/>
                <a:cs typeface="Consolas" pitchFamily="34" charset="-120"/>
              </a:rPr>
              <a:t>dot_similarity</a:t>
            </a:r>
            <a:r>
              <a:rPr lang="en-US" sz="1227" dirty="0">
                <a:solidFill>
                  <a:srgbClr val="A8D8EA"/>
                </a:solidFill>
                <a:latin typeface="Consolas" pitchFamily="34" charset="0"/>
                <a:ea typeface="Consolas" pitchFamily="34" charset="-122"/>
                <a:cs typeface="Consolas" pitchFamily="34" charset="-120"/>
              </a:rPr>
              <a:t> = </a:t>
            </a:r>
            <a:r>
              <a:rPr lang="en-US" sz="1227" dirty="0" err="1">
                <a:solidFill>
                  <a:srgbClr val="A8D8EA"/>
                </a:solidFill>
                <a:latin typeface="Consolas" pitchFamily="34" charset="0"/>
                <a:ea typeface="Consolas" pitchFamily="34" charset="-122"/>
                <a:cs typeface="Consolas" pitchFamily="34" charset="-120"/>
              </a:rPr>
              <a:t>text_embeddings</a:t>
            </a:r>
            <a:r>
              <a:rPr lang="en-US" sz="1227" dirty="0">
                <a:solidFill>
                  <a:srgbClr val="A8D8EA"/>
                </a:solidFill>
                <a:latin typeface="Consolas" pitchFamily="34" charset="0"/>
                <a:ea typeface="Consolas" pitchFamily="34" charset="-122"/>
                <a:cs typeface="Consolas" pitchFamily="34" charset="-120"/>
              </a:rPr>
              <a:t> @ </a:t>
            </a:r>
            <a:r>
              <a:rPr lang="en-US" sz="1227" dirty="0" err="1">
                <a:solidFill>
                  <a:srgbClr val="A8D8EA"/>
                </a:solidFill>
                <a:latin typeface="Consolas" pitchFamily="34" charset="0"/>
                <a:ea typeface="Consolas" pitchFamily="34" charset="-122"/>
                <a:cs typeface="Consolas" pitchFamily="34" charset="-120"/>
              </a:rPr>
              <a:t>image_embeddings.T</a:t>
            </a:r>
            <a:endParaRPr lang="en-US" sz="1227" dirty="0">
              <a:solidFill>
                <a:srgbClr val="A8D8EA"/>
              </a:solidFill>
              <a:latin typeface="Consolas" pitchFamily="34" charset="0"/>
              <a:ea typeface="Consolas" pitchFamily="34" charset="-122"/>
              <a:cs typeface="Consolas" pitchFamily="34" charset="-120"/>
            </a:endParaRPr>
          </a:p>
          <a:p>
            <a:r>
              <a:rPr lang="en-US" sz="1227" dirty="0">
                <a:solidFill>
                  <a:srgbClr val="A8D8EA"/>
                </a:solidFill>
                <a:latin typeface="Consolas" pitchFamily="34" charset="0"/>
                <a:ea typeface="Consolas" pitchFamily="34" charset="-122"/>
                <a:cs typeface="Consolas" pitchFamily="34" charset="-120"/>
              </a:rPr>
              <a:t>    </a:t>
            </a:r>
          </a:p>
          <a:p>
            <a:r>
              <a:rPr lang="en-US" sz="1227" dirty="0">
                <a:solidFill>
                  <a:srgbClr val="A8D8EA"/>
                </a:solidFill>
                <a:latin typeface="Consolas" pitchFamily="34" charset="0"/>
                <a:ea typeface="Consolas" pitchFamily="34" charset="-122"/>
                <a:cs typeface="Consolas" pitchFamily="34" charset="-120"/>
              </a:rPr>
              <a:t>    values, </a:t>
            </a:r>
            <a:r>
              <a:rPr lang="en-US" sz="1227" dirty="0" err="1">
                <a:solidFill>
                  <a:srgbClr val="A8D8EA"/>
                </a:solidFill>
                <a:latin typeface="Consolas" pitchFamily="34" charset="0"/>
                <a:ea typeface="Consolas" pitchFamily="34" charset="-122"/>
                <a:cs typeface="Consolas" pitchFamily="34" charset="-120"/>
              </a:rPr>
              <a:t>idx</a:t>
            </a:r>
            <a:r>
              <a:rPr lang="en-US" sz="1227" dirty="0">
                <a:solidFill>
                  <a:srgbClr val="A8D8EA"/>
                </a:solidFill>
                <a:latin typeface="Consolas" pitchFamily="34" charset="0"/>
                <a:ea typeface="Consolas" pitchFamily="34" charset="-122"/>
                <a:cs typeface="Consolas" pitchFamily="34" charset="-120"/>
              </a:rPr>
              <a:t> = </a:t>
            </a:r>
            <a:r>
              <a:rPr lang="en-US" sz="1227" dirty="0" err="1">
                <a:solidFill>
                  <a:srgbClr val="A8D8EA"/>
                </a:solidFill>
                <a:latin typeface="Consolas" pitchFamily="34" charset="0"/>
                <a:ea typeface="Consolas" pitchFamily="34" charset="-122"/>
                <a:cs typeface="Consolas" pitchFamily="34" charset="-120"/>
              </a:rPr>
              <a:t>torch.topk</a:t>
            </a:r>
            <a:r>
              <a:rPr lang="en-US" sz="1227" dirty="0">
                <a:solidFill>
                  <a:srgbClr val="A8D8EA"/>
                </a:solidFill>
                <a:latin typeface="Consolas" pitchFamily="34" charset="0"/>
                <a:ea typeface="Consolas" pitchFamily="34" charset="-122"/>
                <a:cs typeface="Consolas" pitchFamily="34" charset="-120"/>
              </a:rPr>
              <a:t>(</a:t>
            </a:r>
            <a:r>
              <a:rPr lang="en-US" sz="1227" dirty="0" err="1">
                <a:solidFill>
                  <a:srgbClr val="A8D8EA"/>
                </a:solidFill>
                <a:latin typeface="Consolas" pitchFamily="34" charset="0"/>
                <a:ea typeface="Consolas" pitchFamily="34" charset="-122"/>
                <a:cs typeface="Consolas" pitchFamily="34" charset="-120"/>
              </a:rPr>
              <a:t>dot_similarity.squeeze</a:t>
            </a:r>
            <a:r>
              <a:rPr lang="en-US" sz="1227" dirty="0">
                <a:solidFill>
                  <a:srgbClr val="A8D8EA"/>
                </a:solidFill>
                <a:latin typeface="Consolas" pitchFamily="34" charset="0"/>
                <a:ea typeface="Consolas" pitchFamily="34" charset="-122"/>
                <a:cs typeface="Consolas" pitchFamily="34" charset="-120"/>
              </a:rPr>
              <a:t>(0), 1) # Selects the image with the highest value of similarity with the text prompt</a:t>
            </a:r>
          </a:p>
          <a:p>
            <a:r>
              <a:rPr lang="en-US" sz="1227" dirty="0">
                <a:solidFill>
                  <a:srgbClr val="A8D8EA"/>
                </a:solidFill>
                <a:latin typeface="Consolas" pitchFamily="34" charset="0"/>
                <a:ea typeface="Consolas" pitchFamily="34" charset="-122"/>
                <a:cs typeface="Consolas" pitchFamily="34" charset="-120"/>
              </a:rPr>
              <a:t>    </a:t>
            </a:r>
          </a:p>
          <a:p>
            <a:r>
              <a:rPr lang="en-US" sz="1227" dirty="0">
                <a:solidFill>
                  <a:srgbClr val="A8D8EA"/>
                </a:solidFill>
                <a:latin typeface="Consolas" pitchFamily="34" charset="0"/>
                <a:ea typeface="Consolas" pitchFamily="34" charset="-122"/>
                <a:cs typeface="Consolas" pitchFamily="34" charset="-120"/>
              </a:rPr>
              <a:t>    </a:t>
            </a:r>
            <a:r>
              <a:rPr lang="en-US" sz="1227" dirty="0" err="1">
                <a:solidFill>
                  <a:srgbClr val="A8D8EA"/>
                </a:solidFill>
                <a:latin typeface="Consolas" pitchFamily="34" charset="0"/>
                <a:ea typeface="Consolas" pitchFamily="34" charset="-122"/>
                <a:cs typeface="Consolas" pitchFamily="34" charset="-120"/>
              </a:rPr>
              <a:t>img</a:t>
            </a:r>
            <a:r>
              <a:rPr lang="en-US" sz="1227" dirty="0">
                <a:solidFill>
                  <a:srgbClr val="A8D8EA"/>
                </a:solidFill>
                <a:latin typeface="Consolas" pitchFamily="34" charset="0"/>
                <a:ea typeface="Consolas" pitchFamily="34" charset="-122"/>
                <a:cs typeface="Consolas" pitchFamily="34" charset="-120"/>
              </a:rPr>
              <a:t>=valid['image'].values[</a:t>
            </a:r>
            <a:r>
              <a:rPr lang="en-US" sz="1227" dirty="0" err="1">
                <a:solidFill>
                  <a:srgbClr val="A8D8EA"/>
                </a:solidFill>
                <a:latin typeface="Consolas" pitchFamily="34" charset="0"/>
                <a:ea typeface="Consolas" pitchFamily="34" charset="-122"/>
                <a:cs typeface="Consolas" pitchFamily="34" charset="-120"/>
              </a:rPr>
              <a:t>idx.item</a:t>
            </a:r>
            <a:r>
              <a:rPr lang="en-US" sz="1227" dirty="0">
                <a:solidFill>
                  <a:srgbClr val="A8D8EA"/>
                </a:solidFill>
                <a:latin typeface="Consolas" pitchFamily="34" charset="0"/>
                <a:ea typeface="Consolas" pitchFamily="34" charset="-122"/>
                <a:cs typeface="Consolas" pitchFamily="34" charset="-120"/>
              </a:rPr>
              <a:t>()]</a:t>
            </a:r>
          </a:p>
          <a:p>
            <a:r>
              <a:rPr lang="en-US" sz="1227" dirty="0">
                <a:solidFill>
                  <a:srgbClr val="A8D8EA"/>
                </a:solidFill>
                <a:latin typeface="Consolas" pitchFamily="34" charset="0"/>
                <a:ea typeface="Consolas" pitchFamily="34" charset="-122"/>
                <a:cs typeface="Consolas" pitchFamily="34" charset="-120"/>
              </a:rPr>
              <a:t>    caption=valid['caption'].values[</a:t>
            </a:r>
            <a:r>
              <a:rPr lang="en-US" sz="1227" dirty="0" err="1">
                <a:solidFill>
                  <a:srgbClr val="A8D8EA"/>
                </a:solidFill>
                <a:latin typeface="Consolas" pitchFamily="34" charset="0"/>
                <a:ea typeface="Consolas" pitchFamily="34" charset="-122"/>
                <a:cs typeface="Consolas" pitchFamily="34" charset="-120"/>
              </a:rPr>
              <a:t>idx.item</a:t>
            </a:r>
            <a:r>
              <a:rPr lang="en-US" sz="1227" dirty="0">
                <a:solidFill>
                  <a:srgbClr val="A8D8EA"/>
                </a:solidFill>
                <a:latin typeface="Consolas" pitchFamily="34" charset="0"/>
                <a:ea typeface="Consolas" pitchFamily="34" charset="-122"/>
                <a:cs typeface="Consolas" pitchFamily="34" charset="-120"/>
              </a:rPr>
              <a:t>()]</a:t>
            </a:r>
          </a:p>
          <a:p>
            <a:r>
              <a:rPr lang="en-US" sz="1227" dirty="0">
                <a:solidFill>
                  <a:srgbClr val="A8D8EA"/>
                </a:solidFill>
                <a:latin typeface="Consolas" pitchFamily="34" charset="0"/>
                <a:ea typeface="Consolas" pitchFamily="34" charset="-122"/>
                <a:cs typeface="Consolas" pitchFamily="34" charset="-120"/>
              </a:rPr>
              <a:t>    </a:t>
            </a:r>
          </a:p>
          <a:p>
            <a:r>
              <a:rPr lang="en-US" sz="1227" dirty="0">
                <a:solidFill>
                  <a:srgbClr val="A8D8EA"/>
                </a:solidFill>
                <a:latin typeface="Consolas" pitchFamily="34" charset="0"/>
                <a:ea typeface="Consolas" pitchFamily="34" charset="-122"/>
                <a:cs typeface="Consolas" pitchFamily="34" charset="-120"/>
              </a:rPr>
              <a:t>    return </a:t>
            </a:r>
            <a:r>
              <a:rPr lang="en-US" sz="1227" dirty="0" err="1">
                <a:solidFill>
                  <a:srgbClr val="A8D8EA"/>
                </a:solidFill>
                <a:latin typeface="Consolas" pitchFamily="34" charset="0"/>
                <a:ea typeface="Consolas" pitchFamily="34" charset="-122"/>
                <a:cs typeface="Consolas" pitchFamily="34" charset="-120"/>
              </a:rPr>
              <a:t>img</a:t>
            </a:r>
            <a:r>
              <a:rPr lang="en-US" sz="1227" dirty="0">
                <a:solidFill>
                  <a:srgbClr val="A8D8EA"/>
                </a:solidFill>
                <a:latin typeface="Consolas" pitchFamily="34" charset="0"/>
                <a:ea typeface="Consolas" pitchFamily="34" charset="-122"/>
                <a:cs typeface="Consolas" pitchFamily="34" charset="-120"/>
              </a:rPr>
              <a:t>, caption</a:t>
            </a:r>
          </a:p>
        </p:txBody>
      </p:sp>
      <p:pic>
        <p:nvPicPr>
          <p:cNvPr id="35" name="Picture 34">
            <a:extLst>
              <a:ext uri="{FF2B5EF4-FFF2-40B4-BE49-F238E27FC236}">
                <a16:creationId xmlns:a16="http://schemas.microsoft.com/office/drawing/2014/main" id="{03C34B99-F66E-4AC8-25EC-CF05546901A3}"/>
              </a:ext>
            </a:extLst>
          </p:cNvPr>
          <p:cNvPicPr>
            <a:picLocks noChangeAspect="1"/>
          </p:cNvPicPr>
          <p:nvPr/>
        </p:nvPicPr>
        <p:blipFill>
          <a:blip r:embed="rId3"/>
          <a:stretch>
            <a:fillRect/>
          </a:stretch>
        </p:blipFill>
        <p:spPr>
          <a:xfrm>
            <a:off x="200021" y="5077535"/>
            <a:ext cx="7421764" cy="1395545"/>
          </a:xfrm>
          <a:prstGeom prst="rect">
            <a:avLst/>
          </a:prstGeom>
        </p:spPr>
      </p:pic>
      <p:pic>
        <p:nvPicPr>
          <p:cNvPr id="39" name="Picture 38">
            <a:extLst>
              <a:ext uri="{FF2B5EF4-FFF2-40B4-BE49-F238E27FC236}">
                <a16:creationId xmlns:a16="http://schemas.microsoft.com/office/drawing/2014/main" id="{2C8DA2BC-93DA-15E6-A66C-AB7F8F34F10B}"/>
              </a:ext>
            </a:extLst>
          </p:cNvPr>
          <p:cNvPicPr>
            <a:picLocks noChangeAspect="1"/>
          </p:cNvPicPr>
          <p:nvPr/>
        </p:nvPicPr>
        <p:blipFill>
          <a:blip r:embed="rId4"/>
          <a:stretch>
            <a:fillRect/>
          </a:stretch>
        </p:blipFill>
        <p:spPr>
          <a:xfrm>
            <a:off x="9044762" y="4393288"/>
            <a:ext cx="2598598" cy="2464712"/>
          </a:xfrm>
          <a:prstGeom prst="rect">
            <a:avLst/>
          </a:prstGeom>
        </p:spPr>
      </p:pic>
      <p:sp>
        <p:nvSpPr>
          <p:cNvPr id="40" name="Arrow: Right 39">
            <a:extLst>
              <a:ext uri="{FF2B5EF4-FFF2-40B4-BE49-F238E27FC236}">
                <a16:creationId xmlns:a16="http://schemas.microsoft.com/office/drawing/2014/main" id="{73589B8E-69CA-4925-86AF-9EF3D64331F3}"/>
              </a:ext>
            </a:extLst>
          </p:cNvPr>
          <p:cNvSpPr/>
          <p:nvPr/>
        </p:nvSpPr>
        <p:spPr>
          <a:xfrm>
            <a:off x="8066354" y="5459476"/>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Tree>
    <p:extLst>
      <p:ext uri="{BB962C8B-B14F-4D97-AF65-F5344CB8AC3E}">
        <p14:creationId xmlns:p14="http://schemas.microsoft.com/office/powerpoint/2010/main" val="23170618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9BCC7-F81F-6C38-A847-CFC3510CCDB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AB248F1-50AC-D922-E0C8-B21DB3A19FCC}"/>
              </a:ext>
            </a:extLst>
          </p:cNvPr>
          <p:cNvSpPr/>
          <p:nvPr/>
        </p:nvSpPr>
        <p:spPr>
          <a:xfrm>
            <a:off x="0" y="0"/>
            <a:ext cx="146304" cy="6864096"/>
          </a:xfrm>
          <a:prstGeom prst="rect">
            <a:avLst/>
          </a:prstGeom>
          <a:solidFill>
            <a:srgbClr val="00E5FF"/>
          </a:solidFill>
          <a:ln w="12700">
            <a:solidFill>
              <a:srgbClr val="00E5FF"/>
            </a:solidFill>
            <a:prstDash val="solid"/>
          </a:ln>
        </p:spPr>
      </p:sp>
      <p:sp>
        <p:nvSpPr>
          <p:cNvPr id="6" name="Text 1">
            <a:extLst>
              <a:ext uri="{FF2B5EF4-FFF2-40B4-BE49-F238E27FC236}">
                <a16:creationId xmlns:a16="http://schemas.microsoft.com/office/drawing/2014/main" id="{CEF6A442-30A5-DEE1-62E4-1EAB49EB4217}"/>
              </a:ext>
            </a:extLst>
          </p:cNvPr>
          <p:cNvSpPr/>
          <p:nvPr/>
        </p:nvSpPr>
        <p:spPr>
          <a:xfrm>
            <a:off x="853440" y="1706880"/>
            <a:ext cx="9753600" cy="512064"/>
          </a:xfrm>
          <a:prstGeom prst="rect">
            <a:avLst/>
          </a:prstGeom>
          <a:noFill/>
          <a:ln/>
        </p:spPr>
        <p:txBody>
          <a:bodyPr wrap="square" lIns="0" tIns="0" rIns="0" bIns="0" rtlCol="0" anchor="ctr"/>
          <a:lstStyle/>
          <a:p>
            <a:r>
              <a:rPr lang="en-US" sz="1867" dirty="0">
                <a:solidFill>
                  <a:srgbClr val="00E5FF"/>
                </a:solidFill>
                <a:latin typeface="Calibri" pitchFamily="34" charset="0"/>
                <a:ea typeface="Calibri" pitchFamily="34" charset="-122"/>
                <a:cs typeface="Calibri" pitchFamily="34" charset="-120"/>
              </a:rPr>
              <a:t>Section 4</a:t>
            </a:r>
            <a:endParaRPr lang="en-US" sz="1867" dirty="0"/>
          </a:p>
        </p:txBody>
      </p:sp>
      <p:sp>
        <p:nvSpPr>
          <p:cNvPr id="7" name="Text 2">
            <a:extLst>
              <a:ext uri="{FF2B5EF4-FFF2-40B4-BE49-F238E27FC236}">
                <a16:creationId xmlns:a16="http://schemas.microsoft.com/office/drawing/2014/main" id="{8DA3BB4A-394F-57E1-9419-29717C1DECA0}"/>
              </a:ext>
            </a:extLst>
          </p:cNvPr>
          <p:cNvSpPr/>
          <p:nvPr/>
        </p:nvSpPr>
        <p:spPr>
          <a:xfrm>
            <a:off x="853440" y="2255520"/>
            <a:ext cx="10363200" cy="2194560"/>
          </a:xfrm>
          <a:prstGeom prst="rect">
            <a:avLst/>
          </a:prstGeom>
          <a:noFill/>
          <a:ln/>
        </p:spPr>
        <p:txBody>
          <a:bodyPr wrap="square" lIns="0" tIns="0" rIns="0" bIns="0" rtlCol="0" anchor="ctr"/>
          <a:lstStyle/>
          <a:p>
            <a:r>
              <a:rPr lang="en-US" sz="6000" b="1" dirty="0">
                <a:solidFill>
                  <a:srgbClr val="000000"/>
                </a:solidFill>
                <a:latin typeface="Calibri" pitchFamily="34" charset="0"/>
                <a:ea typeface="Calibri" pitchFamily="34" charset="-122"/>
                <a:cs typeface="Calibri" pitchFamily="34" charset="-120"/>
              </a:rPr>
              <a:t>OpenAI CLIP:</a:t>
            </a:r>
            <a:endParaRPr lang="en-US" sz="6000" dirty="0"/>
          </a:p>
          <a:p>
            <a:r>
              <a:rPr lang="en-US" sz="6000" b="1" dirty="0">
                <a:solidFill>
                  <a:srgbClr val="000000"/>
                </a:solidFill>
                <a:latin typeface="Calibri" pitchFamily="34" charset="0"/>
                <a:ea typeface="Calibri" pitchFamily="34" charset="-122"/>
                <a:cs typeface="Calibri" pitchFamily="34" charset="-120"/>
              </a:rPr>
              <a:t>Pretrained</a:t>
            </a:r>
            <a:r>
              <a:rPr lang="en-US" sz="6000" dirty="0"/>
              <a:t> </a:t>
            </a:r>
            <a:r>
              <a:rPr lang="en-US" sz="6000" b="1" dirty="0" err="1">
                <a:solidFill>
                  <a:srgbClr val="000000"/>
                </a:solidFill>
                <a:latin typeface="Calibri" pitchFamily="34" charset="0"/>
                <a:ea typeface="Calibri" pitchFamily="34" charset="-122"/>
                <a:cs typeface="Calibri" pitchFamily="34" charset="-120"/>
              </a:rPr>
              <a:t>ViT</a:t>
            </a:r>
            <a:r>
              <a:rPr lang="en-US" sz="6000" b="1" dirty="0">
                <a:solidFill>
                  <a:srgbClr val="000000"/>
                </a:solidFill>
                <a:latin typeface="Calibri" pitchFamily="34" charset="0"/>
                <a:ea typeface="Calibri" pitchFamily="34" charset="-122"/>
                <a:cs typeface="Calibri" pitchFamily="34" charset="-120"/>
              </a:rPr>
              <a:t>-B/32</a:t>
            </a:r>
            <a:endParaRPr lang="en-US" sz="6000" dirty="0"/>
          </a:p>
        </p:txBody>
      </p:sp>
    </p:spTree>
    <p:extLst>
      <p:ext uri="{BB962C8B-B14F-4D97-AF65-F5344CB8AC3E}">
        <p14:creationId xmlns:p14="http://schemas.microsoft.com/office/powerpoint/2010/main" val="36413375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3" name="Text 1"/>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OpenAI Pretrained CLIP (ViT-B/32)</a:t>
            </a:r>
            <a:endParaRPr lang="en-US" sz="3467" dirty="0"/>
          </a:p>
        </p:txBody>
      </p:sp>
      <p:sp>
        <p:nvSpPr>
          <p:cNvPr id="4" name="Text 2"/>
          <p:cNvSpPr/>
          <p:nvPr/>
        </p:nvSpPr>
        <p:spPr>
          <a:xfrm>
            <a:off x="548640" y="950976"/>
            <a:ext cx="11094720" cy="341376"/>
          </a:xfrm>
          <a:prstGeom prst="rect">
            <a:avLst/>
          </a:prstGeom>
          <a:noFill/>
          <a:ln/>
        </p:spPr>
        <p:txBody>
          <a:bodyPr wrap="square" rtlCol="0" anchor="ctr"/>
          <a:lstStyle/>
          <a:p>
            <a:r>
              <a:rPr lang="en-US" sz="1733" i="1" dirty="0">
                <a:solidFill>
                  <a:srgbClr val="595959"/>
                </a:solidFill>
                <a:latin typeface="Calibri" pitchFamily="34" charset="0"/>
                <a:ea typeface="Calibri" pitchFamily="34" charset="-122"/>
                <a:cs typeface="Calibri" pitchFamily="34" charset="-120"/>
              </a:rPr>
              <a:t>Trained on 400 million image-text pairs — far more powerful than our Flickr-trained model.</a:t>
            </a:r>
            <a:endParaRPr lang="en-US" sz="1733" dirty="0"/>
          </a:p>
        </p:txBody>
      </p:sp>
      <p:sp>
        <p:nvSpPr>
          <p:cNvPr id="5" name="Shape 3"/>
          <p:cNvSpPr/>
          <p:nvPr/>
        </p:nvSpPr>
        <p:spPr>
          <a:xfrm>
            <a:off x="426720" y="1316736"/>
            <a:ext cx="11338560" cy="487680"/>
          </a:xfrm>
          <a:prstGeom prst="rect">
            <a:avLst/>
          </a:prstGeom>
          <a:solidFill>
            <a:srgbClr val="1F5BAD"/>
          </a:solidFill>
          <a:ln w="12700">
            <a:solidFill>
              <a:srgbClr val="1F5BAD"/>
            </a:solidFill>
            <a:prstDash val="solid"/>
          </a:ln>
        </p:spPr>
      </p:sp>
      <p:sp>
        <p:nvSpPr>
          <p:cNvPr id="6" name="Text 4"/>
          <p:cNvSpPr/>
          <p:nvPr/>
        </p:nvSpPr>
        <p:spPr>
          <a:xfrm>
            <a:off x="426720" y="1316736"/>
            <a:ext cx="11338560" cy="487680"/>
          </a:xfrm>
          <a:prstGeom prst="rect">
            <a:avLst/>
          </a:prstGeom>
          <a:noFill/>
          <a:ln/>
        </p:spPr>
        <p:txBody>
          <a:bodyPr wrap="square" rtlCol="0" anchor="ctr"/>
          <a:lstStyle/>
          <a:p>
            <a:pPr algn="ctr"/>
            <a:r>
              <a:rPr lang="en-US" sz="1600" b="1" dirty="0">
                <a:solidFill>
                  <a:srgbClr val="FFFFFF"/>
                </a:solidFill>
                <a:latin typeface="Calibri" pitchFamily="34" charset="0"/>
                <a:ea typeface="Calibri" pitchFamily="34" charset="-122"/>
                <a:cs typeface="Calibri" pitchFamily="34" charset="-120"/>
              </a:rPr>
              <a:t>Our CLIP  vs  OpenAI CLIP</a:t>
            </a:r>
            <a:endParaRPr lang="en-US" sz="1600" dirty="0"/>
          </a:p>
        </p:txBody>
      </p:sp>
      <p:sp>
        <p:nvSpPr>
          <p:cNvPr id="7" name="Shape 5"/>
          <p:cNvSpPr/>
          <p:nvPr/>
        </p:nvSpPr>
        <p:spPr>
          <a:xfrm>
            <a:off x="426720" y="1877568"/>
            <a:ext cx="2621280" cy="438912"/>
          </a:xfrm>
          <a:prstGeom prst="rect">
            <a:avLst/>
          </a:prstGeom>
          <a:solidFill>
            <a:srgbClr val="1A3A6B"/>
          </a:solidFill>
          <a:ln w="12700">
            <a:solidFill>
              <a:srgbClr val="CCCCCC"/>
            </a:solidFill>
            <a:prstDash val="solid"/>
          </a:ln>
        </p:spPr>
      </p:sp>
      <p:sp>
        <p:nvSpPr>
          <p:cNvPr id="8" name="Text 6"/>
          <p:cNvSpPr/>
          <p:nvPr/>
        </p:nvSpPr>
        <p:spPr>
          <a:xfrm>
            <a:off x="426720" y="1877568"/>
            <a:ext cx="2621280" cy="438912"/>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Property</a:t>
            </a:r>
            <a:endParaRPr lang="en-US" sz="1467" dirty="0"/>
          </a:p>
        </p:txBody>
      </p:sp>
      <p:sp>
        <p:nvSpPr>
          <p:cNvPr id="9" name="Shape 7"/>
          <p:cNvSpPr/>
          <p:nvPr/>
        </p:nvSpPr>
        <p:spPr>
          <a:xfrm>
            <a:off x="3108960" y="1877568"/>
            <a:ext cx="4572000" cy="438912"/>
          </a:xfrm>
          <a:prstGeom prst="rect">
            <a:avLst/>
          </a:prstGeom>
          <a:solidFill>
            <a:srgbClr val="1A3A6B"/>
          </a:solidFill>
          <a:ln w="12700">
            <a:solidFill>
              <a:srgbClr val="CCCCCC"/>
            </a:solidFill>
            <a:prstDash val="solid"/>
          </a:ln>
        </p:spPr>
      </p:sp>
      <p:sp>
        <p:nvSpPr>
          <p:cNvPr id="10" name="Text 8"/>
          <p:cNvSpPr/>
          <p:nvPr/>
        </p:nvSpPr>
        <p:spPr>
          <a:xfrm>
            <a:off x="3108960" y="1877568"/>
            <a:ext cx="4572000" cy="438912"/>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Our CLIP (Lab)</a:t>
            </a:r>
            <a:endParaRPr lang="en-US" sz="1467" dirty="0"/>
          </a:p>
        </p:txBody>
      </p:sp>
      <p:sp>
        <p:nvSpPr>
          <p:cNvPr id="11" name="Shape 9"/>
          <p:cNvSpPr/>
          <p:nvPr/>
        </p:nvSpPr>
        <p:spPr>
          <a:xfrm>
            <a:off x="7741920" y="1877568"/>
            <a:ext cx="4023360" cy="438912"/>
          </a:xfrm>
          <a:prstGeom prst="rect">
            <a:avLst/>
          </a:prstGeom>
          <a:solidFill>
            <a:srgbClr val="1A3A6B"/>
          </a:solidFill>
          <a:ln w="12700">
            <a:solidFill>
              <a:srgbClr val="CCCCCC"/>
            </a:solidFill>
            <a:prstDash val="solid"/>
          </a:ln>
        </p:spPr>
      </p:sp>
      <p:sp>
        <p:nvSpPr>
          <p:cNvPr id="12" name="Text 10"/>
          <p:cNvSpPr/>
          <p:nvPr/>
        </p:nvSpPr>
        <p:spPr>
          <a:xfrm>
            <a:off x="7741920" y="1877568"/>
            <a:ext cx="4023360" cy="438912"/>
          </a:xfrm>
          <a:prstGeom prst="rect">
            <a:avLst/>
          </a:prstGeom>
          <a:noFill/>
          <a:ln/>
        </p:spPr>
        <p:txBody>
          <a:bodyPr wrap="square" rtlCol="0" anchor="ctr"/>
          <a:lstStyle/>
          <a:p>
            <a:pPr algn="ctr"/>
            <a:r>
              <a:rPr lang="en-US" sz="1467" b="1" dirty="0">
                <a:solidFill>
                  <a:srgbClr val="FFFFFF"/>
                </a:solidFill>
                <a:latin typeface="Calibri" pitchFamily="34" charset="0"/>
                <a:ea typeface="Calibri" pitchFamily="34" charset="-122"/>
                <a:cs typeface="Calibri" pitchFamily="34" charset="-120"/>
              </a:rPr>
              <a:t>OpenAI CLIP</a:t>
            </a:r>
            <a:endParaRPr lang="en-US" sz="1467" dirty="0"/>
          </a:p>
        </p:txBody>
      </p:sp>
      <p:sp>
        <p:nvSpPr>
          <p:cNvPr id="13" name="Shape 11"/>
          <p:cNvSpPr/>
          <p:nvPr/>
        </p:nvSpPr>
        <p:spPr>
          <a:xfrm>
            <a:off x="426720" y="2365248"/>
            <a:ext cx="2621280" cy="463296"/>
          </a:xfrm>
          <a:prstGeom prst="rect">
            <a:avLst/>
          </a:prstGeom>
          <a:solidFill>
            <a:srgbClr val="EEF3FB"/>
          </a:solidFill>
          <a:ln w="12700">
            <a:solidFill>
              <a:srgbClr val="CCCCCC"/>
            </a:solidFill>
            <a:prstDash val="solid"/>
          </a:ln>
        </p:spPr>
      </p:sp>
      <p:sp>
        <p:nvSpPr>
          <p:cNvPr id="14" name="Text 12"/>
          <p:cNvSpPr/>
          <p:nvPr/>
        </p:nvSpPr>
        <p:spPr>
          <a:xfrm>
            <a:off x="524256" y="2365248"/>
            <a:ext cx="2426208" cy="463296"/>
          </a:xfrm>
          <a:prstGeom prst="rect">
            <a:avLst/>
          </a:prstGeom>
          <a:noFill/>
          <a:ln/>
        </p:spPr>
        <p:txBody>
          <a:bodyPr wrap="square" rtlCol="0" anchor="ctr"/>
          <a:lstStyle/>
          <a:p>
            <a:r>
              <a:rPr lang="en-US" sz="1400" b="1" dirty="0">
                <a:solidFill>
                  <a:srgbClr val="595959"/>
                </a:solidFill>
                <a:latin typeface="Calibri" pitchFamily="34" charset="0"/>
                <a:ea typeface="Calibri" pitchFamily="34" charset="-122"/>
                <a:cs typeface="Calibri" pitchFamily="34" charset="-120"/>
              </a:rPr>
              <a:t>Training data</a:t>
            </a:r>
            <a:endParaRPr lang="en-US" sz="1400" dirty="0"/>
          </a:p>
        </p:txBody>
      </p:sp>
      <p:sp>
        <p:nvSpPr>
          <p:cNvPr id="15" name="Shape 13"/>
          <p:cNvSpPr/>
          <p:nvPr/>
        </p:nvSpPr>
        <p:spPr>
          <a:xfrm>
            <a:off x="3108960" y="2365248"/>
            <a:ext cx="4572000" cy="463296"/>
          </a:xfrm>
          <a:prstGeom prst="rect">
            <a:avLst/>
          </a:prstGeom>
          <a:solidFill>
            <a:srgbClr val="EEF3FB"/>
          </a:solidFill>
          <a:ln w="12700">
            <a:solidFill>
              <a:srgbClr val="CCCCCC"/>
            </a:solidFill>
            <a:prstDash val="solid"/>
          </a:ln>
        </p:spPr>
      </p:sp>
      <p:sp>
        <p:nvSpPr>
          <p:cNvPr id="16" name="Text 14"/>
          <p:cNvSpPr/>
          <p:nvPr/>
        </p:nvSpPr>
        <p:spPr>
          <a:xfrm>
            <a:off x="3206496" y="2365248"/>
            <a:ext cx="4376928" cy="463296"/>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Flickr 8k  (8091 images)</a:t>
            </a:r>
            <a:endParaRPr lang="en-US" sz="1400" dirty="0"/>
          </a:p>
        </p:txBody>
      </p:sp>
      <p:sp>
        <p:nvSpPr>
          <p:cNvPr id="17" name="Shape 15"/>
          <p:cNvSpPr/>
          <p:nvPr/>
        </p:nvSpPr>
        <p:spPr>
          <a:xfrm>
            <a:off x="7741920" y="2365248"/>
            <a:ext cx="4023360" cy="463296"/>
          </a:xfrm>
          <a:prstGeom prst="rect">
            <a:avLst/>
          </a:prstGeom>
          <a:solidFill>
            <a:srgbClr val="D0EDE8"/>
          </a:solidFill>
          <a:ln w="12700">
            <a:solidFill>
              <a:srgbClr val="CCCCCC"/>
            </a:solidFill>
            <a:prstDash val="solid"/>
          </a:ln>
        </p:spPr>
      </p:sp>
      <p:sp>
        <p:nvSpPr>
          <p:cNvPr id="18" name="Text 16"/>
          <p:cNvSpPr/>
          <p:nvPr/>
        </p:nvSpPr>
        <p:spPr>
          <a:xfrm>
            <a:off x="7839456" y="2365248"/>
            <a:ext cx="3828288" cy="463296"/>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400 million web image-text pairs</a:t>
            </a:r>
            <a:endParaRPr lang="en-US" sz="1400" dirty="0"/>
          </a:p>
        </p:txBody>
      </p:sp>
      <p:sp>
        <p:nvSpPr>
          <p:cNvPr id="19" name="Shape 17"/>
          <p:cNvSpPr/>
          <p:nvPr/>
        </p:nvSpPr>
        <p:spPr>
          <a:xfrm>
            <a:off x="426720" y="2877312"/>
            <a:ext cx="2621280" cy="463296"/>
          </a:xfrm>
          <a:prstGeom prst="rect">
            <a:avLst/>
          </a:prstGeom>
          <a:solidFill>
            <a:srgbClr val="FFFFFF"/>
          </a:solidFill>
          <a:ln w="12700">
            <a:solidFill>
              <a:srgbClr val="CCCCCC"/>
            </a:solidFill>
            <a:prstDash val="solid"/>
          </a:ln>
        </p:spPr>
      </p:sp>
      <p:sp>
        <p:nvSpPr>
          <p:cNvPr id="20" name="Text 18"/>
          <p:cNvSpPr/>
          <p:nvPr/>
        </p:nvSpPr>
        <p:spPr>
          <a:xfrm>
            <a:off x="524256" y="2877312"/>
            <a:ext cx="2426208" cy="463296"/>
          </a:xfrm>
          <a:prstGeom prst="rect">
            <a:avLst/>
          </a:prstGeom>
          <a:noFill/>
          <a:ln/>
        </p:spPr>
        <p:txBody>
          <a:bodyPr wrap="square" rtlCol="0" anchor="ctr"/>
          <a:lstStyle/>
          <a:p>
            <a:r>
              <a:rPr lang="en-US" sz="1400" b="1" dirty="0">
                <a:solidFill>
                  <a:srgbClr val="595959"/>
                </a:solidFill>
                <a:latin typeface="Calibri" pitchFamily="34" charset="0"/>
                <a:ea typeface="Calibri" pitchFamily="34" charset="-122"/>
                <a:cs typeface="Calibri" pitchFamily="34" charset="-120"/>
              </a:rPr>
              <a:t>Image encoder</a:t>
            </a:r>
            <a:endParaRPr lang="en-US" sz="1400" dirty="0"/>
          </a:p>
        </p:txBody>
      </p:sp>
      <p:sp>
        <p:nvSpPr>
          <p:cNvPr id="21" name="Shape 19"/>
          <p:cNvSpPr/>
          <p:nvPr/>
        </p:nvSpPr>
        <p:spPr>
          <a:xfrm>
            <a:off x="3108960" y="2877312"/>
            <a:ext cx="4572000" cy="463296"/>
          </a:xfrm>
          <a:prstGeom prst="rect">
            <a:avLst/>
          </a:prstGeom>
          <a:solidFill>
            <a:srgbClr val="FFFFFF"/>
          </a:solidFill>
          <a:ln w="12700">
            <a:solidFill>
              <a:srgbClr val="CCCCCC"/>
            </a:solidFill>
            <a:prstDash val="solid"/>
          </a:ln>
        </p:spPr>
      </p:sp>
      <p:sp>
        <p:nvSpPr>
          <p:cNvPr id="22" name="Text 20"/>
          <p:cNvSpPr/>
          <p:nvPr/>
        </p:nvSpPr>
        <p:spPr>
          <a:xfrm>
            <a:off x="3206496" y="2877312"/>
            <a:ext cx="4376928" cy="463296"/>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ResNet50 (frozen)</a:t>
            </a:r>
            <a:endParaRPr lang="en-US" sz="1400" dirty="0"/>
          </a:p>
        </p:txBody>
      </p:sp>
      <p:sp>
        <p:nvSpPr>
          <p:cNvPr id="23" name="Shape 21"/>
          <p:cNvSpPr/>
          <p:nvPr/>
        </p:nvSpPr>
        <p:spPr>
          <a:xfrm>
            <a:off x="7741920" y="2877312"/>
            <a:ext cx="4023360" cy="463296"/>
          </a:xfrm>
          <a:prstGeom prst="rect">
            <a:avLst/>
          </a:prstGeom>
          <a:solidFill>
            <a:srgbClr val="FFFFFF"/>
          </a:solidFill>
          <a:ln w="12700">
            <a:solidFill>
              <a:srgbClr val="CCCCCC"/>
            </a:solidFill>
            <a:prstDash val="solid"/>
          </a:ln>
        </p:spPr>
      </p:sp>
      <p:sp>
        <p:nvSpPr>
          <p:cNvPr id="24" name="Text 22"/>
          <p:cNvSpPr/>
          <p:nvPr/>
        </p:nvSpPr>
        <p:spPr>
          <a:xfrm>
            <a:off x="7839456" y="2877312"/>
            <a:ext cx="3828288" cy="463296"/>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ViT-B/32 Vision Transformer</a:t>
            </a:r>
            <a:endParaRPr lang="en-US" sz="1400" dirty="0"/>
          </a:p>
        </p:txBody>
      </p:sp>
      <p:sp>
        <p:nvSpPr>
          <p:cNvPr id="25" name="Shape 23"/>
          <p:cNvSpPr/>
          <p:nvPr/>
        </p:nvSpPr>
        <p:spPr>
          <a:xfrm>
            <a:off x="426720" y="3389376"/>
            <a:ext cx="2621280" cy="463296"/>
          </a:xfrm>
          <a:prstGeom prst="rect">
            <a:avLst/>
          </a:prstGeom>
          <a:solidFill>
            <a:srgbClr val="EEF3FB"/>
          </a:solidFill>
          <a:ln w="12700">
            <a:solidFill>
              <a:srgbClr val="CCCCCC"/>
            </a:solidFill>
            <a:prstDash val="solid"/>
          </a:ln>
        </p:spPr>
      </p:sp>
      <p:sp>
        <p:nvSpPr>
          <p:cNvPr id="26" name="Text 24"/>
          <p:cNvSpPr/>
          <p:nvPr/>
        </p:nvSpPr>
        <p:spPr>
          <a:xfrm>
            <a:off x="524256" y="3389376"/>
            <a:ext cx="2426208" cy="463296"/>
          </a:xfrm>
          <a:prstGeom prst="rect">
            <a:avLst/>
          </a:prstGeom>
          <a:noFill/>
          <a:ln/>
        </p:spPr>
        <p:txBody>
          <a:bodyPr wrap="square" rtlCol="0" anchor="ctr"/>
          <a:lstStyle/>
          <a:p>
            <a:r>
              <a:rPr lang="en-US" sz="1400" b="1" dirty="0">
                <a:solidFill>
                  <a:srgbClr val="595959"/>
                </a:solidFill>
                <a:latin typeface="Calibri" pitchFamily="34" charset="0"/>
                <a:ea typeface="Calibri" pitchFamily="34" charset="-122"/>
                <a:cs typeface="Calibri" pitchFamily="34" charset="-120"/>
              </a:rPr>
              <a:t>Text encoder</a:t>
            </a:r>
            <a:endParaRPr lang="en-US" sz="1400" dirty="0"/>
          </a:p>
        </p:txBody>
      </p:sp>
      <p:sp>
        <p:nvSpPr>
          <p:cNvPr id="27" name="Shape 25"/>
          <p:cNvSpPr/>
          <p:nvPr/>
        </p:nvSpPr>
        <p:spPr>
          <a:xfrm>
            <a:off x="3108960" y="3389376"/>
            <a:ext cx="4572000" cy="463296"/>
          </a:xfrm>
          <a:prstGeom prst="rect">
            <a:avLst/>
          </a:prstGeom>
          <a:solidFill>
            <a:srgbClr val="EEF3FB"/>
          </a:solidFill>
          <a:ln w="12700">
            <a:solidFill>
              <a:srgbClr val="CCCCCC"/>
            </a:solidFill>
            <a:prstDash val="solid"/>
          </a:ln>
        </p:spPr>
      </p:sp>
      <p:sp>
        <p:nvSpPr>
          <p:cNvPr id="28" name="Text 26"/>
          <p:cNvSpPr/>
          <p:nvPr/>
        </p:nvSpPr>
        <p:spPr>
          <a:xfrm>
            <a:off x="3206496" y="3389376"/>
            <a:ext cx="4376928" cy="463296"/>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DistilBERT (frozen)</a:t>
            </a:r>
            <a:endParaRPr lang="en-US" sz="1400" dirty="0"/>
          </a:p>
        </p:txBody>
      </p:sp>
      <p:sp>
        <p:nvSpPr>
          <p:cNvPr id="29" name="Shape 27"/>
          <p:cNvSpPr/>
          <p:nvPr/>
        </p:nvSpPr>
        <p:spPr>
          <a:xfrm>
            <a:off x="7741920" y="3389376"/>
            <a:ext cx="4023360" cy="463296"/>
          </a:xfrm>
          <a:prstGeom prst="rect">
            <a:avLst/>
          </a:prstGeom>
          <a:solidFill>
            <a:srgbClr val="D0EDE8"/>
          </a:solidFill>
          <a:ln w="12700">
            <a:solidFill>
              <a:srgbClr val="CCCCCC"/>
            </a:solidFill>
            <a:prstDash val="solid"/>
          </a:ln>
        </p:spPr>
      </p:sp>
      <p:sp>
        <p:nvSpPr>
          <p:cNvPr id="30" name="Text 28"/>
          <p:cNvSpPr/>
          <p:nvPr/>
        </p:nvSpPr>
        <p:spPr>
          <a:xfrm>
            <a:off x="7839456" y="3389376"/>
            <a:ext cx="3828288" cy="463296"/>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GPT-style transformer (custom)</a:t>
            </a:r>
            <a:endParaRPr lang="en-US" sz="1400" dirty="0"/>
          </a:p>
        </p:txBody>
      </p:sp>
      <p:sp>
        <p:nvSpPr>
          <p:cNvPr id="31" name="Shape 29"/>
          <p:cNvSpPr/>
          <p:nvPr/>
        </p:nvSpPr>
        <p:spPr>
          <a:xfrm>
            <a:off x="426720" y="3901440"/>
            <a:ext cx="2621280" cy="463296"/>
          </a:xfrm>
          <a:prstGeom prst="rect">
            <a:avLst/>
          </a:prstGeom>
          <a:solidFill>
            <a:srgbClr val="FFFFFF"/>
          </a:solidFill>
          <a:ln w="12700">
            <a:solidFill>
              <a:srgbClr val="CCCCCC"/>
            </a:solidFill>
            <a:prstDash val="solid"/>
          </a:ln>
        </p:spPr>
      </p:sp>
      <p:sp>
        <p:nvSpPr>
          <p:cNvPr id="32" name="Text 30"/>
          <p:cNvSpPr/>
          <p:nvPr/>
        </p:nvSpPr>
        <p:spPr>
          <a:xfrm>
            <a:off x="524256" y="3901440"/>
            <a:ext cx="2426208" cy="463296"/>
          </a:xfrm>
          <a:prstGeom prst="rect">
            <a:avLst/>
          </a:prstGeom>
          <a:noFill/>
          <a:ln/>
        </p:spPr>
        <p:txBody>
          <a:bodyPr wrap="square" rtlCol="0" anchor="ctr"/>
          <a:lstStyle/>
          <a:p>
            <a:r>
              <a:rPr lang="en-US" sz="1400" b="1" dirty="0">
                <a:solidFill>
                  <a:srgbClr val="595959"/>
                </a:solidFill>
                <a:latin typeface="Calibri" pitchFamily="34" charset="0"/>
                <a:ea typeface="Calibri" pitchFamily="34" charset="-122"/>
                <a:cs typeface="Calibri" pitchFamily="34" charset="-120"/>
              </a:rPr>
              <a:t>Embedding dim</a:t>
            </a:r>
            <a:endParaRPr lang="en-US" sz="1400" dirty="0"/>
          </a:p>
        </p:txBody>
      </p:sp>
      <p:sp>
        <p:nvSpPr>
          <p:cNvPr id="33" name="Shape 31"/>
          <p:cNvSpPr/>
          <p:nvPr/>
        </p:nvSpPr>
        <p:spPr>
          <a:xfrm>
            <a:off x="3108960" y="3901440"/>
            <a:ext cx="4572000" cy="463296"/>
          </a:xfrm>
          <a:prstGeom prst="rect">
            <a:avLst/>
          </a:prstGeom>
          <a:solidFill>
            <a:srgbClr val="FFFFFF"/>
          </a:solidFill>
          <a:ln w="12700">
            <a:solidFill>
              <a:srgbClr val="CCCCCC"/>
            </a:solidFill>
            <a:prstDash val="solid"/>
          </a:ln>
        </p:spPr>
      </p:sp>
      <p:sp>
        <p:nvSpPr>
          <p:cNvPr id="34" name="Text 32"/>
          <p:cNvSpPr/>
          <p:nvPr/>
        </p:nvSpPr>
        <p:spPr>
          <a:xfrm>
            <a:off x="3206496" y="3901440"/>
            <a:ext cx="4376928" cy="463296"/>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256</a:t>
            </a:r>
            <a:endParaRPr lang="en-US" sz="1400" dirty="0"/>
          </a:p>
        </p:txBody>
      </p:sp>
      <p:sp>
        <p:nvSpPr>
          <p:cNvPr id="35" name="Shape 33"/>
          <p:cNvSpPr/>
          <p:nvPr/>
        </p:nvSpPr>
        <p:spPr>
          <a:xfrm>
            <a:off x="7741920" y="3901440"/>
            <a:ext cx="4023360" cy="463296"/>
          </a:xfrm>
          <a:prstGeom prst="rect">
            <a:avLst/>
          </a:prstGeom>
          <a:solidFill>
            <a:srgbClr val="FFFFFF"/>
          </a:solidFill>
          <a:ln w="12700">
            <a:solidFill>
              <a:srgbClr val="CCCCCC"/>
            </a:solidFill>
            <a:prstDash val="solid"/>
          </a:ln>
        </p:spPr>
      </p:sp>
      <p:sp>
        <p:nvSpPr>
          <p:cNvPr id="36" name="Text 34"/>
          <p:cNvSpPr/>
          <p:nvPr/>
        </p:nvSpPr>
        <p:spPr>
          <a:xfrm>
            <a:off x="7839456" y="3901440"/>
            <a:ext cx="3828288" cy="463296"/>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512</a:t>
            </a:r>
            <a:endParaRPr lang="en-US" sz="1400" dirty="0"/>
          </a:p>
        </p:txBody>
      </p:sp>
      <p:sp>
        <p:nvSpPr>
          <p:cNvPr id="37" name="Shape 35"/>
          <p:cNvSpPr/>
          <p:nvPr/>
        </p:nvSpPr>
        <p:spPr>
          <a:xfrm>
            <a:off x="426720" y="4413504"/>
            <a:ext cx="2621280" cy="463296"/>
          </a:xfrm>
          <a:prstGeom prst="rect">
            <a:avLst/>
          </a:prstGeom>
          <a:solidFill>
            <a:srgbClr val="EEF3FB"/>
          </a:solidFill>
          <a:ln w="12700">
            <a:solidFill>
              <a:srgbClr val="CCCCCC"/>
            </a:solidFill>
            <a:prstDash val="solid"/>
          </a:ln>
        </p:spPr>
      </p:sp>
      <p:sp>
        <p:nvSpPr>
          <p:cNvPr id="38" name="Text 36"/>
          <p:cNvSpPr/>
          <p:nvPr/>
        </p:nvSpPr>
        <p:spPr>
          <a:xfrm>
            <a:off x="524256" y="4413504"/>
            <a:ext cx="2426208" cy="463296"/>
          </a:xfrm>
          <a:prstGeom prst="rect">
            <a:avLst/>
          </a:prstGeom>
          <a:noFill/>
          <a:ln/>
        </p:spPr>
        <p:txBody>
          <a:bodyPr wrap="square" rtlCol="0" anchor="ctr"/>
          <a:lstStyle/>
          <a:p>
            <a:r>
              <a:rPr lang="en-US" sz="1400" b="1" dirty="0">
                <a:solidFill>
                  <a:srgbClr val="595959"/>
                </a:solidFill>
                <a:latin typeface="Calibri" pitchFamily="34" charset="0"/>
                <a:ea typeface="Calibri" pitchFamily="34" charset="-122"/>
                <a:cs typeface="Calibri" pitchFamily="34" charset="-120"/>
              </a:rPr>
              <a:t>Training time</a:t>
            </a:r>
            <a:endParaRPr lang="en-US" sz="1400" dirty="0"/>
          </a:p>
        </p:txBody>
      </p:sp>
      <p:sp>
        <p:nvSpPr>
          <p:cNvPr id="39" name="Shape 37"/>
          <p:cNvSpPr/>
          <p:nvPr/>
        </p:nvSpPr>
        <p:spPr>
          <a:xfrm>
            <a:off x="3108960" y="4413504"/>
            <a:ext cx="4572000" cy="463296"/>
          </a:xfrm>
          <a:prstGeom prst="rect">
            <a:avLst/>
          </a:prstGeom>
          <a:solidFill>
            <a:srgbClr val="EEF3FB"/>
          </a:solidFill>
          <a:ln w="12700">
            <a:solidFill>
              <a:srgbClr val="CCCCCC"/>
            </a:solidFill>
            <a:prstDash val="solid"/>
          </a:ln>
        </p:spPr>
      </p:sp>
      <p:sp>
        <p:nvSpPr>
          <p:cNvPr id="40" name="Text 38"/>
          <p:cNvSpPr/>
          <p:nvPr/>
        </p:nvSpPr>
        <p:spPr>
          <a:xfrm>
            <a:off x="3206496" y="4413504"/>
            <a:ext cx="4376928" cy="463296"/>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~4 hours on GPU</a:t>
            </a:r>
            <a:endParaRPr lang="en-US" sz="1400" dirty="0"/>
          </a:p>
        </p:txBody>
      </p:sp>
      <p:sp>
        <p:nvSpPr>
          <p:cNvPr id="41" name="Shape 39"/>
          <p:cNvSpPr/>
          <p:nvPr/>
        </p:nvSpPr>
        <p:spPr>
          <a:xfrm>
            <a:off x="7741920" y="4413504"/>
            <a:ext cx="4023360" cy="463296"/>
          </a:xfrm>
          <a:prstGeom prst="rect">
            <a:avLst/>
          </a:prstGeom>
          <a:solidFill>
            <a:srgbClr val="D0EDE8"/>
          </a:solidFill>
          <a:ln w="12700">
            <a:solidFill>
              <a:srgbClr val="CCCCCC"/>
            </a:solidFill>
            <a:prstDash val="solid"/>
          </a:ln>
        </p:spPr>
      </p:sp>
      <p:sp>
        <p:nvSpPr>
          <p:cNvPr id="42" name="Text 40"/>
          <p:cNvSpPr/>
          <p:nvPr/>
        </p:nvSpPr>
        <p:spPr>
          <a:xfrm>
            <a:off x="7839456" y="4413504"/>
            <a:ext cx="3828288" cy="463296"/>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Weeks on 256 GPUs (OpenAI scale)</a:t>
            </a:r>
            <a:endParaRPr lang="en-US" sz="1400" dirty="0"/>
          </a:p>
        </p:txBody>
      </p:sp>
      <p:sp>
        <p:nvSpPr>
          <p:cNvPr id="43" name="Shape 41"/>
          <p:cNvSpPr/>
          <p:nvPr/>
        </p:nvSpPr>
        <p:spPr>
          <a:xfrm>
            <a:off x="426720" y="4925568"/>
            <a:ext cx="2621280" cy="463296"/>
          </a:xfrm>
          <a:prstGeom prst="rect">
            <a:avLst/>
          </a:prstGeom>
          <a:solidFill>
            <a:srgbClr val="FFFFFF"/>
          </a:solidFill>
          <a:ln w="12700">
            <a:solidFill>
              <a:srgbClr val="CCCCCC"/>
            </a:solidFill>
            <a:prstDash val="solid"/>
          </a:ln>
        </p:spPr>
      </p:sp>
      <p:sp>
        <p:nvSpPr>
          <p:cNvPr id="44" name="Text 42"/>
          <p:cNvSpPr/>
          <p:nvPr/>
        </p:nvSpPr>
        <p:spPr>
          <a:xfrm>
            <a:off x="524256" y="4925568"/>
            <a:ext cx="2426208" cy="463296"/>
          </a:xfrm>
          <a:prstGeom prst="rect">
            <a:avLst/>
          </a:prstGeom>
          <a:noFill/>
          <a:ln/>
        </p:spPr>
        <p:txBody>
          <a:bodyPr wrap="square" rtlCol="0" anchor="ctr"/>
          <a:lstStyle/>
          <a:p>
            <a:r>
              <a:rPr lang="en-US" sz="1400" b="1" dirty="0">
                <a:solidFill>
                  <a:srgbClr val="595959"/>
                </a:solidFill>
                <a:latin typeface="Calibri" pitchFamily="34" charset="0"/>
                <a:ea typeface="Calibri" pitchFamily="34" charset="-122"/>
                <a:cs typeface="Calibri" pitchFamily="34" charset="-120"/>
              </a:rPr>
              <a:t>match()/</a:t>
            </a:r>
            <a:r>
              <a:rPr lang="en-US" sz="1400" b="1" dirty="0" err="1">
                <a:solidFill>
                  <a:srgbClr val="595959"/>
                </a:solidFill>
                <a:latin typeface="Calibri" pitchFamily="34" charset="0"/>
                <a:ea typeface="Calibri" pitchFamily="34" charset="-122"/>
                <a:cs typeface="Calibri" pitchFamily="34" charset="-120"/>
              </a:rPr>
              <a:t>find_match</a:t>
            </a:r>
            <a:r>
              <a:rPr lang="en-US" sz="1400" b="1" dirty="0">
                <a:solidFill>
                  <a:srgbClr val="595959"/>
                </a:solidFill>
                <a:latin typeface="Calibri" pitchFamily="34" charset="0"/>
                <a:ea typeface="Calibri" pitchFamily="34" charset="-122"/>
                <a:cs typeface="Calibri" pitchFamily="34" charset="-120"/>
              </a:rPr>
              <a:t> result</a:t>
            </a:r>
            <a:endParaRPr lang="en-US" sz="1400" dirty="0"/>
          </a:p>
        </p:txBody>
      </p:sp>
      <p:sp>
        <p:nvSpPr>
          <p:cNvPr id="45" name="Shape 43"/>
          <p:cNvSpPr/>
          <p:nvPr/>
        </p:nvSpPr>
        <p:spPr>
          <a:xfrm>
            <a:off x="3108960" y="4925568"/>
            <a:ext cx="4572000" cy="463296"/>
          </a:xfrm>
          <a:prstGeom prst="rect">
            <a:avLst/>
          </a:prstGeom>
          <a:solidFill>
            <a:srgbClr val="FFFFFF"/>
          </a:solidFill>
          <a:ln w="12700">
            <a:solidFill>
              <a:srgbClr val="CCCCCC"/>
            </a:solidFill>
            <a:prstDash val="solid"/>
          </a:ln>
        </p:spPr>
      </p:sp>
      <p:sp>
        <p:nvSpPr>
          <p:cNvPr id="46" name="Text 44"/>
          <p:cNvSpPr/>
          <p:nvPr/>
        </p:nvSpPr>
        <p:spPr>
          <a:xfrm>
            <a:off x="3206496" y="4925568"/>
            <a:ext cx="4376928" cy="463296"/>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Returns top-1 image</a:t>
            </a:r>
            <a:endParaRPr lang="en-US" sz="1400" dirty="0"/>
          </a:p>
        </p:txBody>
      </p:sp>
      <p:sp>
        <p:nvSpPr>
          <p:cNvPr id="47" name="Shape 45"/>
          <p:cNvSpPr/>
          <p:nvPr/>
        </p:nvSpPr>
        <p:spPr>
          <a:xfrm>
            <a:off x="7741920" y="4925568"/>
            <a:ext cx="4023360" cy="463296"/>
          </a:xfrm>
          <a:prstGeom prst="rect">
            <a:avLst/>
          </a:prstGeom>
          <a:solidFill>
            <a:srgbClr val="FFFFFF"/>
          </a:solidFill>
          <a:ln w="12700">
            <a:solidFill>
              <a:srgbClr val="CCCCCC"/>
            </a:solidFill>
            <a:prstDash val="solid"/>
          </a:ln>
        </p:spPr>
      </p:sp>
      <p:sp>
        <p:nvSpPr>
          <p:cNvPr id="48" name="Text 46"/>
          <p:cNvSpPr/>
          <p:nvPr/>
        </p:nvSpPr>
        <p:spPr>
          <a:xfrm>
            <a:off x="7839456" y="4925568"/>
            <a:ext cx="3828288" cy="463296"/>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Returns top-5 images</a:t>
            </a:r>
            <a:endParaRPr lang="en-US" sz="1400" dirty="0"/>
          </a:p>
        </p:txBody>
      </p:sp>
      <p:sp>
        <p:nvSpPr>
          <p:cNvPr id="63" name="Shape 0">
            <a:extLst>
              <a:ext uri="{FF2B5EF4-FFF2-40B4-BE49-F238E27FC236}">
                <a16:creationId xmlns:a16="http://schemas.microsoft.com/office/drawing/2014/main" id="{A5678A52-B2C7-C2CF-39DF-88257D535960}"/>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67" name="Picture 66">
            <a:extLst>
              <a:ext uri="{FF2B5EF4-FFF2-40B4-BE49-F238E27FC236}">
                <a16:creationId xmlns:a16="http://schemas.microsoft.com/office/drawing/2014/main" id="{C2889328-D49F-4225-3252-D13ACBA27216}"/>
              </a:ext>
            </a:extLst>
          </p:cNvPr>
          <p:cNvPicPr>
            <a:picLocks noChangeAspect="1"/>
          </p:cNvPicPr>
          <p:nvPr/>
        </p:nvPicPr>
        <p:blipFill>
          <a:blip r:embed="rId3"/>
          <a:stretch>
            <a:fillRect/>
          </a:stretch>
        </p:blipFill>
        <p:spPr>
          <a:xfrm>
            <a:off x="7741920" y="6050451"/>
            <a:ext cx="4062251" cy="591654"/>
          </a:xfrm>
          <a:prstGeom prst="rect">
            <a:avLst/>
          </a:prstGeom>
        </p:spPr>
      </p:pic>
      <p:pic>
        <p:nvPicPr>
          <p:cNvPr id="71" name="Picture 70">
            <a:extLst>
              <a:ext uri="{FF2B5EF4-FFF2-40B4-BE49-F238E27FC236}">
                <a16:creationId xmlns:a16="http://schemas.microsoft.com/office/drawing/2014/main" id="{52F83B12-AA81-59DB-F4F2-4219B9DA9032}"/>
              </a:ext>
            </a:extLst>
          </p:cNvPr>
          <p:cNvPicPr>
            <a:picLocks noChangeAspect="1"/>
          </p:cNvPicPr>
          <p:nvPr/>
        </p:nvPicPr>
        <p:blipFill>
          <a:blip r:embed="rId4"/>
          <a:stretch>
            <a:fillRect/>
          </a:stretch>
        </p:blipFill>
        <p:spPr>
          <a:xfrm>
            <a:off x="4756150" y="6050451"/>
            <a:ext cx="810260" cy="579776"/>
          </a:xfrm>
          <a:prstGeom prst="rect">
            <a:avLst/>
          </a:prstGeom>
        </p:spPr>
      </p:pic>
      <p:sp>
        <p:nvSpPr>
          <p:cNvPr id="72" name="TextBox 71">
            <a:extLst>
              <a:ext uri="{FF2B5EF4-FFF2-40B4-BE49-F238E27FC236}">
                <a16:creationId xmlns:a16="http://schemas.microsoft.com/office/drawing/2014/main" id="{20F79B69-6E28-4CB3-4E01-FE0059F7B92C}"/>
              </a:ext>
            </a:extLst>
          </p:cNvPr>
          <p:cNvSpPr txBox="1"/>
          <p:nvPr/>
        </p:nvSpPr>
        <p:spPr>
          <a:xfrm>
            <a:off x="7644121" y="5722358"/>
            <a:ext cx="4244047" cy="369332"/>
          </a:xfrm>
          <a:prstGeom prst="rect">
            <a:avLst/>
          </a:prstGeom>
          <a:noFill/>
        </p:spPr>
        <p:txBody>
          <a:bodyPr wrap="none" rtlCol="0">
            <a:spAutoFit/>
          </a:bodyPr>
          <a:lstStyle/>
          <a:p>
            <a:r>
              <a:rPr lang="en-US" dirty="0"/>
              <a:t>prompt: “people eating at the restaurant”</a:t>
            </a:r>
            <a:endParaRPr lang="ro-RO" dirty="0"/>
          </a:p>
        </p:txBody>
      </p:sp>
      <p:sp>
        <p:nvSpPr>
          <p:cNvPr id="73" name="TextBox 72">
            <a:extLst>
              <a:ext uri="{FF2B5EF4-FFF2-40B4-BE49-F238E27FC236}">
                <a16:creationId xmlns:a16="http://schemas.microsoft.com/office/drawing/2014/main" id="{510977E5-35C5-7A72-292C-70D851BEA96E}"/>
              </a:ext>
            </a:extLst>
          </p:cNvPr>
          <p:cNvSpPr txBox="1"/>
          <p:nvPr/>
        </p:nvSpPr>
        <p:spPr>
          <a:xfrm>
            <a:off x="3272936" y="5722358"/>
            <a:ext cx="3632020" cy="369332"/>
          </a:xfrm>
          <a:prstGeom prst="rect">
            <a:avLst/>
          </a:prstGeom>
          <a:noFill/>
        </p:spPr>
        <p:txBody>
          <a:bodyPr wrap="none" rtlCol="0">
            <a:spAutoFit/>
          </a:bodyPr>
          <a:lstStyle/>
          <a:p>
            <a:r>
              <a:rPr lang="en-US" dirty="0"/>
              <a:t>prompt: “dog standing in the sand”</a:t>
            </a:r>
            <a:endParaRPr lang="ro-RO" dirty="0"/>
          </a:p>
        </p:txBody>
      </p:sp>
      <p:cxnSp>
        <p:nvCxnSpPr>
          <p:cNvPr id="75" name="Straight Arrow Connector 74">
            <a:extLst>
              <a:ext uri="{FF2B5EF4-FFF2-40B4-BE49-F238E27FC236}">
                <a16:creationId xmlns:a16="http://schemas.microsoft.com/office/drawing/2014/main" id="{63690497-6480-5B6F-930A-64BDC7C0EE40}"/>
              </a:ext>
            </a:extLst>
          </p:cNvPr>
          <p:cNvCxnSpPr>
            <a:cxnSpLocks/>
          </p:cNvCxnSpPr>
          <p:nvPr/>
        </p:nvCxnSpPr>
        <p:spPr>
          <a:xfrm>
            <a:off x="4995813" y="5437632"/>
            <a:ext cx="0" cy="3334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94CB6704-26BA-0966-3E50-0D919CC5DEDB}"/>
              </a:ext>
            </a:extLst>
          </p:cNvPr>
          <p:cNvCxnSpPr>
            <a:cxnSpLocks/>
          </p:cNvCxnSpPr>
          <p:nvPr/>
        </p:nvCxnSpPr>
        <p:spPr>
          <a:xfrm>
            <a:off x="9638020" y="5461431"/>
            <a:ext cx="0" cy="3334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8" name="Rectangle: Rounded Corners 77">
            <a:extLst>
              <a:ext uri="{FF2B5EF4-FFF2-40B4-BE49-F238E27FC236}">
                <a16:creationId xmlns:a16="http://schemas.microsoft.com/office/drawing/2014/main" id="{EBBEC33C-975D-589C-FBEA-357C9330A338}"/>
              </a:ext>
            </a:extLst>
          </p:cNvPr>
          <p:cNvSpPr/>
          <p:nvPr/>
        </p:nvSpPr>
        <p:spPr>
          <a:xfrm>
            <a:off x="401612" y="4880524"/>
            <a:ext cx="11486555" cy="1831171"/>
          </a:xfrm>
          <a:prstGeom prst="round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A9652-93F3-7080-446D-5FAA2200A3B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59DFE17-8D6D-826D-B758-D295A8655F62}"/>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3" name="Picture 2" descr="What I cannot create, I do not understand&quot; - Richard Feynman At the end of  March, I stepped down from the position of PrecisionLoop's CEO. The last  4.5 years at AI startups">
            <a:extLst>
              <a:ext uri="{FF2B5EF4-FFF2-40B4-BE49-F238E27FC236}">
                <a16:creationId xmlns:a16="http://schemas.microsoft.com/office/drawing/2014/main" id="{9D02F9B2-1C03-5E0E-3150-DA618318DC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4234" y="918833"/>
            <a:ext cx="9003532" cy="5020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36516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3" name="Text 1"/>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Lab Exercises</a:t>
            </a:r>
            <a:endParaRPr lang="en-US" sz="3467" dirty="0"/>
          </a:p>
        </p:txBody>
      </p:sp>
      <p:sp>
        <p:nvSpPr>
          <p:cNvPr id="4" name="Shape 2"/>
          <p:cNvSpPr/>
          <p:nvPr/>
        </p:nvSpPr>
        <p:spPr>
          <a:xfrm>
            <a:off x="426720" y="1280160"/>
            <a:ext cx="999744" cy="2340864"/>
          </a:xfrm>
          <a:prstGeom prst="rect">
            <a:avLst/>
          </a:prstGeom>
          <a:solidFill>
            <a:srgbClr val="1F5BAD"/>
          </a:solidFill>
          <a:ln w="12700">
            <a:solidFill>
              <a:srgbClr val="1F5BAD"/>
            </a:solidFill>
            <a:prstDash val="solid"/>
          </a:ln>
        </p:spPr>
      </p:sp>
      <p:sp>
        <p:nvSpPr>
          <p:cNvPr id="5" name="Text 3"/>
          <p:cNvSpPr/>
          <p:nvPr/>
        </p:nvSpPr>
        <p:spPr>
          <a:xfrm>
            <a:off x="426720" y="1280160"/>
            <a:ext cx="999744" cy="2340864"/>
          </a:xfrm>
          <a:prstGeom prst="rect">
            <a:avLst/>
          </a:prstGeom>
          <a:noFill/>
          <a:ln/>
        </p:spPr>
        <p:txBody>
          <a:bodyPr wrap="square" rtlCol="0" anchor="ctr"/>
          <a:lstStyle/>
          <a:p>
            <a:pPr algn="ctr"/>
            <a:r>
              <a:rPr lang="en-US" sz="2933" b="1" dirty="0">
                <a:solidFill>
                  <a:srgbClr val="FFFFFF"/>
                </a:solidFill>
                <a:latin typeface="Calibri" pitchFamily="34" charset="0"/>
                <a:ea typeface="Calibri" pitchFamily="34" charset="-122"/>
                <a:cs typeface="Calibri" pitchFamily="34" charset="-120"/>
              </a:rPr>
              <a:t>01</a:t>
            </a:r>
            <a:endParaRPr lang="en-US" sz="2933" dirty="0"/>
          </a:p>
        </p:txBody>
      </p:sp>
      <p:sp>
        <p:nvSpPr>
          <p:cNvPr id="6" name="Shape 4"/>
          <p:cNvSpPr/>
          <p:nvPr/>
        </p:nvSpPr>
        <p:spPr>
          <a:xfrm>
            <a:off x="1463040" y="1280160"/>
            <a:ext cx="10302240" cy="2340864"/>
          </a:xfrm>
          <a:prstGeom prst="rect">
            <a:avLst/>
          </a:prstGeom>
          <a:solidFill>
            <a:srgbClr val="EEF3FB"/>
          </a:solidFill>
          <a:ln w="12700">
            <a:solidFill>
              <a:srgbClr val="CCCCCC"/>
            </a:solidFill>
            <a:prstDash val="solid"/>
          </a:ln>
        </p:spPr>
      </p:sp>
      <p:sp>
        <p:nvSpPr>
          <p:cNvPr id="7" name="Text 5"/>
          <p:cNvSpPr/>
          <p:nvPr/>
        </p:nvSpPr>
        <p:spPr>
          <a:xfrm>
            <a:off x="1621536" y="1402080"/>
            <a:ext cx="9997440" cy="390144"/>
          </a:xfrm>
          <a:prstGeom prst="rect">
            <a:avLst/>
          </a:prstGeom>
          <a:noFill/>
          <a:ln/>
        </p:spPr>
        <p:txBody>
          <a:bodyPr wrap="square" rtlCol="0" anchor="ctr"/>
          <a:lstStyle/>
          <a:p>
            <a:r>
              <a:rPr lang="en-US" sz="1867" b="1" dirty="0">
                <a:solidFill>
                  <a:srgbClr val="1F3864"/>
                </a:solidFill>
                <a:latin typeface="Calibri" pitchFamily="34" charset="0"/>
                <a:ea typeface="Calibri" pitchFamily="34" charset="-122"/>
                <a:cs typeface="Calibri" pitchFamily="34" charset="-120"/>
              </a:rPr>
              <a:t>match() — 'dogs walk on the beach'</a:t>
            </a:r>
            <a:endParaRPr lang="en-US" sz="1867" dirty="0"/>
          </a:p>
        </p:txBody>
      </p:sp>
      <p:sp>
        <p:nvSpPr>
          <p:cNvPr id="8" name="Text 6"/>
          <p:cNvSpPr/>
          <p:nvPr/>
        </p:nvSpPr>
        <p:spPr>
          <a:xfrm>
            <a:off x="1621536" y="1865376"/>
            <a:ext cx="9997440" cy="877824"/>
          </a:xfrm>
          <a:prstGeom prst="rect">
            <a:avLst/>
          </a:prstGeom>
          <a:noFill/>
          <a:ln/>
        </p:spPr>
        <p:txBody>
          <a:bodyPr wrap="square" rtlCol="0" anchor="ctr"/>
          <a:lstStyle/>
          <a:p>
            <a:r>
              <a:rPr lang="en-US" sz="1600" dirty="0">
                <a:solidFill>
                  <a:srgbClr val="595959"/>
                </a:solidFill>
                <a:latin typeface="Calibri" pitchFamily="34" charset="0"/>
                <a:ea typeface="Calibri" pitchFamily="34" charset="-122"/>
                <a:cs typeface="Calibri" pitchFamily="34" charset="-120"/>
              </a:rPr>
              <a:t>Use the match() function to retrieve the best-matching image from the Flickr 8k validation set for the prompt 'dogs walk on the beach'. Plot the selected image and display both the text prompt and the original caption above it.</a:t>
            </a:r>
            <a:endParaRPr lang="en-US" sz="1600" dirty="0"/>
          </a:p>
        </p:txBody>
      </p:sp>
      <p:sp>
        <p:nvSpPr>
          <p:cNvPr id="9" name="Text 7"/>
          <p:cNvSpPr/>
          <p:nvPr/>
        </p:nvSpPr>
        <p:spPr>
          <a:xfrm>
            <a:off x="1621536" y="2816352"/>
            <a:ext cx="9997440" cy="682752"/>
          </a:xfrm>
          <a:prstGeom prst="rect">
            <a:avLst/>
          </a:prstGeom>
          <a:noFill/>
          <a:ln/>
        </p:spPr>
        <p:txBody>
          <a:bodyPr wrap="square" rtlCol="0" anchor="ctr"/>
          <a:lstStyle/>
          <a:p>
            <a:r>
              <a:rPr lang="en-US" sz="1600" i="1" dirty="0">
                <a:solidFill>
                  <a:srgbClr val="888888"/>
                </a:solidFill>
                <a:latin typeface="Calibri" pitchFamily="34" charset="0"/>
                <a:ea typeface="Calibri" pitchFamily="34" charset="-122"/>
                <a:cs typeface="Calibri" pitchFamily="34" charset="-120"/>
              </a:rPr>
              <a:t>Hint: call match('dogs walk on the beach'). The function returns (filename, caption). </a:t>
            </a:r>
          </a:p>
          <a:p>
            <a:r>
              <a:rPr lang="en-US" sz="1600" i="1" dirty="0">
                <a:solidFill>
                  <a:srgbClr val="888888"/>
                </a:solidFill>
                <a:latin typeface="Calibri" pitchFamily="34" charset="0"/>
                <a:ea typeface="Calibri" pitchFamily="34" charset="-122"/>
                <a:cs typeface="Calibri" pitchFamily="34" charset="-120"/>
              </a:rPr>
              <a:t>Use </a:t>
            </a:r>
            <a:r>
              <a:rPr lang="en-US" sz="1600" i="1" dirty="0" err="1">
                <a:solidFill>
                  <a:srgbClr val="888888"/>
                </a:solidFill>
                <a:latin typeface="Calibri" pitchFamily="34" charset="0"/>
                <a:ea typeface="Calibri" pitchFamily="34" charset="-122"/>
                <a:cs typeface="Calibri" pitchFamily="34" charset="-120"/>
              </a:rPr>
              <a:t>plt.imshow</a:t>
            </a:r>
            <a:r>
              <a:rPr lang="en-US" sz="1600" i="1" dirty="0">
                <a:solidFill>
                  <a:srgbClr val="888888"/>
                </a:solidFill>
                <a:latin typeface="Calibri" pitchFamily="34" charset="0"/>
                <a:ea typeface="Calibri" pitchFamily="34" charset="-122"/>
                <a:cs typeface="Calibri" pitchFamily="34" charset="-120"/>
              </a:rPr>
              <a:t>(PIL.Image.open(f'files/Images/{file}')) and set plt.title() with both strings.</a:t>
            </a:r>
            <a:endParaRPr lang="en-US" sz="1600" dirty="0"/>
          </a:p>
        </p:txBody>
      </p:sp>
      <p:sp>
        <p:nvSpPr>
          <p:cNvPr id="10" name="Shape 8"/>
          <p:cNvSpPr/>
          <p:nvPr/>
        </p:nvSpPr>
        <p:spPr>
          <a:xfrm>
            <a:off x="426720" y="3840480"/>
            <a:ext cx="999744" cy="2340864"/>
          </a:xfrm>
          <a:prstGeom prst="rect">
            <a:avLst/>
          </a:prstGeom>
          <a:solidFill>
            <a:srgbClr val="1F5BAD"/>
          </a:solidFill>
          <a:ln w="12700">
            <a:solidFill>
              <a:srgbClr val="1F5BAD"/>
            </a:solidFill>
            <a:prstDash val="solid"/>
          </a:ln>
        </p:spPr>
      </p:sp>
      <p:sp>
        <p:nvSpPr>
          <p:cNvPr id="11" name="Text 9"/>
          <p:cNvSpPr/>
          <p:nvPr/>
        </p:nvSpPr>
        <p:spPr>
          <a:xfrm>
            <a:off x="426720" y="3840480"/>
            <a:ext cx="999744" cy="2340864"/>
          </a:xfrm>
          <a:prstGeom prst="rect">
            <a:avLst/>
          </a:prstGeom>
          <a:noFill/>
          <a:ln/>
        </p:spPr>
        <p:txBody>
          <a:bodyPr wrap="square" rtlCol="0" anchor="ctr"/>
          <a:lstStyle/>
          <a:p>
            <a:pPr algn="ctr"/>
            <a:r>
              <a:rPr lang="en-US" sz="2933" b="1" dirty="0">
                <a:solidFill>
                  <a:srgbClr val="FFFFFF"/>
                </a:solidFill>
                <a:latin typeface="Calibri" pitchFamily="34" charset="0"/>
                <a:ea typeface="Calibri" pitchFamily="34" charset="-122"/>
                <a:cs typeface="Calibri" pitchFamily="34" charset="-120"/>
              </a:rPr>
              <a:t>02</a:t>
            </a:r>
            <a:endParaRPr lang="en-US" sz="2933" dirty="0"/>
          </a:p>
        </p:txBody>
      </p:sp>
      <p:sp>
        <p:nvSpPr>
          <p:cNvPr id="12" name="Shape 10"/>
          <p:cNvSpPr/>
          <p:nvPr/>
        </p:nvSpPr>
        <p:spPr>
          <a:xfrm>
            <a:off x="1463040" y="3840480"/>
            <a:ext cx="10302240" cy="2340864"/>
          </a:xfrm>
          <a:prstGeom prst="rect">
            <a:avLst/>
          </a:prstGeom>
          <a:solidFill>
            <a:srgbClr val="FFFFFF"/>
          </a:solidFill>
          <a:ln w="12700">
            <a:solidFill>
              <a:srgbClr val="CCCCCC"/>
            </a:solidFill>
            <a:prstDash val="solid"/>
          </a:ln>
        </p:spPr>
      </p:sp>
      <p:sp>
        <p:nvSpPr>
          <p:cNvPr id="13" name="Text 11"/>
          <p:cNvSpPr/>
          <p:nvPr/>
        </p:nvSpPr>
        <p:spPr>
          <a:xfrm>
            <a:off x="1621536" y="3962400"/>
            <a:ext cx="9997440" cy="390144"/>
          </a:xfrm>
          <a:prstGeom prst="rect">
            <a:avLst/>
          </a:prstGeom>
          <a:noFill/>
          <a:ln/>
        </p:spPr>
        <p:txBody>
          <a:bodyPr wrap="square" rtlCol="0" anchor="ctr"/>
          <a:lstStyle/>
          <a:p>
            <a:r>
              <a:rPr lang="en-US" sz="1867" b="1" dirty="0">
                <a:solidFill>
                  <a:srgbClr val="1F3864"/>
                </a:solidFill>
                <a:latin typeface="Calibri" pitchFamily="34" charset="0"/>
                <a:ea typeface="Calibri" pitchFamily="34" charset="-122"/>
                <a:cs typeface="Calibri" pitchFamily="34" charset="-120"/>
              </a:rPr>
              <a:t>find_match() — 'people shopping on the street'</a:t>
            </a:r>
            <a:endParaRPr lang="en-US" sz="1867" dirty="0"/>
          </a:p>
        </p:txBody>
      </p:sp>
      <p:sp>
        <p:nvSpPr>
          <p:cNvPr id="14" name="Text 12"/>
          <p:cNvSpPr/>
          <p:nvPr/>
        </p:nvSpPr>
        <p:spPr>
          <a:xfrm>
            <a:off x="1621536" y="4425696"/>
            <a:ext cx="9997440" cy="877824"/>
          </a:xfrm>
          <a:prstGeom prst="rect">
            <a:avLst/>
          </a:prstGeom>
          <a:noFill/>
          <a:ln/>
        </p:spPr>
        <p:txBody>
          <a:bodyPr wrap="square" rtlCol="0" anchor="ctr"/>
          <a:lstStyle/>
          <a:p>
            <a:r>
              <a:rPr lang="en-US" sz="1600" dirty="0">
                <a:solidFill>
                  <a:srgbClr val="595959"/>
                </a:solidFill>
                <a:latin typeface="Calibri" pitchFamily="34" charset="0"/>
                <a:ea typeface="Calibri" pitchFamily="34" charset="-122"/>
                <a:cs typeface="Calibri" pitchFamily="34" charset="-120"/>
              </a:rPr>
              <a:t>Use the OpenAI find_match() function to retrieve the top 5 best-matching images for the prompt 'people shopping on the street'. Plot them in a 1×5 grid (leftmost = most similar).</a:t>
            </a:r>
            <a:endParaRPr lang="en-US" sz="1600" dirty="0"/>
          </a:p>
        </p:txBody>
      </p:sp>
      <p:sp>
        <p:nvSpPr>
          <p:cNvPr id="15" name="Text 13"/>
          <p:cNvSpPr/>
          <p:nvPr/>
        </p:nvSpPr>
        <p:spPr>
          <a:xfrm>
            <a:off x="1621536" y="5376672"/>
            <a:ext cx="9997440" cy="682752"/>
          </a:xfrm>
          <a:prstGeom prst="rect">
            <a:avLst/>
          </a:prstGeom>
          <a:noFill/>
          <a:ln/>
        </p:spPr>
        <p:txBody>
          <a:bodyPr wrap="square" rtlCol="0" anchor="ctr"/>
          <a:lstStyle/>
          <a:p>
            <a:r>
              <a:rPr lang="en-US" sz="1600" i="1" dirty="0">
                <a:solidFill>
                  <a:srgbClr val="888888"/>
                </a:solidFill>
                <a:latin typeface="Calibri" pitchFamily="34" charset="0"/>
                <a:ea typeface="Calibri" pitchFamily="34" charset="-122"/>
                <a:cs typeface="Calibri" pitchFamily="34" charset="-120"/>
              </a:rPr>
              <a:t>Hint: call find_match('people shopping on the street'). The function handles all tokenisation and display internally. Make sure image_features is loaded from files/imgfeas.p before calling.</a:t>
            </a:r>
            <a:endParaRPr lang="en-US" sz="1600" dirty="0"/>
          </a:p>
        </p:txBody>
      </p:sp>
      <p:sp>
        <p:nvSpPr>
          <p:cNvPr id="16" name="Shape 0">
            <a:extLst>
              <a:ext uri="{FF2B5EF4-FFF2-40B4-BE49-F238E27FC236}">
                <a16:creationId xmlns:a16="http://schemas.microsoft.com/office/drawing/2014/main" id="{5B7F6DDB-C7C6-AE46-188B-19CBA470364E}"/>
              </a:ext>
            </a:extLst>
          </p:cNvPr>
          <p:cNvSpPr/>
          <p:nvPr/>
        </p:nvSpPr>
        <p:spPr>
          <a:xfrm>
            <a:off x="0" y="0"/>
            <a:ext cx="12192000" cy="97536"/>
          </a:xfrm>
          <a:prstGeom prst="rect">
            <a:avLst/>
          </a:prstGeom>
          <a:solidFill>
            <a:srgbClr val="1565C0"/>
          </a:solidFill>
          <a:ln w="12700">
            <a:solidFill>
              <a:srgbClr val="1565C0"/>
            </a:solidFill>
            <a:prstDash val="solid"/>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7536"/>
          </a:xfrm>
          <a:prstGeom prst="rect">
            <a:avLst/>
          </a:prstGeom>
          <a:solidFill>
            <a:srgbClr val="1565C0"/>
          </a:solidFill>
          <a:ln w="12700">
            <a:solidFill>
              <a:srgbClr val="1565C0"/>
            </a:solidFill>
            <a:prstDash val="solid"/>
          </a:ln>
        </p:spPr>
      </p:sp>
      <p:sp>
        <p:nvSpPr>
          <p:cNvPr id="3" name="Shape 1"/>
          <p:cNvSpPr/>
          <p:nvPr/>
        </p:nvSpPr>
        <p:spPr>
          <a:xfrm>
            <a:off x="487680" y="170688"/>
            <a:ext cx="877824" cy="609600"/>
          </a:xfrm>
          <a:prstGeom prst="rect">
            <a:avLst/>
          </a:prstGeom>
          <a:solidFill>
            <a:srgbClr val="1565C0"/>
          </a:solidFill>
          <a:ln w="12700">
            <a:solidFill>
              <a:srgbClr val="1565C0"/>
            </a:solidFill>
            <a:prstDash val="solid"/>
          </a:ln>
        </p:spPr>
      </p:sp>
      <p:sp>
        <p:nvSpPr>
          <p:cNvPr id="4" name="Text 2"/>
          <p:cNvSpPr/>
          <p:nvPr/>
        </p:nvSpPr>
        <p:spPr>
          <a:xfrm>
            <a:off x="487680" y="170688"/>
            <a:ext cx="877824" cy="60960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Ex 1</a:t>
            </a:r>
            <a:endParaRPr lang="en-US" sz="1467" dirty="0"/>
          </a:p>
        </p:txBody>
      </p:sp>
      <p:sp>
        <p:nvSpPr>
          <p:cNvPr id="5" name="Text 3"/>
          <p:cNvSpPr/>
          <p:nvPr/>
        </p:nvSpPr>
        <p:spPr>
          <a:xfrm>
            <a:off x="1511808" y="195072"/>
            <a:ext cx="10192512" cy="609600"/>
          </a:xfrm>
          <a:prstGeom prst="rect">
            <a:avLst/>
          </a:prstGeom>
          <a:noFill/>
          <a:ln/>
        </p:spPr>
        <p:txBody>
          <a:bodyPr wrap="square" lIns="0" tIns="0" rIns="0" bIns="0" rtlCol="0" anchor="ctr"/>
          <a:lstStyle/>
          <a:p>
            <a:endParaRPr lang="en-US" sz="2933" b="1" dirty="0">
              <a:solidFill>
                <a:srgbClr val="0D1B2A"/>
              </a:solidFill>
              <a:latin typeface="Calibri" pitchFamily="34" charset="0"/>
              <a:ea typeface="Calibri" pitchFamily="34" charset="-122"/>
              <a:cs typeface="Calibri" pitchFamily="34" charset="-120"/>
            </a:endParaRPr>
          </a:p>
          <a:p>
            <a:r>
              <a:rPr lang="en-US" sz="2933" b="1" dirty="0">
                <a:solidFill>
                  <a:srgbClr val="0D1B2A"/>
                </a:solidFill>
                <a:latin typeface="Calibri" pitchFamily="34" charset="0"/>
                <a:ea typeface="Calibri" pitchFamily="34" charset="-122"/>
                <a:cs typeface="Calibri" pitchFamily="34" charset="-120"/>
              </a:rPr>
              <a:t>match() — 'dogs walk on the beach'</a:t>
            </a:r>
          </a:p>
          <a:p>
            <a:endParaRPr lang="en-US" sz="2933" b="1" dirty="0">
              <a:solidFill>
                <a:srgbClr val="0D1B2A"/>
              </a:solidFill>
              <a:latin typeface="Calibri" pitchFamily="34" charset="0"/>
              <a:ea typeface="Calibri" pitchFamily="34" charset="-122"/>
              <a:cs typeface="Calibri" pitchFamily="34" charset="-120"/>
            </a:endParaRPr>
          </a:p>
        </p:txBody>
      </p:sp>
      <p:sp>
        <p:nvSpPr>
          <p:cNvPr id="6" name="Shape 4"/>
          <p:cNvSpPr/>
          <p:nvPr/>
        </p:nvSpPr>
        <p:spPr>
          <a:xfrm>
            <a:off x="487680" y="877824"/>
            <a:ext cx="11216640" cy="534872"/>
          </a:xfrm>
          <a:prstGeom prst="rect">
            <a:avLst/>
          </a:prstGeom>
          <a:solidFill>
            <a:srgbClr val="E3F2FD"/>
          </a:solidFill>
          <a:ln w="10160">
            <a:solidFill>
              <a:srgbClr val="1565C0"/>
            </a:solidFill>
            <a:prstDash val="solid"/>
          </a:ln>
        </p:spPr>
      </p:sp>
      <p:sp>
        <p:nvSpPr>
          <p:cNvPr id="7" name="Text 5"/>
          <p:cNvSpPr/>
          <p:nvPr/>
        </p:nvSpPr>
        <p:spPr>
          <a:xfrm>
            <a:off x="658368" y="982384"/>
            <a:ext cx="10850880" cy="487680"/>
          </a:xfrm>
          <a:prstGeom prst="rect">
            <a:avLst/>
          </a:prstGeom>
          <a:noFill/>
          <a:ln/>
        </p:spPr>
        <p:txBody>
          <a:bodyPr wrap="square" lIns="0" tIns="0" rIns="0" bIns="0" rtlCol="0" anchor="ctr"/>
          <a:lstStyle/>
          <a:p>
            <a:r>
              <a:rPr lang="en-US" sz="1333" i="1" dirty="0">
                <a:solidFill>
                  <a:srgbClr val="1A237E"/>
                </a:solidFill>
                <a:latin typeface="Calibri" pitchFamily="34" charset="0"/>
                <a:ea typeface="Calibri" pitchFamily="34" charset="-122"/>
                <a:cs typeface="Calibri" pitchFamily="34" charset="-120"/>
              </a:rPr>
              <a:t>❓  Use the match() function to retrieve the best-matching image from the Flickr 8k validation set for the prompt 'dogs walk on the beach’. </a:t>
            </a:r>
          </a:p>
          <a:p>
            <a:r>
              <a:rPr lang="en-US" sz="1333" i="1" dirty="0">
                <a:solidFill>
                  <a:srgbClr val="1A237E"/>
                </a:solidFill>
                <a:latin typeface="Calibri" pitchFamily="34" charset="0"/>
                <a:ea typeface="Calibri" pitchFamily="34" charset="-122"/>
                <a:cs typeface="Calibri" pitchFamily="34" charset="-120"/>
              </a:rPr>
              <a:t>        Plot the selected image and display both the text prompt and the original caption above it.</a:t>
            </a:r>
          </a:p>
          <a:p>
            <a:endParaRPr lang="en-US" sz="1333" dirty="0"/>
          </a:p>
        </p:txBody>
      </p:sp>
      <p:sp>
        <p:nvSpPr>
          <p:cNvPr id="8" name="Shape 6"/>
          <p:cNvSpPr/>
          <p:nvPr/>
        </p:nvSpPr>
        <p:spPr>
          <a:xfrm>
            <a:off x="487680" y="1560574"/>
            <a:ext cx="11522810" cy="4686113"/>
          </a:xfrm>
          <a:prstGeom prst="rect">
            <a:avLst/>
          </a:prstGeom>
          <a:solidFill>
            <a:srgbClr val="1E2A3A"/>
          </a:solidFill>
          <a:ln w="10160">
            <a:solidFill>
              <a:srgbClr val="00E5FF"/>
            </a:solidFill>
            <a:prstDash val="solid"/>
          </a:ln>
        </p:spPr>
        <p:txBody>
          <a:bodyPr/>
          <a:lstStyle/>
          <a:p>
            <a:r>
              <a:rPr lang="en-US" sz="1310" dirty="0">
                <a:solidFill>
                  <a:srgbClr val="A8D8EA"/>
                </a:solidFill>
                <a:latin typeface="Consolas" pitchFamily="34" charset="0"/>
                <a:ea typeface="Consolas" pitchFamily="34" charset="-122"/>
                <a:cs typeface="Consolas" pitchFamily="34" charset="-120"/>
              </a:rPr>
              <a:t># Load trained model weights</a:t>
            </a:r>
          </a:p>
          <a:p>
            <a:r>
              <a:rPr lang="en-US" sz="1310" dirty="0">
                <a:solidFill>
                  <a:srgbClr val="A8D8EA"/>
                </a:solidFill>
                <a:latin typeface="Consolas" pitchFamily="34" charset="0"/>
                <a:ea typeface="Consolas" pitchFamily="34" charset="-122"/>
                <a:cs typeface="Consolas" pitchFamily="34" charset="-120"/>
              </a:rPr>
              <a:t>model = </a:t>
            </a:r>
            <a:r>
              <a:rPr lang="en-US" sz="1310" dirty="0" err="1">
                <a:solidFill>
                  <a:srgbClr val="A8D8EA"/>
                </a:solidFill>
                <a:latin typeface="Consolas" pitchFamily="34" charset="0"/>
                <a:ea typeface="Consolas" pitchFamily="34" charset="-122"/>
                <a:cs typeface="Consolas" pitchFamily="34" charset="-120"/>
              </a:rPr>
              <a:t>CLIPModel</a:t>
            </a:r>
            <a:r>
              <a:rPr lang="en-US" sz="1310" dirty="0">
                <a:solidFill>
                  <a:srgbClr val="A8D8EA"/>
                </a:solidFill>
                <a:latin typeface="Consolas" pitchFamily="34" charset="0"/>
                <a:ea typeface="Consolas" pitchFamily="34" charset="-122"/>
                <a:cs typeface="Consolas" pitchFamily="34" charset="-120"/>
              </a:rPr>
              <a:t>().to(</a:t>
            </a:r>
            <a:r>
              <a:rPr lang="en-US" sz="1310" dirty="0" err="1">
                <a:solidFill>
                  <a:srgbClr val="A8D8EA"/>
                </a:solidFill>
                <a:latin typeface="Consolas" pitchFamily="34" charset="0"/>
                <a:ea typeface="Consolas" pitchFamily="34" charset="-122"/>
                <a:cs typeface="Consolas" pitchFamily="34" charset="-120"/>
              </a:rPr>
              <a:t>CFG.device</a:t>
            </a:r>
            <a:r>
              <a:rPr lang="en-US" sz="1310" dirty="0">
                <a:solidFill>
                  <a:srgbClr val="A8D8EA"/>
                </a:solidFill>
                <a:latin typeface="Consolas" pitchFamily="34" charset="0"/>
                <a:ea typeface="Consolas" pitchFamily="34" charset="-122"/>
                <a:cs typeface="Consolas" pitchFamily="34" charset="-120"/>
              </a:rPr>
              <a:t>) # Instantiates the </a:t>
            </a:r>
            <a:r>
              <a:rPr lang="en-US" sz="1310" dirty="0" err="1">
                <a:solidFill>
                  <a:srgbClr val="A8D8EA"/>
                </a:solidFill>
                <a:latin typeface="Consolas" pitchFamily="34" charset="0"/>
                <a:ea typeface="Consolas" pitchFamily="34" charset="-122"/>
                <a:cs typeface="Consolas" pitchFamily="34" charset="-120"/>
              </a:rPr>
              <a:t>CLIPModel</a:t>
            </a:r>
            <a:r>
              <a:rPr lang="en-US" sz="1310" dirty="0">
                <a:solidFill>
                  <a:srgbClr val="A8D8EA"/>
                </a:solidFill>
                <a:latin typeface="Consolas" pitchFamily="34" charset="0"/>
                <a:ea typeface="Consolas" pitchFamily="34" charset="-122"/>
                <a:cs typeface="Consolas" pitchFamily="34" charset="-120"/>
              </a:rPr>
              <a:t> to create our CLIP model</a:t>
            </a:r>
          </a:p>
          <a:p>
            <a:r>
              <a:rPr lang="en-US" sz="1310" dirty="0" err="1">
                <a:solidFill>
                  <a:srgbClr val="A8D8EA"/>
                </a:solidFill>
                <a:latin typeface="Consolas" pitchFamily="34" charset="0"/>
                <a:ea typeface="Consolas" pitchFamily="34" charset="-122"/>
                <a:cs typeface="Consolas" pitchFamily="34" charset="-120"/>
              </a:rPr>
              <a:t>model.load_state_dict</a:t>
            </a:r>
            <a:r>
              <a:rPr lang="en-US" sz="1310" dirty="0">
                <a:solidFill>
                  <a:srgbClr val="A8D8EA"/>
                </a:solidFill>
                <a:latin typeface="Consolas" pitchFamily="34" charset="0"/>
                <a:ea typeface="Consolas" pitchFamily="34" charset="-122"/>
                <a:cs typeface="Consolas" pitchFamily="34" charset="-120"/>
              </a:rPr>
              <a:t>(</a:t>
            </a:r>
            <a:r>
              <a:rPr lang="en-US" sz="1310" dirty="0" err="1">
                <a:solidFill>
                  <a:srgbClr val="A8D8EA"/>
                </a:solidFill>
                <a:latin typeface="Consolas" pitchFamily="34" charset="0"/>
                <a:ea typeface="Consolas" pitchFamily="34" charset="-122"/>
                <a:cs typeface="Consolas" pitchFamily="34" charset="-120"/>
              </a:rPr>
              <a:t>torch.load</a:t>
            </a:r>
            <a:r>
              <a:rPr lang="en-US" sz="1310" dirty="0">
                <a:solidFill>
                  <a:srgbClr val="A8D8EA"/>
                </a:solidFill>
                <a:latin typeface="Consolas" pitchFamily="34" charset="0"/>
                <a:ea typeface="Consolas" pitchFamily="34" charset="-122"/>
                <a:cs typeface="Consolas" pitchFamily="34" charset="-120"/>
              </a:rPr>
              <a:t>("files/</a:t>
            </a:r>
            <a:r>
              <a:rPr lang="en-US" sz="1310" dirty="0" err="1">
                <a:solidFill>
                  <a:srgbClr val="A8D8EA"/>
                </a:solidFill>
                <a:latin typeface="Consolas" pitchFamily="34" charset="0"/>
                <a:ea typeface="Consolas" pitchFamily="34" charset="-122"/>
                <a:cs typeface="Consolas" pitchFamily="34" charset="-120"/>
              </a:rPr>
              <a:t>best.pth</a:t>
            </a:r>
            <a:r>
              <a:rPr lang="en-US" sz="1310" dirty="0">
                <a:solidFill>
                  <a:srgbClr val="A8D8EA"/>
                </a:solidFill>
                <a:latin typeface="Consolas" pitchFamily="34" charset="0"/>
                <a:ea typeface="Consolas" pitchFamily="34" charset="-122"/>
                <a:cs typeface="Consolas" pitchFamily="34" charset="-120"/>
              </a:rPr>
              <a:t>", </a:t>
            </a:r>
            <a:r>
              <a:rPr lang="en-US" sz="1310" dirty="0" err="1">
                <a:solidFill>
                  <a:srgbClr val="A8D8EA"/>
                </a:solidFill>
                <a:latin typeface="Consolas" pitchFamily="34" charset="0"/>
                <a:ea typeface="Consolas" pitchFamily="34" charset="-122"/>
                <a:cs typeface="Consolas" pitchFamily="34" charset="-120"/>
              </a:rPr>
              <a:t>map_location</a:t>
            </a:r>
            <a:r>
              <a:rPr lang="en-US" sz="1310" dirty="0">
                <a:solidFill>
                  <a:srgbClr val="A8D8EA"/>
                </a:solidFill>
                <a:latin typeface="Consolas" pitchFamily="34" charset="0"/>
                <a:ea typeface="Consolas" pitchFamily="34" charset="-122"/>
                <a:cs typeface="Consolas" pitchFamily="34" charset="-120"/>
              </a:rPr>
              <a:t>=</a:t>
            </a:r>
            <a:r>
              <a:rPr lang="en-US" sz="1310" dirty="0" err="1">
                <a:solidFill>
                  <a:srgbClr val="A8D8EA"/>
                </a:solidFill>
                <a:latin typeface="Consolas" pitchFamily="34" charset="0"/>
                <a:ea typeface="Consolas" pitchFamily="34" charset="-122"/>
                <a:cs typeface="Consolas" pitchFamily="34" charset="-120"/>
              </a:rPr>
              <a:t>CFG.device</a:t>
            </a:r>
            <a:r>
              <a:rPr lang="en-US" sz="1310" dirty="0">
                <a:solidFill>
                  <a:srgbClr val="A8D8EA"/>
                </a:solidFill>
                <a:latin typeface="Consolas" pitchFamily="34" charset="0"/>
                <a:ea typeface="Consolas" pitchFamily="34" charset="-122"/>
                <a:cs typeface="Consolas" pitchFamily="34" charset="-120"/>
              </a:rPr>
              <a:t>))</a:t>
            </a:r>
          </a:p>
          <a:p>
            <a:r>
              <a:rPr lang="en-US" sz="1310" dirty="0" err="1">
                <a:solidFill>
                  <a:srgbClr val="A8D8EA"/>
                </a:solidFill>
                <a:latin typeface="Consolas" pitchFamily="34" charset="0"/>
                <a:ea typeface="Consolas" pitchFamily="34" charset="-122"/>
                <a:cs typeface="Consolas" pitchFamily="34" charset="-120"/>
              </a:rPr>
              <a:t>model.eval</a:t>
            </a:r>
            <a:r>
              <a:rPr lang="en-US" sz="1310" dirty="0">
                <a:solidFill>
                  <a:srgbClr val="A8D8EA"/>
                </a:solidFill>
                <a:latin typeface="Consolas" pitchFamily="34" charset="0"/>
                <a:ea typeface="Consolas" pitchFamily="34" charset="-122"/>
                <a:cs typeface="Consolas" pitchFamily="34" charset="-120"/>
              </a:rPr>
              <a:t>()</a:t>
            </a:r>
          </a:p>
          <a:p>
            <a:endParaRPr lang="en-US" sz="1310" dirty="0">
              <a:solidFill>
                <a:srgbClr val="A8D8EA"/>
              </a:solidFill>
              <a:latin typeface="Consolas" pitchFamily="34" charset="0"/>
              <a:ea typeface="Consolas" pitchFamily="34" charset="-122"/>
              <a:cs typeface="Consolas" pitchFamily="34" charset="-120"/>
            </a:endParaRPr>
          </a:p>
          <a:p>
            <a:r>
              <a:rPr lang="en-US" sz="1310" dirty="0">
                <a:solidFill>
                  <a:srgbClr val="A8D8EA"/>
                </a:solidFill>
                <a:latin typeface="Consolas" pitchFamily="34" charset="0"/>
                <a:ea typeface="Consolas" pitchFamily="34" charset="-122"/>
                <a:cs typeface="Consolas" pitchFamily="34" charset="-120"/>
              </a:rPr>
              <a:t># Compute image embeddings for the validation set</a:t>
            </a:r>
          </a:p>
          <a:p>
            <a:r>
              <a:rPr lang="en-US" sz="1310" dirty="0" err="1">
                <a:solidFill>
                  <a:srgbClr val="A8D8EA"/>
                </a:solidFill>
                <a:latin typeface="Consolas" pitchFamily="34" charset="0"/>
                <a:ea typeface="Consolas" pitchFamily="34" charset="-122"/>
                <a:cs typeface="Consolas" pitchFamily="34" charset="-120"/>
              </a:rPr>
              <a:t>image_embeds</a:t>
            </a:r>
            <a:r>
              <a:rPr lang="en-US" sz="1310" dirty="0">
                <a:solidFill>
                  <a:srgbClr val="A8D8EA"/>
                </a:solidFill>
                <a:latin typeface="Consolas" pitchFamily="34" charset="0"/>
                <a:ea typeface="Consolas" pitchFamily="34" charset="-122"/>
                <a:cs typeface="Consolas" pitchFamily="34" charset="-120"/>
              </a:rPr>
              <a:t> = []</a:t>
            </a:r>
          </a:p>
          <a:p>
            <a:r>
              <a:rPr lang="en-US" sz="1310" dirty="0">
                <a:solidFill>
                  <a:srgbClr val="A8D8EA"/>
                </a:solidFill>
                <a:latin typeface="Consolas" pitchFamily="34" charset="0"/>
                <a:ea typeface="Consolas" pitchFamily="34" charset="-122"/>
                <a:cs typeface="Consolas" pitchFamily="34" charset="-120"/>
              </a:rPr>
              <a:t>with </a:t>
            </a:r>
            <a:r>
              <a:rPr lang="en-US" sz="1310" dirty="0" err="1">
                <a:solidFill>
                  <a:srgbClr val="A8D8EA"/>
                </a:solidFill>
                <a:latin typeface="Consolas" pitchFamily="34" charset="0"/>
                <a:ea typeface="Consolas" pitchFamily="34" charset="-122"/>
                <a:cs typeface="Consolas" pitchFamily="34" charset="-120"/>
              </a:rPr>
              <a:t>torch.no_grad</a:t>
            </a:r>
            <a:r>
              <a:rPr lang="en-US" sz="1310" dirty="0">
                <a:solidFill>
                  <a:srgbClr val="A8D8EA"/>
                </a:solidFill>
                <a:latin typeface="Consolas" pitchFamily="34" charset="0"/>
                <a:ea typeface="Consolas" pitchFamily="34" charset="-122"/>
                <a:cs typeface="Consolas" pitchFamily="34" charset="-120"/>
              </a:rPr>
              <a:t>():</a:t>
            </a:r>
          </a:p>
          <a:p>
            <a:r>
              <a:rPr lang="en-US" sz="1310" dirty="0">
                <a:solidFill>
                  <a:srgbClr val="A8D8EA"/>
                </a:solidFill>
                <a:latin typeface="Consolas" pitchFamily="34" charset="0"/>
                <a:ea typeface="Consolas" pitchFamily="34" charset="-122"/>
                <a:cs typeface="Consolas" pitchFamily="34" charset="-120"/>
              </a:rPr>
              <a:t>    for batch in </a:t>
            </a:r>
            <a:r>
              <a:rPr lang="en-US" sz="1310" dirty="0" err="1">
                <a:solidFill>
                  <a:srgbClr val="A8D8EA"/>
                </a:solidFill>
                <a:latin typeface="Consolas" pitchFamily="34" charset="0"/>
                <a:ea typeface="Consolas" pitchFamily="34" charset="-122"/>
                <a:cs typeface="Consolas" pitchFamily="34" charset="-120"/>
              </a:rPr>
              <a:t>tqdm</a:t>
            </a:r>
            <a:r>
              <a:rPr lang="en-US" sz="1310" dirty="0">
                <a:solidFill>
                  <a:srgbClr val="A8D8EA"/>
                </a:solidFill>
                <a:latin typeface="Consolas" pitchFamily="34" charset="0"/>
                <a:ea typeface="Consolas" pitchFamily="34" charset="-122"/>
                <a:cs typeface="Consolas" pitchFamily="34" charset="-120"/>
              </a:rPr>
              <a:t>(</a:t>
            </a:r>
            <a:r>
              <a:rPr lang="en-US" sz="1310" dirty="0" err="1">
                <a:solidFill>
                  <a:srgbClr val="A8D8EA"/>
                </a:solidFill>
                <a:latin typeface="Consolas" pitchFamily="34" charset="0"/>
                <a:ea typeface="Consolas" pitchFamily="34" charset="-122"/>
                <a:cs typeface="Consolas" pitchFamily="34" charset="-120"/>
              </a:rPr>
              <a:t>valloader</a:t>
            </a:r>
            <a:r>
              <a:rPr lang="en-US" sz="1310" dirty="0">
                <a:solidFill>
                  <a:srgbClr val="A8D8EA"/>
                </a:solidFill>
                <a:latin typeface="Consolas" pitchFamily="34" charset="0"/>
                <a:ea typeface="Consolas" pitchFamily="34" charset="-122"/>
                <a:cs typeface="Consolas" pitchFamily="34" charset="-120"/>
              </a:rPr>
              <a:t>):</a:t>
            </a:r>
          </a:p>
          <a:p>
            <a:r>
              <a:rPr lang="en-US" sz="1310" dirty="0">
                <a:solidFill>
                  <a:srgbClr val="A8D8EA"/>
                </a:solidFill>
                <a:latin typeface="Consolas" pitchFamily="34" charset="0"/>
                <a:ea typeface="Consolas" pitchFamily="34" charset="-122"/>
                <a:cs typeface="Consolas" pitchFamily="34" charset="-120"/>
              </a:rPr>
              <a:t>        </a:t>
            </a:r>
            <a:r>
              <a:rPr lang="en-US" sz="1310" dirty="0" err="1">
                <a:solidFill>
                  <a:srgbClr val="A8D8EA"/>
                </a:solidFill>
                <a:latin typeface="Consolas" pitchFamily="34" charset="0"/>
                <a:ea typeface="Consolas" pitchFamily="34" charset="-122"/>
                <a:cs typeface="Consolas" pitchFamily="34" charset="-120"/>
              </a:rPr>
              <a:t>image_features</a:t>
            </a:r>
            <a:r>
              <a:rPr lang="en-US" sz="1310" dirty="0">
                <a:solidFill>
                  <a:srgbClr val="A8D8EA"/>
                </a:solidFill>
                <a:latin typeface="Consolas" pitchFamily="34" charset="0"/>
                <a:ea typeface="Consolas" pitchFamily="34" charset="-122"/>
                <a:cs typeface="Consolas" pitchFamily="34" charset="-120"/>
              </a:rPr>
              <a:t> = </a:t>
            </a:r>
            <a:r>
              <a:rPr lang="en-US" sz="1310" dirty="0" err="1">
                <a:solidFill>
                  <a:srgbClr val="A8D8EA"/>
                </a:solidFill>
                <a:latin typeface="Consolas" pitchFamily="34" charset="0"/>
                <a:ea typeface="Consolas" pitchFamily="34" charset="-122"/>
                <a:cs typeface="Consolas" pitchFamily="34" charset="-120"/>
              </a:rPr>
              <a:t>model.image_encoder</a:t>
            </a:r>
            <a:r>
              <a:rPr lang="en-US" sz="1310" dirty="0">
                <a:solidFill>
                  <a:srgbClr val="A8D8EA"/>
                </a:solidFill>
                <a:latin typeface="Consolas" pitchFamily="34" charset="0"/>
                <a:ea typeface="Consolas" pitchFamily="34" charset="-122"/>
                <a:cs typeface="Consolas" pitchFamily="34" charset="-120"/>
              </a:rPr>
              <a:t>(batch["image"].to(</a:t>
            </a:r>
            <a:r>
              <a:rPr lang="en-US" sz="1310" dirty="0" err="1">
                <a:solidFill>
                  <a:srgbClr val="A8D8EA"/>
                </a:solidFill>
                <a:latin typeface="Consolas" pitchFamily="34" charset="0"/>
                <a:ea typeface="Consolas" pitchFamily="34" charset="-122"/>
                <a:cs typeface="Consolas" pitchFamily="34" charset="-120"/>
              </a:rPr>
              <a:t>CFG.device</a:t>
            </a:r>
            <a:r>
              <a:rPr lang="en-US" sz="1310" dirty="0">
                <a:solidFill>
                  <a:srgbClr val="A8D8EA"/>
                </a:solidFill>
                <a:latin typeface="Consolas" pitchFamily="34" charset="0"/>
                <a:ea typeface="Consolas" pitchFamily="34" charset="-122"/>
                <a:cs typeface="Consolas" pitchFamily="34" charset="-120"/>
              </a:rPr>
              <a:t>))</a:t>
            </a:r>
          </a:p>
          <a:p>
            <a:r>
              <a:rPr lang="en-US" sz="1310" dirty="0">
                <a:solidFill>
                  <a:srgbClr val="A8D8EA"/>
                </a:solidFill>
                <a:latin typeface="Consolas" pitchFamily="34" charset="0"/>
                <a:ea typeface="Consolas" pitchFamily="34" charset="-122"/>
                <a:cs typeface="Consolas" pitchFamily="34" charset="-120"/>
              </a:rPr>
              <a:t>        </a:t>
            </a:r>
            <a:r>
              <a:rPr lang="en-US" sz="1310" dirty="0" err="1">
                <a:solidFill>
                  <a:srgbClr val="A8D8EA"/>
                </a:solidFill>
                <a:latin typeface="Consolas" pitchFamily="34" charset="0"/>
                <a:ea typeface="Consolas" pitchFamily="34" charset="-122"/>
                <a:cs typeface="Consolas" pitchFamily="34" charset="-120"/>
              </a:rPr>
              <a:t>image_embeds.append</a:t>
            </a:r>
            <a:r>
              <a:rPr lang="en-US" sz="1310" dirty="0">
                <a:solidFill>
                  <a:srgbClr val="A8D8EA"/>
                </a:solidFill>
                <a:latin typeface="Consolas" pitchFamily="34" charset="0"/>
                <a:ea typeface="Consolas" pitchFamily="34" charset="-122"/>
                <a:cs typeface="Consolas" pitchFamily="34" charset="-120"/>
              </a:rPr>
              <a:t>(</a:t>
            </a:r>
            <a:r>
              <a:rPr lang="en-US" sz="1310" dirty="0" err="1">
                <a:solidFill>
                  <a:srgbClr val="A8D8EA"/>
                </a:solidFill>
                <a:latin typeface="Consolas" pitchFamily="34" charset="0"/>
                <a:ea typeface="Consolas" pitchFamily="34" charset="-122"/>
                <a:cs typeface="Consolas" pitchFamily="34" charset="-120"/>
              </a:rPr>
              <a:t>model.image_projection</a:t>
            </a:r>
            <a:r>
              <a:rPr lang="en-US" sz="1310" dirty="0">
                <a:solidFill>
                  <a:srgbClr val="A8D8EA"/>
                </a:solidFill>
                <a:latin typeface="Consolas" pitchFamily="34" charset="0"/>
                <a:ea typeface="Consolas" pitchFamily="34" charset="-122"/>
                <a:cs typeface="Consolas" pitchFamily="34" charset="-120"/>
              </a:rPr>
              <a:t>(</a:t>
            </a:r>
            <a:r>
              <a:rPr lang="en-US" sz="1310" dirty="0" err="1">
                <a:solidFill>
                  <a:srgbClr val="A8D8EA"/>
                </a:solidFill>
                <a:latin typeface="Consolas" pitchFamily="34" charset="0"/>
                <a:ea typeface="Consolas" pitchFamily="34" charset="-122"/>
                <a:cs typeface="Consolas" pitchFamily="34" charset="-120"/>
              </a:rPr>
              <a:t>image_features</a:t>
            </a:r>
            <a:r>
              <a:rPr lang="en-US" sz="1310" dirty="0">
                <a:solidFill>
                  <a:srgbClr val="A8D8EA"/>
                </a:solidFill>
                <a:latin typeface="Consolas" pitchFamily="34" charset="0"/>
                <a:ea typeface="Consolas" pitchFamily="34" charset="-122"/>
                <a:cs typeface="Consolas" pitchFamily="34" charset="-120"/>
              </a:rPr>
              <a:t>))</a:t>
            </a:r>
          </a:p>
          <a:p>
            <a:r>
              <a:rPr lang="en-US" sz="1310" dirty="0" err="1">
                <a:solidFill>
                  <a:srgbClr val="A8D8EA"/>
                </a:solidFill>
                <a:latin typeface="Consolas" pitchFamily="34" charset="0"/>
                <a:ea typeface="Consolas" pitchFamily="34" charset="-122"/>
                <a:cs typeface="Consolas" pitchFamily="34" charset="-120"/>
              </a:rPr>
              <a:t>image_embeddings</a:t>
            </a:r>
            <a:r>
              <a:rPr lang="en-US" sz="1310" dirty="0">
                <a:solidFill>
                  <a:srgbClr val="A8D8EA"/>
                </a:solidFill>
                <a:latin typeface="Consolas" pitchFamily="34" charset="0"/>
                <a:ea typeface="Consolas" pitchFamily="34" charset="-122"/>
                <a:cs typeface="Consolas" pitchFamily="34" charset="-120"/>
              </a:rPr>
              <a:t> = torch.cat(</a:t>
            </a:r>
            <a:r>
              <a:rPr lang="en-US" sz="1310" dirty="0" err="1">
                <a:solidFill>
                  <a:srgbClr val="A8D8EA"/>
                </a:solidFill>
                <a:latin typeface="Consolas" pitchFamily="34" charset="0"/>
                <a:ea typeface="Consolas" pitchFamily="34" charset="-122"/>
                <a:cs typeface="Consolas" pitchFamily="34" charset="-120"/>
              </a:rPr>
              <a:t>image_embeds</a:t>
            </a:r>
            <a:r>
              <a:rPr lang="en-US" sz="1310" dirty="0">
                <a:solidFill>
                  <a:srgbClr val="A8D8EA"/>
                </a:solidFill>
                <a:latin typeface="Consolas" pitchFamily="34" charset="0"/>
                <a:ea typeface="Consolas" pitchFamily="34" charset="-122"/>
                <a:cs typeface="Consolas" pitchFamily="34" charset="-120"/>
              </a:rPr>
              <a:t>)</a:t>
            </a:r>
          </a:p>
          <a:p>
            <a:endParaRPr lang="en-US" sz="1310" dirty="0">
              <a:solidFill>
                <a:srgbClr val="A8D8EA"/>
              </a:solidFill>
              <a:latin typeface="Consolas" pitchFamily="34" charset="0"/>
              <a:ea typeface="Consolas" pitchFamily="34" charset="-122"/>
              <a:cs typeface="Consolas" pitchFamily="34" charset="-120"/>
            </a:endParaRPr>
          </a:p>
          <a:p>
            <a:r>
              <a:rPr lang="en-US" sz="1310" dirty="0">
                <a:solidFill>
                  <a:srgbClr val="A8D8EA"/>
                </a:solidFill>
                <a:latin typeface="Consolas" pitchFamily="34" charset="0"/>
                <a:ea typeface="Consolas" pitchFamily="34" charset="-122"/>
                <a:cs typeface="Consolas" pitchFamily="34" charset="-120"/>
              </a:rPr>
              <a:t># Copy the match() function from the lab</a:t>
            </a:r>
          </a:p>
          <a:p>
            <a:r>
              <a:rPr lang="en-US" sz="1310" dirty="0">
                <a:solidFill>
                  <a:srgbClr val="A8D8EA"/>
                </a:solidFill>
                <a:latin typeface="Consolas" pitchFamily="34" charset="0"/>
                <a:ea typeface="Consolas" pitchFamily="34" charset="-122"/>
                <a:cs typeface="Consolas" pitchFamily="34" charset="-120"/>
              </a:rPr>
              <a:t>def match(prompt):</a:t>
            </a:r>
          </a:p>
          <a:p>
            <a:r>
              <a:rPr lang="en-US" sz="1310" dirty="0">
                <a:solidFill>
                  <a:srgbClr val="A8D8EA"/>
                </a:solidFill>
                <a:latin typeface="Consolas" pitchFamily="34" charset="0"/>
                <a:ea typeface="Consolas" pitchFamily="34" charset="-122"/>
                <a:cs typeface="Consolas" pitchFamily="34" charset="-120"/>
              </a:rPr>
              <a:t>   ...</a:t>
            </a:r>
          </a:p>
          <a:p>
            <a:endParaRPr lang="en-US" sz="1310" dirty="0">
              <a:solidFill>
                <a:srgbClr val="A8D8EA"/>
              </a:solidFill>
              <a:latin typeface="Consolas" pitchFamily="34" charset="0"/>
              <a:ea typeface="Consolas" pitchFamily="34" charset="-122"/>
              <a:cs typeface="Consolas" pitchFamily="34" charset="-120"/>
            </a:endParaRPr>
          </a:p>
          <a:p>
            <a:r>
              <a:rPr lang="en-US" sz="1310" dirty="0">
                <a:solidFill>
                  <a:srgbClr val="A8D8EA"/>
                </a:solidFill>
                <a:latin typeface="Consolas" pitchFamily="34" charset="0"/>
                <a:ea typeface="Consolas" pitchFamily="34" charset="-122"/>
                <a:cs typeface="Consolas" pitchFamily="34" charset="-120"/>
              </a:rPr>
              <a:t>prompt = "dogs walk on the beach“</a:t>
            </a:r>
          </a:p>
          <a:p>
            <a:r>
              <a:rPr lang="en-US" sz="1310" dirty="0">
                <a:solidFill>
                  <a:srgbClr val="A8D8EA"/>
                </a:solidFill>
                <a:latin typeface="Consolas" pitchFamily="34" charset="0"/>
                <a:ea typeface="Consolas" pitchFamily="34" charset="-122"/>
                <a:cs typeface="Consolas" pitchFamily="34" charset="-120"/>
              </a:rPr>
              <a:t>file, cap = match(prompt) # Finds a match for the prompt</a:t>
            </a:r>
          </a:p>
          <a:p>
            <a:r>
              <a:rPr lang="en-US" sz="1310" dirty="0" err="1">
                <a:solidFill>
                  <a:srgbClr val="A8D8EA"/>
                </a:solidFill>
                <a:latin typeface="Consolas" pitchFamily="34" charset="0"/>
                <a:ea typeface="Consolas" pitchFamily="34" charset="-122"/>
                <a:cs typeface="Consolas" pitchFamily="34" charset="-120"/>
              </a:rPr>
              <a:t>plt.imshow</a:t>
            </a:r>
            <a:r>
              <a:rPr lang="en-US" sz="1310" dirty="0">
                <a:solidFill>
                  <a:srgbClr val="A8D8EA"/>
                </a:solidFill>
                <a:latin typeface="Consolas" pitchFamily="34" charset="0"/>
                <a:ea typeface="Consolas" pitchFamily="34" charset="-122"/>
                <a:cs typeface="Consolas" pitchFamily="34" charset="-120"/>
              </a:rPr>
              <a:t>(</a:t>
            </a:r>
            <a:r>
              <a:rPr lang="en-US" sz="1310" dirty="0" err="1">
                <a:solidFill>
                  <a:srgbClr val="A8D8EA"/>
                </a:solidFill>
                <a:latin typeface="Consolas" pitchFamily="34" charset="0"/>
                <a:ea typeface="Consolas" pitchFamily="34" charset="-122"/>
                <a:cs typeface="Consolas" pitchFamily="34" charset="-120"/>
              </a:rPr>
              <a:t>PIL.Image.open</a:t>
            </a:r>
            <a:r>
              <a:rPr lang="en-US" sz="1310" dirty="0">
                <a:solidFill>
                  <a:srgbClr val="A8D8EA"/>
                </a:solidFill>
                <a:latin typeface="Consolas" pitchFamily="34" charset="0"/>
                <a:ea typeface="Consolas" pitchFamily="34" charset="-122"/>
                <a:cs typeface="Consolas" pitchFamily="34" charset="-120"/>
              </a:rPr>
              <a:t>(</a:t>
            </a:r>
            <a:r>
              <a:rPr lang="en-US" sz="1310" dirty="0" err="1">
                <a:solidFill>
                  <a:srgbClr val="A8D8EA"/>
                </a:solidFill>
                <a:latin typeface="Consolas" pitchFamily="34" charset="0"/>
                <a:ea typeface="Consolas" pitchFamily="34" charset="-122"/>
                <a:cs typeface="Consolas" pitchFamily="34" charset="-120"/>
              </a:rPr>
              <a:t>rf"files</a:t>
            </a:r>
            <a:r>
              <a:rPr lang="en-US" sz="1310" dirty="0">
                <a:solidFill>
                  <a:srgbClr val="A8D8EA"/>
                </a:solidFill>
                <a:latin typeface="Consolas" pitchFamily="34" charset="0"/>
                <a:ea typeface="Consolas" pitchFamily="34" charset="-122"/>
                <a:cs typeface="Consolas" pitchFamily="34" charset="-120"/>
              </a:rPr>
              <a:t>/Images/{file}"))</a:t>
            </a:r>
          </a:p>
          <a:p>
            <a:r>
              <a:rPr lang="en-US" sz="1310" dirty="0" err="1">
                <a:solidFill>
                  <a:srgbClr val="A8D8EA"/>
                </a:solidFill>
                <a:latin typeface="Consolas" pitchFamily="34" charset="0"/>
                <a:ea typeface="Consolas" pitchFamily="34" charset="-122"/>
                <a:cs typeface="Consolas" pitchFamily="34" charset="-120"/>
              </a:rPr>
              <a:t>plt.title</a:t>
            </a:r>
            <a:r>
              <a:rPr lang="en-US" sz="1310" dirty="0">
                <a:solidFill>
                  <a:srgbClr val="A8D8EA"/>
                </a:solidFill>
                <a:latin typeface="Consolas" pitchFamily="34" charset="0"/>
                <a:ea typeface="Consolas" pitchFamily="34" charset="-122"/>
                <a:cs typeface="Consolas" pitchFamily="34" charset="-120"/>
              </a:rPr>
              <a:t>(</a:t>
            </a:r>
            <a:r>
              <a:rPr lang="en-US" sz="1310" dirty="0" err="1">
                <a:solidFill>
                  <a:srgbClr val="A8D8EA"/>
                </a:solidFill>
                <a:latin typeface="Consolas" pitchFamily="34" charset="0"/>
                <a:ea typeface="Consolas" pitchFamily="34" charset="-122"/>
                <a:cs typeface="Consolas" pitchFamily="34" charset="-120"/>
              </a:rPr>
              <a:t>f"Prompt</a:t>
            </a:r>
            <a:r>
              <a:rPr lang="en-US" sz="1310" dirty="0">
                <a:solidFill>
                  <a:srgbClr val="A8D8EA"/>
                </a:solidFill>
                <a:latin typeface="Consolas" pitchFamily="34" charset="0"/>
                <a:ea typeface="Consolas" pitchFamily="34" charset="-122"/>
                <a:cs typeface="Consolas" pitchFamily="34" charset="-120"/>
              </a:rPr>
              <a:t>: {prompt}\</a:t>
            </a:r>
            <a:r>
              <a:rPr lang="en-US" sz="1310" dirty="0" err="1">
                <a:solidFill>
                  <a:srgbClr val="A8D8EA"/>
                </a:solidFill>
                <a:latin typeface="Consolas" pitchFamily="34" charset="0"/>
                <a:ea typeface="Consolas" pitchFamily="34" charset="-122"/>
                <a:cs typeface="Consolas" pitchFamily="34" charset="-120"/>
              </a:rPr>
              <a:t>nOriginal</a:t>
            </a:r>
            <a:r>
              <a:rPr lang="en-US" sz="1310" dirty="0">
                <a:solidFill>
                  <a:srgbClr val="A8D8EA"/>
                </a:solidFill>
                <a:latin typeface="Consolas" pitchFamily="34" charset="0"/>
                <a:ea typeface="Consolas" pitchFamily="34" charset="-122"/>
                <a:cs typeface="Consolas" pitchFamily="34" charset="-120"/>
              </a:rPr>
              <a:t> caption: {cap}") # Displays the selected image, the prompt, and the original caption</a:t>
            </a:r>
          </a:p>
          <a:p>
            <a:r>
              <a:rPr lang="en-US" sz="1310" dirty="0" err="1">
                <a:solidFill>
                  <a:srgbClr val="A8D8EA"/>
                </a:solidFill>
                <a:latin typeface="Consolas" pitchFamily="34" charset="0"/>
                <a:ea typeface="Consolas" pitchFamily="34" charset="-122"/>
                <a:cs typeface="Consolas" pitchFamily="34" charset="-120"/>
              </a:rPr>
              <a:t>plt.axis</a:t>
            </a:r>
            <a:r>
              <a:rPr lang="en-US" sz="1310" dirty="0">
                <a:solidFill>
                  <a:srgbClr val="A8D8EA"/>
                </a:solidFill>
                <a:latin typeface="Consolas" pitchFamily="34" charset="0"/>
                <a:ea typeface="Consolas" pitchFamily="34" charset="-122"/>
                <a:cs typeface="Consolas" pitchFamily="34" charset="-120"/>
              </a:rPr>
              <a:t>("off")</a:t>
            </a:r>
          </a:p>
          <a:p>
            <a:r>
              <a:rPr lang="en-US" sz="1310" dirty="0" err="1">
                <a:solidFill>
                  <a:srgbClr val="A8D8EA"/>
                </a:solidFill>
                <a:latin typeface="Consolas" pitchFamily="34" charset="0"/>
                <a:ea typeface="Consolas" pitchFamily="34" charset="-122"/>
                <a:cs typeface="Consolas" pitchFamily="34" charset="-120"/>
              </a:rPr>
              <a:t>plt.show</a:t>
            </a:r>
            <a:r>
              <a:rPr lang="en-US" sz="1310" dirty="0">
                <a:solidFill>
                  <a:srgbClr val="A8D8EA"/>
                </a:solidFill>
                <a:latin typeface="Consolas" pitchFamily="34" charset="0"/>
                <a:ea typeface="Consolas" pitchFamily="34" charset="-122"/>
                <a:cs typeface="Consolas" pitchFamily="34" charset="-120"/>
              </a:rPr>
              <a:t>()</a:t>
            </a:r>
          </a:p>
          <a:p>
            <a:endParaRPr lang="en-US" sz="1310" dirty="0"/>
          </a:p>
        </p:txBody>
      </p:sp>
      <p:sp>
        <p:nvSpPr>
          <p:cNvPr id="9" name="Text 7"/>
          <p:cNvSpPr/>
          <p:nvPr/>
        </p:nvSpPr>
        <p:spPr>
          <a:xfrm>
            <a:off x="658368" y="1682496"/>
            <a:ext cx="10875264" cy="2877312"/>
          </a:xfrm>
          <a:prstGeom prst="rect">
            <a:avLst/>
          </a:prstGeom>
          <a:noFill/>
          <a:ln/>
        </p:spPr>
        <p:txBody>
          <a:bodyPr wrap="square" lIns="0" tIns="0" rIns="0" bIns="0" rtlCol="0" anchor="t"/>
          <a:lstStyle/>
          <a:p>
            <a:endParaRPr lang="en-US" sz="1307"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5FEF9-B1E1-CD17-3E4D-FDBC29EC8CE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D1EADE9-400A-05BE-26AA-4E15CA9E8E54}"/>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3" name="Shape 1">
            <a:extLst>
              <a:ext uri="{FF2B5EF4-FFF2-40B4-BE49-F238E27FC236}">
                <a16:creationId xmlns:a16="http://schemas.microsoft.com/office/drawing/2014/main" id="{4693839A-2414-AACE-BACE-5FD77E3C1B4D}"/>
              </a:ext>
            </a:extLst>
          </p:cNvPr>
          <p:cNvSpPr/>
          <p:nvPr/>
        </p:nvSpPr>
        <p:spPr>
          <a:xfrm>
            <a:off x="487680" y="170688"/>
            <a:ext cx="877824" cy="609600"/>
          </a:xfrm>
          <a:prstGeom prst="rect">
            <a:avLst/>
          </a:prstGeom>
          <a:solidFill>
            <a:srgbClr val="1565C0"/>
          </a:solidFill>
          <a:ln w="12700">
            <a:solidFill>
              <a:srgbClr val="1565C0"/>
            </a:solidFill>
            <a:prstDash val="solid"/>
          </a:ln>
        </p:spPr>
      </p:sp>
      <p:sp>
        <p:nvSpPr>
          <p:cNvPr id="4" name="Text 2">
            <a:extLst>
              <a:ext uri="{FF2B5EF4-FFF2-40B4-BE49-F238E27FC236}">
                <a16:creationId xmlns:a16="http://schemas.microsoft.com/office/drawing/2014/main" id="{F257E927-3A85-13A1-C858-78A7F5191C78}"/>
              </a:ext>
            </a:extLst>
          </p:cNvPr>
          <p:cNvSpPr/>
          <p:nvPr/>
        </p:nvSpPr>
        <p:spPr>
          <a:xfrm>
            <a:off x="487680" y="170688"/>
            <a:ext cx="877824" cy="60960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Ex 1</a:t>
            </a:r>
            <a:endParaRPr lang="en-US" sz="1467" dirty="0"/>
          </a:p>
        </p:txBody>
      </p:sp>
      <p:sp>
        <p:nvSpPr>
          <p:cNvPr id="5" name="Text 3">
            <a:extLst>
              <a:ext uri="{FF2B5EF4-FFF2-40B4-BE49-F238E27FC236}">
                <a16:creationId xmlns:a16="http://schemas.microsoft.com/office/drawing/2014/main" id="{EFF4D6CE-E924-BDAD-8A16-935A3C5C9791}"/>
              </a:ext>
            </a:extLst>
          </p:cNvPr>
          <p:cNvSpPr/>
          <p:nvPr/>
        </p:nvSpPr>
        <p:spPr>
          <a:xfrm>
            <a:off x="1511808" y="195072"/>
            <a:ext cx="10192512" cy="609600"/>
          </a:xfrm>
          <a:prstGeom prst="rect">
            <a:avLst/>
          </a:prstGeom>
          <a:noFill/>
          <a:ln/>
        </p:spPr>
        <p:txBody>
          <a:bodyPr wrap="square" lIns="0" tIns="0" rIns="0" bIns="0" rtlCol="0" anchor="ctr"/>
          <a:lstStyle/>
          <a:p>
            <a:endParaRPr lang="en-US" sz="2933" b="1" dirty="0">
              <a:solidFill>
                <a:srgbClr val="0D1B2A"/>
              </a:solidFill>
              <a:latin typeface="Calibri" pitchFamily="34" charset="0"/>
              <a:ea typeface="Calibri" pitchFamily="34" charset="-122"/>
              <a:cs typeface="Calibri" pitchFamily="34" charset="-120"/>
            </a:endParaRPr>
          </a:p>
          <a:p>
            <a:r>
              <a:rPr lang="en-US" sz="2933" b="1" dirty="0">
                <a:solidFill>
                  <a:srgbClr val="0D1B2A"/>
                </a:solidFill>
                <a:latin typeface="Calibri" pitchFamily="34" charset="0"/>
                <a:ea typeface="Calibri" pitchFamily="34" charset="-122"/>
                <a:cs typeface="Calibri" pitchFamily="34" charset="-120"/>
              </a:rPr>
              <a:t>match() — 'dogs walk on the beach'</a:t>
            </a:r>
          </a:p>
          <a:p>
            <a:endParaRPr lang="en-US" sz="2933" b="1" dirty="0">
              <a:solidFill>
                <a:srgbClr val="0D1B2A"/>
              </a:solidFill>
              <a:latin typeface="Calibri" pitchFamily="34" charset="0"/>
              <a:ea typeface="Calibri" pitchFamily="34" charset="-122"/>
              <a:cs typeface="Calibri" pitchFamily="34" charset="-120"/>
            </a:endParaRPr>
          </a:p>
        </p:txBody>
      </p:sp>
      <p:sp>
        <p:nvSpPr>
          <p:cNvPr id="6" name="Shape 4">
            <a:extLst>
              <a:ext uri="{FF2B5EF4-FFF2-40B4-BE49-F238E27FC236}">
                <a16:creationId xmlns:a16="http://schemas.microsoft.com/office/drawing/2014/main" id="{53922233-01D1-8A35-6409-CFC42AB31958}"/>
              </a:ext>
            </a:extLst>
          </p:cNvPr>
          <p:cNvSpPr/>
          <p:nvPr/>
        </p:nvSpPr>
        <p:spPr>
          <a:xfrm>
            <a:off x="487680" y="877824"/>
            <a:ext cx="11216640" cy="534872"/>
          </a:xfrm>
          <a:prstGeom prst="rect">
            <a:avLst/>
          </a:prstGeom>
          <a:solidFill>
            <a:srgbClr val="E3F2FD"/>
          </a:solidFill>
          <a:ln w="10160">
            <a:solidFill>
              <a:srgbClr val="1565C0"/>
            </a:solidFill>
            <a:prstDash val="solid"/>
          </a:ln>
        </p:spPr>
      </p:sp>
      <p:sp>
        <p:nvSpPr>
          <p:cNvPr id="7" name="Text 5">
            <a:extLst>
              <a:ext uri="{FF2B5EF4-FFF2-40B4-BE49-F238E27FC236}">
                <a16:creationId xmlns:a16="http://schemas.microsoft.com/office/drawing/2014/main" id="{B5E9B155-86D6-3B6E-AE6E-6E930859A0B4}"/>
              </a:ext>
            </a:extLst>
          </p:cNvPr>
          <p:cNvSpPr/>
          <p:nvPr/>
        </p:nvSpPr>
        <p:spPr>
          <a:xfrm>
            <a:off x="658368" y="982384"/>
            <a:ext cx="10850880" cy="487680"/>
          </a:xfrm>
          <a:prstGeom prst="rect">
            <a:avLst/>
          </a:prstGeom>
          <a:noFill/>
          <a:ln/>
        </p:spPr>
        <p:txBody>
          <a:bodyPr wrap="square" lIns="0" tIns="0" rIns="0" bIns="0" rtlCol="0" anchor="ctr"/>
          <a:lstStyle/>
          <a:p>
            <a:r>
              <a:rPr lang="en-US" sz="1333" i="1" dirty="0">
                <a:solidFill>
                  <a:srgbClr val="1A237E"/>
                </a:solidFill>
                <a:latin typeface="Calibri" pitchFamily="34" charset="0"/>
                <a:ea typeface="Calibri" pitchFamily="34" charset="-122"/>
                <a:cs typeface="Calibri" pitchFamily="34" charset="-120"/>
              </a:rPr>
              <a:t>❓  Use the match() function to retrieve the best-matching image from the Flickr 8k validation set for the prompt 'dogs walk on the beach’. </a:t>
            </a:r>
          </a:p>
          <a:p>
            <a:r>
              <a:rPr lang="en-US" sz="1333" i="1" dirty="0">
                <a:solidFill>
                  <a:srgbClr val="1A237E"/>
                </a:solidFill>
                <a:latin typeface="Calibri" pitchFamily="34" charset="0"/>
                <a:ea typeface="Calibri" pitchFamily="34" charset="-122"/>
                <a:cs typeface="Calibri" pitchFamily="34" charset="-120"/>
              </a:rPr>
              <a:t>        Plot the selected image and display both the text prompt and the original caption above it.</a:t>
            </a:r>
          </a:p>
          <a:p>
            <a:endParaRPr lang="en-US" sz="1333" dirty="0"/>
          </a:p>
        </p:txBody>
      </p:sp>
      <p:pic>
        <p:nvPicPr>
          <p:cNvPr id="12" name="Picture 11">
            <a:extLst>
              <a:ext uri="{FF2B5EF4-FFF2-40B4-BE49-F238E27FC236}">
                <a16:creationId xmlns:a16="http://schemas.microsoft.com/office/drawing/2014/main" id="{514AC6DB-E80D-5870-3ACB-4AF2CC9720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31284" y="1765854"/>
            <a:ext cx="6529432" cy="4897074"/>
          </a:xfrm>
          <a:prstGeom prst="rect">
            <a:avLst/>
          </a:prstGeom>
        </p:spPr>
      </p:pic>
    </p:spTree>
    <p:extLst>
      <p:ext uri="{BB962C8B-B14F-4D97-AF65-F5344CB8AC3E}">
        <p14:creationId xmlns:p14="http://schemas.microsoft.com/office/powerpoint/2010/main" val="31865196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7536"/>
          </a:xfrm>
          <a:prstGeom prst="rect">
            <a:avLst/>
          </a:prstGeom>
          <a:solidFill>
            <a:srgbClr val="1565C0"/>
          </a:solidFill>
          <a:ln w="12700">
            <a:solidFill>
              <a:srgbClr val="1565C0"/>
            </a:solidFill>
            <a:prstDash val="solid"/>
          </a:ln>
        </p:spPr>
      </p:sp>
      <p:sp>
        <p:nvSpPr>
          <p:cNvPr id="3" name="Shape 1"/>
          <p:cNvSpPr/>
          <p:nvPr/>
        </p:nvSpPr>
        <p:spPr>
          <a:xfrm>
            <a:off x="487680" y="170688"/>
            <a:ext cx="877824" cy="609600"/>
          </a:xfrm>
          <a:prstGeom prst="rect">
            <a:avLst/>
          </a:prstGeom>
          <a:solidFill>
            <a:srgbClr val="1565C0"/>
          </a:solidFill>
          <a:ln w="12700">
            <a:solidFill>
              <a:srgbClr val="1565C0"/>
            </a:solidFill>
            <a:prstDash val="solid"/>
          </a:ln>
        </p:spPr>
      </p:sp>
      <p:sp>
        <p:nvSpPr>
          <p:cNvPr id="4" name="Text 2"/>
          <p:cNvSpPr/>
          <p:nvPr/>
        </p:nvSpPr>
        <p:spPr>
          <a:xfrm>
            <a:off x="487680" y="170688"/>
            <a:ext cx="877824" cy="60960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Ex 2</a:t>
            </a:r>
            <a:endParaRPr lang="en-US" sz="1467" dirty="0"/>
          </a:p>
        </p:txBody>
      </p:sp>
      <p:sp>
        <p:nvSpPr>
          <p:cNvPr id="5" name="Text 3"/>
          <p:cNvSpPr/>
          <p:nvPr/>
        </p:nvSpPr>
        <p:spPr>
          <a:xfrm>
            <a:off x="1511808" y="195072"/>
            <a:ext cx="10192512" cy="609600"/>
          </a:xfrm>
          <a:prstGeom prst="rect">
            <a:avLst/>
          </a:prstGeom>
          <a:noFill/>
          <a:ln/>
        </p:spPr>
        <p:txBody>
          <a:bodyPr wrap="square" lIns="0" tIns="0" rIns="0" bIns="0" rtlCol="0" anchor="ctr"/>
          <a:lstStyle/>
          <a:p>
            <a:r>
              <a:rPr lang="en-US" sz="2933" b="1" dirty="0" err="1">
                <a:solidFill>
                  <a:srgbClr val="0D1B2A"/>
                </a:solidFill>
                <a:latin typeface="Calibri" pitchFamily="34" charset="0"/>
                <a:ea typeface="Calibri" pitchFamily="34" charset="-122"/>
                <a:cs typeface="Calibri" pitchFamily="34" charset="-120"/>
              </a:rPr>
              <a:t>find_match</a:t>
            </a:r>
            <a:r>
              <a:rPr lang="en-US" sz="2933" b="1" dirty="0">
                <a:solidFill>
                  <a:srgbClr val="0D1B2A"/>
                </a:solidFill>
                <a:latin typeface="Calibri" pitchFamily="34" charset="0"/>
                <a:ea typeface="Calibri" pitchFamily="34" charset="-122"/>
                <a:cs typeface="Calibri" pitchFamily="34" charset="-120"/>
              </a:rPr>
              <a:t>() — 'people shopping on the street'</a:t>
            </a:r>
          </a:p>
        </p:txBody>
      </p:sp>
      <p:sp>
        <p:nvSpPr>
          <p:cNvPr id="6" name="Shape 4"/>
          <p:cNvSpPr/>
          <p:nvPr/>
        </p:nvSpPr>
        <p:spPr>
          <a:xfrm>
            <a:off x="487680" y="926592"/>
            <a:ext cx="11216640" cy="458190"/>
          </a:xfrm>
          <a:prstGeom prst="rect">
            <a:avLst/>
          </a:prstGeom>
          <a:solidFill>
            <a:srgbClr val="E3F2FD"/>
          </a:solidFill>
          <a:ln w="10160">
            <a:solidFill>
              <a:srgbClr val="1565C0"/>
            </a:solidFill>
            <a:prstDash val="solid"/>
          </a:ln>
        </p:spPr>
      </p:sp>
      <p:sp>
        <p:nvSpPr>
          <p:cNvPr id="7" name="Text 5"/>
          <p:cNvSpPr/>
          <p:nvPr/>
        </p:nvSpPr>
        <p:spPr>
          <a:xfrm>
            <a:off x="658368" y="1116558"/>
            <a:ext cx="10850880" cy="487680"/>
          </a:xfrm>
          <a:prstGeom prst="rect">
            <a:avLst/>
          </a:prstGeom>
          <a:noFill/>
          <a:ln/>
        </p:spPr>
        <p:txBody>
          <a:bodyPr wrap="square" lIns="0" tIns="0" rIns="0" bIns="0" rtlCol="0" anchor="ctr"/>
          <a:lstStyle/>
          <a:p>
            <a:r>
              <a:rPr lang="en-US" sz="1333" i="1" dirty="0">
                <a:solidFill>
                  <a:srgbClr val="1A237E"/>
                </a:solidFill>
                <a:latin typeface="Calibri" pitchFamily="34" charset="0"/>
                <a:ea typeface="Calibri" pitchFamily="34" charset="-122"/>
                <a:cs typeface="Calibri" pitchFamily="34" charset="-120"/>
              </a:rPr>
              <a:t>❓Use the OpenAI </a:t>
            </a:r>
            <a:r>
              <a:rPr lang="en-US" sz="1333" i="1" dirty="0" err="1">
                <a:solidFill>
                  <a:srgbClr val="1A237E"/>
                </a:solidFill>
                <a:latin typeface="Calibri" pitchFamily="34" charset="0"/>
                <a:ea typeface="Calibri" pitchFamily="34" charset="-122"/>
                <a:cs typeface="Calibri" pitchFamily="34" charset="-120"/>
              </a:rPr>
              <a:t>find_match</a:t>
            </a:r>
            <a:r>
              <a:rPr lang="en-US" sz="1333" i="1" dirty="0">
                <a:solidFill>
                  <a:srgbClr val="1A237E"/>
                </a:solidFill>
                <a:latin typeface="Calibri" pitchFamily="34" charset="0"/>
                <a:ea typeface="Calibri" pitchFamily="34" charset="-122"/>
                <a:cs typeface="Calibri" pitchFamily="34" charset="-120"/>
              </a:rPr>
              <a:t>() function to retrieve the top 5 best-matching images for the prompt 'people shopping on the street’. </a:t>
            </a:r>
          </a:p>
          <a:p>
            <a:r>
              <a:rPr lang="en-US" sz="1333" i="1" dirty="0">
                <a:solidFill>
                  <a:srgbClr val="1A237E"/>
                </a:solidFill>
                <a:latin typeface="Calibri" pitchFamily="34" charset="0"/>
                <a:ea typeface="Calibri" pitchFamily="34" charset="-122"/>
                <a:cs typeface="Calibri" pitchFamily="34" charset="-120"/>
              </a:rPr>
              <a:t>      Plot them in a 1×5 grid (leftmost = most similar).</a:t>
            </a:r>
          </a:p>
          <a:p>
            <a:endParaRPr lang="en-US" sz="1333" i="1" dirty="0">
              <a:solidFill>
                <a:srgbClr val="1A237E"/>
              </a:solidFill>
              <a:latin typeface="Calibri" pitchFamily="34" charset="0"/>
              <a:ea typeface="Calibri" pitchFamily="34" charset="-122"/>
              <a:cs typeface="Calibri" pitchFamily="34" charset="-120"/>
            </a:endParaRPr>
          </a:p>
          <a:p>
            <a:endParaRPr lang="en-US" sz="1333" dirty="0"/>
          </a:p>
        </p:txBody>
      </p:sp>
      <p:sp>
        <p:nvSpPr>
          <p:cNvPr id="8" name="Shape 6"/>
          <p:cNvSpPr/>
          <p:nvPr/>
        </p:nvSpPr>
        <p:spPr>
          <a:xfrm>
            <a:off x="487680" y="1560576"/>
            <a:ext cx="11216640" cy="4069662"/>
          </a:xfrm>
          <a:prstGeom prst="rect">
            <a:avLst/>
          </a:prstGeom>
          <a:solidFill>
            <a:srgbClr val="1E2A3A"/>
          </a:solidFill>
          <a:ln w="10160">
            <a:solidFill>
              <a:srgbClr val="00E5FF"/>
            </a:solidFill>
            <a:prstDash val="solid"/>
          </a:ln>
        </p:spPr>
        <p:txBody>
          <a:bodyPr/>
          <a:lstStyle/>
          <a:p>
            <a:r>
              <a:rPr lang="en-US" sz="1310" dirty="0">
                <a:solidFill>
                  <a:srgbClr val="A8D8EA"/>
                </a:solidFill>
                <a:latin typeface="Consolas" pitchFamily="34" charset="0"/>
                <a:ea typeface="Consolas" pitchFamily="34" charset="-122"/>
                <a:cs typeface="Consolas" pitchFamily="34" charset="-120"/>
              </a:rPr>
              <a:t># Setup: load OpenAI CLIP model</a:t>
            </a:r>
          </a:p>
          <a:p>
            <a:r>
              <a:rPr lang="en-US" sz="1310" dirty="0">
                <a:solidFill>
                  <a:srgbClr val="A8D8EA"/>
                </a:solidFill>
                <a:latin typeface="Consolas" pitchFamily="34" charset="0"/>
                <a:ea typeface="Consolas" pitchFamily="34" charset="-122"/>
                <a:cs typeface="Consolas" pitchFamily="34" charset="-120"/>
              </a:rPr>
              <a:t>device = "</a:t>
            </a:r>
            <a:r>
              <a:rPr lang="en-US" sz="1310" dirty="0" err="1">
                <a:solidFill>
                  <a:srgbClr val="A8D8EA"/>
                </a:solidFill>
                <a:latin typeface="Consolas" pitchFamily="34" charset="0"/>
                <a:ea typeface="Consolas" pitchFamily="34" charset="-122"/>
                <a:cs typeface="Consolas" pitchFamily="34" charset="-120"/>
              </a:rPr>
              <a:t>cuda</a:t>
            </a:r>
            <a:r>
              <a:rPr lang="en-US" sz="1310" dirty="0">
                <a:solidFill>
                  <a:srgbClr val="A8D8EA"/>
                </a:solidFill>
                <a:latin typeface="Consolas" pitchFamily="34" charset="0"/>
                <a:ea typeface="Consolas" pitchFamily="34" charset="-122"/>
                <a:cs typeface="Consolas" pitchFamily="34" charset="-120"/>
              </a:rPr>
              <a:t>" if </a:t>
            </a:r>
            <a:r>
              <a:rPr lang="en-US" sz="1310" dirty="0" err="1">
                <a:solidFill>
                  <a:srgbClr val="A8D8EA"/>
                </a:solidFill>
                <a:latin typeface="Consolas" pitchFamily="34" charset="0"/>
                <a:ea typeface="Consolas" pitchFamily="34" charset="-122"/>
                <a:cs typeface="Consolas" pitchFamily="34" charset="-120"/>
              </a:rPr>
              <a:t>torch.cuda.is_available</a:t>
            </a:r>
            <a:r>
              <a:rPr lang="en-US" sz="1310" dirty="0">
                <a:solidFill>
                  <a:srgbClr val="A8D8EA"/>
                </a:solidFill>
                <a:latin typeface="Consolas" pitchFamily="34" charset="0"/>
                <a:ea typeface="Consolas" pitchFamily="34" charset="-122"/>
                <a:cs typeface="Consolas" pitchFamily="34" charset="-120"/>
              </a:rPr>
              <a:t>() else "</a:t>
            </a:r>
            <a:r>
              <a:rPr lang="en-US" sz="1310" dirty="0" err="1">
                <a:solidFill>
                  <a:srgbClr val="A8D8EA"/>
                </a:solidFill>
                <a:latin typeface="Consolas" pitchFamily="34" charset="0"/>
                <a:ea typeface="Consolas" pitchFamily="34" charset="-122"/>
                <a:cs typeface="Consolas" pitchFamily="34" charset="-120"/>
              </a:rPr>
              <a:t>cpu</a:t>
            </a:r>
            <a:r>
              <a:rPr lang="en-US" sz="1310" dirty="0">
                <a:solidFill>
                  <a:srgbClr val="A8D8EA"/>
                </a:solidFill>
                <a:latin typeface="Consolas" pitchFamily="34" charset="0"/>
                <a:ea typeface="Consolas" pitchFamily="34" charset="-122"/>
                <a:cs typeface="Consolas" pitchFamily="34" charset="-120"/>
              </a:rPr>
              <a:t>"</a:t>
            </a:r>
          </a:p>
          <a:p>
            <a:r>
              <a:rPr lang="en-US" sz="1310" dirty="0" err="1">
                <a:solidFill>
                  <a:srgbClr val="A8D8EA"/>
                </a:solidFill>
                <a:latin typeface="Consolas" pitchFamily="34" charset="0"/>
                <a:ea typeface="Consolas" pitchFamily="34" charset="-122"/>
                <a:cs typeface="Consolas" pitchFamily="34" charset="-120"/>
              </a:rPr>
              <a:t>clip_model</a:t>
            </a:r>
            <a:r>
              <a:rPr lang="en-US" sz="1310" dirty="0">
                <a:solidFill>
                  <a:srgbClr val="A8D8EA"/>
                </a:solidFill>
                <a:latin typeface="Consolas" pitchFamily="34" charset="0"/>
                <a:ea typeface="Consolas" pitchFamily="34" charset="-122"/>
                <a:cs typeface="Consolas" pitchFamily="34" charset="-120"/>
              </a:rPr>
              <a:t>, preprocess = </a:t>
            </a:r>
            <a:r>
              <a:rPr lang="en-US" sz="1310" dirty="0" err="1">
                <a:solidFill>
                  <a:srgbClr val="A8D8EA"/>
                </a:solidFill>
                <a:latin typeface="Consolas" pitchFamily="34" charset="0"/>
                <a:ea typeface="Consolas" pitchFamily="34" charset="-122"/>
                <a:cs typeface="Consolas" pitchFamily="34" charset="-120"/>
              </a:rPr>
              <a:t>clip.load</a:t>
            </a:r>
            <a:r>
              <a:rPr lang="en-US" sz="1310" dirty="0">
                <a:solidFill>
                  <a:srgbClr val="A8D8EA"/>
                </a:solidFill>
                <a:latin typeface="Consolas" pitchFamily="34" charset="0"/>
                <a:ea typeface="Consolas" pitchFamily="34" charset="-122"/>
                <a:cs typeface="Consolas" pitchFamily="34" charset="-120"/>
              </a:rPr>
              <a:t>("</a:t>
            </a:r>
            <a:r>
              <a:rPr lang="en-US" sz="1310" dirty="0" err="1">
                <a:solidFill>
                  <a:srgbClr val="A8D8EA"/>
                </a:solidFill>
                <a:latin typeface="Consolas" pitchFamily="34" charset="0"/>
                <a:ea typeface="Consolas" pitchFamily="34" charset="-122"/>
                <a:cs typeface="Consolas" pitchFamily="34" charset="-120"/>
              </a:rPr>
              <a:t>ViT</a:t>
            </a:r>
            <a:r>
              <a:rPr lang="en-US" sz="1310" dirty="0">
                <a:solidFill>
                  <a:srgbClr val="A8D8EA"/>
                </a:solidFill>
                <a:latin typeface="Consolas" pitchFamily="34" charset="0"/>
                <a:ea typeface="Consolas" pitchFamily="34" charset="-122"/>
                <a:cs typeface="Consolas" pitchFamily="34" charset="-120"/>
              </a:rPr>
              <a:t>-B/32", device=device)</a:t>
            </a:r>
          </a:p>
          <a:p>
            <a:r>
              <a:rPr lang="en-US" sz="1310" dirty="0" err="1">
                <a:solidFill>
                  <a:srgbClr val="A8D8EA"/>
                </a:solidFill>
                <a:latin typeface="Consolas" pitchFamily="34" charset="0"/>
                <a:ea typeface="Consolas" pitchFamily="34" charset="-122"/>
                <a:cs typeface="Consolas" pitchFamily="34" charset="-120"/>
              </a:rPr>
              <a:t>clip_model.eval</a:t>
            </a:r>
            <a:r>
              <a:rPr lang="en-US" sz="1310" dirty="0">
                <a:solidFill>
                  <a:srgbClr val="A8D8EA"/>
                </a:solidFill>
                <a:latin typeface="Consolas" pitchFamily="34" charset="0"/>
                <a:ea typeface="Consolas" pitchFamily="34" charset="-122"/>
                <a:cs typeface="Consolas" pitchFamily="34" charset="-120"/>
              </a:rPr>
              <a:t>()</a:t>
            </a:r>
          </a:p>
          <a:p>
            <a:endParaRPr lang="en-US" sz="1310" dirty="0">
              <a:solidFill>
                <a:srgbClr val="A8D8EA"/>
              </a:solidFill>
              <a:latin typeface="Consolas" pitchFamily="34" charset="0"/>
              <a:ea typeface="Consolas" pitchFamily="34" charset="-122"/>
              <a:cs typeface="Consolas" pitchFamily="34" charset="-120"/>
            </a:endParaRPr>
          </a:p>
          <a:p>
            <a:r>
              <a:rPr lang="en-US" sz="1310" dirty="0">
                <a:solidFill>
                  <a:srgbClr val="A8D8EA"/>
                </a:solidFill>
                <a:latin typeface="Consolas" pitchFamily="34" charset="0"/>
                <a:ea typeface="Consolas" pitchFamily="34" charset="-122"/>
                <a:cs typeface="Consolas" pitchFamily="34" charset="-120"/>
              </a:rPr>
              <a:t># Compute image embeddings for all images in Flickr 8k </a:t>
            </a:r>
          </a:p>
          <a:p>
            <a:r>
              <a:rPr lang="en-US" sz="1310" dirty="0">
                <a:solidFill>
                  <a:srgbClr val="A8D8EA"/>
                </a:solidFill>
                <a:latin typeface="Consolas" pitchFamily="34" charset="0"/>
                <a:ea typeface="Consolas" pitchFamily="34" charset="-122"/>
                <a:cs typeface="Consolas" pitchFamily="34" charset="-120"/>
              </a:rPr>
              <a:t>images=[]</a:t>
            </a:r>
          </a:p>
          <a:p>
            <a:r>
              <a:rPr lang="en-US" sz="1310" dirty="0">
                <a:solidFill>
                  <a:srgbClr val="A8D8EA"/>
                </a:solidFill>
                <a:latin typeface="Consolas" pitchFamily="34" charset="0"/>
                <a:ea typeface="Consolas" pitchFamily="34" charset="-122"/>
                <a:cs typeface="Consolas" pitchFamily="34" charset="-120"/>
              </a:rPr>
              <a:t>for </a:t>
            </a:r>
            <a:r>
              <a:rPr lang="en-US" sz="1310" dirty="0" err="1">
                <a:solidFill>
                  <a:srgbClr val="A8D8EA"/>
                </a:solidFill>
                <a:latin typeface="Consolas" pitchFamily="34" charset="0"/>
                <a:ea typeface="Consolas" pitchFamily="34" charset="-122"/>
                <a:cs typeface="Consolas" pitchFamily="34" charset="-120"/>
              </a:rPr>
              <a:t>i</a:t>
            </a:r>
            <a:r>
              <a:rPr lang="en-US" sz="1310" dirty="0">
                <a:solidFill>
                  <a:srgbClr val="A8D8EA"/>
                </a:solidFill>
                <a:latin typeface="Consolas" pitchFamily="34" charset="0"/>
                <a:ea typeface="Consolas" pitchFamily="34" charset="-122"/>
                <a:cs typeface="Consolas" pitchFamily="34" charset="-120"/>
              </a:rPr>
              <a:t> in names:</a:t>
            </a:r>
          </a:p>
          <a:p>
            <a:r>
              <a:rPr lang="en-US" sz="1310" dirty="0">
                <a:solidFill>
                  <a:srgbClr val="A8D8EA"/>
                </a:solidFill>
                <a:latin typeface="Consolas" pitchFamily="34" charset="0"/>
                <a:ea typeface="Consolas" pitchFamily="34" charset="-122"/>
                <a:cs typeface="Consolas" pitchFamily="34" charset="-120"/>
              </a:rPr>
              <a:t>    </a:t>
            </a:r>
            <a:r>
              <a:rPr lang="en-US" sz="1310" dirty="0" err="1">
                <a:solidFill>
                  <a:srgbClr val="A8D8EA"/>
                </a:solidFill>
                <a:latin typeface="Consolas" pitchFamily="34" charset="0"/>
                <a:ea typeface="Consolas" pitchFamily="34" charset="-122"/>
                <a:cs typeface="Consolas" pitchFamily="34" charset="-120"/>
              </a:rPr>
              <a:t>images.append</a:t>
            </a:r>
            <a:r>
              <a:rPr lang="en-US" sz="1310" dirty="0">
                <a:solidFill>
                  <a:srgbClr val="A8D8EA"/>
                </a:solidFill>
                <a:latin typeface="Consolas" pitchFamily="34" charset="0"/>
                <a:ea typeface="Consolas" pitchFamily="34" charset="-122"/>
                <a:cs typeface="Consolas" pitchFamily="34" charset="-120"/>
              </a:rPr>
              <a:t>(preprocess(</a:t>
            </a:r>
            <a:r>
              <a:rPr lang="en-US" sz="1310" dirty="0" err="1">
                <a:solidFill>
                  <a:srgbClr val="A8D8EA"/>
                </a:solidFill>
                <a:latin typeface="Consolas" pitchFamily="34" charset="0"/>
                <a:ea typeface="Consolas" pitchFamily="34" charset="-122"/>
                <a:cs typeface="Consolas" pitchFamily="34" charset="-120"/>
              </a:rPr>
              <a:t>Image.open</a:t>
            </a:r>
            <a:r>
              <a:rPr lang="en-US" sz="1310" dirty="0">
                <a:solidFill>
                  <a:srgbClr val="A8D8EA"/>
                </a:solidFill>
                <a:latin typeface="Consolas" pitchFamily="34" charset="0"/>
                <a:ea typeface="Consolas" pitchFamily="34" charset="-122"/>
                <a:cs typeface="Consolas" pitchFamily="34" charset="-120"/>
              </a:rPr>
              <a:t>(f"{folder}/{</a:t>
            </a:r>
            <a:r>
              <a:rPr lang="en-US" sz="1310" dirty="0" err="1">
                <a:solidFill>
                  <a:srgbClr val="A8D8EA"/>
                </a:solidFill>
                <a:latin typeface="Consolas" pitchFamily="34" charset="0"/>
                <a:ea typeface="Consolas" pitchFamily="34" charset="-122"/>
                <a:cs typeface="Consolas" pitchFamily="34" charset="-120"/>
              </a:rPr>
              <a:t>i</a:t>
            </a:r>
            <a:r>
              <a:rPr lang="en-US" sz="1310" dirty="0">
                <a:solidFill>
                  <a:srgbClr val="A8D8EA"/>
                </a:solidFill>
                <a:latin typeface="Consolas" pitchFamily="34" charset="0"/>
                <a:ea typeface="Consolas" pitchFamily="34" charset="-122"/>
                <a:cs typeface="Consolas" pitchFamily="34" charset="-120"/>
              </a:rPr>
              <a:t>}")).</a:t>
            </a:r>
            <a:r>
              <a:rPr lang="en-US" sz="1310" dirty="0" err="1">
                <a:solidFill>
                  <a:srgbClr val="A8D8EA"/>
                </a:solidFill>
                <a:latin typeface="Consolas" pitchFamily="34" charset="0"/>
                <a:ea typeface="Consolas" pitchFamily="34" charset="-122"/>
                <a:cs typeface="Consolas" pitchFamily="34" charset="-120"/>
              </a:rPr>
              <a:t>unsqueeze</a:t>
            </a:r>
            <a:r>
              <a:rPr lang="en-US" sz="1310" dirty="0">
                <a:solidFill>
                  <a:srgbClr val="A8D8EA"/>
                </a:solidFill>
                <a:latin typeface="Consolas" pitchFamily="34" charset="0"/>
                <a:ea typeface="Consolas" pitchFamily="34" charset="-122"/>
                <a:cs typeface="Consolas" pitchFamily="34" charset="-120"/>
              </a:rPr>
              <a:t>(0).to(device))</a:t>
            </a:r>
          </a:p>
          <a:p>
            <a:r>
              <a:rPr lang="en-US" sz="1310" dirty="0">
                <a:solidFill>
                  <a:srgbClr val="A8D8EA"/>
                </a:solidFill>
                <a:latin typeface="Consolas" pitchFamily="34" charset="0"/>
                <a:ea typeface="Consolas" pitchFamily="34" charset="-122"/>
                <a:cs typeface="Consolas" pitchFamily="34" charset="-120"/>
              </a:rPr>
              <a:t>image=torch.cat(images)</a:t>
            </a:r>
          </a:p>
          <a:p>
            <a:r>
              <a:rPr lang="en-US" sz="1310" dirty="0">
                <a:solidFill>
                  <a:srgbClr val="A8D8EA"/>
                </a:solidFill>
                <a:latin typeface="Consolas" pitchFamily="34" charset="0"/>
                <a:ea typeface="Consolas" pitchFamily="34" charset="-122"/>
                <a:cs typeface="Consolas" pitchFamily="34" charset="-120"/>
              </a:rPr>
              <a:t>with </a:t>
            </a:r>
            <a:r>
              <a:rPr lang="en-US" sz="1310" dirty="0" err="1">
                <a:solidFill>
                  <a:srgbClr val="A8D8EA"/>
                </a:solidFill>
                <a:latin typeface="Consolas" pitchFamily="34" charset="0"/>
                <a:ea typeface="Consolas" pitchFamily="34" charset="-122"/>
                <a:cs typeface="Consolas" pitchFamily="34" charset="-120"/>
              </a:rPr>
              <a:t>torch.no_grad</a:t>
            </a:r>
            <a:r>
              <a:rPr lang="en-US" sz="1310" dirty="0">
                <a:solidFill>
                  <a:srgbClr val="A8D8EA"/>
                </a:solidFill>
                <a:latin typeface="Consolas" pitchFamily="34" charset="0"/>
                <a:ea typeface="Consolas" pitchFamily="34" charset="-122"/>
                <a:cs typeface="Consolas" pitchFamily="34" charset="-120"/>
              </a:rPr>
              <a:t>():</a:t>
            </a:r>
          </a:p>
          <a:p>
            <a:r>
              <a:rPr lang="en-US" sz="1310" dirty="0">
                <a:solidFill>
                  <a:srgbClr val="A8D8EA"/>
                </a:solidFill>
                <a:latin typeface="Consolas" pitchFamily="34" charset="0"/>
                <a:ea typeface="Consolas" pitchFamily="34" charset="-122"/>
                <a:cs typeface="Consolas" pitchFamily="34" charset="-120"/>
              </a:rPr>
              <a:t>    </a:t>
            </a:r>
            <a:r>
              <a:rPr lang="en-US" sz="1310" dirty="0" err="1">
                <a:solidFill>
                  <a:srgbClr val="A8D8EA"/>
                </a:solidFill>
                <a:latin typeface="Consolas" pitchFamily="34" charset="0"/>
                <a:ea typeface="Consolas" pitchFamily="34" charset="-122"/>
                <a:cs typeface="Consolas" pitchFamily="34" charset="-120"/>
              </a:rPr>
              <a:t>image_features</a:t>
            </a:r>
            <a:r>
              <a:rPr lang="en-US" sz="1310" dirty="0">
                <a:solidFill>
                  <a:srgbClr val="A8D8EA"/>
                </a:solidFill>
                <a:latin typeface="Consolas" pitchFamily="34" charset="0"/>
                <a:ea typeface="Consolas" pitchFamily="34" charset="-122"/>
                <a:cs typeface="Consolas" pitchFamily="34" charset="-120"/>
              </a:rPr>
              <a:t> = </a:t>
            </a:r>
            <a:r>
              <a:rPr lang="en-US" sz="1310" dirty="0" err="1">
                <a:solidFill>
                  <a:srgbClr val="A8D8EA"/>
                </a:solidFill>
                <a:latin typeface="Consolas" pitchFamily="34" charset="0"/>
                <a:ea typeface="Consolas" pitchFamily="34" charset="-122"/>
                <a:cs typeface="Consolas" pitchFamily="34" charset="-120"/>
              </a:rPr>
              <a:t>model.encode_image</a:t>
            </a:r>
            <a:r>
              <a:rPr lang="en-US" sz="1310" dirty="0">
                <a:solidFill>
                  <a:srgbClr val="A8D8EA"/>
                </a:solidFill>
                <a:latin typeface="Consolas" pitchFamily="34" charset="0"/>
                <a:ea typeface="Consolas" pitchFamily="34" charset="-122"/>
                <a:cs typeface="Consolas" pitchFamily="34" charset="-120"/>
              </a:rPr>
              <a:t>(image)</a:t>
            </a:r>
          </a:p>
          <a:p>
            <a:endParaRPr lang="en-US" sz="1310" dirty="0">
              <a:solidFill>
                <a:srgbClr val="A8D8EA"/>
              </a:solidFill>
              <a:latin typeface="Consolas" pitchFamily="34" charset="0"/>
              <a:ea typeface="Consolas" pitchFamily="34" charset="-122"/>
              <a:cs typeface="Consolas" pitchFamily="34" charset="-120"/>
            </a:endParaRPr>
          </a:p>
          <a:p>
            <a:r>
              <a:rPr lang="en-US" sz="1310" dirty="0">
                <a:solidFill>
                  <a:srgbClr val="A8D8EA"/>
                </a:solidFill>
                <a:latin typeface="Consolas" pitchFamily="34" charset="0"/>
                <a:ea typeface="Consolas" pitchFamily="34" charset="-122"/>
                <a:cs typeface="Consolas" pitchFamily="34" charset="-120"/>
              </a:rPr>
              <a:t># Copy the </a:t>
            </a:r>
            <a:r>
              <a:rPr lang="en-US" sz="1310" dirty="0" err="1">
                <a:solidFill>
                  <a:srgbClr val="A8D8EA"/>
                </a:solidFill>
                <a:latin typeface="Consolas" pitchFamily="34" charset="0"/>
                <a:ea typeface="Consolas" pitchFamily="34" charset="-122"/>
                <a:cs typeface="Consolas" pitchFamily="34" charset="-120"/>
              </a:rPr>
              <a:t>find_match</a:t>
            </a:r>
            <a:r>
              <a:rPr lang="en-US" sz="1310" dirty="0">
                <a:solidFill>
                  <a:srgbClr val="A8D8EA"/>
                </a:solidFill>
                <a:latin typeface="Consolas" pitchFamily="34" charset="0"/>
                <a:ea typeface="Consolas" pitchFamily="34" charset="-122"/>
                <a:cs typeface="Consolas" pitchFamily="34" charset="-120"/>
              </a:rPr>
              <a:t>() function from the lab</a:t>
            </a:r>
          </a:p>
          <a:p>
            <a:r>
              <a:rPr lang="en-US" sz="1310" dirty="0">
                <a:solidFill>
                  <a:srgbClr val="A8D8EA"/>
                </a:solidFill>
                <a:latin typeface="Consolas" pitchFamily="34" charset="0"/>
                <a:ea typeface="Consolas" pitchFamily="34" charset="-122"/>
                <a:cs typeface="Consolas" pitchFamily="34" charset="-120"/>
              </a:rPr>
              <a:t>def </a:t>
            </a:r>
            <a:r>
              <a:rPr lang="en-US" sz="1310" dirty="0" err="1">
                <a:solidFill>
                  <a:srgbClr val="A8D8EA"/>
                </a:solidFill>
                <a:latin typeface="Consolas" pitchFamily="34" charset="0"/>
                <a:ea typeface="Consolas" pitchFamily="34" charset="-122"/>
                <a:cs typeface="Consolas" pitchFamily="34" charset="-120"/>
              </a:rPr>
              <a:t>find_match</a:t>
            </a:r>
            <a:r>
              <a:rPr lang="en-US" sz="1310" dirty="0">
                <a:solidFill>
                  <a:srgbClr val="A8D8EA"/>
                </a:solidFill>
                <a:latin typeface="Consolas" pitchFamily="34" charset="0"/>
                <a:ea typeface="Consolas" pitchFamily="34" charset="-122"/>
                <a:cs typeface="Consolas" pitchFamily="34" charset="-120"/>
              </a:rPr>
              <a:t>(prompt):</a:t>
            </a:r>
          </a:p>
          <a:p>
            <a:r>
              <a:rPr lang="en-US" sz="1310" dirty="0">
                <a:solidFill>
                  <a:srgbClr val="A8D8EA"/>
                </a:solidFill>
                <a:latin typeface="Consolas" pitchFamily="34" charset="0"/>
                <a:ea typeface="Consolas" pitchFamily="34" charset="-122"/>
                <a:cs typeface="Consolas" pitchFamily="34" charset="-120"/>
              </a:rPr>
              <a:t>   ...</a:t>
            </a:r>
          </a:p>
          <a:p>
            <a:endParaRPr lang="en-US" sz="1310" dirty="0">
              <a:solidFill>
                <a:srgbClr val="A8D8EA"/>
              </a:solidFill>
              <a:latin typeface="Consolas" pitchFamily="34" charset="0"/>
              <a:ea typeface="Consolas" pitchFamily="34" charset="-122"/>
              <a:cs typeface="Consolas" pitchFamily="34" charset="-120"/>
            </a:endParaRPr>
          </a:p>
          <a:p>
            <a:endParaRPr lang="en-US" sz="1310" dirty="0">
              <a:solidFill>
                <a:srgbClr val="A8D8EA"/>
              </a:solidFill>
              <a:latin typeface="Consolas" pitchFamily="34" charset="0"/>
              <a:ea typeface="Consolas" pitchFamily="34" charset="-122"/>
              <a:cs typeface="Consolas" pitchFamily="34" charset="-120"/>
            </a:endParaRPr>
          </a:p>
          <a:p>
            <a:r>
              <a:rPr lang="en-US" sz="1310" dirty="0">
                <a:solidFill>
                  <a:srgbClr val="A8D8EA"/>
                </a:solidFill>
                <a:latin typeface="Consolas" pitchFamily="34" charset="0"/>
                <a:ea typeface="Consolas" pitchFamily="34" charset="-122"/>
                <a:cs typeface="Consolas" pitchFamily="34" charset="-120"/>
              </a:rPr>
              <a:t>prompt = "people shopping on the street"</a:t>
            </a:r>
          </a:p>
          <a:p>
            <a:r>
              <a:rPr lang="en-US" sz="1310" dirty="0" err="1">
                <a:solidFill>
                  <a:srgbClr val="A8D8EA"/>
                </a:solidFill>
                <a:latin typeface="Consolas" pitchFamily="34" charset="0"/>
                <a:ea typeface="Consolas" pitchFamily="34" charset="-122"/>
                <a:cs typeface="Consolas" pitchFamily="34" charset="-120"/>
              </a:rPr>
              <a:t>find_match</a:t>
            </a:r>
            <a:r>
              <a:rPr lang="en-US" sz="1310" dirty="0">
                <a:solidFill>
                  <a:srgbClr val="A8D8EA"/>
                </a:solidFill>
                <a:latin typeface="Consolas" pitchFamily="34" charset="0"/>
                <a:ea typeface="Consolas" pitchFamily="34" charset="-122"/>
                <a:cs typeface="Consolas" pitchFamily="34" charset="-120"/>
              </a:rPr>
              <a:t>(prompt)</a:t>
            </a:r>
          </a:p>
          <a:p>
            <a:endParaRPr lang="en-US" sz="1310" dirty="0"/>
          </a:p>
        </p:txBody>
      </p:sp>
      <p:sp>
        <p:nvSpPr>
          <p:cNvPr id="9" name="Text 7"/>
          <p:cNvSpPr/>
          <p:nvPr/>
        </p:nvSpPr>
        <p:spPr>
          <a:xfrm>
            <a:off x="658368" y="1682496"/>
            <a:ext cx="10875264" cy="2877312"/>
          </a:xfrm>
          <a:prstGeom prst="rect">
            <a:avLst/>
          </a:prstGeom>
          <a:noFill/>
          <a:ln/>
        </p:spPr>
        <p:txBody>
          <a:bodyPr wrap="square" lIns="0" tIns="0" rIns="0" bIns="0" rtlCol="0" anchor="t"/>
          <a:lstStyle/>
          <a:p>
            <a:endParaRPr lang="en-US" sz="1307"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00116-2635-2090-7305-A4CF9A8D584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BEE2946-C363-5BF5-B2BC-5E6BA50A11B0}"/>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3" name="Shape 1">
            <a:extLst>
              <a:ext uri="{FF2B5EF4-FFF2-40B4-BE49-F238E27FC236}">
                <a16:creationId xmlns:a16="http://schemas.microsoft.com/office/drawing/2014/main" id="{A5EEE652-8827-26F4-A107-D3A0BC8D5BA0}"/>
              </a:ext>
            </a:extLst>
          </p:cNvPr>
          <p:cNvSpPr/>
          <p:nvPr/>
        </p:nvSpPr>
        <p:spPr>
          <a:xfrm>
            <a:off x="487680" y="170688"/>
            <a:ext cx="877824" cy="609600"/>
          </a:xfrm>
          <a:prstGeom prst="rect">
            <a:avLst/>
          </a:prstGeom>
          <a:solidFill>
            <a:srgbClr val="1565C0"/>
          </a:solidFill>
          <a:ln w="12700">
            <a:solidFill>
              <a:srgbClr val="1565C0"/>
            </a:solidFill>
            <a:prstDash val="solid"/>
          </a:ln>
        </p:spPr>
      </p:sp>
      <p:sp>
        <p:nvSpPr>
          <p:cNvPr id="4" name="Text 2">
            <a:extLst>
              <a:ext uri="{FF2B5EF4-FFF2-40B4-BE49-F238E27FC236}">
                <a16:creationId xmlns:a16="http://schemas.microsoft.com/office/drawing/2014/main" id="{59F68768-DD49-141D-9CE9-53373C6779B1}"/>
              </a:ext>
            </a:extLst>
          </p:cNvPr>
          <p:cNvSpPr/>
          <p:nvPr/>
        </p:nvSpPr>
        <p:spPr>
          <a:xfrm>
            <a:off x="487680" y="170688"/>
            <a:ext cx="877824" cy="60960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Ex 2</a:t>
            </a:r>
            <a:endParaRPr lang="en-US" sz="1467" dirty="0"/>
          </a:p>
        </p:txBody>
      </p:sp>
      <p:sp>
        <p:nvSpPr>
          <p:cNvPr id="5" name="Text 3">
            <a:extLst>
              <a:ext uri="{FF2B5EF4-FFF2-40B4-BE49-F238E27FC236}">
                <a16:creationId xmlns:a16="http://schemas.microsoft.com/office/drawing/2014/main" id="{2A47CA58-59AB-18CF-A150-0C1C987D7F82}"/>
              </a:ext>
            </a:extLst>
          </p:cNvPr>
          <p:cNvSpPr/>
          <p:nvPr/>
        </p:nvSpPr>
        <p:spPr>
          <a:xfrm>
            <a:off x="1511808" y="195072"/>
            <a:ext cx="10192512" cy="609600"/>
          </a:xfrm>
          <a:prstGeom prst="rect">
            <a:avLst/>
          </a:prstGeom>
          <a:noFill/>
          <a:ln/>
        </p:spPr>
        <p:txBody>
          <a:bodyPr wrap="square" lIns="0" tIns="0" rIns="0" bIns="0" rtlCol="0" anchor="ctr"/>
          <a:lstStyle/>
          <a:p>
            <a:r>
              <a:rPr lang="en-US" sz="2933" b="1" dirty="0" err="1">
                <a:solidFill>
                  <a:srgbClr val="0D1B2A"/>
                </a:solidFill>
                <a:latin typeface="Calibri" pitchFamily="34" charset="0"/>
                <a:ea typeface="Calibri" pitchFamily="34" charset="-122"/>
                <a:cs typeface="Calibri" pitchFamily="34" charset="-120"/>
              </a:rPr>
              <a:t>find_match</a:t>
            </a:r>
            <a:r>
              <a:rPr lang="en-US" sz="2933" b="1" dirty="0">
                <a:solidFill>
                  <a:srgbClr val="0D1B2A"/>
                </a:solidFill>
                <a:latin typeface="Calibri" pitchFamily="34" charset="0"/>
                <a:ea typeface="Calibri" pitchFamily="34" charset="-122"/>
                <a:cs typeface="Calibri" pitchFamily="34" charset="-120"/>
              </a:rPr>
              <a:t>() — 'people shopping on the street'</a:t>
            </a:r>
          </a:p>
        </p:txBody>
      </p:sp>
      <p:sp>
        <p:nvSpPr>
          <p:cNvPr id="6" name="Shape 4">
            <a:extLst>
              <a:ext uri="{FF2B5EF4-FFF2-40B4-BE49-F238E27FC236}">
                <a16:creationId xmlns:a16="http://schemas.microsoft.com/office/drawing/2014/main" id="{441B980F-A7D3-837A-7567-7727C8897092}"/>
              </a:ext>
            </a:extLst>
          </p:cNvPr>
          <p:cNvSpPr/>
          <p:nvPr/>
        </p:nvSpPr>
        <p:spPr>
          <a:xfrm>
            <a:off x="487680" y="926592"/>
            <a:ext cx="11216640" cy="458190"/>
          </a:xfrm>
          <a:prstGeom prst="rect">
            <a:avLst/>
          </a:prstGeom>
          <a:solidFill>
            <a:srgbClr val="E3F2FD"/>
          </a:solidFill>
          <a:ln w="10160">
            <a:solidFill>
              <a:srgbClr val="1565C0"/>
            </a:solidFill>
            <a:prstDash val="solid"/>
          </a:ln>
        </p:spPr>
      </p:sp>
      <p:sp>
        <p:nvSpPr>
          <p:cNvPr id="7" name="Text 5">
            <a:extLst>
              <a:ext uri="{FF2B5EF4-FFF2-40B4-BE49-F238E27FC236}">
                <a16:creationId xmlns:a16="http://schemas.microsoft.com/office/drawing/2014/main" id="{E141575E-87AD-6522-5D51-2577C7A2F8AA}"/>
              </a:ext>
            </a:extLst>
          </p:cNvPr>
          <p:cNvSpPr/>
          <p:nvPr/>
        </p:nvSpPr>
        <p:spPr>
          <a:xfrm>
            <a:off x="658368" y="1116558"/>
            <a:ext cx="10850880" cy="487680"/>
          </a:xfrm>
          <a:prstGeom prst="rect">
            <a:avLst/>
          </a:prstGeom>
          <a:noFill/>
          <a:ln/>
        </p:spPr>
        <p:txBody>
          <a:bodyPr wrap="square" lIns="0" tIns="0" rIns="0" bIns="0" rtlCol="0" anchor="ctr"/>
          <a:lstStyle/>
          <a:p>
            <a:r>
              <a:rPr lang="en-US" sz="1333" i="1" dirty="0">
                <a:solidFill>
                  <a:srgbClr val="1A237E"/>
                </a:solidFill>
                <a:latin typeface="Calibri" pitchFamily="34" charset="0"/>
                <a:ea typeface="Calibri" pitchFamily="34" charset="-122"/>
                <a:cs typeface="Calibri" pitchFamily="34" charset="-120"/>
              </a:rPr>
              <a:t>❓Use the OpenAI </a:t>
            </a:r>
            <a:r>
              <a:rPr lang="en-US" sz="1333" i="1" dirty="0" err="1">
                <a:solidFill>
                  <a:srgbClr val="1A237E"/>
                </a:solidFill>
                <a:latin typeface="Calibri" pitchFamily="34" charset="0"/>
                <a:ea typeface="Calibri" pitchFamily="34" charset="-122"/>
                <a:cs typeface="Calibri" pitchFamily="34" charset="-120"/>
              </a:rPr>
              <a:t>find_match</a:t>
            </a:r>
            <a:r>
              <a:rPr lang="en-US" sz="1333" i="1" dirty="0">
                <a:solidFill>
                  <a:srgbClr val="1A237E"/>
                </a:solidFill>
                <a:latin typeface="Calibri" pitchFamily="34" charset="0"/>
                <a:ea typeface="Calibri" pitchFamily="34" charset="-122"/>
                <a:cs typeface="Calibri" pitchFamily="34" charset="-120"/>
              </a:rPr>
              <a:t>() function to retrieve the top 5 best-matching images for the prompt 'people shopping on the street’. </a:t>
            </a:r>
          </a:p>
          <a:p>
            <a:r>
              <a:rPr lang="en-US" sz="1333" i="1" dirty="0">
                <a:solidFill>
                  <a:srgbClr val="1A237E"/>
                </a:solidFill>
                <a:latin typeface="Calibri" pitchFamily="34" charset="0"/>
                <a:ea typeface="Calibri" pitchFamily="34" charset="-122"/>
                <a:cs typeface="Calibri" pitchFamily="34" charset="-120"/>
              </a:rPr>
              <a:t>      Plot them in a 1×5 grid (leftmost = most similar).</a:t>
            </a:r>
          </a:p>
          <a:p>
            <a:endParaRPr lang="en-US" sz="1333" i="1" dirty="0">
              <a:solidFill>
                <a:srgbClr val="1A237E"/>
              </a:solidFill>
              <a:latin typeface="Calibri" pitchFamily="34" charset="0"/>
              <a:ea typeface="Calibri" pitchFamily="34" charset="-122"/>
              <a:cs typeface="Calibri" pitchFamily="34" charset="-120"/>
            </a:endParaRPr>
          </a:p>
          <a:p>
            <a:endParaRPr lang="en-US" sz="1333" dirty="0"/>
          </a:p>
        </p:txBody>
      </p:sp>
      <p:pic>
        <p:nvPicPr>
          <p:cNvPr id="11" name="Picture 10">
            <a:extLst>
              <a:ext uri="{FF2B5EF4-FFF2-40B4-BE49-F238E27FC236}">
                <a16:creationId xmlns:a16="http://schemas.microsoft.com/office/drawing/2014/main" id="{8D813F67-6355-C14D-97CE-136ACD8731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332" y="2611688"/>
            <a:ext cx="11693335" cy="2320348"/>
          </a:xfrm>
          <a:prstGeom prst="rect">
            <a:avLst/>
          </a:prstGeom>
        </p:spPr>
      </p:pic>
    </p:spTree>
    <p:extLst>
      <p:ext uri="{BB962C8B-B14F-4D97-AF65-F5344CB8AC3E}">
        <p14:creationId xmlns:p14="http://schemas.microsoft.com/office/powerpoint/2010/main" val="21390361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41339-F51E-6D1F-BDF0-3E91B2AEDF65}"/>
              </a:ext>
            </a:extLst>
          </p:cNvPr>
          <p:cNvSpPr>
            <a:spLocks noGrp="1"/>
          </p:cNvSpPr>
          <p:nvPr>
            <p:ph type="title"/>
          </p:nvPr>
        </p:nvSpPr>
        <p:spPr>
          <a:xfrm>
            <a:off x="3279140" y="2435225"/>
            <a:ext cx="5996940" cy="1325563"/>
          </a:xfrm>
        </p:spPr>
        <p:txBody>
          <a:bodyPr>
            <a:normAutofit/>
          </a:bodyPr>
          <a:lstStyle/>
          <a:p>
            <a:r>
              <a:rPr lang="en-US" sz="8800" dirty="0"/>
              <a:t>Thank you !</a:t>
            </a:r>
          </a:p>
        </p:txBody>
      </p:sp>
    </p:spTree>
    <p:extLst>
      <p:ext uri="{BB962C8B-B14F-4D97-AF65-F5344CB8AC3E}">
        <p14:creationId xmlns:p14="http://schemas.microsoft.com/office/powerpoint/2010/main" val="449321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9d258917-277f-42cd-a3cd-14c4e9ee58bc}" enabled="1" method="Standard" siteId="{38ae3bcd-9579-4fd4-adda-b42e1495d55a}" removed="0"/>
</clbl:labelList>
</file>

<file path=docProps/app.xml><?xml version="1.0" encoding="utf-8"?>
<Properties xmlns="http://schemas.openxmlformats.org/officeDocument/2006/extended-properties" xmlns:vt="http://schemas.openxmlformats.org/officeDocument/2006/docPropsVTypes">
  <TotalTime>5730</TotalTime>
  <Words>2416</Words>
  <Application>Microsoft Office PowerPoint</Application>
  <PresentationFormat>Widescreen</PresentationFormat>
  <Paragraphs>300</Paragraphs>
  <Slides>28</Slides>
  <Notes>26</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Aptos</vt:lpstr>
      <vt:lpstr>Aptos Display</vt:lpstr>
      <vt:lpstr>Arial</vt:lpstr>
      <vt:lpstr>Calibri</vt:lpstr>
      <vt:lpstr>Consolas</vt:lpstr>
      <vt:lpstr>Courier New</vt:lpstr>
      <vt:lpstr>Google Sans Text</vt:lpstr>
      <vt:lpstr>Wingdings</vt:lpstr>
      <vt:lpstr>Office Theme</vt:lpstr>
      <vt:lpstr>Grafică asistată de calculator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Company>evosoft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Grigore Atimut, Ionut Orlando (ADV D EU RO IFA AI DN)</dc:creator>
  <cp:lastModifiedBy>ionut grigore</cp:lastModifiedBy>
  <cp:revision>96</cp:revision>
  <dcterms:created xsi:type="dcterms:W3CDTF">2024-09-13T06:53:36Z</dcterms:created>
  <dcterms:modified xsi:type="dcterms:W3CDTF">2026-04-29T12:39:47Z</dcterms:modified>
</cp:coreProperties>
</file>