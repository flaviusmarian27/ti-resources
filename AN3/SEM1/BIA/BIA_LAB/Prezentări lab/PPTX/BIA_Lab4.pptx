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1pPr>
    <a:lvl2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2pPr>
    <a:lvl3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3pPr>
    <a:lvl4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4pPr>
    <a:lvl5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5pPr>
    <a:lvl6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6pPr>
    <a:lvl7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7pPr>
    <a:lvl8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8pPr>
    <a:lvl9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5EE"/>
          </a:solidFill>
        </a:fill>
      </a:tcStyle>
    </a:wholeTbl>
    <a:band2H>
      <a:tcTxStyle b="def" i="def"/>
      <a:tcStyle>
        <a:tcBdr/>
        <a:fill>
          <a:solidFill>
            <a:srgbClr val="E8EBF7"/>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E5CD"/>
          </a:solidFill>
        </a:fill>
      </a:tcStyle>
    </a:wholeTbl>
    <a:band2H>
      <a:tcTxStyle b="def" i="def"/>
      <a:tcStyle>
        <a:tcBdr/>
        <a:fill>
          <a:solidFill>
            <a:srgbClr val="E8F2E7"/>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D3E5"/>
          </a:solidFill>
        </a:fill>
      </a:tcStyle>
    </a:wholeTbl>
    <a:band2H>
      <a:tcTxStyle b="def" i="def"/>
      <a:tcStyle>
        <a:tcBdr/>
        <a:fill>
          <a:solidFill>
            <a:srgbClr val="ECEAF3"/>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n" i="off">
        <a:font>
          <a:latin typeface="Canela Bold"/>
          <a:ea typeface="Canela Bold"/>
          <a:cs typeface="Canela Bold"/>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nela Bold"/>
          <a:ea typeface="Canela Bold"/>
          <a:cs typeface="Canela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nela Bold"/>
          <a:ea typeface="Canela Bold"/>
          <a:cs typeface="Canela Bold"/>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nela Bold"/>
          <a:ea typeface="Canela Bold"/>
          <a:cs typeface="Canela Bold"/>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ff">
        <a:font>
          <a:latin typeface="Canela Bold"/>
          <a:ea typeface="Canela Bold"/>
          <a:cs typeface="Canela 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nela Bold"/>
          <a:ea typeface="Canela Bold"/>
          <a:cs typeface="Canela 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nela Bold"/>
          <a:ea typeface="Canela Bold"/>
          <a:cs typeface="Canela 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p:spTree>
      <p:nvGrpSpPr>
        <p:cNvPr id="1" name=""/>
        <p:cNvGrpSpPr/>
        <p:nvPr/>
      </p:nvGrpSpPr>
      <p:grpSpPr>
        <a:xfrm>
          <a:off x="0" y="0"/>
          <a:ext cx="0" cy="0"/>
          <a:chOff x="0" y="0"/>
          <a:chExt cx="0" cy="0"/>
        </a:xfrm>
      </p:grpSpPr>
      <p:sp>
        <p:nvSpPr>
          <p:cNvPr id="11" name="Nivel corp unu…"/>
          <p:cNvSpPr txBox="1"/>
          <p:nvPr>
            <p:ph type="body" sz="quarter" idx="1" hasCustomPrompt="1"/>
          </p:nvPr>
        </p:nvSpPr>
        <p:spPr>
          <a:xfrm>
            <a:off x="1219200" y="11986162"/>
            <a:ext cx="21945599" cy="605792"/>
          </a:xfrm>
          <a:prstGeom prst="rect">
            <a:avLst/>
          </a:prstGeom>
        </p:spPr>
        <p:txBody>
          <a:bodyPr/>
          <a:lstStyle>
            <a:lvl1pPr marL="0" indent="0" algn="ctr" defTabSz="808990">
              <a:lnSpc>
                <a:spcPct val="100000"/>
              </a:lnSpc>
              <a:spcBef>
                <a:spcPts val="0"/>
              </a:spcBef>
              <a:buSzTx/>
              <a:buNone/>
              <a:defRPr spc="-29" sz="2900">
                <a:latin typeface="Avenir Next Medium"/>
                <a:ea typeface="Avenir Next Medium"/>
                <a:cs typeface="Avenir Next Medium"/>
                <a:sym typeface="Avenir Next Medium"/>
              </a:defRPr>
            </a:lvl1pPr>
            <a:lvl2pPr marL="906029" indent="-359929" algn="ctr" defTabSz="808990">
              <a:lnSpc>
                <a:spcPct val="100000"/>
              </a:lnSpc>
              <a:spcBef>
                <a:spcPts val="0"/>
              </a:spcBef>
              <a:defRPr spc="-29" sz="2900">
                <a:latin typeface="Avenir Next Medium"/>
                <a:ea typeface="Avenir Next Medium"/>
                <a:cs typeface="Avenir Next Medium"/>
                <a:sym typeface="Avenir Next Medium"/>
              </a:defRPr>
            </a:lvl2pPr>
            <a:lvl3pPr marL="1452129" indent="-359929" algn="ctr" defTabSz="808990">
              <a:lnSpc>
                <a:spcPct val="100000"/>
              </a:lnSpc>
              <a:spcBef>
                <a:spcPts val="0"/>
              </a:spcBef>
              <a:defRPr spc="-29" sz="2900">
                <a:latin typeface="Avenir Next Medium"/>
                <a:ea typeface="Avenir Next Medium"/>
                <a:cs typeface="Avenir Next Medium"/>
                <a:sym typeface="Avenir Next Medium"/>
              </a:defRPr>
            </a:lvl3pPr>
            <a:lvl4pPr marL="1998229" indent="-359929" algn="ctr" defTabSz="808990">
              <a:lnSpc>
                <a:spcPct val="100000"/>
              </a:lnSpc>
              <a:spcBef>
                <a:spcPts val="0"/>
              </a:spcBef>
              <a:defRPr spc="-29" sz="2900">
                <a:latin typeface="Avenir Next Medium"/>
                <a:ea typeface="Avenir Next Medium"/>
                <a:cs typeface="Avenir Next Medium"/>
                <a:sym typeface="Avenir Next Medium"/>
              </a:defRPr>
            </a:lvl4pPr>
            <a:lvl5pPr marL="2544329" indent="-359929" algn="ctr" defTabSz="808990">
              <a:lnSpc>
                <a:spcPct val="100000"/>
              </a:lnSpc>
              <a:spcBef>
                <a:spcPts val="0"/>
              </a:spcBef>
              <a:defRPr spc="-29" sz="2900">
                <a:latin typeface="Avenir Next Medium"/>
                <a:ea typeface="Avenir Next Medium"/>
                <a:cs typeface="Avenir Next Medium"/>
                <a:sym typeface="Avenir Next Medium"/>
              </a:defRPr>
            </a:lvl5pPr>
          </a:lstStyle>
          <a:p>
            <a:pPr/>
            <a:r>
              <a:t>Autor și dată</a:t>
            </a:r>
          </a:p>
          <a:p>
            <a:pPr lvl="1"/>
            <a:r>
              <a:t/>
            </a:r>
          </a:p>
          <a:p>
            <a:pPr lvl="2"/>
            <a:r>
              <a:t/>
            </a:r>
          </a:p>
          <a:p>
            <a:pPr lvl="3"/>
            <a:r>
              <a:t/>
            </a:r>
          </a:p>
          <a:p>
            <a:pPr lvl="4"/>
            <a:r>
              <a:t/>
            </a:r>
          </a:p>
        </p:txBody>
      </p:sp>
      <p:sp>
        <p:nvSpPr>
          <p:cNvPr id="12" name="Titlu prezentare"/>
          <p:cNvSpPr txBox="1"/>
          <p:nvPr>
            <p:ph type="title" hasCustomPrompt="1"/>
          </p:nvPr>
        </p:nvSpPr>
        <p:spPr>
          <a:xfrm>
            <a:off x="1219200" y="3543300"/>
            <a:ext cx="21945600" cy="4267200"/>
          </a:xfrm>
          <a:prstGeom prst="rect">
            <a:avLst/>
          </a:prstGeom>
        </p:spPr>
        <p:txBody>
          <a:bodyPr anchor="b"/>
          <a:lstStyle>
            <a:lvl1pPr>
              <a:defRPr spc="-128" sz="12800"/>
            </a:lvl1pPr>
          </a:lstStyle>
          <a:p>
            <a:pPr/>
            <a:r>
              <a:t>Titlu prezentare</a:t>
            </a:r>
          </a:p>
        </p:txBody>
      </p:sp>
      <p:sp>
        <p:nvSpPr>
          <p:cNvPr id="13" name="Nivel corp unu…"/>
          <p:cNvSpPr txBox="1"/>
          <p:nvPr>
            <p:ph type="body" sz="quarter" idx="21" hasCustomPrompt="1"/>
          </p:nvPr>
        </p:nvSpPr>
        <p:spPr>
          <a:xfrm>
            <a:off x="1219200" y="7567579"/>
            <a:ext cx="21945600" cy="2250594"/>
          </a:xfrm>
          <a:prstGeom prst="rect">
            <a:avLst/>
          </a:prstGeom>
        </p:spPr>
        <p:txBody>
          <a:bodyPr/>
          <a:lstStyle>
            <a:lvl1pPr marL="0" indent="0" algn="ctr" defTabSz="825500">
              <a:lnSpc>
                <a:spcPct val="100000"/>
              </a:lnSpc>
              <a:spcBef>
                <a:spcPts val="0"/>
              </a:spcBef>
              <a:buSzTx/>
              <a:buNone/>
              <a:defRPr spc="-100" sz="6000">
                <a:latin typeface="Avenir Next Demi Bold"/>
                <a:ea typeface="Avenir Next Demi Bold"/>
                <a:cs typeface="Avenir Next Demi Bold"/>
                <a:sym typeface="Avenir Next Demi Bold"/>
              </a:defRPr>
            </a:lvl1pPr>
          </a:lstStyle>
          <a:p>
            <a:pPr/>
            <a:r>
              <a:t>Subtitlu prezentare</a:t>
            </a:r>
          </a:p>
        </p:txBody>
      </p:sp>
      <p:sp>
        <p:nvSpPr>
          <p:cNvPr id="14"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poză">
    <p:spTree>
      <p:nvGrpSpPr>
        <p:cNvPr id="1" name=""/>
        <p:cNvGrpSpPr/>
        <p:nvPr/>
      </p:nvGrpSpPr>
      <p:grpSpPr>
        <a:xfrm>
          <a:off x="0" y="0"/>
          <a:ext cx="0" cy="0"/>
          <a:chOff x="0" y="0"/>
          <a:chExt cx="0" cy="0"/>
        </a:xfrm>
      </p:grpSpPr>
      <p:sp>
        <p:nvSpPr>
          <p:cNvPr id="21" name="Plajă și mare la apus"/>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Titlu prezentare"/>
          <p:cNvSpPr txBox="1"/>
          <p:nvPr>
            <p:ph type="title" hasCustomPrompt="1"/>
          </p:nvPr>
        </p:nvSpPr>
        <p:spPr>
          <a:xfrm>
            <a:off x="1219200" y="3543300"/>
            <a:ext cx="21945600" cy="4267200"/>
          </a:xfrm>
          <a:prstGeom prst="rect">
            <a:avLst/>
          </a:prstGeom>
        </p:spPr>
        <p:txBody>
          <a:bodyPr anchor="b"/>
          <a:lstStyle>
            <a:lvl1pPr>
              <a:defRPr spc="-128" sz="12800">
                <a:solidFill>
                  <a:srgbClr val="FFFFFF"/>
                </a:solidFill>
              </a:defRPr>
            </a:lvl1pPr>
          </a:lstStyle>
          <a:p>
            <a:pPr/>
            <a:r>
              <a:t>Titlu prezentare</a:t>
            </a:r>
          </a:p>
        </p:txBody>
      </p:sp>
      <p:sp>
        <p:nvSpPr>
          <p:cNvPr id="23" name="Nivel corp unu…"/>
          <p:cNvSpPr txBox="1"/>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1pPr>
            <a:lvl2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2pPr>
            <a:lvl3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3pPr>
            <a:lvl4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4pPr>
            <a:lvl5pPr marL="0" indent="0" algn="ctr" defTabSz="825500">
              <a:lnSpc>
                <a:spcPct val="100000"/>
              </a:lnSpc>
              <a:spcBef>
                <a:spcPts val="0"/>
              </a:spcBef>
              <a:buSzTx/>
              <a:buNone/>
              <a:defRPr spc="-58" sz="6000">
                <a:solidFill>
                  <a:srgbClr val="FFFFFF"/>
                </a:solidFill>
                <a:latin typeface="Avenir Next Demi Bold"/>
                <a:ea typeface="Avenir Next Demi Bold"/>
                <a:cs typeface="Avenir Next Demi Bold"/>
                <a:sym typeface="Avenir Next Demi Bold"/>
              </a:defRPr>
            </a:lvl5pPr>
          </a:lstStyle>
          <a:p>
            <a:pPr/>
            <a:r>
              <a:t>Subtitlu prezentare</a:t>
            </a:r>
          </a:p>
          <a:p>
            <a:pPr lvl="1"/>
            <a:r>
              <a:t/>
            </a:r>
          </a:p>
          <a:p>
            <a:pPr lvl="2"/>
            <a:r>
              <a:t/>
            </a:r>
          </a:p>
          <a:p>
            <a:pPr lvl="3"/>
            <a:r>
              <a:t/>
            </a:r>
          </a:p>
          <a:p>
            <a:pPr lvl="4"/>
            <a:r>
              <a:t/>
            </a:r>
          </a:p>
        </p:txBody>
      </p:sp>
      <p:sp>
        <p:nvSpPr>
          <p:cNvPr id="24" name="Autor și dată"/>
          <p:cNvSpPr txBox="1"/>
          <p:nvPr>
            <p:ph type="body" sz="quarter" idx="22" hasCustomPrompt="1"/>
          </p:nvPr>
        </p:nvSpPr>
        <p:spPr>
          <a:xfrm>
            <a:off x="1219200" y="11988800"/>
            <a:ext cx="21945602" cy="605791"/>
          </a:xfrm>
          <a:prstGeom prst="rect">
            <a:avLst/>
          </a:prstGeom>
        </p:spPr>
        <p:txBody>
          <a:bodyPr/>
          <a:lstStyle>
            <a:lvl1pPr marL="0" indent="0" algn="ctr" defTabSz="808990">
              <a:lnSpc>
                <a:spcPct val="100000"/>
              </a:lnSpc>
              <a:spcBef>
                <a:spcPts val="0"/>
              </a:spcBef>
              <a:buSzTx/>
              <a:buNone/>
              <a:defRPr spc="-100" sz="2900">
                <a:solidFill>
                  <a:srgbClr val="FFFFFF"/>
                </a:solidFill>
                <a:latin typeface="Avenir Next Medium"/>
                <a:ea typeface="Avenir Next Medium"/>
                <a:cs typeface="Avenir Next Medium"/>
                <a:sym typeface="Avenir Next Medium"/>
              </a:defRPr>
            </a:lvl1pPr>
          </a:lstStyle>
          <a:p>
            <a:pPr/>
            <a:r>
              <a:t>Autor și dată</a:t>
            </a:r>
          </a:p>
        </p:txBody>
      </p:sp>
      <p:sp>
        <p:nvSpPr>
          <p:cNvPr id="25" name="Număr diapozitiv"/>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poză (alt.)">
    <p:spTree>
      <p:nvGrpSpPr>
        <p:cNvPr id="1" name=""/>
        <p:cNvGrpSpPr/>
        <p:nvPr/>
      </p:nvGrpSpPr>
      <p:grpSpPr>
        <a:xfrm>
          <a:off x="0" y="0"/>
          <a:ext cx="0" cy="0"/>
          <a:chOff x="0" y="0"/>
          <a:chExt cx="0" cy="0"/>
        </a:xfrm>
      </p:grpSpPr>
      <p:sp>
        <p:nvSpPr>
          <p:cNvPr id="32" name="Titlu diapozitiv"/>
          <p:cNvSpPr txBox="1"/>
          <p:nvPr>
            <p:ph type="title" hasCustomPrompt="1"/>
          </p:nvPr>
        </p:nvSpPr>
        <p:spPr>
          <a:xfrm>
            <a:off x="1215494" y="4585101"/>
            <a:ext cx="9757339" cy="2540002"/>
          </a:xfrm>
          <a:prstGeom prst="rect">
            <a:avLst/>
          </a:prstGeom>
        </p:spPr>
        <p:txBody>
          <a:bodyPr anchor="b"/>
          <a:lstStyle/>
          <a:p>
            <a:pPr/>
            <a:r>
              <a:t>Titlu diapozitiv</a:t>
            </a:r>
          </a:p>
        </p:txBody>
      </p:sp>
      <p:sp>
        <p:nvSpPr>
          <p:cNvPr id="33" name="Mare pe fundalul cerului la apus"/>
          <p:cNvSpPr/>
          <p:nvPr>
            <p:ph type="pic" idx="21"/>
          </p:nvPr>
        </p:nvSpPr>
        <p:spPr>
          <a:xfrm>
            <a:off x="9283700" y="1270000"/>
            <a:ext cx="16751300" cy="11176000"/>
          </a:xfrm>
          <a:prstGeom prst="rect">
            <a:avLst/>
          </a:prstGeom>
        </p:spPr>
        <p:txBody>
          <a:bodyPr lIns="91439" tIns="45719" rIns="91439" bIns="45719">
            <a:noAutofit/>
          </a:bodyPr>
          <a:lstStyle/>
          <a:p>
            <a:pPr/>
          </a:p>
        </p:txBody>
      </p:sp>
      <p:sp>
        <p:nvSpPr>
          <p:cNvPr id="34" name="Nivel corp unu…"/>
          <p:cNvSpPr txBox="1"/>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1pPr>
            <a:lvl2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2pPr>
            <a:lvl3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3pPr>
            <a:lvl4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4pPr>
            <a:lvl5pPr marL="0" indent="0" algn="ctr" defTabSz="825500">
              <a:lnSpc>
                <a:spcPct val="100000"/>
              </a:lnSpc>
              <a:spcBef>
                <a:spcPts val="0"/>
              </a:spcBef>
              <a:buSzTx/>
              <a:buNone/>
              <a:defRPr spc="-44">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35"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și marcatori">
    <p:spTree>
      <p:nvGrpSpPr>
        <p:cNvPr id="1" name=""/>
        <p:cNvGrpSpPr/>
        <p:nvPr/>
      </p:nvGrpSpPr>
      <p:grpSpPr>
        <a:xfrm>
          <a:off x="0" y="0"/>
          <a:ext cx="0" cy="0"/>
          <a:chOff x="0" y="0"/>
          <a:chExt cx="0" cy="0"/>
        </a:xfrm>
      </p:grpSpPr>
      <p:sp>
        <p:nvSpPr>
          <p:cNvPr id="42" name="Titlu diapozitiv"/>
          <p:cNvSpPr txBox="1"/>
          <p:nvPr>
            <p:ph type="title" hasCustomPrompt="1"/>
          </p:nvPr>
        </p:nvSpPr>
        <p:spPr>
          <a:prstGeom prst="rect">
            <a:avLst/>
          </a:prstGeom>
        </p:spPr>
        <p:txBody>
          <a:bodyPr/>
          <a:lstStyle/>
          <a:p>
            <a:pPr/>
            <a:r>
              <a:t>Titlu diapozitiv</a:t>
            </a:r>
          </a:p>
        </p:txBody>
      </p:sp>
      <p:sp>
        <p:nvSpPr>
          <p:cNvPr id="43" name="Nivel corp unu…"/>
          <p:cNvSpPr txBox="1"/>
          <p:nvPr>
            <p:ph type="body" idx="1" hasCustomPrompt="1"/>
          </p:nvPr>
        </p:nvSpPr>
        <p:spPr>
          <a:prstGeom prst="rect">
            <a:avLst/>
          </a:prstGeom>
        </p:spPr>
        <p:txBody>
          <a:bodyPr/>
          <a:lstStyle/>
          <a:p>
            <a:pPr/>
            <a:r>
              <a:t>Text marcator diapozitiv</a:t>
            </a:r>
          </a:p>
          <a:p>
            <a:pPr lvl="1"/>
            <a:r>
              <a:t/>
            </a:r>
          </a:p>
          <a:p>
            <a:pPr lvl="2"/>
            <a:r>
              <a:t/>
            </a:r>
          </a:p>
          <a:p>
            <a:pPr lvl="3"/>
            <a:r>
              <a:t/>
            </a:r>
          </a:p>
          <a:p>
            <a:pPr lvl="4"/>
            <a:r>
              <a:t/>
            </a:r>
          </a:p>
        </p:txBody>
      </p:sp>
      <p:sp>
        <p:nvSpPr>
          <p:cNvPr id="44" name="Subtitlu diapozitiv"/>
          <p:cNvSpPr txBox="1"/>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pc="-100" sz="4200">
                <a:latin typeface="Avenir Next Demi Bold"/>
                <a:ea typeface="Avenir Next Demi Bold"/>
                <a:cs typeface="Avenir Next Demi Bold"/>
                <a:sym typeface="Avenir Next Demi Bold"/>
              </a:defRPr>
            </a:lvl1pPr>
          </a:lstStyle>
          <a:p>
            <a:pPr/>
            <a:r>
              <a:t>Subtitlu diapozitiv</a:t>
            </a:r>
          </a:p>
        </p:txBody>
      </p:sp>
      <p:sp>
        <p:nvSpPr>
          <p:cNvPr id="45"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rcatori">
    <p:spTree>
      <p:nvGrpSpPr>
        <p:cNvPr id="1" name=""/>
        <p:cNvGrpSpPr/>
        <p:nvPr/>
      </p:nvGrpSpPr>
      <p:grpSpPr>
        <a:xfrm>
          <a:off x="0" y="0"/>
          <a:ext cx="0" cy="0"/>
          <a:chOff x="0" y="0"/>
          <a:chExt cx="0" cy="0"/>
        </a:xfrm>
      </p:grpSpPr>
      <p:sp>
        <p:nvSpPr>
          <p:cNvPr id="52" name="Nivel corp unu…"/>
          <p:cNvSpPr txBox="1"/>
          <p:nvPr>
            <p:ph type="body" idx="1" hasCustomPrompt="1"/>
          </p:nvPr>
        </p:nvSpPr>
        <p:spPr>
          <a:xfrm>
            <a:off x="1219200" y="4013200"/>
            <a:ext cx="21945600" cy="8487148"/>
          </a:xfrm>
          <a:prstGeom prst="rect">
            <a:avLst/>
          </a:prstGeom>
        </p:spPr>
        <p:txBody>
          <a:bodyPr numCol="2" spcCol="2558383"/>
          <a:lstStyle/>
          <a:p>
            <a:pPr/>
            <a:r>
              <a:t>Text marcator diapozitiv</a:t>
            </a:r>
          </a:p>
          <a:p>
            <a:pPr lvl="1"/>
            <a:r>
              <a:t/>
            </a:r>
          </a:p>
          <a:p>
            <a:pPr lvl="2"/>
            <a:r>
              <a:t/>
            </a:r>
          </a:p>
          <a:p>
            <a:pPr lvl="3"/>
            <a:r>
              <a:t/>
            </a:r>
          </a:p>
          <a:p>
            <a:pPr lvl="4"/>
            <a:r>
              <a:t/>
            </a:r>
          </a:p>
        </p:txBody>
      </p:sp>
      <p:sp>
        <p:nvSpPr>
          <p:cNvPr id="53"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poză">
    <p:spTree>
      <p:nvGrpSpPr>
        <p:cNvPr id="1" name=""/>
        <p:cNvGrpSpPr/>
        <p:nvPr/>
      </p:nvGrpSpPr>
      <p:grpSpPr>
        <a:xfrm>
          <a:off x="0" y="0"/>
          <a:ext cx="0" cy="0"/>
          <a:chOff x="0" y="0"/>
          <a:chExt cx="0" cy="0"/>
        </a:xfrm>
      </p:grpSpPr>
      <p:sp>
        <p:nvSpPr>
          <p:cNvPr id="60"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61" name="Mare pe fundalul cerului la apus"/>
          <p:cNvSpPr/>
          <p:nvPr>
            <p:ph type="pic" idx="21"/>
          </p:nvPr>
        </p:nvSpPr>
        <p:spPr>
          <a:xfrm>
            <a:off x="12192644" y="718588"/>
            <a:ext cx="10972801" cy="12329625"/>
          </a:xfrm>
          <a:prstGeom prst="rect">
            <a:avLst/>
          </a:prstGeom>
        </p:spPr>
        <p:txBody>
          <a:bodyPr lIns="91439" tIns="45719" rIns="91439" bIns="45719">
            <a:noAutofit/>
          </a:bodyPr>
          <a:lstStyle/>
          <a:p>
            <a:pPr/>
          </a:p>
        </p:txBody>
      </p:sp>
      <p:sp>
        <p:nvSpPr>
          <p:cNvPr id="6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63" name="Nivel corp unu…"/>
          <p:cNvSpPr txBox="1"/>
          <p:nvPr>
            <p:ph type="body" sz="half" idx="22" hasCustomPrompt="1"/>
          </p:nvPr>
        </p:nvSpPr>
        <p:spPr>
          <a:xfrm>
            <a:off x="1219199" y="4023221"/>
            <a:ext cx="9757571" cy="8384679"/>
          </a:xfrm>
          <a:prstGeom prst="rect">
            <a:avLst/>
          </a:prstGeom>
        </p:spPr>
        <p:txBody>
          <a:bodyPr/>
          <a:lstStyle/>
          <a:p>
            <a:pPr/>
            <a:r>
              <a:t>Text marcator diapozitiv</a:t>
            </a:r>
          </a:p>
        </p:txBody>
      </p:sp>
      <p:sp>
        <p:nvSpPr>
          <p:cNvPr id="6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video live mic">
    <p:spTree>
      <p:nvGrpSpPr>
        <p:cNvPr id="1" name=""/>
        <p:cNvGrpSpPr/>
        <p:nvPr/>
      </p:nvGrpSpPr>
      <p:grpSpPr>
        <a:xfrm>
          <a:off x="0" y="0"/>
          <a:ext cx="0" cy="0"/>
          <a:chOff x="0" y="0"/>
          <a:chExt cx="0" cy="0"/>
        </a:xfrm>
      </p:grpSpPr>
      <p:sp>
        <p:nvSpPr>
          <p:cNvPr id="71"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7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73" name="Nivel corp unu…"/>
          <p:cNvSpPr txBox="1"/>
          <p:nvPr>
            <p:ph type="body" sz="half" idx="21" hasCustomPrompt="1"/>
          </p:nvPr>
        </p:nvSpPr>
        <p:spPr>
          <a:xfrm>
            <a:off x="1219199" y="4023221"/>
            <a:ext cx="9757571" cy="8384679"/>
          </a:xfrm>
          <a:prstGeom prst="rect">
            <a:avLst/>
          </a:prstGeom>
        </p:spPr>
        <p:txBody>
          <a:bodyPr/>
          <a:lstStyle/>
          <a:p>
            <a:pPr/>
            <a:r>
              <a:t>Text marcator diapozitiv</a:t>
            </a:r>
          </a:p>
        </p:txBody>
      </p:sp>
      <p:sp>
        <p:nvSpPr>
          <p:cNvPr id="7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u, marcatori și video live mare">
    <p:spTree>
      <p:nvGrpSpPr>
        <p:cNvPr id="1" name=""/>
        <p:cNvGrpSpPr/>
        <p:nvPr/>
      </p:nvGrpSpPr>
      <p:grpSpPr>
        <a:xfrm>
          <a:off x="0" y="0"/>
          <a:ext cx="0" cy="0"/>
          <a:chOff x="0" y="0"/>
          <a:chExt cx="0" cy="0"/>
        </a:xfrm>
      </p:grpSpPr>
      <p:sp>
        <p:nvSpPr>
          <p:cNvPr id="81" name="Titlu diapozitiv"/>
          <p:cNvSpPr txBox="1"/>
          <p:nvPr>
            <p:ph type="title" hasCustomPrompt="1"/>
          </p:nvPr>
        </p:nvSpPr>
        <p:spPr>
          <a:xfrm>
            <a:off x="1219200" y="774700"/>
            <a:ext cx="9753600" cy="1600200"/>
          </a:xfrm>
          <a:prstGeom prst="rect">
            <a:avLst/>
          </a:prstGeom>
        </p:spPr>
        <p:txBody>
          <a:bodyPr/>
          <a:lstStyle/>
          <a:p>
            <a:pPr/>
            <a:r>
              <a:t>Titlu diapozitiv</a:t>
            </a:r>
          </a:p>
        </p:txBody>
      </p:sp>
      <p:sp>
        <p:nvSpPr>
          <p:cNvPr id="82" name="Nivel corp unu…"/>
          <p:cNvSpPr txBox="1"/>
          <p:nvPr>
            <p:ph type="body" sz="quarter" idx="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83" name="Nivel corp unu…"/>
          <p:cNvSpPr txBox="1"/>
          <p:nvPr>
            <p:ph type="body" sz="half" idx="21" hasCustomPrompt="1"/>
          </p:nvPr>
        </p:nvSpPr>
        <p:spPr>
          <a:xfrm>
            <a:off x="1219199" y="4023221"/>
            <a:ext cx="9757571" cy="8384679"/>
          </a:xfrm>
          <a:prstGeom prst="rect">
            <a:avLst/>
          </a:prstGeom>
        </p:spPr>
        <p:txBody>
          <a:bodyPr/>
          <a:lstStyle/>
          <a:p>
            <a:pPr/>
            <a:r>
              <a:t>Text marcator diapozitiv</a:t>
            </a:r>
          </a:p>
        </p:txBody>
      </p:sp>
      <p:sp>
        <p:nvSpPr>
          <p:cNvPr id="84" name="Număr diapozitiv"/>
          <p:cNvSpPr txBox="1"/>
          <p:nvPr>
            <p:ph type="sldNum" sz="quarter" idx="2"/>
          </p:nvPr>
        </p:nvSpPr>
        <p:spPr>
          <a:xfrm>
            <a:off x="11993880"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țiune">
    <p:spTree>
      <p:nvGrpSpPr>
        <p:cNvPr id="1" name=""/>
        <p:cNvGrpSpPr/>
        <p:nvPr/>
      </p:nvGrpSpPr>
      <p:grpSpPr>
        <a:xfrm>
          <a:off x="0" y="0"/>
          <a:ext cx="0" cy="0"/>
          <a:chOff x="0" y="0"/>
          <a:chExt cx="0" cy="0"/>
        </a:xfrm>
      </p:grpSpPr>
      <p:sp>
        <p:nvSpPr>
          <p:cNvPr id="91" name="Titlu secțiune"/>
          <p:cNvSpPr txBox="1"/>
          <p:nvPr>
            <p:ph type="title" hasCustomPrompt="1"/>
          </p:nvPr>
        </p:nvSpPr>
        <p:spPr>
          <a:xfrm>
            <a:off x="1219200" y="3242269"/>
            <a:ext cx="21945600" cy="6604002"/>
          </a:xfrm>
          <a:prstGeom prst="rect">
            <a:avLst/>
          </a:prstGeom>
        </p:spPr>
        <p:txBody>
          <a:bodyPr anchor="ctr"/>
          <a:lstStyle>
            <a:lvl1pPr>
              <a:defRPr spc="0" sz="12800"/>
            </a:lvl1pPr>
          </a:lstStyle>
          <a:p>
            <a:pPr/>
            <a:r>
              <a:t>Titlu secțiune</a:t>
            </a:r>
          </a:p>
        </p:txBody>
      </p:sp>
      <p:sp>
        <p:nvSpPr>
          <p:cNvPr id="92"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oar titlu">
    <p:spTree>
      <p:nvGrpSpPr>
        <p:cNvPr id="1" name=""/>
        <p:cNvGrpSpPr/>
        <p:nvPr/>
      </p:nvGrpSpPr>
      <p:grpSpPr>
        <a:xfrm>
          <a:off x="0" y="0"/>
          <a:ext cx="0" cy="0"/>
          <a:chOff x="0" y="0"/>
          <a:chExt cx="0" cy="0"/>
        </a:xfrm>
      </p:grpSpPr>
      <p:sp>
        <p:nvSpPr>
          <p:cNvPr id="99" name="Titlu diapozitiv"/>
          <p:cNvSpPr txBox="1"/>
          <p:nvPr>
            <p:ph type="title" hasCustomPrompt="1"/>
          </p:nvPr>
        </p:nvSpPr>
        <p:spPr>
          <a:prstGeom prst="rect">
            <a:avLst/>
          </a:prstGeom>
        </p:spPr>
        <p:txBody>
          <a:bodyPr/>
          <a:lstStyle/>
          <a:p>
            <a:pPr/>
            <a:r>
              <a:t>Titlu diapozitiv</a:t>
            </a:r>
          </a:p>
        </p:txBody>
      </p:sp>
      <p:sp>
        <p:nvSpPr>
          <p:cNvPr id="100" name="Nivel corp unu…"/>
          <p:cNvSpPr txBox="1"/>
          <p:nvPr>
            <p:ph type="body" sz="quarter" idx="1" hasCustomPrompt="1"/>
          </p:nvPr>
        </p:nvSpPr>
        <p:spPr>
          <a:xfrm>
            <a:off x="1219200" y="2384648"/>
            <a:ext cx="21945602" cy="832614"/>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Subtitlu diapozitiv</a:t>
            </a:r>
          </a:p>
          <a:p>
            <a:pPr lvl="1"/>
            <a:r>
              <a:t/>
            </a:r>
          </a:p>
          <a:p>
            <a:pPr lvl="2"/>
            <a:r>
              <a:t/>
            </a:r>
          </a:p>
          <a:p>
            <a:pPr lvl="3"/>
            <a:r>
              <a:t/>
            </a:r>
          </a:p>
          <a:p>
            <a:pPr lvl="4"/>
            <a:r>
              <a:t/>
            </a:r>
          </a:p>
        </p:txBody>
      </p:sp>
      <p:sp>
        <p:nvSpPr>
          <p:cNvPr id="101"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ă">
    <p:spTree>
      <p:nvGrpSpPr>
        <p:cNvPr id="1" name=""/>
        <p:cNvGrpSpPr/>
        <p:nvPr/>
      </p:nvGrpSpPr>
      <p:grpSpPr>
        <a:xfrm>
          <a:off x="0" y="0"/>
          <a:ext cx="0" cy="0"/>
          <a:chOff x="0" y="0"/>
          <a:chExt cx="0" cy="0"/>
        </a:xfrm>
      </p:grpSpPr>
      <p:sp>
        <p:nvSpPr>
          <p:cNvPr id="108" name="Titlu agendă"/>
          <p:cNvSpPr txBox="1"/>
          <p:nvPr>
            <p:ph type="title" hasCustomPrompt="1"/>
          </p:nvPr>
        </p:nvSpPr>
        <p:spPr>
          <a:prstGeom prst="rect">
            <a:avLst/>
          </a:prstGeom>
        </p:spPr>
        <p:txBody>
          <a:bodyPr/>
          <a:lstStyle/>
          <a:p>
            <a:pPr/>
            <a:r>
              <a:t>Titlu agendă</a:t>
            </a:r>
          </a:p>
        </p:txBody>
      </p:sp>
      <p:sp>
        <p:nvSpPr>
          <p:cNvPr id="109" name="Nivel corp unu…"/>
          <p:cNvSpPr txBox="1"/>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pc="-136" sz="6800">
                <a:latin typeface="Canela Deck Regular"/>
                <a:ea typeface="Canela Deck Regular"/>
                <a:cs typeface="Canela Deck Regular"/>
                <a:sym typeface="Canela Deck Regular"/>
              </a:defRPr>
            </a:lvl1pPr>
            <a:lvl2pPr marL="0" indent="0" defTabSz="825500">
              <a:lnSpc>
                <a:spcPct val="100000"/>
              </a:lnSpc>
              <a:buSzTx/>
              <a:buNone/>
              <a:defRPr spc="-136" sz="6800">
                <a:latin typeface="Canela Deck Regular"/>
                <a:ea typeface="Canela Deck Regular"/>
                <a:cs typeface="Canela Deck Regular"/>
                <a:sym typeface="Canela Deck Regular"/>
              </a:defRPr>
            </a:lvl2pPr>
            <a:lvl3pPr marL="0" indent="0" defTabSz="825500">
              <a:lnSpc>
                <a:spcPct val="100000"/>
              </a:lnSpc>
              <a:buSzTx/>
              <a:buNone/>
              <a:defRPr spc="-136" sz="6800">
                <a:latin typeface="Canela Deck Regular"/>
                <a:ea typeface="Canela Deck Regular"/>
                <a:cs typeface="Canela Deck Regular"/>
                <a:sym typeface="Canela Deck Regular"/>
              </a:defRPr>
            </a:lvl3pPr>
            <a:lvl4pPr marL="0" indent="0" defTabSz="825500">
              <a:lnSpc>
                <a:spcPct val="100000"/>
              </a:lnSpc>
              <a:buSzTx/>
              <a:buNone/>
              <a:defRPr spc="-136" sz="6800">
                <a:latin typeface="Canela Deck Regular"/>
                <a:ea typeface="Canela Deck Regular"/>
                <a:cs typeface="Canela Deck Regular"/>
                <a:sym typeface="Canela Deck Regular"/>
              </a:defRPr>
            </a:lvl4pPr>
            <a:lvl5pPr marL="0" indent="0" defTabSz="825500">
              <a:lnSpc>
                <a:spcPct val="100000"/>
              </a:lnSpc>
              <a:buSzTx/>
              <a:buNone/>
              <a:defRPr spc="-136" sz="6800">
                <a:latin typeface="Canela Deck Regular"/>
                <a:ea typeface="Canela Deck Regular"/>
                <a:cs typeface="Canela Deck Regular"/>
                <a:sym typeface="Canela Deck Regular"/>
              </a:defRPr>
            </a:lvl5pPr>
          </a:lstStyle>
          <a:p>
            <a:pPr/>
            <a:r>
              <a:t>Subiecte agendă</a:t>
            </a:r>
          </a:p>
          <a:p>
            <a:pPr lvl="1"/>
            <a:r>
              <a:t/>
            </a:r>
          </a:p>
          <a:p>
            <a:pPr lvl="2"/>
            <a:r>
              <a:t/>
            </a:r>
          </a:p>
          <a:p>
            <a:pPr lvl="3"/>
            <a:r>
              <a:t/>
            </a:r>
          </a:p>
          <a:p>
            <a:pPr lvl="4"/>
            <a:r>
              <a:t/>
            </a:r>
          </a:p>
        </p:txBody>
      </p:sp>
      <p:sp>
        <p:nvSpPr>
          <p:cNvPr id="110" name="Subtitlu agendă"/>
          <p:cNvSpPr txBox="1"/>
          <p:nvPr>
            <p:ph type="body" sz="quarter" idx="21" hasCustomPrompt="1"/>
          </p:nvPr>
        </p:nvSpPr>
        <p:spPr>
          <a:xfrm>
            <a:off x="1219200" y="2387114"/>
            <a:ext cx="21945602" cy="832614"/>
          </a:xfrm>
          <a:prstGeom prst="rect">
            <a:avLst/>
          </a:prstGeom>
        </p:spPr>
        <p:txBody>
          <a:bodyPr/>
          <a:lstStyle>
            <a:lvl1pPr marL="0" indent="0" algn="ctr" defTabSz="792479">
              <a:lnSpc>
                <a:spcPct val="100000"/>
              </a:lnSpc>
              <a:spcBef>
                <a:spcPts val="0"/>
              </a:spcBef>
              <a:buSzTx/>
              <a:buNone/>
              <a:defRPr spc="-100" sz="4200">
                <a:latin typeface="Avenir Next Demi Bold"/>
                <a:ea typeface="Avenir Next Demi Bold"/>
                <a:cs typeface="Avenir Next Demi Bold"/>
                <a:sym typeface="Avenir Next Demi Bold"/>
              </a:defRPr>
            </a:lvl1pPr>
          </a:lstStyle>
          <a:p>
            <a:pPr/>
            <a:r>
              <a:t>Subtitlu agendă</a:t>
            </a:r>
          </a:p>
        </p:txBody>
      </p:sp>
      <p:sp>
        <p:nvSpPr>
          <p:cNvPr id="111"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clarație">
    <p:spTree>
      <p:nvGrpSpPr>
        <p:cNvPr id="1" name=""/>
        <p:cNvGrpSpPr/>
        <p:nvPr/>
      </p:nvGrpSpPr>
      <p:grpSpPr>
        <a:xfrm>
          <a:off x="0" y="0"/>
          <a:ext cx="0" cy="0"/>
          <a:chOff x="0" y="0"/>
          <a:chExt cx="0" cy="0"/>
        </a:xfrm>
      </p:grpSpPr>
      <p:sp>
        <p:nvSpPr>
          <p:cNvPr id="118" name="Nivel corp unu…"/>
          <p:cNvSpPr txBox="1"/>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0" algn="ctr" defTabSz="2438400">
              <a:lnSpc>
                <a:spcPct val="80000"/>
              </a:lnSpc>
              <a:spcBef>
                <a:spcPts val="0"/>
              </a:spcBef>
              <a:buSzTx/>
              <a:buNone/>
              <a:defRPr sz="12800">
                <a:latin typeface="Canela Regular"/>
                <a:ea typeface="Canela Regular"/>
                <a:cs typeface="Canela Regular"/>
                <a:sym typeface="Canela Regular"/>
              </a:defRPr>
            </a:lvl2pPr>
            <a:lvl3pPr marL="0" indent="0" algn="ctr" defTabSz="2438400">
              <a:lnSpc>
                <a:spcPct val="80000"/>
              </a:lnSpc>
              <a:spcBef>
                <a:spcPts val="0"/>
              </a:spcBef>
              <a:buSzTx/>
              <a:buNone/>
              <a:defRPr sz="12800">
                <a:latin typeface="Canela Regular"/>
                <a:ea typeface="Canela Regular"/>
                <a:cs typeface="Canela Regular"/>
                <a:sym typeface="Canela Regular"/>
              </a:defRPr>
            </a:lvl3pPr>
            <a:lvl4pPr marL="0" indent="0" algn="ctr" defTabSz="2438400">
              <a:lnSpc>
                <a:spcPct val="80000"/>
              </a:lnSpc>
              <a:spcBef>
                <a:spcPts val="0"/>
              </a:spcBef>
              <a:buSzTx/>
              <a:buNone/>
              <a:defRPr sz="12800">
                <a:latin typeface="Canela Regular"/>
                <a:ea typeface="Canela Regular"/>
                <a:cs typeface="Canela Regular"/>
                <a:sym typeface="Canela Regular"/>
              </a:defRPr>
            </a:lvl4pPr>
            <a:lvl5pPr marL="0" indent="0" algn="ctr" defTabSz="2438400">
              <a:lnSpc>
                <a:spcPct val="80000"/>
              </a:lnSpc>
              <a:spcBef>
                <a:spcPts val="0"/>
              </a:spcBef>
              <a:buSzTx/>
              <a:buNone/>
              <a:defRPr sz="12800">
                <a:latin typeface="Canela Regular"/>
                <a:ea typeface="Canela Regular"/>
                <a:cs typeface="Canela Regular"/>
                <a:sym typeface="Canela Regular"/>
              </a:defRPr>
            </a:lvl5pPr>
          </a:lstStyle>
          <a:p>
            <a:pPr/>
            <a:r>
              <a:t>Declarație</a:t>
            </a:r>
          </a:p>
          <a:p>
            <a:pPr lvl="1"/>
            <a:r>
              <a:t/>
            </a:r>
          </a:p>
          <a:p>
            <a:pPr lvl="2"/>
            <a:r>
              <a:t/>
            </a:r>
          </a:p>
          <a:p>
            <a:pPr lvl="3"/>
            <a:r>
              <a:t/>
            </a:r>
          </a:p>
          <a:p>
            <a:pPr lvl="4"/>
            <a:r>
              <a:t/>
            </a:r>
          </a:p>
        </p:txBody>
      </p:sp>
      <p:sp>
        <p:nvSpPr>
          <p:cNvPr id="119"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taliu (mare)">
    <p:spTree>
      <p:nvGrpSpPr>
        <p:cNvPr id="1" name=""/>
        <p:cNvGrpSpPr/>
        <p:nvPr/>
      </p:nvGrpSpPr>
      <p:grpSpPr>
        <a:xfrm>
          <a:off x="0" y="0"/>
          <a:ext cx="0" cy="0"/>
          <a:chOff x="0" y="0"/>
          <a:chExt cx="0" cy="0"/>
        </a:xfrm>
      </p:grpSpPr>
      <p:sp>
        <p:nvSpPr>
          <p:cNvPr id="126" name="Nivel corp unu…"/>
          <p:cNvSpPr txBox="1"/>
          <p:nvPr>
            <p:ph type="body" sz="quarter" idx="1" hasCustomPrompt="1"/>
          </p:nvPr>
        </p:nvSpPr>
        <p:spPr>
          <a:xfrm>
            <a:off x="1219200" y="8462239"/>
            <a:ext cx="21945602" cy="832614"/>
          </a:xfrm>
          <a:prstGeom prst="rect">
            <a:avLst/>
          </a:prstGeom>
        </p:spPr>
        <p:txBody>
          <a:bodyP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Informații factuale</a:t>
            </a:r>
          </a:p>
          <a:p>
            <a:pPr lvl="1"/>
            <a:r>
              <a:t/>
            </a:r>
          </a:p>
          <a:p>
            <a:pPr lvl="2"/>
            <a:r>
              <a:t/>
            </a:r>
          </a:p>
          <a:p>
            <a:pPr lvl="3"/>
            <a:r>
              <a:t/>
            </a:r>
          </a:p>
          <a:p>
            <a:pPr lvl="4"/>
            <a:r>
              <a:t/>
            </a:r>
          </a:p>
        </p:txBody>
      </p:sp>
      <p:sp>
        <p:nvSpPr>
          <p:cNvPr id="127" name="Nivel corp unu…"/>
          <p:cNvSpPr txBox="1"/>
          <p:nvPr>
            <p:ph type="body" sz="half" idx="21" hasCustomPrompt="1"/>
          </p:nvPr>
        </p:nvSpPr>
        <p:spPr>
          <a:xfrm>
            <a:off x="1219200" y="4214483"/>
            <a:ext cx="21945600" cy="4269709"/>
          </a:xfrm>
          <a:prstGeom prst="rect">
            <a:avLst/>
          </a:prstGeom>
        </p:spPr>
        <p:txBody>
          <a:bodyPr anchor="b"/>
          <a:lstStyle/>
          <a:p>
            <a:pPr lvl="4" marL="0" indent="1097280" algn="ctr" defTabSz="975360">
              <a:lnSpc>
                <a:spcPct val="80000"/>
              </a:lnSpc>
              <a:spcBef>
                <a:spcPts val="0"/>
              </a:spcBef>
              <a:buSzTx/>
              <a:buNone/>
              <a:defRPr sz="8960">
                <a:latin typeface="Canela Bold"/>
                <a:ea typeface="Canela Bold"/>
                <a:cs typeface="Canela Bold"/>
                <a:sym typeface="Canela Bold"/>
              </a:defRPr>
            </a:pPr>
            <a:r>
              <a:t>100%
</a:t>
            </a:r>
          </a:p>
        </p:txBody>
      </p:sp>
      <p:sp>
        <p:nvSpPr>
          <p:cNvPr id="128" name="Număr diapozitiv"/>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itat">
    <p:spTree>
      <p:nvGrpSpPr>
        <p:cNvPr id="1" name=""/>
        <p:cNvGrpSpPr/>
        <p:nvPr/>
      </p:nvGrpSpPr>
      <p:grpSpPr>
        <a:xfrm>
          <a:off x="0" y="0"/>
          <a:ext cx="0" cy="0"/>
          <a:chOff x="0" y="0"/>
          <a:chExt cx="0" cy="0"/>
        </a:xfrm>
      </p:grpSpPr>
      <p:sp>
        <p:nvSpPr>
          <p:cNvPr id="135" name="Nivel corp unu…"/>
          <p:cNvSpPr txBox="1"/>
          <p:nvPr>
            <p:ph type="body" sz="quarter" idx="1" hasCustomPrompt="1"/>
          </p:nvPr>
        </p:nvSpPr>
        <p:spPr>
          <a:xfrm>
            <a:off x="1219200" y="11100052"/>
            <a:ext cx="21945602" cy="832614"/>
          </a:xfrm>
          <a:prstGeom prst="rect">
            <a:avLst/>
          </a:prstGeom>
        </p:spPr>
        <p:txBody>
          <a:bodyPr anchor="ctr"/>
          <a:lstStyle>
            <a:lvl1pPr marL="0" indent="0" algn="ctr" defTabSz="792479">
              <a:lnSpc>
                <a:spcPct val="100000"/>
              </a:lnSpc>
              <a:spcBef>
                <a:spcPts val="0"/>
              </a:spcBef>
              <a:buSzTx/>
              <a:buNone/>
              <a:defRPr spc="-42" sz="4200">
                <a:latin typeface="Avenir Next Demi Bold"/>
                <a:ea typeface="Avenir Next Demi Bold"/>
                <a:cs typeface="Avenir Next Demi Bold"/>
                <a:sym typeface="Avenir Next Demi Bold"/>
              </a:defRPr>
            </a:lvl1pPr>
            <a:lvl2pPr marL="1067377" indent="-521277" algn="ctr" defTabSz="792479">
              <a:lnSpc>
                <a:spcPct val="100000"/>
              </a:lnSpc>
              <a:spcBef>
                <a:spcPts val="0"/>
              </a:spcBef>
              <a:defRPr spc="-42" sz="4200">
                <a:latin typeface="Avenir Next Demi Bold"/>
                <a:ea typeface="Avenir Next Demi Bold"/>
                <a:cs typeface="Avenir Next Demi Bold"/>
                <a:sym typeface="Avenir Next Demi Bold"/>
              </a:defRPr>
            </a:lvl2pPr>
            <a:lvl3pPr marL="1613477" indent="-521277" algn="ctr" defTabSz="792479">
              <a:lnSpc>
                <a:spcPct val="100000"/>
              </a:lnSpc>
              <a:spcBef>
                <a:spcPts val="0"/>
              </a:spcBef>
              <a:defRPr spc="-42" sz="4200">
                <a:latin typeface="Avenir Next Demi Bold"/>
                <a:ea typeface="Avenir Next Demi Bold"/>
                <a:cs typeface="Avenir Next Demi Bold"/>
                <a:sym typeface="Avenir Next Demi Bold"/>
              </a:defRPr>
            </a:lvl3pPr>
            <a:lvl4pPr marL="2159577" indent="-521277" algn="ctr" defTabSz="792479">
              <a:lnSpc>
                <a:spcPct val="100000"/>
              </a:lnSpc>
              <a:spcBef>
                <a:spcPts val="0"/>
              </a:spcBef>
              <a:defRPr spc="-42" sz="4200">
                <a:latin typeface="Avenir Next Demi Bold"/>
                <a:ea typeface="Avenir Next Demi Bold"/>
                <a:cs typeface="Avenir Next Demi Bold"/>
                <a:sym typeface="Avenir Next Demi Bold"/>
              </a:defRPr>
            </a:lvl4pPr>
            <a:lvl5pPr marL="2705677" indent="-521277" algn="ctr" defTabSz="792479">
              <a:lnSpc>
                <a:spcPct val="100000"/>
              </a:lnSpc>
              <a:spcBef>
                <a:spcPts val="0"/>
              </a:spcBef>
              <a:defRPr spc="-42" sz="4200">
                <a:latin typeface="Avenir Next Demi Bold"/>
                <a:ea typeface="Avenir Next Demi Bold"/>
                <a:cs typeface="Avenir Next Demi Bold"/>
                <a:sym typeface="Avenir Next Demi Bold"/>
              </a:defRPr>
            </a:lvl5pPr>
          </a:lstStyle>
          <a:p>
            <a:pPr/>
            <a:r>
              <a:t>Atribuire</a:t>
            </a:r>
          </a:p>
          <a:p>
            <a:pPr lvl="1"/>
            <a:r>
              <a:t/>
            </a:r>
          </a:p>
          <a:p>
            <a:pPr lvl="2"/>
            <a:r>
              <a:t/>
            </a:r>
          </a:p>
          <a:p>
            <a:pPr lvl="3"/>
            <a:r>
              <a:t/>
            </a:r>
          </a:p>
          <a:p>
            <a:pPr lvl="4"/>
            <a:r>
              <a:t/>
            </a:r>
          </a:p>
        </p:txBody>
      </p:sp>
      <p:sp>
        <p:nvSpPr>
          <p:cNvPr id="136" name="Nivel corp unu…"/>
          <p:cNvSpPr txBox="1"/>
          <p:nvPr>
            <p:ph type="body" sz="half" idx="21" hasCustomPrompt="1"/>
          </p:nvPr>
        </p:nvSpPr>
        <p:spPr>
          <a:xfrm>
            <a:off x="1219200" y="4178300"/>
            <a:ext cx="21945600" cy="4416425"/>
          </a:xfrm>
          <a:prstGeom prst="rect">
            <a:avLst/>
          </a:prstGeom>
        </p:spPr>
        <p:txBody>
          <a:bodyPr anchor="ctr"/>
          <a:lstStyle/>
          <a:p>
            <a:pPr lvl="4" marL="0" indent="1700783" algn="ctr" defTabSz="1511808">
              <a:lnSpc>
                <a:spcPct val="80000"/>
              </a:lnSpc>
              <a:spcBef>
                <a:spcPts val="0"/>
              </a:spcBef>
              <a:buSzTx/>
              <a:buNone/>
              <a:defRPr sz="5208">
                <a:latin typeface="Canela Bold"/>
                <a:ea typeface="Canela Bold"/>
                <a:cs typeface="Canela Bold"/>
                <a:sym typeface="Canela Bold"/>
              </a:defRPr>
            </a:pPr>
            <a:r>
              <a:t>“Citat important”
</a:t>
            </a:r>
          </a:p>
        </p:txBody>
      </p:sp>
      <p:sp>
        <p:nvSpPr>
          <p:cNvPr id="137"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ză - 3 exemplare">
    <p:spTree>
      <p:nvGrpSpPr>
        <p:cNvPr id="1" name=""/>
        <p:cNvGrpSpPr/>
        <p:nvPr/>
      </p:nvGrpSpPr>
      <p:grpSpPr>
        <a:xfrm>
          <a:off x="0" y="0"/>
          <a:ext cx="0" cy="0"/>
          <a:chOff x="0" y="0"/>
          <a:chExt cx="0" cy="0"/>
        </a:xfrm>
      </p:grpSpPr>
      <p:sp>
        <p:nvSpPr>
          <p:cNvPr id="144" name="Mare pe fundalul cerului la apus 2"/>
          <p:cNvSpPr/>
          <p:nvPr>
            <p:ph type="pic" sz="quarter" idx="21"/>
          </p:nvPr>
        </p:nvSpPr>
        <p:spPr>
          <a:xfrm>
            <a:off x="15744825" y="5581751"/>
            <a:ext cx="7365408" cy="8280402"/>
          </a:xfrm>
          <a:prstGeom prst="rect">
            <a:avLst/>
          </a:prstGeom>
        </p:spPr>
        <p:txBody>
          <a:bodyPr lIns="91439" tIns="45719" rIns="91439" bIns="45719">
            <a:noAutofit/>
          </a:bodyPr>
          <a:lstStyle/>
          <a:p>
            <a:pPr/>
          </a:p>
        </p:txBody>
      </p:sp>
      <p:sp>
        <p:nvSpPr>
          <p:cNvPr id="145" name="Mare pe fundalul cerului la apus 1"/>
          <p:cNvSpPr/>
          <p:nvPr>
            <p:ph type="pic" sz="quarter" idx="22"/>
          </p:nvPr>
        </p:nvSpPr>
        <p:spPr>
          <a:xfrm>
            <a:off x="15363825" y="1270000"/>
            <a:ext cx="8115300" cy="5409006"/>
          </a:xfrm>
          <a:prstGeom prst="rect">
            <a:avLst/>
          </a:prstGeom>
        </p:spPr>
        <p:txBody>
          <a:bodyPr lIns="91439" tIns="45719" rIns="91439" bIns="45719">
            <a:noAutofit/>
          </a:bodyPr>
          <a:lstStyle/>
          <a:p>
            <a:pPr/>
          </a:p>
        </p:txBody>
      </p:sp>
      <p:sp>
        <p:nvSpPr>
          <p:cNvPr id="146" name="Plajă și mare la apus"/>
          <p:cNvSpPr/>
          <p:nvPr>
            <p:ph type="pic" idx="23"/>
          </p:nvPr>
        </p:nvSpPr>
        <p:spPr>
          <a:xfrm>
            <a:off x="-63500" y="1270000"/>
            <a:ext cx="16764000" cy="11176000"/>
          </a:xfrm>
          <a:prstGeom prst="rect">
            <a:avLst/>
          </a:prstGeom>
        </p:spPr>
        <p:txBody>
          <a:bodyPr lIns="91439" tIns="45719" rIns="91439" bIns="45719">
            <a:noAutofit/>
          </a:bodyPr>
          <a:lstStyle/>
          <a:p>
            <a:pPr/>
          </a:p>
        </p:txBody>
      </p:sp>
      <p:sp>
        <p:nvSpPr>
          <p:cNvPr id="147"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ză">
    <p:spTree>
      <p:nvGrpSpPr>
        <p:cNvPr id="1" name=""/>
        <p:cNvGrpSpPr/>
        <p:nvPr/>
      </p:nvGrpSpPr>
      <p:grpSpPr>
        <a:xfrm>
          <a:off x="0" y="0"/>
          <a:ext cx="0" cy="0"/>
          <a:chOff x="0" y="0"/>
          <a:chExt cx="0" cy="0"/>
        </a:xfrm>
      </p:grpSpPr>
      <p:sp>
        <p:nvSpPr>
          <p:cNvPr id="154" name="plajă și mare la apus"/>
          <p:cNvSpPr/>
          <p:nvPr>
            <p:ph type="pic" idx="21"/>
          </p:nvPr>
        </p:nvSpPr>
        <p:spPr>
          <a:xfrm>
            <a:off x="1270000" y="-423334"/>
            <a:ext cx="21844000" cy="14562668"/>
          </a:xfrm>
          <a:prstGeom prst="rect">
            <a:avLst/>
          </a:prstGeom>
        </p:spPr>
        <p:txBody>
          <a:bodyPr lIns="91439" tIns="45719" rIns="91439" bIns="45719">
            <a:noAutofit/>
          </a:bodyPr>
          <a:lstStyle/>
          <a:p>
            <a:pPr/>
          </a:p>
        </p:txBody>
      </p:sp>
      <p:sp>
        <p:nvSpPr>
          <p:cNvPr id="155"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ără conținut">
    <p:spTree>
      <p:nvGrpSpPr>
        <p:cNvPr id="1" name=""/>
        <p:cNvGrpSpPr/>
        <p:nvPr/>
      </p:nvGrpSpPr>
      <p:grpSpPr>
        <a:xfrm>
          <a:off x="0" y="0"/>
          <a:ext cx="0" cy="0"/>
          <a:chOff x="0" y="0"/>
          <a:chExt cx="0" cy="0"/>
        </a:xfrm>
      </p:grpSpPr>
      <p:sp>
        <p:nvSpPr>
          <p:cNvPr id="162" name="Număr diapozitiv"/>
          <p:cNvSpPr txBox="1"/>
          <p:nvPr>
            <p:ph type="sldNum" sz="quarter" idx="2"/>
          </p:nvPr>
        </p:nvSpPr>
        <p:spPr>
          <a:xfrm>
            <a:off x="11991339" y="12684760"/>
            <a:ext cx="408941" cy="4445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u diapozitiv"/>
          <p:cNvSpPr txBox="1"/>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Titlu diapozitiv</a:t>
            </a:r>
          </a:p>
        </p:txBody>
      </p:sp>
      <p:sp>
        <p:nvSpPr>
          <p:cNvPr id="3" name="Nivel corp unu…"/>
          <p:cNvSpPr txBox="1"/>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Text marcator diapozitiv</a:t>
            </a:r>
          </a:p>
          <a:p>
            <a:pPr lvl="1"/>
            <a:r>
              <a:t/>
            </a:r>
          </a:p>
          <a:p>
            <a:pPr lvl="2"/>
            <a:r>
              <a:t/>
            </a:r>
          </a:p>
          <a:p>
            <a:pPr lvl="3"/>
            <a:r>
              <a:t/>
            </a:r>
          </a:p>
          <a:p>
            <a:pPr lvl="4"/>
            <a:r>
              <a:t/>
            </a:r>
          </a:p>
        </p:txBody>
      </p:sp>
      <p:sp>
        <p:nvSpPr>
          <p:cNvPr id="4" name="Număr diapozitiv"/>
          <p:cNvSpPr txBox="1"/>
          <p:nvPr>
            <p:ph type="sldNum" sz="quarter" idx="2"/>
          </p:nvPr>
        </p:nvSpPr>
        <p:spPr>
          <a:xfrm>
            <a:off x="11987530" y="12684760"/>
            <a:ext cx="408941" cy="4445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2000">
                <a:solidFill>
                  <a:srgbClr val="5E5E5E"/>
                </a:solidFill>
                <a:latin typeface="Avenir Next Regular"/>
                <a:ea typeface="Avenir Next Regular"/>
                <a:cs typeface="Avenir Next Regular"/>
                <a:sym typeface="Avenir Next Regular"/>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1pPr>
      <a:lvl2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2pPr>
      <a:lvl3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3pPr>
      <a:lvl4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4pPr>
      <a:lvl5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5pPr>
      <a:lvl6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6pPr>
      <a:lvl7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7pPr>
      <a:lvl8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8pPr>
      <a:lvl9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Canela Bold"/>
          <a:ea typeface="Canela Bold"/>
          <a:cs typeface="Canela Bold"/>
          <a:sym typeface="Canela Bold"/>
        </a:defRPr>
      </a:lvl9pPr>
    </p:titleStyle>
    <p:bodyStyle>
      <a:lvl1pPr marL="5461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1pPr>
      <a:lvl2pPr marL="10922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2pPr>
      <a:lvl3pPr marL="16383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3pPr>
      <a:lvl4pPr marL="21844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4pPr>
      <a:lvl5pPr marL="27305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5pPr>
      <a:lvl6pPr marL="32766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6pPr>
      <a:lvl7pPr marL="38227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7pPr>
      <a:lvl8pPr marL="43688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8pPr>
      <a:lvl9pPr marL="4914900" marR="0" indent="-546100" algn="l" defTabSz="2438337"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1pPr>
      <a:lvl2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2pPr>
      <a:lvl3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3pPr>
      <a:lvl4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4pPr>
      <a:lvl5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5pPr>
      <a:lvl6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6pPr>
      <a:lvl7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7pPr>
      <a:lvl8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8pPr>
      <a:lvl9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Avenir Next Regular"/>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tif"/></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tif"/><Relationship Id="rId3" Type="http://schemas.openxmlformats.org/officeDocument/2006/relationships/image" Target="../media/image6.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7.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30.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 Id="rId3" Type="http://schemas.openxmlformats.org/officeDocument/2006/relationships/image" Target="../media/image38.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image" Target="../media/image50.png"/><Relationship Id="rId13" Type="http://schemas.openxmlformats.org/officeDocument/2006/relationships/image" Target="../media/image51.png"/><Relationship Id="rId14" Type="http://schemas.openxmlformats.org/officeDocument/2006/relationships/image" Target="../media/image52.png"/><Relationship Id="rId15" Type="http://schemas.openxmlformats.org/officeDocument/2006/relationships/image" Target="../media/image53.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image" Target="../media/image50.png"/><Relationship Id="rId13" Type="http://schemas.openxmlformats.org/officeDocument/2006/relationships/image" Target="../media/image51.png"/><Relationship Id="rId14" Type="http://schemas.openxmlformats.org/officeDocument/2006/relationships/image" Target="../media/image52.png"/><Relationship Id="rId15" Type="http://schemas.openxmlformats.org/officeDocument/2006/relationships/image" Target="../media/image53.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4.png"/><Relationship Id="rId3" Type="http://schemas.openxmlformats.org/officeDocument/2006/relationships/image" Target="../media/image42.png"/><Relationship Id="rId4" Type="http://schemas.openxmlformats.org/officeDocument/2006/relationships/image" Target="../media/image55.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6.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7.png"/><Relationship Id="rId3" Type="http://schemas.openxmlformats.org/officeDocument/2006/relationships/image" Target="../media/image58.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9.png"/><Relationship Id="rId3" Type="http://schemas.openxmlformats.org/officeDocument/2006/relationships/image" Target="../media/image60.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9.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9.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2.png"/><Relationship Id="rId3" Type="http://schemas.openxmlformats.org/officeDocument/2006/relationships/image" Target="../media/image73.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4.png"/><Relationship Id="rId3" Type="http://schemas.openxmlformats.org/officeDocument/2006/relationships/image" Target="../media/image75.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2.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 Id="rId9" Type="http://schemas.openxmlformats.org/officeDocument/2006/relationships/image" Target="../media/image91.png"/><Relationship Id="rId10" Type="http://schemas.openxmlformats.org/officeDocument/2006/relationships/image" Target="../media/image92.png"/><Relationship Id="rId11" Type="http://schemas.openxmlformats.org/officeDocument/2006/relationships/image" Target="../media/image93.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4.png"/><Relationship Id="rId3" Type="http://schemas.openxmlformats.org/officeDocument/2006/relationships/image" Target="../media/image9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image" Target="../media/image98.png"/></Relationships>

</file>

<file path=ppt/slides/_rels/slide4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9.png"/><Relationship Id="rId3" Type="http://schemas.openxmlformats.org/officeDocument/2006/relationships/image" Target="../media/image100.png"/></Relationships>

</file>

<file path=ppt/slides/_rels/slide4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1.png"/><Relationship Id="rId3" Type="http://schemas.openxmlformats.org/officeDocument/2006/relationships/image" Target="../media/image102.png"/></Relationships>

</file>

<file path=ppt/slides/_rels/slide4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1.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s>

</file>

<file path=ppt/slides/_rels/slide4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6.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7.png"/></Relationships>

</file>

<file path=ppt/slides/_rels/slide4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8.png"/><Relationship Id="rId3" Type="http://schemas.openxmlformats.org/officeDocument/2006/relationships/image" Target="../media/image109.png"/><Relationship Id="rId4" Type="http://schemas.openxmlformats.org/officeDocument/2006/relationships/image" Target="../media/image110.png"/></Relationships>

</file>

<file path=ppt/slides/_rels/slide5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s>

</file>

<file path=ppt/slides/_rels/slide5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5.png"/></Relationships>

</file>

<file path=ppt/slides/_rels/slide5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6.png"/><Relationship Id="rId3" Type="http://schemas.openxmlformats.org/officeDocument/2006/relationships/image" Target="../media/image117.png"/></Relationships>

</file>

<file path=ppt/slides/_rels/slide5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6.png"/></Relationships>

</file>

<file path=ppt/slides/_rels/slide5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8.png"/></Relationships>

</file>

<file path=ppt/slides/_rels/slide5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8.png"/><Relationship Id="rId3" Type="http://schemas.openxmlformats.org/officeDocument/2006/relationships/image" Target="../media/image119.png"/></Relationships>

</file>

<file path=ppt/slides/_rels/slide5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0.png"/><Relationship Id="rId3" Type="http://schemas.openxmlformats.org/officeDocument/2006/relationships/image" Target="../media/image121.png"/><Relationship Id="rId4" Type="http://schemas.openxmlformats.org/officeDocument/2006/relationships/image" Target="../media/image122.png"/></Relationships>

</file>

<file path=ppt/slides/_rels/slide5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3.png"/></Relationships>

</file>

<file path=ppt/slides/_rels/slide5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3.png"/><Relationship Id="rId3" Type="http://schemas.openxmlformats.org/officeDocument/2006/relationships/image" Target="../media/image124.png"/><Relationship Id="rId4" Type="http://schemas.openxmlformats.org/officeDocument/2006/relationships/image" Target="../media/image125.png"/></Relationships>

</file>

<file path=ppt/slides/_rels/slide5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0.png"/><Relationship Id="rId3" Type="http://schemas.openxmlformats.org/officeDocument/2006/relationships/image" Target="../media/image126.png"/><Relationship Id="rId4" Type="http://schemas.openxmlformats.org/officeDocument/2006/relationships/image" Target="../media/image127.png"/><Relationship Id="rId5" Type="http://schemas.openxmlformats.org/officeDocument/2006/relationships/image" Target="../media/image128.png"/><Relationship Id="rId6" Type="http://schemas.openxmlformats.org/officeDocument/2006/relationships/image" Target="../media/image129.png"/><Relationship Id="rId7" Type="http://schemas.openxmlformats.org/officeDocument/2006/relationships/image" Target="../media/image130.png"/><Relationship Id="rId8" Type="http://schemas.openxmlformats.org/officeDocument/2006/relationships/image" Target="../media/image131.png"/></Relationships>

</file>

<file path=ppt/slides/_rels/slide6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Efrem Dragoș-Sebastian-Mihaly"/>
          <p:cNvSpPr txBox="1"/>
          <p:nvPr>
            <p:ph type="body" sz="quarter" idx="1"/>
          </p:nvPr>
        </p:nvSpPr>
        <p:spPr>
          <a:xfrm>
            <a:off x="1219199" y="11986162"/>
            <a:ext cx="21945600" cy="605792"/>
          </a:xfrm>
          <a:prstGeom prst="rect">
            <a:avLst/>
          </a:prstGeom>
        </p:spPr>
        <p:txBody>
          <a:bodyPr/>
          <a:lstStyle>
            <a:lvl1pPr>
              <a:defRPr spc="-100"/>
            </a:lvl1pPr>
          </a:lstStyle>
          <a:p>
            <a:pPr/>
            <a:r>
              <a:t>Efrem Dragoș-Sebastian-Mihaly</a:t>
            </a:r>
          </a:p>
        </p:txBody>
      </p:sp>
      <p:sp>
        <p:nvSpPr>
          <p:cNvPr id="172" name="Bazele Inteligenței Artificiale"/>
          <p:cNvSpPr txBox="1"/>
          <p:nvPr>
            <p:ph type="title"/>
          </p:nvPr>
        </p:nvSpPr>
        <p:spPr>
          <a:prstGeom prst="rect">
            <a:avLst/>
          </a:prstGeom>
        </p:spPr>
        <p:txBody>
          <a:bodyPr/>
          <a:lstStyle>
            <a:lvl1pPr>
              <a:defRPr spc="-200"/>
            </a:lvl1pPr>
          </a:lstStyle>
          <a:p>
            <a:pPr/>
            <a:r>
              <a:t>Bazele Inteligenței Artificiale</a:t>
            </a:r>
          </a:p>
        </p:txBody>
      </p:sp>
      <p:sp>
        <p:nvSpPr>
          <p:cNvPr id="173" name="Lab 2. Modele parametrice"/>
          <p:cNvSpPr txBox="1"/>
          <p:nvPr/>
        </p:nvSpPr>
        <p:spPr>
          <a:xfrm>
            <a:off x="1219200" y="7567579"/>
            <a:ext cx="21945600" cy="225059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algn="ctr" defTabSz="825500">
              <a:lnSpc>
                <a:spcPct val="100000"/>
              </a:lnSpc>
              <a:spcBef>
                <a:spcPts val="0"/>
              </a:spcBef>
              <a:defRPr spc="-100" sz="6000">
                <a:latin typeface="Avenir Next Demi Bold"/>
                <a:ea typeface="Avenir Next Demi Bold"/>
                <a:cs typeface="Avenir Next Demi Bold"/>
                <a:sym typeface="Avenir Next Demi Bold"/>
              </a:defRPr>
            </a:lvl1pPr>
          </a:lstStyle>
          <a:p>
            <a:pPr/>
            <a:r>
              <a:t>Lab 4. Arbori de decizie. Metode de ansambluri</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În general, sunt două tipuri mari și late:"/>
          <p:cNvSpPr txBox="1"/>
          <p:nvPr>
            <p:ph type="body" idx="1"/>
          </p:nvPr>
        </p:nvSpPr>
        <p:spPr>
          <a:xfrm>
            <a:off x="1687402" y="4009347"/>
            <a:ext cx="21948579" cy="8483602"/>
          </a:xfrm>
          <a:prstGeom prst="rect">
            <a:avLst/>
          </a:prstGeom>
        </p:spPr>
        <p:txBody>
          <a:bodyPr/>
          <a:lstStyle/>
          <a:p>
            <a:pPr/>
            <a:r>
              <a:t>Setul de date Iris:</a:t>
            </a:r>
          </a:p>
        </p:txBody>
      </p:sp>
      <p:sp>
        <p:nvSpPr>
          <p:cNvPr id="176"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17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178" name="Supervizate"/>
          <p:cNvSpPr txBox="1"/>
          <p:nvPr/>
        </p:nvSpPr>
        <p:spPr>
          <a:xfrm>
            <a:off x="9160410" y="648285"/>
            <a:ext cx="8358423"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Clasificare</a:t>
            </a:r>
          </a:p>
        </p:txBody>
      </p:sp>
      <p:graphicFrame>
        <p:nvGraphicFramePr>
          <p:cNvPr id="179" name="Tabelul 1"/>
          <p:cNvGraphicFramePr/>
          <p:nvPr/>
        </p:nvGraphicFramePr>
        <p:xfrm>
          <a:off x="2553046" y="5547979"/>
          <a:ext cx="15435026" cy="5419039"/>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855581"/>
                <a:gridCol w="3855581"/>
                <a:gridCol w="3855581"/>
                <a:gridCol w="3855581"/>
                <a:gridCol w="3855581"/>
              </a:tblGrid>
              <a:tr h="1081267">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Length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Width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Petal Length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Petal Width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Species</a:t>
                      </a:r>
                    </a:p>
                  </a:txBody>
                  <a:tcPr marL="0" marR="0" marT="0" marB="0" anchor="ctr" anchorCtr="0" horzOverflow="overflow">
                    <a:solidFill>
                      <a:schemeClr val="accent5"/>
                    </a:solidFill>
                  </a:tcPr>
                </a:tc>
              </a:tr>
              <a:tr h="1081267">
                <a:tc>
                  <a:txBody>
                    <a:bodyPr/>
                    <a:lstStyle/>
                    <a:p>
                      <a:pPr indent="457200">
                        <a:defRPr b="0" sz="1800"/>
                      </a:pPr>
                      <a:r>
                        <a:rPr sz="2000">
                          <a:latin typeface="Canela Text Regular"/>
                          <a:ea typeface="Canela Text Regular"/>
                          <a:cs typeface="Canela Text Regular"/>
                          <a:sym typeface="Canela Text Regular"/>
                        </a:rPr>
                        <a:t>5.1</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3.5</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1.4</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0.2</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0</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7.0</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3.2</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4.7</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1.4</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6.3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6.0</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2.5</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2</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pic>
        <p:nvPicPr>
          <p:cNvPr id="180" name="Linie Linie" descr="Linie Linie"/>
          <p:cNvPicPr>
            <a:picLocks noChangeAspect="0"/>
          </p:cNvPicPr>
          <p:nvPr/>
        </p:nvPicPr>
        <p:blipFill>
          <a:blip r:embed="rId2">
            <a:extLst/>
          </a:blip>
          <a:stretch>
            <a:fillRect/>
          </a:stretch>
        </p:blipFill>
        <p:spPr>
          <a:xfrm>
            <a:off x="2703988" y="11562384"/>
            <a:ext cx="15110141" cy="101601"/>
          </a:xfrm>
          <a:prstGeom prst="rect">
            <a:avLst/>
          </a:prstGeom>
        </p:spPr>
      </p:pic>
      <p:sp>
        <p:nvSpPr>
          <p:cNvPr id="182" name="Caracteristici / Atribute / Features"/>
          <p:cNvSpPr txBox="1"/>
          <p:nvPr/>
        </p:nvSpPr>
        <p:spPr>
          <a:xfrm>
            <a:off x="6483129" y="11690949"/>
            <a:ext cx="871479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Caracteristici / Atribute / Features</a:t>
            </a:r>
          </a:p>
        </p:txBody>
      </p:sp>
      <p:pic>
        <p:nvPicPr>
          <p:cNvPr id="183" name="Linie Linie" descr="Linie Linie"/>
          <p:cNvPicPr>
            <a:picLocks noChangeAspect="0"/>
          </p:cNvPicPr>
          <p:nvPr/>
        </p:nvPicPr>
        <p:blipFill>
          <a:blip r:embed="rId3">
            <a:extLst/>
          </a:blip>
          <a:stretch>
            <a:fillRect/>
          </a:stretch>
        </p:blipFill>
        <p:spPr>
          <a:xfrm>
            <a:off x="17911213" y="11562384"/>
            <a:ext cx="4101237" cy="101601"/>
          </a:xfrm>
          <a:prstGeom prst="rect">
            <a:avLst/>
          </a:prstGeom>
        </p:spPr>
      </p:pic>
      <p:sp>
        <p:nvSpPr>
          <p:cNvPr id="185" name="Etichetă / Clasă"/>
          <p:cNvSpPr txBox="1"/>
          <p:nvPr/>
        </p:nvSpPr>
        <p:spPr>
          <a:xfrm>
            <a:off x="18145272" y="11690949"/>
            <a:ext cx="41672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Etichetă / Clasă</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175"/>
                                        </p:tgtEl>
                                        <p:attrNameLst>
                                          <p:attrName>style.visibility</p:attrName>
                                        </p:attrNameLst>
                                      </p:cBhvr>
                                      <p:to>
                                        <p:strVal val="visible"/>
                                      </p:to>
                                    </p:set>
                                    <p:anim calcmode="lin" valueType="num">
                                      <p:cBhvr>
                                        <p:cTn id="7" dur="1000" fill="hold"/>
                                        <p:tgtEl>
                                          <p:spTgt spid="175"/>
                                        </p:tgtEl>
                                        <p:attrNameLst>
                                          <p:attrName>ppt_x</p:attrName>
                                        </p:attrNameLst>
                                      </p:cBhvr>
                                      <p:tavLst>
                                        <p:tav tm="0">
                                          <p:val>
                                            <p:strVal val="0-#ppt_w/2"/>
                                          </p:val>
                                        </p:tav>
                                        <p:tav tm="100000">
                                          <p:val>
                                            <p:strVal val="#ppt_x"/>
                                          </p:val>
                                        </p:tav>
                                      </p:tavLst>
                                    </p:anim>
                                    <p:anim calcmode="lin" valueType="num">
                                      <p:cBhvr>
                                        <p:cTn id="8" dur="1000" fill="hold"/>
                                        <p:tgtEl>
                                          <p:spTgt spid="1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179"/>
                                        </p:tgtEl>
                                        <p:attrNameLst>
                                          <p:attrName>style.visibility</p:attrName>
                                        </p:attrNameLst>
                                      </p:cBhvr>
                                      <p:to>
                                        <p:strVal val="visible"/>
                                      </p:to>
                                    </p:set>
                                    <p:anim calcmode="lin" valueType="num">
                                      <p:cBhvr>
                                        <p:cTn id="13" dur="1000" fill="hold"/>
                                        <p:tgtEl>
                                          <p:spTgt spid="179"/>
                                        </p:tgtEl>
                                        <p:attrNameLst>
                                          <p:attrName>ppt_x</p:attrName>
                                        </p:attrNameLst>
                                      </p:cBhvr>
                                      <p:tavLst>
                                        <p:tav tm="0">
                                          <p:val>
                                            <p:strVal val="0-#ppt_w/2"/>
                                          </p:val>
                                        </p:tav>
                                        <p:tav tm="100000">
                                          <p:val>
                                            <p:strVal val="#ppt_x"/>
                                          </p:val>
                                        </p:tav>
                                      </p:tavLst>
                                    </p:anim>
                                    <p:anim calcmode="lin" valueType="num">
                                      <p:cBhvr>
                                        <p:cTn id="14" dur="1000" fill="hold"/>
                                        <p:tgtEl>
                                          <p:spTgt spid="17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ID="9" grpId="3" fill="hold">
                                  <p:stCondLst>
                                    <p:cond delay="0"/>
                                  </p:stCondLst>
                                  <p:iterate type="el" backwards="0">
                                    <p:tmAbs val="0"/>
                                  </p:iterate>
                                  <p:childTnLst>
                                    <p:set>
                                      <p:cBhvr>
                                        <p:cTn id="18" fill="hold"/>
                                        <p:tgtEl>
                                          <p:spTgt spid="180"/>
                                        </p:tgtEl>
                                        <p:attrNameLst>
                                          <p:attrName>style.visibility</p:attrName>
                                        </p:attrNameLst>
                                      </p:cBhvr>
                                      <p:to>
                                        <p:strVal val="visible"/>
                                      </p:to>
                                    </p:set>
                                    <p:animEffect filter="dissolve" transition="in">
                                      <p:cBhvr>
                                        <p:cTn id="19" dur="1000"/>
                                        <p:tgtEl>
                                          <p:spTgt spid="180"/>
                                        </p:tgtEl>
                                      </p:cBhvr>
                                    </p:animEffect>
                                  </p:childTnLst>
                                </p:cTn>
                              </p:par>
                            </p:childTnLst>
                          </p:cTn>
                        </p:par>
                        <p:par>
                          <p:cTn id="20" fill="hold">
                            <p:stCondLst>
                              <p:cond delay="1000"/>
                            </p:stCondLst>
                            <p:childTnLst>
                              <p:par>
                                <p:cTn id="21" presetClass="entr" nodeType="afterEffect" presetSubtype="8" presetID="2" grpId="4" fill="hold">
                                  <p:stCondLst>
                                    <p:cond delay="0"/>
                                  </p:stCondLst>
                                  <p:iterate type="el" backwards="0">
                                    <p:tmAbs val="0"/>
                                  </p:iterate>
                                  <p:childTnLst>
                                    <p:set>
                                      <p:cBhvr>
                                        <p:cTn id="22" fill="hold"/>
                                        <p:tgtEl>
                                          <p:spTgt spid="182"/>
                                        </p:tgtEl>
                                        <p:attrNameLst>
                                          <p:attrName>style.visibility</p:attrName>
                                        </p:attrNameLst>
                                      </p:cBhvr>
                                      <p:to>
                                        <p:strVal val="visible"/>
                                      </p:to>
                                    </p:set>
                                    <p:anim calcmode="lin" valueType="num">
                                      <p:cBhvr>
                                        <p:cTn id="23" dur="1000" fill="hold"/>
                                        <p:tgtEl>
                                          <p:spTgt spid="182"/>
                                        </p:tgtEl>
                                        <p:attrNameLst>
                                          <p:attrName>ppt_x</p:attrName>
                                        </p:attrNameLst>
                                      </p:cBhvr>
                                      <p:tavLst>
                                        <p:tav tm="0">
                                          <p:val>
                                            <p:strVal val="0-#ppt_w/2"/>
                                          </p:val>
                                        </p:tav>
                                        <p:tav tm="100000">
                                          <p:val>
                                            <p:strVal val="#ppt_x"/>
                                          </p:val>
                                        </p:tav>
                                      </p:tavLst>
                                    </p:anim>
                                    <p:anim calcmode="lin" valueType="num">
                                      <p:cBhvr>
                                        <p:cTn id="24" dur="1000" fill="hold"/>
                                        <p:tgtEl>
                                          <p:spTgt spid="18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ID="9" grpId="5" fill="hold">
                                  <p:stCondLst>
                                    <p:cond delay="0"/>
                                  </p:stCondLst>
                                  <p:iterate type="el" backwards="0">
                                    <p:tmAbs val="0"/>
                                  </p:iterate>
                                  <p:childTnLst>
                                    <p:set>
                                      <p:cBhvr>
                                        <p:cTn id="28" fill="hold"/>
                                        <p:tgtEl>
                                          <p:spTgt spid="183"/>
                                        </p:tgtEl>
                                        <p:attrNameLst>
                                          <p:attrName>style.visibility</p:attrName>
                                        </p:attrNameLst>
                                      </p:cBhvr>
                                      <p:to>
                                        <p:strVal val="visible"/>
                                      </p:to>
                                    </p:set>
                                    <p:animEffect filter="dissolve" transition="in">
                                      <p:cBhvr>
                                        <p:cTn id="29" dur="2000"/>
                                        <p:tgtEl>
                                          <p:spTgt spid="183"/>
                                        </p:tgtEl>
                                      </p:cBhvr>
                                    </p:animEffect>
                                  </p:childTnLst>
                                </p:cTn>
                              </p:par>
                            </p:childTnLst>
                          </p:cTn>
                        </p:par>
                        <p:par>
                          <p:cTn id="30" fill="hold">
                            <p:stCondLst>
                              <p:cond delay="2000"/>
                            </p:stCondLst>
                            <p:childTnLst>
                              <p:par>
                                <p:cTn id="31" presetClass="entr" nodeType="afterEffect" presetSubtype="8" presetID="2" grpId="6" fill="hold">
                                  <p:stCondLst>
                                    <p:cond delay="0"/>
                                  </p:stCondLst>
                                  <p:iterate type="el" backwards="0">
                                    <p:tmAbs val="0"/>
                                  </p:iterate>
                                  <p:childTnLst>
                                    <p:set>
                                      <p:cBhvr>
                                        <p:cTn id="32" fill="hold"/>
                                        <p:tgtEl>
                                          <p:spTgt spid="185"/>
                                        </p:tgtEl>
                                        <p:attrNameLst>
                                          <p:attrName>style.visibility</p:attrName>
                                        </p:attrNameLst>
                                      </p:cBhvr>
                                      <p:to>
                                        <p:strVal val="visible"/>
                                      </p:to>
                                    </p:set>
                                    <p:anim calcmode="lin" valueType="num">
                                      <p:cBhvr>
                                        <p:cTn id="33" dur="1000" fill="hold"/>
                                        <p:tgtEl>
                                          <p:spTgt spid="185"/>
                                        </p:tgtEl>
                                        <p:attrNameLst>
                                          <p:attrName>ppt_x</p:attrName>
                                        </p:attrNameLst>
                                      </p:cBhvr>
                                      <p:tavLst>
                                        <p:tav tm="0">
                                          <p:val>
                                            <p:strVal val="0-#ppt_w/2"/>
                                          </p:val>
                                        </p:tav>
                                        <p:tav tm="100000">
                                          <p:val>
                                            <p:strVal val="#ppt_x"/>
                                          </p:val>
                                        </p:tav>
                                      </p:tavLst>
                                    </p:anim>
                                    <p:anim calcmode="lin" valueType="num">
                                      <p:cBhvr>
                                        <p:cTn id="34" dur="1000" fill="hold"/>
                                        <p:tgtEl>
                                          <p:spTgt spid="1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85" grpId="6"/>
      <p:bldP build="whole" bldLvl="1" animBg="1" rev="0" advAuto="0" spid="175" grpId="1"/>
      <p:bldP build="whole" bldLvl="1" animBg="1" rev="0" advAuto="0" spid="180" grpId="3"/>
      <p:bldP build="whole" bldLvl="1" animBg="1" rev="0" advAuto="0" spid="182" grpId="4"/>
      <p:bldP build="whole" bldLvl="1" animBg="1" rev="0" advAuto="0" spid="179" grpId="2"/>
      <p:bldP build="whole" bldLvl="1" animBg="1" rev="0" advAuto="0" spid="183" grpId="5"/>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18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189" name="Supervizate"/>
          <p:cNvSpPr txBox="1"/>
          <p:nvPr/>
        </p:nvSpPr>
        <p:spPr>
          <a:xfrm>
            <a:off x="9160410" y="648285"/>
            <a:ext cx="8358423"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Clasificare</a:t>
            </a:r>
          </a:p>
        </p:txBody>
      </p:sp>
      <p:graphicFrame>
        <p:nvGraphicFramePr>
          <p:cNvPr id="190" name="Tabelul 1"/>
          <p:cNvGraphicFramePr/>
          <p:nvPr/>
        </p:nvGraphicFramePr>
        <p:xfrm>
          <a:off x="2553046" y="3319334"/>
          <a:ext cx="15435026" cy="5419039"/>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855581"/>
                <a:gridCol w="3855581"/>
                <a:gridCol w="3855581"/>
                <a:gridCol w="3855581"/>
                <a:gridCol w="3855581"/>
              </a:tblGrid>
              <a:tr h="1081267">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Length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Width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Petal Length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Petal Width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Species</a:t>
                      </a:r>
                    </a:p>
                  </a:txBody>
                  <a:tcPr marL="0" marR="0" marT="0" marB="0" anchor="ctr" anchorCtr="0" horzOverflow="overflow">
                    <a:solidFill>
                      <a:schemeClr val="accent5"/>
                    </a:solidFill>
                  </a:tcPr>
                </a:tc>
              </a:tr>
              <a:tr h="1081267">
                <a:tc>
                  <a:txBody>
                    <a:bodyPr/>
                    <a:lstStyle/>
                    <a:p>
                      <a:pPr indent="457200">
                        <a:defRPr b="0" sz="1800"/>
                      </a:pPr>
                      <a:r>
                        <a:rPr sz="2000">
                          <a:latin typeface="Canela Text Regular"/>
                          <a:ea typeface="Canela Text Regular"/>
                          <a:cs typeface="Canela Text Regular"/>
                          <a:sym typeface="Canela Text Regular"/>
                        </a:rPr>
                        <a:t>5.1</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3.5</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1.4</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0.2</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0</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7.0</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3.2</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4.7</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1.4</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6.3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6.0</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2.5</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2</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pic>
        <p:nvPicPr>
          <p:cNvPr id="191" name="Linie Linie" descr="Linie Linie"/>
          <p:cNvPicPr>
            <a:picLocks noChangeAspect="0"/>
          </p:cNvPicPr>
          <p:nvPr/>
        </p:nvPicPr>
        <p:blipFill>
          <a:blip r:embed="rId2">
            <a:extLst/>
          </a:blip>
          <a:stretch>
            <a:fillRect/>
          </a:stretch>
        </p:blipFill>
        <p:spPr>
          <a:xfrm>
            <a:off x="2797628" y="9146457"/>
            <a:ext cx="15110142" cy="101601"/>
          </a:xfrm>
          <a:prstGeom prst="rect">
            <a:avLst/>
          </a:prstGeom>
        </p:spPr>
      </p:pic>
      <p:sp>
        <p:nvSpPr>
          <p:cNvPr id="193" name="Caracteristici / Atribute / Features"/>
          <p:cNvSpPr txBox="1"/>
          <p:nvPr/>
        </p:nvSpPr>
        <p:spPr>
          <a:xfrm>
            <a:off x="6277120" y="9390120"/>
            <a:ext cx="871479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Caracteristici / Atribute / Features</a:t>
            </a:r>
          </a:p>
        </p:txBody>
      </p:sp>
      <p:pic>
        <p:nvPicPr>
          <p:cNvPr id="194" name="Linie Linie" descr="Linie Linie"/>
          <p:cNvPicPr>
            <a:picLocks noChangeAspect="0"/>
          </p:cNvPicPr>
          <p:nvPr/>
        </p:nvPicPr>
        <p:blipFill>
          <a:blip r:embed="rId3">
            <a:extLst/>
          </a:blip>
          <a:stretch>
            <a:fillRect/>
          </a:stretch>
        </p:blipFill>
        <p:spPr>
          <a:xfrm>
            <a:off x="18023582" y="9146457"/>
            <a:ext cx="4101237" cy="101601"/>
          </a:xfrm>
          <a:prstGeom prst="rect">
            <a:avLst/>
          </a:prstGeom>
        </p:spPr>
      </p:pic>
      <p:pic>
        <p:nvPicPr>
          <p:cNvPr id="196" name="Oval Oval" descr="Oval Oval"/>
          <p:cNvPicPr>
            <a:picLocks noChangeAspect="0"/>
          </p:cNvPicPr>
          <p:nvPr/>
        </p:nvPicPr>
        <p:blipFill>
          <a:blip r:embed="rId4">
            <a:extLst/>
          </a:blip>
          <a:stretch>
            <a:fillRect/>
          </a:stretch>
        </p:blipFill>
        <p:spPr>
          <a:xfrm>
            <a:off x="17814909" y="8978393"/>
            <a:ext cx="4518582" cy="1340436"/>
          </a:xfrm>
          <a:prstGeom prst="rect">
            <a:avLst/>
          </a:prstGeom>
        </p:spPr>
      </p:pic>
      <p:sp>
        <p:nvSpPr>
          <p:cNvPr id="198" name="0 - Iris-Setosa"/>
          <p:cNvSpPr txBox="1"/>
          <p:nvPr/>
        </p:nvSpPr>
        <p:spPr>
          <a:xfrm>
            <a:off x="17352488" y="10466394"/>
            <a:ext cx="327096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0 - Iris-Setosa</a:t>
            </a:r>
          </a:p>
        </p:txBody>
      </p:sp>
      <p:sp>
        <p:nvSpPr>
          <p:cNvPr id="199" name="1 - Iris-Versicolor"/>
          <p:cNvSpPr txBox="1"/>
          <p:nvPr/>
        </p:nvSpPr>
        <p:spPr>
          <a:xfrm>
            <a:off x="17453443" y="11150982"/>
            <a:ext cx="384317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1 - Iris-Versicolor</a:t>
            </a:r>
          </a:p>
        </p:txBody>
      </p:sp>
      <p:sp>
        <p:nvSpPr>
          <p:cNvPr id="200" name="2 - Iris-Virginica"/>
          <p:cNvSpPr txBox="1"/>
          <p:nvPr/>
        </p:nvSpPr>
        <p:spPr>
          <a:xfrm>
            <a:off x="17389944" y="11764914"/>
            <a:ext cx="363306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2 - Iris-Virginica</a:t>
            </a:r>
          </a:p>
        </p:txBody>
      </p:sp>
      <p:sp>
        <p:nvSpPr>
          <p:cNvPr id="201" name="Etichetă / Clasă"/>
          <p:cNvSpPr txBox="1"/>
          <p:nvPr/>
        </p:nvSpPr>
        <p:spPr>
          <a:xfrm>
            <a:off x="18066979" y="9167874"/>
            <a:ext cx="41672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Etichetă / Clasă</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196"/>
                                        </p:tgtEl>
                                        <p:attrNameLst>
                                          <p:attrName>style.visibility</p:attrName>
                                        </p:attrNameLst>
                                      </p:cBhvr>
                                      <p:to>
                                        <p:strVal val="visible"/>
                                      </p:to>
                                    </p:set>
                                    <p:animEffect filter="dissolve" transition="in">
                                      <p:cBhvr>
                                        <p:cTn id="7" dur="2000"/>
                                        <p:tgtEl>
                                          <p:spTgt spid="196"/>
                                        </p:tgtEl>
                                      </p:cBhvr>
                                    </p:animEffect>
                                  </p:childTnLst>
                                </p:cTn>
                              </p:par>
                            </p:childTnLst>
                          </p:cTn>
                        </p:par>
                        <p:par>
                          <p:cTn id="8" fill="hold">
                            <p:stCondLst>
                              <p:cond delay="2000"/>
                            </p:stCondLst>
                            <p:childTnLst>
                              <p:par>
                                <p:cTn id="9" presetClass="entr" nodeType="afterEffect" presetSubtype="8" presetID="2" grpId="2" fill="hold">
                                  <p:stCondLst>
                                    <p:cond delay="0"/>
                                  </p:stCondLst>
                                  <p:iterate type="el" backwards="0">
                                    <p:tmAbs val="0"/>
                                  </p:iterate>
                                  <p:childTnLst>
                                    <p:set>
                                      <p:cBhvr>
                                        <p:cTn id="10" fill="hold"/>
                                        <p:tgtEl>
                                          <p:spTgt spid="198"/>
                                        </p:tgtEl>
                                        <p:attrNameLst>
                                          <p:attrName>style.visibility</p:attrName>
                                        </p:attrNameLst>
                                      </p:cBhvr>
                                      <p:to>
                                        <p:strVal val="visible"/>
                                      </p:to>
                                    </p:set>
                                    <p:anim calcmode="lin" valueType="num">
                                      <p:cBhvr>
                                        <p:cTn id="11" dur="1000" fill="hold"/>
                                        <p:tgtEl>
                                          <p:spTgt spid="198"/>
                                        </p:tgtEl>
                                        <p:attrNameLst>
                                          <p:attrName>ppt_x</p:attrName>
                                        </p:attrNameLst>
                                      </p:cBhvr>
                                      <p:tavLst>
                                        <p:tav tm="0">
                                          <p:val>
                                            <p:strVal val="0-#ppt_w/2"/>
                                          </p:val>
                                        </p:tav>
                                        <p:tav tm="100000">
                                          <p:val>
                                            <p:strVal val="#ppt_x"/>
                                          </p:val>
                                        </p:tav>
                                      </p:tavLst>
                                    </p:anim>
                                    <p:anim calcmode="lin" valueType="num">
                                      <p:cBhvr>
                                        <p:cTn id="12" dur="1000" fill="hold"/>
                                        <p:tgtEl>
                                          <p:spTgt spid="198"/>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Class="entr" nodeType="afterEffect" presetSubtype="8" presetID="2" grpId="3" fill="hold">
                                  <p:stCondLst>
                                    <p:cond delay="0"/>
                                  </p:stCondLst>
                                  <p:iterate type="el" backwards="0">
                                    <p:tmAbs val="0"/>
                                  </p:iterate>
                                  <p:childTnLst>
                                    <p:set>
                                      <p:cBhvr>
                                        <p:cTn id="15" fill="hold"/>
                                        <p:tgtEl>
                                          <p:spTgt spid="199"/>
                                        </p:tgtEl>
                                        <p:attrNameLst>
                                          <p:attrName>style.visibility</p:attrName>
                                        </p:attrNameLst>
                                      </p:cBhvr>
                                      <p:to>
                                        <p:strVal val="visible"/>
                                      </p:to>
                                    </p:set>
                                    <p:anim calcmode="lin" valueType="num">
                                      <p:cBhvr>
                                        <p:cTn id="16" dur="1000" fill="hold"/>
                                        <p:tgtEl>
                                          <p:spTgt spid="199"/>
                                        </p:tgtEl>
                                        <p:attrNameLst>
                                          <p:attrName>ppt_x</p:attrName>
                                        </p:attrNameLst>
                                      </p:cBhvr>
                                      <p:tavLst>
                                        <p:tav tm="0">
                                          <p:val>
                                            <p:strVal val="0-#ppt_w/2"/>
                                          </p:val>
                                        </p:tav>
                                        <p:tav tm="100000">
                                          <p:val>
                                            <p:strVal val="#ppt_x"/>
                                          </p:val>
                                        </p:tav>
                                      </p:tavLst>
                                    </p:anim>
                                    <p:anim calcmode="lin" valueType="num">
                                      <p:cBhvr>
                                        <p:cTn id="17" dur="1000" fill="hold"/>
                                        <p:tgtEl>
                                          <p:spTgt spid="199"/>
                                        </p:tgtEl>
                                        <p:attrNameLst>
                                          <p:attrName>ppt_y</p:attrName>
                                        </p:attrNameLst>
                                      </p:cBhvr>
                                      <p:tavLst>
                                        <p:tav tm="0">
                                          <p:val>
                                            <p:strVal val="#ppt_y"/>
                                          </p:val>
                                        </p:tav>
                                        <p:tav tm="100000">
                                          <p:val>
                                            <p:strVal val="#ppt_y"/>
                                          </p:val>
                                        </p:tav>
                                      </p:tavLst>
                                    </p:anim>
                                  </p:childTnLst>
                                </p:cTn>
                              </p:par>
                            </p:childTnLst>
                          </p:cTn>
                        </p:par>
                        <p:par>
                          <p:cTn id="18" fill="hold">
                            <p:stCondLst>
                              <p:cond delay="4000"/>
                            </p:stCondLst>
                            <p:childTnLst>
                              <p:par>
                                <p:cTn id="19" presetClass="entr" nodeType="afterEffect" presetSubtype="8" presetID="2" grpId="4" fill="hold">
                                  <p:stCondLst>
                                    <p:cond delay="0"/>
                                  </p:stCondLst>
                                  <p:iterate type="el" backwards="0">
                                    <p:tmAbs val="0"/>
                                  </p:iterate>
                                  <p:childTnLst>
                                    <p:set>
                                      <p:cBhvr>
                                        <p:cTn id="20" fill="hold"/>
                                        <p:tgtEl>
                                          <p:spTgt spid="200"/>
                                        </p:tgtEl>
                                        <p:attrNameLst>
                                          <p:attrName>style.visibility</p:attrName>
                                        </p:attrNameLst>
                                      </p:cBhvr>
                                      <p:to>
                                        <p:strVal val="visible"/>
                                      </p:to>
                                    </p:set>
                                    <p:anim calcmode="lin" valueType="num">
                                      <p:cBhvr>
                                        <p:cTn id="21" dur="1000" fill="hold"/>
                                        <p:tgtEl>
                                          <p:spTgt spid="200"/>
                                        </p:tgtEl>
                                        <p:attrNameLst>
                                          <p:attrName>ppt_x</p:attrName>
                                        </p:attrNameLst>
                                      </p:cBhvr>
                                      <p:tavLst>
                                        <p:tav tm="0">
                                          <p:val>
                                            <p:strVal val="0-#ppt_w/2"/>
                                          </p:val>
                                        </p:tav>
                                        <p:tav tm="100000">
                                          <p:val>
                                            <p:strVal val="#ppt_x"/>
                                          </p:val>
                                        </p:tav>
                                      </p:tavLst>
                                    </p:anim>
                                    <p:anim calcmode="lin" valueType="num">
                                      <p:cBhvr>
                                        <p:cTn id="22" dur="1000" fill="hold"/>
                                        <p:tgtEl>
                                          <p:spTgt spid="2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9" grpId="3"/>
      <p:bldP build="whole" bldLvl="1" animBg="1" rev="0" advAuto="0" spid="196" grpId="1"/>
      <p:bldP build="whole" bldLvl="1" animBg="1" rev="0" advAuto="0" spid="200" grpId="4"/>
      <p:bldP build="whole" bldLvl="1" animBg="1" rev="0" advAuto="0" spid="198" grpId="2"/>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0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05" name="Supervizate"/>
          <p:cNvSpPr txBox="1"/>
          <p:nvPr/>
        </p:nvSpPr>
        <p:spPr>
          <a:xfrm>
            <a:off x="9160410" y="648285"/>
            <a:ext cx="8358423"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Clasificare</a:t>
            </a:r>
          </a:p>
        </p:txBody>
      </p:sp>
      <p:graphicFrame>
        <p:nvGraphicFramePr>
          <p:cNvPr id="206" name="Tabelul 1"/>
          <p:cNvGraphicFramePr/>
          <p:nvPr/>
        </p:nvGraphicFramePr>
        <p:xfrm>
          <a:off x="6408627" y="3197503"/>
          <a:ext cx="15435027" cy="5419038"/>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855581"/>
                <a:gridCol w="3855581"/>
                <a:gridCol w="3855581"/>
              </a:tblGrid>
              <a:tr h="1081267">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Length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Width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Species</a:t>
                      </a:r>
                    </a:p>
                  </a:txBody>
                  <a:tcPr marL="0" marR="0" marT="0" marB="0" anchor="ctr" anchorCtr="0" horzOverflow="overflow">
                    <a:solidFill>
                      <a:schemeClr val="accent5"/>
                    </a:solidFill>
                  </a:tcPr>
                </a:tc>
              </a:tr>
              <a:tr h="1081267">
                <a:tc>
                  <a:txBody>
                    <a:bodyPr/>
                    <a:lstStyle/>
                    <a:p>
                      <a:pPr indent="457200">
                        <a:defRPr b="0" sz="1800"/>
                      </a:pPr>
                      <a:r>
                        <a:rPr sz="2000">
                          <a:latin typeface="Canela Text Regular"/>
                          <a:ea typeface="Canela Text Regular"/>
                          <a:cs typeface="Canela Text Regular"/>
                          <a:sym typeface="Canela Text Regular"/>
                        </a:rPr>
                        <a:t>5.1</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3.5</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0</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7.0</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3.2</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6.3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2</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pic>
        <p:nvPicPr>
          <p:cNvPr id="207" name="Linie Linie" descr="Linie Linie"/>
          <p:cNvPicPr>
            <a:picLocks noChangeAspect="0"/>
          </p:cNvPicPr>
          <p:nvPr/>
        </p:nvPicPr>
        <p:blipFill>
          <a:blip r:embed="rId2">
            <a:extLst/>
          </a:blip>
          <a:stretch>
            <a:fillRect/>
          </a:stretch>
        </p:blipFill>
        <p:spPr>
          <a:xfrm>
            <a:off x="6476230" y="9146457"/>
            <a:ext cx="7497546" cy="101601"/>
          </a:xfrm>
          <a:prstGeom prst="rect">
            <a:avLst/>
          </a:prstGeom>
        </p:spPr>
      </p:pic>
      <p:sp>
        <p:nvSpPr>
          <p:cNvPr id="209" name="Caracteristici / Atribute / Features"/>
          <p:cNvSpPr txBox="1"/>
          <p:nvPr/>
        </p:nvSpPr>
        <p:spPr>
          <a:xfrm>
            <a:off x="5383114" y="9390120"/>
            <a:ext cx="871479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Caracteristici / Atribute / Features</a:t>
            </a:r>
          </a:p>
        </p:txBody>
      </p:sp>
      <p:pic>
        <p:nvPicPr>
          <p:cNvPr id="210" name="Linie Linie" descr="Linie Linie"/>
          <p:cNvPicPr>
            <a:picLocks noChangeAspect="0"/>
          </p:cNvPicPr>
          <p:nvPr/>
        </p:nvPicPr>
        <p:blipFill>
          <a:blip r:embed="rId3">
            <a:extLst/>
          </a:blip>
          <a:stretch>
            <a:fillRect/>
          </a:stretch>
        </p:blipFill>
        <p:spPr>
          <a:xfrm>
            <a:off x="14352871" y="9146457"/>
            <a:ext cx="4101237" cy="101601"/>
          </a:xfrm>
          <a:prstGeom prst="rect">
            <a:avLst/>
          </a:prstGeom>
        </p:spPr>
      </p:pic>
      <p:sp>
        <p:nvSpPr>
          <p:cNvPr id="212" name="Etichetă / Clasă"/>
          <p:cNvSpPr txBox="1"/>
          <p:nvPr/>
        </p:nvSpPr>
        <p:spPr>
          <a:xfrm>
            <a:off x="14559550" y="9269685"/>
            <a:ext cx="41672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Etichetă / Clasă</a:t>
            </a:r>
          </a:p>
        </p:txBody>
      </p:sp>
      <p:pic>
        <p:nvPicPr>
          <p:cNvPr id="213" name="Oval Oval" descr="Oval Oval"/>
          <p:cNvPicPr>
            <a:picLocks noChangeAspect="0"/>
          </p:cNvPicPr>
          <p:nvPr/>
        </p:nvPicPr>
        <p:blipFill>
          <a:blip r:embed="rId4">
            <a:extLst/>
          </a:blip>
          <a:stretch>
            <a:fillRect/>
          </a:stretch>
        </p:blipFill>
        <p:spPr>
          <a:xfrm>
            <a:off x="14359004" y="9222599"/>
            <a:ext cx="4415533" cy="1028386"/>
          </a:xfrm>
          <a:prstGeom prst="rect">
            <a:avLst/>
          </a:prstGeom>
        </p:spPr>
      </p:pic>
      <p:sp>
        <p:nvSpPr>
          <p:cNvPr id="215" name="0 - Iris-Setosa"/>
          <p:cNvSpPr txBox="1"/>
          <p:nvPr/>
        </p:nvSpPr>
        <p:spPr>
          <a:xfrm>
            <a:off x="14768008" y="10466394"/>
            <a:ext cx="327096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0 - Iris-Setosa</a:t>
            </a:r>
          </a:p>
        </p:txBody>
      </p:sp>
      <p:sp>
        <p:nvSpPr>
          <p:cNvPr id="216" name="1 - Iris-Versicolor"/>
          <p:cNvSpPr txBox="1"/>
          <p:nvPr/>
        </p:nvSpPr>
        <p:spPr>
          <a:xfrm>
            <a:off x="14868963" y="11150983"/>
            <a:ext cx="384317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1 - Iris-Versicolor</a:t>
            </a:r>
          </a:p>
        </p:txBody>
      </p:sp>
      <p:sp>
        <p:nvSpPr>
          <p:cNvPr id="217" name="2 - Iris-Virginica"/>
          <p:cNvSpPr txBox="1"/>
          <p:nvPr/>
        </p:nvSpPr>
        <p:spPr>
          <a:xfrm>
            <a:off x="14805465" y="11764914"/>
            <a:ext cx="363306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2 - Iris-Virginica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2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21" name="Supervizate"/>
          <p:cNvSpPr txBox="1"/>
          <p:nvPr/>
        </p:nvSpPr>
        <p:spPr>
          <a:xfrm>
            <a:off x="9160410" y="648285"/>
            <a:ext cx="8358423"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Clasificare</a:t>
            </a:r>
          </a:p>
        </p:txBody>
      </p:sp>
      <p:sp>
        <p:nvSpPr>
          <p:cNvPr id="222" name="Arbori de decizie"/>
          <p:cNvSpPr txBox="1"/>
          <p:nvPr/>
        </p:nvSpPr>
        <p:spPr>
          <a:xfrm>
            <a:off x="1499227" y="5053584"/>
            <a:ext cx="19438801" cy="360883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8400">
                <a:latin typeface="Canela Regular"/>
                <a:ea typeface="Canela Regular"/>
                <a:cs typeface="Canela Regular"/>
                <a:sym typeface="Canela Regular"/>
              </a:defRPr>
            </a:lvl1pPr>
          </a:lstStyle>
          <a:p>
            <a:pPr/>
            <a:r>
              <a:t>Arbori de decizie</a:t>
            </a: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2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26"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pic>
        <p:nvPicPr>
          <p:cNvPr id="227" name="Imagine" descr="Imagine"/>
          <p:cNvPicPr>
            <a:picLocks noChangeAspect="1"/>
          </p:cNvPicPr>
          <p:nvPr/>
        </p:nvPicPr>
        <p:blipFill>
          <a:blip r:embed="rId2">
            <a:extLst/>
          </a:blip>
          <a:stretch>
            <a:fillRect/>
          </a:stretch>
        </p:blipFill>
        <p:spPr>
          <a:xfrm>
            <a:off x="4730930" y="3095622"/>
            <a:ext cx="14074466" cy="938767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push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9"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3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31"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pic>
        <p:nvPicPr>
          <p:cNvPr id="232" name="Imagine" descr="Imagine"/>
          <p:cNvPicPr>
            <a:picLocks noChangeAspect="1"/>
          </p:cNvPicPr>
          <p:nvPr/>
        </p:nvPicPr>
        <p:blipFill>
          <a:blip r:embed="rId2">
            <a:extLst/>
          </a:blip>
          <a:stretch>
            <a:fillRect/>
          </a:stretch>
        </p:blipFill>
        <p:spPr>
          <a:xfrm>
            <a:off x="544580" y="3591635"/>
            <a:ext cx="12688890" cy="8463490"/>
          </a:xfrm>
          <a:prstGeom prst="rect">
            <a:avLst/>
          </a:prstGeom>
          <a:ln w="12700">
            <a:miter lim="400000"/>
          </a:ln>
        </p:spPr>
      </p:pic>
      <p:sp>
        <p:nvSpPr>
          <p:cNvPr id="233" name="Cum găsim suspectul? Ne punem întrebări!"/>
          <p:cNvSpPr txBox="1"/>
          <p:nvPr/>
        </p:nvSpPr>
        <p:spPr>
          <a:xfrm>
            <a:off x="13718661" y="4022184"/>
            <a:ext cx="10750578" cy="74498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400">
                <a:latin typeface="Canela Regular"/>
                <a:ea typeface="Canela Regular"/>
                <a:cs typeface="Canela Regular"/>
                <a:sym typeface="Canela Regular"/>
              </a:defRPr>
            </a:lvl1pPr>
          </a:lstStyle>
          <a:p>
            <a:pPr/>
            <a:r>
              <a:t>Cum găsim suspectul? Ne punem întrebări!</a:t>
            </a:r>
          </a:p>
        </p:txBody>
      </p:sp>
      <p:sp>
        <p:nvSpPr>
          <p:cNvPr id="234" name="Întrebare: Suspectul purta pălărie?…"/>
          <p:cNvSpPr txBox="1"/>
          <p:nvPr/>
        </p:nvSpPr>
        <p:spPr>
          <a:xfrm>
            <a:off x="13718661" y="5026828"/>
            <a:ext cx="10750578" cy="2521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3400">
                <a:latin typeface="Canela Regular"/>
                <a:ea typeface="Canela Regular"/>
                <a:cs typeface="Canela Regular"/>
                <a:sym typeface="Canela Regular"/>
              </a:defRPr>
            </a:pPr>
            <a:r>
              <a:t>Întrebare: Suspectul purta pălărie?</a:t>
            </a:r>
          </a:p>
          <a:p>
            <a:pPr>
              <a:defRPr sz="3400">
                <a:latin typeface="Canela Regular"/>
                <a:ea typeface="Canela Regular"/>
                <a:cs typeface="Canela Regular"/>
                <a:sym typeface="Canela Regular"/>
              </a:defRPr>
            </a:pPr>
            <a:r>
              <a:t>- Dacă da, ne uităm acum la suspecții cu pălărie</a:t>
            </a:r>
          </a:p>
          <a:p>
            <a:pPr>
              <a:defRPr sz="3400">
                <a:latin typeface="Canela Regular"/>
                <a:ea typeface="Canela Regular"/>
                <a:cs typeface="Canela Regular"/>
                <a:sym typeface="Canela Regular"/>
              </a:defRPr>
            </a:pPr>
            <a:r>
              <a:t>- Dacă nu, ne uităm la cei fără pălărie</a:t>
            </a:r>
          </a:p>
        </p:txBody>
      </p:sp>
      <p:sp>
        <p:nvSpPr>
          <p:cNvPr id="235" name="Întrebare: Suspectul era înalt?…"/>
          <p:cNvSpPr txBox="1"/>
          <p:nvPr/>
        </p:nvSpPr>
        <p:spPr>
          <a:xfrm>
            <a:off x="13718661" y="7694896"/>
            <a:ext cx="10750578" cy="252130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3400">
                <a:latin typeface="Canela Regular"/>
                <a:ea typeface="Canela Regular"/>
                <a:cs typeface="Canela Regular"/>
                <a:sym typeface="Canela Regular"/>
              </a:defRPr>
            </a:pPr>
            <a:r>
              <a:t>Întrebare: Suspectul era înalt?</a:t>
            </a:r>
          </a:p>
          <a:p>
            <a:pPr>
              <a:defRPr sz="3400">
                <a:latin typeface="Canela Regular"/>
                <a:ea typeface="Canela Regular"/>
                <a:cs typeface="Canela Regular"/>
                <a:sym typeface="Canela Regular"/>
              </a:defRPr>
            </a:pPr>
            <a:r>
              <a:t>- Dacă da, ne uităm acum la suspecții înalți</a:t>
            </a:r>
          </a:p>
          <a:p>
            <a:pPr>
              <a:defRPr sz="3400">
                <a:latin typeface="Canela Regular"/>
                <a:ea typeface="Canela Regular"/>
                <a:cs typeface="Canela Regular"/>
                <a:sym typeface="Canela Regular"/>
              </a:defRPr>
            </a:pPr>
            <a:r>
              <a:t>- Dacă nu, ne uităm la cei scunzi</a:t>
            </a:r>
          </a:p>
        </p:txBody>
      </p:sp>
      <p:pic>
        <p:nvPicPr>
          <p:cNvPr id="236" name="Oval Oval" descr="Oval Oval"/>
          <p:cNvPicPr>
            <a:picLocks noChangeAspect="0"/>
          </p:cNvPicPr>
          <p:nvPr/>
        </p:nvPicPr>
        <p:blipFill>
          <a:blip r:embed="rId3">
            <a:extLst/>
          </a:blip>
          <a:stretch>
            <a:fillRect/>
          </a:stretch>
        </p:blipFill>
        <p:spPr>
          <a:xfrm>
            <a:off x="19363046" y="3790029"/>
            <a:ext cx="2328828" cy="1209292"/>
          </a:xfrm>
          <a:prstGeom prst="rect">
            <a:avLst/>
          </a:prstGeom>
        </p:spPr>
      </p:pic>
      <p:pic>
        <p:nvPicPr>
          <p:cNvPr id="238" name="Oval Oval" descr="Oval Oval"/>
          <p:cNvPicPr>
            <a:picLocks noChangeAspect="0"/>
          </p:cNvPicPr>
          <p:nvPr/>
        </p:nvPicPr>
        <p:blipFill>
          <a:blip r:embed="rId3">
            <a:extLst/>
          </a:blip>
          <a:stretch>
            <a:fillRect/>
          </a:stretch>
        </p:blipFill>
        <p:spPr>
          <a:xfrm>
            <a:off x="13399005" y="4770172"/>
            <a:ext cx="2328829" cy="1209292"/>
          </a:xfrm>
          <a:prstGeom prst="rect">
            <a:avLst/>
          </a:prstGeom>
        </p:spPr>
      </p:pic>
      <p:pic>
        <p:nvPicPr>
          <p:cNvPr id="240" name="Oval Oval" descr="Oval Oval"/>
          <p:cNvPicPr>
            <a:picLocks noChangeAspect="0"/>
          </p:cNvPicPr>
          <p:nvPr/>
        </p:nvPicPr>
        <p:blipFill>
          <a:blip r:embed="rId3">
            <a:extLst/>
          </a:blip>
          <a:stretch>
            <a:fillRect/>
          </a:stretch>
        </p:blipFill>
        <p:spPr>
          <a:xfrm>
            <a:off x="13399005" y="7535961"/>
            <a:ext cx="2328829" cy="120929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233"/>
                                        </p:tgtEl>
                                        <p:attrNameLst>
                                          <p:attrName>style.visibility</p:attrName>
                                        </p:attrNameLst>
                                      </p:cBhvr>
                                      <p:to>
                                        <p:strVal val="visible"/>
                                      </p:to>
                                    </p:set>
                                    <p:anim calcmode="lin" valueType="num">
                                      <p:cBhvr>
                                        <p:cTn id="7" dur="1000" fill="hold"/>
                                        <p:tgtEl>
                                          <p:spTgt spid="233"/>
                                        </p:tgtEl>
                                        <p:attrNameLst>
                                          <p:attrName>ppt_x</p:attrName>
                                        </p:attrNameLst>
                                      </p:cBhvr>
                                      <p:tavLst>
                                        <p:tav tm="0">
                                          <p:val>
                                            <p:strVal val="0-#ppt_w/2"/>
                                          </p:val>
                                        </p:tav>
                                        <p:tav tm="100000">
                                          <p:val>
                                            <p:strVal val="#ppt_x"/>
                                          </p:val>
                                        </p:tav>
                                      </p:tavLst>
                                    </p:anim>
                                    <p:anim calcmode="lin" valueType="num">
                                      <p:cBhvr>
                                        <p:cTn id="8" dur="1000" fill="hold"/>
                                        <p:tgtEl>
                                          <p:spTgt spid="23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234"/>
                                        </p:tgtEl>
                                        <p:attrNameLst>
                                          <p:attrName>style.visibility</p:attrName>
                                        </p:attrNameLst>
                                      </p:cBhvr>
                                      <p:to>
                                        <p:strVal val="visible"/>
                                      </p:to>
                                    </p:set>
                                    <p:anim calcmode="lin" valueType="num">
                                      <p:cBhvr>
                                        <p:cTn id="13" dur="1000" fill="hold"/>
                                        <p:tgtEl>
                                          <p:spTgt spid="234"/>
                                        </p:tgtEl>
                                        <p:attrNameLst>
                                          <p:attrName>ppt_x</p:attrName>
                                        </p:attrNameLst>
                                      </p:cBhvr>
                                      <p:tavLst>
                                        <p:tav tm="0">
                                          <p:val>
                                            <p:strVal val="0-#ppt_w/2"/>
                                          </p:val>
                                        </p:tav>
                                        <p:tav tm="100000">
                                          <p:val>
                                            <p:strVal val="#ppt_x"/>
                                          </p:val>
                                        </p:tav>
                                      </p:tavLst>
                                    </p:anim>
                                    <p:anim calcmode="lin" valueType="num">
                                      <p:cBhvr>
                                        <p:cTn id="14" dur="1000" fill="hold"/>
                                        <p:tgtEl>
                                          <p:spTgt spid="23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 grpId="3" fill="hold">
                                  <p:stCondLst>
                                    <p:cond delay="0"/>
                                  </p:stCondLst>
                                  <p:iterate type="el" backwards="0">
                                    <p:tmAbs val="0"/>
                                  </p:iterate>
                                  <p:childTnLst>
                                    <p:set>
                                      <p:cBhvr>
                                        <p:cTn id="18" fill="hold"/>
                                        <p:tgtEl>
                                          <p:spTgt spid="235"/>
                                        </p:tgtEl>
                                        <p:attrNameLst>
                                          <p:attrName>style.visibility</p:attrName>
                                        </p:attrNameLst>
                                      </p:cBhvr>
                                      <p:to>
                                        <p:strVal val="visible"/>
                                      </p:to>
                                    </p:set>
                                    <p:anim calcmode="lin" valueType="num">
                                      <p:cBhvr>
                                        <p:cTn id="19" dur="1000" fill="hold"/>
                                        <p:tgtEl>
                                          <p:spTgt spid="235"/>
                                        </p:tgtEl>
                                        <p:attrNameLst>
                                          <p:attrName>ppt_x</p:attrName>
                                        </p:attrNameLst>
                                      </p:cBhvr>
                                      <p:tavLst>
                                        <p:tav tm="0">
                                          <p:val>
                                            <p:strVal val="0-#ppt_w/2"/>
                                          </p:val>
                                        </p:tav>
                                        <p:tav tm="100000">
                                          <p:val>
                                            <p:strVal val="#ppt_x"/>
                                          </p:val>
                                        </p:tav>
                                      </p:tavLst>
                                    </p:anim>
                                    <p:anim calcmode="lin" valueType="num">
                                      <p:cBhvr>
                                        <p:cTn id="20" dur="1000" fill="hold"/>
                                        <p:tgtEl>
                                          <p:spTgt spid="23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ID="9" grpId="4" fill="hold">
                                  <p:stCondLst>
                                    <p:cond delay="0"/>
                                  </p:stCondLst>
                                  <p:iterate type="el" backwards="0">
                                    <p:tmAbs val="0"/>
                                  </p:iterate>
                                  <p:childTnLst>
                                    <p:set>
                                      <p:cBhvr>
                                        <p:cTn id="24" fill="hold"/>
                                        <p:tgtEl>
                                          <p:spTgt spid="236"/>
                                        </p:tgtEl>
                                        <p:attrNameLst>
                                          <p:attrName>style.visibility</p:attrName>
                                        </p:attrNameLst>
                                      </p:cBhvr>
                                      <p:to>
                                        <p:strVal val="visible"/>
                                      </p:to>
                                    </p:set>
                                    <p:animEffect filter="dissolve" transition="in">
                                      <p:cBhvr>
                                        <p:cTn id="25" dur="2000"/>
                                        <p:tgtEl>
                                          <p:spTgt spid="236"/>
                                        </p:tgtEl>
                                      </p:cBhvr>
                                    </p:animEffect>
                                  </p:childTnLst>
                                </p:cTn>
                              </p:par>
                            </p:childTnLst>
                          </p:cTn>
                        </p:par>
                        <p:par>
                          <p:cTn id="26" fill="hold">
                            <p:stCondLst>
                              <p:cond delay="2000"/>
                            </p:stCondLst>
                            <p:childTnLst>
                              <p:par>
                                <p:cTn id="27" presetClass="entr" nodeType="afterEffect" presetID="9" grpId="5" fill="hold">
                                  <p:stCondLst>
                                    <p:cond delay="0"/>
                                  </p:stCondLst>
                                  <p:iterate type="el" backwards="0">
                                    <p:tmAbs val="0"/>
                                  </p:iterate>
                                  <p:childTnLst>
                                    <p:set>
                                      <p:cBhvr>
                                        <p:cTn id="28" fill="hold"/>
                                        <p:tgtEl>
                                          <p:spTgt spid="238"/>
                                        </p:tgtEl>
                                        <p:attrNameLst>
                                          <p:attrName>style.visibility</p:attrName>
                                        </p:attrNameLst>
                                      </p:cBhvr>
                                      <p:to>
                                        <p:strVal val="visible"/>
                                      </p:to>
                                    </p:set>
                                    <p:animEffect filter="dissolve" transition="in">
                                      <p:cBhvr>
                                        <p:cTn id="29" dur="2000"/>
                                        <p:tgtEl>
                                          <p:spTgt spid="238"/>
                                        </p:tgtEl>
                                      </p:cBhvr>
                                    </p:animEffect>
                                  </p:childTnLst>
                                </p:cTn>
                              </p:par>
                            </p:childTnLst>
                          </p:cTn>
                        </p:par>
                        <p:par>
                          <p:cTn id="30" fill="hold">
                            <p:stCondLst>
                              <p:cond delay="4000"/>
                            </p:stCondLst>
                            <p:childTnLst>
                              <p:par>
                                <p:cTn id="31" presetClass="entr" nodeType="afterEffect" presetID="9" grpId="6" fill="hold">
                                  <p:stCondLst>
                                    <p:cond delay="0"/>
                                  </p:stCondLst>
                                  <p:iterate type="el" backwards="0">
                                    <p:tmAbs val="0"/>
                                  </p:iterate>
                                  <p:childTnLst>
                                    <p:set>
                                      <p:cBhvr>
                                        <p:cTn id="32" fill="hold"/>
                                        <p:tgtEl>
                                          <p:spTgt spid="240"/>
                                        </p:tgtEl>
                                        <p:attrNameLst>
                                          <p:attrName>style.visibility</p:attrName>
                                        </p:attrNameLst>
                                      </p:cBhvr>
                                      <p:to>
                                        <p:strVal val="visible"/>
                                      </p:to>
                                    </p:set>
                                    <p:animEffect filter="dissolve" transition="in">
                                      <p:cBhvr>
                                        <p:cTn id="33" dur="20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35" grpId="3"/>
      <p:bldP build="whole" bldLvl="1" animBg="1" rev="0" advAuto="0" spid="233" grpId="1"/>
      <p:bldP build="whole" bldLvl="1" animBg="1" rev="0" advAuto="0" spid="240" grpId="6"/>
      <p:bldP build="whole" bldLvl="1" animBg="1" rev="0" advAuto="0" spid="238" grpId="5"/>
      <p:bldP build="whole" bldLvl="1" animBg="1" rev="0" advAuto="0" spid="234" grpId="2"/>
      <p:bldP build="whole" bldLvl="1" animBg="1" rev="0" advAuto="0" spid="236" grpId="4"/>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4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graphicFrame>
        <p:nvGraphicFramePr>
          <p:cNvPr id="245" name="Tabelul 1"/>
          <p:cNvGraphicFramePr/>
          <p:nvPr/>
        </p:nvGraphicFramePr>
        <p:xfrm>
          <a:off x="6408627" y="3197503"/>
          <a:ext cx="15435027" cy="5419038"/>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855581"/>
                <a:gridCol w="3855581"/>
                <a:gridCol w="3855581"/>
              </a:tblGrid>
              <a:tr h="1081267">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Length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Sepal Width</a:t>
                      </a:r>
                    </a:p>
                  </a:txBody>
                  <a:tcPr marL="0" marR="0" marT="0" marB="0" anchor="ctr" anchorCtr="0" horzOverflow="overflow"/>
                </a:tc>
                <a:tc>
                  <a:txBody>
                    <a:bodyPr/>
                    <a:lstStyle/>
                    <a:p>
                      <a:pPr indent="457200">
                        <a:defRPr b="0" sz="1800">
                          <a:solidFill>
                            <a:srgbClr val="000000"/>
                          </a:solidFill>
                        </a:defRPr>
                      </a:pPr>
                      <a:r>
                        <a:rPr sz="2000">
                          <a:solidFill>
                            <a:srgbClr val="FFFFFF"/>
                          </a:solidFill>
                          <a:latin typeface="Canela Text Regular"/>
                          <a:ea typeface="Canela Text Regular"/>
                          <a:cs typeface="Canela Text Regular"/>
                          <a:sym typeface="Canela Text Regular"/>
                        </a:rPr>
                        <a:t>Species</a:t>
                      </a:r>
                    </a:p>
                  </a:txBody>
                  <a:tcPr marL="0" marR="0" marT="0" marB="0" anchor="ctr" anchorCtr="0" horzOverflow="overflow">
                    <a:solidFill>
                      <a:schemeClr val="accent5"/>
                    </a:solidFill>
                  </a:tcPr>
                </a:tc>
              </a:tr>
              <a:tr h="1081267">
                <a:tc>
                  <a:txBody>
                    <a:bodyPr/>
                    <a:lstStyle/>
                    <a:p>
                      <a:pPr indent="457200">
                        <a:defRPr b="0" sz="1800"/>
                      </a:pPr>
                      <a:r>
                        <a:rPr sz="2000">
                          <a:latin typeface="Canela Text Regular"/>
                          <a:ea typeface="Canela Text Regular"/>
                          <a:cs typeface="Canela Text Regular"/>
                          <a:sym typeface="Canela Text Regular"/>
                        </a:rPr>
                        <a:t>5.1</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3.5</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0</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7.0</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3.2</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1</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6.3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3.3</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2</a:t>
                      </a:r>
                    </a:p>
                  </a:txBody>
                  <a:tcPr marL="0" marR="0" marT="0" marB="0" anchor="ctr" anchorCtr="0" horzOverflow="overflow"/>
                </a:tc>
              </a:tr>
              <a:tr h="1081267">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c>
                  <a:txBody>
                    <a:bodyPr/>
                    <a:lstStyle/>
                    <a:p>
                      <a:pPr indent="457200">
                        <a:defRPr b="0" sz="1800"/>
                      </a:pPr>
                      <a:r>
                        <a:rPr sz="2000">
                          <a:latin typeface="Canela Text Regular"/>
                          <a:ea typeface="Canela Text Regular"/>
                          <a:cs typeface="Canela Text Regular"/>
                          <a:sym typeface="Canela Text Regular"/>
                        </a:rPr>
                        <a:t>…</a:t>
                      </a:r>
                    </a:p>
                  </a:txBody>
                  <a:tcPr marL="0" marR="0" marT="0" marB="0" anchor="ctr" anchorCtr="0" horzOverflow="overflow"/>
                </a:tc>
              </a:tr>
            </a:tbl>
          </a:graphicData>
        </a:graphic>
      </p:graphicFrame>
      <p:pic>
        <p:nvPicPr>
          <p:cNvPr id="246" name="Linie Linie" descr="Linie Linie"/>
          <p:cNvPicPr>
            <a:picLocks noChangeAspect="0"/>
          </p:cNvPicPr>
          <p:nvPr/>
        </p:nvPicPr>
        <p:blipFill>
          <a:blip r:embed="rId2">
            <a:extLst/>
          </a:blip>
          <a:stretch>
            <a:fillRect/>
          </a:stretch>
        </p:blipFill>
        <p:spPr>
          <a:xfrm>
            <a:off x="6476230" y="9146457"/>
            <a:ext cx="7497546" cy="101601"/>
          </a:xfrm>
          <a:prstGeom prst="rect">
            <a:avLst/>
          </a:prstGeom>
        </p:spPr>
      </p:pic>
      <p:sp>
        <p:nvSpPr>
          <p:cNvPr id="248" name="Caracteristici / Atribute / Features"/>
          <p:cNvSpPr txBox="1"/>
          <p:nvPr/>
        </p:nvSpPr>
        <p:spPr>
          <a:xfrm>
            <a:off x="5383114" y="9390120"/>
            <a:ext cx="871479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Caracteristici / Atribute / Features</a:t>
            </a:r>
          </a:p>
        </p:txBody>
      </p:sp>
      <p:pic>
        <p:nvPicPr>
          <p:cNvPr id="249" name="Linie Linie" descr="Linie Linie"/>
          <p:cNvPicPr>
            <a:picLocks noChangeAspect="0"/>
          </p:cNvPicPr>
          <p:nvPr/>
        </p:nvPicPr>
        <p:blipFill>
          <a:blip r:embed="rId3">
            <a:extLst/>
          </a:blip>
          <a:stretch>
            <a:fillRect/>
          </a:stretch>
        </p:blipFill>
        <p:spPr>
          <a:xfrm>
            <a:off x="14352871" y="9146457"/>
            <a:ext cx="4101237" cy="101601"/>
          </a:xfrm>
          <a:prstGeom prst="rect">
            <a:avLst/>
          </a:prstGeom>
        </p:spPr>
      </p:pic>
      <p:sp>
        <p:nvSpPr>
          <p:cNvPr id="251" name="Etichetă / Clasă"/>
          <p:cNvSpPr txBox="1"/>
          <p:nvPr/>
        </p:nvSpPr>
        <p:spPr>
          <a:xfrm>
            <a:off x="14559550" y="9269685"/>
            <a:ext cx="41672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Text Regular"/>
                <a:ea typeface="Canela Text Regular"/>
                <a:cs typeface="Canela Text Regular"/>
                <a:sym typeface="Canela Text Regular"/>
              </a:defRPr>
            </a:lvl1pPr>
          </a:lstStyle>
          <a:p>
            <a:pPr/>
            <a:r>
              <a:t>Etichetă / Clasă</a:t>
            </a:r>
          </a:p>
        </p:txBody>
      </p:sp>
      <p:pic>
        <p:nvPicPr>
          <p:cNvPr id="252" name="Oval Oval" descr="Oval Oval"/>
          <p:cNvPicPr>
            <a:picLocks noChangeAspect="0"/>
          </p:cNvPicPr>
          <p:nvPr/>
        </p:nvPicPr>
        <p:blipFill>
          <a:blip r:embed="rId4">
            <a:extLst/>
          </a:blip>
          <a:stretch>
            <a:fillRect/>
          </a:stretch>
        </p:blipFill>
        <p:spPr>
          <a:xfrm>
            <a:off x="14359004" y="9222599"/>
            <a:ext cx="4415533" cy="1028386"/>
          </a:xfrm>
          <a:prstGeom prst="rect">
            <a:avLst/>
          </a:prstGeom>
        </p:spPr>
      </p:pic>
      <p:sp>
        <p:nvSpPr>
          <p:cNvPr id="254" name="0 - Iris-Setosa"/>
          <p:cNvSpPr txBox="1"/>
          <p:nvPr/>
        </p:nvSpPr>
        <p:spPr>
          <a:xfrm>
            <a:off x="14768008" y="10466394"/>
            <a:ext cx="327096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0 - Iris-Setosa</a:t>
            </a:r>
          </a:p>
        </p:txBody>
      </p:sp>
      <p:sp>
        <p:nvSpPr>
          <p:cNvPr id="255" name="1 - Iris-Versicolor"/>
          <p:cNvSpPr txBox="1"/>
          <p:nvPr/>
        </p:nvSpPr>
        <p:spPr>
          <a:xfrm>
            <a:off x="14868963" y="11150983"/>
            <a:ext cx="384317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1 - Iris-Versicolor</a:t>
            </a:r>
          </a:p>
        </p:txBody>
      </p:sp>
      <p:sp>
        <p:nvSpPr>
          <p:cNvPr id="256" name="2 - Iris-Virginica"/>
          <p:cNvSpPr txBox="1"/>
          <p:nvPr/>
        </p:nvSpPr>
        <p:spPr>
          <a:xfrm>
            <a:off x="14805465" y="11764914"/>
            <a:ext cx="363306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Canela Regular"/>
                <a:ea typeface="Canela Regular"/>
                <a:cs typeface="Canela Regular"/>
                <a:sym typeface="Canela Regular"/>
              </a:defRPr>
            </a:lvl1pPr>
          </a:lstStyle>
          <a:p>
            <a:pPr/>
            <a:r>
              <a:t>2 - Iris-Virginica</a:t>
            </a:r>
          </a:p>
        </p:txBody>
      </p:sp>
      <p:sp>
        <p:nvSpPr>
          <p:cNvPr id="257"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pic>
        <p:nvPicPr>
          <p:cNvPr id="258" name="Oval Oval" descr="Oval Oval"/>
          <p:cNvPicPr>
            <a:picLocks noChangeAspect="0"/>
          </p:cNvPicPr>
          <p:nvPr/>
        </p:nvPicPr>
        <p:blipFill>
          <a:blip r:embed="rId5">
            <a:extLst/>
          </a:blip>
          <a:stretch>
            <a:fillRect/>
          </a:stretch>
        </p:blipFill>
        <p:spPr>
          <a:xfrm>
            <a:off x="6208781" y="2657327"/>
            <a:ext cx="8592543" cy="679457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14:warp dir="in"/>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258"/>
                                        </p:tgtEl>
                                        <p:attrNameLst>
                                          <p:attrName>style.visibility</p:attrName>
                                        </p:attrNameLst>
                                      </p:cBhvr>
                                      <p:to>
                                        <p:strVal val="visible"/>
                                      </p:to>
                                    </p:set>
                                    <p:animEffect filter="dissolve" transition="in">
                                      <p:cBhvr>
                                        <p:cTn id="7" dur="2000"/>
                                        <p:tgtEl>
                                          <p:spTgt spid="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58" grpId="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6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263"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sp>
        <p:nvSpPr>
          <p:cNvPr id="264" name="În general, sunt două tipuri mari și late:"/>
          <p:cNvSpPr txBox="1"/>
          <p:nvPr>
            <p:ph type="body" sz="quarter" idx="1"/>
          </p:nvPr>
        </p:nvSpPr>
        <p:spPr>
          <a:xfrm>
            <a:off x="1687402" y="4009347"/>
            <a:ext cx="21948579" cy="2006602"/>
          </a:xfrm>
          <a:prstGeom prst="rect">
            <a:avLst/>
          </a:prstGeom>
        </p:spPr>
        <p:txBody>
          <a:bodyPr/>
          <a:lstStyle/>
          <a:p>
            <a:pPr/>
            <a:r>
              <a:t>Arborii de decizie pun întrebări cu privire la caracteristicile setului de antrenare.</a:t>
            </a:r>
          </a:p>
        </p:txBody>
      </p:sp>
      <p:pic>
        <p:nvPicPr>
          <p:cNvPr id="265" name="Linie Linie" descr="Linie Linie"/>
          <p:cNvPicPr>
            <a:picLocks noChangeAspect="0"/>
          </p:cNvPicPr>
          <p:nvPr/>
        </p:nvPicPr>
        <p:blipFill>
          <a:blip r:embed="rId2">
            <a:extLst/>
          </a:blip>
          <a:stretch>
            <a:fillRect/>
          </a:stretch>
        </p:blipFill>
        <p:spPr>
          <a:xfrm>
            <a:off x="6704793" y="4961848"/>
            <a:ext cx="3551964" cy="101601"/>
          </a:xfrm>
          <a:prstGeom prst="rect">
            <a:avLst/>
          </a:prstGeom>
        </p:spPr>
      </p:pic>
      <p:pic>
        <p:nvPicPr>
          <p:cNvPr id="267" name="Linie Linie" descr="Linie Linie"/>
          <p:cNvPicPr>
            <a:picLocks noChangeAspect="0"/>
          </p:cNvPicPr>
          <p:nvPr/>
        </p:nvPicPr>
        <p:blipFill>
          <a:blip r:embed="rId3">
            <a:extLst/>
          </a:blip>
          <a:stretch>
            <a:fillRect/>
          </a:stretch>
        </p:blipFill>
        <p:spPr>
          <a:xfrm>
            <a:off x="13339484" y="4961848"/>
            <a:ext cx="8914344" cy="101601"/>
          </a:xfrm>
          <a:prstGeom prst="rect">
            <a:avLst/>
          </a:prstGeom>
        </p:spPr>
      </p:pic>
      <p:sp>
        <p:nvSpPr>
          <p:cNvPr id="269" name="În general, sunt două tipuri mari și late:"/>
          <p:cNvSpPr txBox="1"/>
          <p:nvPr/>
        </p:nvSpPr>
        <p:spPr>
          <a:xfrm>
            <a:off x="1687402" y="5465662"/>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Scopul este de a împărți setul de date în diverse regiuni unde clasificarea se poate realiza mai ușor.</a:t>
            </a:r>
          </a:p>
        </p:txBody>
      </p:sp>
      <p:pic>
        <p:nvPicPr>
          <p:cNvPr id="270" name="Linie Linie" descr="Linie Linie"/>
          <p:cNvPicPr>
            <a:picLocks noChangeAspect="0"/>
          </p:cNvPicPr>
          <p:nvPr/>
        </p:nvPicPr>
        <p:blipFill>
          <a:blip r:embed="rId4">
            <a:extLst/>
          </a:blip>
          <a:stretch>
            <a:fillRect/>
          </a:stretch>
        </p:blipFill>
        <p:spPr>
          <a:xfrm>
            <a:off x="6027151" y="6259438"/>
            <a:ext cx="2723409" cy="101601"/>
          </a:xfrm>
          <a:prstGeom prst="rect">
            <a:avLst/>
          </a:prstGeom>
        </p:spPr>
      </p:pic>
      <p:sp>
        <p:nvSpPr>
          <p:cNvPr id="272" name="În general, sunt două tipuri mari și late:"/>
          <p:cNvSpPr txBox="1"/>
          <p:nvPr/>
        </p:nvSpPr>
        <p:spPr>
          <a:xfrm>
            <a:off x="1687402" y="7455348"/>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Rezultatul este un arbore binar care ajută la a oferi etichete noi la date nemaivăzute.</a:t>
            </a: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264"/>
                                        </p:tgtEl>
                                        <p:attrNameLst>
                                          <p:attrName>style.visibility</p:attrName>
                                        </p:attrNameLst>
                                      </p:cBhvr>
                                      <p:to>
                                        <p:strVal val="visible"/>
                                      </p:to>
                                    </p:set>
                                    <p:anim calcmode="lin" valueType="num">
                                      <p:cBhvr>
                                        <p:cTn id="7" dur="1000" fill="hold"/>
                                        <p:tgtEl>
                                          <p:spTgt spid="264"/>
                                        </p:tgtEl>
                                        <p:attrNameLst>
                                          <p:attrName>ppt_x</p:attrName>
                                        </p:attrNameLst>
                                      </p:cBhvr>
                                      <p:tavLst>
                                        <p:tav tm="0">
                                          <p:val>
                                            <p:strVal val="0-#ppt_w/2"/>
                                          </p:val>
                                        </p:tav>
                                        <p:tav tm="100000">
                                          <p:val>
                                            <p:strVal val="#ppt_x"/>
                                          </p:val>
                                        </p:tav>
                                      </p:tavLst>
                                    </p:anim>
                                    <p:anim calcmode="lin" valueType="num">
                                      <p:cBhvr>
                                        <p:cTn id="8" dur="1000" fill="hold"/>
                                        <p:tgtEl>
                                          <p:spTgt spid="264"/>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265"/>
                                        </p:tgtEl>
                                        <p:attrNameLst>
                                          <p:attrName>style.visibility</p:attrName>
                                        </p:attrNameLst>
                                      </p:cBhvr>
                                      <p:to>
                                        <p:strVal val="visible"/>
                                      </p:to>
                                    </p:set>
                                    <p:animEffect filter="dissolve" transition="in">
                                      <p:cBhvr>
                                        <p:cTn id="12" dur="2000"/>
                                        <p:tgtEl>
                                          <p:spTgt spid="265"/>
                                        </p:tgtEl>
                                      </p:cBhvr>
                                    </p:animEffect>
                                  </p:childTnLst>
                                </p:cTn>
                              </p:par>
                            </p:childTnLst>
                          </p:cTn>
                        </p:par>
                        <p:par>
                          <p:cTn id="13" fill="hold">
                            <p:stCondLst>
                              <p:cond delay="3000"/>
                            </p:stCondLst>
                            <p:childTnLst>
                              <p:par>
                                <p:cTn id="14" presetClass="entr" nodeType="afterEffect" presetID="9" grpId="3" fill="hold">
                                  <p:stCondLst>
                                    <p:cond delay="0"/>
                                  </p:stCondLst>
                                  <p:iterate type="el" backwards="0">
                                    <p:tmAbs val="0"/>
                                  </p:iterate>
                                  <p:childTnLst>
                                    <p:set>
                                      <p:cBhvr>
                                        <p:cTn id="15" fill="hold"/>
                                        <p:tgtEl>
                                          <p:spTgt spid="267"/>
                                        </p:tgtEl>
                                        <p:attrNameLst>
                                          <p:attrName>style.visibility</p:attrName>
                                        </p:attrNameLst>
                                      </p:cBhvr>
                                      <p:to>
                                        <p:strVal val="visible"/>
                                      </p:to>
                                    </p:set>
                                    <p:animEffect filter="dissolve" transition="in">
                                      <p:cBhvr>
                                        <p:cTn id="16" dur="2000"/>
                                        <p:tgtEl>
                                          <p:spTgt spid="267"/>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 grpId="4" fill="hold">
                                  <p:stCondLst>
                                    <p:cond delay="0"/>
                                  </p:stCondLst>
                                  <p:iterate type="el" backwards="0">
                                    <p:tmAbs val="0"/>
                                  </p:iterate>
                                  <p:childTnLst>
                                    <p:set>
                                      <p:cBhvr>
                                        <p:cTn id="20" fill="hold"/>
                                        <p:tgtEl>
                                          <p:spTgt spid="269"/>
                                        </p:tgtEl>
                                        <p:attrNameLst>
                                          <p:attrName>style.visibility</p:attrName>
                                        </p:attrNameLst>
                                      </p:cBhvr>
                                      <p:to>
                                        <p:strVal val="visible"/>
                                      </p:to>
                                    </p:set>
                                    <p:anim calcmode="lin" valueType="num">
                                      <p:cBhvr>
                                        <p:cTn id="21" dur="1000" fill="hold"/>
                                        <p:tgtEl>
                                          <p:spTgt spid="269"/>
                                        </p:tgtEl>
                                        <p:attrNameLst>
                                          <p:attrName>ppt_x</p:attrName>
                                        </p:attrNameLst>
                                      </p:cBhvr>
                                      <p:tavLst>
                                        <p:tav tm="0">
                                          <p:val>
                                            <p:strVal val="0-#ppt_w/2"/>
                                          </p:val>
                                        </p:tav>
                                        <p:tav tm="100000">
                                          <p:val>
                                            <p:strVal val="#ppt_x"/>
                                          </p:val>
                                        </p:tav>
                                      </p:tavLst>
                                    </p:anim>
                                    <p:anim calcmode="lin" valueType="num">
                                      <p:cBhvr>
                                        <p:cTn id="22" dur="1000" fill="hold"/>
                                        <p:tgtEl>
                                          <p:spTgt spid="269"/>
                                        </p:tgtEl>
                                        <p:attrNameLst>
                                          <p:attrName>ppt_y</p:attrName>
                                        </p:attrNameLst>
                                      </p:cBhvr>
                                      <p:tavLst>
                                        <p:tav tm="0">
                                          <p:val>
                                            <p:strVal val="#ppt_y"/>
                                          </p:val>
                                        </p:tav>
                                        <p:tav tm="100000">
                                          <p:val>
                                            <p:strVal val="#ppt_y"/>
                                          </p:val>
                                        </p:tav>
                                      </p:tavLst>
                                    </p:anim>
                                  </p:childTnLst>
                                </p:cTn>
                              </p:par>
                            </p:childTnLst>
                          </p:cTn>
                        </p:par>
                        <p:par>
                          <p:cTn id="23" fill="hold">
                            <p:stCondLst>
                              <p:cond delay="1000"/>
                            </p:stCondLst>
                            <p:childTnLst>
                              <p:par>
                                <p:cTn id="24" presetClass="entr" nodeType="afterEffect" presetID="9" grpId="5" fill="hold">
                                  <p:stCondLst>
                                    <p:cond delay="0"/>
                                  </p:stCondLst>
                                  <p:iterate type="el" backwards="0">
                                    <p:tmAbs val="0"/>
                                  </p:iterate>
                                  <p:childTnLst>
                                    <p:set>
                                      <p:cBhvr>
                                        <p:cTn id="25" fill="hold"/>
                                        <p:tgtEl>
                                          <p:spTgt spid="270"/>
                                        </p:tgtEl>
                                        <p:attrNameLst>
                                          <p:attrName>style.visibility</p:attrName>
                                        </p:attrNameLst>
                                      </p:cBhvr>
                                      <p:to>
                                        <p:strVal val="visible"/>
                                      </p:to>
                                    </p:set>
                                    <p:animEffect filter="dissolve" transition="in">
                                      <p:cBhvr>
                                        <p:cTn id="26" dur="2000"/>
                                        <p:tgtEl>
                                          <p:spTgt spid="270"/>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 grpId="6" fill="hold">
                                  <p:stCondLst>
                                    <p:cond delay="0"/>
                                  </p:stCondLst>
                                  <p:iterate type="el" backwards="0">
                                    <p:tmAbs val="0"/>
                                  </p:iterate>
                                  <p:childTnLst>
                                    <p:set>
                                      <p:cBhvr>
                                        <p:cTn id="30" fill="hold"/>
                                        <p:tgtEl>
                                          <p:spTgt spid="272"/>
                                        </p:tgtEl>
                                        <p:attrNameLst>
                                          <p:attrName>style.visibility</p:attrName>
                                        </p:attrNameLst>
                                      </p:cBhvr>
                                      <p:to>
                                        <p:strVal val="visible"/>
                                      </p:to>
                                    </p:set>
                                    <p:anim calcmode="lin" valueType="num">
                                      <p:cBhvr>
                                        <p:cTn id="31" dur="1000" fill="hold"/>
                                        <p:tgtEl>
                                          <p:spTgt spid="272"/>
                                        </p:tgtEl>
                                        <p:attrNameLst>
                                          <p:attrName>ppt_x</p:attrName>
                                        </p:attrNameLst>
                                      </p:cBhvr>
                                      <p:tavLst>
                                        <p:tav tm="0">
                                          <p:val>
                                            <p:strVal val="0-#ppt_w/2"/>
                                          </p:val>
                                        </p:tav>
                                        <p:tav tm="100000">
                                          <p:val>
                                            <p:strVal val="#ppt_x"/>
                                          </p:val>
                                        </p:tav>
                                      </p:tavLst>
                                    </p:anim>
                                    <p:anim calcmode="lin" valueType="num">
                                      <p:cBhvr>
                                        <p:cTn id="32" dur="1000" fill="hold"/>
                                        <p:tgtEl>
                                          <p:spTgt spid="2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0" grpId="5"/>
      <p:bldP build="whole" bldLvl="1" animBg="1" rev="0" advAuto="0" spid="267" grpId="3"/>
      <p:bldP build="whole" bldLvl="1" animBg="1" rev="0" advAuto="0" spid="272" grpId="6"/>
      <p:bldP build="whole" bldLvl="1" animBg="1" rev="0" advAuto="0" spid="264" grpId="1"/>
      <p:bldP build="whole" bldLvl="1" animBg="1" rev="0" advAuto="0" spid="269" grpId="4"/>
      <p:bldP build="whole" bldLvl="1" animBg="1" rev="0" advAuto="0" spid="265" grpId="2"/>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7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276" name="Captură de ecran din 2024-10-13 la 20.40.55.png" descr="Captură de ecran din 2024-10-13 la 20.40.55.png"/>
          <p:cNvPicPr>
            <a:picLocks noChangeAspect="1"/>
          </p:cNvPicPr>
          <p:nvPr/>
        </p:nvPicPr>
        <p:blipFill>
          <a:blip r:embed="rId2">
            <a:extLst/>
          </a:blip>
          <a:stretch>
            <a:fillRect/>
          </a:stretch>
        </p:blipFill>
        <p:spPr>
          <a:xfrm>
            <a:off x="5349805" y="2702305"/>
            <a:ext cx="13684390" cy="10355094"/>
          </a:xfrm>
          <a:prstGeom prst="rect">
            <a:avLst/>
          </a:prstGeom>
          <a:ln w="12700">
            <a:miter lim="400000"/>
          </a:ln>
        </p:spPr>
      </p:pic>
      <p:sp>
        <p:nvSpPr>
          <p:cNvPr id="277"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sp>
        <p:nvSpPr>
          <p:cNvPr id="278" name="Linie"/>
          <p:cNvSpPr/>
          <p:nvPr/>
        </p:nvSpPr>
        <p:spPr>
          <a:xfrm flipV="1">
            <a:off x="14780619" y="2778632"/>
            <a:ext cx="1" cy="9073006"/>
          </a:xfrm>
          <a:prstGeom prst="line">
            <a:avLst/>
          </a:prstGeom>
          <a:ln w="101600">
            <a:solidFill>
              <a:srgbClr val="000000"/>
            </a:solidFill>
            <a:miter lim="400000"/>
          </a:ln>
        </p:spPr>
        <p:txBody>
          <a:bodyPr lIns="45718" tIns="45718" rIns="45718" bIns="45718"/>
          <a:lstStyle/>
          <a:p>
            <a:pPr/>
          </a:p>
        </p:txBody>
      </p:sp>
    </p:spTree>
  </p:cSld>
  <p:clrMapOvr>
    <a:masterClrMapping/>
  </p:clrMapOvr>
  <mc:AlternateContent xmlns:mc="http://schemas.openxmlformats.org/markup-compatibility/2006">
    <mc:Choice xmlns:p14="http://schemas.microsoft.com/office/powerpoint/2010/main" Requires="p14">
      <p:transition spd="slow" advClick="1" p14:dur="1200">
        <p:push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278"/>
                                        </p:tgtEl>
                                        <p:attrNameLst>
                                          <p:attrName>style.visibility</p:attrName>
                                        </p:attrNameLst>
                                      </p:cBhvr>
                                      <p:to>
                                        <p:strVal val="visible"/>
                                      </p:to>
                                    </p:set>
                                    <p:animEffect filter="dissolve" transition="in">
                                      <p:cBhvr>
                                        <p:cTn id="7" dur="20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8" grpId="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0"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281"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282" name="Captură de ecran din 2024-10-13 la 20.40.55.png" descr="Captură de ecran din 2024-10-13 la 20.40.55.png"/>
          <p:cNvPicPr>
            <a:picLocks noChangeAspect="1"/>
          </p:cNvPicPr>
          <p:nvPr/>
        </p:nvPicPr>
        <p:blipFill>
          <a:blip r:embed="rId2">
            <a:extLst/>
          </a:blip>
          <a:stretch>
            <a:fillRect/>
          </a:stretch>
        </p:blipFill>
        <p:spPr>
          <a:xfrm>
            <a:off x="250791" y="2980072"/>
            <a:ext cx="13684390" cy="10355094"/>
          </a:xfrm>
          <a:prstGeom prst="rect">
            <a:avLst/>
          </a:prstGeom>
          <a:ln w="12700">
            <a:miter lim="400000"/>
          </a:ln>
        </p:spPr>
      </p:pic>
      <p:sp>
        <p:nvSpPr>
          <p:cNvPr id="283"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sp>
        <p:nvSpPr>
          <p:cNvPr id="284" name="Linie"/>
          <p:cNvSpPr/>
          <p:nvPr/>
        </p:nvSpPr>
        <p:spPr>
          <a:xfrm flipV="1">
            <a:off x="9681605" y="3056400"/>
            <a:ext cx="1" cy="9073005"/>
          </a:xfrm>
          <a:prstGeom prst="line">
            <a:avLst/>
          </a:prstGeom>
          <a:ln w="101600">
            <a:solidFill>
              <a:srgbClr val="000000"/>
            </a:solidFill>
            <a:miter lim="400000"/>
          </a:ln>
        </p:spPr>
        <p:txBody>
          <a:bodyPr lIns="45718" tIns="45718" rIns="45718" bIns="45718"/>
          <a:lstStyle/>
          <a:p>
            <a:pPr/>
          </a:p>
        </p:txBody>
      </p:sp>
      <p:sp>
        <p:nvSpPr>
          <p:cNvPr id="285" name="Sepal Length  &gt; 7"/>
          <p:cNvSpPr/>
          <p:nvPr/>
        </p:nvSpPr>
        <p:spPr>
          <a:xfrm>
            <a:off x="16878410" y="2954000"/>
            <a:ext cx="2138721" cy="2076100"/>
          </a:xfrm>
          <a:prstGeom prst="ellipse">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200"/>
            </a:lvl1pPr>
          </a:lstStyle>
          <a:p>
            <a:pPr/>
            <a:r>
              <a:t>Sepal Length  &gt; 7</a:t>
            </a:r>
          </a:p>
        </p:txBody>
      </p:sp>
      <p:sp>
        <p:nvSpPr>
          <p:cNvPr id="286" name="Samples: 12…"/>
          <p:cNvSpPr/>
          <p:nvPr/>
        </p:nvSpPr>
        <p:spPr>
          <a:xfrm>
            <a:off x="14675504" y="5537888"/>
            <a:ext cx="2138721" cy="2076099"/>
          </a:xfrm>
          <a:prstGeom prst="ellipse">
            <a:avLst/>
          </a:prstGeom>
          <a:solidFill>
            <a:schemeClr val="accent1">
              <a:satOff val="-7262"/>
              <a:lumOff val="-10627"/>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2200"/>
            </a:pPr>
            <a:r>
              <a:t>Samples: 12</a:t>
            </a:r>
          </a:p>
          <a:p>
            <a:pPr algn="ctr">
              <a:lnSpc>
                <a:spcPct val="30000"/>
              </a:lnSpc>
              <a:defRPr sz="2200"/>
            </a:pPr>
            <a:r>
              <a:t>Value: [0,0,12]</a:t>
            </a:r>
          </a:p>
        </p:txBody>
      </p:sp>
      <p:sp>
        <p:nvSpPr>
          <p:cNvPr id="287" name="Linie"/>
          <p:cNvSpPr/>
          <p:nvPr/>
        </p:nvSpPr>
        <p:spPr>
          <a:xfrm>
            <a:off x="18940865" y="4752140"/>
            <a:ext cx="700821" cy="700821"/>
          </a:xfrm>
          <a:prstGeom prst="line">
            <a:avLst/>
          </a:prstGeom>
          <a:ln w="25400">
            <a:solidFill>
              <a:schemeClr val="accent1"/>
            </a:solidFill>
            <a:tailEnd type="triangle"/>
          </a:ln>
        </p:spPr>
        <p:txBody>
          <a:bodyPr lIns="45718" tIns="45718" rIns="45718" bIns="45718"/>
          <a:lstStyle/>
          <a:p>
            <a:pPr/>
          </a:p>
        </p:txBody>
      </p:sp>
      <p:sp>
        <p:nvSpPr>
          <p:cNvPr id="288" name="Dreptunghi"/>
          <p:cNvSpPr/>
          <p:nvPr/>
        </p:nvSpPr>
        <p:spPr>
          <a:xfrm>
            <a:off x="9731671" y="3124778"/>
            <a:ext cx="3987378" cy="8936248"/>
          </a:xfrm>
          <a:prstGeom prst="rect">
            <a:avLst/>
          </a:prstGeom>
          <a:solidFill>
            <a:schemeClr val="accent1">
              <a:satOff val="-7262"/>
              <a:lumOff val="-10627"/>
              <a:alpha val="44434"/>
            </a:schemeClr>
          </a:solidFill>
          <a:ln w="25400">
            <a:solidFill>
              <a:schemeClr val="accent1">
                <a:alpha val="44434"/>
              </a:schemeClr>
            </a:solidFill>
          </a:ln>
        </p:spPr>
        <p:txBody>
          <a:bodyPr lIns="50800" tIns="50800" rIns="50800" bIns="50800" anchor="ctr"/>
          <a:lstStyle/>
          <a:p>
            <a:pPr/>
          </a:p>
        </p:txBody>
      </p:sp>
      <p:sp>
        <p:nvSpPr>
          <p:cNvPr id="289" name="Sepal Width &gt; 3"/>
          <p:cNvSpPr/>
          <p:nvPr/>
        </p:nvSpPr>
        <p:spPr>
          <a:xfrm>
            <a:off x="18856323" y="5659502"/>
            <a:ext cx="2138721" cy="2076100"/>
          </a:xfrm>
          <a:prstGeom prst="ellipse">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200"/>
            </a:lvl1pPr>
          </a:lstStyle>
          <a:p>
            <a:pPr/>
            <a:r>
              <a:t>Sepal Width &gt; 3</a:t>
            </a:r>
          </a:p>
        </p:txBody>
      </p:sp>
      <p:sp>
        <p:nvSpPr>
          <p:cNvPr id="290" name="Linie"/>
          <p:cNvSpPr/>
          <p:nvPr/>
        </p:nvSpPr>
        <p:spPr>
          <a:xfrm>
            <a:off x="1668557" y="7979930"/>
            <a:ext cx="7977049" cy="1"/>
          </a:xfrm>
          <a:prstGeom prst="line">
            <a:avLst/>
          </a:prstGeom>
          <a:ln w="114300">
            <a:solidFill>
              <a:srgbClr val="000000"/>
            </a:solidFill>
            <a:miter lim="400000"/>
          </a:ln>
        </p:spPr>
        <p:txBody>
          <a:bodyPr lIns="45718" tIns="45718" rIns="45718" bIns="45718"/>
          <a:lstStyle/>
          <a:p>
            <a:pPr/>
          </a:p>
        </p:txBody>
      </p:sp>
      <p:sp>
        <p:nvSpPr>
          <p:cNvPr id="291" name="Linie"/>
          <p:cNvSpPr/>
          <p:nvPr/>
        </p:nvSpPr>
        <p:spPr>
          <a:xfrm flipH="1">
            <a:off x="16379697" y="4889232"/>
            <a:ext cx="660721" cy="660721"/>
          </a:xfrm>
          <a:prstGeom prst="line">
            <a:avLst/>
          </a:prstGeom>
          <a:ln w="25400">
            <a:solidFill>
              <a:schemeClr val="accent1"/>
            </a:solidFill>
            <a:tailEnd type="triangle"/>
          </a:ln>
        </p:spPr>
        <p:txBody>
          <a:bodyPr lIns="45718" tIns="45718" rIns="45718" bIns="45718"/>
          <a:lstStyle/>
          <a:p>
            <a:pPr/>
          </a:p>
        </p:txBody>
      </p:sp>
      <p:sp>
        <p:nvSpPr>
          <p:cNvPr id="292" name="Linie"/>
          <p:cNvSpPr/>
          <p:nvPr/>
        </p:nvSpPr>
        <p:spPr>
          <a:xfrm>
            <a:off x="20906646" y="7484750"/>
            <a:ext cx="700821" cy="700821"/>
          </a:xfrm>
          <a:prstGeom prst="line">
            <a:avLst/>
          </a:prstGeom>
          <a:ln w="25400">
            <a:solidFill>
              <a:schemeClr val="accent1"/>
            </a:solidFill>
            <a:tailEnd type="triangle"/>
          </a:ln>
        </p:spPr>
        <p:txBody>
          <a:bodyPr lIns="45718" tIns="45718" rIns="45718" bIns="45718"/>
          <a:lstStyle/>
          <a:p>
            <a:pPr/>
          </a:p>
        </p:txBody>
      </p:sp>
      <p:sp>
        <p:nvSpPr>
          <p:cNvPr id="293" name="Linie"/>
          <p:cNvSpPr/>
          <p:nvPr/>
        </p:nvSpPr>
        <p:spPr>
          <a:xfrm flipH="1">
            <a:off x="18537724" y="7654061"/>
            <a:ext cx="660721" cy="660721"/>
          </a:xfrm>
          <a:prstGeom prst="line">
            <a:avLst/>
          </a:prstGeom>
          <a:ln w="25400">
            <a:solidFill>
              <a:schemeClr val="accent1"/>
            </a:solidFill>
            <a:tailEnd type="triangle"/>
          </a:ln>
        </p:spPr>
        <p:txBody>
          <a:bodyPr lIns="45718" tIns="45718" rIns="45718" bIns="45718"/>
          <a:lstStyle/>
          <a:p>
            <a:pPr/>
          </a:p>
        </p:txBody>
      </p:sp>
      <p:sp>
        <p:nvSpPr>
          <p:cNvPr id="294" name="Sepal Length &lt;= 5.8"/>
          <p:cNvSpPr/>
          <p:nvPr/>
        </p:nvSpPr>
        <p:spPr>
          <a:xfrm>
            <a:off x="17247071" y="8365004"/>
            <a:ext cx="2138721" cy="2076099"/>
          </a:xfrm>
          <a:prstGeom prst="ellipse">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200"/>
            </a:lvl1pPr>
          </a:lstStyle>
          <a:p>
            <a:pPr/>
            <a:r>
              <a:t>Sepal Length &lt;= 5.8</a:t>
            </a:r>
          </a:p>
        </p:txBody>
      </p:sp>
      <p:sp>
        <p:nvSpPr>
          <p:cNvPr id="295" name="Linie"/>
          <p:cNvSpPr/>
          <p:nvPr/>
        </p:nvSpPr>
        <p:spPr>
          <a:xfrm flipV="1">
            <a:off x="7092986" y="3105699"/>
            <a:ext cx="1" cy="4871405"/>
          </a:xfrm>
          <a:prstGeom prst="line">
            <a:avLst/>
          </a:prstGeom>
          <a:ln w="101600">
            <a:solidFill>
              <a:srgbClr val="000000"/>
            </a:solidFill>
            <a:miter lim="400000"/>
          </a:ln>
        </p:spPr>
        <p:txBody>
          <a:bodyPr lIns="45718" tIns="45718" rIns="45718" bIns="45718"/>
          <a:lstStyle/>
          <a:p>
            <a:pPr/>
          </a:p>
        </p:txBody>
      </p:sp>
      <p:sp>
        <p:nvSpPr>
          <p:cNvPr id="296" name="Dreptunghi"/>
          <p:cNvSpPr/>
          <p:nvPr/>
        </p:nvSpPr>
        <p:spPr>
          <a:xfrm>
            <a:off x="1608167" y="3095405"/>
            <a:ext cx="5470072" cy="4846005"/>
          </a:xfrm>
          <a:prstGeom prst="rect">
            <a:avLst/>
          </a:prstGeom>
          <a:solidFill>
            <a:schemeClr val="accent4">
              <a:satOff val="-15884"/>
              <a:lumOff val="-10862"/>
              <a:alpha val="42102"/>
            </a:schemeClr>
          </a:solidFill>
          <a:ln w="25400">
            <a:solidFill>
              <a:schemeClr val="accent1">
                <a:alpha val="42102"/>
              </a:schemeClr>
            </a:solidFill>
          </a:ln>
        </p:spPr>
        <p:txBody>
          <a:bodyPr lIns="50800" tIns="50800" rIns="50800" bIns="50800" anchor="ctr"/>
          <a:lstStyle/>
          <a:p>
            <a:pPr/>
          </a:p>
        </p:txBody>
      </p:sp>
      <p:sp>
        <p:nvSpPr>
          <p:cNvPr id="297" name="Linie"/>
          <p:cNvSpPr/>
          <p:nvPr/>
        </p:nvSpPr>
        <p:spPr>
          <a:xfrm flipH="1">
            <a:off x="16829369" y="10402996"/>
            <a:ext cx="660721" cy="660721"/>
          </a:xfrm>
          <a:prstGeom prst="line">
            <a:avLst/>
          </a:prstGeom>
          <a:ln w="25400">
            <a:solidFill>
              <a:schemeClr val="accent1"/>
            </a:solidFill>
            <a:tailEnd type="triangle"/>
          </a:ln>
        </p:spPr>
        <p:txBody>
          <a:bodyPr lIns="45718" tIns="45718" rIns="45718" bIns="45718"/>
          <a:lstStyle/>
          <a:p>
            <a:pPr/>
          </a:p>
        </p:txBody>
      </p:sp>
      <p:sp>
        <p:nvSpPr>
          <p:cNvPr id="298" name="Linie"/>
          <p:cNvSpPr/>
          <p:nvPr/>
        </p:nvSpPr>
        <p:spPr>
          <a:xfrm>
            <a:off x="19217019" y="10214957"/>
            <a:ext cx="700821" cy="700821"/>
          </a:xfrm>
          <a:prstGeom prst="line">
            <a:avLst/>
          </a:prstGeom>
          <a:ln w="25400">
            <a:solidFill>
              <a:schemeClr val="accent1"/>
            </a:solidFill>
            <a:tailEnd type="triangle"/>
          </a:ln>
        </p:spPr>
        <p:txBody>
          <a:bodyPr lIns="45718" tIns="45718" rIns="45718" bIns="45718"/>
          <a:lstStyle/>
          <a:p>
            <a:pPr/>
          </a:p>
        </p:txBody>
      </p:sp>
      <p:sp>
        <p:nvSpPr>
          <p:cNvPr id="299" name="Samples: 31…"/>
          <p:cNvSpPr/>
          <p:nvPr/>
        </p:nvSpPr>
        <p:spPr>
          <a:xfrm>
            <a:off x="14914872" y="10927487"/>
            <a:ext cx="2138721" cy="2076099"/>
          </a:xfrm>
          <a:prstGeom prst="ellipse">
            <a:avLst/>
          </a:prstGeom>
          <a:solidFill>
            <a:schemeClr val="accent4">
              <a:satOff val="-15884"/>
              <a:lumOff val="-10862"/>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2200"/>
            </a:pPr>
            <a:r>
              <a:t>Samples: 31</a:t>
            </a:r>
          </a:p>
          <a:p>
            <a:pPr algn="ctr">
              <a:lnSpc>
                <a:spcPct val="30000"/>
              </a:lnSpc>
              <a:defRPr sz="2200"/>
            </a:pPr>
            <a:r>
              <a:t>Value: [31,0,0]</a:t>
            </a:r>
          </a:p>
        </p:txBody>
      </p:sp>
      <p:sp>
        <p:nvSpPr>
          <p:cNvPr id="300" name="Samples: 14…"/>
          <p:cNvSpPr/>
          <p:nvPr/>
        </p:nvSpPr>
        <p:spPr>
          <a:xfrm>
            <a:off x="19029816" y="10927487"/>
            <a:ext cx="2138721" cy="2076099"/>
          </a:xfrm>
          <a:prstGeom prst="ellipse">
            <a:avLst/>
          </a:prstGeom>
          <a:solidFill>
            <a:schemeClr val="accent1">
              <a:satOff val="-7262"/>
              <a:lumOff val="-10627"/>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2200"/>
            </a:pPr>
            <a:r>
              <a:t>Samples: 14</a:t>
            </a:r>
          </a:p>
          <a:p>
            <a:pPr algn="ctr">
              <a:lnSpc>
                <a:spcPct val="30000"/>
              </a:lnSpc>
              <a:defRPr sz="2200"/>
            </a:pPr>
            <a:r>
              <a:t>Value: [0,3,11]</a:t>
            </a:r>
          </a:p>
        </p:txBody>
      </p:sp>
      <p:sp>
        <p:nvSpPr>
          <p:cNvPr id="301" name="Dreptunghi"/>
          <p:cNvSpPr/>
          <p:nvPr/>
        </p:nvSpPr>
        <p:spPr>
          <a:xfrm>
            <a:off x="7033361" y="3081944"/>
            <a:ext cx="2626984" cy="4872927"/>
          </a:xfrm>
          <a:prstGeom prst="rect">
            <a:avLst/>
          </a:prstGeom>
          <a:solidFill>
            <a:schemeClr val="accent1">
              <a:satOff val="-7262"/>
              <a:lumOff val="-10627"/>
              <a:alpha val="50905"/>
            </a:schemeClr>
          </a:solidFill>
          <a:ln w="25400">
            <a:solidFill>
              <a:schemeClr val="accent1">
                <a:alpha val="50905"/>
              </a:schemeClr>
            </a:solidFill>
          </a:ln>
        </p:spPr>
        <p:txBody>
          <a:bodyPr lIns="50800" tIns="50800" rIns="50800" bIns="50800" anchor="ctr"/>
          <a:lstStyle/>
          <a:p>
            <a:pPr/>
          </a:p>
        </p:txBody>
      </p:sp>
      <p:sp>
        <p:nvSpPr>
          <p:cNvPr id="302" name="Samples: 50…"/>
          <p:cNvSpPr/>
          <p:nvPr/>
        </p:nvSpPr>
        <p:spPr>
          <a:xfrm>
            <a:off x="20823420" y="8293495"/>
            <a:ext cx="2138721" cy="2076099"/>
          </a:xfrm>
          <a:prstGeom prst="ellipse">
            <a:avLst/>
          </a:prstGeom>
          <a:solidFill>
            <a:schemeClr val="accent2">
              <a:satOff val="-3145"/>
              <a:lumOff val="12843"/>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2100"/>
            </a:pPr>
            <a:r>
              <a:t>Samples: 50</a:t>
            </a:r>
          </a:p>
          <a:p>
            <a:pPr algn="ctr">
              <a:lnSpc>
                <a:spcPct val="30000"/>
              </a:lnSpc>
              <a:defRPr sz="2100"/>
            </a:pPr>
            <a:r>
              <a:t>Value: [3,30,17]</a:t>
            </a:r>
          </a:p>
        </p:txBody>
      </p:sp>
      <p:sp>
        <p:nvSpPr>
          <p:cNvPr id="303" name="Dreptunghi"/>
          <p:cNvSpPr/>
          <p:nvPr/>
        </p:nvSpPr>
        <p:spPr>
          <a:xfrm>
            <a:off x="1616899" y="8005547"/>
            <a:ext cx="8080366" cy="4065809"/>
          </a:xfrm>
          <a:prstGeom prst="rect">
            <a:avLst/>
          </a:prstGeom>
          <a:solidFill>
            <a:schemeClr val="accent2">
              <a:satOff val="-3145"/>
              <a:lumOff val="12843"/>
              <a:alpha val="58128"/>
            </a:schemeClr>
          </a:solidFill>
          <a:ln w="25400">
            <a:solidFill>
              <a:schemeClr val="accent1">
                <a:alpha val="58128"/>
              </a:schemeClr>
            </a:solidFill>
          </a:ln>
        </p:spPr>
        <p:txBody>
          <a:bodyPr lIns="50800" tIns="50800" rIns="50800" bIns="50800" anchor="ctr"/>
          <a:lstStyle/>
          <a:p>
            <a:p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9" grpId="1" fill="hold">
                                  <p:stCondLst>
                                    <p:cond delay="0"/>
                                  </p:stCondLst>
                                  <p:iterate type="el" backwards="0">
                                    <p:tmAbs val="0"/>
                                  </p:iterate>
                                  <p:childTnLst>
                                    <p:set>
                                      <p:cBhvr>
                                        <p:cTn id="6" fill="hold"/>
                                        <p:tgtEl>
                                          <p:spTgt spid="285"/>
                                        </p:tgtEl>
                                        <p:attrNameLst>
                                          <p:attrName>style.visibility</p:attrName>
                                        </p:attrNameLst>
                                      </p:cBhvr>
                                      <p:to>
                                        <p:strVal val="visible"/>
                                      </p:to>
                                    </p:set>
                                    <p:animEffect filter="dissolve" transition="in">
                                      <p:cBhvr>
                                        <p:cTn id="7" dur="2000"/>
                                        <p:tgtEl>
                                          <p:spTgt spid="285"/>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291"/>
                                        </p:tgtEl>
                                        <p:attrNameLst>
                                          <p:attrName>style.visibility</p:attrName>
                                        </p:attrNameLst>
                                      </p:cBhvr>
                                      <p:to>
                                        <p:strVal val="visible"/>
                                      </p:to>
                                    </p:set>
                                    <p:animEffect filter="dissolve" transition="in">
                                      <p:cBhvr>
                                        <p:cTn id="11" dur="2000"/>
                                        <p:tgtEl>
                                          <p:spTgt spid="291"/>
                                        </p:tgtEl>
                                      </p:cBhvr>
                                    </p:animEffect>
                                  </p:childTnLst>
                                </p:cTn>
                              </p:par>
                            </p:childTnLst>
                          </p:cTn>
                        </p:par>
                        <p:par>
                          <p:cTn id="12" fill="hold">
                            <p:stCondLst>
                              <p:cond delay="4000"/>
                            </p:stCondLst>
                            <p:childTnLst>
                              <p:par>
                                <p:cTn id="13" presetClass="entr" nodeType="afterEffect" presetID="9" grpId="3" fill="hold">
                                  <p:stCondLst>
                                    <p:cond delay="0"/>
                                  </p:stCondLst>
                                  <p:iterate type="el" backwards="0">
                                    <p:tmAbs val="0"/>
                                  </p:iterate>
                                  <p:childTnLst>
                                    <p:set>
                                      <p:cBhvr>
                                        <p:cTn id="14" fill="hold"/>
                                        <p:tgtEl>
                                          <p:spTgt spid="287"/>
                                        </p:tgtEl>
                                        <p:attrNameLst>
                                          <p:attrName>style.visibility</p:attrName>
                                        </p:attrNameLst>
                                      </p:cBhvr>
                                      <p:to>
                                        <p:strVal val="visible"/>
                                      </p:to>
                                    </p:set>
                                    <p:animEffect filter="dissolve" transition="in">
                                      <p:cBhvr>
                                        <p:cTn id="15" dur="2000"/>
                                        <p:tgtEl>
                                          <p:spTgt spid="287"/>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9" grpId="4" fill="hold">
                                  <p:stCondLst>
                                    <p:cond delay="0"/>
                                  </p:stCondLst>
                                  <p:iterate type="el" backwards="0">
                                    <p:tmAbs val="0"/>
                                  </p:iterate>
                                  <p:childTnLst>
                                    <p:set>
                                      <p:cBhvr>
                                        <p:cTn id="19" fill="hold"/>
                                        <p:tgtEl>
                                          <p:spTgt spid="286"/>
                                        </p:tgtEl>
                                        <p:attrNameLst>
                                          <p:attrName>style.visibility</p:attrName>
                                        </p:attrNameLst>
                                      </p:cBhvr>
                                      <p:to>
                                        <p:strVal val="visible"/>
                                      </p:to>
                                    </p:set>
                                    <p:animEffect filter="dissolve" transition="in">
                                      <p:cBhvr>
                                        <p:cTn id="20" dur="2000"/>
                                        <p:tgtEl>
                                          <p:spTgt spid="286"/>
                                        </p:tgtEl>
                                      </p:cBhvr>
                                    </p:animEffect>
                                  </p:childTnLst>
                                </p:cTn>
                              </p:par>
                            </p:childTnLst>
                          </p:cTn>
                        </p:par>
                        <p:par>
                          <p:cTn id="21" fill="hold">
                            <p:stCondLst>
                              <p:cond delay="2000"/>
                            </p:stCondLst>
                            <p:childTnLst>
                              <p:par>
                                <p:cTn id="22" presetClass="entr" nodeType="afterEffect" presetID="9" grpId="5" fill="hold">
                                  <p:stCondLst>
                                    <p:cond delay="0"/>
                                  </p:stCondLst>
                                  <p:iterate type="el" backwards="0">
                                    <p:tmAbs val="0"/>
                                  </p:iterate>
                                  <p:childTnLst>
                                    <p:set>
                                      <p:cBhvr>
                                        <p:cTn id="23" fill="hold"/>
                                        <p:tgtEl>
                                          <p:spTgt spid="288"/>
                                        </p:tgtEl>
                                        <p:attrNameLst>
                                          <p:attrName>style.visibility</p:attrName>
                                        </p:attrNameLst>
                                      </p:cBhvr>
                                      <p:to>
                                        <p:strVal val="visible"/>
                                      </p:to>
                                    </p:set>
                                    <p:animEffect filter="dissolve" transition="in">
                                      <p:cBhvr>
                                        <p:cTn id="24" dur="2000"/>
                                        <p:tgtEl>
                                          <p:spTgt spid="288"/>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9" grpId="6" fill="hold">
                                  <p:stCondLst>
                                    <p:cond delay="0"/>
                                  </p:stCondLst>
                                  <p:iterate type="el" backwards="0">
                                    <p:tmAbs val="0"/>
                                  </p:iterate>
                                  <p:childTnLst>
                                    <p:set>
                                      <p:cBhvr>
                                        <p:cTn id="28" fill="hold"/>
                                        <p:tgtEl>
                                          <p:spTgt spid="290"/>
                                        </p:tgtEl>
                                        <p:attrNameLst>
                                          <p:attrName>style.visibility</p:attrName>
                                        </p:attrNameLst>
                                      </p:cBhvr>
                                      <p:to>
                                        <p:strVal val="visible"/>
                                      </p:to>
                                    </p:set>
                                    <p:animEffect filter="dissolve" transition="in">
                                      <p:cBhvr>
                                        <p:cTn id="29" dur="2000"/>
                                        <p:tgtEl>
                                          <p:spTgt spid="290"/>
                                        </p:tgtEl>
                                      </p:cBhvr>
                                    </p:animEffect>
                                  </p:childTnLst>
                                </p:cTn>
                              </p:par>
                            </p:childTnLst>
                          </p:cTn>
                        </p:par>
                        <p:par>
                          <p:cTn id="30" fill="hold">
                            <p:stCondLst>
                              <p:cond delay="2000"/>
                            </p:stCondLst>
                            <p:childTnLst>
                              <p:par>
                                <p:cTn id="31" presetClass="entr" nodeType="afterEffect" presetID="9" grpId="7" fill="hold">
                                  <p:stCondLst>
                                    <p:cond delay="0"/>
                                  </p:stCondLst>
                                  <p:iterate type="el" backwards="0">
                                    <p:tmAbs val="0"/>
                                  </p:iterate>
                                  <p:childTnLst>
                                    <p:set>
                                      <p:cBhvr>
                                        <p:cTn id="32" fill="hold"/>
                                        <p:tgtEl>
                                          <p:spTgt spid="289"/>
                                        </p:tgtEl>
                                        <p:attrNameLst>
                                          <p:attrName>style.visibility</p:attrName>
                                        </p:attrNameLst>
                                      </p:cBhvr>
                                      <p:to>
                                        <p:strVal val="visible"/>
                                      </p:to>
                                    </p:set>
                                    <p:animEffect filter="dissolve" transition="in">
                                      <p:cBhvr>
                                        <p:cTn id="33" dur="2000"/>
                                        <p:tgtEl>
                                          <p:spTgt spid="289"/>
                                        </p:tgtEl>
                                      </p:cBhvr>
                                    </p:animEffect>
                                  </p:childTnLst>
                                </p:cTn>
                              </p:par>
                            </p:childTnLst>
                          </p:cTn>
                        </p:par>
                        <p:par>
                          <p:cTn id="34" fill="hold">
                            <p:stCondLst>
                              <p:cond delay="4000"/>
                            </p:stCondLst>
                            <p:childTnLst>
                              <p:par>
                                <p:cTn id="35" presetClass="entr" nodeType="afterEffect" presetID="9" grpId="8" fill="hold">
                                  <p:stCondLst>
                                    <p:cond delay="0"/>
                                  </p:stCondLst>
                                  <p:iterate type="el" backwards="0">
                                    <p:tmAbs val="0"/>
                                  </p:iterate>
                                  <p:childTnLst>
                                    <p:set>
                                      <p:cBhvr>
                                        <p:cTn id="36" fill="hold"/>
                                        <p:tgtEl>
                                          <p:spTgt spid="292"/>
                                        </p:tgtEl>
                                        <p:attrNameLst>
                                          <p:attrName>style.visibility</p:attrName>
                                        </p:attrNameLst>
                                      </p:cBhvr>
                                      <p:to>
                                        <p:strVal val="visible"/>
                                      </p:to>
                                    </p:set>
                                    <p:animEffect filter="dissolve" transition="in">
                                      <p:cBhvr>
                                        <p:cTn id="37" dur="2000"/>
                                        <p:tgtEl>
                                          <p:spTgt spid="292"/>
                                        </p:tgtEl>
                                      </p:cBhvr>
                                    </p:animEffect>
                                  </p:childTnLst>
                                </p:cTn>
                              </p:par>
                            </p:childTnLst>
                          </p:cTn>
                        </p:par>
                        <p:par>
                          <p:cTn id="38" fill="hold">
                            <p:stCondLst>
                              <p:cond delay="6000"/>
                            </p:stCondLst>
                            <p:childTnLst>
                              <p:par>
                                <p:cTn id="39" presetClass="entr" nodeType="afterEffect" presetID="9" grpId="9" fill="hold">
                                  <p:stCondLst>
                                    <p:cond delay="0"/>
                                  </p:stCondLst>
                                  <p:iterate type="el" backwards="0">
                                    <p:tmAbs val="0"/>
                                  </p:iterate>
                                  <p:childTnLst>
                                    <p:set>
                                      <p:cBhvr>
                                        <p:cTn id="40" fill="hold"/>
                                        <p:tgtEl>
                                          <p:spTgt spid="293"/>
                                        </p:tgtEl>
                                        <p:attrNameLst>
                                          <p:attrName>style.visibility</p:attrName>
                                        </p:attrNameLst>
                                      </p:cBhvr>
                                      <p:to>
                                        <p:strVal val="visible"/>
                                      </p:to>
                                    </p:set>
                                    <p:animEffect filter="dissolve" transition="in">
                                      <p:cBhvr>
                                        <p:cTn id="41" dur="2000"/>
                                        <p:tgtEl>
                                          <p:spTgt spid="293"/>
                                        </p:tgtEl>
                                      </p:cBhvr>
                                    </p:animEffect>
                                  </p:childTnLst>
                                </p:cTn>
                              </p:par>
                            </p:childTnLst>
                          </p:cTn>
                        </p:par>
                      </p:childTnLst>
                    </p:cTn>
                  </p:par>
                  <p:par>
                    <p:cTn id="42" fill="hold">
                      <p:stCondLst>
                        <p:cond delay="indefinite"/>
                      </p:stCondLst>
                      <p:childTnLst>
                        <p:par>
                          <p:cTn id="43" fill="hold">
                            <p:stCondLst>
                              <p:cond delay="0"/>
                            </p:stCondLst>
                            <p:childTnLst>
                              <p:par>
                                <p:cTn id="44" presetClass="entr" nodeType="clickEffect" presetID="9" grpId="10" fill="hold">
                                  <p:stCondLst>
                                    <p:cond delay="0"/>
                                  </p:stCondLst>
                                  <p:iterate type="el" backwards="0">
                                    <p:tmAbs val="0"/>
                                  </p:iterate>
                                  <p:childTnLst>
                                    <p:set>
                                      <p:cBhvr>
                                        <p:cTn id="45" fill="hold"/>
                                        <p:tgtEl>
                                          <p:spTgt spid="295"/>
                                        </p:tgtEl>
                                        <p:attrNameLst>
                                          <p:attrName>style.visibility</p:attrName>
                                        </p:attrNameLst>
                                      </p:cBhvr>
                                      <p:to>
                                        <p:strVal val="visible"/>
                                      </p:to>
                                    </p:set>
                                    <p:animEffect filter="dissolve" transition="in">
                                      <p:cBhvr>
                                        <p:cTn id="46" dur="2000"/>
                                        <p:tgtEl>
                                          <p:spTgt spid="295"/>
                                        </p:tgtEl>
                                      </p:cBhvr>
                                    </p:animEffect>
                                  </p:childTnLst>
                                </p:cTn>
                              </p:par>
                            </p:childTnLst>
                          </p:cTn>
                        </p:par>
                        <p:par>
                          <p:cTn id="47" fill="hold">
                            <p:stCondLst>
                              <p:cond delay="2000"/>
                            </p:stCondLst>
                            <p:childTnLst>
                              <p:par>
                                <p:cTn id="48" presetClass="entr" nodeType="afterEffect" presetID="9" grpId="11" fill="hold">
                                  <p:stCondLst>
                                    <p:cond delay="0"/>
                                  </p:stCondLst>
                                  <p:iterate type="el" backwards="0">
                                    <p:tmAbs val="0"/>
                                  </p:iterate>
                                  <p:childTnLst>
                                    <p:set>
                                      <p:cBhvr>
                                        <p:cTn id="49" fill="hold"/>
                                        <p:tgtEl>
                                          <p:spTgt spid="294"/>
                                        </p:tgtEl>
                                        <p:attrNameLst>
                                          <p:attrName>style.visibility</p:attrName>
                                        </p:attrNameLst>
                                      </p:cBhvr>
                                      <p:to>
                                        <p:strVal val="visible"/>
                                      </p:to>
                                    </p:set>
                                    <p:animEffect filter="dissolve" transition="in">
                                      <p:cBhvr>
                                        <p:cTn id="50" dur="2000"/>
                                        <p:tgtEl>
                                          <p:spTgt spid="294"/>
                                        </p:tgtEl>
                                      </p:cBhvr>
                                    </p:animEffect>
                                  </p:childTnLst>
                                </p:cTn>
                              </p:par>
                            </p:childTnLst>
                          </p:cTn>
                        </p:par>
                        <p:par>
                          <p:cTn id="51" fill="hold">
                            <p:stCondLst>
                              <p:cond delay="4000"/>
                            </p:stCondLst>
                            <p:childTnLst>
                              <p:par>
                                <p:cTn id="52" presetClass="entr" nodeType="afterEffect" presetID="9" grpId="12" fill="hold">
                                  <p:stCondLst>
                                    <p:cond delay="0"/>
                                  </p:stCondLst>
                                  <p:iterate type="el" backwards="0">
                                    <p:tmAbs val="0"/>
                                  </p:iterate>
                                  <p:childTnLst>
                                    <p:set>
                                      <p:cBhvr>
                                        <p:cTn id="53" fill="hold"/>
                                        <p:tgtEl>
                                          <p:spTgt spid="297"/>
                                        </p:tgtEl>
                                        <p:attrNameLst>
                                          <p:attrName>style.visibility</p:attrName>
                                        </p:attrNameLst>
                                      </p:cBhvr>
                                      <p:to>
                                        <p:strVal val="visible"/>
                                      </p:to>
                                    </p:set>
                                    <p:animEffect filter="dissolve" transition="in">
                                      <p:cBhvr>
                                        <p:cTn id="54" dur="2000"/>
                                        <p:tgtEl>
                                          <p:spTgt spid="297"/>
                                        </p:tgtEl>
                                      </p:cBhvr>
                                    </p:animEffect>
                                  </p:childTnLst>
                                </p:cTn>
                              </p:par>
                            </p:childTnLst>
                          </p:cTn>
                        </p:par>
                        <p:par>
                          <p:cTn id="55" fill="hold">
                            <p:stCondLst>
                              <p:cond delay="6000"/>
                            </p:stCondLst>
                            <p:childTnLst>
                              <p:par>
                                <p:cTn id="56" presetClass="entr" nodeType="afterEffect" presetID="9" grpId="13" fill="hold">
                                  <p:stCondLst>
                                    <p:cond delay="0"/>
                                  </p:stCondLst>
                                  <p:iterate type="el" backwards="0">
                                    <p:tmAbs val="0"/>
                                  </p:iterate>
                                  <p:childTnLst>
                                    <p:set>
                                      <p:cBhvr>
                                        <p:cTn id="57" fill="hold"/>
                                        <p:tgtEl>
                                          <p:spTgt spid="298"/>
                                        </p:tgtEl>
                                        <p:attrNameLst>
                                          <p:attrName>style.visibility</p:attrName>
                                        </p:attrNameLst>
                                      </p:cBhvr>
                                      <p:to>
                                        <p:strVal val="visible"/>
                                      </p:to>
                                    </p:set>
                                    <p:animEffect filter="dissolve" transition="in">
                                      <p:cBhvr>
                                        <p:cTn id="58" dur="2000"/>
                                        <p:tgtEl>
                                          <p:spTgt spid="298"/>
                                        </p:tgtEl>
                                      </p:cBhvr>
                                    </p:animEffect>
                                  </p:childTnLst>
                                </p:cTn>
                              </p:par>
                            </p:childTnLst>
                          </p:cTn>
                        </p:par>
                      </p:childTnLst>
                    </p:cTn>
                  </p:par>
                  <p:par>
                    <p:cTn id="59" fill="hold">
                      <p:stCondLst>
                        <p:cond delay="indefinite"/>
                      </p:stCondLst>
                      <p:childTnLst>
                        <p:par>
                          <p:cTn id="60" fill="hold">
                            <p:stCondLst>
                              <p:cond delay="0"/>
                            </p:stCondLst>
                            <p:childTnLst>
                              <p:par>
                                <p:cTn id="61" presetClass="entr" nodeType="clickEffect" presetID="9" grpId="14" fill="hold">
                                  <p:stCondLst>
                                    <p:cond delay="0"/>
                                  </p:stCondLst>
                                  <p:iterate type="el" backwards="0">
                                    <p:tmAbs val="0"/>
                                  </p:iterate>
                                  <p:childTnLst>
                                    <p:set>
                                      <p:cBhvr>
                                        <p:cTn id="62" fill="hold"/>
                                        <p:tgtEl>
                                          <p:spTgt spid="299"/>
                                        </p:tgtEl>
                                        <p:attrNameLst>
                                          <p:attrName>style.visibility</p:attrName>
                                        </p:attrNameLst>
                                      </p:cBhvr>
                                      <p:to>
                                        <p:strVal val="visible"/>
                                      </p:to>
                                    </p:set>
                                    <p:animEffect filter="dissolve" transition="in">
                                      <p:cBhvr>
                                        <p:cTn id="63" dur="2000"/>
                                        <p:tgtEl>
                                          <p:spTgt spid="299"/>
                                        </p:tgtEl>
                                      </p:cBhvr>
                                    </p:animEffect>
                                  </p:childTnLst>
                                </p:cTn>
                              </p:par>
                            </p:childTnLst>
                          </p:cTn>
                        </p:par>
                        <p:par>
                          <p:cTn id="64" fill="hold">
                            <p:stCondLst>
                              <p:cond delay="2000"/>
                            </p:stCondLst>
                            <p:childTnLst>
                              <p:par>
                                <p:cTn id="65" presetClass="entr" nodeType="afterEffect" presetID="9" grpId="15" fill="hold">
                                  <p:stCondLst>
                                    <p:cond delay="0"/>
                                  </p:stCondLst>
                                  <p:iterate type="el" backwards="0">
                                    <p:tmAbs val="0"/>
                                  </p:iterate>
                                  <p:childTnLst>
                                    <p:set>
                                      <p:cBhvr>
                                        <p:cTn id="66" fill="hold"/>
                                        <p:tgtEl>
                                          <p:spTgt spid="296"/>
                                        </p:tgtEl>
                                        <p:attrNameLst>
                                          <p:attrName>style.visibility</p:attrName>
                                        </p:attrNameLst>
                                      </p:cBhvr>
                                      <p:to>
                                        <p:strVal val="visible"/>
                                      </p:to>
                                    </p:set>
                                    <p:animEffect filter="dissolve" transition="in">
                                      <p:cBhvr>
                                        <p:cTn id="67" dur="2000"/>
                                        <p:tgtEl>
                                          <p:spTgt spid="296"/>
                                        </p:tgtEl>
                                      </p:cBhvr>
                                    </p:animEffect>
                                  </p:childTnLst>
                                </p:cTn>
                              </p:par>
                            </p:childTnLst>
                          </p:cTn>
                        </p:par>
                      </p:childTnLst>
                    </p:cTn>
                  </p:par>
                  <p:par>
                    <p:cTn id="68" fill="hold">
                      <p:stCondLst>
                        <p:cond delay="indefinite"/>
                      </p:stCondLst>
                      <p:childTnLst>
                        <p:par>
                          <p:cTn id="69" fill="hold">
                            <p:stCondLst>
                              <p:cond delay="0"/>
                            </p:stCondLst>
                            <p:childTnLst>
                              <p:par>
                                <p:cTn id="70" presetClass="entr" nodeType="clickEffect" presetID="9" grpId="16" fill="hold">
                                  <p:stCondLst>
                                    <p:cond delay="0"/>
                                  </p:stCondLst>
                                  <p:iterate type="el" backwards="0">
                                    <p:tmAbs val="0"/>
                                  </p:iterate>
                                  <p:childTnLst>
                                    <p:set>
                                      <p:cBhvr>
                                        <p:cTn id="71" fill="hold"/>
                                        <p:tgtEl>
                                          <p:spTgt spid="300"/>
                                        </p:tgtEl>
                                        <p:attrNameLst>
                                          <p:attrName>style.visibility</p:attrName>
                                        </p:attrNameLst>
                                      </p:cBhvr>
                                      <p:to>
                                        <p:strVal val="visible"/>
                                      </p:to>
                                    </p:set>
                                    <p:animEffect filter="dissolve" transition="in">
                                      <p:cBhvr>
                                        <p:cTn id="72" dur="2000"/>
                                        <p:tgtEl>
                                          <p:spTgt spid="300"/>
                                        </p:tgtEl>
                                      </p:cBhvr>
                                    </p:animEffect>
                                  </p:childTnLst>
                                </p:cTn>
                              </p:par>
                            </p:childTnLst>
                          </p:cTn>
                        </p:par>
                        <p:par>
                          <p:cTn id="73" fill="hold">
                            <p:stCondLst>
                              <p:cond delay="2000"/>
                            </p:stCondLst>
                            <p:childTnLst>
                              <p:par>
                                <p:cTn id="74" presetClass="entr" nodeType="afterEffect" presetID="9" grpId="17" fill="hold">
                                  <p:stCondLst>
                                    <p:cond delay="0"/>
                                  </p:stCondLst>
                                  <p:iterate type="el" backwards="0">
                                    <p:tmAbs val="0"/>
                                  </p:iterate>
                                  <p:childTnLst>
                                    <p:set>
                                      <p:cBhvr>
                                        <p:cTn id="75" fill="hold"/>
                                        <p:tgtEl>
                                          <p:spTgt spid="301"/>
                                        </p:tgtEl>
                                        <p:attrNameLst>
                                          <p:attrName>style.visibility</p:attrName>
                                        </p:attrNameLst>
                                      </p:cBhvr>
                                      <p:to>
                                        <p:strVal val="visible"/>
                                      </p:to>
                                    </p:set>
                                    <p:animEffect filter="dissolve" transition="in">
                                      <p:cBhvr>
                                        <p:cTn id="76" dur="2000"/>
                                        <p:tgtEl>
                                          <p:spTgt spid="301"/>
                                        </p:tgtEl>
                                      </p:cBhvr>
                                    </p:animEffect>
                                  </p:childTnLst>
                                </p:cTn>
                              </p:par>
                            </p:childTnLst>
                          </p:cTn>
                        </p:par>
                      </p:childTnLst>
                    </p:cTn>
                  </p:par>
                  <p:par>
                    <p:cTn id="77" fill="hold">
                      <p:stCondLst>
                        <p:cond delay="indefinite"/>
                      </p:stCondLst>
                      <p:childTnLst>
                        <p:par>
                          <p:cTn id="78" fill="hold">
                            <p:stCondLst>
                              <p:cond delay="0"/>
                            </p:stCondLst>
                            <p:childTnLst>
                              <p:par>
                                <p:cTn id="79" presetClass="entr" nodeType="clickEffect" presetID="9" grpId="18" fill="hold">
                                  <p:stCondLst>
                                    <p:cond delay="0"/>
                                  </p:stCondLst>
                                  <p:iterate type="el" backwards="0">
                                    <p:tmAbs val="0"/>
                                  </p:iterate>
                                  <p:childTnLst>
                                    <p:set>
                                      <p:cBhvr>
                                        <p:cTn id="80" fill="hold"/>
                                        <p:tgtEl>
                                          <p:spTgt spid="302"/>
                                        </p:tgtEl>
                                        <p:attrNameLst>
                                          <p:attrName>style.visibility</p:attrName>
                                        </p:attrNameLst>
                                      </p:cBhvr>
                                      <p:to>
                                        <p:strVal val="visible"/>
                                      </p:to>
                                    </p:set>
                                    <p:animEffect filter="dissolve" transition="in">
                                      <p:cBhvr>
                                        <p:cTn id="81" dur="2000"/>
                                        <p:tgtEl>
                                          <p:spTgt spid="302"/>
                                        </p:tgtEl>
                                      </p:cBhvr>
                                    </p:animEffect>
                                  </p:childTnLst>
                                </p:cTn>
                              </p:par>
                            </p:childTnLst>
                          </p:cTn>
                        </p:par>
                        <p:par>
                          <p:cTn id="82" fill="hold">
                            <p:stCondLst>
                              <p:cond delay="2000"/>
                            </p:stCondLst>
                            <p:childTnLst>
                              <p:par>
                                <p:cTn id="83" presetClass="entr" nodeType="afterEffect" presetID="9" grpId="19" fill="hold">
                                  <p:stCondLst>
                                    <p:cond delay="0"/>
                                  </p:stCondLst>
                                  <p:iterate type="el" backwards="0">
                                    <p:tmAbs val="0"/>
                                  </p:iterate>
                                  <p:childTnLst>
                                    <p:set>
                                      <p:cBhvr>
                                        <p:cTn id="84" fill="hold"/>
                                        <p:tgtEl>
                                          <p:spTgt spid="303"/>
                                        </p:tgtEl>
                                        <p:attrNameLst>
                                          <p:attrName>style.visibility</p:attrName>
                                        </p:attrNameLst>
                                      </p:cBhvr>
                                      <p:to>
                                        <p:strVal val="visible"/>
                                      </p:to>
                                    </p:set>
                                    <p:animEffect filter="dissolve" transition="in">
                                      <p:cBhvr>
                                        <p:cTn id="85" dur="2000"/>
                                        <p:tgtEl>
                                          <p:spTgt spid="3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88" grpId="5"/>
      <p:bldP build="whole" bldLvl="1" animBg="1" rev="0" advAuto="0" spid="294" grpId="11"/>
      <p:bldP build="whole" bldLvl="1" animBg="1" rev="0" advAuto="0" spid="287" grpId="3"/>
      <p:bldP build="whole" bldLvl="1" animBg="1" rev="0" advAuto="0" spid="298" grpId="13"/>
      <p:bldP build="whole" bldLvl="1" animBg="1" rev="0" advAuto="0" spid="286" grpId="4"/>
      <p:bldP build="whole" bldLvl="1" animBg="1" rev="0" advAuto="0" spid="296" grpId="15"/>
      <p:bldP build="whole" bldLvl="1" animBg="1" rev="0" advAuto="0" spid="300" grpId="16"/>
      <p:bldP build="whole" bldLvl="1" animBg="1" rev="0" advAuto="0" spid="302" grpId="18"/>
      <p:bldP build="whole" bldLvl="1" animBg="1" rev="0" advAuto="0" spid="289" grpId="7"/>
      <p:bldP build="whole" bldLvl="1" animBg="1" rev="0" advAuto="0" spid="291" grpId="2"/>
      <p:bldP build="whole" bldLvl="1" animBg="1" rev="0" advAuto="0" spid="290" grpId="6"/>
      <p:bldP build="whole" bldLvl="1" animBg="1" rev="0" advAuto="0" spid="297" grpId="12"/>
      <p:bldP build="whole" bldLvl="1" animBg="1" rev="0" advAuto="0" spid="295" grpId="10"/>
      <p:bldP build="whole" bldLvl="1" animBg="1" rev="0" advAuto="0" spid="292" grpId="8"/>
      <p:bldP build="whole" bldLvl="1" animBg="1" rev="0" advAuto="0" spid="285" grpId="1"/>
      <p:bldP build="whole" bldLvl="1" animBg="1" rev="0" advAuto="0" spid="299" grpId="14"/>
      <p:bldP build="whole" bldLvl="1" animBg="1" rev="0" advAuto="0" spid="301" grpId="17"/>
      <p:bldP build="whole" bldLvl="1" animBg="1" rev="0" advAuto="0" spid="293" grpId="9"/>
      <p:bldP build="whole" bldLvl="1" animBg="1" rev="0" advAuto="0" spid="303" grpId="19"/>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30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307" name="Captură de ecran din 2024-10-13 la 20.40.55.png" descr="Captură de ecran din 2024-10-13 la 20.40.55.png"/>
          <p:cNvPicPr>
            <a:picLocks noChangeAspect="1"/>
          </p:cNvPicPr>
          <p:nvPr/>
        </p:nvPicPr>
        <p:blipFill>
          <a:blip r:embed="rId2">
            <a:extLst/>
          </a:blip>
          <a:stretch>
            <a:fillRect/>
          </a:stretch>
        </p:blipFill>
        <p:spPr>
          <a:xfrm>
            <a:off x="250791" y="2980072"/>
            <a:ext cx="13684390" cy="10355094"/>
          </a:xfrm>
          <a:prstGeom prst="rect">
            <a:avLst/>
          </a:prstGeom>
          <a:ln w="12700">
            <a:miter lim="400000"/>
          </a:ln>
        </p:spPr>
      </p:pic>
      <p:sp>
        <p:nvSpPr>
          <p:cNvPr id="308"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sp>
        <p:nvSpPr>
          <p:cNvPr id="309" name="Linie"/>
          <p:cNvSpPr/>
          <p:nvPr/>
        </p:nvSpPr>
        <p:spPr>
          <a:xfrm flipV="1">
            <a:off x="9681605" y="3056400"/>
            <a:ext cx="1" cy="9073005"/>
          </a:xfrm>
          <a:prstGeom prst="line">
            <a:avLst/>
          </a:prstGeom>
          <a:ln w="101600">
            <a:solidFill>
              <a:srgbClr val="000000"/>
            </a:solidFill>
            <a:miter lim="400000"/>
          </a:ln>
        </p:spPr>
        <p:txBody>
          <a:bodyPr lIns="45718" tIns="45718" rIns="45718" bIns="45718"/>
          <a:lstStyle/>
          <a:p>
            <a:pPr/>
          </a:p>
        </p:txBody>
      </p:sp>
      <p:sp>
        <p:nvSpPr>
          <p:cNvPr id="310" name="Sepal Length  &gt; 7"/>
          <p:cNvSpPr/>
          <p:nvPr/>
        </p:nvSpPr>
        <p:spPr>
          <a:xfrm>
            <a:off x="16878410" y="2954000"/>
            <a:ext cx="2138721" cy="2076100"/>
          </a:xfrm>
          <a:prstGeom prst="ellipse">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200"/>
            </a:lvl1pPr>
          </a:lstStyle>
          <a:p>
            <a:pPr/>
            <a:r>
              <a:t>Sepal Length  &gt; 7</a:t>
            </a:r>
          </a:p>
        </p:txBody>
      </p:sp>
      <p:sp>
        <p:nvSpPr>
          <p:cNvPr id="311" name="Samples: 12…"/>
          <p:cNvSpPr/>
          <p:nvPr/>
        </p:nvSpPr>
        <p:spPr>
          <a:xfrm>
            <a:off x="14675504" y="5537888"/>
            <a:ext cx="2138721" cy="2076099"/>
          </a:xfrm>
          <a:prstGeom prst="ellipse">
            <a:avLst/>
          </a:prstGeom>
          <a:solidFill>
            <a:schemeClr val="accent1">
              <a:satOff val="-7262"/>
              <a:lumOff val="-10627"/>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2200"/>
            </a:pPr>
            <a:r>
              <a:t>Samples: 12</a:t>
            </a:r>
          </a:p>
          <a:p>
            <a:pPr algn="ctr">
              <a:lnSpc>
                <a:spcPct val="30000"/>
              </a:lnSpc>
              <a:defRPr sz="2200"/>
            </a:pPr>
            <a:r>
              <a:t>Value: [0,0,12]</a:t>
            </a:r>
          </a:p>
        </p:txBody>
      </p:sp>
      <p:sp>
        <p:nvSpPr>
          <p:cNvPr id="312" name="Linie"/>
          <p:cNvSpPr/>
          <p:nvPr/>
        </p:nvSpPr>
        <p:spPr>
          <a:xfrm>
            <a:off x="18940865" y="4752140"/>
            <a:ext cx="700821" cy="700821"/>
          </a:xfrm>
          <a:prstGeom prst="line">
            <a:avLst/>
          </a:prstGeom>
          <a:ln w="25400">
            <a:solidFill>
              <a:schemeClr val="accent1"/>
            </a:solidFill>
            <a:tailEnd type="triangle"/>
          </a:ln>
        </p:spPr>
        <p:txBody>
          <a:bodyPr lIns="45718" tIns="45718" rIns="45718" bIns="45718"/>
          <a:lstStyle/>
          <a:p>
            <a:pPr/>
          </a:p>
        </p:txBody>
      </p:sp>
      <p:sp>
        <p:nvSpPr>
          <p:cNvPr id="313" name="Dreptunghi"/>
          <p:cNvSpPr/>
          <p:nvPr/>
        </p:nvSpPr>
        <p:spPr>
          <a:xfrm>
            <a:off x="9731671" y="3124778"/>
            <a:ext cx="3987378" cy="8936248"/>
          </a:xfrm>
          <a:prstGeom prst="rect">
            <a:avLst/>
          </a:prstGeom>
          <a:solidFill>
            <a:schemeClr val="accent1">
              <a:satOff val="-7262"/>
              <a:lumOff val="-10627"/>
              <a:alpha val="44434"/>
            </a:schemeClr>
          </a:solidFill>
          <a:ln w="25400">
            <a:solidFill>
              <a:schemeClr val="accent1">
                <a:alpha val="44434"/>
              </a:schemeClr>
            </a:solidFill>
          </a:ln>
        </p:spPr>
        <p:txBody>
          <a:bodyPr lIns="50800" tIns="50800" rIns="50800" bIns="50800" anchor="ctr"/>
          <a:lstStyle/>
          <a:p>
            <a:pPr/>
          </a:p>
        </p:txBody>
      </p:sp>
      <p:sp>
        <p:nvSpPr>
          <p:cNvPr id="314" name="Sepal Width &gt; 3"/>
          <p:cNvSpPr/>
          <p:nvPr/>
        </p:nvSpPr>
        <p:spPr>
          <a:xfrm>
            <a:off x="18856323" y="5659502"/>
            <a:ext cx="2138721" cy="2076100"/>
          </a:xfrm>
          <a:prstGeom prst="ellipse">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200"/>
            </a:lvl1pPr>
          </a:lstStyle>
          <a:p>
            <a:pPr/>
            <a:r>
              <a:t>Sepal Width &gt; 3</a:t>
            </a:r>
          </a:p>
        </p:txBody>
      </p:sp>
      <p:sp>
        <p:nvSpPr>
          <p:cNvPr id="315" name="Linie"/>
          <p:cNvSpPr/>
          <p:nvPr/>
        </p:nvSpPr>
        <p:spPr>
          <a:xfrm>
            <a:off x="1668557" y="7979930"/>
            <a:ext cx="7977049" cy="1"/>
          </a:xfrm>
          <a:prstGeom prst="line">
            <a:avLst/>
          </a:prstGeom>
          <a:ln w="114300">
            <a:solidFill>
              <a:srgbClr val="000000"/>
            </a:solidFill>
            <a:miter lim="400000"/>
          </a:ln>
        </p:spPr>
        <p:txBody>
          <a:bodyPr lIns="45718" tIns="45718" rIns="45718" bIns="45718"/>
          <a:lstStyle/>
          <a:p>
            <a:pPr/>
          </a:p>
        </p:txBody>
      </p:sp>
      <p:sp>
        <p:nvSpPr>
          <p:cNvPr id="316" name="Linie"/>
          <p:cNvSpPr/>
          <p:nvPr/>
        </p:nvSpPr>
        <p:spPr>
          <a:xfrm flipH="1">
            <a:off x="16379697" y="4889232"/>
            <a:ext cx="660721" cy="660721"/>
          </a:xfrm>
          <a:prstGeom prst="line">
            <a:avLst/>
          </a:prstGeom>
          <a:ln w="25400">
            <a:solidFill>
              <a:schemeClr val="accent1"/>
            </a:solidFill>
            <a:tailEnd type="triangle"/>
          </a:ln>
        </p:spPr>
        <p:txBody>
          <a:bodyPr lIns="45718" tIns="45718" rIns="45718" bIns="45718"/>
          <a:lstStyle/>
          <a:p>
            <a:pPr/>
          </a:p>
        </p:txBody>
      </p:sp>
      <p:sp>
        <p:nvSpPr>
          <p:cNvPr id="317" name="Linie"/>
          <p:cNvSpPr/>
          <p:nvPr/>
        </p:nvSpPr>
        <p:spPr>
          <a:xfrm>
            <a:off x="20906646" y="7484750"/>
            <a:ext cx="700821" cy="700821"/>
          </a:xfrm>
          <a:prstGeom prst="line">
            <a:avLst/>
          </a:prstGeom>
          <a:ln w="25400">
            <a:solidFill>
              <a:schemeClr val="accent1"/>
            </a:solidFill>
            <a:tailEnd type="triangle"/>
          </a:ln>
        </p:spPr>
        <p:txBody>
          <a:bodyPr lIns="45718" tIns="45718" rIns="45718" bIns="45718"/>
          <a:lstStyle/>
          <a:p>
            <a:pPr/>
          </a:p>
        </p:txBody>
      </p:sp>
      <p:sp>
        <p:nvSpPr>
          <p:cNvPr id="318" name="Linie"/>
          <p:cNvSpPr/>
          <p:nvPr/>
        </p:nvSpPr>
        <p:spPr>
          <a:xfrm flipH="1">
            <a:off x="18537724" y="7654061"/>
            <a:ext cx="660721" cy="660721"/>
          </a:xfrm>
          <a:prstGeom prst="line">
            <a:avLst/>
          </a:prstGeom>
          <a:ln w="25400">
            <a:solidFill>
              <a:schemeClr val="accent1"/>
            </a:solidFill>
            <a:tailEnd type="triangle"/>
          </a:ln>
        </p:spPr>
        <p:txBody>
          <a:bodyPr lIns="45718" tIns="45718" rIns="45718" bIns="45718"/>
          <a:lstStyle/>
          <a:p>
            <a:pPr/>
          </a:p>
        </p:txBody>
      </p:sp>
      <p:sp>
        <p:nvSpPr>
          <p:cNvPr id="319" name="Sepal Length &lt;= 5.8"/>
          <p:cNvSpPr/>
          <p:nvPr/>
        </p:nvSpPr>
        <p:spPr>
          <a:xfrm>
            <a:off x="17247071" y="8365004"/>
            <a:ext cx="2138721" cy="2076099"/>
          </a:xfrm>
          <a:prstGeom prst="ellipse">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200"/>
            </a:lvl1pPr>
          </a:lstStyle>
          <a:p>
            <a:pPr/>
            <a:r>
              <a:t>Sepal Length &lt;= 5.8</a:t>
            </a:r>
          </a:p>
        </p:txBody>
      </p:sp>
      <p:sp>
        <p:nvSpPr>
          <p:cNvPr id="320" name="Linie"/>
          <p:cNvSpPr/>
          <p:nvPr/>
        </p:nvSpPr>
        <p:spPr>
          <a:xfrm flipV="1">
            <a:off x="7092986" y="3105699"/>
            <a:ext cx="1" cy="4871405"/>
          </a:xfrm>
          <a:prstGeom prst="line">
            <a:avLst/>
          </a:prstGeom>
          <a:ln w="101600">
            <a:solidFill>
              <a:srgbClr val="000000"/>
            </a:solidFill>
            <a:miter lim="400000"/>
          </a:ln>
        </p:spPr>
        <p:txBody>
          <a:bodyPr lIns="45718" tIns="45718" rIns="45718" bIns="45718"/>
          <a:lstStyle/>
          <a:p>
            <a:pPr/>
          </a:p>
        </p:txBody>
      </p:sp>
      <p:sp>
        <p:nvSpPr>
          <p:cNvPr id="321" name="Dreptunghi"/>
          <p:cNvSpPr/>
          <p:nvPr/>
        </p:nvSpPr>
        <p:spPr>
          <a:xfrm>
            <a:off x="1608167" y="3095405"/>
            <a:ext cx="5470072" cy="4846005"/>
          </a:xfrm>
          <a:prstGeom prst="rect">
            <a:avLst/>
          </a:prstGeom>
          <a:solidFill>
            <a:schemeClr val="accent4">
              <a:satOff val="-15884"/>
              <a:lumOff val="-10862"/>
              <a:alpha val="42102"/>
            </a:schemeClr>
          </a:solidFill>
          <a:ln w="25400">
            <a:solidFill>
              <a:schemeClr val="accent1">
                <a:alpha val="42102"/>
              </a:schemeClr>
            </a:solidFill>
          </a:ln>
        </p:spPr>
        <p:txBody>
          <a:bodyPr lIns="50800" tIns="50800" rIns="50800" bIns="50800" anchor="ctr"/>
          <a:lstStyle/>
          <a:p>
            <a:pPr/>
          </a:p>
        </p:txBody>
      </p:sp>
      <p:sp>
        <p:nvSpPr>
          <p:cNvPr id="322" name="Linie"/>
          <p:cNvSpPr/>
          <p:nvPr/>
        </p:nvSpPr>
        <p:spPr>
          <a:xfrm flipH="1">
            <a:off x="16829369" y="10402996"/>
            <a:ext cx="660721" cy="660721"/>
          </a:xfrm>
          <a:prstGeom prst="line">
            <a:avLst/>
          </a:prstGeom>
          <a:ln w="25400">
            <a:solidFill>
              <a:schemeClr val="accent1"/>
            </a:solidFill>
            <a:tailEnd type="triangle"/>
          </a:ln>
        </p:spPr>
        <p:txBody>
          <a:bodyPr lIns="45718" tIns="45718" rIns="45718" bIns="45718"/>
          <a:lstStyle/>
          <a:p>
            <a:pPr/>
          </a:p>
        </p:txBody>
      </p:sp>
      <p:sp>
        <p:nvSpPr>
          <p:cNvPr id="323" name="Linie"/>
          <p:cNvSpPr/>
          <p:nvPr/>
        </p:nvSpPr>
        <p:spPr>
          <a:xfrm>
            <a:off x="19217019" y="10214957"/>
            <a:ext cx="700821" cy="700821"/>
          </a:xfrm>
          <a:prstGeom prst="line">
            <a:avLst/>
          </a:prstGeom>
          <a:ln w="25400">
            <a:solidFill>
              <a:schemeClr val="accent1"/>
            </a:solidFill>
            <a:tailEnd type="triangle"/>
          </a:ln>
        </p:spPr>
        <p:txBody>
          <a:bodyPr lIns="45718" tIns="45718" rIns="45718" bIns="45718"/>
          <a:lstStyle/>
          <a:p>
            <a:pPr/>
          </a:p>
        </p:txBody>
      </p:sp>
      <p:sp>
        <p:nvSpPr>
          <p:cNvPr id="324" name="Samples: 31…"/>
          <p:cNvSpPr/>
          <p:nvPr/>
        </p:nvSpPr>
        <p:spPr>
          <a:xfrm>
            <a:off x="14914872" y="10927487"/>
            <a:ext cx="2138721" cy="2076099"/>
          </a:xfrm>
          <a:prstGeom prst="ellipse">
            <a:avLst/>
          </a:prstGeom>
          <a:solidFill>
            <a:schemeClr val="accent4">
              <a:satOff val="-15884"/>
              <a:lumOff val="-10862"/>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2200"/>
            </a:pPr>
            <a:r>
              <a:t>Samples: 31</a:t>
            </a:r>
          </a:p>
          <a:p>
            <a:pPr algn="ctr">
              <a:lnSpc>
                <a:spcPct val="30000"/>
              </a:lnSpc>
              <a:defRPr sz="2200"/>
            </a:pPr>
            <a:r>
              <a:t>Value: [31,0,0]</a:t>
            </a:r>
          </a:p>
        </p:txBody>
      </p:sp>
      <p:sp>
        <p:nvSpPr>
          <p:cNvPr id="325" name="Samples: 14…"/>
          <p:cNvSpPr/>
          <p:nvPr/>
        </p:nvSpPr>
        <p:spPr>
          <a:xfrm>
            <a:off x="19029816" y="10927487"/>
            <a:ext cx="2138721" cy="2076099"/>
          </a:xfrm>
          <a:prstGeom prst="ellipse">
            <a:avLst/>
          </a:prstGeom>
          <a:solidFill>
            <a:schemeClr val="accent1">
              <a:satOff val="-7262"/>
              <a:lumOff val="-10627"/>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2200"/>
            </a:pPr>
            <a:r>
              <a:t>Samples: 14</a:t>
            </a:r>
          </a:p>
          <a:p>
            <a:pPr algn="ctr">
              <a:lnSpc>
                <a:spcPct val="30000"/>
              </a:lnSpc>
              <a:defRPr sz="2200"/>
            </a:pPr>
            <a:r>
              <a:t>Value: [0,3,11]</a:t>
            </a:r>
          </a:p>
        </p:txBody>
      </p:sp>
      <p:sp>
        <p:nvSpPr>
          <p:cNvPr id="326" name="Dreptunghi"/>
          <p:cNvSpPr/>
          <p:nvPr/>
        </p:nvSpPr>
        <p:spPr>
          <a:xfrm>
            <a:off x="7033361" y="3081944"/>
            <a:ext cx="2626984" cy="4872927"/>
          </a:xfrm>
          <a:prstGeom prst="rect">
            <a:avLst/>
          </a:prstGeom>
          <a:solidFill>
            <a:schemeClr val="accent1">
              <a:satOff val="-7262"/>
              <a:lumOff val="-10627"/>
              <a:alpha val="50905"/>
            </a:schemeClr>
          </a:solidFill>
          <a:ln w="25400">
            <a:solidFill>
              <a:schemeClr val="accent1">
                <a:alpha val="50905"/>
              </a:schemeClr>
            </a:solidFill>
          </a:ln>
        </p:spPr>
        <p:txBody>
          <a:bodyPr lIns="50800" tIns="50800" rIns="50800" bIns="50800" anchor="ctr"/>
          <a:lstStyle/>
          <a:p>
            <a:pPr/>
          </a:p>
        </p:txBody>
      </p:sp>
      <p:sp>
        <p:nvSpPr>
          <p:cNvPr id="327" name="Samples: 50…"/>
          <p:cNvSpPr/>
          <p:nvPr/>
        </p:nvSpPr>
        <p:spPr>
          <a:xfrm>
            <a:off x="20823420" y="8293495"/>
            <a:ext cx="2138721" cy="2076099"/>
          </a:xfrm>
          <a:prstGeom prst="ellipse">
            <a:avLst/>
          </a:prstGeom>
          <a:solidFill>
            <a:schemeClr val="accent2">
              <a:satOff val="-3145"/>
              <a:lumOff val="12843"/>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2100"/>
            </a:pPr>
            <a:r>
              <a:t>Samples: 50</a:t>
            </a:r>
          </a:p>
          <a:p>
            <a:pPr algn="ctr">
              <a:lnSpc>
                <a:spcPct val="30000"/>
              </a:lnSpc>
              <a:defRPr sz="2100"/>
            </a:pPr>
            <a:r>
              <a:t>Value: [3,30,17]</a:t>
            </a:r>
          </a:p>
        </p:txBody>
      </p:sp>
      <p:sp>
        <p:nvSpPr>
          <p:cNvPr id="328" name="Dreptunghi"/>
          <p:cNvSpPr/>
          <p:nvPr/>
        </p:nvSpPr>
        <p:spPr>
          <a:xfrm>
            <a:off x="1616899" y="8005547"/>
            <a:ext cx="8080366" cy="4065809"/>
          </a:xfrm>
          <a:prstGeom prst="rect">
            <a:avLst/>
          </a:prstGeom>
          <a:solidFill>
            <a:schemeClr val="accent2">
              <a:satOff val="-3145"/>
              <a:lumOff val="12843"/>
              <a:alpha val="58128"/>
            </a:schemeClr>
          </a:solidFill>
          <a:ln w="25400">
            <a:solidFill>
              <a:schemeClr val="accent1">
                <a:alpha val="58128"/>
              </a:schemeClr>
            </a:solidFill>
          </a:ln>
        </p:spPr>
        <p:txBody>
          <a:bodyPr lIns="50800" tIns="50800" rIns="50800" bIns="50800" anchor="ctr"/>
          <a:lstStyle/>
          <a:p>
            <a:pPr/>
          </a:p>
        </p:txBody>
      </p:sp>
      <p:sp>
        <p:nvSpPr>
          <p:cNvPr id="329" name="Dreptunghi"/>
          <p:cNvSpPr/>
          <p:nvPr/>
        </p:nvSpPr>
        <p:spPr>
          <a:xfrm>
            <a:off x="287584" y="2727968"/>
            <a:ext cx="23672971" cy="10589078"/>
          </a:xfrm>
          <a:prstGeom prst="rect">
            <a:avLst/>
          </a:prstGeom>
          <a:solidFill>
            <a:srgbClr val="FFFFFF">
              <a:alpha val="71555"/>
            </a:srgbClr>
          </a:solidFill>
          <a:ln w="25400">
            <a:solidFill>
              <a:schemeClr val="accent1">
                <a:alpha val="71555"/>
              </a:schemeClr>
            </a:solidFill>
          </a:ln>
        </p:spPr>
        <p:txBody>
          <a:bodyPr lIns="50800" tIns="50800" rIns="50800" bIns="50800" anchor="ctr"/>
          <a:lstStyle/>
          <a:p>
            <a:pPr/>
          </a:p>
        </p:txBody>
      </p:sp>
      <p:sp>
        <p:nvSpPr>
          <p:cNvPr id="330" name="Ne place când regiunile obținute conțin clase cât mai puțin amestecate."/>
          <p:cNvSpPr txBox="1"/>
          <p:nvPr/>
        </p:nvSpPr>
        <p:spPr>
          <a:xfrm>
            <a:off x="1230396" y="4747996"/>
            <a:ext cx="1811742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marL="441157" indent="-441157">
              <a:buSzPct val="100000"/>
              <a:buChar char="-"/>
            </a:lvl1pPr>
          </a:lstStyle>
          <a:p>
            <a:pPr/>
            <a:r>
              <a:t>Ne place când regiunile obținute conțin clase cât mai puțin amestecate.</a:t>
            </a:r>
          </a:p>
        </p:txBody>
      </p:sp>
      <p:sp>
        <p:nvSpPr>
          <p:cNvPr id="331" name="Cum se realizează împărțirea?"/>
          <p:cNvSpPr txBox="1"/>
          <p:nvPr/>
        </p:nvSpPr>
        <p:spPr>
          <a:xfrm>
            <a:off x="7918103" y="3105699"/>
            <a:ext cx="761451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Cum se realizează împărțirea?</a:t>
            </a:r>
          </a:p>
        </p:txBody>
      </p:sp>
      <p:sp>
        <p:nvSpPr>
          <p:cNvPr id="332" name="În exemplul precedent, fix prin condiția „Sepal Length &gt; 7” am obținut o regiune cu doar o singură clasă."/>
          <p:cNvSpPr txBox="1"/>
          <p:nvPr/>
        </p:nvSpPr>
        <p:spPr>
          <a:xfrm>
            <a:off x="1257142" y="5637406"/>
            <a:ext cx="20936436"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În exemplul precedent, fix prin condiția „Sepal Length &gt; 7” am obținut o regiune cu doar o singură clasă.</a:t>
            </a:r>
          </a:p>
        </p:txBody>
      </p:sp>
      <p:sp>
        <p:nvSpPr>
          <p:cNvPr id="333" name="Spunem despre acea regiune că este pură."/>
          <p:cNvSpPr txBox="1"/>
          <p:nvPr/>
        </p:nvSpPr>
        <p:spPr>
          <a:xfrm>
            <a:off x="1257142" y="7251301"/>
            <a:ext cx="20936436" cy="9342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Spunem despre acea regiune că este pură.</a:t>
            </a:r>
          </a:p>
        </p:txBody>
      </p:sp>
      <p:sp>
        <p:nvSpPr>
          <p:cNvPr id="334" name="Un mod de a cuantifica puritatea regiunilor este prin coeficientul Gini."/>
          <p:cNvSpPr txBox="1"/>
          <p:nvPr/>
        </p:nvSpPr>
        <p:spPr>
          <a:xfrm>
            <a:off x="1257142" y="8268908"/>
            <a:ext cx="20936436" cy="9342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Un mod de a cuantifica puritatea regiunilor este prin coeficientul Gini.</a:t>
            </a:r>
          </a:p>
        </p:txBody>
      </p:sp>
      <p:sp>
        <p:nvSpPr>
          <p:cNvPr id="335" name="Coeficientul Gini al unei regiuni pure este mereu 0, iar pentru regiuni cu clase amestecate este &gt; 0."/>
          <p:cNvSpPr txBox="1"/>
          <p:nvPr/>
        </p:nvSpPr>
        <p:spPr>
          <a:xfrm>
            <a:off x="1257142" y="8953993"/>
            <a:ext cx="20936436" cy="1689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Coeficientul Gini al unei regiuni pure este mereu 0, iar pentru regiuni cu clase amestecate este &gt; 0.</a:t>
            </a:r>
          </a:p>
        </p:txBody>
      </p:sp>
      <p:sp>
        <p:nvSpPr>
          <p:cNvPr id="336" name="Scopul algoritmului la fiecare pas de decizie este de a minimiza coeficientul Gini (impuritatea Gini) între regiunile noi rezultate."/>
          <p:cNvSpPr txBox="1"/>
          <p:nvPr/>
        </p:nvSpPr>
        <p:spPr>
          <a:xfrm>
            <a:off x="1257142" y="10620593"/>
            <a:ext cx="20936436" cy="1689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Scopul algoritmului la fiecare pas de decizie este de a minimiza coeficientul Gini (impuritatea Gini) între regiunile noi rezultate.</a:t>
            </a:r>
          </a:p>
        </p:txBody>
      </p:sp>
      <p:pic>
        <p:nvPicPr>
          <p:cNvPr id="337" name="Linie Linie" descr="Linie Linie"/>
          <p:cNvPicPr>
            <a:picLocks noChangeAspect="0"/>
          </p:cNvPicPr>
          <p:nvPr/>
        </p:nvPicPr>
        <p:blipFill>
          <a:blip r:embed="rId3">
            <a:extLst/>
          </a:blip>
          <a:stretch>
            <a:fillRect/>
          </a:stretch>
        </p:blipFill>
        <p:spPr>
          <a:xfrm>
            <a:off x="14403686" y="11441448"/>
            <a:ext cx="3161094" cy="101601"/>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329"/>
                                        </p:tgtEl>
                                        <p:attrNameLst>
                                          <p:attrName>style.visibility</p:attrName>
                                        </p:attrNameLst>
                                      </p:cBhvr>
                                      <p:to>
                                        <p:strVal val="visible"/>
                                      </p:to>
                                    </p:set>
                                    <p:animEffect filter="dissolve" transition="in">
                                      <p:cBhvr>
                                        <p:cTn id="7" dur="2000"/>
                                        <p:tgtEl>
                                          <p:spTgt spid="329"/>
                                        </p:tgtEl>
                                      </p:cBhvr>
                                    </p:animEffect>
                                  </p:childTnLst>
                                </p:cTn>
                              </p:par>
                            </p:childTnLst>
                          </p:cTn>
                        </p:par>
                        <p:par>
                          <p:cTn id="8" fill="hold">
                            <p:stCondLst>
                              <p:cond delay="2000"/>
                            </p:stCondLst>
                            <p:childTnLst>
                              <p:par>
                                <p:cTn id="9" presetClass="entr" nodeType="afterEffect" presetSubtype="8" presetID="2" grpId="2" fill="hold">
                                  <p:stCondLst>
                                    <p:cond delay="0"/>
                                  </p:stCondLst>
                                  <p:iterate type="el" backwards="0">
                                    <p:tmAbs val="0"/>
                                  </p:iterate>
                                  <p:childTnLst>
                                    <p:set>
                                      <p:cBhvr>
                                        <p:cTn id="10" fill="hold"/>
                                        <p:tgtEl>
                                          <p:spTgt spid="331"/>
                                        </p:tgtEl>
                                        <p:attrNameLst>
                                          <p:attrName>style.visibility</p:attrName>
                                        </p:attrNameLst>
                                      </p:cBhvr>
                                      <p:to>
                                        <p:strVal val="visible"/>
                                      </p:to>
                                    </p:set>
                                    <p:anim calcmode="lin" valueType="num">
                                      <p:cBhvr>
                                        <p:cTn id="11" dur="1000" fill="hold"/>
                                        <p:tgtEl>
                                          <p:spTgt spid="331"/>
                                        </p:tgtEl>
                                        <p:attrNameLst>
                                          <p:attrName>ppt_x</p:attrName>
                                        </p:attrNameLst>
                                      </p:cBhvr>
                                      <p:tavLst>
                                        <p:tav tm="0">
                                          <p:val>
                                            <p:strVal val="0-#ppt_w/2"/>
                                          </p:val>
                                        </p:tav>
                                        <p:tav tm="100000">
                                          <p:val>
                                            <p:strVal val="#ppt_x"/>
                                          </p:val>
                                        </p:tav>
                                      </p:tavLst>
                                    </p:anim>
                                    <p:anim calcmode="lin" valueType="num">
                                      <p:cBhvr>
                                        <p:cTn id="12" dur="1000" fill="hold"/>
                                        <p:tgtEl>
                                          <p:spTgt spid="331"/>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330"/>
                                        </p:tgtEl>
                                        <p:attrNameLst>
                                          <p:attrName>style.visibility</p:attrName>
                                        </p:attrNameLst>
                                      </p:cBhvr>
                                      <p:to>
                                        <p:strVal val="visible"/>
                                      </p:to>
                                    </p:set>
                                    <p:anim calcmode="lin" valueType="num">
                                      <p:cBhvr>
                                        <p:cTn id="17" dur="1000" fill="hold"/>
                                        <p:tgtEl>
                                          <p:spTgt spid="330"/>
                                        </p:tgtEl>
                                        <p:attrNameLst>
                                          <p:attrName>ppt_x</p:attrName>
                                        </p:attrNameLst>
                                      </p:cBhvr>
                                      <p:tavLst>
                                        <p:tav tm="0">
                                          <p:val>
                                            <p:strVal val="0-#ppt_w/2"/>
                                          </p:val>
                                        </p:tav>
                                        <p:tav tm="100000">
                                          <p:val>
                                            <p:strVal val="#ppt_x"/>
                                          </p:val>
                                        </p:tav>
                                      </p:tavLst>
                                    </p:anim>
                                    <p:anim calcmode="lin" valueType="num">
                                      <p:cBhvr>
                                        <p:cTn id="18" dur="1000" fill="hold"/>
                                        <p:tgtEl>
                                          <p:spTgt spid="33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 grpId="4" fill="hold">
                                  <p:stCondLst>
                                    <p:cond delay="0"/>
                                  </p:stCondLst>
                                  <p:iterate type="el" backwards="0">
                                    <p:tmAbs val="0"/>
                                  </p:iterate>
                                  <p:childTnLst>
                                    <p:set>
                                      <p:cBhvr>
                                        <p:cTn id="22" fill="hold"/>
                                        <p:tgtEl>
                                          <p:spTgt spid="332"/>
                                        </p:tgtEl>
                                        <p:attrNameLst>
                                          <p:attrName>style.visibility</p:attrName>
                                        </p:attrNameLst>
                                      </p:cBhvr>
                                      <p:to>
                                        <p:strVal val="visible"/>
                                      </p:to>
                                    </p:set>
                                    <p:anim calcmode="lin" valueType="num">
                                      <p:cBhvr>
                                        <p:cTn id="23" dur="1000" fill="hold"/>
                                        <p:tgtEl>
                                          <p:spTgt spid="332"/>
                                        </p:tgtEl>
                                        <p:attrNameLst>
                                          <p:attrName>ppt_x</p:attrName>
                                        </p:attrNameLst>
                                      </p:cBhvr>
                                      <p:tavLst>
                                        <p:tav tm="0">
                                          <p:val>
                                            <p:strVal val="0-#ppt_w/2"/>
                                          </p:val>
                                        </p:tav>
                                        <p:tav tm="100000">
                                          <p:val>
                                            <p:strVal val="#ppt_x"/>
                                          </p:val>
                                        </p:tav>
                                      </p:tavLst>
                                    </p:anim>
                                    <p:anim calcmode="lin" valueType="num">
                                      <p:cBhvr>
                                        <p:cTn id="24" dur="1000" fill="hold"/>
                                        <p:tgtEl>
                                          <p:spTgt spid="332"/>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Class="entr" nodeType="afterEffect" presetSubtype="8" presetID="2" grpId="5" fill="hold">
                                  <p:stCondLst>
                                    <p:cond delay="0"/>
                                  </p:stCondLst>
                                  <p:iterate type="el" backwards="0">
                                    <p:tmAbs val="0"/>
                                  </p:iterate>
                                  <p:childTnLst>
                                    <p:set>
                                      <p:cBhvr>
                                        <p:cTn id="27" fill="hold"/>
                                        <p:tgtEl>
                                          <p:spTgt spid="333"/>
                                        </p:tgtEl>
                                        <p:attrNameLst>
                                          <p:attrName>style.visibility</p:attrName>
                                        </p:attrNameLst>
                                      </p:cBhvr>
                                      <p:to>
                                        <p:strVal val="visible"/>
                                      </p:to>
                                    </p:set>
                                    <p:anim calcmode="lin" valueType="num">
                                      <p:cBhvr>
                                        <p:cTn id="28" dur="1000" fill="hold"/>
                                        <p:tgtEl>
                                          <p:spTgt spid="333"/>
                                        </p:tgtEl>
                                        <p:attrNameLst>
                                          <p:attrName>ppt_x</p:attrName>
                                        </p:attrNameLst>
                                      </p:cBhvr>
                                      <p:tavLst>
                                        <p:tav tm="0">
                                          <p:val>
                                            <p:strVal val="0-#ppt_w/2"/>
                                          </p:val>
                                        </p:tav>
                                        <p:tav tm="100000">
                                          <p:val>
                                            <p:strVal val="#ppt_x"/>
                                          </p:val>
                                        </p:tav>
                                      </p:tavLst>
                                    </p:anim>
                                    <p:anim calcmode="lin" valueType="num">
                                      <p:cBhvr>
                                        <p:cTn id="29" dur="1000" fill="hold"/>
                                        <p:tgtEl>
                                          <p:spTgt spid="333"/>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Class="entr" nodeType="clickEffect" presetSubtype="8" presetID="2" grpId="6" fill="hold">
                                  <p:stCondLst>
                                    <p:cond delay="0"/>
                                  </p:stCondLst>
                                  <p:iterate type="el" backwards="0">
                                    <p:tmAbs val="0"/>
                                  </p:iterate>
                                  <p:childTnLst>
                                    <p:set>
                                      <p:cBhvr>
                                        <p:cTn id="33" fill="hold"/>
                                        <p:tgtEl>
                                          <p:spTgt spid="334"/>
                                        </p:tgtEl>
                                        <p:attrNameLst>
                                          <p:attrName>style.visibility</p:attrName>
                                        </p:attrNameLst>
                                      </p:cBhvr>
                                      <p:to>
                                        <p:strVal val="visible"/>
                                      </p:to>
                                    </p:set>
                                    <p:anim calcmode="lin" valueType="num">
                                      <p:cBhvr>
                                        <p:cTn id="34" dur="1000" fill="hold"/>
                                        <p:tgtEl>
                                          <p:spTgt spid="334"/>
                                        </p:tgtEl>
                                        <p:attrNameLst>
                                          <p:attrName>ppt_x</p:attrName>
                                        </p:attrNameLst>
                                      </p:cBhvr>
                                      <p:tavLst>
                                        <p:tav tm="0">
                                          <p:val>
                                            <p:strVal val="0-#ppt_w/2"/>
                                          </p:val>
                                        </p:tav>
                                        <p:tav tm="100000">
                                          <p:val>
                                            <p:strVal val="#ppt_x"/>
                                          </p:val>
                                        </p:tav>
                                      </p:tavLst>
                                    </p:anim>
                                    <p:anim calcmode="lin" valueType="num">
                                      <p:cBhvr>
                                        <p:cTn id="35" dur="1000" fill="hold"/>
                                        <p:tgtEl>
                                          <p:spTgt spid="334"/>
                                        </p:tgtEl>
                                        <p:attrNameLst>
                                          <p:attrName>ppt_y</p:attrName>
                                        </p:attrNameLst>
                                      </p:cBhvr>
                                      <p:tavLst>
                                        <p:tav tm="0">
                                          <p:val>
                                            <p:strVal val="#ppt_y"/>
                                          </p:val>
                                        </p:tav>
                                        <p:tav tm="100000">
                                          <p:val>
                                            <p:strVal val="#ppt_y"/>
                                          </p:val>
                                        </p:tav>
                                      </p:tavLst>
                                    </p:anim>
                                  </p:childTnLst>
                                </p:cTn>
                              </p:par>
                            </p:childTnLst>
                          </p:cTn>
                        </p:par>
                        <p:par>
                          <p:cTn id="36" fill="hold">
                            <p:stCondLst>
                              <p:cond delay="1000"/>
                            </p:stCondLst>
                            <p:childTnLst>
                              <p:par>
                                <p:cTn id="37" presetClass="entr" nodeType="afterEffect" presetSubtype="8" presetID="2" grpId="7" fill="hold">
                                  <p:stCondLst>
                                    <p:cond delay="0"/>
                                  </p:stCondLst>
                                  <p:iterate type="el" backwards="0">
                                    <p:tmAbs val="0"/>
                                  </p:iterate>
                                  <p:childTnLst>
                                    <p:set>
                                      <p:cBhvr>
                                        <p:cTn id="38" fill="hold"/>
                                        <p:tgtEl>
                                          <p:spTgt spid="335"/>
                                        </p:tgtEl>
                                        <p:attrNameLst>
                                          <p:attrName>style.visibility</p:attrName>
                                        </p:attrNameLst>
                                      </p:cBhvr>
                                      <p:to>
                                        <p:strVal val="visible"/>
                                      </p:to>
                                    </p:set>
                                    <p:anim calcmode="lin" valueType="num">
                                      <p:cBhvr>
                                        <p:cTn id="39" dur="1000" fill="hold"/>
                                        <p:tgtEl>
                                          <p:spTgt spid="335"/>
                                        </p:tgtEl>
                                        <p:attrNameLst>
                                          <p:attrName>ppt_x</p:attrName>
                                        </p:attrNameLst>
                                      </p:cBhvr>
                                      <p:tavLst>
                                        <p:tav tm="0">
                                          <p:val>
                                            <p:strVal val="0-#ppt_w/2"/>
                                          </p:val>
                                        </p:tav>
                                        <p:tav tm="100000">
                                          <p:val>
                                            <p:strVal val="#ppt_x"/>
                                          </p:val>
                                        </p:tav>
                                      </p:tavLst>
                                    </p:anim>
                                    <p:anim calcmode="lin" valueType="num">
                                      <p:cBhvr>
                                        <p:cTn id="40" dur="1000" fill="hold"/>
                                        <p:tgtEl>
                                          <p:spTgt spid="335"/>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Class="entr" nodeType="clickEffect" presetSubtype="8" presetID="2" grpId="8" fill="hold">
                                  <p:stCondLst>
                                    <p:cond delay="0"/>
                                  </p:stCondLst>
                                  <p:iterate type="el" backwards="0">
                                    <p:tmAbs val="0"/>
                                  </p:iterate>
                                  <p:childTnLst>
                                    <p:set>
                                      <p:cBhvr>
                                        <p:cTn id="44" fill="hold"/>
                                        <p:tgtEl>
                                          <p:spTgt spid="336"/>
                                        </p:tgtEl>
                                        <p:attrNameLst>
                                          <p:attrName>style.visibility</p:attrName>
                                        </p:attrNameLst>
                                      </p:cBhvr>
                                      <p:to>
                                        <p:strVal val="visible"/>
                                      </p:to>
                                    </p:set>
                                    <p:anim calcmode="lin" valueType="num">
                                      <p:cBhvr>
                                        <p:cTn id="45" dur="1000" fill="hold"/>
                                        <p:tgtEl>
                                          <p:spTgt spid="336"/>
                                        </p:tgtEl>
                                        <p:attrNameLst>
                                          <p:attrName>ppt_x</p:attrName>
                                        </p:attrNameLst>
                                      </p:cBhvr>
                                      <p:tavLst>
                                        <p:tav tm="0">
                                          <p:val>
                                            <p:strVal val="0-#ppt_w/2"/>
                                          </p:val>
                                        </p:tav>
                                        <p:tav tm="100000">
                                          <p:val>
                                            <p:strVal val="#ppt_x"/>
                                          </p:val>
                                        </p:tav>
                                      </p:tavLst>
                                    </p:anim>
                                    <p:anim calcmode="lin" valueType="num">
                                      <p:cBhvr>
                                        <p:cTn id="46" dur="1000" fill="hold"/>
                                        <p:tgtEl>
                                          <p:spTgt spid="336"/>
                                        </p:tgtEl>
                                        <p:attrNameLst>
                                          <p:attrName>ppt_y</p:attrName>
                                        </p:attrNameLst>
                                      </p:cBhvr>
                                      <p:tavLst>
                                        <p:tav tm="0">
                                          <p:val>
                                            <p:strVal val="#ppt_y"/>
                                          </p:val>
                                        </p:tav>
                                        <p:tav tm="100000">
                                          <p:val>
                                            <p:strVal val="#ppt_y"/>
                                          </p:val>
                                        </p:tav>
                                      </p:tavLst>
                                    </p:anim>
                                  </p:childTnLst>
                                </p:cTn>
                              </p:par>
                            </p:childTnLst>
                          </p:cTn>
                        </p:par>
                        <p:par>
                          <p:cTn id="47" fill="hold">
                            <p:stCondLst>
                              <p:cond delay="1000"/>
                            </p:stCondLst>
                            <p:childTnLst>
                              <p:par>
                                <p:cTn id="48" presetClass="entr" nodeType="afterEffect" presetID="9" grpId="9" fill="hold">
                                  <p:stCondLst>
                                    <p:cond delay="0"/>
                                  </p:stCondLst>
                                  <p:iterate type="el" backwards="0">
                                    <p:tmAbs val="0"/>
                                  </p:iterate>
                                  <p:childTnLst>
                                    <p:set>
                                      <p:cBhvr>
                                        <p:cTn id="49" fill="hold"/>
                                        <p:tgtEl>
                                          <p:spTgt spid="337"/>
                                        </p:tgtEl>
                                        <p:attrNameLst>
                                          <p:attrName>style.visibility</p:attrName>
                                        </p:attrNameLst>
                                      </p:cBhvr>
                                      <p:to>
                                        <p:strVal val="visible"/>
                                      </p:to>
                                    </p:set>
                                    <p:animEffect filter="dissolve" transition="in">
                                      <p:cBhvr>
                                        <p:cTn id="50" dur="2000"/>
                                        <p:tgtEl>
                                          <p:spTgt spid="3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34" grpId="6"/>
      <p:bldP build="whole" bldLvl="1" animBg="1" rev="0" advAuto="0" spid="335" grpId="7"/>
      <p:bldP build="whole" bldLvl="1" animBg="1" rev="0" advAuto="0" spid="329" grpId="1"/>
      <p:bldP build="whole" bldLvl="1" animBg="1" rev="0" advAuto="0" spid="333" grpId="5"/>
      <p:bldP build="whole" bldLvl="1" animBg="1" rev="0" advAuto="0" spid="331" grpId="2"/>
      <p:bldP build="whole" bldLvl="1" animBg="1" rev="0" advAuto="0" spid="330" grpId="3"/>
      <p:bldP build="whole" bldLvl="1" animBg="1" rev="0" advAuto="0" spid="337" grpId="9"/>
      <p:bldP build="whole" bldLvl="1" animBg="1" rev="0" advAuto="0" spid="332" grpId="4"/>
      <p:bldP build="whole" bldLvl="1" animBg="1" rev="0" advAuto="0" spid="336" grpId="8"/>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0"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341"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pic>
        <p:nvPicPr>
          <p:cNvPr id="342" name="Captură de ecran din 2024-10-13 la 20.40.55.png" descr="Captură de ecran din 2024-10-13 la 20.40.55.png"/>
          <p:cNvPicPr>
            <a:picLocks noChangeAspect="1"/>
          </p:cNvPicPr>
          <p:nvPr/>
        </p:nvPicPr>
        <p:blipFill>
          <a:blip r:embed="rId2">
            <a:extLst/>
          </a:blip>
          <a:stretch>
            <a:fillRect/>
          </a:stretch>
        </p:blipFill>
        <p:spPr>
          <a:xfrm>
            <a:off x="250791" y="2980072"/>
            <a:ext cx="13684390" cy="10355094"/>
          </a:xfrm>
          <a:prstGeom prst="rect">
            <a:avLst/>
          </a:prstGeom>
          <a:ln w="12700">
            <a:miter lim="400000"/>
          </a:ln>
        </p:spPr>
      </p:pic>
      <p:sp>
        <p:nvSpPr>
          <p:cNvPr id="343"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sp>
        <p:nvSpPr>
          <p:cNvPr id="344" name="Linie"/>
          <p:cNvSpPr/>
          <p:nvPr/>
        </p:nvSpPr>
        <p:spPr>
          <a:xfrm flipV="1">
            <a:off x="9681605" y="3056400"/>
            <a:ext cx="1" cy="9073005"/>
          </a:xfrm>
          <a:prstGeom prst="line">
            <a:avLst/>
          </a:prstGeom>
          <a:ln w="101600">
            <a:solidFill>
              <a:srgbClr val="000000"/>
            </a:solidFill>
            <a:miter lim="400000"/>
          </a:ln>
        </p:spPr>
        <p:txBody>
          <a:bodyPr lIns="45718" tIns="45718" rIns="45718" bIns="45718"/>
          <a:lstStyle/>
          <a:p>
            <a:pPr/>
          </a:p>
        </p:txBody>
      </p:sp>
      <p:sp>
        <p:nvSpPr>
          <p:cNvPr id="345" name="Sepal Length  &gt; 7"/>
          <p:cNvSpPr/>
          <p:nvPr/>
        </p:nvSpPr>
        <p:spPr>
          <a:xfrm>
            <a:off x="16878410" y="2954000"/>
            <a:ext cx="2138721" cy="2076100"/>
          </a:xfrm>
          <a:prstGeom prst="ellipse">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200"/>
            </a:lvl1pPr>
          </a:lstStyle>
          <a:p>
            <a:pPr/>
            <a:r>
              <a:t>Sepal Length  &gt; 7</a:t>
            </a:r>
          </a:p>
        </p:txBody>
      </p:sp>
      <p:sp>
        <p:nvSpPr>
          <p:cNvPr id="346" name="Samples: 12…"/>
          <p:cNvSpPr/>
          <p:nvPr/>
        </p:nvSpPr>
        <p:spPr>
          <a:xfrm>
            <a:off x="14675504" y="5537888"/>
            <a:ext cx="2138721" cy="2076099"/>
          </a:xfrm>
          <a:prstGeom prst="ellipse">
            <a:avLst/>
          </a:prstGeom>
          <a:solidFill>
            <a:schemeClr val="accent1">
              <a:satOff val="-7262"/>
              <a:lumOff val="-10627"/>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2200"/>
            </a:pPr>
            <a:r>
              <a:t>Samples: 12</a:t>
            </a:r>
          </a:p>
          <a:p>
            <a:pPr algn="ctr">
              <a:lnSpc>
                <a:spcPct val="30000"/>
              </a:lnSpc>
              <a:defRPr sz="2200"/>
            </a:pPr>
            <a:r>
              <a:t>Value: [0,0,12]</a:t>
            </a:r>
          </a:p>
        </p:txBody>
      </p:sp>
      <p:sp>
        <p:nvSpPr>
          <p:cNvPr id="347" name="Linie"/>
          <p:cNvSpPr/>
          <p:nvPr/>
        </p:nvSpPr>
        <p:spPr>
          <a:xfrm>
            <a:off x="18940865" y="4752140"/>
            <a:ext cx="700821" cy="700821"/>
          </a:xfrm>
          <a:prstGeom prst="line">
            <a:avLst/>
          </a:prstGeom>
          <a:ln w="25400">
            <a:solidFill>
              <a:schemeClr val="accent1"/>
            </a:solidFill>
            <a:tailEnd type="triangle"/>
          </a:ln>
        </p:spPr>
        <p:txBody>
          <a:bodyPr lIns="45718" tIns="45718" rIns="45718" bIns="45718"/>
          <a:lstStyle/>
          <a:p>
            <a:pPr/>
          </a:p>
        </p:txBody>
      </p:sp>
      <p:sp>
        <p:nvSpPr>
          <p:cNvPr id="348" name="Dreptunghi"/>
          <p:cNvSpPr/>
          <p:nvPr/>
        </p:nvSpPr>
        <p:spPr>
          <a:xfrm>
            <a:off x="9731671" y="3124778"/>
            <a:ext cx="3987378" cy="8936248"/>
          </a:xfrm>
          <a:prstGeom prst="rect">
            <a:avLst/>
          </a:prstGeom>
          <a:solidFill>
            <a:schemeClr val="accent1">
              <a:satOff val="-7262"/>
              <a:lumOff val="-10627"/>
              <a:alpha val="44434"/>
            </a:schemeClr>
          </a:solidFill>
          <a:ln w="25400">
            <a:solidFill>
              <a:schemeClr val="accent1">
                <a:alpha val="44434"/>
              </a:schemeClr>
            </a:solidFill>
          </a:ln>
        </p:spPr>
        <p:txBody>
          <a:bodyPr lIns="50800" tIns="50800" rIns="50800" bIns="50800" anchor="ctr"/>
          <a:lstStyle/>
          <a:p>
            <a:pPr/>
          </a:p>
        </p:txBody>
      </p:sp>
      <p:sp>
        <p:nvSpPr>
          <p:cNvPr id="349" name="Sepal Width &gt; 3"/>
          <p:cNvSpPr/>
          <p:nvPr/>
        </p:nvSpPr>
        <p:spPr>
          <a:xfrm>
            <a:off x="18856323" y="5659502"/>
            <a:ext cx="2138721" cy="2076100"/>
          </a:xfrm>
          <a:prstGeom prst="ellipse">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200"/>
            </a:lvl1pPr>
          </a:lstStyle>
          <a:p>
            <a:pPr/>
            <a:r>
              <a:t>Sepal Width &gt; 3</a:t>
            </a:r>
          </a:p>
        </p:txBody>
      </p:sp>
      <p:sp>
        <p:nvSpPr>
          <p:cNvPr id="350" name="Linie"/>
          <p:cNvSpPr/>
          <p:nvPr/>
        </p:nvSpPr>
        <p:spPr>
          <a:xfrm>
            <a:off x="1668557" y="7979930"/>
            <a:ext cx="7977049" cy="1"/>
          </a:xfrm>
          <a:prstGeom prst="line">
            <a:avLst/>
          </a:prstGeom>
          <a:ln w="114300">
            <a:solidFill>
              <a:srgbClr val="000000"/>
            </a:solidFill>
            <a:miter lim="400000"/>
          </a:ln>
        </p:spPr>
        <p:txBody>
          <a:bodyPr lIns="45718" tIns="45718" rIns="45718" bIns="45718"/>
          <a:lstStyle/>
          <a:p>
            <a:pPr/>
          </a:p>
        </p:txBody>
      </p:sp>
      <p:sp>
        <p:nvSpPr>
          <p:cNvPr id="351" name="Linie"/>
          <p:cNvSpPr/>
          <p:nvPr/>
        </p:nvSpPr>
        <p:spPr>
          <a:xfrm flipH="1">
            <a:off x="16379697" y="4889232"/>
            <a:ext cx="660721" cy="660721"/>
          </a:xfrm>
          <a:prstGeom prst="line">
            <a:avLst/>
          </a:prstGeom>
          <a:ln w="25400">
            <a:solidFill>
              <a:schemeClr val="accent1"/>
            </a:solidFill>
            <a:tailEnd type="triangle"/>
          </a:ln>
        </p:spPr>
        <p:txBody>
          <a:bodyPr lIns="45718" tIns="45718" rIns="45718" bIns="45718"/>
          <a:lstStyle/>
          <a:p>
            <a:pPr/>
          </a:p>
        </p:txBody>
      </p:sp>
      <p:sp>
        <p:nvSpPr>
          <p:cNvPr id="352" name="Linie"/>
          <p:cNvSpPr/>
          <p:nvPr/>
        </p:nvSpPr>
        <p:spPr>
          <a:xfrm>
            <a:off x="20906646" y="7484750"/>
            <a:ext cx="700821" cy="700821"/>
          </a:xfrm>
          <a:prstGeom prst="line">
            <a:avLst/>
          </a:prstGeom>
          <a:ln w="25400">
            <a:solidFill>
              <a:schemeClr val="accent1"/>
            </a:solidFill>
            <a:tailEnd type="triangle"/>
          </a:ln>
        </p:spPr>
        <p:txBody>
          <a:bodyPr lIns="45718" tIns="45718" rIns="45718" bIns="45718"/>
          <a:lstStyle/>
          <a:p>
            <a:pPr/>
          </a:p>
        </p:txBody>
      </p:sp>
      <p:sp>
        <p:nvSpPr>
          <p:cNvPr id="353" name="Linie"/>
          <p:cNvSpPr/>
          <p:nvPr/>
        </p:nvSpPr>
        <p:spPr>
          <a:xfrm flipH="1">
            <a:off x="18537724" y="7654061"/>
            <a:ext cx="660721" cy="660721"/>
          </a:xfrm>
          <a:prstGeom prst="line">
            <a:avLst/>
          </a:prstGeom>
          <a:ln w="25400">
            <a:solidFill>
              <a:schemeClr val="accent1"/>
            </a:solidFill>
            <a:tailEnd type="triangle"/>
          </a:ln>
        </p:spPr>
        <p:txBody>
          <a:bodyPr lIns="45718" tIns="45718" rIns="45718" bIns="45718"/>
          <a:lstStyle/>
          <a:p>
            <a:pPr/>
          </a:p>
        </p:txBody>
      </p:sp>
      <p:sp>
        <p:nvSpPr>
          <p:cNvPr id="354" name="Sepal Length &lt;= 5.8"/>
          <p:cNvSpPr/>
          <p:nvPr/>
        </p:nvSpPr>
        <p:spPr>
          <a:xfrm>
            <a:off x="17247071" y="8365004"/>
            <a:ext cx="2138721" cy="2076099"/>
          </a:xfrm>
          <a:prstGeom prst="ellipse">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200"/>
            </a:lvl1pPr>
          </a:lstStyle>
          <a:p>
            <a:pPr/>
            <a:r>
              <a:t>Sepal Length &lt;= 5.8</a:t>
            </a:r>
          </a:p>
        </p:txBody>
      </p:sp>
      <p:sp>
        <p:nvSpPr>
          <p:cNvPr id="355" name="Linie"/>
          <p:cNvSpPr/>
          <p:nvPr/>
        </p:nvSpPr>
        <p:spPr>
          <a:xfrm flipV="1">
            <a:off x="7092986" y="3105699"/>
            <a:ext cx="1" cy="4871405"/>
          </a:xfrm>
          <a:prstGeom prst="line">
            <a:avLst/>
          </a:prstGeom>
          <a:ln w="101600">
            <a:solidFill>
              <a:srgbClr val="000000"/>
            </a:solidFill>
            <a:miter lim="400000"/>
          </a:ln>
        </p:spPr>
        <p:txBody>
          <a:bodyPr lIns="45718" tIns="45718" rIns="45718" bIns="45718"/>
          <a:lstStyle/>
          <a:p>
            <a:pPr/>
          </a:p>
        </p:txBody>
      </p:sp>
      <p:sp>
        <p:nvSpPr>
          <p:cNvPr id="356" name="Dreptunghi"/>
          <p:cNvSpPr/>
          <p:nvPr/>
        </p:nvSpPr>
        <p:spPr>
          <a:xfrm>
            <a:off x="1608167" y="3095405"/>
            <a:ext cx="5470072" cy="4846005"/>
          </a:xfrm>
          <a:prstGeom prst="rect">
            <a:avLst/>
          </a:prstGeom>
          <a:solidFill>
            <a:schemeClr val="accent4">
              <a:satOff val="-15884"/>
              <a:lumOff val="-10862"/>
              <a:alpha val="42102"/>
            </a:schemeClr>
          </a:solidFill>
          <a:ln w="25400">
            <a:solidFill>
              <a:schemeClr val="accent1">
                <a:alpha val="42102"/>
              </a:schemeClr>
            </a:solidFill>
          </a:ln>
        </p:spPr>
        <p:txBody>
          <a:bodyPr lIns="50800" tIns="50800" rIns="50800" bIns="50800" anchor="ctr"/>
          <a:lstStyle/>
          <a:p>
            <a:pPr/>
          </a:p>
        </p:txBody>
      </p:sp>
      <p:sp>
        <p:nvSpPr>
          <p:cNvPr id="357" name="Linie"/>
          <p:cNvSpPr/>
          <p:nvPr/>
        </p:nvSpPr>
        <p:spPr>
          <a:xfrm flipH="1">
            <a:off x="16829369" y="10402996"/>
            <a:ext cx="660721" cy="660721"/>
          </a:xfrm>
          <a:prstGeom prst="line">
            <a:avLst/>
          </a:prstGeom>
          <a:ln w="25400">
            <a:solidFill>
              <a:schemeClr val="accent1"/>
            </a:solidFill>
            <a:tailEnd type="triangle"/>
          </a:ln>
        </p:spPr>
        <p:txBody>
          <a:bodyPr lIns="45718" tIns="45718" rIns="45718" bIns="45718"/>
          <a:lstStyle/>
          <a:p>
            <a:pPr/>
          </a:p>
        </p:txBody>
      </p:sp>
      <p:sp>
        <p:nvSpPr>
          <p:cNvPr id="358" name="Linie"/>
          <p:cNvSpPr/>
          <p:nvPr/>
        </p:nvSpPr>
        <p:spPr>
          <a:xfrm>
            <a:off x="19217019" y="10214957"/>
            <a:ext cx="700821" cy="700821"/>
          </a:xfrm>
          <a:prstGeom prst="line">
            <a:avLst/>
          </a:prstGeom>
          <a:ln w="25400">
            <a:solidFill>
              <a:schemeClr val="accent1"/>
            </a:solidFill>
            <a:tailEnd type="triangle"/>
          </a:ln>
        </p:spPr>
        <p:txBody>
          <a:bodyPr lIns="45718" tIns="45718" rIns="45718" bIns="45718"/>
          <a:lstStyle/>
          <a:p>
            <a:pPr/>
          </a:p>
        </p:txBody>
      </p:sp>
      <p:sp>
        <p:nvSpPr>
          <p:cNvPr id="359" name="Samples: 31…"/>
          <p:cNvSpPr/>
          <p:nvPr/>
        </p:nvSpPr>
        <p:spPr>
          <a:xfrm>
            <a:off x="14914872" y="10927487"/>
            <a:ext cx="2138721" cy="2076099"/>
          </a:xfrm>
          <a:prstGeom prst="ellipse">
            <a:avLst/>
          </a:prstGeom>
          <a:solidFill>
            <a:schemeClr val="accent4">
              <a:satOff val="-15884"/>
              <a:lumOff val="-10862"/>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2200"/>
            </a:pPr>
            <a:r>
              <a:t>Samples: 31</a:t>
            </a:r>
          </a:p>
          <a:p>
            <a:pPr algn="ctr">
              <a:lnSpc>
                <a:spcPct val="30000"/>
              </a:lnSpc>
              <a:defRPr sz="2200"/>
            </a:pPr>
            <a:r>
              <a:t>Value: [31,0,0]</a:t>
            </a:r>
          </a:p>
        </p:txBody>
      </p:sp>
      <p:sp>
        <p:nvSpPr>
          <p:cNvPr id="360" name="Samples: 14…"/>
          <p:cNvSpPr/>
          <p:nvPr/>
        </p:nvSpPr>
        <p:spPr>
          <a:xfrm>
            <a:off x="19029816" y="10927487"/>
            <a:ext cx="2138721" cy="2076099"/>
          </a:xfrm>
          <a:prstGeom prst="ellipse">
            <a:avLst/>
          </a:prstGeom>
          <a:solidFill>
            <a:schemeClr val="accent1">
              <a:satOff val="-7262"/>
              <a:lumOff val="-10627"/>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2200"/>
            </a:pPr>
            <a:r>
              <a:t>Samples: 14</a:t>
            </a:r>
          </a:p>
          <a:p>
            <a:pPr algn="ctr">
              <a:lnSpc>
                <a:spcPct val="30000"/>
              </a:lnSpc>
              <a:defRPr sz="2200"/>
            </a:pPr>
            <a:r>
              <a:t>Value: [0,3,11]</a:t>
            </a:r>
          </a:p>
        </p:txBody>
      </p:sp>
      <p:sp>
        <p:nvSpPr>
          <p:cNvPr id="361" name="Dreptunghi"/>
          <p:cNvSpPr/>
          <p:nvPr/>
        </p:nvSpPr>
        <p:spPr>
          <a:xfrm>
            <a:off x="7033361" y="3081944"/>
            <a:ext cx="2626984" cy="4872927"/>
          </a:xfrm>
          <a:prstGeom prst="rect">
            <a:avLst/>
          </a:prstGeom>
          <a:solidFill>
            <a:schemeClr val="accent1">
              <a:satOff val="-7262"/>
              <a:lumOff val="-10627"/>
              <a:alpha val="50905"/>
            </a:schemeClr>
          </a:solidFill>
          <a:ln w="25400">
            <a:solidFill>
              <a:schemeClr val="accent1">
                <a:alpha val="50905"/>
              </a:schemeClr>
            </a:solidFill>
          </a:ln>
        </p:spPr>
        <p:txBody>
          <a:bodyPr lIns="50800" tIns="50800" rIns="50800" bIns="50800" anchor="ctr"/>
          <a:lstStyle/>
          <a:p>
            <a:pPr/>
          </a:p>
        </p:txBody>
      </p:sp>
      <p:sp>
        <p:nvSpPr>
          <p:cNvPr id="362" name="Samples: 50…"/>
          <p:cNvSpPr/>
          <p:nvPr/>
        </p:nvSpPr>
        <p:spPr>
          <a:xfrm>
            <a:off x="20823420" y="8293495"/>
            <a:ext cx="2138721" cy="2076099"/>
          </a:xfrm>
          <a:prstGeom prst="ellipse">
            <a:avLst/>
          </a:prstGeom>
          <a:solidFill>
            <a:schemeClr val="accent2">
              <a:satOff val="-3145"/>
              <a:lumOff val="12843"/>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2100"/>
            </a:pPr>
            <a:r>
              <a:t>Samples: 50</a:t>
            </a:r>
          </a:p>
          <a:p>
            <a:pPr algn="ctr">
              <a:lnSpc>
                <a:spcPct val="30000"/>
              </a:lnSpc>
              <a:defRPr sz="2100"/>
            </a:pPr>
            <a:r>
              <a:t>Value: [3,30,17]</a:t>
            </a:r>
          </a:p>
        </p:txBody>
      </p:sp>
      <p:sp>
        <p:nvSpPr>
          <p:cNvPr id="363" name="Dreptunghi"/>
          <p:cNvSpPr/>
          <p:nvPr/>
        </p:nvSpPr>
        <p:spPr>
          <a:xfrm>
            <a:off x="1616899" y="8005547"/>
            <a:ext cx="8080366" cy="4065809"/>
          </a:xfrm>
          <a:prstGeom prst="rect">
            <a:avLst/>
          </a:prstGeom>
          <a:solidFill>
            <a:schemeClr val="accent2">
              <a:satOff val="-3145"/>
              <a:lumOff val="12843"/>
              <a:alpha val="58128"/>
            </a:schemeClr>
          </a:solidFill>
          <a:ln w="25400">
            <a:solidFill>
              <a:schemeClr val="accent1">
                <a:alpha val="58128"/>
              </a:schemeClr>
            </a:solidFill>
          </a:ln>
        </p:spPr>
        <p:txBody>
          <a:bodyPr lIns="50800" tIns="50800" rIns="50800" bIns="50800" anchor="ctr"/>
          <a:lstStyle/>
          <a:p>
            <a:pPr/>
          </a:p>
        </p:txBody>
      </p:sp>
      <p:sp>
        <p:nvSpPr>
          <p:cNvPr id="364" name="Dreptunghi"/>
          <p:cNvSpPr/>
          <p:nvPr/>
        </p:nvSpPr>
        <p:spPr>
          <a:xfrm>
            <a:off x="287584" y="2727968"/>
            <a:ext cx="23672971" cy="10589078"/>
          </a:xfrm>
          <a:prstGeom prst="rect">
            <a:avLst/>
          </a:prstGeom>
          <a:solidFill>
            <a:srgbClr val="FFFFFF">
              <a:alpha val="71555"/>
            </a:srgbClr>
          </a:solidFill>
          <a:ln w="25400">
            <a:solidFill>
              <a:schemeClr val="accent1">
                <a:alpha val="71555"/>
              </a:schemeClr>
            </a:solidFill>
          </a:ln>
        </p:spPr>
        <p:txBody>
          <a:bodyPr lIns="50800" tIns="50800" rIns="50800" bIns="50800" anchor="ctr"/>
          <a:lstStyle/>
          <a:p>
            <a:pPr/>
          </a:p>
        </p:txBody>
      </p:sp>
      <p:sp>
        <p:nvSpPr>
          <p:cNvPr id="365" name="Algoritmul începe prin a verifica fiecare caracteristică în parte cu diverse praguri."/>
          <p:cNvSpPr txBox="1"/>
          <p:nvPr/>
        </p:nvSpPr>
        <p:spPr>
          <a:xfrm>
            <a:off x="1230396" y="4747996"/>
            <a:ext cx="2061861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marL="441157" indent="-441157">
              <a:buSzPct val="100000"/>
              <a:buChar char="-"/>
            </a:lvl1pPr>
          </a:lstStyle>
          <a:p>
            <a:pPr/>
            <a:r>
              <a:t>Algoritmul începe prin a verifica fiecare caracteristică în parte cu diverse praguri.</a:t>
            </a:r>
          </a:p>
        </p:txBody>
      </p:sp>
      <p:sp>
        <p:nvSpPr>
          <p:cNvPr id="366" name="Cum se realizează împărțirea?"/>
          <p:cNvSpPr txBox="1"/>
          <p:nvPr/>
        </p:nvSpPr>
        <p:spPr>
          <a:xfrm>
            <a:off x="7918103" y="3105699"/>
            <a:ext cx="761451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Cum se realizează împărțirea?</a:t>
            </a:r>
          </a:p>
        </p:txBody>
      </p:sp>
      <p:sp>
        <p:nvSpPr>
          <p:cNvPr id="367" name="La final, se alege acea combinație caracteristică - prag care a dus la o împărțire optimă a regiunilor din punctul de vedere al impurității Gini."/>
          <p:cNvSpPr txBox="1"/>
          <p:nvPr/>
        </p:nvSpPr>
        <p:spPr>
          <a:xfrm>
            <a:off x="1220399" y="7414011"/>
            <a:ext cx="22456342"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La final, se alege acea combinație caracteristică - prag care a dus la o împărțire optimă a regiunilor din punctul de vedere al impurității Gini.</a:t>
            </a:r>
          </a:p>
        </p:txBody>
      </p:sp>
      <p:sp>
        <p:nvSpPr>
          <p:cNvPr id="368" name="De exemplu, va lua „Sepal Length” și va testa diverse condiții cum ar fi „Sepal Length &gt; 3, Sepal Length &gt; 5, Sepal Length &gt; 7, etc. Mai apoi, va încerca asemănptor cu „Sepal Width”"/>
          <p:cNvSpPr txBox="1"/>
          <p:nvPr/>
        </p:nvSpPr>
        <p:spPr>
          <a:xfrm>
            <a:off x="1190186" y="5704445"/>
            <a:ext cx="23133763" cy="1689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De exemplu, va lua „Sepal Length” și va testa diverse condiții cum ar fi „Sepal Length &gt; 3, Sepal Length &gt; 5, Sepal Length &gt; 7, etc. Mai apoi, va încerca asemănptor cu „Sepal Width”</a:t>
            </a:r>
          </a:p>
        </p:txBody>
      </p:sp>
      <p:pic>
        <p:nvPicPr>
          <p:cNvPr id="369" name="Linie Linie" descr="Linie Linie"/>
          <p:cNvPicPr>
            <a:picLocks noChangeAspect="0"/>
          </p:cNvPicPr>
          <p:nvPr/>
        </p:nvPicPr>
        <p:blipFill>
          <a:blip r:embed="rId3">
            <a:extLst/>
          </a:blip>
          <a:stretch>
            <a:fillRect/>
          </a:stretch>
        </p:blipFill>
        <p:spPr>
          <a:xfrm>
            <a:off x="9744011" y="5563699"/>
            <a:ext cx="2265721" cy="101601"/>
          </a:xfrm>
          <a:prstGeom prst="rect">
            <a:avLst/>
          </a:prstGeom>
        </p:spPr>
      </p:pic>
      <p:sp>
        <p:nvSpPr>
          <p:cNvPr id="371" name="Adică se obțin două regiuni care au impuritatea Gini cât mai mică raportat la celelalte încercări."/>
          <p:cNvSpPr txBox="1"/>
          <p:nvPr/>
        </p:nvSpPr>
        <p:spPr>
          <a:xfrm>
            <a:off x="1220399" y="9193875"/>
            <a:ext cx="22456342"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Adică se obțin două regiuni care au impuritatea Gini cât mai mică raportat la celelalte încercări.</a:t>
            </a:r>
          </a:p>
        </p:txBody>
      </p:sp>
      <p:pic>
        <p:nvPicPr>
          <p:cNvPr id="372" name="Linie Linie" descr="Linie Linie"/>
          <p:cNvPicPr>
            <a:picLocks noChangeAspect="0"/>
          </p:cNvPicPr>
          <p:nvPr/>
        </p:nvPicPr>
        <p:blipFill>
          <a:blip r:embed="rId4">
            <a:extLst/>
          </a:blip>
          <a:stretch>
            <a:fillRect/>
          </a:stretch>
        </p:blipFill>
        <p:spPr>
          <a:xfrm>
            <a:off x="18430079" y="8276283"/>
            <a:ext cx="4416988" cy="101601"/>
          </a:xfrm>
          <a:prstGeom prst="rect">
            <a:avLst/>
          </a:prstGeom>
        </p:spPr>
      </p:pic>
      <p:pic>
        <p:nvPicPr>
          <p:cNvPr id="374" name="Linie Linie" descr="Linie Linie"/>
          <p:cNvPicPr>
            <a:picLocks noChangeAspect="0"/>
          </p:cNvPicPr>
          <p:nvPr/>
        </p:nvPicPr>
        <p:blipFill>
          <a:blip r:embed="rId5">
            <a:extLst/>
          </a:blip>
          <a:stretch>
            <a:fillRect/>
          </a:stretch>
        </p:blipFill>
        <p:spPr>
          <a:xfrm>
            <a:off x="14612004" y="9987650"/>
            <a:ext cx="3495230" cy="101601"/>
          </a:xfrm>
          <a:prstGeom prst="rect">
            <a:avLst/>
          </a:prstGeom>
        </p:spPr>
      </p:pic>
      <p:sp>
        <p:nvSpPr>
          <p:cNvPr id="376" name="Se repetă ideea pe regiunile obținute până la o condiție de stop (de exemplu, adâncimea maximă a arborelui)."/>
          <p:cNvSpPr txBox="1"/>
          <p:nvPr/>
        </p:nvSpPr>
        <p:spPr>
          <a:xfrm>
            <a:off x="1220399" y="10825155"/>
            <a:ext cx="22456342"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Se repetă ideea pe regiunile obținute până la o condiție de stop (de exemplu, adâncimea maximă a arborelui).</a:t>
            </a:r>
          </a:p>
        </p:txBody>
      </p:sp>
      <p:pic>
        <p:nvPicPr>
          <p:cNvPr id="377" name="Linie Linie" descr="Linie Linie"/>
          <p:cNvPicPr>
            <a:picLocks noChangeAspect="0"/>
          </p:cNvPicPr>
          <p:nvPr/>
        </p:nvPicPr>
        <p:blipFill>
          <a:blip r:embed="rId6">
            <a:extLst/>
          </a:blip>
          <a:stretch>
            <a:fillRect/>
          </a:stretch>
        </p:blipFill>
        <p:spPr>
          <a:xfrm>
            <a:off x="12863571" y="11762120"/>
            <a:ext cx="4757888"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365"/>
                                        </p:tgtEl>
                                        <p:attrNameLst>
                                          <p:attrName>style.visibility</p:attrName>
                                        </p:attrNameLst>
                                      </p:cBhvr>
                                      <p:to>
                                        <p:strVal val="visible"/>
                                      </p:to>
                                    </p:set>
                                    <p:anim calcmode="lin" valueType="num">
                                      <p:cBhvr>
                                        <p:cTn id="7" dur="1000" fill="hold"/>
                                        <p:tgtEl>
                                          <p:spTgt spid="365"/>
                                        </p:tgtEl>
                                        <p:attrNameLst>
                                          <p:attrName>ppt_x</p:attrName>
                                        </p:attrNameLst>
                                      </p:cBhvr>
                                      <p:tavLst>
                                        <p:tav tm="0">
                                          <p:val>
                                            <p:strVal val="0-#ppt_w/2"/>
                                          </p:val>
                                        </p:tav>
                                        <p:tav tm="100000">
                                          <p:val>
                                            <p:strVal val="#ppt_x"/>
                                          </p:val>
                                        </p:tav>
                                      </p:tavLst>
                                    </p:anim>
                                    <p:anim calcmode="lin" valueType="num">
                                      <p:cBhvr>
                                        <p:cTn id="8" dur="1000" fill="hold"/>
                                        <p:tgtEl>
                                          <p:spTgt spid="36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369"/>
                                        </p:tgtEl>
                                        <p:attrNameLst>
                                          <p:attrName>style.visibility</p:attrName>
                                        </p:attrNameLst>
                                      </p:cBhvr>
                                      <p:to>
                                        <p:strVal val="visible"/>
                                      </p:to>
                                    </p:set>
                                    <p:animEffect filter="dissolve" transition="in">
                                      <p:cBhvr>
                                        <p:cTn id="12" dur="2000"/>
                                        <p:tgtEl>
                                          <p:spTgt spid="369"/>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368"/>
                                        </p:tgtEl>
                                        <p:attrNameLst>
                                          <p:attrName>style.visibility</p:attrName>
                                        </p:attrNameLst>
                                      </p:cBhvr>
                                      <p:to>
                                        <p:strVal val="visible"/>
                                      </p:to>
                                    </p:set>
                                    <p:anim calcmode="lin" valueType="num">
                                      <p:cBhvr>
                                        <p:cTn id="17" dur="1000" fill="hold"/>
                                        <p:tgtEl>
                                          <p:spTgt spid="368"/>
                                        </p:tgtEl>
                                        <p:attrNameLst>
                                          <p:attrName>ppt_x</p:attrName>
                                        </p:attrNameLst>
                                      </p:cBhvr>
                                      <p:tavLst>
                                        <p:tav tm="0">
                                          <p:val>
                                            <p:strVal val="0-#ppt_w/2"/>
                                          </p:val>
                                        </p:tav>
                                        <p:tav tm="100000">
                                          <p:val>
                                            <p:strVal val="#ppt_x"/>
                                          </p:val>
                                        </p:tav>
                                      </p:tavLst>
                                    </p:anim>
                                    <p:anim calcmode="lin" valueType="num">
                                      <p:cBhvr>
                                        <p:cTn id="18" dur="1000" fill="hold"/>
                                        <p:tgtEl>
                                          <p:spTgt spid="36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 grpId="4" fill="hold">
                                  <p:stCondLst>
                                    <p:cond delay="0"/>
                                  </p:stCondLst>
                                  <p:iterate type="el" backwards="0">
                                    <p:tmAbs val="0"/>
                                  </p:iterate>
                                  <p:childTnLst>
                                    <p:set>
                                      <p:cBhvr>
                                        <p:cTn id="22" fill="hold"/>
                                        <p:tgtEl>
                                          <p:spTgt spid="367"/>
                                        </p:tgtEl>
                                        <p:attrNameLst>
                                          <p:attrName>style.visibility</p:attrName>
                                        </p:attrNameLst>
                                      </p:cBhvr>
                                      <p:to>
                                        <p:strVal val="visible"/>
                                      </p:to>
                                    </p:set>
                                    <p:anim calcmode="lin" valueType="num">
                                      <p:cBhvr>
                                        <p:cTn id="23" dur="1000" fill="hold"/>
                                        <p:tgtEl>
                                          <p:spTgt spid="367"/>
                                        </p:tgtEl>
                                        <p:attrNameLst>
                                          <p:attrName>ppt_x</p:attrName>
                                        </p:attrNameLst>
                                      </p:cBhvr>
                                      <p:tavLst>
                                        <p:tav tm="0">
                                          <p:val>
                                            <p:strVal val="0-#ppt_w/2"/>
                                          </p:val>
                                        </p:tav>
                                        <p:tav tm="100000">
                                          <p:val>
                                            <p:strVal val="#ppt_x"/>
                                          </p:val>
                                        </p:tav>
                                      </p:tavLst>
                                    </p:anim>
                                    <p:anim calcmode="lin" valueType="num">
                                      <p:cBhvr>
                                        <p:cTn id="24" dur="1000" fill="hold"/>
                                        <p:tgtEl>
                                          <p:spTgt spid="367"/>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Class="entr" nodeType="afterEffect" presetID="9" grpId="5" fill="hold">
                                  <p:stCondLst>
                                    <p:cond delay="0"/>
                                  </p:stCondLst>
                                  <p:iterate type="el" backwards="0">
                                    <p:tmAbs val="0"/>
                                  </p:iterate>
                                  <p:childTnLst>
                                    <p:set>
                                      <p:cBhvr>
                                        <p:cTn id="27" fill="hold"/>
                                        <p:tgtEl>
                                          <p:spTgt spid="372"/>
                                        </p:tgtEl>
                                        <p:attrNameLst>
                                          <p:attrName>style.visibility</p:attrName>
                                        </p:attrNameLst>
                                      </p:cBhvr>
                                      <p:to>
                                        <p:strVal val="visible"/>
                                      </p:to>
                                    </p:set>
                                    <p:animEffect filter="dissolve" transition="in">
                                      <p:cBhvr>
                                        <p:cTn id="28" dur="2000"/>
                                        <p:tgtEl>
                                          <p:spTgt spid="372"/>
                                        </p:tgtEl>
                                      </p:cBhvr>
                                    </p:animEffect>
                                  </p:childTnLst>
                                </p:cTn>
                              </p:par>
                            </p:childTnLst>
                          </p:cTn>
                        </p:par>
                        <p:par>
                          <p:cTn id="29" fill="hold">
                            <p:stCondLst>
                              <p:cond delay="3000"/>
                            </p:stCondLst>
                            <p:childTnLst>
                              <p:par>
                                <p:cTn id="30" presetClass="entr" nodeType="afterEffect" presetSubtype="8" presetID="2" grpId="6" fill="hold">
                                  <p:stCondLst>
                                    <p:cond delay="0"/>
                                  </p:stCondLst>
                                  <p:iterate type="el" backwards="0">
                                    <p:tmAbs val="0"/>
                                  </p:iterate>
                                  <p:childTnLst>
                                    <p:set>
                                      <p:cBhvr>
                                        <p:cTn id="31" fill="hold"/>
                                        <p:tgtEl>
                                          <p:spTgt spid="371"/>
                                        </p:tgtEl>
                                        <p:attrNameLst>
                                          <p:attrName>style.visibility</p:attrName>
                                        </p:attrNameLst>
                                      </p:cBhvr>
                                      <p:to>
                                        <p:strVal val="visible"/>
                                      </p:to>
                                    </p:set>
                                    <p:anim calcmode="lin" valueType="num">
                                      <p:cBhvr>
                                        <p:cTn id="32" dur="1000" fill="hold"/>
                                        <p:tgtEl>
                                          <p:spTgt spid="371"/>
                                        </p:tgtEl>
                                        <p:attrNameLst>
                                          <p:attrName>ppt_x</p:attrName>
                                        </p:attrNameLst>
                                      </p:cBhvr>
                                      <p:tavLst>
                                        <p:tav tm="0">
                                          <p:val>
                                            <p:strVal val="0-#ppt_w/2"/>
                                          </p:val>
                                        </p:tav>
                                        <p:tav tm="100000">
                                          <p:val>
                                            <p:strVal val="#ppt_x"/>
                                          </p:val>
                                        </p:tav>
                                      </p:tavLst>
                                    </p:anim>
                                    <p:anim calcmode="lin" valueType="num">
                                      <p:cBhvr>
                                        <p:cTn id="33" dur="1000" fill="hold"/>
                                        <p:tgtEl>
                                          <p:spTgt spid="371"/>
                                        </p:tgtEl>
                                        <p:attrNameLst>
                                          <p:attrName>ppt_y</p:attrName>
                                        </p:attrNameLst>
                                      </p:cBhvr>
                                      <p:tavLst>
                                        <p:tav tm="0">
                                          <p:val>
                                            <p:strVal val="#ppt_y"/>
                                          </p:val>
                                        </p:tav>
                                        <p:tav tm="100000">
                                          <p:val>
                                            <p:strVal val="#ppt_y"/>
                                          </p:val>
                                        </p:tav>
                                      </p:tavLst>
                                    </p:anim>
                                  </p:childTnLst>
                                </p:cTn>
                              </p:par>
                            </p:childTnLst>
                          </p:cTn>
                        </p:par>
                        <p:par>
                          <p:cTn id="34" fill="hold">
                            <p:stCondLst>
                              <p:cond delay="4000"/>
                            </p:stCondLst>
                            <p:childTnLst>
                              <p:par>
                                <p:cTn id="35" presetClass="entr" nodeType="afterEffect" presetID="9" grpId="7" fill="hold">
                                  <p:stCondLst>
                                    <p:cond delay="0"/>
                                  </p:stCondLst>
                                  <p:iterate type="el" backwards="0">
                                    <p:tmAbs val="0"/>
                                  </p:iterate>
                                  <p:childTnLst>
                                    <p:set>
                                      <p:cBhvr>
                                        <p:cTn id="36" fill="hold"/>
                                        <p:tgtEl>
                                          <p:spTgt spid="374"/>
                                        </p:tgtEl>
                                        <p:attrNameLst>
                                          <p:attrName>style.visibility</p:attrName>
                                        </p:attrNameLst>
                                      </p:cBhvr>
                                      <p:to>
                                        <p:strVal val="visible"/>
                                      </p:to>
                                    </p:set>
                                    <p:animEffect filter="dissolve" transition="in">
                                      <p:cBhvr>
                                        <p:cTn id="37" dur="2000"/>
                                        <p:tgtEl>
                                          <p:spTgt spid="374"/>
                                        </p:tgtEl>
                                      </p:cBhvr>
                                    </p:animEffect>
                                  </p:childTnLst>
                                </p:cTn>
                              </p:par>
                            </p:childTnLst>
                          </p:cTn>
                        </p:par>
                        <p:par>
                          <p:cTn id="38" fill="hold">
                            <p:stCondLst>
                              <p:cond delay="6000"/>
                            </p:stCondLst>
                            <p:childTnLst>
                              <p:par>
                                <p:cTn id="39" presetClass="entr" nodeType="afterEffect" presetSubtype="8" presetID="2" grpId="8" fill="hold">
                                  <p:stCondLst>
                                    <p:cond delay="0"/>
                                  </p:stCondLst>
                                  <p:iterate type="el" backwards="0">
                                    <p:tmAbs val="0"/>
                                  </p:iterate>
                                  <p:childTnLst>
                                    <p:set>
                                      <p:cBhvr>
                                        <p:cTn id="40" fill="hold"/>
                                        <p:tgtEl>
                                          <p:spTgt spid="376"/>
                                        </p:tgtEl>
                                        <p:attrNameLst>
                                          <p:attrName>style.visibility</p:attrName>
                                        </p:attrNameLst>
                                      </p:cBhvr>
                                      <p:to>
                                        <p:strVal val="visible"/>
                                      </p:to>
                                    </p:set>
                                    <p:anim calcmode="lin" valueType="num">
                                      <p:cBhvr>
                                        <p:cTn id="41" dur="1000" fill="hold"/>
                                        <p:tgtEl>
                                          <p:spTgt spid="376"/>
                                        </p:tgtEl>
                                        <p:attrNameLst>
                                          <p:attrName>ppt_x</p:attrName>
                                        </p:attrNameLst>
                                      </p:cBhvr>
                                      <p:tavLst>
                                        <p:tav tm="0">
                                          <p:val>
                                            <p:strVal val="0-#ppt_w/2"/>
                                          </p:val>
                                        </p:tav>
                                        <p:tav tm="100000">
                                          <p:val>
                                            <p:strVal val="#ppt_x"/>
                                          </p:val>
                                        </p:tav>
                                      </p:tavLst>
                                    </p:anim>
                                    <p:anim calcmode="lin" valueType="num">
                                      <p:cBhvr>
                                        <p:cTn id="42" dur="1000" fill="hold"/>
                                        <p:tgtEl>
                                          <p:spTgt spid="376"/>
                                        </p:tgtEl>
                                        <p:attrNameLst>
                                          <p:attrName>ppt_y</p:attrName>
                                        </p:attrNameLst>
                                      </p:cBhvr>
                                      <p:tavLst>
                                        <p:tav tm="0">
                                          <p:val>
                                            <p:strVal val="#ppt_y"/>
                                          </p:val>
                                        </p:tav>
                                        <p:tav tm="100000">
                                          <p:val>
                                            <p:strVal val="#ppt_y"/>
                                          </p:val>
                                        </p:tav>
                                      </p:tavLst>
                                    </p:anim>
                                  </p:childTnLst>
                                </p:cTn>
                              </p:par>
                            </p:childTnLst>
                          </p:cTn>
                        </p:par>
                        <p:par>
                          <p:cTn id="43" fill="hold">
                            <p:stCondLst>
                              <p:cond delay="7000"/>
                            </p:stCondLst>
                            <p:childTnLst>
                              <p:par>
                                <p:cTn id="44" presetClass="entr" nodeType="afterEffect" presetID="9" grpId="9" fill="hold">
                                  <p:stCondLst>
                                    <p:cond delay="0"/>
                                  </p:stCondLst>
                                  <p:iterate type="el" backwards="0">
                                    <p:tmAbs val="0"/>
                                  </p:iterate>
                                  <p:childTnLst>
                                    <p:set>
                                      <p:cBhvr>
                                        <p:cTn id="45" fill="hold"/>
                                        <p:tgtEl>
                                          <p:spTgt spid="377"/>
                                        </p:tgtEl>
                                        <p:attrNameLst>
                                          <p:attrName>style.visibility</p:attrName>
                                        </p:attrNameLst>
                                      </p:cBhvr>
                                      <p:to>
                                        <p:strVal val="visible"/>
                                      </p:to>
                                    </p:set>
                                    <p:animEffect filter="dissolve" transition="in">
                                      <p:cBhvr>
                                        <p:cTn id="46" dur="2000"/>
                                        <p:tgtEl>
                                          <p:spTgt spid="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65" grpId="1"/>
      <p:bldP build="whole" bldLvl="1" animBg="1" rev="0" advAuto="0" spid="371" grpId="6"/>
      <p:bldP build="whole" bldLvl="1" animBg="1" rev="0" advAuto="0" spid="368" grpId="3"/>
      <p:bldP build="whole" bldLvl="1" animBg="1" rev="0" advAuto="0" spid="376" grpId="8"/>
      <p:bldP build="whole" bldLvl="1" animBg="1" rev="0" advAuto="0" spid="377" grpId="9"/>
      <p:bldP build="whole" bldLvl="1" animBg="1" rev="0" advAuto="0" spid="374" grpId="7"/>
      <p:bldP build="whole" bldLvl="1" animBg="1" rev="0" advAuto="0" spid="369" grpId="2"/>
      <p:bldP build="whole" bldLvl="1" animBg="1" rev="0" advAuto="0" spid="372" grpId="5"/>
      <p:bldP build="whole" bldLvl="1" animBg="1" rev="0" advAuto="0" spid="367" grpId="4"/>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81"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pic>
        <p:nvPicPr>
          <p:cNvPr id="382" name="Captură de ecran din 2024-10-20 la 18.36.09.png" descr="Captură de ecran din 2024-10-20 la 18.36.09.png"/>
          <p:cNvPicPr>
            <a:picLocks noChangeAspect="1"/>
          </p:cNvPicPr>
          <p:nvPr/>
        </p:nvPicPr>
        <p:blipFill>
          <a:blip r:embed="rId2">
            <a:extLst/>
          </a:blip>
          <a:stretch>
            <a:fillRect/>
          </a:stretch>
        </p:blipFill>
        <p:spPr>
          <a:xfrm>
            <a:off x="3011948" y="2931126"/>
            <a:ext cx="18360104" cy="9568785"/>
          </a:xfrm>
          <a:prstGeom prst="rect">
            <a:avLst/>
          </a:prstGeom>
          <a:ln w="12700">
            <a:miter lim="400000"/>
          </a:ln>
        </p:spPr>
      </p:pic>
      <p:sp>
        <p:nvSpPr>
          <p:cNvPr id="383" name="tree_clf = DecisionTreeClassifier(max_depth = 10, min_samples_leaf = 3, max_features=int(math.sqrt(d)), random_state=42)"/>
          <p:cNvSpPr txBox="1"/>
          <p:nvPr/>
        </p:nvSpPr>
        <p:spPr>
          <a:xfrm>
            <a:off x="4098411" y="8198687"/>
            <a:ext cx="17700740" cy="44722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solidFill>
                  <a:srgbClr val="111111"/>
                </a:solidFill>
                <a:latin typeface="Arial"/>
                <a:ea typeface="Arial"/>
                <a:cs typeface="Arial"/>
                <a:sym typeface="Arial"/>
              </a:defRPr>
            </a:lvl1pPr>
          </a:lstStyle>
          <a:p>
            <a:pPr/>
            <a:r>
              <a:t>tree_clf = DecisionTreeClassifier(max_depth = 10, min_samples_leaf = 3, max_features=int(math.sqrt(d)), random_state=42)</a:t>
            </a:r>
          </a:p>
        </p:txBody>
      </p:sp>
      <p:pic>
        <p:nvPicPr>
          <p:cNvPr id="384" name="Linie Linie" descr="Linie Linie"/>
          <p:cNvPicPr>
            <a:picLocks noChangeAspect="0"/>
          </p:cNvPicPr>
          <p:nvPr/>
        </p:nvPicPr>
        <p:blipFill>
          <a:blip r:embed="rId3">
            <a:extLst/>
          </a:blip>
          <a:stretch>
            <a:fillRect/>
          </a:stretch>
        </p:blipFill>
        <p:spPr>
          <a:xfrm>
            <a:off x="8311876" y="4740788"/>
            <a:ext cx="3785080" cy="101601"/>
          </a:xfrm>
          <a:prstGeom prst="rect">
            <a:avLst/>
          </a:prstGeom>
        </p:spPr>
      </p:pic>
      <p:pic>
        <p:nvPicPr>
          <p:cNvPr id="386" name="Linie Linie" descr="Linie Linie"/>
          <p:cNvPicPr>
            <a:picLocks noChangeAspect="0"/>
          </p:cNvPicPr>
          <p:nvPr/>
        </p:nvPicPr>
        <p:blipFill>
          <a:blip r:embed="rId4">
            <a:extLst/>
          </a:blip>
          <a:stretch>
            <a:fillRect/>
          </a:stretch>
        </p:blipFill>
        <p:spPr>
          <a:xfrm>
            <a:off x="4054121" y="8657328"/>
            <a:ext cx="17185416"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384"/>
                                        </p:tgtEl>
                                        <p:attrNameLst>
                                          <p:attrName>style.visibility</p:attrName>
                                        </p:attrNameLst>
                                      </p:cBhvr>
                                      <p:to>
                                        <p:strVal val="visible"/>
                                      </p:to>
                                    </p:set>
                                    <p:animEffect filter="dissolve" transition="in">
                                      <p:cBhvr>
                                        <p:cTn id="7" dur="2000"/>
                                        <p:tgtEl>
                                          <p:spTgt spid="384"/>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386"/>
                                        </p:tgtEl>
                                        <p:attrNameLst>
                                          <p:attrName>style.visibility</p:attrName>
                                        </p:attrNameLst>
                                      </p:cBhvr>
                                      <p:to>
                                        <p:strVal val="visible"/>
                                      </p:to>
                                    </p:set>
                                    <p:animEffect filter="dissolve" transition="in">
                                      <p:cBhvr>
                                        <p:cTn id="11" dur="20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84" grpId="1"/>
      <p:bldP build="whole" bldLvl="1" animBg="1" rev="0" advAuto="0" spid="386" grpId="2"/>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390"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sp>
        <p:nvSpPr>
          <p:cNvPr id="391" name="tree_clf = DecisionTreeClassifier(max_depth = 10, min_samples_leaf = 3, max_features=int(math.sqrt(d)), random_state=42)"/>
          <p:cNvSpPr txBox="1"/>
          <p:nvPr/>
        </p:nvSpPr>
        <p:spPr>
          <a:xfrm>
            <a:off x="158674" y="4222331"/>
            <a:ext cx="30033173" cy="58277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3400">
                <a:solidFill>
                  <a:srgbClr val="111111"/>
                </a:solidFill>
                <a:latin typeface="Arial"/>
                <a:ea typeface="Arial"/>
                <a:cs typeface="Arial"/>
                <a:sym typeface="Arial"/>
              </a:defRPr>
            </a:lvl1pPr>
          </a:lstStyle>
          <a:p>
            <a:pPr/>
            <a:r>
              <a:t>tree_clf = DecisionTreeClassifier(max_depth = 10, min_samples_leaf = 3, max_features=int(math.sqrt(d)), random_state=42)</a:t>
            </a:r>
          </a:p>
        </p:txBody>
      </p:sp>
      <p:sp>
        <p:nvSpPr>
          <p:cNvPr id="392" name="Sepal Length  &gt; 7"/>
          <p:cNvSpPr/>
          <p:nvPr/>
        </p:nvSpPr>
        <p:spPr>
          <a:xfrm>
            <a:off x="18566714" y="4894727"/>
            <a:ext cx="1720211" cy="1457633"/>
          </a:xfrm>
          <a:prstGeom prst="ellipse">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200"/>
            </a:lvl1pPr>
          </a:lstStyle>
          <a:p>
            <a:pPr/>
            <a:r>
              <a:t>Sepal Length  &gt; 7</a:t>
            </a:r>
          </a:p>
        </p:txBody>
      </p:sp>
      <p:sp>
        <p:nvSpPr>
          <p:cNvPr id="393" name="Samples: 12…"/>
          <p:cNvSpPr/>
          <p:nvPr/>
        </p:nvSpPr>
        <p:spPr>
          <a:xfrm>
            <a:off x="16302426" y="7002442"/>
            <a:ext cx="1791735" cy="1509620"/>
          </a:xfrm>
          <a:prstGeom prst="ellipse">
            <a:avLst/>
          </a:prstGeom>
          <a:solidFill>
            <a:schemeClr val="accent1">
              <a:satOff val="-7262"/>
              <a:lumOff val="-10627"/>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1700"/>
            </a:pPr>
            <a:r>
              <a:t>Samples: 12</a:t>
            </a:r>
          </a:p>
          <a:p>
            <a:pPr algn="ctr">
              <a:lnSpc>
                <a:spcPct val="30000"/>
              </a:lnSpc>
              <a:defRPr sz="1700"/>
            </a:pPr>
            <a:r>
              <a:t>Value: [0,0,12]</a:t>
            </a:r>
          </a:p>
        </p:txBody>
      </p:sp>
      <p:sp>
        <p:nvSpPr>
          <p:cNvPr id="394" name="Linie"/>
          <p:cNvSpPr/>
          <p:nvPr/>
        </p:nvSpPr>
        <p:spPr>
          <a:xfrm>
            <a:off x="20210659" y="6074400"/>
            <a:ext cx="700821" cy="700821"/>
          </a:xfrm>
          <a:prstGeom prst="line">
            <a:avLst/>
          </a:prstGeom>
          <a:ln w="25400">
            <a:solidFill>
              <a:schemeClr val="accent1"/>
            </a:solidFill>
            <a:tailEnd type="triangle"/>
          </a:ln>
        </p:spPr>
        <p:txBody>
          <a:bodyPr lIns="45718" tIns="45718" rIns="45718" bIns="45718"/>
          <a:lstStyle/>
          <a:p>
            <a:pPr/>
          </a:p>
        </p:txBody>
      </p:sp>
      <p:sp>
        <p:nvSpPr>
          <p:cNvPr id="395" name="Sepal Width &gt; 3"/>
          <p:cNvSpPr/>
          <p:nvPr/>
        </p:nvSpPr>
        <p:spPr>
          <a:xfrm>
            <a:off x="20354059" y="6866129"/>
            <a:ext cx="1791735" cy="1457634"/>
          </a:xfrm>
          <a:prstGeom prst="ellipse">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200"/>
            </a:lvl1pPr>
          </a:lstStyle>
          <a:p>
            <a:pPr/>
            <a:r>
              <a:t>Sepal Width &gt; 3</a:t>
            </a:r>
          </a:p>
        </p:txBody>
      </p:sp>
      <p:sp>
        <p:nvSpPr>
          <p:cNvPr id="396" name="Linie"/>
          <p:cNvSpPr/>
          <p:nvPr/>
        </p:nvSpPr>
        <p:spPr>
          <a:xfrm flipH="1">
            <a:off x="17927259" y="6094450"/>
            <a:ext cx="660721" cy="660721"/>
          </a:xfrm>
          <a:prstGeom prst="line">
            <a:avLst/>
          </a:prstGeom>
          <a:ln w="25400">
            <a:solidFill>
              <a:schemeClr val="accent1"/>
            </a:solidFill>
            <a:tailEnd type="triangle"/>
          </a:ln>
        </p:spPr>
        <p:txBody>
          <a:bodyPr lIns="45718" tIns="45718" rIns="45718" bIns="45718"/>
          <a:lstStyle/>
          <a:p>
            <a:pPr/>
          </a:p>
        </p:txBody>
      </p:sp>
      <p:sp>
        <p:nvSpPr>
          <p:cNvPr id="397" name="Linie"/>
          <p:cNvSpPr/>
          <p:nvPr/>
        </p:nvSpPr>
        <p:spPr>
          <a:xfrm>
            <a:off x="22037555" y="8152273"/>
            <a:ext cx="700821" cy="700821"/>
          </a:xfrm>
          <a:prstGeom prst="line">
            <a:avLst/>
          </a:prstGeom>
          <a:ln w="25400">
            <a:solidFill>
              <a:schemeClr val="accent1"/>
            </a:solidFill>
            <a:tailEnd type="triangle"/>
          </a:ln>
        </p:spPr>
        <p:txBody>
          <a:bodyPr lIns="45718" tIns="45718" rIns="45718" bIns="45718"/>
          <a:lstStyle/>
          <a:p>
            <a:pPr/>
          </a:p>
        </p:txBody>
      </p:sp>
      <p:sp>
        <p:nvSpPr>
          <p:cNvPr id="398" name="Linie"/>
          <p:cNvSpPr/>
          <p:nvPr/>
        </p:nvSpPr>
        <p:spPr>
          <a:xfrm flipH="1">
            <a:off x="19946401" y="8172323"/>
            <a:ext cx="660721" cy="660721"/>
          </a:xfrm>
          <a:prstGeom prst="line">
            <a:avLst/>
          </a:prstGeom>
          <a:ln w="25400">
            <a:solidFill>
              <a:schemeClr val="accent1"/>
            </a:solidFill>
            <a:tailEnd type="triangle"/>
          </a:ln>
        </p:spPr>
        <p:txBody>
          <a:bodyPr lIns="45718" tIns="45718" rIns="45718" bIns="45718"/>
          <a:lstStyle/>
          <a:p>
            <a:pPr/>
          </a:p>
        </p:txBody>
      </p:sp>
      <p:sp>
        <p:nvSpPr>
          <p:cNvPr id="399" name="Sepal Length &lt;= 5.8"/>
          <p:cNvSpPr/>
          <p:nvPr/>
        </p:nvSpPr>
        <p:spPr>
          <a:xfrm>
            <a:off x="18784489" y="8840932"/>
            <a:ext cx="1791734" cy="1652638"/>
          </a:xfrm>
          <a:prstGeom prst="ellipse">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lvl1pPr algn="ctr">
              <a:defRPr sz="2200"/>
            </a:lvl1pPr>
          </a:lstStyle>
          <a:p>
            <a:pPr/>
            <a:r>
              <a:t>Sepal Length &lt;= 5.8</a:t>
            </a:r>
          </a:p>
        </p:txBody>
      </p:sp>
      <p:sp>
        <p:nvSpPr>
          <p:cNvPr id="400" name="Linie"/>
          <p:cNvSpPr/>
          <p:nvPr/>
        </p:nvSpPr>
        <p:spPr>
          <a:xfrm flipH="1">
            <a:off x="18198365" y="10279672"/>
            <a:ext cx="660721" cy="660722"/>
          </a:xfrm>
          <a:prstGeom prst="line">
            <a:avLst/>
          </a:prstGeom>
          <a:ln w="25400">
            <a:solidFill>
              <a:schemeClr val="accent1"/>
            </a:solidFill>
            <a:tailEnd type="triangle"/>
          </a:ln>
        </p:spPr>
        <p:txBody>
          <a:bodyPr lIns="45718" tIns="45718" rIns="45718" bIns="45718"/>
          <a:lstStyle/>
          <a:p>
            <a:pPr/>
          </a:p>
        </p:txBody>
      </p:sp>
      <p:sp>
        <p:nvSpPr>
          <p:cNvPr id="401" name="Linie"/>
          <p:cNvSpPr/>
          <p:nvPr/>
        </p:nvSpPr>
        <p:spPr>
          <a:xfrm>
            <a:off x="20305338" y="10279672"/>
            <a:ext cx="700821" cy="700821"/>
          </a:xfrm>
          <a:prstGeom prst="line">
            <a:avLst/>
          </a:prstGeom>
          <a:ln w="25400">
            <a:solidFill>
              <a:schemeClr val="accent1"/>
            </a:solidFill>
            <a:tailEnd type="triangle"/>
          </a:ln>
        </p:spPr>
        <p:txBody>
          <a:bodyPr lIns="45718" tIns="45718" rIns="45718" bIns="45718"/>
          <a:lstStyle/>
          <a:p>
            <a:pPr/>
          </a:p>
        </p:txBody>
      </p:sp>
      <p:sp>
        <p:nvSpPr>
          <p:cNvPr id="402" name="Samples: 31…"/>
          <p:cNvSpPr/>
          <p:nvPr/>
        </p:nvSpPr>
        <p:spPr>
          <a:xfrm>
            <a:off x="16789579" y="10907402"/>
            <a:ext cx="1791735" cy="1652638"/>
          </a:xfrm>
          <a:prstGeom prst="ellipse">
            <a:avLst/>
          </a:prstGeom>
          <a:solidFill>
            <a:schemeClr val="accent4">
              <a:satOff val="-15884"/>
              <a:lumOff val="-10862"/>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1700"/>
            </a:pPr>
            <a:r>
              <a:t>Samples: 31</a:t>
            </a:r>
          </a:p>
          <a:p>
            <a:pPr algn="ctr">
              <a:lnSpc>
                <a:spcPct val="30000"/>
              </a:lnSpc>
              <a:defRPr sz="1700"/>
            </a:pPr>
            <a:r>
              <a:t>Value: [31,0,0]</a:t>
            </a:r>
          </a:p>
        </p:txBody>
      </p:sp>
      <p:sp>
        <p:nvSpPr>
          <p:cNvPr id="403" name="Samples: 14…"/>
          <p:cNvSpPr/>
          <p:nvPr/>
        </p:nvSpPr>
        <p:spPr>
          <a:xfrm>
            <a:off x="20222108" y="10638292"/>
            <a:ext cx="1720210" cy="1652638"/>
          </a:xfrm>
          <a:prstGeom prst="ellipse">
            <a:avLst/>
          </a:prstGeom>
          <a:solidFill>
            <a:schemeClr val="accent1">
              <a:satOff val="-7262"/>
              <a:lumOff val="-10627"/>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1700"/>
            </a:pPr>
            <a:r>
              <a:t>Samples: 14</a:t>
            </a:r>
          </a:p>
          <a:p>
            <a:pPr algn="ctr">
              <a:lnSpc>
                <a:spcPct val="30000"/>
              </a:lnSpc>
              <a:defRPr sz="1700"/>
            </a:pPr>
            <a:r>
              <a:t>Value: [0,3,11]</a:t>
            </a:r>
          </a:p>
        </p:txBody>
      </p:sp>
      <p:sp>
        <p:nvSpPr>
          <p:cNvPr id="404" name="Samples: 50…"/>
          <p:cNvSpPr/>
          <p:nvPr/>
        </p:nvSpPr>
        <p:spPr>
          <a:xfrm>
            <a:off x="22182273" y="8912441"/>
            <a:ext cx="1791735" cy="1509620"/>
          </a:xfrm>
          <a:prstGeom prst="ellipse">
            <a:avLst/>
          </a:prstGeom>
          <a:solidFill>
            <a:schemeClr val="accent2">
              <a:satOff val="-3145"/>
              <a:lumOff val="12843"/>
            </a:schemeClr>
          </a:solidFill>
          <a:ln w="25400">
            <a:solidFill>
              <a:schemeClr val="accent1"/>
            </a:solidFill>
          </a:ln>
          <a:extLst>
            <a:ext uri="{C572A759-6A51-4108-AA02-DFA0A04FC94B}">
              <ma14:wrappingTextBoxFlag xmlns:ma14="http://schemas.microsoft.com/office/mac/drawingml/2011/main" val="1"/>
            </a:ext>
          </a:extLst>
        </p:spPr>
        <p:txBody>
          <a:bodyPr lIns="50800" tIns="50800" rIns="50800" bIns="50800" anchor="ctr"/>
          <a:lstStyle/>
          <a:p>
            <a:pPr algn="ctr">
              <a:lnSpc>
                <a:spcPct val="30000"/>
              </a:lnSpc>
              <a:defRPr sz="1600"/>
            </a:pPr>
            <a:r>
              <a:t>Samples: 50</a:t>
            </a:r>
          </a:p>
          <a:p>
            <a:pPr algn="ctr">
              <a:lnSpc>
                <a:spcPct val="30000"/>
              </a:lnSpc>
              <a:defRPr sz="1600"/>
            </a:pPr>
            <a:r>
              <a:t>Value: [3,30,17]</a:t>
            </a:r>
          </a:p>
        </p:txBody>
      </p:sp>
      <p:pic>
        <p:nvPicPr>
          <p:cNvPr id="405" name="Linie Linie" descr="Linie Linie"/>
          <p:cNvPicPr>
            <a:picLocks noChangeAspect="0"/>
          </p:cNvPicPr>
          <p:nvPr/>
        </p:nvPicPr>
        <p:blipFill>
          <a:blip r:embed="rId2">
            <a:extLst/>
          </a:blip>
          <a:stretch>
            <a:fillRect/>
          </a:stretch>
        </p:blipFill>
        <p:spPr>
          <a:xfrm>
            <a:off x="6605591" y="4845214"/>
            <a:ext cx="2915627" cy="101601"/>
          </a:xfrm>
          <a:prstGeom prst="rect">
            <a:avLst/>
          </a:prstGeom>
        </p:spPr>
      </p:pic>
      <p:sp>
        <p:nvSpPr>
          <p:cNvPr id="407" name="Depth 0"/>
          <p:cNvSpPr txBox="1"/>
          <p:nvPr/>
        </p:nvSpPr>
        <p:spPr>
          <a:xfrm>
            <a:off x="16525061" y="5068070"/>
            <a:ext cx="1714958" cy="78282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600">
                <a:latin typeface="Canela Regular"/>
                <a:ea typeface="Canela Regular"/>
                <a:cs typeface="Canela Regular"/>
                <a:sym typeface="Canela Regular"/>
              </a:defRPr>
            </a:lvl1pPr>
          </a:lstStyle>
          <a:p>
            <a:pPr/>
            <a:r>
              <a:t>Depth 0</a:t>
            </a:r>
          </a:p>
        </p:txBody>
      </p:sp>
      <p:sp>
        <p:nvSpPr>
          <p:cNvPr id="408" name="Depth 1"/>
          <p:cNvSpPr txBox="1"/>
          <p:nvPr/>
        </p:nvSpPr>
        <p:spPr>
          <a:xfrm>
            <a:off x="14171995" y="7365838"/>
            <a:ext cx="1566368" cy="78282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600">
                <a:latin typeface="Canela Regular"/>
                <a:ea typeface="Canela Regular"/>
                <a:cs typeface="Canela Regular"/>
                <a:sym typeface="Canela Regular"/>
              </a:defRPr>
            </a:lvl1pPr>
          </a:lstStyle>
          <a:p>
            <a:pPr/>
            <a:r>
              <a:t>Depth 1</a:t>
            </a:r>
          </a:p>
        </p:txBody>
      </p:sp>
      <p:sp>
        <p:nvSpPr>
          <p:cNvPr id="409" name="Depth 2"/>
          <p:cNvSpPr txBox="1"/>
          <p:nvPr/>
        </p:nvSpPr>
        <p:spPr>
          <a:xfrm>
            <a:off x="16717804" y="9318318"/>
            <a:ext cx="1646378" cy="78282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600">
                <a:latin typeface="Canela Regular"/>
                <a:ea typeface="Canela Regular"/>
                <a:cs typeface="Canela Regular"/>
                <a:sym typeface="Canela Regular"/>
              </a:defRPr>
            </a:lvl1pPr>
          </a:lstStyle>
          <a:p>
            <a:pPr/>
            <a:r>
              <a:t>Depth 2</a:t>
            </a:r>
          </a:p>
        </p:txBody>
      </p:sp>
      <p:pic>
        <p:nvPicPr>
          <p:cNvPr id="410" name="Linie Linie" descr="Linie Linie"/>
          <p:cNvPicPr>
            <a:picLocks noChangeAspect="0"/>
          </p:cNvPicPr>
          <p:nvPr/>
        </p:nvPicPr>
        <p:blipFill>
          <a:blip r:embed="rId3">
            <a:extLst/>
          </a:blip>
          <a:stretch>
            <a:fillRect/>
          </a:stretch>
        </p:blipFill>
        <p:spPr>
          <a:xfrm>
            <a:off x="9728510" y="4845214"/>
            <a:ext cx="4641160" cy="101601"/>
          </a:xfrm>
          <a:prstGeom prst="rect">
            <a:avLst/>
          </a:prstGeom>
        </p:spPr>
      </p:pic>
      <p:pic>
        <p:nvPicPr>
          <p:cNvPr id="412" name="Linie Linie" descr="Linie Linie"/>
          <p:cNvPicPr>
            <a:picLocks noChangeAspect="0"/>
          </p:cNvPicPr>
          <p:nvPr/>
        </p:nvPicPr>
        <p:blipFill>
          <a:blip r:embed="rId4">
            <a:extLst/>
          </a:blip>
          <a:stretch>
            <a:fillRect/>
          </a:stretch>
        </p:blipFill>
        <p:spPr>
          <a:xfrm>
            <a:off x="16124305" y="8759332"/>
            <a:ext cx="2147977" cy="101601"/>
          </a:xfrm>
          <a:prstGeom prst="rect">
            <a:avLst/>
          </a:prstGeom>
        </p:spPr>
      </p:pic>
      <p:pic>
        <p:nvPicPr>
          <p:cNvPr id="414" name="Linie Linie" descr="Linie Linie"/>
          <p:cNvPicPr>
            <a:picLocks noChangeAspect="0"/>
          </p:cNvPicPr>
          <p:nvPr/>
        </p:nvPicPr>
        <p:blipFill>
          <a:blip r:embed="rId4">
            <a:extLst/>
          </a:blip>
          <a:stretch>
            <a:fillRect/>
          </a:stretch>
        </p:blipFill>
        <p:spPr>
          <a:xfrm>
            <a:off x="16611458" y="12636191"/>
            <a:ext cx="2147977" cy="101601"/>
          </a:xfrm>
          <a:prstGeom prst="rect">
            <a:avLst/>
          </a:prstGeom>
        </p:spPr>
      </p:pic>
      <p:pic>
        <p:nvPicPr>
          <p:cNvPr id="416" name="Linie Linie" descr="Linie Linie"/>
          <p:cNvPicPr>
            <a:picLocks noChangeAspect="0"/>
          </p:cNvPicPr>
          <p:nvPr/>
        </p:nvPicPr>
        <p:blipFill>
          <a:blip r:embed="rId4">
            <a:extLst/>
          </a:blip>
          <a:stretch>
            <a:fillRect/>
          </a:stretch>
        </p:blipFill>
        <p:spPr>
          <a:xfrm>
            <a:off x="20175939" y="12418142"/>
            <a:ext cx="2147976" cy="101601"/>
          </a:xfrm>
          <a:prstGeom prst="rect">
            <a:avLst/>
          </a:prstGeom>
        </p:spPr>
      </p:pic>
      <p:pic>
        <p:nvPicPr>
          <p:cNvPr id="418" name="Linie Linie" descr="Linie Linie"/>
          <p:cNvPicPr>
            <a:picLocks noChangeAspect="0"/>
          </p:cNvPicPr>
          <p:nvPr/>
        </p:nvPicPr>
        <p:blipFill>
          <a:blip r:embed="rId4">
            <a:extLst/>
          </a:blip>
          <a:stretch>
            <a:fillRect/>
          </a:stretch>
        </p:blipFill>
        <p:spPr>
          <a:xfrm>
            <a:off x="22169573" y="10574792"/>
            <a:ext cx="2147977" cy="101601"/>
          </a:xfrm>
          <a:prstGeom prst="rect">
            <a:avLst/>
          </a:prstGeom>
        </p:spPr>
      </p:pic>
      <p:sp>
        <p:nvSpPr>
          <p:cNvPr id="420" name="max_depth se referă la adâncimea maximă pe care o poate avea arborele."/>
          <p:cNvSpPr txBox="1"/>
          <p:nvPr/>
        </p:nvSpPr>
        <p:spPr>
          <a:xfrm>
            <a:off x="328713" y="6472872"/>
            <a:ext cx="13238163" cy="77025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500">
                <a:latin typeface="Canela Regular"/>
                <a:ea typeface="Canela Regular"/>
                <a:cs typeface="Canela Regular"/>
                <a:sym typeface="Canela Regular"/>
              </a:defRPr>
            </a:lvl1pPr>
          </a:lstStyle>
          <a:p>
            <a:pPr/>
            <a:r>
              <a:t>max_depth se referă la adâncimea maximă pe care o poate avea arborele.</a:t>
            </a:r>
          </a:p>
        </p:txBody>
      </p:sp>
      <p:sp>
        <p:nvSpPr>
          <p:cNvPr id="421" name="min_samples_leaf se referă la numărul minim de puncte pe care o regiune / frunză trebuie să le aibă."/>
          <p:cNvSpPr txBox="1"/>
          <p:nvPr/>
        </p:nvSpPr>
        <p:spPr>
          <a:xfrm>
            <a:off x="328713" y="7069007"/>
            <a:ext cx="12583701" cy="137649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500">
                <a:latin typeface="Canela Regular"/>
                <a:ea typeface="Canela Regular"/>
                <a:cs typeface="Canela Regular"/>
                <a:sym typeface="Canela Regular"/>
              </a:defRPr>
            </a:lvl1pPr>
          </a:lstStyle>
          <a:p>
            <a:pPr/>
            <a:r>
              <a:t>min_samples_leaf se referă la numărul minim de puncte pe care o regiune / frunză trebuie să le aibă.</a:t>
            </a:r>
          </a:p>
        </p:txBody>
      </p:sp>
      <p:pic>
        <p:nvPicPr>
          <p:cNvPr id="422" name="Linie Linie" descr="Linie Linie"/>
          <p:cNvPicPr>
            <a:picLocks noChangeAspect="0"/>
          </p:cNvPicPr>
          <p:nvPr/>
        </p:nvPicPr>
        <p:blipFill>
          <a:blip r:embed="rId5">
            <a:extLst/>
          </a:blip>
          <a:stretch>
            <a:fillRect/>
          </a:stretch>
        </p:blipFill>
        <p:spPr>
          <a:xfrm>
            <a:off x="14206264" y="4817599"/>
            <a:ext cx="6352550" cy="101601"/>
          </a:xfrm>
          <a:prstGeom prst="rect">
            <a:avLst/>
          </a:prstGeom>
        </p:spPr>
      </p:pic>
      <p:sp>
        <p:nvSpPr>
          <p:cNvPr id="424" name="max_features se referă la numărul maxim de caracteristici pe care algoritmul le folosește pentru a lua o decizie la un moment dat."/>
          <p:cNvSpPr txBox="1"/>
          <p:nvPr/>
        </p:nvSpPr>
        <p:spPr>
          <a:xfrm>
            <a:off x="328713" y="8267304"/>
            <a:ext cx="12583701" cy="137649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500">
                <a:latin typeface="Canela Regular"/>
                <a:ea typeface="Canela Regular"/>
                <a:cs typeface="Canela Regular"/>
                <a:sym typeface="Canela Regular"/>
              </a:defRPr>
            </a:lvl1pPr>
          </a:lstStyle>
          <a:p>
            <a:pPr/>
            <a:r>
              <a:t>max_features se referă la numărul maxim de caracteristici pe care algoritmul le folosește pentru a lua o decizie la un moment dat.</a:t>
            </a:r>
          </a:p>
        </p:txBody>
      </p:sp>
      <p:sp>
        <p:nvSpPr>
          <p:cNvPr id="425" name="max_features este de preferat să aibă valoarea   unde d reprezintă numărul de features, dar depinde de problemă și cerințe."/>
          <p:cNvSpPr txBox="1"/>
          <p:nvPr/>
        </p:nvSpPr>
        <p:spPr>
          <a:xfrm>
            <a:off x="328713" y="11011982"/>
            <a:ext cx="12583701" cy="144347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3500">
                <a:latin typeface="Canela Regular"/>
                <a:ea typeface="Canela Regular"/>
                <a:cs typeface="Canela Regular"/>
                <a:sym typeface="Canela Regular"/>
              </a:defRPr>
            </a:pPr>
            <a:r>
              <a:t>max_features este de preferat să aibă valoarea </a:t>
            </a:r>
            <a14:m>
              <m:oMath>
                <m:rad>
                  <m:radPr>
                    <m:ctrlPr>
                      <a:rPr xmlns:a="http://schemas.openxmlformats.org/drawingml/2006/main" sz="3900" i="1">
                        <a:solidFill>
                          <a:srgbClr val="000000"/>
                        </a:solidFill>
                        <a:latin typeface="Cambria Math" panose="02040503050406030204" pitchFamily="18" charset="0"/>
                      </a:rPr>
                    </m:ctrlPr>
                    <m:degHide m:val="on"/>
                  </m:radPr>
                  <m:deg/>
                  <m:e>
                    <m:r>
                      <a:rPr xmlns:a="http://schemas.openxmlformats.org/drawingml/2006/main" sz="3900" i="1">
                        <a:solidFill>
                          <a:srgbClr val="000000"/>
                        </a:solidFill>
                        <a:latin typeface="Cambria Math" panose="02040503050406030204" pitchFamily="18" charset="0"/>
                      </a:rPr>
                      <m:t>d</m:t>
                    </m:r>
                  </m:e>
                </m:rad>
              </m:oMath>
            </a14:m>
            <a:r>
              <a:t> unde d reprezintă numărul de features, dar depinde de problemă și cerințe.</a:t>
            </a:r>
          </a:p>
        </p:txBody>
      </p:sp>
      <p:pic>
        <p:nvPicPr>
          <p:cNvPr id="426" name="Linie Linie" descr="Linie Linie"/>
          <p:cNvPicPr>
            <a:picLocks noChangeAspect="0"/>
          </p:cNvPicPr>
          <p:nvPr/>
        </p:nvPicPr>
        <p:blipFill>
          <a:blip r:embed="rId6">
            <a:extLst/>
          </a:blip>
          <a:stretch>
            <a:fillRect/>
          </a:stretch>
        </p:blipFill>
        <p:spPr>
          <a:xfrm>
            <a:off x="296305" y="12418142"/>
            <a:ext cx="3744876" cy="101601"/>
          </a:xfrm>
          <a:prstGeom prst="rect">
            <a:avLst/>
          </a:prstGeom>
        </p:spPr>
      </p:pic>
      <p:sp>
        <p:nvSpPr>
          <p:cNvPr id="428" name="Depth 3"/>
          <p:cNvSpPr txBox="1"/>
          <p:nvPr/>
        </p:nvSpPr>
        <p:spPr>
          <a:xfrm>
            <a:off x="14961689" y="11342306"/>
            <a:ext cx="1661466" cy="78282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600">
                <a:latin typeface="Canela Regular"/>
                <a:ea typeface="Canela Regular"/>
                <a:cs typeface="Canela Regular"/>
                <a:sym typeface="Canela Regular"/>
              </a:defRPr>
            </a:lvl1pPr>
          </a:lstStyle>
          <a:p>
            <a:pPr/>
            <a:r>
              <a:t>Depth 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392"/>
                                        </p:tgtEl>
                                        <p:attrNameLst>
                                          <p:attrName>style.visibility</p:attrName>
                                        </p:attrNameLst>
                                      </p:cBhvr>
                                      <p:to>
                                        <p:strVal val="visible"/>
                                      </p:to>
                                    </p:set>
                                    <p:anim calcmode="lin" valueType="num">
                                      <p:cBhvr>
                                        <p:cTn id="7" dur="200" fill="hold"/>
                                        <p:tgtEl>
                                          <p:spTgt spid="392"/>
                                        </p:tgtEl>
                                        <p:attrNameLst>
                                          <p:attrName>ppt_x</p:attrName>
                                        </p:attrNameLst>
                                      </p:cBhvr>
                                      <p:tavLst>
                                        <p:tav tm="0">
                                          <p:val>
                                            <p:strVal val="0-#ppt_w/2"/>
                                          </p:val>
                                        </p:tav>
                                        <p:tav tm="100000">
                                          <p:val>
                                            <p:strVal val="#ppt_x"/>
                                          </p:val>
                                        </p:tav>
                                      </p:tavLst>
                                    </p:anim>
                                    <p:anim calcmode="lin" valueType="num">
                                      <p:cBhvr>
                                        <p:cTn id="8" dur="200" fill="hold"/>
                                        <p:tgtEl>
                                          <p:spTgt spid="392"/>
                                        </p:tgtEl>
                                        <p:attrNameLst>
                                          <p:attrName>ppt_y</p:attrName>
                                        </p:attrNameLst>
                                      </p:cBhvr>
                                      <p:tavLst>
                                        <p:tav tm="0">
                                          <p:val>
                                            <p:strVal val="#ppt_y"/>
                                          </p:val>
                                        </p:tav>
                                        <p:tav tm="100000">
                                          <p:val>
                                            <p:strVal val="#ppt_y"/>
                                          </p:val>
                                        </p:tav>
                                      </p:tavLst>
                                    </p:anim>
                                  </p:childTnLst>
                                </p:cTn>
                              </p:par>
                            </p:childTnLst>
                          </p:cTn>
                        </p:par>
                        <p:par>
                          <p:cTn id="9" fill="hold">
                            <p:stCondLst>
                              <p:cond delay="200"/>
                            </p:stCondLst>
                            <p:childTnLst>
                              <p:par>
                                <p:cTn id="10" presetClass="entr" nodeType="afterEffect" presetSubtype="8" presetID="2" grpId="2" fill="hold">
                                  <p:stCondLst>
                                    <p:cond delay="0"/>
                                  </p:stCondLst>
                                  <p:iterate type="el" backwards="0">
                                    <p:tmAbs val="0"/>
                                  </p:iterate>
                                  <p:childTnLst>
                                    <p:set>
                                      <p:cBhvr>
                                        <p:cTn id="11" fill="hold"/>
                                        <p:tgtEl>
                                          <p:spTgt spid="396"/>
                                        </p:tgtEl>
                                        <p:attrNameLst>
                                          <p:attrName>style.visibility</p:attrName>
                                        </p:attrNameLst>
                                      </p:cBhvr>
                                      <p:to>
                                        <p:strVal val="visible"/>
                                      </p:to>
                                    </p:set>
                                    <p:anim calcmode="lin" valueType="num">
                                      <p:cBhvr>
                                        <p:cTn id="12" dur="200" fill="hold"/>
                                        <p:tgtEl>
                                          <p:spTgt spid="396"/>
                                        </p:tgtEl>
                                        <p:attrNameLst>
                                          <p:attrName>ppt_x</p:attrName>
                                        </p:attrNameLst>
                                      </p:cBhvr>
                                      <p:tavLst>
                                        <p:tav tm="0">
                                          <p:val>
                                            <p:strVal val="0-#ppt_w/2"/>
                                          </p:val>
                                        </p:tav>
                                        <p:tav tm="100000">
                                          <p:val>
                                            <p:strVal val="#ppt_x"/>
                                          </p:val>
                                        </p:tav>
                                      </p:tavLst>
                                    </p:anim>
                                    <p:anim calcmode="lin" valueType="num">
                                      <p:cBhvr>
                                        <p:cTn id="13" dur="200" fill="hold"/>
                                        <p:tgtEl>
                                          <p:spTgt spid="396"/>
                                        </p:tgtEl>
                                        <p:attrNameLst>
                                          <p:attrName>ppt_y</p:attrName>
                                        </p:attrNameLst>
                                      </p:cBhvr>
                                      <p:tavLst>
                                        <p:tav tm="0">
                                          <p:val>
                                            <p:strVal val="#ppt_y"/>
                                          </p:val>
                                        </p:tav>
                                        <p:tav tm="100000">
                                          <p:val>
                                            <p:strVal val="#ppt_y"/>
                                          </p:val>
                                        </p:tav>
                                      </p:tavLst>
                                    </p:anim>
                                  </p:childTnLst>
                                </p:cTn>
                              </p:par>
                            </p:childTnLst>
                          </p:cTn>
                        </p:par>
                        <p:par>
                          <p:cTn id="14" fill="hold">
                            <p:stCondLst>
                              <p:cond delay="400"/>
                            </p:stCondLst>
                            <p:childTnLst>
                              <p:par>
                                <p:cTn id="15" presetClass="entr" nodeType="afterEffect" presetSubtype="8" presetID="2" grpId="3" fill="hold">
                                  <p:stCondLst>
                                    <p:cond delay="0"/>
                                  </p:stCondLst>
                                  <p:iterate type="el" backwards="0">
                                    <p:tmAbs val="0"/>
                                  </p:iterate>
                                  <p:childTnLst>
                                    <p:set>
                                      <p:cBhvr>
                                        <p:cTn id="16" fill="hold"/>
                                        <p:tgtEl>
                                          <p:spTgt spid="394"/>
                                        </p:tgtEl>
                                        <p:attrNameLst>
                                          <p:attrName>style.visibility</p:attrName>
                                        </p:attrNameLst>
                                      </p:cBhvr>
                                      <p:to>
                                        <p:strVal val="visible"/>
                                      </p:to>
                                    </p:set>
                                    <p:anim calcmode="lin" valueType="num">
                                      <p:cBhvr>
                                        <p:cTn id="17" dur="200" fill="hold"/>
                                        <p:tgtEl>
                                          <p:spTgt spid="394"/>
                                        </p:tgtEl>
                                        <p:attrNameLst>
                                          <p:attrName>ppt_x</p:attrName>
                                        </p:attrNameLst>
                                      </p:cBhvr>
                                      <p:tavLst>
                                        <p:tav tm="0">
                                          <p:val>
                                            <p:strVal val="0-#ppt_w/2"/>
                                          </p:val>
                                        </p:tav>
                                        <p:tav tm="100000">
                                          <p:val>
                                            <p:strVal val="#ppt_x"/>
                                          </p:val>
                                        </p:tav>
                                      </p:tavLst>
                                    </p:anim>
                                    <p:anim calcmode="lin" valueType="num">
                                      <p:cBhvr>
                                        <p:cTn id="18" dur="200" fill="hold"/>
                                        <p:tgtEl>
                                          <p:spTgt spid="394"/>
                                        </p:tgtEl>
                                        <p:attrNameLst>
                                          <p:attrName>ppt_y</p:attrName>
                                        </p:attrNameLst>
                                      </p:cBhvr>
                                      <p:tavLst>
                                        <p:tav tm="0">
                                          <p:val>
                                            <p:strVal val="#ppt_y"/>
                                          </p:val>
                                        </p:tav>
                                        <p:tav tm="100000">
                                          <p:val>
                                            <p:strVal val="#ppt_y"/>
                                          </p:val>
                                        </p:tav>
                                      </p:tavLst>
                                    </p:anim>
                                  </p:childTnLst>
                                </p:cTn>
                              </p:par>
                            </p:childTnLst>
                          </p:cTn>
                        </p:par>
                        <p:par>
                          <p:cTn id="19" fill="hold">
                            <p:stCondLst>
                              <p:cond delay="600"/>
                            </p:stCondLst>
                            <p:childTnLst>
                              <p:par>
                                <p:cTn id="20" presetClass="entr" nodeType="afterEffect" presetSubtype="8" presetID="2" grpId="4" fill="hold">
                                  <p:stCondLst>
                                    <p:cond delay="0"/>
                                  </p:stCondLst>
                                  <p:iterate type="el" backwards="0">
                                    <p:tmAbs val="0"/>
                                  </p:iterate>
                                  <p:childTnLst>
                                    <p:set>
                                      <p:cBhvr>
                                        <p:cTn id="21" fill="hold"/>
                                        <p:tgtEl>
                                          <p:spTgt spid="393"/>
                                        </p:tgtEl>
                                        <p:attrNameLst>
                                          <p:attrName>style.visibility</p:attrName>
                                        </p:attrNameLst>
                                      </p:cBhvr>
                                      <p:to>
                                        <p:strVal val="visible"/>
                                      </p:to>
                                    </p:set>
                                    <p:anim calcmode="lin" valueType="num">
                                      <p:cBhvr>
                                        <p:cTn id="22" dur="200" fill="hold"/>
                                        <p:tgtEl>
                                          <p:spTgt spid="393"/>
                                        </p:tgtEl>
                                        <p:attrNameLst>
                                          <p:attrName>ppt_x</p:attrName>
                                        </p:attrNameLst>
                                      </p:cBhvr>
                                      <p:tavLst>
                                        <p:tav tm="0">
                                          <p:val>
                                            <p:strVal val="0-#ppt_w/2"/>
                                          </p:val>
                                        </p:tav>
                                        <p:tav tm="100000">
                                          <p:val>
                                            <p:strVal val="#ppt_x"/>
                                          </p:val>
                                        </p:tav>
                                      </p:tavLst>
                                    </p:anim>
                                    <p:anim calcmode="lin" valueType="num">
                                      <p:cBhvr>
                                        <p:cTn id="23" dur="200" fill="hold"/>
                                        <p:tgtEl>
                                          <p:spTgt spid="393"/>
                                        </p:tgtEl>
                                        <p:attrNameLst>
                                          <p:attrName>ppt_y</p:attrName>
                                        </p:attrNameLst>
                                      </p:cBhvr>
                                      <p:tavLst>
                                        <p:tav tm="0">
                                          <p:val>
                                            <p:strVal val="#ppt_y"/>
                                          </p:val>
                                        </p:tav>
                                        <p:tav tm="100000">
                                          <p:val>
                                            <p:strVal val="#ppt_y"/>
                                          </p:val>
                                        </p:tav>
                                      </p:tavLst>
                                    </p:anim>
                                  </p:childTnLst>
                                </p:cTn>
                              </p:par>
                            </p:childTnLst>
                          </p:cTn>
                        </p:par>
                        <p:par>
                          <p:cTn id="24" fill="hold">
                            <p:stCondLst>
                              <p:cond delay="800"/>
                            </p:stCondLst>
                            <p:childTnLst>
                              <p:par>
                                <p:cTn id="25" presetClass="entr" nodeType="afterEffect" presetSubtype="8" presetID="2" grpId="5" fill="hold">
                                  <p:stCondLst>
                                    <p:cond delay="0"/>
                                  </p:stCondLst>
                                  <p:iterate type="el" backwards="0">
                                    <p:tmAbs val="0"/>
                                  </p:iterate>
                                  <p:childTnLst>
                                    <p:set>
                                      <p:cBhvr>
                                        <p:cTn id="26" fill="hold"/>
                                        <p:tgtEl>
                                          <p:spTgt spid="395"/>
                                        </p:tgtEl>
                                        <p:attrNameLst>
                                          <p:attrName>style.visibility</p:attrName>
                                        </p:attrNameLst>
                                      </p:cBhvr>
                                      <p:to>
                                        <p:strVal val="visible"/>
                                      </p:to>
                                    </p:set>
                                    <p:anim calcmode="lin" valueType="num">
                                      <p:cBhvr>
                                        <p:cTn id="27" dur="200" fill="hold"/>
                                        <p:tgtEl>
                                          <p:spTgt spid="395"/>
                                        </p:tgtEl>
                                        <p:attrNameLst>
                                          <p:attrName>ppt_x</p:attrName>
                                        </p:attrNameLst>
                                      </p:cBhvr>
                                      <p:tavLst>
                                        <p:tav tm="0">
                                          <p:val>
                                            <p:strVal val="0-#ppt_w/2"/>
                                          </p:val>
                                        </p:tav>
                                        <p:tav tm="100000">
                                          <p:val>
                                            <p:strVal val="#ppt_x"/>
                                          </p:val>
                                        </p:tav>
                                      </p:tavLst>
                                    </p:anim>
                                    <p:anim calcmode="lin" valueType="num">
                                      <p:cBhvr>
                                        <p:cTn id="28" dur="200" fill="hold"/>
                                        <p:tgtEl>
                                          <p:spTgt spid="395"/>
                                        </p:tgtEl>
                                        <p:attrNameLst>
                                          <p:attrName>ppt_y</p:attrName>
                                        </p:attrNameLst>
                                      </p:cBhvr>
                                      <p:tavLst>
                                        <p:tav tm="0">
                                          <p:val>
                                            <p:strVal val="#ppt_y"/>
                                          </p:val>
                                        </p:tav>
                                        <p:tav tm="100000">
                                          <p:val>
                                            <p:strVal val="#ppt_y"/>
                                          </p:val>
                                        </p:tav>
                                      </p:tavLst>
                                    </p:anim>
                                  </p:childTnLst>
                                </p:cTn>
                              </p:par>
                            </p:childTnLst>
                          </p:cTn>
                        </p:par>
                        <p:par>
                          <p:cTn id="29" fill="hold">
                            <p:stCondLst>
                              <p:cond delay="1000"/>
                            </p:stCondLst>
                            <p:childTnLst>
                              <p:par>
                                <p:cTn id="30" presetClass="entr" nodeType="afterEffect" presetSubtype="8" presetID="2" grpId="6" fill="hold">
                                  <p:stCondLst>
                                    <p:cond delay="0"/>
                                  </p:stCondLst>
                                  <p:iterate type="el" backwards="0">
                                    <p:tmAbs val="0"/>
                                  </p:iterate>
                                  <p:childTnLst>
                                    <p:set>
                                      <p:cBhvr>
                                        <p:cTn id="31" fill="hold"/>
                                        <p:tgtEl>
                                          <p:spTgt spid="397"/>
                                        </p:tgtEl>
                                        <p:attrNameLst>
                                          <p:attrName>style.visibility</p:attrName>
                                        </p:attrNameLst>
                                      </p:cBhvr>
                                      <p:to>
                                        <p:strVal val="visible"/>
                                      </p:to>
                                    </p:set>
                                    <p:anim calcmode="lin" valueType="num">
                                      <p:cBhvr>
                                        <p:cTn id="32" dur="200" fill="hold"/>
                                        <p:tgtEl>
                                          <p:spTgt spid="397"/>
                                        </p:tgtEl>
                                        <p:attrNameLst>
                                          <p:attrName>ppt_x</p:attrName>
                                        </p:attrNameLst>
                                      </p:cBhvr>
                                      <p:tavLst>
                                        <p:tav tm="0">
                                          <p:val>
                                            <p:strVal val="0-#ppt_w/2"/>
                                          </p:val>
                                        </p:tav>
                                        <p:tav tm="100000">
                                          <p:val>
                                            <p:strVal val="#ppt_x"/>
                                          </p:val>
                                        </p:tav>
                                      </p:tavLst>
                                    </p:anim>
                                    <p:anim calcmode="lin" valueType="num">
                                      <p:cBhvr>
                                        <p:cTn id="33" dur="200" fill="hold"/>
                                        <p:tgtEl>
                                          <p:spTgt spid="397"/>
                                        </p:tgtEl>
                                        <p:attrNameLst>
                                          <p:attrName>ppt_y</p:attrName>
                                        </p:attrNameLst>
                                      </p:cBhvr>
                                      <p:tavLst>
                                        <p:tav tm="0">
                                          <p:val>
                                            <p:strVal val="#ppt_y"/>
                                          </p:val>
                                        </p:tav>
                                        <p:tav tm="100000">
                                          <p:val>
                                            <p:strVal val="#ppt_y"/>
                                          </p:val>
                                        </p:tav>
                                      </p:tavLst>
                                    </p:anim>
                                  </p:childTnLst>
                                </p:cTn>
                              </p:par>
                            </p:childTnLst>
                          </p:cTn>
                        </p:par>
                        <p:par>
                          <p:cTn id="34" fill="hold">
                            <p:stCondLst>
                              <p:cond delay="1200"/>
                            </p:stCondLst>
                            <p:childTnLst>
                              <p:par>
                                <p:cTn id="35" presetClass="entr" nodeType="afterEffect" presetSubtype="8" presetID="2" grpId="7" fill="hold">
                                  <p:stCondLst>
                                    <p:cond delay="0"/>
                                  </p:stCondLst>
                                  <p:iterate type="el" backwards="0">
                                    <p:tmAbs val="0"/>
                                  </p:iterate>
                                  <p:childTnLst>
                                    <p:set>
                                      <p:cBhvr>
                                        <p:cTn id="36" fill="hold"/>
                                        <p:tgtEl>
                                          <p:spTgt spid="399"/>
                                        </p:tgtEl>
                                        <p:attrNameLst>
                                          <p:attrName>style.visibility</p:attrName>
                                        </p:attrNameLst>
                                      </p:cBhvr>
                                      <p:to>
                                        <p:strVal val="visible"/>
                                      </p:to>
                                    </p:set>
                                    <p:anim calcmode="lin" valueType="num">
                                      <p:cBhvr>
                                        <p:cTn id="37" dur="200" fill="hold"/>
                                        <p:tgtEl>
                                          <p:spTgt spid="399"/>
                                        </p:tgtEl>
                                        <p:attrNameLst>
                                          <p:attrName>ppt_x</p:attrName>
                                        </p:attrNameLst>
                                      </p:cBhvr>
                                      <p:tavLst>
                                        <p:tav tm="0">
                                          <p:val>
                                            <p:strVal val="0-#ppt_w/2"/>
                                          </p:val>
                                        </p:tav>
                                        <p:tav tm="100000">
                                          <p:val>
                                            <p:strVal val="#ppt_x"/>
                                          </p:val>
                                        </p:tav>
                                      </p:tavLst>
                                    </p:anim>
                                    <p:anim calcmode="lin" valueType="num">
                                      <p:cBhvr>
                                        <p:cTn id="38" dur="200" fill="hold"/>
                                        <p:tgtEl>
                                          <p:spTgt spid="399"/>
                                        </p:tgtEl>
                                        <p:attrNameLst>
                                          <p:attrName>ppt_y</p:attrName>
                                        </p:attrNameLst>
                                      </p:cBhvr>
                                      <p:tavLst>
                                        <p:tav tm="0">
                                          <p:val>
                                            <p:strVal val="#ppt_y"/>
                                          </p:val>
                                        </p:tav>
                                        <p:tav tm="100000">
                                          <p:val>
                                            <p:strVal val="#ppt_y"/>
                                          </p:val>
                                        </p:tav>
                                      </p:tavLst>
                                    </p:anim>
                                  </p:childTnLst>
                                </p:cTn>
                              </p:par>
                            </p:childTnLst>
                          </p:cTn>
                        </p:par>
                        <p:par>
                          <p:cTn id="39" fill="hold">
                            <p:stCondLst>
                              <p:cond delay="1400"/>
                            </p:stCondLst>
                            <p:childTnLst>
                              <p:par>
                                <p:cTn id="40" presetClass="entr" nodeType="afterEffect" presetSubtype="8" presetID="2" grpId="8" fill="hold">
                                  <p:stCondLst>
                                    <p:cond delay="0"/>
                                  </p:stCondLst>
                                  <p:iterate type="el" backwards="0">
                                    <p:tmAbs val="0"/>
                                  </p:iterate>
                                  <p:childTnLst>
                                    <p:set>
                                      <p:cBhvr>
                                        <p:cTn id="41" fill="hold"/>
                                        <p:tgtEl>
                                          <p:spTgt spid="398"/>
                                        </p:tgtEl>
                                        <p:attrNameLst>
                                          <p:attrName>style.visibility</p:attrName>
                                        </p:attrNameLst>
                                      </p:cBhvr>
                                      <p:to>
                                        <p:strVal val="visible"/>
                                      </p:to>
                                    </p:set>
                                    <p:anim calcmode="lin" valueType="num">
                                      <p:cBhvr>
                                        <p:cTn id="42" dur="200" fill="hold"/>
                                        <p:tgtEl>
                                          <p:spTgt spid="398"/>
                                        </p:tgtEl>
                                        <p:attrNameLst>
                                          <p:attrName>ppt_x</p:attrName>
                                        </p:attrNameLst>
                                      </p:cBhvr>
                                      <p:tavLst>
                                        <p:tav tm="0">
                                          <p:val>
                                            <p:strVal val="0-#ppt_w/2"/>
                                          </p:val>
                                        </p:tav>
                                        <p:tav tm="100000">
                                          <p:val>
                                            <p:strVal val="#ppt_x"/>
                                          </p:val>
                                        </p:tav>
                                      </p:tavLst>
                                    </p:anim>
                                    <p:anim calcmode="lin" valueType="num">
                                      <p:cBhvr>
                                        <p:cTn id="43" dur="200" fill="hold"/>
                                        <p:tgtEl>
                                          <p:spTgt spid="398"/>
                                        </p:tgtEl>
                                        <p:attrNameLst>
                                          <p:attrName>ppt_y</p:attrName>
                                        </p:attrNameLst>
                                      </p:cBhvr>
                                      <p:tavLst>
                                        <p:tav tm="0">
                                          <p:val>
                                            <p:strVal val="#ppt_y"/>
                                          </p:val>
                                        </p:tav>
                                        <p:tav tm="100000">
                                          <p:val>
                                            <p:strVal val="#ppt_y"/>
                                          </p:val>
                                        </p:tav>
                                      </p:tavLst>
                                    </p:anim>
                                  </p:childTnLst>
                                </p:cTn>
                              </p:par>
                            </p:childTnLst>
                          </p:cTn>
                        </p:par>
                        <p:par>
                          <p:cTn id="44" fill="hold">
                            <p:stCondLst>
                              <p:cond delay="1600"/>
                            </p:stCondLst>
                            <p:childTnLst>
                              <p:par>
                                <p:cTn id="45" presetClass="entr" nodeType="afterEffect" presetSubtype="8" presetID="2" grpId="9" fill="hold">
                                  <p:stCondLst>
                                    <p:cond delay="0"/>
                                  </p:stCondLst>
                                  <p:iterate type="el" backwards="0">
                                    <p:tmAbs val="0"/>
                                  </p:iterate>
                                  <p:childTnLst>
                                    <p:set>
                                      <p:cBhvr>
                                        <p:cTn id="46" fill="hold"/>
                                        <p:tgtEl>
                                          <p:spTgt spid="400"/>
                                        </p:tgtEl>
                                        <p:attrNameLst>
                                          <p:attrName>style.visibility</p:attrName>
                                        </p:attrNameLst>
                                      </p:cBhvr>
                                      <p:to>
                                        <p:strVal val="visible"/>
                                      </p:to>
                                    </p:set>
                                    <p:anim calcmode="lin" valueType="num">
                                      <p:cBhvr>
                                        <p:cTn id="47" dur="200" fill="hold"/>
                                        <p:tgtEl>
                                          <p:spTgt spid="400"/>
                                        </p:tgtEl>
                                        <p:attrNameLst>
                                          <p:attrName>ppt_x</p:attrName>
                                        </p:attrNameLst>
                                      </p:cBhvr>
                                      <p:tavLst>
                                        <p:tav tm="0">
                                          <p:val>
                                            <p:strVal val="0-#ppt_w/2"/>
                                          </p:val>
                                        </p:tav>
                                        <p:tav tm="100000">
                                          <p:val>
                                            <p:strVal val="#ppt_x"/>
                                          </p:val>
                                        </p:tav>
                                      </p:tavLst>
                                    </p:anim>
                                    <p:anim calcmode="lin" valueType="num">
                                      <p:cBhvr>
                                        <p:cTn id="48" dur="200" fill="hold"/>
                                        <p:tgtEl>
                                          <p:spTgt spid="400"/>
                                        </p:tgtEl>
                                        <p:attrNameLst>
                                          <p:attrName>ppt_y</p:attrName>
                                        </p:attrNameLst>
                                      </p:cBhvr>
                                      <p:tavLst>
                                        <p:tav tm="0">
                                          <p:val>
                                            <p:strVal val="#ppt_y"/>
                                          </p:val>
                                        </p:tav>
                                        <p:tav tm="100000">
                                          <p:val>
                                            <p:strVal val="#ppt_y"/>
                                          </p:val>
                                        </p:tav>
                                      </p:tavLst>
                                    </p:anim>
                                  </p:childTnLst>
                                </p:cTn>
                              </p:par>
                            </p:childTnLst>
                          </p:cTn>
                        </p:par>
                        <p:par>
                          <p:cTn id="49" fill="hold">
                            <p:stCondLst>
                              <p:cond delay="1800"/>
                            </p:stCondLst>
                            <p:childTnLst>
                              <p:par>
                                <p:cTn id="50" presetClass="entr" nodeType="afterEffect" presetSubtype="8" presetID="2" grpId="10" fill="hold">
                                  <p:stCondLst>
                                    <p:cond delay="0"/>
                                  </p:stCondLst>
                                  <p:iterate type="el" backwards="0">
                                    <p:tmAbs val="0"/>
                                  </p:iterate>
                                  <p:childTnLst>
                                    <p:set>
                                      <p:cBhvr>
                                        <p:cTn id="51" fill="hold"/>
                                        <p:tgtEl>
                                          <p:spTgt spid="401"/>
                                        </p:tgtEl>
                                        <p:attrNameLst>
                                          <p:attrName>style.visibility</p:attrName>
                                        </p:attrNameLst>
                                      </p:cBhvr>
                                      <p:to>
                                        <p:strVal val="visible"/>
                                      </p:to>
                                    </p:set>
                                    <p:anim calcmode="lin" valueType="num">
                                      <p:cBhvr>
                                        <p:cTn id="52" dur="200" fill="hold"/>
                                        <p:tgtEl>
                                          <p:spTgt spid="401"/>
                                        </p:tgtEl>
                                        <p:attrNameLst>
                                          <p:attrName>ppt_x</p:attrName>
                                        </p:attrNameLst>
                                      </p:cBhvr>
                                      <p:tavLst>
                                        <p:tav tm="0">
                                          <p:val>
                                            <p:strVal val="0-#ppt_w/2"/>
                                          </p:val>
                                        </p:tav>
                                        <p:tav tm="100000">
                                          <p:val>
                                            <p:strVal val="#ppt_x"/>
                                          </p:val>
                                        </p:tav>
                                      </p:tavLst>
                                    </p:anim>
                                    <p:anim calcmode="lin" valueType="num">
                                      <p:cBhvr>
                                        <p:cTn id="53" dur="200" fill="hold"/>
                                        <p:tgtEl>
                                          <p:spTgt spid="401"/>
                                        </p:tgtEl>
                                        <p:attrNameLst>
                                          <p:attrName>ppt_y</p:attrName>
                                        </p:attrNameLst>
                                      </p:cBhvr>
                                      <p:tavLst>
                                        <p:tav tm="0">
                                          <p:val>
                                            <p:strVal val="#ppt_y"/>
                                          </p:val>
                                        </p:tav>
                                        <p:tav tm="100000">
                                          <p:val>
                                            <p:strVal val="#ppt_y"/>
                                          </p:val>
                                        </p:tav>
                                      </p:tavLst>
                                    </p:anim>
                                  </p:childTnLst>
                                </p:cTn>
                              </p:par>
                            </p:childTnLst>
                          </p:cTn>
                        </p:par>
                        <p:par>
                          <p:cTn id="54" fill="hold">
                            <p:stCondLst>
                              <p:cond delay="2000"/>
                            </p:stCondLst>
                            <p:childTnLst>
                              <p:par>
                                <p:cTn id="55" presetClass="entr" nodeType="afterEffect" presetSubtype="8" presetID="2" grpId="11" fill="hold">
                                  <p:stCondLst>
                                    <p:cond delay="0"/>
                                  </p:stCondLst>
                                  <p:iterate type="el" backwards="0">
                                    <p:tmAbs val="0"/>
                                  </p:iterate>
                                  <p:childTnLst>
                                    <p:set>
                                      <p:cBhvr>
                                        <p:cTn id="56" fill="hold"/>
                                        <p:tgtEl>
                                          <p:spTgt spid="402"/>
                                        </p:tgtEl>
                                        <p:attrNameLst>
                                          <p:attrName>style.visibility</p:attrName>
                                        </p:attrNameLst>
                                      </p:cBhvr>
                                      <p:to>
                                        <p:strVal val="visible"/>
                                      </p:to>
                                    </p:set>
                                    <p:anim calcmode="lin" valueType="num">
                                      <p:cBhvr>
                                        <p:cTn id="57" dur="200" fill="hold"/>
                                        <p:tgtEl>
                                          <p:spTgt spid="402"/>
                                        </p:tgtEl>
                                        <p:attrNameLst>
                                          <p:attrName>ppt_x</p:attrName>
                                        </p:attrNameLst>
                                      </p:cBhvr>
                                      <p:tavLst>
                                        <p:tav tm="0">
                                          <p:val>
                                            <p:strVal val="0-#ppt_w/2"/>
                                          </p:val>
                                        </p:tav>
                                        <p:tav tm="100000">
                                          <p:val>
                                            <p:strVal val="#ppt_x"/>
                                          </p:val>
                                        </p:tav>
                                      </p:tavLst>
                                    </p:anim>
                                    <p:anim calcmode="lin" valueType="num">
                                      <p:cBhvr>
                                        <p:cTn id="58" dur="200" fill="hold"/>
                                        <p:tgtEl>
                                          <p:spTgt spid="402"/>
                                        </p:tgtEl>
                                        <p:attrNameLst>
                                          <p:attrName>ppt_y</p:attrName>
                                        </p:attrNameLst>
                                      </p:cBhvr>
                                      <p:tavLst>
                                        <p:tav tm="0">
                                          <p:val>
                                            <p:strVal val="#ppt_y"/>
                                          </p:val>
                                        </p:tav>
                                        <p:tav tm="100000">
                                          <p:val>
                                            <p:strVal val="#ppt_y"/>
                                          </p:val>
                                        </p:tav>
                                      </p:tavLst>
                                    </p:anim>
                                  </p:childTnLst>
                                </p:cTn>
                              </p:par>
                            </p:childTnLst>
                          </p:cTn>
                        </p:par>
                        <p:par>
                          <p:cTn id="59" fill="hold">
                            <p:stCondLst>
                              <p:cond delay="2200"/>
                            </p:stCondLst>
                            <p:childTnLst>
                              <p:par>
                                <p:cTn id="60" presetClass="entr" nodeType="afterEffect" presetSubtype="8" presetID="2" grpId="12" fill="hold">
                                  <p:stCondLst>
                                    <p:cond delay="0"/>
                                  </p:stCondLst>
                                  <p:iterate type="el" backwards="0">
                                    <p:tmAbs val="0"/>
                                  </p:iterate>
                                  <p:childTnLst>
                                    <p:set>
                                      <p:cBhvr>
                                        <p:cTn id="61" fill="hold"/>
                                        <p:tgtEl>
                                          <p:spTgt spid="403"/>
                                        </p:tgtEl>
                                        <p:attrNameLst>
                                          <p:attrName>style.visibility</p:attrName>
                                        </p:attrNameLst>
                                      </p:cBhvr>
                                      <p:to>
                                        <p:strVal val="visible"/>
                                      </p:to>
                                    </p:set>
                                    <p:anim calcmode="lin" valueType="num">
                                      <p:cBhvr>
                                        <p:cTn id="62" dur="200" fill="hold"/>
                                        <p:tgtEl>
                                          <p:spTgt spid="403"/>
                                        </p:tgtEl>
                                        <p:attrNameLst>
                                          <p:attrName>ppt_x</p:attrName>
                                        </p:attrNameLst>
                                      </p:cBhvr>
                                      <p:tavLst>
                                        <p:tav tm="0">
                                          <p:val>
                                            <p:strVal val="0-#ppt_w/2"/>
                                          </p:val>
                                        </p:tav>
                                        <p:tav tm="100000">
                                          <p:val>
                                            <p:strVal val="#ppt_x"/>
                                          </p:val>
                                        </p:tav>
                                      </p:tavLst>
                                    </p:anim>
                                    <p:anim calcmode="lin" valueType="num">
                                      <p:cBhvr>
                                        <p:cTn id="63" dur="200" fill="hold"/>
                                        <p:tgtEl>
                                          <p:spTgt spid="403"/>
                                        </p:tgtEl>
                                        <p:attrNameLst>
                                          <p:attrName>ppt_y</p:attrName>
                                        </p:attrNameLst>
                                      </p:cBhvr>
                                      <p:tavLst>
                                        <p:tav tm="0">
                                          <p:val>
                                            <p:strVal val="#ppt_y"/>
                                          </p:val>
                                        </p:tav>
                                        <p:tav tm="100000">
                                          <p:val>
                                            <p:strVal val="#ppt_y"/>
                                          </p:val>
                                        </p:tav>
                                      </p:tavLst>
                                    </p:anim>
                                  </p:childTnLst>
                                </p:cTn>
                              </p:par>
                            </p:childTnLst>
                          </p:cTn>
                        </p:par>
                        <p:par>
                          <p:cTn id="64" fill="hold">
                            <p:stCondLst>
                              <p:cond delay="2400"/>
                            </p:stCondLst>
                            <p:childTnLst>
                              <p:par>
                                <p:cTn id="65" presetClass="entr" nodeType="afterEffect" presetSubtype="8" presetID="2" grpId="13" fill="hold">
                                  <p:stCondLst>
                                    <p:cond delay="0"/>
                                  </p:stCondLst>
                                  <p:iterate type="el" backwards="0">
                                    <p:tmAbs val="0"/>
                                  </p:iterate>
                                  <p:childTnLst>
                                    <p:set>
                                      <p:cBhvr>
                                        <p:cTn id="66" fill="hold"/>
                                        <p:tgtEl>
                                          <p:spTgt spid="404"/>
                                        </p:tgtEl>
                                        <p:attrNameLst>
                                          <p:attrName>style.visibility</p:attrName>
                                        </p:attrNameLst>
                                      </p:cBhvr>
                                      <p:to>
                                        <p:strVal val="visible"/>
                                      </p:to>
                                    </p:set>
                                    <p:anim calcmode="lin" valueType="num">
                                      <p:cBhvr>
                                        <p:cTn id="67" dur="200" fill="hold"/>
                                        <p:tgtEl>
                                          <p:spTgt spid="404"/>
                                        </p:tgtEl>
                                        <p:attrNameLst>
                                          <p:attrName>ppt_x</p:attrName>
                                        </p:attrNameLst>
                                      </p:cBhvr>
                                      <p:tavLst>
                                        <p:tav tm="0">
                                          <p:val>
                                            <p:strVal val="0-#ppt_w/2"/>
                                          </p:val>
                                        </p:tav>
                                        <p:tav tm="100000">
                                          <p:val>
                                            <p:strVal val="#ppt_x"/>
                                          </p:val>
                                        </p:tav>
                                      </p:tavLst>
                                    </p:anim>
                                    <p:anim calcmode="lin" valueType="num">
                                      <p:cBhvr>
                                        <p:cTn id="68" dur="200" fill="hold"/>
                                        <p:tgtEl>
                                          <p:spTgt spid="40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Class="entr" nodeType="clickEffect" presetID="9" grpId="14" fill="hold">
                                  <p:stCondLst>
                                    <p:cond delay="0"/>
                                  </p:stCondLst>
                                  <p:iterate type="el" backwards="0">
                                    <p:tmAbs val="0"/>
                                  </p:iterate>
                                  <p:childTnLst>
                                    <p:set>
                                      <p:cBhvr>
                                        <p:cTn id="72" fill="hold"/>
                                        <p:tgtEl>
                                          <p:spTgt spid="405"/>
                                        </p:tgtEl>
                                        <p:attrNameLst>
                                          <p:attrName>style.visibility</p:attrName>
                                        </p:attrNameLst>
                                      </p:cBhvr>
                                      <p:to>
                                        <p:strVal val="visible"/>
                                      </p:to>
                                    </p:set>
                                    <p:animEffect filter="dissolve" transition="in">
                                      <p:cBhvr>
                                        <p:cTn id="73" dur="2000"/>
                                        <p:tgtEl>
                                          <p:spTgt spid="405"/>
                                        </p:tgtEl>
                                      </p:cBhvr>
                                    </p:animEffect>
                                  </p:childTnLst>
                                </p:cTn>
                              </p:par>
                            </p:childTnLst>
                          </p:cTn>
                        </p:par>
                      </p:childTnLst>
                    </p:cTn>
                  </p:par>
                  <p:par>
                    <p:cTn id="74" fill="hold">
                      <p:stCondLst>
                        <p:cond delay="indefinite"/>
                      </p:stCondLst>
                      <p:childTnLst>
                        <p:par>
                          <p:cTn id="75" fill="hold">
                            <p:stCondLst>
                              <p:cond delay="0"/>
                            </p:stCondLst>
                            <p:childTnLst>
                              <p:par>
                                <p:cTn id="76" presetClass="entr" nodeType="clickEffect" presetSubtype="8" presetID="2" grpId="15" fill="hold">
                                  <p:stCondLst>
                                    <p:cond delay="0"/>
                                  </p:stCondLst>
                                  <p:iterate type="el" backwards="0">
                                    <p:tmAbs val="0"/>
                                  </p:iterate>
                                  <p:childTnLst>
                                    <p:set>
                                      <p:cBhvr>
                                        <p:cTn id="77" fill="hold"/>
                                        <p:tgtEl>
                                          <p:spTgt spid="407"/>
                                        </p:tgtEl>
                                        <p:attrNameLst>
                                          <p:attrName>style.visibility</p:attrName>
                                        </p:attrNameLst>
                                      </p:cBhvr>
                                      <p:to>
                                        <p:strVal val="visible"/>
                                      </p:to>
                                    </p:set>
                                    <p:anim calcmode="lin" valueType="num">
                                      <p:cBhvr>
                                        <p:cTn id="78" dur="1000" fill="hold"/>
                                        <p:tgtEl>
                                          <p:spTgt spid="407"/>
                                        </p:tgtEl>
                                        <p:attrNameLst>
                                          <p:attrName>ppt_x</p:attrName>
                                        </p:attrNameLst>
                                      </p:cBhvr>
                                      <p:tavLst>
                                        <p:tav tm="0">
                                          <p:val>
                                            <p:strVal val="0-#ppt_w/2"/>
                                          </p:val>
                                        </p:tav>
                                        <p:tav tm="100000">
                                          <p:val>
                                            <p:strVal val="#ppt_x"/>
                                          </p:val>
                                        </p:tav>
                                      </p:tavLst>
                                    </p:anim>
                                    <p:anim calcmode="lin" valueType="num">
                                      <p:cBhvr>
                                        <p:cTn id="79" dur="1000" fill="hold"/>
                                        <p:tgtEl>
                                          <p:spTgt spid="407"/>
                                        </p:tgtEl>
                                        <p:attrNameLst>
                                          <p:attrName>ppt_y</p:attrName>
                                        </p:attrNameLst>
                                      </p:cBhvr>
                                      <p:tavLst>
                                        <p:tav tm="0">
                                          <p:val>
                                            <p:strVal val="#ppt_y"/>
                                          </p:val>
                                        </p:tav>
                                        <p:tav tm="100000">
                                          <p:val>
                                            <p:strVal val="#ppt_y"/>
                                          </p:val>
                                        </p:tav>
                                      </p:tavLst>
                                    </p:anim>
                                  </p:childTnLst>
                                </p:cTn>
                              </p:par>
                            </p:childTnLst>
                          </p:cTn>
                        </p:par>
                        <p:par>
                          <p:cTn id="80" fill="hold">
                            <p:stCondLst>
                              <p:cond delay="1000"/>
                            </p:stCondLst>
                            <p:childTnLst>
                              <p:par>
                                <p:cTn id="81" presetClass="entr" nodeType="afterEffect" presetSubtype="8" presetID="2" grpId="16" fill="hold">
                                  <p:stCondLst>
                                    <p:cond delay="0"/>
                                  </p:stCondLst>
                                  <p:iterate type="el" backwards="0">
                                    <p:tmAbs val="0"/>
                                  </p:iterate>
                                  <p:childTnLst>
                                    <p:set>
                                      <p:cBhvr>
                                        <p:cTn id="82" fill="hold"/>
                                        <p:tgtEl>
                                          <p:spTgt spid="408"/>
                                        </p:tgtEl>
                                        <p:attrNameLst>
                                          <p:attrName>style.visibility</p:attrName>
                                        </p:attrNameLst>
                                      </p:cBhvr>
                                      <p:to>
                                        <p:strVal val="visible"/>
                                      </p:to>
                                    </p:set>
                                    <p:anim calcmode="lin" valueType="num">
                                      <p:cBhvr>
                                        <p:cTn id="83" dur="1000" fill="hold"/>
                                        <p:tgtEl>
                                          <p:spTgt spid="408"/>
                                        </p:tgtEl>
                                        <p:attrNameLst>
                                          <p:attrName>ppt_x</p:attrName>
                                        </p:attrNameLst>
                                      </p:cBhvr>
                                      <p:tavLst>
                                        <p:tav tm="0">
                                          <p:val>
                                            <p:strVal val="0-#ppt_w/2"/>
                                          </p:val>
                                        </p:tav>
                                        <p:tav tm="100000">
                                          <p:val>
                                            <p:strVal val="#ppt_x"/>
                                          </p:val>
                                        </p:tav>
                                      </p:tavLst>
                                    </p:anim>
                                    <p:anim calcmode="lin" valueType="num">
                                      <p:cBhvr>
                                        <p:cTn id="84" dur="1000" fill="hold"/>
                                        <p:tgtEl>
                                          <p:spTgt spid="408"/>
                                        </p:tgtEl>
                                        <p:attrNameLst>
                                          <p:attrName>ppt_y</p:attrName>
                                        </p:attrNameLst>
                                      </p:cBhvr>
                                      <p:tavLst>
                                        <p:tav tm="0">
                                          <p:val>
                                            <p:strVal val="#ppt_y"/>
                                          </p:val>
                                        </p:tav>
                                        <p:tav tm="100000">
                                          <p:val>
                                            <p:strVal val="#ppt_y"/>
                                          </p:val>
                                        </p:tav>
                                      </p:tavLst>
                                    </p:anim>
                                  </p:childTnLst>
                                </p:cTn>
                              </p:par>
                            </p:childTnLst>
                          </p:cTn>
                        </p:par>
                        <p:par>
                          <p:cTn id="85" fill="hold">
                            <p:stCondLst>
                              <p:cond delay="2000"/>
                            </p:stCondLst>
                            <p:childTnLst>
                              <p:par>
                                <p:cTn id="86" presetClass="entr" nodeType="afterEffect" presetSubtype="8" presetID="2" grpId="17" fill="hold">
                                  <p:stCondLst>
                                    <p:cond delay="0"/>
                                  </p:stCondLst>
                                  <p:iterate type="el" backwards="0">
                                    <p:tmAbs val="0"/>
                                  </p:iterate>
                                  <p:childTnLst>
                                    <p:set>
                                      <p:cBhvr>
                                        <p:cTn id="87" fill="hold"/>
                                        <p:tgtEl>
                                          <p:spTgt spid="409"/>
                                        </p:tgtEl>
                                        <p:attrNameLst>
                                          <p:attrName>style.visibility</p:attrName>
                                        </p:attrNameLst>
                                      </p:cBhvr>
                                      <p:to>
                                        <p:strVal val="visible"/>
                                      </p:to>
                                    </p:set>
                                    <p:anim calcmode="lin" valueType="num">
                                      <p:cBhvr>
                                        <p:cTn id="88" dur="1000" fill="hold"/>
                                        <p:tgtEl>
                                          <p:spTgt spid="409"/>
                                        </p:tgtEl>
                                        <p:attrNameLst>
                                          <p:attrName>ppt_x</p:attrName>
                                        </p:attrNameLst>
                                      </p:cBhvr>
                                      <p:tavLst>
                                        <p:tav tm="0">
                                          <p:val>
                                            <p:strVal val="0-#ppt_w/2"/>
                                          </p:val>
                                        </p:tav>
                                        <p:tav tm="100000">
                                          <p:val>
                                            <p:strVal val="#ppt_x"/>
                                          </p:val>
                                        </p:tav>
                                      </p:tavLst>
                                    </p:anim>
                                    <p:anim calcmode="lin" valueType="num">
                                      <p:cBhvr>
                                        <p:cTn id="89" dur="1000" fill="hold"/>
                                        <p:tgtEl>
                                          <p:spTgt spid="409"/>
                                        </p:tgtEl>
                                        <p:attrNameLst>
                                          <p:attrName>ppt_y</p:attrName>
                                        </p:attrNameLst>
                                      </p:cBhvr>
                                      <p:tavLst>
                                        <p:tav tm="0">
                                          <p:val>
                                            <p:strVal val="#ppt_y"/>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Class="entr" nodeType="clickEffect" presetID="9" grpId="18" fill="hold">
                                  <p:stCondLst>
                                    <p:cond delay="0"/>
                                  </p:stCondLst>
                                  <p:iterate type="el" backwards="0">
                                    <p:tmAbs val="0"/>
                                  </p:iterate>
                                  <p:childTnLst>
                                    <p:set>
                                      <p:cBhvr>
                                        <p:cTn id="93" fill="hold"/>
                                        <p:tgtEl>
                                          <p:spTgt spid="410"/>
                                        </p:tgtEl>
                                        <p:attrNameLst>
                                          <p:attrName>style.visibility</p:attrName>
                                        </p:attrNameLst>
                                      </p:cBhvr>
                                      <p:to>
                                        <p:strVal val="visible"/>
                                      </p:to>
                                    </p:set>
                                    <p:animEffect filter="dissolve" transition="in">
                                      <p:cBhvr>
                                        <p:cTn id="94" dur="2000"/>
                                        <p:tgtEl>
                                          <p:spTgt spid="410"/>
                                        </p:tgtEl>
                                      </p:cBhvr>
                                    </p:animEffect>
                                  </p:childTnLst>
                                </p:cTn>
                              </p:par>
                            </p:childTnLst>
                          </p:cTn>
                        </p:par>
                      </p:childTnLst>
                    </p:cTn>
                  </p:par>
                  <p:par>
                    <p:cTn id="95" fill="hold">
                      <p:stCondLst>
                        <p:cond delay="indefinite"/>
                      </p:stCondLst>
                      <p:childTnLst>
                        <p:par>
                          <p:cTn id="96" fill="hold">
                            <p:stCondLst>
                              <p:cond delay="0"/>
                            </p:stCondLst>
                            <p:childTnLst>
                              <p:par>
                                <p:cTn id="97" presetClass="entr" nodeType="clickEffect" presetID="9" grpId="19" fill="hold">
                                  <p:stCondLst>
                                    <p:cond delay="0"/>
                                  </p:stCondLst>
                                  <p:iterate type="el" backwards="0">
                                    <p:tmAbs val="0"/>
                                  </p:iterate>
                                  <p:childTnLst>
                                    <p:set>
                                      <p:cBhvr>
                                        <p:cTn id="98" fill="hold"/>
                                        <p:tgtEl>
                                          <p:spTgt spid="412"/>
                                        </p:tgtEl>
                                        <p:attrNameLst>
                                          <p:attrName>style.visibility</p:attrName>
                                        </p:attrNameLst>
                                      </p:cBhvr>
                                      <p:to>
                                        <p:strVal val="visible"/>
                                      </p:to>
                                    </p:set>
                                    <p:animEffect filter="dissolve" transition="in">
                                      <p:cBhvr>
                                        <p:cTn id="99" dur="2000"/>
                                        <p:tgtEl>
                                          <p:spTgt spid="412"/>
                                        </p:tgtEl>
                                      </p:cBhvr>
                                    </p:animEffect>
                                  </p:childTnLst>
                                </p:cTn>
                              </p:par>
                            </p:childTnLst>
                          </p:cTn>
                        </p:par>
                        <p:par>
                          <p:cTn id="100" fill="hold">
                            <p:stCondLst>
                              <p:cond delay="2000"/>
                            </p:stCondLst>
                            <p:childTnLst>
                              <p:par>
                                <p:cTn id="101" presetClass="entr" nodeType="afterEffect" presetID="9" grpId="20" fill="hold">
                                  <p:stCondLst>
                                    <p:cond delay="0"/>
                                  </p:stCondLst>
                                  <p:iterate type="el" backwards="0">
                                    <p:tmAbs val="0"/>
                                  </p:iterate>
                                  <p:childTnLst>
                                    <p:set>
                                      <p:cBhvr>
                                        <p:cTn id="102" fill="hold"/>
                                        <p:tgtEl>
                                          <p:spTgt spid="414"/>
                                        </p:tgtEl>
                                        <p:attrNameLst>
                                          <p:attrName>style.visibility</p:attrName>
                                        </p:attrNameLst>
                                      </p:cBhvr>
                                      <p:to>
                                        <p:strVal val="visible"/>
                                      </p:to>
                                    </p:set>
                                    <p:animEffect filter="dissolve" transition="in">
                                      <p:cBhvr>
                                        <p:cTn id="103" dur="2000"/>
                                        <p:tgtEl>
                                          <p:spTgt spid="414"/>
                                        </p:tgtEl>
                                      </p:cBhvr>
                                    </p:animEffect>
                                  </p:childTnLst>
                                </p:cTn>
                              </p:par>
                            </p:childTnLst>
                          </p:cTn>
                        </p:par>
                        <p:par>
                          <p:cTn id="104" fill="hold">
                            <p:stCondLst>
                              <p:cond delay="4000"/>
                            </p:stCondLst>
                            <p:childTnLst>
                              <p:par>
                                <p:cTn id="105" presetClass="entr" nodeType="afterEffect" presetID="9" grpId="21" fill="hold">
                                  <p:stCondLst>
                                    <p:cond delay="0"/>
                                  </p:stCondLst>
                                  <p:iterate type="el" backwards="0">
                                    <p:tmAbs val="0"/>
                                  </p:iterate>
                                  <p:childTnLst>
                                    <p:set>
                                      <p:cBhvr>
                                        <p:cTn id="106" fill="hold"/>
                                        <p:tgtEl>
                                          <p:spTgt spid="416"/>
                                        </p:tgtEl>
                                        <p:attrNameLst>
                                          <p:attrName>style.visibility</p:attrName>
                                        </p:attrNameLst>
                                      </p:cBhvr>
                                      <p:to>
                                        <p:strVal val="visible"/>
                                      </p:to>
                                    </p:set>
                                    <p:animEffect filter="dissolve" transition="in">
                                      <p:cBhvr>
                                        <p:cTn id="107" dur="2000"/>
                                        <p:tgtEl>
                                          <p:spTgt spid="416"/>
                                        </p:tgtEl>
                                      </p:cBhvr>
                                    </p:animEffect>
                                  </p:childTnLst>
                                </p:cTn>
                              </p:par>
                            </p:childTnLst>
                          </p:cTn>
                        </p:par>
                        <p:par>
                          <p:cTn id="108" fill="hold">
                            <p:stCondLst>
                              <p:cond delay="6000"/>
                            </p:stCondLst>
                            <p:childTnLst>
                              <p:par>
                                <p:cTn id="109" presetClass="entr" nodeType="afterEffect" presetID="9" grpId="22" fill="hold">
                                  <p:stCondLst>
                                    <p:cond delay="0"/>
                                  </p:stCondLst>
                                  <p:iterate type="el" backwards="0">
                                    <p:tmAbs val="0"/>
                                  </p:iterate>
                                  <p:childTnLst>
                                    <p:set>
                                      <p:cBhvr>
                                        <p:cTn id="110" fill="hold"/>
                                        <p:tgtEl>
                                          <p:spTgt spid="418"/>
                                        </p:tgtEl>
                                        <p:attrNameLst>
                                          <p:attrName>style.visibility</p:attrName>
                                        </p:attrNameLst>
                                      </p:cBhvr>
                                      <p:to>
                                        <p:strVal val="visible"/>
                                      </p:to>
                                    </p:set>
                                    <p:animEffect filter="dissolve" transition="in">
                                      <p:cBhvr>
                                        <p:cTn id="111" dur="2000"/>
                                        <p:tgtEl>
                                          <p:spTgt spid="418"/>
                                        </p:tgtEl>
                                      </p:cBhvr>
                                    </p:animEffect>
                                  </p:childTnLst>
                                </p:cTn>
                              </p:par>
                            </p:childTnLst>
                          </p:cTn>
                        </p:par>
                      </p:childTnLst>
                    </p:cTn>
                  </p:par>
                  <p:par>
                    <p:cTn id="112" fill="hold">
                      <p:stCondLst>
                        <p:cond delay="indefinite"/>
                      </p:stCondLst>
                      <p:childTnLst>
                        <p:par>
                          <p:cTn id="113" fill="hold">
                            <p:stCondLst>
                              <p:cond delay="0"/>
                            </p:stCondLst>
                            <p:childTnLst>
                              <p:par>
                                <p:cTn id="114" presetClass="entr" nodeType="clickEffect" presetSubtype="8" presetID="2" grpId="23" fill="hold">
                                  <p:stCondLst>
                                    <p:cond delay="0"/>
                                  </p:stCondLst>
                                  <p:iterate type="el" backwards="0">
                                    <p:tmAbs val="0"/>
                                  </p:iterate>
                                  <p:childTnLst>
                                    <p:set>
                                      <p:cBhvr>
                                        <p:cTn id="115" fill="hold"/>
                                        <p:tgtEl>
                                          <p:spTgt spid="420"/>
                                        </p:tgtEl>
                                        <p:attrNameLst>
                                          <p:attrName>style.visibility</p:attrName>
                                        </p:attrNameLst>
                                      </p:cBhvr>
                                      <p:to>
                                        <p:strVal val="visible"/>
                                      </p:to>
                                    </p:set>
                                    <p:anim calcmode="lin" valueType="num">
                                      <p:cBhvr>
                                        <p:cTn id="116" dur="1000" fill="hold"/>
                                        <p:tgtEl>
                                          <p:spTgt spid="420"/>
                                        </p:tgtEl>
                                        <p:attrNameLst>
                                          <p:attrName>ppt_x</p:attrName>
                                        </p:attrNameLst>
                                      </p:cBhvr>
                                      <p:tavLst>
                                        <p:tav tm="0">
                                          <p:val>
                                            <p:strVal val="0-#ppt_w/2"/>
                                          </p:val>
                                        </p:tav>
                                        <p:tav tm="100000">
                                          <p:val>
                                            <p:strVal val="#ppt_x"/>
                                          </p:val>
                                        </p:tav>
                                      </p:tavLst>
                                    </p:anim>
                                    <p:anim calcmode="lin" valueType="num">
                                      <p:cBhvr>
                                        <p:cTn id="117" dur="1000" fill="hold"/>
                                        <p:tgtEl>
                                          <p:spTgt spid="420"/>
                                        </p:tgtEl>
                                        <p:attrNameLst>
                                          <p:attrName>ppt_y</p:attrName>
                                        </p:attrNameLst>
                                      </p:cBhvr>
                                      <p:tavLst>
                                        <p:tav tm="0">
                                          <p:val>
                                            <p:strVal val="#ppt_y"/>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Class="entr" nodeType="clickEffect" presetSubtype="8" presetID="2" grpId="24" fill="hold">
                                  <p:stCondLst>
                                    <p:cond delay="0"/>
                                  </p:stCondLst>
                                  <p:iterate type="el" backwards="0">
                                    <p:tmAbs val="0"/>
                                  </p:iterate>
                                  <p:childTnLst>
                                    <p:set>
                                      <p:cBhvr>
                                        <p:cTn id="121" fill="hold"/>
                                        <p:tgtEl>
                                          <p:spTgt spid="421"/>
                                        </p:tgtEl>
                                        <p:attrNameLst>
                                          <p:attrName>style.visibility</p:attrName>
                                        </p:attrNameLst>
                                      </p:cBhvr>
                                      <p:to>
                                        <p:strVal val="visible"/>
                                      </p:to>
                                    </p:set>
                                    <p:anim calcmode="lin" valueType="num">
                                      <p:cBhvr>
                                        <p:cTn id="122" dur="1000" fill="hold"/>
                                        <p:tgtEl>
                                          <p:spTgt spid="421"/>
                                        </p:tgtEl>
                                        <p:attrNameLst>
                                          <p:attrName>ppt_x</p:attrName>
                                        </p:attrNameLst>
                                      </p:cBhvr>
                                      <p:tavLst>
                                        <p:tav tm="0">
                                          <p:val>
                                            <p:strVal val="0-#ppt_w/2"/>
                                          </p:val>
                                        </p:tav>
                                        <p:tav tm="100000">
                                          <p:val>
                                            <p:strVal val="#ppt_x"/>
                                          </p:val>
                                        </p:tav>
                                      </p:tavLst>
                                    </p:anim>
                                    <p:anim calcmode="lin" valueType="num">
                                      <p:cBhvr>
                                        <p:cTn id="123" dur="1000" fill="hold"/>
                                        <p:tgtEl>
                                          <p:spTgt spid="421"/>
                                        </p:tgtEl>
                                        <p:attrNameLst>
                                          <p:attrName>ppt_y</p:attrName>
                                        </p:attrNameLst>
                                      </p:cBhvr>
                                      <p:tavLst>
                                        <p:tav tm="0">
                                          <p:val>
                                            <p:strVal val="#ppt_y"/>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Class="entr" nodeType="clickEffect" presetID="9" grpId="25" fill="hold">
                                  <p:stCondLst>
                                    <p:cond delay="0"/>
                                  </p:stCondLst>
                                  <p:iterate type="el" backwards="0">
                                    <p:tmAbs val="0"/>
                                  </p:iterate>
                                  <p:childTnLst>
                                    <p:set>
                                      <p:cBhvr>
                                        <p:cTn id="127" fill="hold"/>
                                        <p:tgtEl>
                                          <p:spTgt spid="422"/>
                                        </p:tgtEl>
                                        <p:attrNameLst>
                                          <p:attrName>style.visibility</p:attrName>
                                        </p:attrNameLst>
                                      </p:cBhvr>
                                      <p:to>
                                        <p:strVal val="visible"/>
                                      </p:to>
                                    </p:set>
                                    <p:animEffect filter="dissolve" transition="in">
                                      <p:cBhvr>
                                        <p:cTn id="128" dur="2000"/>
                                        <p:tgtEl>
                                          <p:spTgt spid="422"/>
                                        </p:tgtEl>
                                      </p:cBhvr>
                                    </p:animEffect>
                                  </p:childTnLst>
                                </p:cTn>
                              </p:par>
                            </p:childTnLst>
                          </p:cTn>
                        </p:par>
                        <p:par>
                          <p:cTn id="129" fill="hold">
                            <p:stCondLst>
                              <p:cond delay="2000"/>
                            </p:stCondLst>
                            <p:childTnLst>
                              <p:par>
                                <p:cTn id="130" presetClass="entr" nodeType="afterEffect" presetSubtype="8" presetID="2" grpId="26" fill="hold">
                                  <p:stCondLst>
                                    <p:cond delay="0"/>
                                  </p:stCondLst>
                                  <p:iterate type="el" backwards="0">
                                    <p:tmAbs val="0"/>
                                  </p:iterate>
                                  <p:childTnLst>
                                    <p:set>
                                      <p:cBhvr>
                                        <p:cTn id="131" fill="hold"/>
                                        <p:tgtEl>
                                          <p:spTgt spid="424"/>
                                        </p:tgtEl>
                                        <p:attrNameLst>
                                          <p:attrName>style.visibility</p:attrName>
                                        </p:attrNameLst>
                                      </p:cBhvr>
                                      <p:to>
                                        <p:strVal val="visible"/>
                                      </p:to>
                                    </p:set>
                                    <p:anim calcmode="lin" valueType="num">
                                      <p:cBhvr>
                                        <p:cTn id="132" dur="1000" fill="hold"/>
                                        <p:tgtEl>
                                          <p:spTgt spid="424"/>
                                        </p:tgtEl>
                                        <p:attrNameLst>
                                          <p:attrName>ppt_x</p:attrName>
                                        </p:attrNameLst>
                                      </p:cBhvr>
                                      <p:tavLst>
                                        <p:tav tm="0">
                                          <p:val>
                                            <p:strVal val="0-#ppt_w/2"/>
                                          </p:val>
                                        </p:tav>
                                        <p:tav tm="100000">
                                          <p:val>
                                            <p:strVal val="#ppt_x"/>
                                          </p:val>
                                        </p:tav>
                                      </p:tavLst>
                                    </p:anim>
                                    <p:anim calcmode="lin" valueType="num">
                                      <p:cBhvr>
                                        <p:cTn id="133" dur="1000" fill="hold"/>
                                        <p:tgtEl>
                                          <p:spTgt spid="424"/>
                                        </p:tgtEl>
                                        <p:attrNameLst>
                                          <p:attrName>ppt_y</p:attrName>
                                        </p:attrNameLst>
                                      </p:cBhvr>
                                      <p:tavLst>
                                        <p:tav tm="0">
                                          <p:val>
                                            <p:strVal val="#ppt_y"/>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Class="entr" nodeType="clickEffect" presetSubtype="8" presetID="2" grpId="27" fill="hold">
                                  <p:stCondLst>
                                    <p:cond delay="0"/>
                                  </p:stCondLst>
                                  <p:iterate type="el" backwards="0">
                                    <p:tmAbs val="0"/>
                                  </p:iterate>
                                  <p:childTnLst>
                                    <p:set>
                                      <p:cBhvr>
                                        <p:cTn id="137" fill="hold"/>
                                        <p:tgtEl>
                                          <p:spTgt spid="425"/>
                                        </p:tgtEl>
                                        <p:attrNameLst>
                                          <p:attrName>style.visibility</p:attrName>
                                        </p:attrNameLst>
                                      </p:cBhvr>
                                      <p:to>
                                        <p:strVal val="visible"/>
                                      </p:to>
                                    </p:set>
                                    <p:anim calcmode="lin" valueType="num">
                                      <p:cBhvr>
                                        <p:cTn id="138" dur="1000" fill="hold"/>
                                        <p:tgtEl>
                                          <p:spTgt spid="425"/>
                                        </p:tgtEl>
                                        <p:attrNameLst>
                                          <p:attrName>ppt_x</p:attrName>
                                        </p:attrNameLst>
                                      </p:cBhvr>
                                      <p:tavLst>
                                        <p:tav tm="0">
                                          <p:val>
                                            <p:strVal val="0-#ppt_w/2"/>
                                          </p:val>
                                        </p:tav>
                                        <p:tav tm="100000">
                                          <p:val>
                                            <p:strVal val="#ppt_x"/>
                                          </p:val>
                                        </p:tav>
                                      </p:tavLst>
                                    </p:anim>
                                    <p:anim calcmode="lin" valueType="num">
                                      <p:cBhvr>
                                        <p:cTn id="139" dur="1000" fill="hold"/>
                                        <p:tgtEl>
                                          <p:spTgt spid="425"/>
                                        </p:tgtEl>
                                        <p:attrNameLst>
                                          <p:attrName>ppt_y</p:attrName>
                                        </p:attrNameLst>
                                      </p:cBhvr>
                                      <p:tavLst>
                                        <p:tav tm="0">
                                          <p:val>
                                            <p:strVal val="#ppt_y"/>
                                          </p:val>
                                        </p:tav>
                                        <p:tav tm="100000">
                                          <p:val>
                                            <p:strVal val="#ppt_y"/>
                                          </p:val>
                                        </p:tav>
                                      </p:tavLst>
                                    </p:anim>
                                  </p:childTnLst>
                                </p:cTn>
                              </p:par>
                            </p:childTnLst>
                          </p:cTn>
                        </p:par>
                        <p:par>
                          <p:cTn id="140" fill="hold">
                            <p:stCondLst>
                              <p:cond delay="1000"/>
                            </p:stCondLst>
                            <p:childTnLst>
                              <p:par>
                                <p:cTn id="141" presetClass="entr" nodeType="afterEffect" presetID="9" grpId="28" fill="hold">
                                  <p:stCondLst>
                                    <p:cond delay="0"/>
                                  </p:stCondLst>
                                  <p:iterate type="el" backwards="0">
                                    <p:tmAbs val="0"/>
                                  </p:iterate>
                                  <p:childTnLst>
                                    <p:set>
                                      <p:cBhvr>
                                        <p:cTn id="142" fill="hold"/>
                                        <p:tgtEl>
                                          <p:spTgt spid="426"/>
                                        </p:tgtEl>
                                        <p:attrNameLst>
                                          <p:attrName>style.visibility</p:attrName>
                                        </p:attrNameLst>
                                      </p:cBhvr>
                                      <p:to>
                                        <p:strVal val="visible"/>
                                      </p:to>
                                    </p:set>
                                    <p:animEffect filter="dissolve" transition="in">
                                      <p:cBhvr>
                                        <p:cTn id="143" dur="2000"/>
                                        <p:tgtEl>
                                          <p:spTgt spid="426"/>
                                        </p:tgtEl>
                                      </p:cBhvr>
                                    </p:animEffect>
                                  </p:childTnLst>
                                </p:cTn>
                              </p:par>
                            </p:childTnLst>
                          </p:cTn>
                        </p:par>
                        <p:par>
                          <p:cTn id="144" fill="hold">
                            <p:stCondLst>
                              <p:cond delay="3000"/>
                            </p:stCondLst>
                            <p:childTnLst>
                              <p:par>
                                <p:cTn id="145" presetClass="entr" nodeType="afterEffect" presetSubtype="8" presetID="2" grpId="29" fill="hold">
                                  <p:stCondLst>
                                    <p:cond delay="0"/>
                                  </p:stCondLst>
                                  <p:iterate type="el" backwards="0">
                                    <p:tmAbs val="0"/>
                                  </p:iterate>
                                  <p:childTnLst>
                                    <p:set>
                                      <p:cBhvr>
                                        <p:cTn id="146" fill="hold"/>
                                        <p:tgtEl>
                                          <p:spTgt spid="428"/>
                                        </p:tgtEl>
                                        <p:attrNameLst>
                                          <p:attrName>style.visibility</p:attrName>
                                        </p:attrNameLst>
                                      </p:cBhvr>
                                      <p:to>
                                        <p:strVal val="visible"/>
                                      </p:to>
                                    </p:set>
                                    <p:anim calcmode="lin" valueType="num">
                                      <p:cBhvr>
                                        <p:cTn id="147" dur="1000" fill="hold"/>
                                        <p:tgtEl>
                                          <p:spTgt spid="428"/>
                                        </p:tgtEl>
                                        <p:attrNameLst>
                                          <p:attrName>ppt_x</p:attrName>
                                        </p:attrNameLst>
                                      </p:cBhvr>
                                      <p:tavLst>
                                        <p:tav tm="0">
                                          <p:val>
                                            <p:strVal val="0-#ppt_w/2"/>
                                          </p:val>
                                        </p:tav>
                                        <p:tav tm="100000">
                                          <p:val>
                                            <p:strVal val="#ppt_x"/>
                                          </p:val>
                                        </p:tav>
                                      </p:tavLst>
                                    </p:anim>
                                    <p:anim calcmode="lin" valueType="num">
                                      <p:cBhvr>
                                        <p:cTn id="148" dur="1000" fill="hold"/>
                                        <p:tgtEl>
                                          <p:spTgt spid="4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26" grpId="28"/>
      <p:bldP build="whole" bldLvl="1" animBg="1" rev="0" advAuto="0" spid="404" grpId="13"/>
      <p:bldP build="whole" bldLvl="1" animBg="1" rev="0" advAuto="0" spid="409" grpId="17"/>
      <p:bldP build="whole" bldLvl="1" animBg="1" rev="0" advAuto="0" spid="407" grpId="15"/>
      <p:bldP build="whole" bldLvl="1" animBg="1" rev="0" advAuto="0" spid="401" grpId="10"/>
      <p:bldP build="whole" bldLvl="1" animBg="1" rev="0" advAuto="0" spid="399" grpId="7"/>
      <p:bldP build="whole" bldLvl="1" animBg="1" rev="0" advAuto="0" spid="395" grpId="5"/>
      <p:bldP build="whole" bldLvl="1" animBg="1" rev="0" advAuto="0" spid="405" grpId="14"/>
      <p:bldP build="whole" bldLvl="1" animBg="1" rev="0" advAuto="0" spid="416" grpId="21"/>
      <p:bldP build="whole" bldLvl="1" animBg="1" rev="0" advAuto="0" spid="394" grpId="3"/>
      <p:bldP build="whole" bldLvl="1" animBg="1" rev="0" advAuto="0" spid="412" grpId="19"/>
      <p:bldP build="whole" bldLvl="1" animBg="1" rev="0" advAuto="0" spid="414" grpId="20"/>
      <p:bldP build="whole" bldLvl="1" animBg="1" rev="0" advAuto="0" spid="402" grpId="11"/>
      <p:bldP build="whole" bldLvl="1" animBg="1" rev="0" advAuto="0" spid="400" grpId="9"/>
      <p:bldP build="whole" bldLvl="1" animBg="1" rev="0" advAuto="0" spid="418" grpId="22"/>
      <p:bldP build="whole" bldLvl="1" animBg="1" rev="0" advAuto="0" spid="420" grpId="23"/>
      <p:bldP build="whole" bldLvl="1" animBg="1" rev="0" advAuto="0" spid="422" grpId="25"/>
      <p:bldP build="whole" bldLvl="1" animBg="1" rev="0" advAuto="0" spid="393" grpId="4"/>
      <p:bldP build="whole" bldLvl="1" animBg="1" rev="0" advAuto="0" spid="424" grpId="26"/>
      <p:bldP build="whole" bldLvl="1" animBg="1" rev="0" advAuto="0" spid="425" grpId="27"/>
      <p:bldP build="whole" bldLvl="1" animBg="1" rev="0" advAuto="0" spid="408" grpId="16"/>
      <p:bldP build="whole" bldLvl="1" animBg="1" rev="0" advAuto="0" spid="397" grpId="6"/>
      <p:bldP build="whole" bldLvl="1" animBg="1" rev="0" advAuto="0" spid="392" grpId="1"/>
      <p:bldP build="whole" bldLvl="1" animBg="1" rev="0" advAuto="0" spid="410" grpId="18"/>
      <p:bldP build="whole" bldLvl="1" animBg="1" rev="0" advAuto="0" spid="396" grpId="2"/>
      <p:bldP build="whole" bldLvl="1" animBg="1" rev="0" advAuto="0" spid="398" grpId="8"/>
      <p:bldP build="whole" bldLvl="1" animBg="1" rev="0" advAuto="0" spid="403" grpId="12"/>
      <p:bldP build="whole" bldLvl="1" animBg="1" rev="0" advAuto="0" spid="421" grpId="24"/>
      <p:bldP build="whole" bldLvl="1" animBg="1" rev="0" advAuto="0" spid="428" grpId="29"/>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31"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pic>
        <p:nvPicPr>
          <p:cNvPr id="432" name="Captură de ecran din 2024-10-20 la 18.36.09.png" descr="Captură de ecran din 2024-10-20 la 18.36.09.png"/>
          <p:cNvPicPr>
            <a:picLocks noChangeAspect="1"/>
          </p:cNvPicPr>
          <p:nvPr/>
        </p:nvPicPr>
        <p:blipFill>
          <a:blip r:embed="rId2">
            <a:extLst/>
          </a:blip>
          <a:stretch>
            <a:fillRect/>
          </a:stretch>
        </p:blipFill>
        <p:spPr>
          <a:xfrm>
            <a:off x="3011948" y="2931126"/>
            <a:ext cx="18360104" cy="9568785"/>
          </a:xfrm>
          <a:prstGeom prst="rect">
            <a:avLst/>
          </a:prstGeom>
          <a:ln w="12700">
            <a:miter lim="400000"/>
          </a:ln>
        </p:spPr>
      </p:pic>
      <p:sp>
        <p:nvSpPr>
          <p:cNvPr id="433" name="tree_clf = DecisionTreeClassifier(max_depth = 10, min_samples_leaf = 3, max_features=int(math.sqrt(d)), random_state=42)"/>
          <p:cNvSpPr txBox="1"/>
          <p:nvPr/>
        </p:nvSpPr>
        <p:spPr>
          <a:xfrm>
            <a:off x="4098411" y="8198687"/>
            <a:ext cx="17700740" cy="44722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12700">
              <a:lnSpc>
                <a:spcPct val="100000"/>
              </a:lnSpc>
              <a:spcBef>
                <a:spcPts val="0"/>
              </a:spcBef>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solidFill>
                  <a:srgbClr val="111111"/>
                </a:solidFill>
                <a:latin typeface="Arial"/>
                <a:ea typeface="Arial"/>
                <a:cs typeface="Arial"/>
                <a:sym typeface="Arial"/>
              </a:defRPr>
            </a:lvl1pPr>
          </a:lstStyle>
          <a:p>
            <a:pPr/>
            <a:r>
              <a:t>tree_clf = DecisionTreeClassifier(max_depth = 10, min_samples_leaf = 3, max_features=int(math.sqrt(d)), random_state=42)</a:t>
            </a:r>
          </a:p>
        </p:txBody>
      </p:sp>
      <p:pic>
        <p:nvPicPr>
          <p:cNvPr id="434" name="Linie Linie" descr="Linie Linie"/>
          <p:cNvPicPr>
            <a:picLocks noChangeAspect="0"/>
          </p:cNvPicPr>
          <p:nvPr/>
        </p:nvPicPr>
        <p:blipFill>
          <a:blip r:embed="rId3">
            <a:extLst/>
          </a:blip>
          <a:stretch>
            <a:fillRect/>
          </a:stretch>
        </p:blipFill>
        <p:spPr>
          <a:xfrm>
            <a:off x="8311876" y="4740788"/>
            <a:ext cx="3785080" cy="101601"/>
          </a:xfrm>
          <a:prstGeom prst="rect">
            <a:avLst/>
          </a:prstGeom>
        </p:spPr>
      </p:pic>
      <p:pic>
        <p:nvPicPr>
          <p:cNvPr id="436" name="Linie Linie" descr="Linie Linie"/>
          <p:cNvPicPr>
            <a:picLocks noChangeAspect="0"/>
          </p:cNvPicPr>
          <p:nvPr/>
        </p:nvPicPr>
        <p:blipFill>
          <a:blip r:embed="rId4">
            <a:extLst/>
          </a:blip>
          <a:stretch>
            <a:fillRect/>
          </a:stretch>
        </p:blipFill>
        <p:spPr>
          <a:xfrm>
            <a:off x="4054121" y="8657328"/>
            <a:ext cx="17185416" cy="101601"/>
          </a:xfrm>
          <a:prstGeom prst="rect">
            <a:avLst/>
          </a:prstGeom>
        </p:spPr>
      </p:pic>
      <p:pic>
        <p:nvPicPr>
          <p:cNvPr id="438" name="Linie Linie" descr="Linie Linie"/>
          <p:cNvPicPr>
            <a:picLocks noChangeAspect="0"/>
          </p:cNvPicPr>
          <p:nvPr/>
        </p:nvPicPr>
        <p:blipFill>
          <a:blip r:embed="rId5">
            <a:extLst/>
          </a:blip>
          <a:stretch>
            <a:fillRect/>
          </a:stretch>
        </p:blipFill>
        <p:spPr>
          <a:xfrm>
            <a:off x="4026323" y="10831828"/>
            <a:ext cx="5152475" cy="101601"/>
          </a:xfrm>
          <a:prstGeom prst="rect">
            <a:avLst/>
          </a:prstGeom>
        </p:spPr>
      </p:pic>
      <p:pic>
        <p:nvPicPr>
          <p:cNvPr id="440" name="Linie Linie" descr="Linie Linie"/>
          <p:cNvPicPr>
            <a:picLocks noChangeAspect="0"/>
          </p:cNvPicPr>
          <p:nvPr/>
        </p:nvPicPr>
        <p:blipFill>
          <a:blip r:embed="rId6">
            <a:extLst/>
          </a:blip>
          <a:stretch>
            <a:fillRect/>
          </a:stretch>
        </p:blipFill>
        <p:spPr>
          <a:xfrm>
            <a:off x="4026323" y="12002213"/>
            <a:ext cx="5525533" cy="101601"/>
          </a:xfrm>
          <a:prstGeom prst="rect">
            <a:avLst/>
          </a:prstGeom>
        </p:spPr>
      </p:pic>
      <p:pic>
        <p:nvPicPr>
          <p:cNvPr id="442" name="Linie Linie" descr="Linie Linie"/>
          <p:cNvPicPr>
            <a:picLocks noChangeAspect="0"/>
          </p:cNvPicPr>
          <p:nvPr/>
        </p:nvPicPr>
        <p:blipFill>
          <a:blip r:embed="rId7">
            <a:extLst/>
          </a:blip>
          <a:stretch>
            <a:fillRect/>
          </a:stretch>
        </p:blipFill>
        <p:spPr>
          <a:xfrm>
            <a:off x="9133294" y="10831828"/>
            <a:ext cx="5152475" cy="101601"/>
          </a:xfrm>
          <a:prstGeom prst="rect">
            <a:avLst/>
          </a:prstGeom>
        </p:spPr>
      </p:pic>
      <p:pic>
        <p:nvPicPr>
          <p:cNvPr id="444" name="Linie Linie" descr="Linie Linie"/>
          <p:cNvPicPr>
            <a:picLocks noChangeAspect="0"/>
          </p:cNvPicPr>
          <p:nvPr/>
        </p:nvPicPr>
        <p:blipFill>
          <a:blip r:embed="rId8">
            <a:extLst/>
          </a:blip>
          <a:stretch>
            <a:fillRect/>
          </a:stretch>
        </p:blipFill>
        <p:spPr>
          <a:xfrm>
            <a:off x="9615762" y="12002213"/>
            <a:ext cx="3362361" cy="101601"/>
          </a:xfrm>
          <a:prstGeom prst="rect">
            <a:avLst/>
          </a:prstGeom>
        </p:spPr>
      </p:pic>
      <p:pic>
        <p:nvPicPr>
          <p:cNvPr id="446" name="Linie Linie" descr="Linie Linie"/>
          <p:cNvPicPr>
            <a:picLocks noChangeAspect="0"/>
          </p:cNvPicPr>
          <p:nvPr/>
        </p:nvPicPr>
        <p:blipFill>
          <a:blip r:embed="rId9">
            <a:extLst/>
          </a:blip>
          <a:stretch>
            <a:fillRect/>
          </a:stretch>
        </p:blipFill>
        <p:spPr>
          <a:xfrm>
            <a:off x="14676756" y="10831828"/>
            <a:ext cx="5843197" cy="101601"/>
          </a:xfrm>
          <a:prstGeom prst="rect">
            <a:avLst/>
          </a:prstGeom>
        </p:spPr>
      </p:pic>
      <p:pic>
        <p:nvPicPr>
          <p:cNvPr id="448" name="Linie Linie" descr="Linie Linie"/>
          <p:cNvPicPr>
            <a:picLocks noChangeAspect="0"/>
          </p:cNvPicPr>
          <p:nvPr/>
        </p:nvPicPr>
        <p:blipFill>
          <a:blip r:embed="rId10">
            <a:extLst/>
          </a:blip>
          <a:stretch>
            <a:fillRect/>
          </a:stretch>
        </p:blipFill>
        <p:spPr>
          <a:xfrm>
            <a:off x="12938748" y="12002213"/>
            <a:ext cx="4574379" cy="101601"/>
          </a:xfrm>
          <a:prstGeom prst="rect">
            <a:avLst/>
          </a:prstGeom>
        </p:spPr>
      </p:pic>
      <p:sp>
        <p:nvSpPr>
          <p:cNvPr id="450" name="cât de important e fiecare feature"/>
          <p:cNvSpPr txBox="1"/>
          <p:nvPr/>
        </p:nvSpPr>
        <p:spPr>
          <a:xfrm>
            <a:off x="4336498" y="12191444"/>
            <a:ext cx="4638752" cy="55575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400">
                <a:solidFill>
                  <a:schemeClr val="accent3"/>
                </a:solidFill>
              </a:defRPr>
            </a:lvl1pPr>
          </a:lstStyle>
          <a:p>
            <a:pPr/>
            <a:r>
              <a:t>cât de important e fiecare feature</a:t>
            </a:r>
          </a:p>
        </p:txBody>
      </p:sp>
      <p:sp>
        <p:nvSpPr>
          <p:cNvPr id="451" name="acuratețea"/>
          <p:cNvSpPr txBox="1"/>
          <p:nvPr/>
        </p:nvSpPr>
        <p:spPr>
          <a:xfrm>
            <a:off x="10510405" y="12191444"/>
            <a:ext cx="1573074" cy="55575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400">
                <a:solidFill>
                  <a:schemeClr val="accent4"/>
                </a:solidFill>
              </a:defRPr>
            </a:lvl1pPr>
          </a:lstStyle>
          <a:p>
            <a:pPr/>
            <a:r>
              <a:t>acuratețea</a:t>
            </a:r>
          </a:p>
        </p:txBody>
      </p:sp>
      <p:sp>
        <p:nvSpPr>
          <p:cNvPr id="452" name="predicția pe al 5-lea exemplar din setul de test"/>
          <p:cNvSpPr txBox="1"/>
          <p:nvPr/>
        </p:nvSpPr>
        <p:spPr>
          <a:xfrm>
            <a:off x="13355556" y="12191444"/>
            <a:ext cx="6297779" cy="55575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400">
                <a:solidFill>
                  <a:schemeClr val="accent6"/>
                </a:solidFill>
              </a:defRPr>
            </a:lvl1pPr>
          </a:lstStyle>
          <a:p>
            <a:pPr/>
            <a:r>
              <a:t>predicția pe al 5-lea exemplar din setul de test </a:t>
            </a: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438"/>
                                        </p:tgtEl>
                                        <p:attrNameLst>
                                          <p:attrName>style.visibility</p:attrName>
                                        </p:attrNameLst>
                                      </p:cBhvr>
                                      <p:to>
                                        <p:strVal val="visible"/>
                                      </p:to>
                                    </p:set>
                                    <p:animEffect filter="dissolve" transition="in">
                                      <p:cBhvr>
                                        <p:cTn id="7" dur="2000"/>
                                        <p:tgtEl>
                                          <p:spTgt spid="438"/>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440"/>
                                        </p:tgtEl>
                                        <p:attrNameLst>
                                          <p:attrName>style.visibility</p:attrName>
                                        </p:attrNameLst>
                                      </p:cBhvr>
                                      <p:to>
                                        <p:strVal val="visible"/>
                                      </p:to>
                                    </p:set>
                                    <p:animEffect filter="dissolve" transition="in">
                                      <p:cBhvr>
                                        <p:cTn id="11" dur="2000"/>
                                        <p:tgtEl>
                                          <p:spTgt spid="440"/>
                                        </p:tgtEl>
                                      </p:cBhvr>
                                    </p:animEffect>
                                  </p:childTnLst>
                                </p:cTn>
                              </p:par>
                            </p:childTnLst>
                          </p:cTn>
                        </p:par>
                        <p:par>
                          <p:cTn id="12" fill="hold">
                            <p:stCondLst>
                              <p:cond delay="4000"/>
                            </p:stCondLst>
                            <p:childTnLst>
                              <p:par>
                                <p:cTn id="13" presetClass="entr" nodeType="afterEffect" presetSubtype="8" presetID="2" grpId="3" fill="hold">
                                  <p:stCondLst>
                                    <p:cond delay="0"/>
                                  </p:stCondLst>
                                  <p:iterate type="el" backwards="0">
                                    <p:tmAbs val="0"/>
                                  </p:iterate>
                                  <p:childTnLst>
                                    <p:set>
                                      <p:cBhvr>
                                        <p:cTn id="14" fill="hold"/>
                                        <p:tgtEl>
                                          <p:spTgt spid="450"/>
                                        </p:tgtEl>
                                        <p:attrNameLst>
                                          <p:attrName>style.visibility</p:attrName>
                                        </p:attrNameLst>
                                      </p:cBhvr>
                                      <p:to>
                                        <p:strVal val="visible"/>
                                      </p:to>
                                    </p:set>
                                    <p:anim calcmode="lin" valueType="num">
                                      <p:cBhvr>
                                        <p:cTn id="15" dur="1000" fill="hold"/>
                                        <p:tgtEl>
                                          <p:spTgt spid="450"/>
                                        </p:tgtEl>
                                        <p:attrNameLst>
                                          <p:attrName>ppt_x</p:attrName>
                                        </p:attrNameLst>
                                      </p:cBhvr>
                                      <p:tavLst>
                                        <p:tav tm="0">
                                          <p:val>
                                            <p:strVal val="0-#ppt_w/2"/>
                                          </p:val>
                                        </p:tav>
                                        <p:tav tm="100000">
                                          <p:val>
                                            <p:strVal val="#ppt_x"/>
                                          </p:val>
                                        </p:tav>
                                      </p:tavLst>
                                    </p:anim>
                                    <p:anim calcmode="lin" valueType="num">
                                      <p:cBhvr>
                                        <p:cTn id="16" dur="1000" fill="hold"/>
                                        <p:tgtEl>
                                          <p:spTgt spid="450"/>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Class="entr" nodeType="clickEffect" presetID="9" grpId="4" fill="hold">
                                  <p:stCondLst>
                                    <p:cond delay="0"/>
                                  </p:stCondLst>
                                  <p:iterate type="el" backwards="0">
                                    <p:tmAbs val="0"/>
                                  </p:iterate>
                                  <p:childTnLst>
                                    <p:set>
                                      <p:cBhvr>
                                        <p:cTn id="20" fill="hold"/>
                                        <p:tgtEl>
                                          <p:spTgt spid="442"/>
                                        </p:tgtEl>
                                        <p:attrNameLst>
                                          <p:attrName>style.visibility</p:attrName>
                                        </p:attrNameLst>
                                      </p:cBhvr>
                                      <p:to>
                                        <p:strVal val="visible"/>
                                      </p:to>
                                    </p:set>
                                    <p:animEffect filter="dissolve" transition="in">
                                      <p:cBhvr>
                                        <p:cTn id="21" dur="2000"/>
                                        <p:tgtEl>
                                          <p:spTgt spid="442"/>
                                        </p:tgtEl>
                                      </p:cBhvr>
                                    </p:animEffect>
                                  </p:childTnLst>
                                </p:cTn>
                              </p:par>
                            </p:childTnLst>
                          </p:cTn>
                        </p:par>
                        <p:par>
                          <p:cTn id="22" fill="hold">
                            <p:stCondLst>
                              <p:cond delay="2000"/>
                            </p:stCondLst>
                            <p:childTnLst>
                              <p:par>
                                <p:cTn id="23" presetClass="entr" nodeType="afterEffect" presetID="9" grpId="5" fill="hold">
                                  <p:stCondLst>
                                    <p:cond delay="0"/>
                                  </p:stCondLst>
                                  <p:iterate type="el" backwards="0">
                                    <p:tmAbs val="0"/>
                                  </p:iterate>
                                  <p:childTnLst>
                                    <p:set>
                                      <p:cBhvr>
                                        <p:cTn id="24" fill="hold"/>
                                        <p:tgtEl>
                                          <p:spTgt spid="444"/>
                                        </p:tgtEl>
                                        <p:attrNameLst>
                                          <p:attrName>style.visibility</p:attrName>
                                        </p:attrNameLst>
                                      </p:cBhvr>
                                      <p:to>
                                        <p:strVal val="visible"/>
                                      </p:to>
                                    </p:set>
                                    <p:animEffect filter="dissolve" transition="in">
                                      <p:cBhvr>
                                        <p:cTn id="25" dur="2000"/>
                                        <p:tgtEl>
                                          <p:spTgt spid="444"/>
                                        </p:tgtEl>
                                      </p:cBhvr>
                                    </p:animEffect>
                                  </p:childTnLst>
                                </p:cTn>
                              </p:par>
                            </p:childTnLst>
                          </p:cTn>
                        </p:par>
                        <p:par>
                          <p:cTn id="26" fill="hold">
                            <p:stCondLst>
                              <p:cond delay="4000"/>
                            </p:stCondLst>
                            <p:childTnLst>
                              <p:par>
                                <p:cTn id="27" presetClass="entr" nodeType="afterEffect" presetSubtype="8" presetID="2" grpId="6" fill="hold">
                                  <p:stCondLst>
                                    <p:cond delay="0"/>
                                  </p:stCondLst>
                                  <p:iterate type="el" backwards="0">
                                    <p:tmAbs val="0"/>
                                  </p:iterate>
                                  <p:childTnLst>
                                    <p:set>
                                      <p:cBhvr>
                                        <p:cTn id="28" fill="hold"/>
                                        <p:tgtEl>
                                          <p:spTgt spid="451"/>
                                        </p:tgtEl>
                                        <p:attrNameLst>
                                          <p:attrName>style.visibility</p:attrName>
                                        </p:attrNameLst>
                                      </p:cBhvr>
                                      <p:to>
                                        <p:strVal val="visible"/>
                                      </p:to>
                                    </p:set>
                                    <p:anim calcmode="lin" valueType="num">
                                      <p:cBhvr>
                                        <p:cTn id="29" dur="1000" fill="hold"/>
                                        <p:tgtEl>
                                          <p:spTgt spid="451"/>
                                        </p:tgtEl>
                                        <p:attrNameLst>
                                          <p:attrName>ppt_x</p:attrName>
                                        </p:attrNameLst>
                                      </p:cBhvr>
                                      <p:tavLst>
                                        <p:tav tm="0">
                                          <p:val>
                                            <p:strVal val="0-#ppt_w/2"/>
                                          </p:val>
                                        </p:tav>
                                        <p:tav tm="100000">
                                          <p:val>
                                            <p:strVal val="#ppt_x"/>
                                          </p:val>
                                        </p:tav>
                                      </p:tavLst>
                                    </p:anim>
                                    <p:anim calcmode="lin" valueType="num">
                                      <p:cBhvr>
                                        <p:cTn id="30" dur="1000" fill="hold"/>
                                        <p:tgtEl>
                                          <p:spTgt spid="451"/>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Class="entr" nodeType="clickEffect" presetID="9" grpId="7" fill="hold">
                                  <p:stCondLst>
                                    <p:cond delay="0"/>
                                  </p:stCondLst>
                                  <p:iterate type="el" backwards="0">
                                    <p:tmAbs val="0"/>
                                  </p:iterate>
                                  <p:childTnLst>
                                    <p:set>
                                      <p:cBhvr>
                                        <p:cTn id="34" fill="hold"/>
                                        <p:tgtEl>
                                          <p:spTgt spid="446"/>
                                        </p:tgtEl>
                                        <p:attrNameLst>
                                          <p:attrName>style.visibility</p:attrName>
                                        </p:attrNameLst>
                                      </p:cBhvr>
                                      <p:to>
                                        <p:strVal val="visible"/>
                                      </p:to>
                                    </p:set>
                                    <p:animEffect filter="dissolve" transition="in">
                                      <p:cBhvr>
                                        <p:cTn id="35" dur="2000"/>
                                        <p:tgtEl>
                                          <p:spTgt spid="446"/>
                                        </p:tgtEl>
                                      </p:cBhvr>
                                    </p:animEffect>
                                  </p:childTnLst>
                                </p:cTn>
                              </p:par>
                            </p:childTnLst>
                          </p:cTn>
                        </p:par>
                        <p:par>
                          <p:cTn id="36" fill="hold">
                            <p:stCondLst>
                              <p:cond delay="2000"/>
                            </p:stCondLst>
                            <p:childTnLst>
                              <p:par>
                                <p:cTn id="37" presetClass="entr" nodeType="afterEffect" presetID="9" grpId="8" fill="hold">
                                  <p:stCondLst>
                                    <p:cond delay="0"/>
                                  </p:stCondLst>
                                  <p:iterate type="el" backwards="0">
                                    <p:tmAbs val="0"/>
                                  </p:iterate>
                                  <p:childTnLst>
                                    <p:set>
                                      <p:cBhvr>
                                        <p:cTn id="38" fill="hold"/>
                                        <p:tgtEl>
                                          <p:spTgt spid="448"/>
                                        </p:tgtEl>
                                        <p:attrNameLst>
                                          <p:attrName>style.visibility</p:attrName>
                                        </p:attrNameLst>
                                      </p:cBhvr>
                                      <p:to>
                                        <p:strVal val="visible"/>
                                      </p:to>
                                    </p:set>
                                    <p:animEffect filter="dissolve" transition="in">
                                      <p:cBhvr>
                                        <p:cTn id="39" dur="2000"/>
                                        <p:tgtEl>
                                          <p:spTgt spid="448"/>
                                        </p:tgtEl>
                                      </p:cBhvr>
                                    </p:animEffect>
                                  </p:childTnLst>
                                </p:cTn>
                              </p:par>
                            </p:childTnLst>
                          </p:cTn>
                        </p:par>
                        <p:par>
                          <p:cTn id="40" fill="hold">
                            <p:stCondLst>
                              <p:cond delay="4000"/>
                            </p:stCondLst>
                            <p:childTnLst>
                              <p:par>
                                <p:cTn id="41" presetClass="entr" nodeType="afterEffect" presetSubtype="8" presetID="2" grpId="9" fill="hold">
                                  <p:stCondLst>
                                    <p:cond delay="0"/>
                                  </p:stCondLst>
                                  <p:iterate type="el" backwards="0">
                                    <p:tmAbs val="0"/>
                                  </p:iterate>
                                  <p:childTnLst>
                                    <p:set>
                                      <p:cBhvr>
                                        <p:cTn id="42" fill="hold"/>
                                        <p:tgtEl>
                                          <p:spTgt spid="452"/>
                                        </p:tgtEl>
                                        <p:attrNameLst>
                                          <p:attrName>style.visibility</p:attrName>
                                        </p:attrNameLst>
                                      </p:cBhvr>
                                      <p:to>
                                        <p:strVal val="visible"/>
                                      </p:to>
                                    </p:set>
                                    <p:anim calcmode="lin" valueType="num">
                                      <p:cBhvr>
                                        <p:cTn id="43" dur="1000" fill="hold"/>
                                        <p:tgtEl>
                                          <p:spTgt spid="452"/>
                                        </p:tgtEl>
                                        <p:attrNameLst>
                                          <p:attrName>ppt_x</p:attrName>
                                        </p:attrNameLst>
                                      </p:cBhvr>
                                      <p:tavLst>
                                        <p:tav tm="0">
                                          <p:val>
                                            <p:strVal val="0-#ppt_w/2"/>
                                          </p:val>
                                        </p:tav>
                                        <p:tav tm="100000">
                                          <p:val>
                                            <p:strVal val="#ppt_x"/>
                                          </p:val>
                                        </p:tav>
                                      </p:tavLst>
                                    </p:anim>
                                    <p:anim calcmode="lin" valueType="num">
                                      <p:cBhvr>
                                        <p:cTn id="44" dur="1000" fill="hold"/>
                                        <p:tgtEl>
                                          <p:spTgt spid="4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50" grpId="3"/>
      <p:bldP build="whole" bldLvl="1" animBg="1" rev="0" advAuto="0" spid="440" grpId="2"/>
      <p:bldP build="whole" bldLvl="1" animBg="1" rev="0" advAuto="0" spid="452" grpId="9"/>
      <p:bldP build="whole" bldLvl="1" animBg="1" rev="0" advAuto="0" spid="438" grpId="1"/>
      <p:bldP build="whole" bldLvl="1" animBg="1" rev="0" advAuto="0" spid="451" grpId="6"/>
      <p:bldP build="whole" bldLvl="1" animBg="1" rev="0" advAuto="0" spid="446" grpId="7"/>
      <p:bldP build="whole" bldLvl="1" animBg="1" rev="0" advAuto="0" spid="442" grpId="4"/>
      <p:bldP build="whole" bldLvl="1" animBg="1" rev="0" advAuto="0" spid="444" grpId="5"/>
      <p:bldP build="whole" bldLvl="1" animBg="1" rev="0" advAuto="0" spid="448" grpId="8"/>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4"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5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56"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sp>
        <p:nvSpPr>
          <p:cNvPr id="457" name="În general, sunt două tipuri mari și late:"/>
          <p:cNvSpPr txBox="1"/>
          <p:nvPr>
            <p:ph type="body" sz="quarter" idx="1"/>
          </p:nvPr>
        </p:nvSpPr>
        <p:spPr>
          <a:xfrm>
            <a:off x="1687402" y="4009347"/>
            <a:ext cx="21948579" cy="2006602"/>
          </a:xfrm>
          <a:prstGeom prst="rect">
            <a:avLst/>
          </a:prstGeom>
        </p:spPr>
        <p:txBody>
          <a:bodyPr/>
          <a:lstStyle/>
          <a:p>
            <a:pPr/>
            <a:r>
              <a:t>Pe lângă clasificare, arborii de decizie funcționează și la regresie.</a:t>
            </a:r>
          </a:p>
        </p:txBody>
      </p:sp>
      <p:pic>
        <p:nvPicPr>
          <p:cNvPr id="458" name="Linie Linie" descr="Linie Linie"/>
          <p:cNvPicPr>
            <a:picLocks noChangeAspect="0"/>
          </p:cNvPicPr>
          <p:nvPr/>
        </p:nvPicPr>
        <p:blipFill>
          <a:blip r:embed="rId2">
            <a:extLst/>
          </a:blip>
          <a:stretch>
            <a:fillRect/>
          </a:stretch>
        </p:blipFill>
        <p:spPr>
          <a:xfrm>
            <a:off x="16394924" y="4961848"/>
            <a:ext cx="2468381" cy="101601"/>
          </a:xfrm>
          <a:prstGeom prst="rect">
            <a:avLst/>
          </a:prstGeom>
        </p:spPr>
      </p:pic>
      <p:sp>
        <p:nvSpPr>
          <p:cNvPr id="460" name="În general, sunt două tipuri mari și late:"/>
          <p:cNvSpPr txBox="1"/>
          <p:nvPr/>
        </p:nvSpPr>
        <p:spPr>
          <a:xfrm>
            <a:off x="1687402" y="5465662"/>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Diferența stă în două aspecte:</a:t>
            </a:r>
          </a:p>
        </p:txBody>
      </p:sp>
      <p:sp>
        <p:nvSpPr>
          <p:cNvPr id="461" name="În general, sunt două tipuri mari și late:"/>
          <p:cNvSpPr txBox="1"/>
          <p:nvPr/>
        </p:nvSpPr>
        <p:spPr>
          <a:xfrm>
            <a:off x="2241552" y="7460349"/>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se minimizează eroarea medie pătratică în loc de impuritatea gini;</a:t>
            </a:r>
          </a:p>
        </p:txBody>
      </p:sp>
      <p:sp>
        <p:nvSpPr>
          <p:cNvPr id="462" name="În general, sunt două tipuri mari și late:"/>
          <p:cNvSpPr txBox="1"/>
          <p:nvPr/>
        </p:nvSpPr>
        <p:spPr>
          <a:xfrm>
            <a:off x="2241552" y="6228438"/>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valoarea prezisă într-o regiune este media valorilor punctelor din acea regiune.</a:t>
            </a:r>
          </a:p>
        </p:txBody>
      </p:sp>
      <p:pic>
        <p:nvPicPr>
          <p:cNvPr id="463" name="Linie Linie" descr="Linie Linie"/>
          <p:cNvPicPr>
            <a:picLocks noChangeAspect="0"/>
          </p:cNvPicPr>
          <p:nvPr/>
        </p:nvPicPr>
        <p:blipFill>
          <a:blip r:embed="rId3">
            <a:extLst/>
          </a:blip>
          <a:stretch>
            <a:fillRect/>
          </a:stretch>
        </p:blipFill>
        <p:spPr>
          <a:xfrm>
            <a:off x="6819910" y="8412849"/>
            <a:ext cx="6422509" cy="101601"/>
          </a:xfrm>
          <a:prstGeom prst="rect">
            <a:avLst/>
          </a:prstGeom>
        </p:spPr>
      </p:pic>
      <p:pic>
        <p:nvPicPr>
          <p:cNvPr id="465" name="Linie Linie" descr="Linie Linie"/>
          <p:cNvPicPr>
            <a:picLocks noChangeAspect="0"/>
          </p:cNvPicPr>
          <p:nvPr/>
        </p:nvPicPr>
        <p:blipFill>
          <a:blip r:embed="rId4">
            <a:extLst/>
          </a:blip>
          <a:stretch>
            <a:fillRect/>
          </a:stretch>
        </p:blipFill>
        <p:spPr>
          <a:xfrm>
            <a:off x="11966561" y="7163599"/>
            <a:ext cx="10888615" cy="101601"/>
          </a:xfrm>
          <a:prstGeom prst="rect">
            <a:avLst/>
          </a:prstGeom>
        </p:spPr>
      </p:pic>
      <p:sp>
        <p:nvSpPr>
          <p:cNvPr id="467" name="În general, sunt două tipuri mari și late:"/>
          <p:cNvSpPr txBox="1"/>
          <p:nvPr/>
        </p:nvSpPr>
        <p:spPr>
          <a:xfrm>
            <a:off x="2241552" y="8692259"/>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546100" indent="-546100">
              <a:buSzPct val="150000"/>
              <a:buChar char="•"/>
              <a:defRPr>
                <a:latin typeface="Canela Text Regular"/>
                <a:ea typeface="Canela Text Regular"/>
                <a:cs typeface="Canela Text Regular"/>
                <a:sym typeface="Canela Text Regular"/>
              </a:defRPr>
            </a:lvl1pPr>
          </a:lstStyle>
          <a:p>
            <a:pPr/>
            <a:r>
              <a:t>eroarea pătratică se calculează între toate punctele și valoarea medie, în final realizându-se o medie a erorilor pentru a obține eroare medie pe o anumită regiune.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457"/>
                                        </p:tgtEl>
                                        <p:attrNameLst>
                                          <p:attrName>style.visibility</p:attrName>
                                        </p:attrNameLst>
                                      </p:cBhvr>
                                      <p:to>
                                        <p:strVal val="visible"/>
                                      </p:to>
                                    </p:set>
                                    <p:anim calcmode="lin" valueType="num">
                                      <p:cBhvr>
                                        <p:cTn id="7" dur="1000" fill="hold"/>
                                        <p:tgtEl>
                                          <p:spTgt spid="457"/>
                                        </p:tgtEl>
                                        <p:attrNameLst>
                                          <p:attrName>ppt_x</p:attrName>
                                        </p:attrNameLst>
                                      </p:cBhvr>
                                      <p:tavLst>
                                        <p:tav tm="0">
                                          <p:val>
                                            <p:strVal val="0-#ppt_w/2"/>
                                          </p:val>
                                        </p:tav>
                                        <p:tav tm="100000">
                                          <p:val>
                                            <p:strVal val="#ppt_x"/>
                                          </p:val>
                                        </p:tav>
                                      </p:tavLst>
                                    </p:anim>
                                    <p:anim calcmode="lin" valueType="num">
                                      <p:cBhvr>
                                        <p:cTn id="8" dur="1000" fill="hold"/>
                                        <p:tgtEl>
                                          <p:spTgt spid="457"/>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458"/>
                                        </p:tgtEl>
                                        <p:attrNameLst>
                                          <p:attrName>style.visibility</p:attrName>
                                        </p:attrNameLst>
                                      </p:cBhvr>
                                      <p:to>
                                        <p:strVal val="visible"/>
                                      </p:to>
                                    </p:set>
                                    <p:animEffect filter="dissolve" transition="in">
                                      <p:cBhvr>
                                        <p:cTn id="12" dur="2000"/>
                                        <p:tgtEl>
                                          <p:spTgt spid="458"/>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 grpId="3" fill="hold">
                                  <p:stCondLst>
                                    <p:cond delay="0"/>
                                  </p:stCondLst>
                                  <p:iterate type="el" backwards="0">
                                    <p:tmAbs val="0"/>
                                  </p:iterate>
                                  <p:childTnLst>
                                    <p:set>
                                      <p:cBhvr>
                                        <p:cTn id="16" fill="hold"/>
                                        <p:tgtEl>
                                          <p:spTgt spid="460"/>
                                        </p:tgtEl>
                                        <p:attrNameLst>
                                          <p:attrName>style.visibility</p:attrName>
                                        </p:attrNameLst>
                                      </p:cBhvr>
                                      <p:to>
                                        <p:strVal val="visible"/>
                                      </p:to>
                                    </p:set>
                                    <p:anim calcmode="lin" valueType="num">
                                      <p:cBhvr>
                                        <p:cTn id="17" dur="1000" fill="hold"/>
                                        <p:tgtEl>
                                          <p:spTgt spid="460"/>
                                        </p:tgtEl>
                                        <p:attrNameLst>
                                          <p:attrName>ppt_x</p:attrName>
                                        </p:attrNameLst>
                                      </p:cBhvr>
                                      <p:tavLst>
                                        <p:tav tm="0">
                                          <p:val>
                                            <p:strVal val="0-#ppt_w/2"/>
                                          </p:val>
                                        </p:tav>
                                        <p:tav tm="100000">
                                          <p:val>
                                            <p:strVal val="#ppt_x"/>
                                          </p:val>
                                        </p:tav>
                                      </p:tavLst>
                                    </p:anim>
                                    <p:anim calcmode="lin" valueType="num">
                                      <p:cBhvr>
                                        <p:cTn id="18" dur="1000" fill="hold"/>
                                        <p:tgtEl>
                                          <p:spTgt spid="46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 grpId="4" fill="hold">
                                  <p:stCondLst>
                                    <p:cond delay="0"/>
                                  </p:stCondLst>
                                  <p:iterate type="el" backwards="0">
                                    <p:tmAbs val="0"/>
                                  </p:iterate>
                                  <p:childTnLst>
                                    <p:set>
                                      <p:cBhvr>
                                        <p:cTn id="22" fill="hold"/>
                                        <p:tgtEl>
                                          <p:spTgt spid="462"/>
                                        </p:tgtEl>
                                        <p:attrNameLst>
                                          <p:attrName>style.visibility</p:attrName>
                                        </p:attrNameLst>
                                      </p:cBhvr>
                                      <p:to>
                                        <p:strVal val="visible"/>
                                      </p:to>
                                    </p:set>
                                    <p:anim calcmode="lin" valueType="num">
                                      <p:cBhvr>
                                        <p:cTn id="23" dur="1000" fill="hold"/>
                                        <p:tgtEl>
                                          <p:spTgt spid="462"/>
                                        </p:tgtEl>
                                        <p:attrNameLst>
                                          <p:attrName>ppt_x</p:attrName>
                                        </p:attrNameLst>
                                      </p:cBhvr>
                                      <p:tavLst>
                                        <p:tav tm="0">
                                          <p:val>
                                            <p:strVal val="0-#ppt_w/2"/>
                                          </p:val>
                                        </p:tav>
                                        <p:tav tm="100000">
                                          <p:val>
                                            <p:strVal val="#ppt_x"/>
                                          </p:val>
                                        </p:tav>
                                      </p:tavLst>
                                    </p:anim>
                                    <p:anim calcmode="lin" valueType="num">
                                      <p:cBhvr>
                                        <p:cTn id="24" dur="1000" fill="hold"/>
                                        <p:tgtEl>
                                          <p:spTgt spid="462"/>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Class="entr" nodeType="afterEffect" presetID="9" grpId="5" fill="hold">
                                  <p:stCondLst>
                                    <p:cond delay="0"/>
                                  </p:stCondLst>
                                  <p:iterate type="el" backwards="0">
                                    <p:tmAbs val="0"/>
                                  </p:iterate>
                                  <p:childTnLst>
                                    <p:set>
                                      <p:cBhvr>
                                        <p:cTn id="27" fill="hold"/>
                                        <p:tgtEl>
                                          <p:spTgt spid="465"/>
                                        </p:tgtEl>
                                        <p:attrNameLst>
                                          <p:attrName>style.visibility</p:attrName>
                                        </p:attrNameLst>
                                      </p:cBhvr>
                                      <p:to>
                                        <p:strVal val="visible"/>
                                      </p:to>
                                    </p:set>
                                    <p:animEffect filter="dissolve" transition="in">
                                      <p:cBhvr>
                                        <p:cTn id="28" dur="2000"/>
                                        <p:tgtEl>
                                          <p:spTgt spid="465"/>
                                        </p:tgtEl>
                                      </p:cBhvr>
                                    </p:animEffec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8" presetID="2" grpId="6" fill="hold">
                                  <p:stCondLst>
                                    <p:cond delay="0"/>
                                  </p:stCondLst>
                                  <p:iterate type="el" backwards="0">
                                    <p:tmAbs val="0"/>
                                  </p:iterate>
                                  <p:childTnLst>
                                    <p:set>
                                      <p:cBhvr>
                                        <p:cTn id="32" fill="hold"/>
                                        <p:tgtEl>
                                          <p:spTgt spid="461"/>
                                        </p:tgtEl>
                                        <p:attrNameLst>
                                          <p:attrName>style.visibility</p:attrName>
                                        </p:attrNameLst>
                                      </p:cBhvr>
                                      <p:to>
                                        <p:strVal val="visible"/>
                                      </p:to>
                                    </p:set>
                                    <p:anim calcmode="lin" valueType="num">
                                      <p:cBhvr>
                                        <p:cTn id="33" dur="1000" fill="hold"/>
                                        <p:tgtEl>
                                          <p:spTgt spid="461"/>
                                        </p:tgtEl>
                                        <p:attrNameLst>
                                          <p:attrName>ppt_x</p:attrName>
                                        </p:attrNameLst>
                                      </p:cBhvr>
                                      <p:tavLst>
                                        <p:tav tm="0">
                                          <p:val>
                                            <p:strVal val="0-#ppt_w/2"/>
                                          </p:val>
                                        </p:tav>
                                        <p:tav tm="100000">
                                          <p:val>
                                            <p:strVal val="#ppt_x"/>
                                          </p:val>
                                        </p:tav>
                                      </p:tavLst>
                                    </p:anim>
                                    <p:anim calcmode="lin" valueType="num">
                                      <p:cBhvr>
                                        <p:cTn id="34" dur="1000" fill="hold"/>
                                        <p:tgtEl>
                                          <p:spTgt spid="461"/>
                                        </p:tgtEl>
                                        <p:attrNameLst>
                                          <p:attrName>ppt_y</p:attrName>
                                        </p:attrNameLst>
                                      </p:cBhvr>
                                      <p:tavLst>
                                        <p:tav tm="0">
                                          <p:val>
                                            <p:strVal val="#ppt_y"/>
                                          </p:val>
                                        </p:tav>
                                        <p:tav tm="100000">
                                          <p:val>
                                            <p:strVal val="#ppt_y"/>
                                          </p:val>
                                        </p:tav>
                                      </p:tavLst>
                                    </p:anim>
                                  </p:childTnLst>
                                </p:cTn>
                              </p:par>
                            </p:childTnLst>
                          </p:cTn>
                        </p:par>
                        <p:par>
                          <p:cTn id="35" fill="hold">
                            <p:stCondLst>
                              <p:cond delay="1000"/>
                            </p:stCondLst>
                            <p:childTnLst>
                              <p:par>
                                <p:cTn id="36" presetClass="entr" nodeType="afterEffect" presetID="9" grpId="7" fill="hold">
                                  <p:stCondLst>
                                    <p:cond delay="0"/>
                                  </p:stCondLst>
                                  <p:iterate type="el" backwards="0">
                                    <p:tmAbs val="0"/>
                                  </p:iterate>
                                  <p:childTnLst>
                                    <p:set>
                                      <p:cBhvr>
                                        <p:cTn id="37" fill="hold"/>
                                        <p:tgtEl>
                                          <p:spTgt spid="463"/>
                                        </p:tgtEl>
                                        <p:attrNameLst>
                                          <p:attrName>style.visibility</p:attrName>
                                        </p:attrNameLst>
                                      </p:cBhvr>
                                      <p:to>
                                        <p:strVal val="visible"/>
                                      </p:to>
                                    </p:set>
                                    <p:animEffect filter="dissolve" transition="in">
                                      <p:cBhvr>
                                        <p:cTn id="38" dur="2000"/>
                                        <p:tgtEl>
                                          <p:spTgt spid="463"/>
                                        </p:tgtEl>
                                      </p:cBhvr>
                                    </p:animEffect>
                                  </p:childTnLst>
                                </p:cTn>
                              </p:par>
                            </p:childTnLst>
                          </p:cTn>
                        </p:par>
                      </p:childTnLst>
                    </p:cTn>
                  </p:par>
                  <p:par>
                    <p:cTn id="39" fill="hold">
                      <p:stCondLst>
                        <p:cond delay="indefinite"/>
                      </p:stCondLst>
                      <p:childTnLst>
                        <p:par>
                          <p:cTn id="40" fill="hold">
                            <p:stCondLst>
                              <p:cond delay="0"/>
                            </p:stCondLst>
                            <p:childTnLst>
                              <p:par>
                                <p:cTn id="41" presetClass="entr" nodeType="clickEffect" presetSubtype="8" presetID="2" grpId="8" fill="hold">
                                  <p:stCondLst>
                                    <p:cond delay="0"/>
                                  </p:stCondLst>
                                  <p:iterate type="el" backwards="0">
                                    <p:tmAbs val="0"/>
                                  </p:iterate>
                                  <p:childTnLst>
                                    <p:set>
                                      <p:cBhvr>
                                        <p:cTn id="42" fill="hold"/>
                                        <p:tgtEl>
                                          <p:spTgt spid="467"/>
                                        </p:tgtEl>
                                        <p:attrNameLst>
                                          <p:attrName>style.visibility</p:attrName>
                                        </p:attrNameLst>
                                      </p:cBhvr>
                                      <p:to>
                                        <p:strVal val="visible"/>
                                      </p:to>
                                    </p:set>
                                    <p:anim calcmode="lin" valueType="num">
                                      <p:cBhvr>
                                        <p:cTn id="43" dur="1000" fill="hold"/>
                                        <p:tgtEl>
                                          <p:spTgt spid="467"/>
                                        </p:tgtEl>
                                        <p:attrNameLst>
                                          <p:attrName>ppt_x</p:attrName>
                                        </p:attrNameLst>
                                      </p:cBhvr>
                                      <p:tavLst>
                                        <p:tav tm="0">
                                          <p:val>
                                            <p:strVal val="0-#ppt_w/2"/>
                                          </p:val>
                                        </p:tav>
                                        <p:tav tm="100000">
                                          <p:val>
                                            <p:strVal val="#ppt_x"/>
                                          </p:val>
                                        </p:tav>
                                      </p:tavLst>
                                    </p:anim>
                                    <p:anim calcmode="lin" valueType="num">
                                      <p:cBhvr>
                                        <p:cTn id="44" dur="1000" fill="hold"/>
                                        <p:tgtEl>
                                          <p:spTgt spid="4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62" grpId="4"/>
      <p:bldP build="whole" bldLvl="1" animBg="1" rev="0" advAuto="0" spid="461" grpId="6"/>
      <p:bldP build="whole" bldLvl="1" animBg="1" rev="0" advAuto="0" spid="458" grpId="2"/>
      <p:bldP build="whole" bldLvl="1" animBg="1" rev="0" advAuto="0" spid="467" grpId="8"/>
      <p:bldP build="whole" bldLvl="1" animBg="1" rev="0" advAuto="0" spid="457" grpId="1"/>
      <p:bldP build="whole" bldLvl="1" animBg="1" rev="0" advAuto="0" spid="465" grpId="5"/>
      <p:bldP build="whole" bldLvl="1" animBg="1" rev="0" advAuto="0" spid="460" grpId="3"/>
      <p:bldP build="whole" bldLvl="1" animBg="1" rev="0" advAuto="0" spid="463" grpId="7"/>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9"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7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71"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pic>
        <p:nvPicPr>
          <p:cNvPr id="472" name="Captură de ecran din 2024-10-20 la 22.35.36.png" descr="Captură de ecran din 2024-10-20 la 22.35.36.png"/>
          <p:cNvPicPr>
            <a:picLocks noChangeAspect="1"/>
          </p:cNvPicPr>
          <p:nvPr/>
        </p:nvPicPr>
        <p:blipFill>
          <a:blip r:embed="rId2">
            <a:extLst/>
          </a:blip>
          <a:stretch>
            <a:fillRect/>
          </a:stretch>
        </p:blipFill>
        <p:spPr>
          <a:xfrm>
            <a:off x="2212409" y="3079016"/>
            <a:ext cx="18113703" cy="9462658"/>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push dir="r"/>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4"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7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76"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pic>
        <p:nvPicPr>
          <p:cNvPr id="477" name="Captură de ecran din 2024-10-20 la 22.24.33.png" descr="Captură de ecran din 2024-10-20 la 22.24.33.png"/>
          <p:cNvPicPr>
            <a:picLocks noChangeAspect="1"/>
          </p:cNvPicPr>
          <p:nvPr/>
        </p:nvPicPr>
        <p:blipFill>
          <a:blip r:embed="rId2">
            <a:extLst/>
          </a:blip>
          <a:stretch>
            <a:fillRect/>
          </a:stretch>
        </p:blipFill>
        <p:spPr>
          <a:xfrm>
            <a:off x="2064804" y="3293764"/>
            <a:ext cx="18672104" cy="9647568"/>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14:flip dir="r"/>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9"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8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81"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pic>
        <p:nvPicPr>
          <p:cNvPr id="482" name="Captură de ecran din 2024-10-20 la 22.29.59.png" descr="Captură de ecran din 2024-10-20 la 22.29.59.png"/>
          <p:cNvPicPr>
            <a:picLocks noChangeAspect="1"/>
          </p:cNvPicPr>
          <p:nvPr/>
        </p:nvPicPr>
        <p:blipFill>
          <a:blip r:embed="rId2">
            <a:extLst/>
          </a:blip>
          <a:stretch>
            <a:fillRect/>
          </a:stretch>
        </p:blipFill>
        <p:spPr>
          <a:xfrm>
            <a:off x="2790889" y="3377466"/>
            <a:ext cx="17929544" cy="9320444"/>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push dir="r"/>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4" name="Supervizate"/>
          <p:cNvSpPr txBox="1"/>
          <p:nvPr/>
        </p:nvSpPr>
        <p:spPr>
          <a:xfrm>
            <a:off x="-7076862" y="7802424"/>
            <a:ext cx="8358424"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Supervizate</a:t>
            </a:r>
          </a:p>
        </p:txBody>
      </p:sp>
      <p:sp>
        <p:nvSpPr>
          <p:cNvPr id="48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86"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pic>
        <p:nvPicPr>
          <p:cNvPr id="487" name="Captură de ecran din 2024-10-20 la 22.29.59.png" descr="Captură de ecran din 2024-10-20 la 22.29.59.png"/>
          <p:cNvPicPr>
            <a:picLocks noChangeAspect="1"/>
          </p:cNvPicPr>
          <p:nvPr/>
        </p:nvPicPr>
        <p:blipFill>
          <a:blip r:embed="rId2">
            <a:extLst/>
          </a:blip>
          <a:stretch>
            <a:fillRect/>
          </a:stretch>
        </p:blipFill>
        <p:spPr>
          <a:xfrm>
            <a:off x="667801" y="4389332"/>
            <a:ext cx="12801808" cy="6654857"/>
          </a:xfrm>
          <a:prstGeom prst="rect">
            <a:avLst/>
          </a:prstGeom>
          <a:ln w="12700">
            <a:miter lim="400000"/>
          </a:ln>
        </p:spPr>
      </p:pic>
      <p:sp>
        <p:nvSpPr>
          <p:cNvPr id="488" name="Dreptunghi"/>
          <p:cNvSpPr/>
          <p:nvPr/>
        </p:nvSpPr>
        <p:spPr>
          <a:xfrm>
            <a:off x="1517696" y="4394572"/>
            <a:ext cx="7153026" cy="5862151"/>
          </a:xfrm>
          <a:prstGeom prst="rect">
            <a:avLst/>
          </a:prstGeom>
          <a:solidFill>
            <a:schemeClr val="accent1">
              <a:alpha val="49977"/>
            </a:schemeClr>
          </a:solidFill>
          <a:ln w="25400">
            <a:solidFill>
              <a:schemeClr val="accent1">
                <a:alpha val="49977"/>
              </a:schemeClr>
            </a:solidFill>
          </a:ln>
        </p:spPr>
        <p:txBody>
          <a:bodyPr lIns="50800" tIns="50800" rIns="50800" bIns="50800" anchor="ctr"/>
          <a:lstStyle/>
          <a:p>
            <a:pPr/>
          </a:p>
        </p:txBody>
      </p:sp>
      <p:sp>
        <p:nvSpPr>
          <p:cNvPr id="489" name="Orice punct în regiunea albastră va fi prezis cu valoarea 12."/>
          <p:cNvSpPr txBox="1"/>
          <p:nvPr/>
        </p:nvSpPr>
        <p:spPr>
          <a:xfrm>
            <a:off x="13264732" y="4960975"/>
            <a:ext cx="10922052" cy="73241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3300"/>
            </a:pPr>
            <a:r>
              <a:t>Orice punct în regiunea </a:t>
            </a:r>
            <a:r>
              <a:rPr>
                <a:solidFill>
                  <a:schemeClr val="accent1"/>
                </a:solidFill>
              </a:rPr>
              <a:t>albastră</a:t>
            </a:r>
            <a:r>
              <a:t> va fi prezis cu valoarea 12.</a:t>
            </a:r>
          </a:p>
        </p:txBody>
      </p:sp>
      <p:sp>
        <p:nvSpPr>
          <p:cNvPr id="490" name="Dreptunghi"/>
          <p:cNvSpPr/>
          <p:nvPr/>
        </p:nvSpPr>
        <p:spPr>
          <a:xfrm>
            <a:off x="8719805" y="4394572"/>
            <a:ext cx="4488703" cy="5862151"/>
          </a:xfrm>
          <a:prstGeom prst="rect">
            <a:avLst/>
          </a:prstGeom>
          <a:solidFill>
            <a:schemeClr val="accent3">
              <a:satOff val="-5226"/>
              <a:lumOff val="13186"/>
              <a:alpha val="32749"/>
            </a:schemeClr>
          </a:solidFill>
          <a:ln w="25400">
            <a:solidFill>
              <a:schemeClr val="accent1">
                <a:alpha val="32749"/>
              </a:schemeClr>
            </a:solidFill>
          </a:ln>
        </p:spPr>
        <p:txBody>
          <a:bodyPr lIns="50800" tIns="50800" rIns="50800" bIns="50800" anchor="ctr"/>
          <a:lstStyle/>
          <a:p>
            <a:pPr/>
          </a:p>
        </p:txBody>
      </p:sp>
      <p:sp>
        <p:nvSpPr>
          <p:cNvPr id="491" name="Orice punct în regiunea verde va fi prezis cu valoarea 19."/>
          <p:cNvSpPr txBox="1"/>
          <p:nvPr/>
        </p:nvSpPr>
        <p:spPr>
          <a:xfrm>
            <a:off x="13242969" y="7747366"/>
            <a:ext cx="10427095" cy="73241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3300"/>
            </a:pPr>
            <a:r>
              <a:t>Orice punct în regiunea </a:t>
            </a:r>
            <a:r>
              <a:rPr>
                <a:solidFill>
                  <a:schemeClr val="accent3">
                    <a:satOff val="-5226"/>
                    <a:lumOff val="13186"/>
                  </a:schemeClr>
                </a:solidFill>
              </a:rPr>
              <a:t>verde</a:t>
            </a:r>
            <a:r>
              <a:t> va fi prezis cu valoarea 19.</a:t>
            </a:r>
          </a:p>
        </p:txBody>
      </p:sp>
    </p:spTree>
  </p:cSld>
  <p:clrMapOvr>
    <a:masterClrMapping/>
  </p:clrMapOvr>
  <mc:AlternateContent xmlns:mc="http://schemas.openxmlformats.org/markup-compatibility/2006">
    <mc:Choice xmlns:p14="http://schemas.microsoft.com/office/powerpoint/2010/main" Requires="p14">
      <p:transition spd="slow" advClick="1" p14:dur="1200">
        <p:push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488"/>
                                        </p:tgtEl>
                                        <p:attrNameLst>
                                          <p:attrName>style.visibility</p:attrName>
                                        </p:attrNameLst>
                                      </p:cBhvr>
                                      <p:to>
                                        <p:strVal val="visible"/>
                                      </p:to>
                                    </p:set>
                                    <p:animEffect filter="dissolve" transition="in">
                                      <p:cBhvr>
                                        <p:cTn id="7" dur="2000"/>
                                        <p:tgtEl>
                                          <p:spTgt spid="488"/>
                                        </p:tgtEl>
                                      </p:cBhvr>
                                    </p:animEffect>
                                  </p:childTnLst>
                                </p:cTn>
                              </p:par>
                            </p:childTnLst>
                          </p:cTn>
                        </p:par>
                        <p:par>
                          <p:cTn id="8" fill="hold">
                            <p:stCondLst>
                              <p:cond delay="2000"/>
                            </p:stCondLst>
                            <p:childTnLst>
                              <p:par>
                                <p:cTn id="9" presetClass="entr" nodeType="afterEffect" presetSubtype="8" presetID="2" grpId="2" fill="hold">
                                  <p:stCondLst>
                                    <p:cond delay="0"/>
                                  </p:stCondLst>
                                  <p:iterate type="el" backwards="0">
                                    <p:tmAbs val="0"/>
                                  </p:iterate>
                                  <p:childTnLst>
                                    <p:set>
                                      <p:cBhvr>
                                        <p:cTn id="10" fill="hold"/>
                                        <p:tgtEl>
                                          <p:spTgt spid="489"/>
                                        </p:tgtEl>
                                        <p:attrNameLst>
                                          <p:attrName>style.visibility</p:attrName>
                                        </p:attrNameLst>
                                      </p:cBhvr>
                                      <p:to>
                                        <p:strVal val="visible"/>
                                      </p:to>
                                    </p:set>
                                    <p:anim calcmode="lin" valueType="num">
                                      <p:cBhvr>
                                        <p:cTn id="11" dur="1000" fill="hold"/>
                                        <p:tgtEl>
                                          <p:spTgt spid="489"/>
                                        </p:tgtEl>
                                        <p:attrNameLst>
                                          <p:attrName>ppt_x</p:attrName>
                                        </p:attrNameLst>
                                      </p:cBhvr>
                                      <p:tavLst>
                                        <p:tav tm="0">
                                          <p:val>
                                            <p:strVal val="0-#ppt_w/2"/>
                                          </p:val>
                                        </p:tav>
                                        <p:tav tm="100000">
                                          <p:val>
                                            <p:strVal val="#ppt_x"/>
                                          </p:val>
                                        </p:tav>
                                      </p:tavLst>
                                    </p:anim>
                                    <p:anim calcmode="lin" valueType="num">
                                      <p:cBhvr>
                                        <p:cTn id="12" dur="1000" fill="hold"/>
                                        <p:tgtEl>
                                          <p:spTgt spid="489"/>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ID="9" grpId="3" fill="hold">
                                  <p:stCondLst>
                                    <p:cond delay="0"/>
                                  </p:stCondLst>
                                  <p:iterate type="el" backwards="0">
                                    <p:tmAbs val="0"/>
                                  </p:iterate>
                                  <p:childTnLst>
                                    <p:set>
                                      <p:cBhvr>
                                        <p:cTn id="16" fill="hold"/>
                                        <p:tgtEl>
                                          <p:spTgt spid="490"/>
                                        </p:tgtEl>
                                        <p:attrNameLst>
                                          <p:attrName>style.visibility</p:attrName>
                                        </p:attrNameLst>
                                      </p:cBhvr>
                                      <p:to>
                                        <p:strVal val="visible"/>
                                      </p:to>
                                    </p:set>
                                    <p:animEffect filter="dissolve" transition="in">
                                      <p:cBhvr>
                                        <p:cTn id="17" dur="2000"/>
                                        <p:tgtEl>
                                          <p:spTgt spid="490"/>
                                        </p:tgtEl>
                                      </p:cBhvr>
                                    </p:animEffect>
                                  </p:childTnLst>
                                </p:cTn>
                              </p:par>
                            </p:childTnLst>
                          </p:cTn>
                        </p:par>
                        <p:par>
                          <p:cTn id="18" fill="hold">
                            <p:stCondLst>
                              <p:cond delay="2000"/>
                            </p:stCondLst>
                            <p:childTnLst>
                              <p:par>
                                <p:cTn id="19" presetClass="entr" nodeType="afterEffect" presetSubtype="8" presetID="2" grpId="4" fill="hold">
                                  <p:stCondLst>
                                    <p:cond delay="0"/>
                                  </p:stCondLst>
                                  <p:iterate type="el" backwards="0">
                                    <p:tmAbs val="0"/>
                                  </p:iterate>
                                  <p:childTnLst>
                                    <p:set>
                                      <p:cBhvr>
                                        <p:cTn id="20" fill="hold"/>
                                        <p:tgtEl>
                                          <p:spTgt spid="491"/>
                                        </p:tgtEl>
                                        <p:attrNameLst>
                                          <p:attrName>style.visibility</p:attrName>
                                        </p:attrNameLst>
                                      </p:cBhvr>
                                      <p:to>
                                        <p:strVal val="visible"/>
                                      </p:to>
                                    </p:set>
                                    <p:anim calcmode="lin" valueType="num">
                                      <p:cBhvr>
                                        <p:cTn id="21" dur="1000" fill="hold"/>
                                        <p:tgtEl>
                                          <p:spTgt spid="491"/>
                                        </p:tgtEl>
                                        <p:attrNameLst>
                                          <p:attrName>ppt_x</p:attrName>
                                        </p:attrNameLst>
                                      </p:cBhvr>
                                      <p:tavLst>
                                        <p:tav tm="0">
                                          <p:val>
                                            <p:strVal val="0-#ppt_w/2"/>
                                          </p:val>
                                        </p:tav>
                                        <p:tav tm="100000">
                                          <p:val>
                                            <p:strVal val="#ppt_x"/>
                                          </p:val>
                                        </p:tav>
                                      </p:tavLst>
                                    </p:anim>
                                    <p:anim calcmode="lin" valueType="num">
                                      <p:cBhvr>
                                        <p:cTn id="22" dur="1000" fill="hold"/>
                                        <p:tgtEl>
                                          <p:spTgt spid="4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88" grpId="1"/>
      <p:bldP build="whole" bldLvl="1" animBg="1" rev="0" advAuto="0" spid="490" grpId="3"/>
      <p:bldP build="whole" bldLvl="1" animBg="1" rev="0" advAuto="0" spid="489" grpId="2"/>
      <p:bldP build="whole" bldLvl="1" animBg="1" rev="0" advAuto="0" spid="491" grpId="4"/>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494" name="Supervizate"/>
          <p:cNvSpPr txBox="1"/>
          <p:nvPr/>
        </p:nvSpPr>
        <p:spPr>
          <a:xfrm>
            <a:off x="6436630" y="563348"/>
            <a:ext cx="13976542" cy="2006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Arbori de decizie</a:t>
            </a:r>
          </a:p>
        </p:txBody>
      </p:sp>
      <p:pic>
        <p:nvPicPr>
          <p:cNvPr id="495" name="Captură de ecran din 2024-10-20 la 22.44.22.png" descr="Captură de ecran din 2024-10-20 la 22.44.22.png"/>
          <p:cNvPicPr>
            <a:picLocks noChangeAspect="1"/>
          </p:cNvPicPr>
          <p:nvPr/>
        </p:nvPicPr>
        <p:blipFill>
          <a:blip r:embed="rId2">
            <a:extLst/>
          </a:blip>
          <a:stretch>
            <a:fillRect/>
          </a:stretch>
        </p:blipFill>
        <p:spPr>
          <a:xfrm>
            <a:off x="2508715" y="3417932"/>
            <a:ext cx="19366570" cy="8980031"/>
          </a:xfrm>
          <a:prstGeom prst="rect">
            <a:avLst/>
          </a:prstGeom>
          <a:ln w="12700">
            <a:miter lim="400000"/>
          </a:ln>
        </p:spPr>
      </p:pic>
      <p:pic>
        <p:nvPicPr>
          <p:cNvPr id="496" name="Linie Linie" descr="Linie Linie"/>
          <p:cNvPicPr>
            <a:picLocks noChangeAspect="0"/>
          </p:cNvPicPr>
          <p:nvPr/>
        </p:nvPicPr>
        <p:blipFill>
          <a:blip r:embed="rId3">
            <a:extLst/>
          </a:blip>
          <a:stretch>
            <a:fillRect/>
          </a:stretch>
        </p:blipFill>
        <p:spPr>
          <a:xfrm>
            <a:off x="7141285" y="4998715"/>
            <a:ext cx="3333405" cy="101601"/>
          </a:xfrm>
          <a:prstGeom prst="rect">
            <a:avLst/>
          </a:prstGeom>
        </p:spPr>
      </p:pic>
      <p:pic>
        <p:nvPicPr>
          <p:cNvPr id="498" name="Linie Linie" descr="Linie Linie"/>
          <p:cNvPicPr>
            <a:picLocks noChangeAspect="0"/>
          </p:cNvPicPr>
          <p:nvPr/>
        </p:nvPicPr>
        <p:blipFill>
          <a:blip r:embed="rId3">
            <a:extLst/>
          </a:blip>
          <a:stretch>
            <a:fillRect/>
          </a:stretch>
        </p:blipFill>
        <p:spPr>
          <a:xfrm>
            <a:off x="5006466" y="8756531"/>
            <a:ext cx="3333405" cy="101601"/>
          </a:xfrm>
          <a:prstGeom prst="rect">
            <a:avLst/>
          </a:prstGeom>
        </p:spPr>
      </p:pic>
      <p:pic>
        <p:nvPicPr>
          <p:cNvPr id="500" name="Linie Linie" descr="Linie Linie"/>
          <p:cNvPicPr>
            <a:picLocks noChangeAspect="0"/>
          </p:cNvPicPr>
          <p:nvPr/>
        </p:nvPicPr>
        <p:blipFill>
          <a:blip r:embed="rId3">
            <a:extLst/>
          </a:blip>
          <a:stretch>
            <a:fillRect/>
          </a:stretch>
        </p:blipFill>
        <p:spPr>
          <a:xfrm>
            <a:off x="4280324" y="10530294"/>
            <a:ext cx="3333404"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push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496"/>
                                        </p:tgtEl>
                                        <p:attrNameLst>
                                          <p:attrName>style.visibility</p:attrName>
                                        </p:attrNameLst>
                                      </p:cBhvr>
                                      <p:to>
                                        <p:strVal val="visible"/>
                                      </p:to>
                                    </p:set>
                                    <p:animEffect filter="dissolve" transition="in">
                                      <p:cBhvr>
                                        <p:cTn id="7" dur="2000"/>
                                        <p:tgtEl>
                                          <p:spTgt spid="496"/>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498"/>
                                        </p:tgtEl>
                                        <p:attrNameLst>
                                          <p:attrName>style.visibility</p:attrName>
                                        </p:attrNameLst>
                                      </p:cBhvr>
                                      <p:to>
                                        <p:strVal val="visible"/>
                                      </p:to>
                                    </p:set>
                                    <p:animEffect filter="dissolve" transition="in">
                                      <p:cBhvr>
                                        <p:cTn id="11" dur="2000"/>
                                        <p:tgtEl>
                                          <p:spTgt spid="49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9" grpId="3" fill="hold">
                                  <p:stCondLst>
                                    <p:cond delay="0"/>
                                  </p:stCondLst>
                                  <p:iterate type="el" backwards="0">
                                    <p:tmAbs val="0"/>
                                  </p:iterate>
                                  <p:childTnLst>
                                    <p:set>
                                      <p:cBhvr>
                                        <p:cTn id="15" fill="hold"/>
                                        <p:tgtEl>
                                          <p:spTgt spid="500"/>
                                        </p:tgtEl>
                                        <p:attrNameLst>
                                          <p:attrName>style.visibility</p:attrName>
                                        </p:attrNameLst>
                                      </p:cBhvr>
                                      <p:to>
                                        <p:strVal val="visible"/>
                                      </p:to>
                                    </p:set>
                                    <p:animEffect filter="dissolve" transition="in">
                                      <p:cBhvr>
                                        <p:cTn id="16" dur="2000"/>
                                        <p:tgtEl>
                                          <p:spTgt spid="5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96" grpId="1"/>
      <p:bldP build="whole" bldLvl="1" animBg="1" rev="0" advAuto="0" spid="498" grpId="2"/>
      <p:bldP build="whole" bldLvl="1" animBg="1" rev="0" advAuto="0" spid="500" grpId="3"/>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04" name="Idee"/>
          <p:cNvSpPr txBox="1"/>
          <p:nvPr/>
        </p:nvSpPr>
        <p:spPr>
          <a:xfrm>
            <a:off x="11558447" y="6387794"/>
            <a:ext cx="120843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Idee</a:t>
            </a:r>
          </a:p>
        </p:txBody>
      </p:sp>
      <p:sp>
        <p:nvSpPr>
          <p:cNvPr id="505" name="Regresie:"/>
          <p:cNvSpPr txBox="1"/>
          <p:nvPr/>
        </p:nvSpPr>
        <p:spPr>
          <a:xfrm>
            <a:off x="15137697" y="1637952"/>
            <a:ext cx="243332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Regresie:</a:t>
            </a:r>
          </a:p>
        </p:txBody>
      </p:sp>
      <p:sp>
        <p:nvSpPr>
          <p:cNvPr id="506" name="- regresia liniară"/>
          <p:cNvSpPr txBox="1"/>
          <p:nvPr/>
        </p:nvSpPr>
        <p:spPr>
          <a:xfrm>
            <a:off x="15494827" y="2510935"/>
            <a:ext cx="408848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regresia liniară</a:t>
            </a:r>
          </a:p>
        </p:txBody>
      </p:sp>
      <p:sp>
        <p:nvSpPr>
          <p:cNvPr id="507" name="- regresia polinomială"/>
          <p:cNvSpPr txBox="1"/>
          <p:nvPr/>
        </p:nvSpPr>
        <p:spPr>
          <a:xfrm>
            <a:off x="15494827" y="3213310"/>
            <a:ext cx="550783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regresia polinomială</a:t>
            </a:r>
          </a:p>
        </p:txBody>
      </p:sp>
      <p:sp>
        <p:nvSpPr>
          <p:cNvPr id="508" name="- SVM"/>
          <p:cNvSpPr txBox="1"/>
          <p:nvPr/>
        </p:nvSpPr>
        <p:spPr>
          <a:xfrm>
            <a:off x="15567136" y="4788668"/>
            <a:ext cx="157444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SVM</a:t>
            </a:r>
          </a:p>
        </p:txBody>
      </p:sp>
      <p:sp>
        <p:nvSpPr>
          <p:cNvPr id="509" name="- Arbori de decizie"/>
          <p:cNvSpPr txBox="1"/>
          <p:nvPr/>
        </p:nvSpPr>
        <p:spPr>
          <a:xfrm>
            <a:off x="15547406" y="5272798"/>
            <a:ext cx="461599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Arbori de decizie</a:t>
            </a:r>
          </a:p>
        </p:txBody>
      </p:sp>
      <p:sp>
        <p:nvSpPr>
          <p:cNvPr id="510" name="- regresia ridge, lasso, elastic net"/>
          <p:cNvSpPr txBox="1"/>
          <p:nvPr/>
        </p:nvSpPr>
        <p:spPr>
          <a:xfrm>
            <a:off x="15494827" y="3927569"/>
            <a:ext cx="805652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regresia ridge, lasso, elastic net</a:t>
            </a:r>
          </a:p>
        </p:txBody>
      </p:sp>
      <p:sp>
        <p:nvSpPr>
          <p:cNvPr id="511" name="Clasificare:"/>
          <p:cNvSpPr txBox="1"/>
          <p:nvPr/>
        </p:nvSpPr>
        <p:spPr>
          <a:xfrm>
            <a:off x="15096934" y="7332285"/>
            <a:ext cx="297479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Clasificare:</a:t>
            </a:r>
          </a:p>
        </p:txBody>
      </p:sp>
      <p:sp>
        <p:nvSpPr>
          <p:cNvPr id="512" name="- regresia logistică"/>
          <p:cNvSpPr txBox="1"/>
          <p:nvPr/>
        </p:nvSpPr>
        <p:spPr>
          <a:xfrm>
            <a:off x="15592947" y="8135241"/>
            <a:ext cx="459475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regresia logistică</a:t>
            </a:r>
          </a:p>
        </p:txBody>
      </p:sp>
      <p:sp>
        <p:nvSpPr>
          <p:cNvPr id="513" name="- regresia softmax"/>
          <p:cNvSpPr txBox="1"/>
          <p:nvPr/>
        </p:nvSpPr>
        <p:spPr>
          <a:xfrm>
            <a:off x="15592947" y="8837615"/>
            <a:ext cx="452490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regresia softmax</a:t>
            </a:r>
          </a:p>
        </p:txBody>
      </p:sp>
      <p:sp>
        <p:nvSpPr>
          <p:cNvPr id="514" name="- K-Nearest Neighbours"/>
          <p:cNvSpPr txBox="1"/>
          <p:nvPr/>
        </p:nvSpPr>
        <p:spPr>
          <a:xfrm>
            <a:off x="15592947" y="9551874"/>
            <a:ext cx="584647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K-Nearest Neighbours</a:t>
            </a:r>
          </a:p>
        </p:txBody>
      </p:sp>
      <p:sp>
        <p:nvSpPr>
          <p:cNvPr id="515" name="- SVM"/>
          <p:cNvSpPr txBox="1"/>
          <p:nvPr/>
        </p:nvSpPr>
        <p:spPr>
          <a:xfrm>
            <a:off x="15592947" y="10115366"/>
            <a:ext cx="157444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SVM</a:t>
            </a:r>
          </a:p>
        </p:txBody>
      </p:sp>
      <p:sp>
        <p:nvSpPr>
          <p:cNvPr id="516" name="- Arbori de decizie"/>
          <p:cNvSpPr txBox="1"/>
          <p:nvPr/>
        </p:nvSpPr>
        <p:spPr>
          <a:xfrm>
            <a:off x="15582329" y="10666974"/>
            <a:ext cx="461599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Arbori de decizie</a:t>
            </a:r>
          </a:p>
        </p:txBody>
      </p:sp>
      <p:sp>
        <p:nvSpPr>
          <p:cNvPr id="517" name="Ce ar fi dacă, pentru un anumit tip de problemă (fie regresie fie clasificare), nu folosim doar un singur tip model, ci mai multe tipuri de modele?"/>
          <p:cNvSpPr txBox="1"/>
          <p:nvPr/>
        </p:nvSpPr>
        <p:spPr>
          <a:xfrm>
            <a:off x="3121065" y="8783674"/>
            <a:ext cx="11623716" cy="319902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Ce ar fi dacă, pentru un anumit tip de problemă (fie regresie fie clasificare), nu folosim doar un singur tip model, ci mai multe tipuri de modele?</a:t>
            </a:r>
          </a:p>
        </p:txBody>
      </p:sp>
      <p:pic>
        <p:nvPicPr>
          <p:cNvPr id="518" name="Linie Linie" descr="Linie Linie"/>
          <p:cNvPicPr>
            <a:picLocks noChangeAspect="0"/>
          </p:cNvPicPr>
          <p:nvPr/>
        </p:nvPicPr>
        <p:blipFill>
          <a:blip r:embed="rId2">
            <a:extLst/>
          </a:blip>
          <a:stretch>
            <a:fillRect/>
          </a:stretch>
        </p:blipFill>
        <p:spPr>
          <a:xfrm>
            <a:off x="12061734" y="11083280"/>
            <a:ext cx="2534921" cy="101601"/>
          </a:xfrm>
          <a:prstGeom prst="rect">
            <a:avLst/>
          </a:prstGeom>
        </p:spPr>
      </p:pic>
      <p:sp>
        <p:nvSpPr>
          <p:cNvPr id="520" name="Și să agregăm rezultatele de la ele cumva"/>
          <p:cNvSpPr txBox="1"/>
          <p:nvPr/>
        </p:nvSpPr>
        <p:spPr>
          <a:xfrm>
            <a:off x="3114342" y="12189182"/>
            <a:ext cx="1009502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Și să agregăm rezultatele de la ele cumva</a:t>
            </a:r>
          </a:p>
        </p:txBody>
      </p:sp>
    </p:spTree>
  </p:cSld>
  <p:clrMapOvr>
    <a:masterClrMapping/>
  </p:clrMapOvr>
  <mc:AlternateContent xmlns:mc="http://schemas.openxmlformats.org/markup-compatibility/2006">
    <mc:Choice xmlns:p14="http://schemas.microsoft.com/office/powerpoint/2010/main" Requires="p14">
      <p:transition spd="slow" advClick="1" p14:dur="1200">
        <p:push dir="l"/>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mph" nodeType="afterEffect" presetSubtype="0" presetID="6" grpId="1" accel="50000" decel="50000" fill="hold">
                                  <p:stCondLst>
                                    <p:cond delay="0"/>
                                  </p:stCondLst>
                                  <p:childTnLst>
                                    <p:animScale>
                                      <p:cBhvr>
                                        <p:cTn id="6" dur="1000" fill="hold"/>
                                        <p:tgtEl>
                                          <p:spTgt spid="504"/>
                                        </p:tgtEl>
                                      </p:cBhvr>
                                      <p:by x="380671" y="380671"/>
                                    </p:animScale>
                                  </p:childTnLst>
                                </p:cTn>
                              </p:par>
                            </p:childTnLst>
                          </p:cTn>
                        </p:par>
                        <p:par>
                          <p:cTn id="7" fill="hold">
                            <p:stCondLst>
                              <p:cond delay="0"/>
                            </p:stCondLst>
                            <p:childTnLst>
                              <p:par>
                                <p:cTn id="8" presetClass="path" nodeType="withEffect" presetSubtype="0" presetID="-1" grpId="2" accel="50000" decel="50000" fill="hold">
                                  <p:stCondLst>
                                    <p:cond delay="0"/>
                                  </p:stCondLst>
                                  <p:childTnLst>
                                    <p:animMotion path="M 0.000000 0.000000 L -0.340928 0.000226" origin="layout" pathEditMode="relative">
                                      <p:cBhvr>
                                        <p:cTn id="9" dur="1000" fill="hold"/>
                                        <p:tgtEl>
                                          <p:spTgt spid="504"/>
                                        </p:tgtEl>
                                        <p:attrNameLst>
                                          <p:attrName>ppt_x</p:attrName>
                                          <p:attrName>ppt_y</p:attrName>
                                        </p:attrNameLst>
                                      </p:cBhvr>
                                    </p:animMotion>
                                  </p:childTnLst>
                                </p:cTn>
                              </p:par>
                            </p:childTnLst>
                          </p:cTn>
                        </p:par>
                      </p:childTnLst>
                    </p:cTn>
                  </p:par>
                  <p:par>
                    <p:cTn id="10" fill="hold">
                      <p:stCondLst>
                        <p:cond delay="indefinite"/>
                      </p:stCondLst>
                      <p:childTnLst>
                        <p:par>
                          <p:cTn id="11" fill="hold">
                            <p:stCondLst>
                              <p:cond delay="0"/>
                            </p:stCondLst>
                            <p:childTnLst>
                              <p:par>
                                <p:cTn id="12" presetClass="entr" nodeType="clickEffect" presetSubtype="8" presetID="2" grpId="3" fill="hold">
                                  <p:stCondLst>
                                    <p:cond delay="0"/>
                                  </p:stCondLst>
                                  <p:iterate type="el" backwards="0">
                                    <p:tmAbs val="0"/>
                                  </p:iterate>
                                  <p:childTnLst>
                                    <p:set>
                                      <p:cBhvr>
                                        <p:cTn id="13" fill="hold"/>
                                        <p:tgtEl>
                                          <p:spTgt spid="505"/>
                                        </p:tgtEl>
                                        <p:attrNameLst>
                                          <p:attrName>style.visibility</p:attrName>
                                        </p:attrNameLst>
                                      </p:cBhvr>
                                      <p:to>
                                        <p:strVal val="visible"/>
                                      </p:to>
                                    </p:set>
                                    <p:anim calcmode="lin" valueType="num">
                                      <p:cBhvr>
                                        <p:cTn id="14" dur="400" fill="hold"/>
                                        <p:tgtEl>
                                          <p:spTgt spid="505"/>
                                        </p:tgtEl>
                                        <p:attrNameLst>
                                          <p:attrName>ppt_x</p:attrName>
                                        </p:attrNameLst>
                                      </p:cBhvr>
                                      <p:tavLst>
                                        <p:tav tm="0">
                                          <p:val>
                                            <p:strVal val="0-#ppt_w/2"/>
                                          </p:val>
                                        </p:tav>
                                        <p:tav tm="100000">
                                          <p:val>
                                            <p:strVal val="#ppt_x"/>
                                          </p:val>
                                        </p:tav>
                                      </p:tavLst>
                                    </p:anim>
                                    <p:anim calcmode="lin" valueType="num">
                                      <p:cBhvr>
                                        <p:cTn id="15" dur="400" fill="hold"/>
                                        <p:tgtEl>
                                          <p:spTgt spid="505"/>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Class="entr" nodeType="clickEffect" presetSubtype="8" presetID="2" grpId="4" fill="hold">
                                  <p:stCondLst>
                                    <p:cond delay="0"/>
                                  </p:stCondLst>
                                  <p:iterate type="el" backwards="0">
                                    <p:tmAbs val="0"/>
                                  </p:iterate>
                                  <p:childTnLst>
                                    <p:set>
                                      <p:cBhvr>
                                        <p:cTn id="19" fill="hold"/>
                                        <p:tgtEl>
                                          <p:spTgt spid="511"/>
                                        </p:tgtEl>
                                        <p:attrNameLst>
                                          <p:attrName>style.visibility</p:attrName>
                                        </p:attrNameLst>
                                      </p:cBhvr>
                                      <p:to>
                                        <p:strVal val="visible"/>
                                      </p:to>
                                    </p:set>
                                    <p:anim calcmode="lin" valueType="num">
                                      <p:cBhvr>
                                        <p:cTn id="20" dur="400" fill="hold"/>
                                        <p:tgtEl>
                                          <p:spTgt spid="511"/>
                                        </p:tgtEl>
                                        <p:attrNameLst>
                                          <p:attrName>ppt_x</p:attrName>
                                        </p:attrNameLst>
                                      </p:cBhvr>
                                      <p:tavLst>
                                        <p:tav tm="0">
                                          <p:val>
                                            <p:strVal val="0-#ppt_w/2"/>
                                          </p:val>
                                        </p:tav>
                                        <p:tav tm="100000">
                                          <p:val>
                                            <p:strVal val="#ppt_x"/>
                                          </p:val>
                                        </p:tav>
                                      </p:tavLst>
                                    </p:anim>
                                    <p:anim calcmode="lin" valueType="num">
                                      <p:cBhvr>
                                        <p:cTn id="21" dur="400" fill="hold"/>
                                        <p:tgtEl>
                                          <p:spTgt spid="511"/>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 grpId="5" fill="hold">
                                  <p:stCondLst>
                                    <p:cond delay="0"/>
                                  </p:stCondLst>
                                  <p:iterate type="el" backwards="0">
                                    <p:tmAbs val="0"/>
                                  </p:iterate>
                                  <p:childTnLst>
                                    <p:set>
                                      <p:cBhvr>
                                        <p:cTn id="25" fill="hold"/>
                                        <p:tgtEl>
                                          <p:spTgt spid="506"/>
                                        </p:tgtEl>
                                        <p:attrNameLst>
                                          <p:attrName>style.visibility</p:attrName>
                                        </p:attrNameLst>
                                      </p:cBhvr>
                                      <p:to>
                                        <p:strVal val="visible"/>
                                      </p:to>
                                    </p:set>
                                    <p:anim calcmode="lin" valueType="num">
                                      <p:cBhvr>
                                        <p:cTn id="26" dur="400" fill="hold"/>
                                        <p:tgtEl>
                                          <p:spTgt spid="506"/>
                                        </p:tgtEl>
                                        <p:attrNameLst>
                                          <p:attrName>ppt_x</p:attrName>
                                        </p:attrNameLst>
                                      </p:cBhvr>
                                      <p:tavLst>
                                        <p:tav tm="0">
                                          <p:val>
                                            <p:strVal val="0-#ppt_w/2"/>
                                          </p:val>
                                        </p:tav>
                                        <p:tav tm="100000">
                                          <p:val>
                                            <p:strVal val="#ppt_x"/>
                                          </p:val>
                                        </p:tav>
                                      </p:tavLst>
                                    </p:anim>
                                    <p:anim calcmode="lin" valueType="num">
                                      <p:cBhvr>
                                        <p:cTn id="27" dur="400" fill="hold"/>
                                        <p:tgtEl>
                                          <p:spTgt spid="506"/>
                                        </p:tgtEl>
                                        <p:attrNameLst>
                                          <p:attrName>ppt_y</p:attrName>
                                        </p:attrNameLst>
                                      </p:cBhvr>
                                      <p:tavLst>
                                        <p:tav tm="0">
                                          <p:val>
                                            <p:strVal val="#ppt_y"/>
                                          </p:val>
                                        </p:tav>
                                        <p:tav tm="100000">
                                          <p:val>
                                            <p:strVal val="#ppt_y"/>
                                          </p:val>
                                        </p:tav>
                                      </p:tavLst>
                                    </p:anim>
                                  </p:childTnLst>
                                </p:cTn>
                              </p:par>
                            </p:childTnLst>
                          </p:cTn>
                        </p:par>
                        <p:par>
                          <p:cTn id="28" fill="hold">
                            <p:stCondLst>
                              <p:cond delay="400"/>
                            </p:stCondLst>
                            <p:childTnLst>
                              <p:par>
                                <p:cTn id="29" presetClass="entr" nodeType="afterEffect" presetSubtype="8" presetID="2" grpId="6" fill="hold">
                                  <p:stCondLst>
                                    <p:cond delay="0"/>
                                  </p:stCondLst>
                                  <p:iterate type="el" backwards="0">
                                    <p:tmAbs val="0"/>
                                  </p:iterate>
                                  <p:childTnLst>
                                    <p:set>
                                      <p:cBhvr>
                                        <p:cTn id="30" fill="hold"/>
                                        <p:tgtEl>
                                          <p:spTgt spid="507"/>
                                        </p:tgtEl>
                                        <p:attrNameLst>
                                          <p:attrName>style.visibility</p:attrName>
                                        </p:attrNameLst>
                                      </p:cBhvr>
                                      <p:to>
                                        <p:strVal val="visible"/>
                                      </p:to>
                                    </p:set>
                                    <p:anim calcmode="lin" valueType="num">
                                      <p:cBhvr>
                                        <p:cTn id="31" dur="400" fill="hold"/>
                                        <p:tgtEl>
                                          <p:spTgt spid="507"/>
                                        </p:tgtEl>
                                        <p:attrNameLst>
                                          <p:attrName>ppt_x</p:attrName>
                                        </p:attrNameLst>
                                      </p:cBhvr>
                                      <p:tavLst>
                                        <p:tav tm="0">
                                          <p:val>
                                            <p:strVal val="0-#ppt_w/2"/>
                                          </p:val>
                                        </p:tav>
                                        <p:tav tm="100000">
                                          <p:val>
                                            <p:strVal val="#ppt_x"/>
                                          </p:val>
                                        </p:tav>
                                      </p:tavLst>
                                    </p:anim>
                                    <p:anim calcmode="lin" valueType="num">
                                      <p:cBhvr>
                                        <p:cTn id="32" dur="400" fill="hold"/>
                                        <p:tgtEl>
                                          <p:spTgt spid="507"/>
                                        </p:tgtEl>
                                        <p:attrNameLst>
                                          <p:attrName>ppt_y</p:attrName>
                                        </p:attrNameLst>
                                      </p:cBhvr>
                                      <p:tavLst>
                                        <p:tav tm="0">
                                          <p:val>
                                            <p:strVal val="#ppt_y"/>
                                          </p:val>
                                        </p:tav>
                                        <p:tav tm="100000">
                                          <p:val>
                                            <p:strVal val="#ppt_y"/>
                                          </p:val>
                                        </p:tav>
                                      </p:tavLst>
                                    </p:anim>
                                  </p:childTnLst>
                                </p:cTn>
                              </p:par>
                            </p:childTnLst>
                          </p:cTn>
                        </p:par>
                        <p:par>
                          <p:cTn id="33" fill="hold">
                            <p:stCondLst>
                              <p:cond delay="800"/>
                            </p:stCondLst>
                            <p:childTnLst>
                              <p:par>
                                <p:cTn id="34" presetClass="entr" nodeType="afterEffect" presetSubtype="8" presetID="2" grpId="7" fill="hold">
                                  <p:stCondLst>
                                    <p:cond delay="0"/>
                                  </p:stCondLst>
                                  <p:iterate type="el" backwards="0">
                                    <p:tmAbs val="0"/>
                                  </p:iterate>
                                  <p:childTnLst>
                                    <p:set>
                                      <p:cBhvr>
                                        <p:cTn id="35" fill="hold"/>
                                        <p:tgtEl>
                                          <p:spTgt spid="510"/>
                                        </p:tgtEl>
                                        <p:attrNameLst>
                                          <p:attrName>style.visibility</p:attrName>
                                        </p:attrNameLst>
                                      </p:cBhvr>
                                      <p:to>
                                        <p:strVal val="visible"/>
                                      </p:to>
                                    </p:set>
                                    <p:anim calcmode="lin" valueType="num">
                                      <p:cBhvr>
                                        <p:cTn id="36" dur="400" fill="hold"/>
                                        <p:tgtEl>
                                          <p:spTgt spid="510"/>
                                        </p:tgtEl>
                                        <p:attrNameLst>
                                          <p:attrName>ppt_x</p:attrName>
                                        </p:attrNameLst>
                                      </p:cBhvr>
                                      <p:tavLst>
                                        <p:tav tm="0">
                                          <p:val>
                                            <p:strVal val="0-#ppt_w/2"/>
                                          </p:val>
                                        </p:tav>
                                        <p:tav tm="100000">
                                          <p:val>
                                            <p:strVal val="#ppt_x"/>
                                          </p:val>
                                        </p:tav>
                                      </p:tavLst>
                                    </p:anim>
                                    <p:anim calcmode="lin" valueType="num">
                                      <p:cBhvr>
                                        <p:cTn id="37" dur="400" fill="hold"/>
                                        <p:tgtEl>
                                          <p:spTgt spid="510"/>
                                        </p:tgtEl>
                                        <p:attrNameLst>
                                          <p:attrName>ppt_y</p:attrName>
                                        </p:attrNameLst>
                                      </p:cBhvr>
                                      <p:tavLst>
                                        <p:tav tm="0">
                                          <p:val>
                                            <p:strVal val="#ppt_y"/>
                                          </p:val>
                                        </p:tav>
                                        <p:tav tm="100000">
                                          <p:val>
                                            <p:strVal val="#ppt_y"/>
                                          </p:val>
                                        </p:tav>
                                      </p:tavLst>
                                    </p:anim>
                                  </p:childTnLst>
                                </p:cTn>
                              </p:par>
                            </p:childTnLst>
                          </p:cTn>
                        </p:par>
                        <p:par>
                          <p:cTn id="38" fill="hold">
                            <p:stCondLst>
                              <p:cond delay="1200"/>
                            </p:stCondLst>
                            <p:childTnLst>
                              <p:par>
                                <p:cTn id="39" presetClass="entr" nodeType="afterEffect" presetSubtype="8" presetID="2" grpId="8" fill="hold">
                                  <p:stCondLst>
                                    <p:cond delay="0"/>
                                  </p:stCondLst>
                                  <p:iterate type="el" backwards="0">
                                    <p:tmAbs val="0"/>
                                  </p:iterate>
                                  <p:childTnLst>
                                    <p:set>
                                      <p:cBhvr>
                                        <p:cTn id="40" fill="hold"/>
                                        <p:tgtEl>
                                          <p:spTgt spid="508"/>
                                        </p:tgtEl>
                                        <p:attrNameLst>
                                          <p:attrName>style.visibility</p:attrName>
                                        </p:attrNameLst>
                                      </p:cBhvr>
                                      <p:to>
                                        <p:strVal val="visible"/>
                                      </p:to>
                                    </p:set>
                                    <p:anim calcmode="lin" valueType="num">
                                      <p:cBhvr>
                                        <p:cTn id="41" dur="400" fill="hold"/>
                                        <p:tgtEl>
                                          <p:spTgt spid="508"/>
                                        </p:tgtEl>
                                        <p:attrNameLst>
                                          <p:attrName>ppt_x</p:attrName>
                                        </p:attrNameLst>
                                      </p:cBhvr>
                                      <p:tavLst>
                                        <p:tav tm="0">
                                          <p:val>
                                            <p:strVal val="0-#ppt_w/2"/>
                                          </p:val>
                                        </p:tav>
                                        <p:tav tm="100000">
                                          <p:val>
                                            <p:strVal val="#ppt_x"/>
                                          </p:val>
                                        </p:tav>
                                      </p:tavLst>
                                    </p:anim>
                                    <p:anim calcmode="lin" valueType="num">
                                      <p:cBhvr>
                                        <p:cTn id="42" dur="400" fill="hold"/>
                                        <p:tgtEl>
                                          <p:spTgt spid="508"/>
                                        </p:tgtEl>
                                        <p:attrNameLst>
                                          <p:attrName>ppt_y</p:attrName>
                                        </p:attrNameLst>
                                      </p:cBhvr>
                                      <p:tavLst>
                                        <p:tav tm="0">
                                          <p:val>
                                            <p:strVal val="#ppt_y"/>
                                          </p:val>
                                        </p:tav>
                                        <p:tav tm="100000">
                                          <p:val>
                                            <p:strVal val="#ppt_y"/>
                                          </p:val>
                                        </p:tav>
                                      </p:tavLst>
                                    </p:anim>
                                  </p:childTnLst>
                                </p:cTn>
                              </p:par>
                            </p:childTnLst>
                          </p:cTn>
                        </p:par>
                        <p:par>
                          <p:cTn id="43" fill="hold">
                            <p:stCondLst>
                              <p:cond delay="1600"/>
                            </p:stCondLst>
                            <p:childTnLst>
                              <p:par>
                                <p:cTn id="44" presetClass="entr" nodeType="afterEffect" presetSubtype="8" presetID="2" grpId="9" fill="hold">
                                  <p:stCondLst>
                                    <p:cond delay="0"/>
                                  </p:stCondLst>
                                  <p:iterate type="el" backwards="0">
                                    <p:tmAbs val="0"/>
                                  </p:iterate>
                                  <p:childTnLst>
                                    <p:set>
                                      <p:cBhvr>
                                        <p:cTn id="45" fill="hold"/>
                                        <p:tgtEl>
                                          <p:spTgt spid="509"/>
                                        </p:tgtEl>
                                        <p:attrNameLst>
                                          <p:attrName>style.visibility</p:attrName>
                                        </p:attrNameLst>
                                      </p:cBhvr>
                                      <p:to>
                                        <p:strVal val="visible"/>
                                      </p:to>
                                    </p:set>
                                    <p:anim calcmode="lin" valueType="num">
                                      <p:cBhvr>
                                        <p:cTn id="46" dur="400" fill="hold"/>
                                        <p:tgtEl>
                                          <p:spTgt spid="509"/>
                                        </p:tgtEl>
                                        <p:attrNameLst>
                                          <p:attrName>ppt_x</p:attrName>
                                        </p:attrNameLst>
                                      </p:cBhvr>
                                      <p:tavLst>
                                        <p:tav tm="0">
                                          <p:val>
                                            <p:strVal val="0-#ppt_w/2"/>
                                          </p:val>
                                        </p:tav>
                                        <p:tav tm="100000">
                                          <p:val>
                                            <p:strVal val="#ppt_x"/>
                                          </p:val>
                                        </p:tav>
                                      </p:tavLst>
                                    </p:anim>
                                    <p:anim calcmode="lin" valueType="num">
                                      <p:cBhvr>
                                        <p:cTn id="47" dur="400" fill="hold"/>
                                        <p:tgtEl>
                                          <p:spTgt spid="509"/>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Class="entr" nodeType="clickEffect" presetSubtype="8" presetID="2" grpId="10" fill="hold">
                                  <p:stCondLst>
                                    <p:cond delay="0"/>
                                  </p:stCondLst>
                                  <p:iterate type="el" backwards="0">
                                    <p:tmAbs val="0"/>
                                  </p:iterate>
                                  <p:childTnLst>
                                    <p:set>
                                      <p:cBhvr>
                                        <p:cTn id="51" fill="hold"/>
                                        <p:tgtEl>
                                          <p:spTgt spid="512"/>
                                        </p:tgtEl>
                                        <p:attrNameLst>
                                          <p:attrName>style.visibility</p:attrName>
                                        </p:attrNameLst>
                                      </p:cBhvr>
                                      <p:to>
                                        <p:strVal val="visible"/>
                                      </p:to>
                                    </p:set>
                                    <p:anim calcmode="lin" valueType="num">
                                      <p:cBhvr>
                                        <p:cTn id="52" dur="400" fill="hold"/>
                                        <p:tgtEl>
                                          <p:spTgt spid="512"/>
                                        </p:tgtEl>
                                        <p:attrNameLst>
                                          <p:attrName>ppt_x</p:attrName>
                                        </p:attrNameLst>
                                      </p:cBhvr>
                                      <p:tavLst>
                                        <p:tav tm="0">
                                          <p:val>
                                            <p:strVal val="0-#ppt_w/2"/>
                                          </p:val>
                                        </p:tav>
                                        <p:tav tm="100000">
                                          <p:val>
                                            <p:strVal val="#ppt_x"/>
                                          </p:val>
                                        </p:tav>
                                      </p:tavLst>
                                    </p:anim>
                                    <p:anim calcmode="lin" valueType="num">
                                      <p:cBhvr>
                                        <p:cTn id="53" dur="400" fill="hold"/>
                                        <p:tgtEl>
                                          <p:spTgt spid="512"/>
                                        </p:tgtEl>
                                        <p:attrNameLst>
                                          <p:attrName>ppt_y</p:attrName>
                                        </p:attrNameLst>
                                      </p:cBhvr>
                                      <p:tavLst>
                                        <p:tav tm="0">
                                          <p:val>
                                            <p:strVal val="#ppt_y"/>
                                          </p:val>
                                        </p:tav>
                                        <p:tav tm="100000">
                                          <p:val>
                                            <p:strVal val="#ppt_y"/>
                                          </p:val>
                                        </p:tav>
                                      </p:tavLst>
                                    </p:anim>
                                  </p:childTnLst>
                                </p:cTn>
                              </p:par>
                            </p:childTnLst>
                          </p:cTn>
                        </p:par>
                        <p:par>
                          <p:cTn id="54" fill="hold">
                            <p:stCondLst>
                              <p:cond delay="400"/>
                            </p:stCondLst>
                            <p:childTnLst>
                              <p:par>
                                <p:cTn id="55" presetClass="entr" nodeType="afterEffect" presetSubtype="8" presetID="2" grpId="11" fill="hold">
                                  <p:stCondLst>
                                    <p:cond delay="0"/>
                                  </p:stCondLst>
                                  <p:iterate type="el" backwards="0">
                                    <p:tmAbs val="0"/>
                                  </p:iterate>
                                  <p:childTnLst>
                                    <p:set>
                                      <p:cBhvr>
                                        <p:cTn id="56" fill="hold"/>
                                        <p:tgtEl>
                                          <p:spTgt spid="513"/>
                                        </p:tgtEl>
                                        <p:attrNameLst>
                                          <p:attrName>style.visibility</p:attrName>
                                        </p:attrNameLst>
                                      </p:cBhvr>
                                      <p:to>
                                        <p:strVal val="visible"/>
                                      </p:to>
                                    </p:set>
                                    <p:anim calcmode="lin" valueType="num">
                                      <p:cBhvr>
                                        <p:cTn id="57" dur="400" fill="hold"/>
                                        <p:tgtEl>
                                          <p:spTgt spid="513"/>
                                        </p:tgtEl>
                                        <p:attrNameLst>
                                          <p:attrName>ppt_x</p:attrName>
                                        </p:attrNameLst>
                                      </p:cBhvr>
                                      <p:tavLst>
                                        <p:tav tm="0">
                                          <p:val>
                                            <p:strVal val="0-#ppt_w/2"/>
                                          </p:val>
                                        </p:tav>
                                        <p:tav tm="100000">
                                          <p:val>
                                            <p:strVal val="#ppt_x"/>
                                          </p:val>
                                        </p:tav>
                                      </p:tavLst>
                                    </p:anim>
                                    <p:anim calcmode="lin" valueType="num">
                                      <p:cBhvr>
                                        <p:cTn id="58" dur="400" fill="hold"/>
                                        <p:tgtEl>
                                          <p:spTgt spid="513"/>
                                        </p:tgtEl>
                                        <p:attrNameLst>
                                          <p:attrName>ppt_y</p:attrName>
                                        </p:attrNameLst>
                                      </p:cBhvr>
                                      <p:tavLst>
                                        <p:tav tm="0">
                                          <p:val>
                                            <p:strVal val="#ppt_y"/>
                                          </p:val>
                                        </p:tav>
                                        <p:tav tm="100000">
                                          <p:val>
                                            <p:strVal val="#ppt_y"/>
                                          </p:val>
                                        </p:tav>
                                      </p:tavLst>
                                    </p:anim>
                                  </p:childTnLst>
                                </p:cTn>
                              </p:par>
                            </p:childTnLst>
                          </p:cTn>
                        </p:par>
                        <p:par>
                          <p:cTn id="59" fill="hold">
                            <p:stCondLst>
                              <p:cond delay="800"/>
                            </p:stCondLst>
                            <p:childTnLst>
                              <p:par>
                                <p:cTn id="60" presetClass="entr" nodeType="afterEffect" presetSubtype="8" presetID="2" grpId="12" fill="hold">
                                  <p:stCondLst>
                                    <p:cond delay="0"/>
                                  </p:stCondLst>
                                  <p:iterate type="el" backwards="0">
                                    <p:tmAbs val="0"/>
                                  </p:iterate>
                                  <p:childTnLst>
                                    <p:set>
                                      <p:cBhvr>
                                        <p:cTn id="61" fill="hold"/>
                                        <p:tgtEl>
                                          <p:spTgt spid="514"/>
                                        </p:tgtEl>
                                        <p:attrNameLst>
                                          <p:attrName>style.visibility</p:attrName>
                                        </p:attrNameLst>
                                      </p:cBhvr>
                                      <p:to>
                                        <p:strVal val="visible"/>
                                      </p:to>
                                    </p:set>
                                    <p:anim calcmode="lin" valueType="num">
                                      <p:cBhvr>
                                        <p:cTn id="62" dur="400" fill="hold"/>
                                        <p:tgtEl>
                                          <p:spTgt spid="514"/>
                                        </p:tgtEl>
                                        <p:attrNameLst>
                                          <p:attrName>ppt_x</p:attrName>
                                        </p:attrNameLst>
                                      </p:cBhvr>
                                      <p:tavLst>
                                        <p:tav tm="0">
                                          <p:val>
                                            <p:strVal val="0-#ppt_w/2"/>
                                          </p:val>
                                        </p:tav>
                                        <p:tav tm="100000">
                                          <p:val>
                                            <p:strVal val="#ppt_x"/>
                                          </p:val>
                                        </p:tav>
                                      </p:tavLst>
                                    </p:anim>
                                    <p:anim calcmode="lin" valueType="num">
                                      <p:cBhvr>
                                        <p:cTn id="63" dur="400" fill="hold"/>
                                        <p:tgtEl>
                                          <p:spTgt spid="514"/>
                                        </p:tgtEl>
                                        <p:attrNameLst>
                                          <p:attrName>ppt_y</p:attrName>
                                        </p:attrNameLst>
                                      </p:cBhvr>
                                      <p:tavLst>
                                        <p:tav tm="0">
                                          <p:val>
                                            <p:strVal val="#ppt_y"/>
                                          </p:val>
                                        </p:tav>
                                        <p:tav tm="100000">
                                          <p:val>
                                            <p:strVal val="#ppt_y"/>
                                          </p:val>
                                        </p:tav>
                                      </p:tavLst>
                                    </p:anim>
                                  </p:childTnLst>
                                </p:cTn>
                              </p:par>
                            </p:childTnLst>
                          </p:cTn>
                        </p:par>
                        <p:par>
                          <p:cTn id="64" fill="hold">
                            <p:stCondLst>
                              <p:cond delay="1200"/>
                            </p:stCondLst>
                            <p:childTnLst>
                              <p:par>
                                <p:cTn id="65" presetClass="entr" nodeType="afterEffect" presetSubtype="8" presetID="2" grpId="13" fill="hold">
                                  <p:stCondLst>
                                    <p:cond delay="0"/>
                                  </p:stCondLst>
                                  <p:iterate type="el" backwards="0">
                                    <p:tmAbs val="0"/>
                                  </p:iterate>
                                  <p:childTnLst>
                                    <p:set>
                                      <p:cBhvr>
                                        <p:cTn id="66" fill="hold"/>
                                        <p:tgtEl>
                                          <p:spTgt spid="515"/>
                                        </p:tgtEl>
                                        <p:attrNameLst>
                                          <p:attrName>style.visibility</p:attrName>
                                        </p:attrNameLst>
                                      </p:cBhvr>
                                      <p:to>
                                        <p:strVal val="visible"/>
                                      </p:to>
                                    </p:set>
                                    <p:anim calcmode="lin" valueType="num">
                                      <p:cBhvr>
                                        <p:cTn id="67" dur="400" fill="hold"/>
                                        <p:tgtEl>
                                          <p:spTgt spid="515"/>
                                        </p:tgtEl>
                                        <p:attrNameLst>
                                          <p:attrName>ppt_x</p:attrName>
                                        </p:attrNameLst>
                                      </p:cBhvr>
                                      <p:tavLst>
                                        <p:tav tm="0">
                                          <p:val>
                                            <p:strVal val="0-#ppt_w/2"/>
                                          </p:val>
                                        </p:tav>
                                        <p:tav tm="100000">
                                          <p:val>
                                            <p:strVal val="#ppt_x"/>
                                          </p:val>
                                        </p:tav>
                                      </p:tavLst>
                                    </p:anim>
                                    <p:anim calcmode="lin" valueType="num">
                                      <p:cBhvr>
                                        <p:cTn id="68" dur="400" fill="hold"/>
                                        <p:tgtEl>
                                          <p:spTgt spid="515"/>
                                        </p:tgtEl>
                                        <p:attrNameLst>
                                          <p:attrName>ppt_y</p:attrName>
                                        </p:attrNameLst>
                                      </p:cBhvr>
                                      <p:tavLst>
                                        <p:tav tm="0">
                                          <p:val>
                                            <p:strVal val="#ppt_y"/>
                                          </p:val>
                                        </p:tav>
                                        <p:tav tm="100000">
                                          <p:val>
                                            <p:strVal val="#ppt_y"/>
                                          </p:val>
                                        </p:tav>
                                      </p:tavLst>
                                    </p:anim>
                                  </p:childTnLst>
                                </p:cTn>
                              </p:par>
                            </p:childTnLst>
                          </p:cTn>
                        </p:par>
                        <p:par>
                          <p:cTn id="69" fill="hold">
                            <p:stCondLst>
                              <p:cond delay="1600"/>
                            </p:stCondLst>
                            <p:childTnLst>
                              <p:par>
                                <p:cTn id="70" presetClass="entr" nodeType="afterEffect" presetSubtype="8" presetID="2" grpId="14" fill="hold">
                                  <p:stCondLst>
                                    <p:cond delay="0"/>
                                  </p:stCondLst>
                                  <p:iterate type="el" backwards="0">
                                    <p:tmAbs val="0"/>
                                  </p:iterate>
                                  <p:childTnLst>
                                    <p:set>
                                      <p:cBhvr>
                                        <p:cTn id="71" fill="hold"/>
                                        <p:tgtEl>
                                          <p:spTgt spid="516"/>
                                        </p:tgtEl>
                                        <p:attrNameLst>
                                          <p:attrName>style.visibility</p:attrName>
                                        </p:attrNameLst>
                                      </p:cBhvr>
                                      <p:to>
                                        <p:strVal val="visible"/>
                                      </p:to>
                                    </p:set>
                                    <p:anim calcmode="lin" valueType="num">
                                      <p:cBhvr>
                                        <p:cTn id="72" dur="400" fill="hold"/>
                                        <p:tgtEl>
                                          <p:spTgt spid="516"/>
                                        </p:tgtEl>
                                        <p:attrNameLst>
                                          <p:attrName>ppt_x</p:attrName>
                                        </p:attrNameLst>
                                      </p:cBhvr>
                                      <p:tavLst>
                                        <p:tav tm="0">
                                          <p:val>
                                            <p:strVal val="0-#ppt_w/2"/>
                                          </p:val>
                                        </p:tav>
                                        <p:tav tm="100000">
                                          <p:val>
                                            <p:strVal val="#ppt_x"/>
                                          </p:val>
                                        </p:tav>
                                      </p:tavLst>
                                    </p:anim>
                                    <p:anim calcmode="lin" valueType="num">
                                      <p:cBhvr>
                                        <p:cTn id="73" dur="400" fill="hold"/>
                                        <p:tgtEl>
                                          <p:spTgt spid="516"/>
                                        </p:tgtEl>
                                        <p:attrNameLst>
                                          <p:attrName>ppt_y</p:attrName>
                                        </p:attrNameLst>
                                      </p:cBhvr>
                                      <p:tavLst>
                                        <p:tav tm="0">
                                          <p:val>
                                            <p:strVal val="#ppt_y"/>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Class="entr" nodeType="clickEffect" presetSubtype="8" presetID="2" grpId="15" fill="hold">
                                  <p:stCondLst>
                                    <p:cond delay="0"/>
                                  </p:stCondLst>
                                  <p:iterate type="el" backwards="0">
                                    <p:tmAbs val="0"/>
                                  </p:iterate>
                                  <p:childTnLst>
                                    <p:set>
                                      <p:cBhvr>
                                        <p:cTn id="77" fill="hold"/>
                                        <p:tgtEl>
                                          <p:spTgt spid="517"/>
                                        </p:tgtEl>
                                        <p:attrNameLst>
                                          <p:attrName>style.visibility</p:attrName>
                                        </p:attrNameLst>
                                      </p:cBhvr>
                                      <p:to>
                                        <p:strVal val="visible"/>
                                      </p:to>
                                    </p:set>
                                    <p:anim calcmode="lin" valueType="num">
                                      <p:cBhvr>
                                        <p:cTn id="78" dur="1000" fill="hold"/>
                                        <p:tgtEl>
                                          <p:spTgt spid="517"/>
                                        </p:tgtEl>
                                        <p:attrNameLst>
                                          <p:attrName>ppt_x</p:attrName>
                                        </p:attrNameLst>
                                      </p:cBhvr>
                                      <p:tavLst>
                                        <p:tav tm="0">
                                          <p:val>
                                            <p:strVal val="0-#ppt_w/2"/>
                                          </p:val>
                                        </p:tav>
                                        <p:tav tm="100000">
                                          <p:val>
                                            <p:strVal val="#ppt_x"/>
                                          </p:val>
                                        </p:tav>
                                      </p:tavLst>
                                    </p:anim>
                                    <p:anim calcmode="lin" valueType="num">
                                      <p:cBhvr>
                                        <p:cTn id="79" dur="1000" fill="hold"/>
                                        <p:tgtEl>
                                          <p:spTgt spid="517"/>
                                        </p:tgtEl>
                                        <p:attrNameLst>
                                          <p:attrName>ppt_y</p:attrName>
                                        </p:attrNameLst>
                                      </p:cBhvr>
                                      <p:tavLst>
                                        <p:tav tm="0">
                                          <p:val>
                                            <p:strVal val="#ppt_y"/>
                                          </p:val>
                                        </p:tav>
                                        <p:tav tm="100000">
                                          <p:val>
                                            <p:strVal val="#ppt_y"/>
                                          </p:val>
                                        </p:tav>
                                      </p:tavLst>
                                    </p:anim>
                                  </p:childTnLst>
                                </p:cTn>
                              </p:par>
                            </p:childTnLst>
                          </p:cTn>
                        </p:par>
                        <p:par>
                          <p:cTn id="80" fill="hold">
                            <p:stCondLst>
                              <p:cond delay="1000"/>
                            </p:stCondLst>
                            <p:childTnLst>
                              <p:par>
                                <p:cTn id="81" presetClass="entr" nodeType="afterEffect" presetID="9" grpId="16" fill="hold">
                                  <p:stCondLst>
                                    <p:cond delay="0"/>
                                  </p:stCondLst>
                                  <p:iterate type="el" backwards="0">
                                    <p:tmAbs val="0"/>
                                  </p:iterate>
                                  <p:childTnLst>
                                    <p:set>
                                      <p:cBhvr>
                                        <p:cTn id="82" fill="hold"/>
                                        <p:tgtEl>
                                          <p:spTgt spid="518"/>
                                        </p:tgtEl>
                                        <p:attrNameLst>
                                          <p:attrName>style.visibility</p:attrName>
                                        </p:attrNameLst>
                                      </p:cBhvr>
                                      <p:to>
                                        <p:strVal val="visible"/>
                                      </p:to>
                                    </p:set>
                                    <p:animEffect filter="dissolve" transition="in">
                                      <p:cBhvr>
                                        <p:cTn id="83" dur="2000"/>
                                        <p:tgtEl>
                                          <p:spTgt spid="518"/>
                                        </p:tgtEl>
                                      </p:cBhvr>
                                    </p:animEffect>
                                  </p:childTnLst>
                                </p:cTn>
                              </p:par>
                            </p:childTnLst>
                          </p:cTn>
                        </p:par>
                        <p:par>
                          <p:cTn id="84" fill="hold">
                            <p:stCondLst>
                              <p:cond delay="3000"/>
                            </p:stCondLst>
                            <p:childTnLst>
                              <p:par>
                                <p:cTn id="85" presetClass="entr" nodeType="afterEffect" presetSubtype="8" presetID="2" grpId="17" fill="hold">
                                  <p:stCondLst>
                                    <p:cond delay="0"/>
                                  </p:stCondLst>
                                  <p:iterate type="el" backwards="0">
                                    <p:tmAbs val="0"/>
                                  </p:iterate>
                                  <p:childTnLst>
                                    <p:set>
                                      <p:cBhvr>
                                        <p:cTn id="86" fill="hold"/>
                                        <p:tgtEl>
                                          <p:spTgt spid="520"/>
                                        </p:tgtEl>
                                        <p:attrNameLst>
                                          <p:attrName>style.visibility</p:attrName>
                                        </p:attrNameLst>
                                      </p:cBhvr>
                                      <p:to>
                                        <p:strVal val="visible"/>
                                      </p:to>
                                    </p:set>
                                    <p:anim calcmode="lin" valueType="num">
                                      <p:cBhvr>
                                        <p:cTn id="87" dur="1000" fill="hold"/>
                                        <p:tgtEl>
                                          <p:spTgt spid="520"/>
                                        </p:tgtEl>
                                        <p:attrNameLst>
                                          <p:attrName>ppt_x</p:attrName>
                                        </p:attrNameLst>
                                      </p:cBhvr>
                                      <p:tavLst>
                                        <p:tav tm="0">
                                          <p:val>
                                            <p:strVal val="0-#ppt_w/2"/>
                                          </p:val>
                                        </p:tav>
                                        <p:tav tm="100000">
                                          <p:val>
                                            <p:strVal val="#ppt_x"/>
                                          </p:val>
                                        </p:tav>
                                      </p:tavLst>
                                    </p:anim>
                                    <p:anim calcmode="lin" valueType="num">
                                      <p:cBhvr>
                                        <p:cTn id="88" dur="1000" fill="hold"/>
                                        <p:tgtEl>
                                          <p:spTgt spid="5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12" grpId="10"/>
      <p:bldP build="whole" bldLvl="1" animBg="1" rev="0" advAuto="0" spid="507" grpId="6"/>
      <p:bldP build="whole" bldLvl="1" animBg="1" rev="0" advAuto="0" spid="518" grpId="16"/>
      <p:bldP build="whole" bldLvl="1" animBg="1" rev="0" advAuto="0" spid="520" grpId="17"/>
      <p:bldP build="whole" bldLvl="1" animBg="1" rev="0" advAuto="0" spid="513" grpId="11"/>
      <p:bldP build="whole" bldLvl="1" animBg="1" rev="0" advAuto="0" spid="516" grpId="14"/>
      <p:bldP build="whole" bldLvl="1" animBg="1" rev="0" advAuto="0" spid="508" grpId="8"/>
      <p:bldP build="whole" bldLvl="1" animBg="1" rev="0" advAuto="0" spid="505" grpId="3"/>
      <p:bldP build="whole" bldLvl="1" animBg="1" rev="0" advAuto="0" spid="514" grpId="12"/>
      <p:bldP build="whole" bldLvl="1" animBg="1" rev="0" advAuto="0" spid="517" grpId="15"/>
      <p:bldP build="whole" bldLvl="1" animBg="1" rev="0" advAuto="0" spid="515" grpId="13"/>
      <p:bldP build="whole" bldLvl="1" animBg="1" rev="0" advAuto="0" spid="504" grpId="1"/>
      <p:bldP build="whole" bldLvl="1" animBg="1" rev="0" advAuto="0" spid="506" grpId="5"/>
      <p:bldP build="whole" bldLvl="1" animBg="1" rev="0" advAuto="0" spid="511" grpId="4"/>
      <p:bldP build="whole" bldLvl="1" animBg="1" rev="0" advAuto="0" spid="510" grpId="7"/>
      <p:bldP build="whole" bldLvl="1" animBg="1" rev="0" advAuto="0" spid="509" grpId="9"/>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23" name="Voting"/>
          <p:cNvSpPr txBox="1"/>
          <p:nvPr/>
        </p:nvSpPr>
        <p:spPr>
          <a:xfrm>
            <a:off x="9522459" y="5213377"/>
            <a:ext cx="5339081" cy="268782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3600"/>
            </a:lvl1pPr>
          </a:lstStyle>
          <a:p>
            <a:pPr/>
            <a:r>
              <a:t>Voting</a:t>
            </a:r>
          </a:p>
        </p:txBody>
      </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26" name="Voting"/>
          <p:cNvSpPr txBox="1"/>
          <p:nvPr/>
        </p:nvSpPr>
        <p:spPr>
          <a:xfrm>
            <a:off x="9263781" y="620697"/>
            <a:ext cx="2880361" cy="147675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200"/>
            </a:lvl1pPr>
          </a:lstStyle>
          <a:p>
            <a:pPr/>
            <a:r>
              <a:t>Voting</a:t>
            </a:r>
          </a:p>
        </p:txBody>
      </p:sp>
      <p:sp>
        <p:nvSpPr>
          <p:cNvPr id="527" name="Hard Voting"/>
          <p:cNvSpPr txBox="1"/>
          <p:nvPr/>
        </p:nvSpPr>
        <p:spPr>
          <a:xfrm>
            <a:off x="5090438" y="2697457"/>
            <a:ext cx="320725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Hard Voting</a:t>
            </a:r>
          </a:p>
        </p:txBody>
      </p:sp>
      <p:sp>
        <p:nvSpPr>
          <p:cNvPr id="528" name="Soft Voting"/>
          <p:cNvSpPr txBox="1"/>
          <p:nvPr/>
        </p:nvSpPr>
        <p:spPr>
          <a:xfrm>
            <a:off x="15435305" y="2697457"/>
            <a:ext cx="296697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Soft Voting</a:t>
            </a:r>
          </a:p>
        </p:txBody>
      </p:sp>
      <p:pic>
        <p:nvPicPr>
          <p:cNvPr id="529" name="Captură de ecran din 2024-10-20 la 23.08.18.png" descr="Captură de ecran din 2024-10-20 la 23.08.18.png"/>
          <p:cNvPicPr>
            <a:picLocks noChangeAspect="1"/>
          </p:cNvPicPr>
          <p:nvPr/>
        </p:nvPicPr>
        <p:blipFill>
          <a:blip r:embed="rId2">
            <a:extLst/>
          </a:blip>
          <a:stretch>
            <a:fillRect/>
          </a:stretch>
        </p:blipFill>
        <p:spPr>
          <a:xfrm>
            <a:off x="3376257" y="3645024"/>
            <a:ext cx="8229866" cy="4884194"/>
          </a:xfrm>
          <a:prstGeom prst="rect">
            <a:avLst/>
          </a:prstGeom>
          <a:ln w="12700">
            <a:miter lim="400000"/>
          </a:ln>
        </p:spPr>
      </p:pic>
      <p:pic>
        <p:nvPicPr>
          <p:cNvPr id="530" name="Captură de ecran din 2024-10-20 la 23.08.41.png" descr="Captură de ecran din 2024-10-20 la 23.08.41.png"/>
          <p:cNvPicPr>
            <a:picLocks noChangeAspect="1"/>
          </p:cNvPicPr>
          <p:nvPr/>
        </p:nvPicPr>
        <p:blipFill>
          <a:blip r:embed="rId3">
            <a:extLst/>
          </a:blip>
          <a:stretch>
            <a:fillRect/>
          </a:stretch>
        </p:blipFill>
        <p:spPr>
          <a:xfrm>
            <a:off x="15112116" y="4359920"/>
            <a:ext cx="4749801" cy="3454401"/>
          </a:xfrm>
          <a:prstGeom prst="rect">
            <a:avLst/>
          </a:prstGeom>
          <a:ln w="12700">
            <a:miter lim="400000"/>
          </a:ln>
        </p:spPr>
      </p:pic>
      <p:pic>
        <p:nvPicPr>
          <p:cNvPr id="531" name="Linie Linie" descr="Linie Linie"/>
          <p:cNvPicPr>
            <a:picLocks noChangeAspect="0"/>
          </p:cNvPicPr>
          <p:nvPr/>
        </p:nvPicPr>
        <p:blipFill>
          <a:blip r:embed="rId4">
            <a:extLst/>
          </a:blip>
          <a:stretch>
            <a:fillRect/>
          </a:stretch>
        </p:blipFill>
        <p:spPr>
          <a:xfrm rot="16200000">
            <a:off x="7494109" y="7426141"/>
            <a:ext cx="9363786" cy="101601"/>
          </a:xfrm>
          <a:prstGeom prst="rect">
            <a:avLst/>
          </a:prstGeom>
        </p:spPr>
      </p:pic>
      <p:sp>
        <p:nvSpPr>
          <p:cNvPr id="533" name="(la clasificare)"/>
          <p:cNvSpPr txBox="1"/>
          <p:nvPr/>
        </p:nvSpPr>
        <p:spPr>
          <a:xfrm>
            <a:off x="12312387" y="1034993"/>
            <a:ext cx="361853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(la clasificare)</a:t>
            </a:r>
          </a:p>
        </p:txBody>
      </p:sp>
      <p:sp>
        <p:nvSpPr>
          <p:cNvPr id="534" name="- fiecare model din ansamblu (un grup de modele) face propria predicție (ca un “vot”)."/>
          <p:cNvSpPr txBox="1"/>
          <p:nvPr/>
        </p:nvSpPr>
        <p:spPr>
          <a:xfrm>
            <a:off x="150148" y="9434059"/>
            <a:ext cx="11629340" cy="55575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400"/>
            </a:lvl1pPr>
          </a:lstStyle>
          <a:p>
            <a:pPr/>
            <a:r>
              <a:t>- fiecare model din ansamblu (un grup de modele) face propria predicție (ca un “vot”).</a:t>
            </a:r>
          </a:p>
        </p:txBody>
      </p:sp>
      <p:pic>
        <p:nvPicPr>
          <p:cNvPr id="535" name="Oval Oval" descr="Oval Oval"/>
          <p:cNvPicPr>
            <a:picLocks noChangeAspect="0"/>
          </p:cNvPicPr>
          <p:nvPr/>
        </p:nvPicPr>
        <p:blipFill>
          <a:blip r:embed="rId5">
            <a:extLst/>
          </a:blip>
          <a:stretch>
            <a:fillRect/>
          </a:stretch>
        </p:blipFill>
        <p:spPr>
          <a:xfrm>
            <a:off x="7085404" y="5322932"/>
            <a:ext cx="648430" cy="773596"/>
          </a:xfrm>
          <a:prstGeom prst="rect">
            <a:avLst/>
          </a:prstGeom>
        </p:spPr>
      </p:pic>
      <p:pic>
        <p:nvPicPr>
          <p:cNvPr id="537" name="Oval Oval" descr="Oval Oval"/>
          <p:cNvPicPr>
            <a:picLocks noChangeAspect="0"/>
          </p:cNvPicPr>
          <p:nvPr/>
        </p:nvPicPr>
        <p:blipFill>
          <a:blip r:embed="rId6">
            <a:extLst/>
          </a:blip>
          <a:stretch>
            <a:fillRect/>
          </a:stretch>
        </p:blipFill>
        <p:spPr>
          <a:xfrm>
            <a:off x="5244551" y="5322932"/>
            <a:ext cx="811572" cy="789251"/>
          </a:xfrm>
          <a:prstGeom prst="rect">
            <a:avLst/>
          </a:prstGeom>
        </p:spPr>
      </p:pic>
      <p:pic>
        <p:nvPicPr>
          <p:cNvPr id="539" name="Oval Oval" descr="Oval Oval"/>
          <p:cNvPicPr>
            <a:picLocks noChangeAspect="0"/>
          </p:cNvPicPr>
          <p:nvPr/>
        </p:nvPicPr>
        <p:blipFill>
          <a:blip r:embed="rId6">
            <a:extLst/>
          </a:blip>
          <a:stretch>
            <a:fillRect/>
          </a:stretch>
        </p:blipFill>
        <p:spPr>
          <a:xfrm>
            <a:off x="3657310" y="5449932"/>
            <a:ext cx="811571" cy="789251"/>
          </a:xfrm>
          <a:prstGeom prst="rect">
            <a:avLst/>
          </a:prstGeom>
        </p:spPr>
      </p:pic>
      <p:pic>
        <p:nvPicPr>
          <p:cNvPr id="541" name="Oval Oval" descr="Oval Oval"/>
          <p:cNvPicPr>
            <a:picLocks noChangeAspect="0"/>
          </p:cNvPicPr>
          <p:nvPr/>
        </p:nvPicPr>
        <p:blipFill>
          <a:blip r:embed="rId6">
            <a:extLst/>
          </a:blip>
          <a:stretch>
            <a:fillRect/>
          </a:stretch>
        </p:blipFill>
        <p:spPr>
          <a:xfrm>
            <a:off x="8684876" y="5315105"/>
            <a:ext cx="811572" cy="789250"/>
          </a:xfrm>
          <a:prstGeom prst="rect">
            <a:avLst/>
          </a:prstGeom>
        </p:spPr>
      </p:pic>
      <p:sp>
        <p:nvSpPr>
          <p:cNvPr id="543" name="- predicția finală se bazează pe votul majoritar. Eticheta/clasa care primește cele mai multe voturi câștigă."/>
          <p:cNvSpPr txBox="1"/>
          <p:nvPr/>
        </p:nvSpPr>
        <p:spPr>
          <a:xfrm>
            <a:off x="150148" y="10275192"/>
            <a:ext cx="11629340" cy="9675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 predicția finală se bazează pe votul majoritar. Eticheta/clasa care primește cele mai multe voturi câștigă.</a:t>
            </a:r>
          </a:p>
        </p:txBody>
      </p:sp>
      <p:pic>
        <p:nvPicPr>
          <p:cNvPr id="544" name="Linie Linie" descr="Linie Linie"/>
          <p:cNvPicPr>
            <a:picLocks noChangeAspect="0"/>
          </p:cNvPicPr>
          <p:nvPr/>
        </p:nvPicPr>
        <p:blipFill>
          <a:blip r:embed="rId7">
            <a:extLst/>
          </a:blip>
          <a:stretch>
            <a:fillRect/>
          </a:stretch>
        </p:blipFill>
        <p:spPr>
          <a:xfrm>
            <a:off x="6849596" y="9899324"/>
            <a:ext cx="2981961" cy="101601"/>
          </a:xfrm>
          <a:prstGeom prst="rect">
            <a:avLst/>
          </a:prstGeom>
        </p:spPr>
      </p:pic>
      <p:pic>
        <p:nvPicPr>
          <p:cNvPr id="546" name="Linie Linie" descr="Linie Linie"/>
          <p:cNvPicPr>
            <a:picLocks noChangeAspect="0"/>
          </p:cNvPicPr>
          <p:nvPr/>
        </p:nvPicPr>
        <p:blipFill>
          <a:blip r:embed="rId8">
            <a:extLst/>
          </a:blip>
          <a:stretch>
            <a:fillRect/>
          </a:stretch>
        </p:blipFill>
        <p:spPr>
          <a:xfrm>
            <a:off x="10289963" y="10708161"/>
            <a:ext cx="1344310" cy="101601"/>
          </a:xfrm>
          <a:prstGeom prst="rect">
            <a:avLst/>
          </a:prstGeom>
        </p:spPr>
      </p:pic>
      <p:pic>
        <p:nvPicPr>
          <p:cNvPr id="548" name="Linie Linie" descr="Linie Linie"/>
          <p:cNvPicPr>
            <a:picLocks noChangeAspect="0"/>
          </p:cNvPicPr>
          <p:nvPr/>
        </p:nvPicPr>
        <p:blipFill>
          <a:blip r:embed="rId9">
            <a:extLst/>
          </a:blip>
          <a:stretch>
            <a:fillRect/>
          </a:stretch>
        </p:blipFill>
        <p:spPr>
          <a:xfrm>
            <a:off x="119733" y="11172449"/>
            <a:ext cx="2880360" cy="101601"/>
          </a:xfrm>
          <a:prstGeom prst="rect">
            <a:avLst/>
          </a:prstGeom>
        </p:spPr>
      </p:pic>
      <p:pic>
        <p:nvPicPr>
          <p:cNvPr id="550" name="Linie Linie" descr="Linie Linie"/>
          <p:cNvPicPr>
            <a:picLocks noChangeAspect="0"/>
          </p:cNvPicPr>
          <p:nvPr/>
        </p:nvPicPr>
        <p:blipFill>
          <a:blip r:embed="rId10">
            <a:extLst/>
          </a:blip>
          <a:stretch>
            <a:fillRect/>
          </a:stretch>
        </p:blipFill>
        <p:spPr>
          <a:xfrm rot="9582359">
            <a:off x="4124142" y="4847334"/>
            <a:ext cx="2243362" cy="405591"/>
          </a:xfrm>
          <a:prstGeom prst="rect">
            <a:avLst/>
          </a:prstGeom>
        </p:spPr>
      </p:pic>
      <p:pic>
        <p:nvPicPr>
          <p:cNvPr id="552" name="Linie Linie" descr="Linie Linie"/>
          <p:cNvPicPr>
            <a:picLocks noChangeAspect="0"/>
          </p:cNvPicPr>
          <p:nvPr/>
        </p:nvPicPr>
        <p:blipFill>
          <a:blip r:embed="rId11">
            <a:extLst/>
          </a:blip>
          <a:stretch>
            <a:fillRect/>
          </a:stretch>
        </p:blipFill>
        <p:spPr>
          <a:xfrm rot="8100000">
            <a:off x="5654025" y="4881486"/>
            <a:ext cx="889086" cy="405591"/>
          </a:xfrm>
          <a:prstGeom prst="rect">
            <a:avLst/>
          </a:prstGeom>
        </p:spPr>
      </p:pic>
      <p:pic>
        <p:nvPicPr>
          <p:cNvPr id="554" name="Linie Linie" descr="Linie Linie"/>
          <p:cNvPicPr>
            <a:picLocks noChangeAspect="0"/>
          </p:cNvPicPr>
          <p:nvPr/>
        </p:nvPicPr>
        <p:blipFill>
          <a:blip r:embed="rId12">
            <a:extLst/>
          </a:blip>
          <a:stretch>
            <a:fillRect/>
          </a:stretch>
        </p:blipFill>
        <p:spPr>
          <a:xfrm rot="890411">
            <a:off x="6547666" y="4834397"/>
            <a:ext cx="2461229" cy="405592"/>
          </a:xfrm>
          <a:prstGeom prst="rect">
            <a:avLst/>
          </a:prstGeom>
        </p:spPr>
      </p:pic>
      <p:sp>
        <p:nvSpPr>
          <p:cNvPr id="556" name="- în loc să voteze doar pentru o etichetă, fiecare model oferă probabilități pentru fiecare clasă."/>
          <p:cNvSpPr txBox="1"/>
          <p:nvPr/>
        </p:nvSpPr>
        <p:spPr>
          <a:xfrm>
            <a:off x="12339552" y="9228166"/>
            <a:ext cx="11758883" cy="9675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 în loc să voteze doar pentru o etichetă, fiecare model oferă probabilități pentru fiecare clasă.</a:t>
            </a:r>
          </a:p>
        </p:txBody>
      </p:sp>
      <p:pic>
        <p:nvPicPr>
          <p:cNvPr id="557" name="Linie Linie" descr="Linie Linie"/>
          <p:cNvPicPr>
            <a:picLocks noChangeAspect="0"/>
          </p:cNvPicPr>
          <p:nvPr/>
        </p:nvPicPr>
        <p:blipFill>
          <a:blip r:embed="rId7">
            <a:extLst/>
          </a:blip>
          <a:stretch>
            <a:fillRect/>
          </a:stretch>
        </p:blipFill>
        <p:spPr>
          <a:xfrm>
            <a:off x="19495965" y="9661135"/>
            <a:ext cx="2981960" cy="101601"/>
          </a:xfrm>
          <a:prstGeom prst="rect">
            <a:avLst/>
          </a:prstGeom>
        </p:spPr>
      </p:pic>
      <p:pic>
        <p:nvPicPr>
          <p:cNvPr id="559" name="Linie Linie" descr="Linie Linie"/>
          <p:cNvPicPr>
            <a:picLocks noChangeAspect="0"/>
          </p:cNvPicPr>
          <p:nvPr/>
        </p:nvPicPr>
        <p:blipFill>
          <a:blip r:embed="rId13">
            <a:extLst/>
          </a:blip>
          <a:stretch>
            <a:fillRect/>
          </a:stretch>
        </p:blipFill>
        <p:spPr>
          <a:xfrm>
            <a:off x="15158848" y="6990621"/>
            <a:ext cx="1582509" cy="101601"/>
          </a:xfrm>
          <a:prstGeom prst="rect">
            <a:avLst/>
          </a:prstGeom>
        </p:spPr>
      </p:pic>
      <p:pic>
        <p:nvPicPr>
          <p:cNvPr id="561" name="Linie Linie" descr="Linie Linie"/>
          <p:cNvPicPr>
            <a:picLocks noChangeAspect="0"/>
          </p:cNvPicPr>
          <p:nvPr/>
        </p:nvPicPr>
        <p:blipFill>
          <a:blip r:embed="rId13">
            <a:extLst/>
          </a:blip>
          <a:stretch>
            <a:fillRect/>
          </a:stretch>
        </p:blipFill>
        <p:spPr>
          <a:xfrm>
            <a:off x="16618170" y="6990621"/>
            <a:ext cx="1582509" cy="101601"/>
          </a:xfrm>
          <a:prstGeom prst="rect">
            <a:avLst/>
          </a:prstGeom>
        </p:spPr>
      </p:pic>
      <p:pic>
        <p:nvPicPr>
          <p:cNvPr id="563" name="Linie Linie" descr="Linie Linie"/>
          <p:cNvPicPr>
            <a:picLocks noChangeAspect="0"/>
          </p:cNvPicPr>
          <p:nvPr/>
        </p:nvPicPr>
        <p:blipFill>
          <a:blip r:embed="rId13">
            <a:extLst/>
          </a:blip>
          <a:stretch>
            <a:fillRect/>
          </a:stretch>
        </p:blipFill>
        <p:spPr>
          <a:xfrm>
            <a:off x="18295881" y="6990621"/>
            <a:ext cx="1582509" cy="101601"/>
          </a:xfrm>
          <a:prstGeom prst="rect">
            <a:avLst/>
          </a:prstGeom>
        </p:spPr>
      </p:pic>
      <p:sp>
        <p:nvSpPr>
          <p:cNvPr id="565" name="- predicția finală se face prin mediarea probabilităților de la toate modelele. Clasa cu probabilitatea medie cea mai mare este aleasă."/>
          <p:cNvSpPr txBox="1"/>
          <p:nvPr/>
        </p:nvSpPr>
        <p:spPr>
          <a:xfrm>
            <a:off x="12339552" y="10205035"/>
            <a:ext cx="11758883" cy="9675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 predicția finală se face prin mediarea probabilităților de la toate modelele. Clasa cu probabilitatea medie cea mai mare este aleasă.</a:t>
            </a:r>
          </a:p>
        </p:txBody>
      </p:sp>
      <p:pic>
        <p:nvPicPr>
          <p:cNvPr id="566" name="Linie Linie" descr="Linie Linie"/>
          <p:cNvPicPr>
            <a:picLocks noChangeAspect="0"/>
          </p:cNvPicPr>
          <p:nvPr/>
        </p:nvPicPr>
        <p:blipFill>
          <a:blip r:embed="rId14">
            <a:extLst/>
          </a:blip>
          <a:stretch>
            <a:fillRect/>
          </a:stretch>
        </p:blipFill>
        <p:spPr>
          <a:xfrm>
            <a:off x="15918445" y="10638004"/>
            <a:ext cx="3926876" cy="101601"/>
          </a:xfrm>
          <a:prstGeom prst="rect">
            <a:avLst/>
          </a:prstGeom>
        </p:spPr>
      </p:pic>
      <p:pic>
        <p:nvPicPr>
          <p:cNvPr id="568" name="Linie Linie" descr="Linie Linie"/>
          <p:cNvPicPr>
            <a:picLocks noChangeAspect="0"/>
          </p:cNvPicPr>
          <p:nvPr/>
        </p:nvPicPr>
        <p:blipFill>
          <a:blip r:embed="rId15">
            <a:extLst/>
          </a:blip>
          <a:stretch>
            <a:fillRect/>
          </a:stretch>
        </p:blipFill>
        <p:spPr>
          <a:xfrm>
            <a:off x="15034121" y="11033566"/>
            <a:ext cx="2497705"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533"/>
                                        </p:tgtEl>
                                        <p:attrNameLst>
                                          <p:attrName>style.visibility</p:attrName>
                                        </p:attrNameLst>
                                      </p:cBhvr>
                                      <p:to>
                                        <p:strVal val="visible"/>
                                      </p:to>
                                    </p:set>
                                    <p:anim calcmode="lin" valueType="num">
                                      <p:cBhvr>
                                        <p:cTn id="7" dur="4000" fill="hold"/>
                                        <p:tgtEl>
                                          <p:spTgt spid="533"/>
                                        </p:tgtEl>
                                        <p:attrNameLst>
                                          <p:attrName>ppt_x</p:attrName>
                                        </p:attrNameLst>
                                      </p:cBhvr>
                                      <p:tavLst>
                                        <p:tav tm="0">
                                          <p:val>
                                            <p:strVal val="0-#ppt_w/2"/>
                                          </p:val>
                                        </p:tav>
                                        <p:tav tm="100000">
                                          <p:val>
                                            <p:strVal val="#ppt_x"/>
                                          </p:val>
                                        </p:tav>
                                      </p:tavLst>
                                    </p:anim>
                                    <p:anim calcmode="lin" valueType="num">
                                      <p:cBhvr>
                                        <p:cTn id="8" dur="4000" fill="hold"/>
                                        <p:tgtEl>
                                          <p:spTgt spid="53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527"/>
                                        </p:tgtEl>
                                        <p:attrNameLst>
                                          <p:attrName>style.visibility</p:attrName>
                                        </p:attrNameLst>
                                      </p:cBhvr>
                                      <p:to>
                                        <p:strVal val="visible"/>
                                      </p:to>
                                    </p:set>
                                    <p:anim calcmode="lin" valueType="num">
                                      <p:cBhvr>
                                        <p:cTn id="13" dur="1000" fill="hold"/>
                                        <p:tgtEl>
                                          <p:spTgt spid="527"/>
                                        </p:tgtEl>
                                        <p:attrNameLst>
                                          <p:attrName>ppt_x</p:attrName>
                                        </p:attrNameLst>
                                      </p:cBhvr>
                                      <p:tavLst>
                                        <p:tav tm="0">
                                          <p:val>
                                            <p:strVal val="0-#ppt_w/2"/>
                                          </p:val>
                                        </p:tav>
                                        <p:tav tm="100000">
                                          <p:val>
                                            <p:strVal val="#ppt_x"/>
                                          </p:val>
                                        </p:tav>
                                      </p:tavLst>
                                    </p:anim>
                                    <p:anim calcmode="lin" valueType="num">
                                      <p:cBhvr>
                                        <p:cTn id="14" dur="1000" fill="hold"/>
                                        <p:tgtEl>
                                          <p:spTgt spid="527"/>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Subtype="8" presetID="2" grpId="3" fill="hold">
                                  <p:stCondLst>
                                    <p:cond delay="0"/>
                                  </p:stCondLst>
                                  <p:iterate type="el" backwards="0">
                                    <p:tmAbs val="0"/>
                                  </p:iterate>
                                  <p:childTnLst>
                                    <p:set>
                                      <p:cBhvr>
                                        <p:cTn id="17" fill="hold"/>
                                        <p:tgtEl>
                                          <p:spTgt spid="528"/>
                                        </p:tgtEl>
                                        <p:attrNameLst>
                                          <p:attrName>style.visibility</p:attrName>
                                        </p:attrNameLst>
                                      </p:cBhvr>
                                      <p:to>
                                        <p:strVal val="visible"/>
                                      </p:to>
                                    </p:set>
                                    <p:anim calcmode="lin" valueType="num">
                                      <p:cBhvr>
                                        <p:cTn id="18" dur="2500" fill="hold"/>
                                        <p:tgtEl>
                                          <p:spTgt spid="528"/>
                                        </p:tgtEl>
                                        <p:attrNameLst>
                                          <p:attrName>ppt_x</p:attrName>
                                        </p:attrNameLst>
                                      </p:cBhvr>
                                      <p:tavLst>
                                        <p:tav tm="0">
                                          <p:val>
                                            <p:strVal val="0-#ppt_w/2"/>
                                          </p:val>
                                        </p:tav>
                                        <p:tav tm="100000">
                                          <p:val>
                                            <p:strVal val="#ppt_x"/>
                                          </p:val>
                                        </p:tav>
                                      </p:tavLst>
                                    </p:anim>
                                    <p:anim calcmode="lin" valueType="num">
                                      <p:cBhvr>
                                        <p:cTn id="19" dur="2500" fill="hold"/>
                                        <p:tgtEl>
                                          <p:spTgt spid="528"/>
                                        </p:tgtEl>
                                        <p:attrNameLst>
                                          <p:attrName>ppt_y</p:attrName>
                                        </p:attrNameLst>
                                      </p:cBhvr>
                                      <p:tavLst>
                                        <p:tav tm="0">
                                          <p:val>
                                            <p:strVal val="#ppt_y"/>
                                          </p:val>
                                        </p:tav>
                                        <p:tav tm="100000">
                                          <p:val>
                                            <p:strVal val="#ppt_y"/>
                                          </p:val>
                                        </p:tav>
                                      </p:tavLst>
                                    </p:anim>
                                  </p:childTnLst>
                                </p:cTn>
                              </p:par>
                            </p:childTnLst>
                          </p:cTn>
                        </p:par>
                        <p:par>
                          <p:cTn id="20" fill="hold">
                            <p:stCondLst>
                              <p:cond delay="3500"/>
                            </p:stCondLst>
                            <p:childTnLst>
                              <p:par>
                                <p:cTn id="21" presetClass="entr" nodeType="afterEffect" presetID="9" grpId="4" fill="hold">
                                  <p:stCondLst>
                                    <p:cond delay="0"/>
                                  </p:stCondLst>
                                  <p:iterate type="el" backwards="0">
                                    <p:tmAbs val="0"/>
                                  </p:iterate>
                                  <p:childTnLst>
                                    <p:set>
                                      <p:cBhvr>
                                        <p:cTn id="22" fill="hold"/>
                                        <p:tgtEl>
                                          <p:spTgt spid="531"/>
                                        </p:tgtEl>
                                        <p:attrNameLst>
                                          <p:attrName>style.visibility</p:attrName>
                                        </p:attrNameLst>
                                      </p:cBhvr>
                                      <p:to>
                                        <p:strVal val="visible"/>
                                      </p:to>
                                    </p:set>
                                    <p:animEffect filter="dissolve" transition="in">
                                      <p:cBhvr>
                                        <p:cTn id="23" dur="2000"/>
                                        <p:tgtEl>
                                          <p:spTgt spid="531"/>
                                        </p:tgtEl>
                                      </p:cBhvr>
                                    </p:animEffect>
                                  </p:childTnLst>
                                </p:cTn>
                              </p:par>
                            </p:childTnLst>
                          </p:cTn>
                        </p:par>
                        <p:par>
                          <p:cTn id="24" fill="hold">
                            <p:stCondLst>
                              <p:cond delay="5500"/>
                            </p:stCondLst>
                            <p:childTnLst>
                              <p:par>
                                <p:cTn id="25" presetClass="entr" nodeType="afterEffect" presetSubtype="8" presetID="2" grpId="5" fill="hold">
                                  <p:stCondLst>
                                    <p:cond delay="0"/>
                                  </p:stCondLst>
                                  <p:iterate type="el" backwards="0">
                                    <p:tmAbs val="0"/>
                                  </p:iterate>
                                  <p:childTnLst>
                                    <p:set>
                                      <p:cBhvr>
                                        <p:cTn id="26" fill="hold"/>
                                        <p:tgtEl>
                                          <p:spTgt spid="529"/>
                                        </p:tgtEl>
                                        <p:attrNameLst>
                                          <p:attrName>style.visibility</p:attrName>
                                        </p:attrNameLst>
                                      </p:cBhvr>
                                      <p:to>
                                        <p:strVal val="visible"/>
                                      </p:to>
                                    </p:set>
                                    <p:anim calcmode="lin" valueType="num">
                                      <p:cBhvr>
                                        <p:cTn id="27" dur="1000" fill="hold"/>
                                        <p:tgtEl>
                                          <p:spTgt spid="529"/>
                                        </p:tgtEl>
                                        <p:attrNameLst>
                                          <p:attrName>ppt_x</p:attrName>
                                        </p:attrNameLst>
                                      </p:cBhvr>
                                      <p:tavLst>
                                        <p:tav tm="0">
                                          <p:val>
                                            <p:strVal val="0-#ppt_w/2"/>
                                          </p:val>
                                        </p:tav>
                                        <p:tav tm="100000">
                                          <p:val>
                                            <p:strVal val="#ppt_x"/>
                                          </p:val>
                                        </p:tav>
                                      </p:tavLst>
                                    </p:anim>
                                    <p:anim calcmode="lin" valueType="num">
                                      <p:cBhvr>
                                        <p:cTn id="28" dur="1000" fill="hold"/>
                                        <p:tgtEl>
                                          <p:spTgt spid="529"/>
                                        </p:tgtEl>
                                        <p:attrNameLst>
                                          <p:attrName>ppt_y</p:attrName>
                                        </p:attrNameLst>
                                      </p:cBhvr>
                                      <p:tavLst>
                                        <p:tav tm="0">
                                          <p:val>
                                            <p:strVal val="#ppt_y"/>
                                          </p:val>
                                        </p:tav>
                                        <p:tav tm="100000">
                                          <p:val>
                                            <p:strVal val="#ppt_y"/>
                                          </p:val>
                                        </p:tav>
                                      </p:tavLst>
                                    </p:anim>
                                  </p:childTnLst>
                                </p:cTn>
                              </p:par>
                            </p:childTnLst>
                          </p:cTn>
                        </p:par>
                        <p:par>
                          <p:cTn id="29" fill="hold">
                            <p:stCondLst>
                              <p:cond delay="6500"/>
                            </p:stCondLst>
                            <p:childTnLst>
                              <p:par>
                                <p:cTn id="30" presetClass="entr" nodeType="afterEffect" presetSubtype="8" presetID="2" grpId="6" fill="hold">
                                  <p:stCondLst>
                                    <p:cond delay="0"/>
                                  </p:stCondLst>
                                  <p:iterate type="el" backwards="0">
                                    <p:tmAbs val="0"/>
                                  </p:iterate>
                                  <p:childTnLst>
                                    <p:set>
                                      <p:cBhvr>
                                        <p:cTn id="31" fill="hold"/>
                                        <p:tgtEl>
                                          <p:spTgt spid="530"/>
                                        </p:tgtEl>
                                        <p:attrNameLst>
                                          <p:attrName>style.visibility</p:attrName>
                                        </p:attrNameLst>
                                      </p:cBhvr>
                                      <p:to>
                                        <p:strVal val="visible"/>
                                      </p:to>
                                    </p:set>
                                    <p:anim calcmode="lin" valueType="num">
                                      <p:cBhvr>
                                        <p:cTn id="32" dur="1000" fill="hold"/>
                                        <p:tgtEl>
                                          <p:spTgt spid="530"/>
                                        </p:tgtEl>
                                        <p:attrNameLst>
                                          <p:attrName>ppt_x</p:attrName>
                                        </p:attrNameLst>
                                      </p:cBhvr>
                                      <p:tavLst>
                                        <p:tav tm="0">
                                          <p:val>
                                            <p:strVal val="0-#ppt_w/2"/>
                                          </p:val>
                                        </p:tav>
                                        <p:tav tm="100000">
                                          <p:val>
                                            <p:strVal val="#ppt_x"/>
                                          </p:val>
                                        </p:tav>
                                      </p:tavLst>
                                    </p:anim>
                                    <p:anim calcmode="lin" valueType="num">
                                      <p:cBhvr>
                                        <p:cTn id="33" dur="1000" fill="hold"/>
                                        <p:tgtEl>
                                          <p:spTgt spid="530"/>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8" presetID="2" grpId="7" fill="hold">
                                  <p:stCondLst>
                                    <p:cond delay="0"/>
                                  </p:stCondLst>
                                  <p:iterate type="el" backwards="0">
                                    <p:tmAbs val="0"/>
                                  </p:iterate>
                                  <p:childTnLst>
                                    <p:set>
                                      <p:cBhvr>
                                        <p:cTn id="37" fill="hold"/>
                                        <p:tgtEl>
                                          <p:spTgt spid="534"/>
                                        </p:tgtEl>
                                        <p:attrNameLst>
                                          <p:attrName>style.visibility</p:attrName>
                                        </p:attrNameLst>
                                      </p:cBhvr>
                                      <p:to>
                                        <p:strVal val="visible"/>
                                      </p:to>
                                    </p:set>
                                    <p:anim calcmode="lin" valueType="num">
                                      <p:cBhvr>
                                        <p:cTn id="38" dur="1000" fill="hold"/>
                                        <p:tgtEl>
                                          <p:spTgt spid="534"/>
                                        </p:tgtEl>
                                        <p:attrNameLst>
                                          <p:attrName>ppt_x</p:attrName>
                                        </p:attrNameLst>
                                      </p:cBhvr>
                                      <p:tavLst>
                                        <p:tav tm="0">
                                          <p:val>
                                            <p:strVal val="0-#ppt_w/2"/>
                                          </p:val>
                                        </p:tav>
                                        <p:tav tm="100000">
                                          <p:val>
                                            <p:strVal val="#ppt_x"/>
                                          </p:val>
                                        </p:tav>
                                      </p:tavLst>
                                    </p:anim>
                                    <p:anim calcmode="lin" valueType="num">
                                      <p:cBhvr>
                                        <p:cTn id="39" dur="1000" fill="hold"/>
                                        <p:tgtEl>
                                          <p:spTgt spid="534"/>
                                        </p:tgtEl>
                                        <p:attrNameLst>
                                          <p:attrName>ppt_y</p:attrName>
                                        </p:attrNameLst>
                                      </p:cBhvr>
                                      <p:tavLst>
                                        <p:tav tm="0">
                                          <p:val>
                                            <p:strVal val="#ppt_y"/>
                                          </p:val>
                                        </p:tav>
                                        <p:tav tm="100000">
                                          <p:val>
                                            <p:strVal val="#ppt_y"/>
                                          </p:val>
                                        </p:tav>
                                      </p:tavLst>
                                    </p:anim>
                                  </p:childTnLst>
                                </p:cTn>
                              </p:par>
                            </p:childTnLst>
                          </p:cTn>
                        </p:par>
                        <p:par>
                          <p:cTn id="40" fill="hold">
                            <p:stCondLst>
                              <p:cond delay="1000"/>
                            </p:stCondLst>
                            <p:childTnLst>
                              <p:par>
                                <p:cTn id="41" presetClass="entr" nodeType="afterEffect" presetID="9" grpId="8" fill="hold">
                                  <p:stCondLst>
                                    <p:cond delay="0"/>
                                  </p:stCondLst>
                                  <p:iterate type="el" backwards="0">
                                    <p:tmAbs val="0"/>
                                  </p:iterate>
                                  <p:childTnLst>
                                    <p:set>
                                      <p:cBhvr>
                                        <p:cTn id="42" fill="hold"/>
                                        <p:tgtEl>
                                          <p:spTgt spid="544"/>
                                        </p:tgtEl>
                                        <p:attrNameLst>
                                          <p:attrName>style.visibility</p:attrName>
                                        </p:attrNameLst>
                                      </p:cBhvr>
                                      <p:to>
                                        <p:strVal val="visible"/>
                                      </p:to>
                                    </p:set>
                                    <p:animEffect filter="dissolve" transition="in">
                                      <p:cBhvr>
                                        <p:cTn id="43" dur="2000"/>
                                        <p:tgtEl>
                                          <p:spTgt spid="544"/>
                                        </p:tgtEl>
                                      </p:cBhvr>
                                    </p:animEffect>
                                  </p:childTnLst>
                                </p:cTn>
                              </p:par>
                            </p:childTnLst>
                          </p:cTn>
                        </p:par>
                        <p:par>
                          <p:cTn id="44" fill="hold">
                            <p:stCondLst>
                              <p:cond delay="3000"/>
                            </p:stCondLst>
                            <p:childTnLst>
                              <p:par>
                                <p:cTn id="45" presetClass="entr" nodeType="afterEffect" presetID="9" grpId="9" fill="hold">
                                  <p:stCondLst>
                                    <p:cond delay="0"/>
                                  </p:stCondLst>
                                  <p:iterate type="el" backwards="0">
                                    <p:tmAbs val="0"/>
                                  </p:iterate>
                                  <p:childTnLst>
                                    <p:set>
                                      <p:cBhvr>
                                        <p:cTn id="46" fill="hold"/>
                                        <p:tgtEl>
                                          <p:spTgt spid="535"/>
                                        </p:tgtEl>
                                        <p:attrNameLst>
                                          <p:attrName>style.visibility</p:attrName>
                                        </p:attrNameLst>
                                      </p:cBhvr>
                                      <p:to>
                                        <p:strVal val="visible"/>
                                      </p:to>
                                    </p:set>
                                    <p:animEffect filter="dissolve" transition="in">
                                      <p:cBhvr>
                                        <p:cTn id="47" dur="1000"/>
                                        <p:tgtEl>
                                          <p:spTgt spid="535"/>
                                        </p:tgtEl>
                                      </p:cBhvr>
                                    </p:animEffect>
                                  </p:childTnLst>
                                </p:cTn>
                              </p:par>
                            </p:childTnLst>
                          </p:cTn>
                        </p:par>
                        <p:par>
                          <p:cTn id="48" fill="hold">
                            <p:stCondLst>
                              <p:cond delay="4000"/>
                            </p:stCondLst>
                            <p:childTnLst>
                              <p:par>
                                <p:cTn id="49" presetClass="entr" nodeType="afterEffect" presetID="9" grpId="10" fill="hold">
                                  <p:stCondLst>
                                    <p:cond delay="0"/>
                                  </p:stCondLst>
                                  <p:iterate type="el" backwards="0">
                                    <p:tmAbs val="0"/>
                                  </p:iterate>
                                  <p:childTnLst>
                                    <p:set>
                                      <p:cBhvr>
                                        <p:cTn id="50" fill="hold"/>
                                        <p:tgtEl>
                                          <p:spTgt spid="537"/>
                                        </p:tgtEl>
                                        <p:attrNameLst>
                                          <p:attrName>style.visibility</p:attrName>
                                        </p:attrNameLst>
                                      </p:cBhvr>
                                      <p:to>
                                        <p:strVal val="visible"/>
                                      </p:to>
                                    </p:set>
                                    <p:animEffect filter="dissolve" transition="in">
                                      <p:cBhvr>
                                        <p:cTn id="51" dur="1000"/>
                                        <p:tgtEl>
                                          <p:spTgt spid="537"/>
                                        </p:tgtEl>
                                      </p:cBhvr>
                                    </p:animEffect>
                                  </p:childTnLst>
                                </p:cTn>
                              </p:par>
                            </p:childTnLst>
                          </p:cTn>
                        </p:par>
                        <p:par>
                          <p:cTn id="52" fill="hold">
                            <p:stCondLst>
                              <p:cond delay="5000"/>
                            </p:stCondLst>
                            <p:childTnLst>
                              <p:par>
                                <p:cTn id="53" presetClass="entr" nodeType="afterEffect" presetID="9" grpId="11" fill="hold">
                                  <p:stCondLst>
                                    <p:cond delay="0"/>
                                  </p:stCondLst>
                                  <p:iterate type="el" backwards="0">
                                    <p:tmAbs val="0"/>
                                  </p:iterate>
                                  <p:childTnLst>
                                    <p:set>
                                      <p:cBhvr>
                                        <p:cTn id="54" fill="hold"/>
                                        <p:tgtEl>
                                          <p:spTgt spid="539"/>
                                        </p:tgtEl>
                                        <p:attrNameLst>
                                          <p:attrName>style.visibility</p:attrName>
                                        </p:attrNameLst>
                                      </p:cBhvr>
                                      <p:to>
                                        <p:strVal val="visible"/>
                                      </p:to>
                                    </p:set>
                                    <p:animEffect filter="dissolve" transition="in">
                                      <p:cBhvr>
                                        <p:cTn id="55" dur="1000"/>
                                        <p:tgtEl>
                                          <p:spTgt spid="539"/>
                                        </p:tgtEl>
                                      </p:cBhvr>
                                    </p:animEffect>
                                  </p:childTnLst>
                                </p:cTn>
                              </p:par>
                            </p:childTnLst>
                          </p:cTn>
                        </p:par>
                        <p:par>
                          <p:cTn id="56" fill="hold">
                            <p:stCondLst>
                              <p:cond delay="6000"/>
                            </p:stCondLst>
                            <p:childTnLst>
                              <p:par>
                                <p:cTn id="57" presetClass="entr" nodeType="afterEffect" presetID="9" grpId="12" fill="hold">
                                  <p:stCondLst>
                                    <p:cond delay="0"/>
                                  </p:stCondLst>
                                  <p:iterate type="el" backwards="0">
                                    <p:tmAbs val="0"/>
                                  </p:iterate>
                                  <p:childTnLst>
                                    <p:set>
                                      <p:cBhvr>
                                        <p:cTn id="58" fill="hold"/>
                                        <p:tgtEl>
                                          <p:spTgt spid="541"/>
                                        </p:tgtEl>
                                        <p:attrNameLst>
                                          <p:attrName>style.visibility</p:attrName>
                                        </p:attrNameLst>
                                      </p:cBhvr>
                                      <p:to>
                                        <p:strVal val="visible"/>
                                      </p:to>
                                    </p:set>
                                    <p:animEffect filter="dissolve" transition="in">
                                      <p:cBhvr>
                                        <p:cTn id="59" dur="1000"/>
                                        <p:tgtEl>
                                          <p:spTgt spid="541"/>
                                        </p:tgtEl>
                                      </p:cBhvr>
                                    </p:animEffect>
                                  </p:childTnLst>
                                </p:cTn>
                              </p:par>
                            </p:childTnLst>
                          </p:cTn>
                        </p:par>
                      </p:childTnLst>
                    </p:cTn>
                  </p:par>
                  <p:par>
                    <p:cTn id="60" fill="hold">
                      <p:stCondLst>
                        <p:cond delay="indefinite"/>
                      </p:stCondLst>
                      <p:childTnLst>
                        <p:par>
                          <p:cTn id="61" fill="hold">
                            <p:stCondLst>
                              <p:cond delay="0"/>
                            </p:stCondLst>
                            <p:childTnLst>
                              <p:par>
                                <p:cTn id="62" presetClass="exit" nodeType="clickEffect" presetID="9" grpId="13" fill="hold">
                                  <p:stCondLst>
                                    <p:cond delay="0"/>
                                  </p:stCondLst>
                                  <p:iterate type="el" backwards="0">
                                    <p:tmAbs val="0"/>
                                  </p:iterate>
                                  <p:childTnLst>
                                    <p:animEffect filter="dissolve" transition="out">
                                      <p:cBhvr>
                                        <p:cTn id="63" dur="2000" fill="hold"/>
                                        <p:tgtEl>
                                          <p:spTgt spid="539"/>
                                        </p:tgtEl>
                                      </p:cBhvr>
                                    </p:animEffect>
                                    <p:set>
                                      <p:cBhvr>
                                        <p:cTn id="64" fill="hold">
                                          <p:stCondLst>
                                            <p:cond delay="1999"/>
                                          </p:stCondLst>
                                        </p:cTn>
                                        <p:tgtEl>
                                          <p:spTgt spid="539"/>
                                        </p:tgtEl>
                                        <p:attrNameLst>
                                          <p:attrName>style.visibility</p:attrName>
                                        </p:attrNameLst>
                                      </p:cBhvr>
                                      <p:to>
                                        <p:strVal val="hidden"/>
                                      </p:to>
                                    </p:set>
                                  </p:childTnLst>
                                </p:cTn>
                              </p:par>
                            </p:childTnLst>
                          </p:cTn>
                        </p:par>
                        <p:par>
                          <p:cTn id="65" fill="hold">
                            <p:stCondLst>
                              <p:cond delay="2000"/>
                            </p:stCondLst>
                            <p:childTnLst>
                              <p:par>
                                <p:cTn id="66" presetClass="exit" nodeType="afterEffect" presetID="9" grpId="14" fill="hold">
                                  <p:stCondLst>
                                    <p:cond delay="0"/>
                                  </p:stCondLst>
                                  <p:iterate type="el" backwards="0">
                                    <p:tmAbs val="0"/>
                                  </p:iterate>
                                  <p:childTnLst>
                                    <p:animEffect filter="dissolve" transition="out">
                                      <p:cBhvr>
                                        <p:cTn id="67" dur="2000" fill="hold"/>
                                        <p:tgtEl>
                                          <p:spTgt spid="537"/>
                                        </p:tgtEl>
                                      </p:cBhvr>
                                    </p:animEffect>
                                    <p:set>
                                      <p:cBhvr>
                                        <p:cTn id="68" fill="hold">
                                          <p:stCondLst>
                                            <p:cond delay="1999"/>
                                          </p:stCondLst>
                                        </p:cTn>
                                        <p:tgtEl>
                                          <p:spTgt spid="537"/>
                                        </p:tgtEl>
                                        <p:attrNameLst>
                                          <p:attrName>style.visibility</p:attrName>
                                        </p:attrNameLst>
                                      </p:cBhvr>
                                      <p:to>
                                        <p:strVal val="hidden"/>
                                      </p:to>
                                    </p:set>
                                  </p:childTnLst>
                                </p:cTn>
                              </p:par>
                            </p:childTnLst>
                          </p:cTn>
                        </p:par>
                        <p:par>
                          <p:cTn id="69" fill="hold">
                            <p:stCondLst>
                              <p:cond delay="4000"/>
                            </p:stCondLst>
                            <p:childTnLst>
                              <p:par>
                                <p:cTn id="70" presetClass="exit" nodeType="afterEffect" presetID="9" grpId="15" fill="hold">
                                  <p:stCondLst>
                                    <p:cond delay="0"/>
                                  </p:stCondLst>
                                  <p:iterate type="el" backwards="0">
                                    <p:tmAbs val="0"/>
                                  </p:iterate>
                                  <p:childTnLst>
                                    <p:animEffect filter="dissolve" transition="out">
                                      <p:cBhvr>
                                        <p:cTn id="71" dur="2000" fill="hold"/>
                                        <p:tgtEl>
                                          <p:spTgt spid="535"/>
                                        </p:tgtEl>
                                      </p:cBhvr>
                                    </p:animEffect>
                                    <p:set>
                                      <p:cBhvr>
                                        <p:cTn id="72" fill="hold">
                                          <p:stCondLst>
                                            <p:cond delay="1999"/>
                                          </p:stCondLst>
                                        </p:cTn>
                                        <p:tgtEl>
                                          <p:spTgt spid="535"/>
                                        </p:tgtEl>
                                        <p:attrNameLst>
                                          <p:attrName>style.visibility</p:attrName>
                                        </p:attrNameLst>
                                      </p:cBhvr>
                                      <p:to>
                                        <p:strVal val="hidden"/>
                                      </p:to>
                                    </p:set>
                                  </p:childTnLst>
                                </p:cTn>
                              </p:par>
                            </p:childTnLst>
                          </p:cTn>
                        </p:par>
                        <p:par>
                          <p:cTn id="73" fill="hold">
                            <p:stCondLst>
                              <p:cond delay="6000"/>
                            </p:stCondLst>
                            <p:childTnLst>
                              <p:par>
                                <p:cTn id="74" presetClass="exit" nodeType="afterEffect" presetID="9" grpId="16" fill="hold">
                                  <p:stCondLst>
                                    <p:cond delay="0"/>
                                  </p:stCondLst>
                                  <p:iterate type="el" backwards="0">
                                    <p:tmAbs val="0"/>
                                  </p:iterate>
                                  <p:childTnLst>
                                    <p:animEffect filter="dissolve" transition="out">
                                      <p:cBhvr>
                                        <p:cTn id="75" dur="2000" fill="hold"/>
                                        <p:tgtEl>
                                          <p:spTgt spid="541"/>
                                        </p:tgtEl>
                                      </p:cBhvr>
                                    </p:animEffect>
                                    <p:set>
                                      <p:cBhvr>
                                        <p:cTn id="76" fill="hold">
                                          <p:stCondLst>
                                            <p:cond delay="1999"/>
                                          </p:stCondLst>
                                        </p:cTn>
                                        <p:tgtEl>
                                          <p:spTgt spid="541"/>
                                        </p:tgtEl>
                                        <p:attrNameLst>
                                          <p:attrName>style.visibility</p:attrName>
                                        </p:attrNameLst>
                                      </p:cBhvr>
                                      <p:to>
                                        <p:strVal val="hidden"/>
                                      </p:to>
                                    </p:set>
                                  </p:childTnLst>
                                </p:cTn>
                              </p:par>
                            </p:childTnLst>
                          </p:cTn>
                        </p:par>
                        <p:par>
                          <p:cTn id="77" fill="hold">
                            <p:stCondLst>
                              <p:cond delay="8000"/>
                            </p:stCondLst>
                            <p:childTnLst>
                              <p:par>
                                <p:cTn id="78" presetClass="entr" nodeType="afterEffect" presetSubtype="8" presetID="2" grpId="17" fill="hold">
                                  <p:stCondLst>
                                    <p:cond delay="0"/>
                                  </p:stCondLst>
                                  <p:iterate type="el" backwards="0">
                                    <p:tmAbs val="0"/>
                                  </p:iterate>
                                  <p:childTnLst>
                                    <p:set>
                                      <p:cBhvr>
                                        <p:cTn id="79" fill="hold"/>
                                        <p:tgtEl>
                                          <p:spTgt spid="543"/>
                                        </p:tgtEl>
                                        <p:attrNameLst>
                                          <p:attrName>style.visibility</p:attrName>
                                        </p:attrNameLst>
                                      </p:cBhvr>
                                      <p:to>
                                        <p:strVal val="visible"/>
                                      </p:to>
                                    </p:set>
                                    <p:anim calcmode="lin" valueType="num">
                                      <p:cBhvr>
                                        <p:cTn id="80" dur="1000" fill="hold"/>
                                        <p:tgtEl>
                                          <p:spTgt spid="543"/>
                                        </p:tgtEl>
                                        <p:attrNameLst>
                                          <p:attrName>ppt_x</p:attrName>
                                        </p:attrNameLst>
                                      </p:cBhvr>
                                      <p:tavLst>
                                        <p:tav tm="0">
                                          <p:val>
                                            <p:strVal val="0-#ppt_w/2"/>
                                          </p:val>
                                        </p:tav>
                                        <p:tav tm="100000">
                                          <p:val>
                                            <p:strVal val="#ppt_x"/>
                                          </p:val>
                                        </p:tav>
                                      </p:tavLst>
                                    </p:anim>
                                    <p:anim calcmode="lin" valueType="num">
                                      <p:cBhvr>
                                        <p:cTn id="81" dur="1000" fill="hold"/>
                                        <p:tgtEl>
                                          <p:spTgt spid="543"/>
                                        </p:tgtEl>
                                        <p:attrNameLst>
                                          <p:attrName>ppt_y</p:attrName>
                                        </p:attrNameLst>
                                      </p:cBhvr>
                                      <p:tavLst>
                                        <p:tav tm="0">
                                          <p:val>
                                            <p:strVal val="#ppt_y"/>
                                          </p:val>
                                        </p:tav>
                                        <p:tav tm="100000">
                                          <p:val>
                                            <p:strVal val="#ppt_y"/>
                                          </p:val>
                                        </p:tav>
                                      </p:tavLst>
                                    </p:anim>
                                  </p:childTnLst>
                                </p:cTn>
                              </p:par>
                            </p:childTnLst>
                          </p:cTn>
                        </p:par>
                        <p:par>
                          <p:cTn id="82" fill="hold">
                            <p:stCondLst>
                              <p:cond delay="9000"/>
                            </p:stCondLst>
                            <p:childTnLst>
                              <p:par>
                                <p:cTn id="83" presetClass="entr" nodeType="afterEffect" presetID="9" grpId="18" fill="hold">
                                  <p:stCondLst>
                                    <p:cond delay="0"/>
                                  </p:stCondLst>
                                  <p:iterate type="el" backwards="0">
                                    <p:tmAbs val="0"/>
                                  </p:iterate>
                                  <p:childTnLst>
                                    <p:set>
                                      <p:cBhvr>
                                        <p:cTn id="84" fill="hold"/>
                                        <p:tgtEl>
                                          <p:spTgt spid="546"/>
                                        </p:tgtEl>
                                        <p:attrNameLst>
                                          <p:attrName>style.visibility</p:attrName>
                                        </p:attrNameLst>
                                      </p:cBhvr>
                                      <p:to>
                                        <p:strVal val="visible"/>
                                      </p:to>
                                    </p:set>
                                    <p:animEffect filter="dissolve" transition="in">
                                      <p:cBhvr>
                                        <p:cTn id="85" dur="2000"/>
                                        <p:tgtEl>
                                          <p:spTgt spid="546"/>
                                        </p:tgtEl>
                                      </p:cBhvr>
                                    </p:animEffect>
                                  </p:childTnLst>
                                </p:cTn>
                              </p:par>
                            </p:childTnLst>
                          </p:cTn>
                        </p:par>
                        <p:par>
                          <p:cTn id="86" fill="hold">
                            <p:stCondLst>
                              <p:cond delay="11000"/>
                            </p:stCondLst>
                            <p:childTnLst>
                              <p:par>
                                <p:cTn id="87" presetClass="entr" nodeType="afterEffect" presetID="9" grpId="19" fill="hold">
                                  <p:stCondLst>
                                    <p:cond delay="0"/>
                                  </p:stCondLst>
                                  <p:iterate type="el" backwards="0">
                                    <p:tmAbs val="0"/>
                                  </p:iterate>
                                  <p:childTnLst>
                                    <p:set>
                                      <p:cBhvr>
                                        <p:cTn id="88" fill="hold"/>
                                        <p:tgtEl>
                                          <p:spTgt spid="548"/>
                                        </p:tgtEl>
                                        <p:attrNameLst>
                                          <p:attrName>style.visibility</p:attrName>
                                        </p:attrNameLst>
                                      </p:cBhvr>
                                      <p:to>
                                        <p:strVal val="visible"/>
                                      </p:to>
                                    </p:set>
                                    <p:animEffect filter="dissolve" transition="in">
                                      <p:cBhvr>
                                        <p:cTn id="89" dur="2000"/>
                                        <p:tgtEl>
                                          <p:spTgt spid="548"/>
                                        </p:tgtEl>
                                      </p:cBhvr>
                                    </p:animEffect>
                                  </p:childTnLst>
                                </p:cTn>
                              </p:par>
                            </p:childTnLst>
                          </p:cTn>
                        </p:par>
                      </p:childTnLst>
                    </p:cTn>
                  </p:par>
                  <p:par>
                    <p:cTn id="90" fill="hold">
                      <p:stCondLst>
                        <p:cond delay="indefinite"/>
                      </p:stCondLst>
                      <p:childTnLst>
                        <p:par>
                          <p:cTn id="91" fill="hold">
                            <p:stCondLst>
                              <p:cond delay="0"/>
                            </p:stCondLst>
                            <p:childTnLst>
                              <p:par>
                                <p:cTn id="92" presetClass="entr" nodeType="clickEffect" presetID="9" grpId="20" fill="hold">
                                  <p:stCondLst>
                                    <p:cond delay="0"/>
                                  </p:stCondLst>
                                  <p:iterate type="el" backwards="0">
                                    <p:tmAbs val="0"/>
                                  </p:iterate>
                                  <p:childTnLst>
                                    <p:set>
                                      <p:cBhvr>
                                        <p:cTn id="93" fill="hold"/>
                                        <p:tgtEl>
                                          <p:spTgt spid="550"/>
                                        </p:tgtEl>
                                        <p:attrNameLst>
                                          <p:attrName>style.visibility</p:attrName>
                                        </p:attrNameLst>
                                      </p:cBhvr>
                                      <p:to>
                                        <p:strVal val="visible"/>
                                      </p:to>
                                    </p:set>
                                    <p:animEffect filter="dissolve" transition="in">
                                      <p:cBhvr>
                                        <p:cTn id="94" dur="2000"/>
                                        <p:tgtEl>
                                          <p:spTgt spid="550"/>
                                        </p:tgtEl>
                                      </p:cBhvr>
                                    </p:animEffect>
                                  </p:childTnLst>
                                </p:cTn>
                              </p:par>
                            </p:childTnLst>
                          </p:cTn>
                        </p:par>
                        <p:par>
                          <p:cTn id="95" fill="hold">
                            <p:stCondLst>
                              <p:cond delay="2000"/>
                            </p:stCondLst>
                            <p:childTnLst>
                              <p:par>
                                <p:cTn id="96" presetClass="entr" nodeType="afterEffect" presetID="9" grpId="21" fill="hold">
                                  <p:stCondLst>
                                    <p:cond delay="0"/>
                                  </p:stCondLst>
                                  <p:iterate type="el" backwards="0">
                                    <p:tmAbs val="0"/>
                                  </p:iterate>
                                  <p:childTnLst>
                                    <p:set>
                                      <p:cBhvr>
                                        <p:cTn id="97" fill="hold"/>
                                        <p:tgtEl>
                                          <p:spTgt spid="552"/>
                                        </p:tgtEl>
                                        <p:attrNameLst>
                                          <p:attrName>style.visibility</p:attrName>
                                        </p:attrNameLst>
                                      </p:cBhvr>
                                      <p:to>
                                        <p:strVal val="visible"/>
                                      </p:to>
                                    </p:set>
                                    <p:animEffect filter="dissolve" transition="in">
                                      <p:cBhvr>
                                        <p:cTn id="98" dur="2000"/>
                                        <p:tgtEl>
                                          <p:spTgt spid="552"/>
                                        </p:tgtEl>
                                      </p:cBhvr>
                                    </p:animEffect>
                                  </p:childTnLst>
                                </p:cTn>
                              </p:par>
                            </p:childTnLst>
                          </p:cTn>
                        </p:par>
                        <p:par>
                          <p:cTn id="99" fill="hold">
                            <p:stCondLst>
                              <p:cond delay="4000"/>
                            </p:stCondLst>
                            <p:childTnLst>
                              <p:par>
                                <p:cTn id="100" presetClass="entr" nodeType="afterEffect" presetID="9" grpId="22" fill="hold">
                                  <p:stCondLst>
                                    <p:cond delay="0"/>
                                  </p:stCondLst>
                                  <p:iterate type="el" backwards="0">
                                    <p:tmAbs val="0"/>
                                  </p:iterate>
                                  <p:childTnLst>
                                    <p:set>
                                      <p:cBhvr>
                                        <p:cTn id="101" fill="hold"/>
                                        <p:tgtEl>
                                          <p:spTgt spid="554"/>
                                        </p:tgtEl>
                                        <p:attrNameLst>
                                          <p:attrName>style.visibility</p:attrName>
                                        </p:attrNameLst>
                                      </p:cBhvr>
                                      <p:to>
                                        <p:strVal val="visible"/>
                                      </p:to>
                                    </p:set>
                                    <p:animEffect filter="dissolve" transition="in">
                                      <p:cBhvr>
                                        <p:cTn id="102" dur="2000"/>
                                        <p:tgtEl>
                                          <p:spTgt spid="554"/>
                                        </p:tgtEl>
                                      </p:cBhvr>
                                    </p:animEffect>
                                  </p:childTnLst>
                                </p:cTn>
                              </p:par>
                            </p:childTnLst>
                          </p:cTn>
                        </p:par>
                      </p:childTnLst>
                    </p:cTn>
                  </p:par>
                  <p:par>
                    <p:cTn id="103" fill="hold">
                      <p:stCondLst>
                        <p:cond delay="indefinite"/>
                      </p:stCondLst>
                      <p:childTnLst>
                        <p:par>
                          <p:cTn id="104" fill="hold">
                            <p:stCondLst>
                              <p:cond delay="0"/>
                            </p:stCondLst>
                            <p:childTnLst>
                              <p:par>
                                <p:cTn id="105" presetClass="exit" nodeType="clickEffect" presetID="9" grpId="23" fill="hold">
                                  <p:stCondLst>
                                    <p:cond delay="0"/>
                                  </p:stCondLst>
                                  <p:iterate type="el" backwards="0">
                                    <p:tmAbs val="0"/>
                                  </p:iterate>
                                  <p:childTnLst>
                                    <p:animEffect filter="dissolve" transition="out">
                                      <p:cBhvr>
                                        <p:cTn id="106" dur="2000" fill="hold"/>
                                        <p:tgtEl>
                                          <p:spTgt spid="550"/>
                                        </p:tgtEl>
                                      </p:cBhvr>
                                    </p:animEffect>
                                    <p:set>
                                      <p:cBhvr>
                                        <p:cTn id="107" fill="hold">
                                          <p:stCondLst>
                                            <p:cond delay="1999"/>
                                          </p:stCondLst>
                                        </p:cTn>
                                        <p:tgtEl>
                                          <p:spTgt spid="550"/>
                                        </p:tgtEl>
                                        <p:attrNameLst>
                                          <p:attrName>style.visibility</p:attrName>
                                        </p:attrNameLst>
                                      </p:cBhvr>
                                      <p:to>
                                        <p:strVal val="hidden"/>
                                      </p:to>
                                    </p:set>
                                  </p:childTnLst>
                                </p:cTn>
                              </p:par>
                            </p:childTnLst>
                          </p:cTn>
                        </p:par>
                        <p:par>
                          <p:cTn id="108" fill="hold">
                            <p:stCondLst>
                              <p:cond delay="2000"/>
                            </p:stCondLst>
                            <p:childTnLst>
                              <p:par>
                                <p:cTn id="109" presetClass="exit" nodeType="afterEffect" presetID="9" grpId="24" fill="hold">
                                  <p:stCondLst>
                                    <p:cond delay="0"/>
                                  </p:stCondLst>
                                  <p:iterate type="el" backwards="0">
                                    <p:tmAbs val="0"/>
                                  </p:iterate>
                                  <p:childTnLst>
                                    <p:animEffect filter="dissolve" transition="out">
                                      <p:cBhvr>
                                        <p:cTn id="110" dur="2000" fill="hold"/>
                                        <p:tgtEl>
                                          <p:spTgt spid="552"/>
                                        </p:tgtEl>
                                      </p:cBhvr>
                                    </p:animEffect>
                                    <p:set>
                                      <p:cBhvr>
                                        <p:cTn id="111" fill="hold">
                                          <p:stCondLst>
                                            <p:cond delay="1999"/>
                                          </p:stCondLst>
                                        </p:cTn>
                                        <p:tgtEl>
                                          <p:spTgt spid="552"/>
                                        </p:tgtEl>
                                        <p:attrNameLst>
                                          <p:attrName>style.visibility</p:attrName>
                                        </p:attrNameLst>
                                      </p:cBhvr>
                                      <p:to>
                                        <p:strVal val="hidden"/>
                                      </p:to>
                                    </p:set>
                                  </p:childTnLst>
                                </p:cTn>
                              </p:par>
                            </p:childTnLst>
                          </p:cTn>
                        </p:par>
                        <p:par>
                          <p:cTn id="112" fill="hold">
                            <p:stCondLst>
                              <p:cond delay="4000"/>
                            </p:stCondLst>
                            <p:childTnLst>
                              <p:par>
                                <p:cTn id="113" presetClass="exit" nodeType="afterEffect" presetID="9" grpId="25" fill="hold">
                                  <p:stCondLst>
                                    <p:cond delay="0"/>
                                  </p:stCondLst>
                                  <p:iterate type="el" backwards="0">
                                    <p:tmAbs val="0"/>
                                  </p:iterate>
                                  <p:childTnLst>
                                    <p:animEffect filter="dissolve" transition="out">
                                      <p:cBhvr>
                                        <p:cTn id="114" dur="2000" fill="hold"/>
                                        <p:tgtEl>
                                          <p:spTgt spid="554"/>
                                        </p:tgtEl>
                                      </p:cBhvr>
                                    </p:animEffect>
                                    <p:set>
                                      <p:cBhvr>
                                        <p:cTn id="115" fill="hold">
                                          <p:stCondLst>
                                            <p:cond delay="1999"/>
                                          </p:stCondLst>
                                        </p:cTn>
                                        <p:tgtEl>
                                          <p:spTgt spid="554"/>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Class="entr" nodeType="clickEffect" presetSubtype="8" presetID="2" grpId="26" fill="hold">
                                  <p:stCondLst>
                                    <p:cond delay="0"/>
                                  </p:stCondLst>
                                  <p:iterate type="el" backwards="0">
                                    <p:tmAbs val="0"/>
                                  </p:iterate>
                                  <p:childTnLst>
                                    <p:set>
                                      <p:cBhvr>
                                        <p:cTn id="119" fill="hold"/>
                                        <p:tgtEl>
                                          <p:spTgt spid="556"/>
                                        </p:tgtEl>
                                        <p:attrNameLst>
                                          <p:attrName>style.visibility</p:attrName>
                                        </p:attrNameLst>
                                      </p:cBhvr>
                                      <p:to>
                                        <p:strVal val="visible"/>
                                      </p:to>
                                    </p:set>
                                    <p:anim calcmode="lin" valueType="num">
                                      <p:cBhvr>
                                        <p:cTn id="120" dur="1000" fill="hold"/>
                                        <p:tgtEl>
                                          <p:spTgt spid="556"/>
                                        </p:tgtEl>
                                        <p:attrNameLst>
                                          <p:attrName>ppt_x</p:attrName>
                                        </p:attrNameLst>
                                      </p:cBhvr>
                                      <p:tavLst>
                                        <p:tav tm="0">
                                          <p:val>
                                            <p:strVal val="0-#ppt_w/2"/>
                                          </p:val>
                                        </p:tav>
                                        <p:tav tm="100000">
                                          <p:val>
                                            <p:strVal val="#ppt_x"/>
                                          </p:val>
                                        </p:tav>
                                      </p:tavLst>
                                    </p:anim>
                                    <p:anim calcmode="lin" valueType="num">
                                      <p:cBhvr>
                                        <p:cTn id="121" dur="1000" fill="hold"/>
                                        <p:tgtEl>
                                          <p:spTgt spid="556"/>
                                        </p:tgtEl>
                                        <p:attrNameLst>
                                          <p:attrName>ppt_y</p:attrName>
                                        </p:attrNameLst>
                                      </p:cBhvr>
                                      <p:tavLst>
                                        <p:tav tm="0">
                                          <p:val>
                                            <p:strVal val="#ppt_y"/>
                                          </p:val>
                                        </p:tav>
                                        <p:tav tm="100000">
                                          <p:val>
                                            <p:strVal val="#ppt_y"/>
                                          </p:val>
                                        </p:tav>
                                      </p:tavLst>
                                    </p:anim>
                                  </p:childTnLst>
                                </p:cTn>
                              </p:par>
                            </p:childTnLst>
                          </p:cTn>
                        </p:par>
                        <p:par>
                          <p:cTn id="122" fill="hold">
                            <p:stCondLst>
                              <p:cond delay="1000"/>
                            </p:stCondLst>
                            <p:childTnLst>
                              <p:par>
                                <p:cTn id="123" presetClass="entr" nodeType="afterEffect" presetID="9" grpId="27" fill="hold">
                                  <p:stCondLst>
                                    <p:cond delay="0"/>
                                  </p:stCondLst>
                                  <p:iterate type="el" backwards="0">
                                    <p:tmAbs val="0"/>
                                  </p:iterate>
                                  <p:childTnLst>
                                    <p:set>
                                      <p:cBhvr>
                                        <p:cTn id="124" fill="hold"/>
                                        <p:tgtEl>
                                          <p:spTgt spid="557"/>
                                        </p:tgtEl>
                                        <p:attrNameLst>
                                          <p:attrName>style.visibility</p:attrName>
                                        </p:attrNameLst>
                                      </p:cBhvr>
                                      <p:to>
                                        <p:strVal val="visible"/>
                                      </p:to>
                                    </p:set>
                                    <p:animEffect filter="dissolve" transition="in">
                                      <p:cBhvr>
                                        <p:cTn id="125" dur="2000"/>
                                        <p:tgtEl>
                                          <p:spTgt spid="557"/>
                                        </p:tgtEl>
                                      </p:cBhvr>
                                    </p:animEffect>
                                  </p:childTnLst>
                                </p:cTn>
                              </p:par>
                            </p:childTnLst>
                          </p:cTn>
                        </p:par>
                        <p:par>
                          <p:cTn id="126" fill="hold">
                            <p:stCondLst>
                              <p:cond delay="3000"/>
                            </p:stCondLst>
                            <p:childTnLst>
                              <p:par>
                                <p:cTn id="127" presetClass="entr" nodeType="afterEffect" presetID="9" grpId="28" fill="hold">
                                  <p:stCondLst>
                                    <p:cond delay="0"/>
                                  </p:stCondLst>
                                  <p:iterate type="el" backwards="0">
                                    <p:tmAbs val="0"/>
                                  </p:iterate>
                                  <p:childTnLst>
                                    <p:set>
                                      <p:cBhvr>
                                        <p:cTn id="128" fill="hold"/>
                                        <p:tgtEl>
                                          <p:spTgt spid="559"/>
                                        </p:tgtEl>
                                        <p:attrNameLst>
                                          <p:attrName>style.visibility</p:attrName>
                                        </p:attrNameLst>
                                      </p:cBhvr>
                                      <p:to>
                                        <p:strVal val="visible"/>
                                      </p:to>
                                    </p:set>
                                    <p:animEffect filter="dissolve" transition="in">
                                      <p:cBhvr>
                                        <p:cTn id="129" dur="2000"/>
                                        <p:tgtEl>
                                          <p:spTgt spid="559"/>
                                        </p:tgtEl>
                                      </p:cBhvr>
                                    </p:animEffect>
                                  </p:childTnLst>
                                </p:cTn>
                              </p:par>
                            </p:childTnLst>
                          </p:cTn>
                        </p:par>
                        <p:par>
                          <p:cTn id="130" fill="hold">
                            <p:stCondLst>
                              <p:cond delay="5000"/>
                            </p:stCondLst>
                            <p:childTnLst>
                              <p:par>
                                <p:cTn id="131" presetClass="entr" nodeType="afterEffect" presetID="9" grpId="29" fill="hold">
                                  <p:stCondLst>
                                    <p:cond delay="0"/>
                                  </p:stCondLst>
                                  <p:iterate type="el" backwards="0">
                                    <p:tmAbs val="0"/>
                                  </p:iterate>
                                  <p:childTnLst>
                                    <p:set>
                                      <p:cBhvr>
                                        <p:cTn id="132" fill="hold"/>
                                        <p:tgtEl>
                                          <p:spTgt spid="561"/>
                                        </p:tgtEl>
                                        <p:attrNameLst>
                                          <p:attrName>style.visibility</p:attrName>
                                        </p:attrNameLst>
                                      </p:cBhvr>
                                      <p:to>
                                        <p:strVal val="visible"/>
                                      </p:to>
                                    </p:set>
                                    <p:animEffect filter="dissolve" transition="in">
                                      <p:cBhvr>
                                        <p:cTn id="133" dur="2000"/>
                                        <p:tgtEl>
                                          <p:spTgt spid="561"/>
                                        </p:tgtEl>
                                      </p:cBhvr>
                                    </p:animEffect>
                                  </p:childTnLst>
                                </p:cTn>
                              </p:par>
                            </p:childTnLst>
                          </p:cTn>
                        </p:par>
                        <p:par>
                          <p:cTn id="134" fill="hold">
                            <p:stCondLst>
                              <p:cond delay="7000"/>
                            </p:stCondLst>
                            <p:childTnLst>
                              <p:par>
                                <p:cTn id="135" presetClass="entr" nodeType="afterEffect" presetID="9" grpId="30" fill="hold">
                                  <p:stCondLst>
                                    <p:cond delay="0"/>
                                  </p:stCondLst>
                                  <p:iterate type="el" backwards="0">
                                    <p:tmAbs val="0"/>
                                  </p:iterate>
                                  <p:childTnLst>
                                    <p:set>
                                      <p:cBhvr>
                                        <p:cTn id="136" fill="hold"/>
                                        <p:tgtEl>
                                          <p:spTgt spid="563"/>
                                        </p:tgtEl>
                                        <p:attrNameLst>
                                          <p:attrName>style.visibility</p:attrName>
                                        </p:attrNameLst>
                                      </p:cBhvr>
                                      <p:to>
                                        <p:strVal val="visible"/>
                                      </p:to>
                                    </p:set>
                                    <p:animEffect filter="dissolve" transition="in">
                                      <p:cBhvr>
                                        <p:cTn id="137" dur="2000"/>
                                        <p:tgtEl>
                                          <p:spTgt spid="563"/>
                                        </p:tgtEl>
                                      </p:cBhvr>
                                    </p:animEffect>
                                  </p:childTnLst>
                                </p:cTn>
                              </p:par>
                            </p:childTnLst>
                          </p:cTn>
                        </p:par>
                      </p:childTnLst>
                    </p:cTn>
                  </p:par>
                  <p:par>
                    <p:cTn id="138" fill="hold">
                      <p:stCondLst>
                        <p:cond delay="indefinite"/>
                      </p:stCondLst>
                      <p:childTnLst>
                        <p:par>
                          <p:cTn id="139" fill="hold">
                            <p:stCondLst>
                              <p:cond delay="0"/>
                            </p:stCondLst>
                            <p:childTnLst>
                              <p:par>
                                <p:cTn id="140" presetClass="exit" nodeType="clickEffect" presetID="9" grpId="31" fill="hold">
                                  <p:stCondLst>
                                    <p:cond delay="0"/>
                                  </p:stCondLst>
                                  <p:iterate type="el" backwards="0">
                                    <p:tmAbs val="0"/>
                                  </p:iterate>
                                  <p:childTnLst>
                                    <p:animEffect filter="dissolve" transition="out">
                                      <p:cBhvr>
                                        <p:cTn id="141" dur="2000" fill="hold"/>
                                        <p:tgtEl>
                                          <p:spTgt spid="559"/>
                                        </p:tgtEl>
                                      </p:cBhvr>
                                    </p:animEffect>
                                    <p:set>
                                      <p:cBhvr>
                                        <p:cTn id="142" fill="hold">
                                          <p:stCondLst>
                                            <p:cond delay="1999"/>
                                          </p:stCondLst>
                                        </p:cTn>
                                        <p:tgtEl>
                                          <p:spTgt spid="559"/>
                                        </p:tgtEl>
                                        <p:attrNameLst>
                                          <p:attrName>style.visibility</p:attrName>
                                        </p:attrNameLst>
                                      </p:cBhvr>
                                      <p:to>
                                        <p:strVal val="hidden"/>
                                      </p:to>
                                    </p:set>
                                  </p:childTnLst>
                                </p:cTn>
                              </p:par>
                            </p:childTnLst>
                          </p:cTn>
                        </p:par>
                        <p:par>
                          <p:cTn id="143" fill="hold">
                            <p:stCondLst>
                              <p:cond delay="2000"/>
                            </p:stCondLst>
                            <p:childTnLst>
                              <p:par>
                                <p:cTn id="144" presetClass="exit" nodeType="afterEffect" presetID="9" grpId="32" fill="hold">
                                  <p:stCondLst>
                                    <p:cond delay="0"/>
                                  </p:stCondLst>
                                  <p:iterate type="el" backwards="0">
                                    <p:tmAbs val="0"/>
                                  </p:iterate>
                                  <p:childTnLst>
                                    <p:animEffect filter="dissolve" transition="out">
                                      <p:cBhvr>
                                        <p:cTn id="145" dur="2000" fill="hold"/>
                                        <p:tgtEl>
                                          <p:spTgt spid="561"/>
                                        </p:tgtEl>
                                      </p:cBhvr>
                                    </p:animEffect>
                                    <p:set>
                                      <p:cBhvr>
                                        <p:cTn id="146" fill="hold">
                                          <p:stCondLst>
                                            <p:cond delay="1999"/>
                                          </p:stCondLst>
                                        </p:cTn>
                                        <p:tgtEl>
                                          <p:spTgt spid="561"/>
                                        </p:tgtEl>
                                        <p:attrNameLst>
                                          <p:attrName>style.visibility</p:attrName>
                                        </p:attrNameLst>
                                      </p:cBhvr>
                                      <p:to>
                                        <p:strVal val="hidden"/>
                                      </p:to>
                                    </p:set>
                                  </p:childTnLst>
                                </p:cTn>
                              </p:par>
                            </p:childTnLst>
                          </p:cTn>
                        </p:par>
                        <p:par>
                          <p:cTn id="147" fill="hold">
                            <p:stCondLst>
                              <p:cond delay="4000"/>
                            </p:stCondLst>
                            <p:childTnLst>
                              <p:par>
                                <p:cTn id="148" presetClass="exit" nodeType="afterEffect" presetID="9" grpId="33" fill="hold">
                                  <p:stCondLst>
                                    <p:cond delay="0"/>
                                  </p:stCondLst>
                                  <p:iterate type="el" backwards="0">
                                    <p:tmAbs val="0"/>
                                  </p:iterate>
                                  <p:childTnLst>
                                    <p:animEffect filter="dissolve" transition="out">
                                      <p:cBhvr>
                                        <p:cTn id="149" dur="2000" fill="hold"/>
                                        <p:tgtEl>
                                          <p:spTgt spid="563"/>
                                        </p:tgtEl>
                                      </p:cBhvr>
                                    </p:animEffect>
                                    <p:set>
                                      <p:cBhvr>
                                        <p:cTn id="150" fill="hold">
                                          <p:stCondLst>
                                            <p:cond delay="1999"/>
                                          </p:stCondLst>
                                        </p:cTn>
                                        <p:tgtEl>
                                          <p:spTgt spid="563"/>
                                        </p:tgtEl>
                                        <p:attrNameLst>
                                          <p:attrName>style.visibility</p:attrName>
                                        </p:attrNameLst>
                                      </p:cBhvr>
                                      <p:to>
                                        <p:strVal val="hidden"/>
                                      </p:to>
                                    </p:set>
                                  </p:childTnLst>
                                </p:cTn>
                              </p:par>
                            </p:childTnLst>
                          </p:cTn>
                        </p:par>
                        <p:par>
                          <p:cTn id="151" fill="hold">
                            <p:stCondLst>
                              <p:cond delay="6000"/>
                            </p:stCondLst>
                            <p:childTnLst>
                              <p:par>
                                <p:cTn id="152" presetClass="entr" nodeType="afterEffect" presetSubtype="8" presetID="2" grpId="34" fill="hold">
                                  <p:stCondLst>
                                    <p:cond delay="0"/>
                                  </p:stCondLst>
                                  <p:iterate type="el" backwards="0">
                                    <p:tmAbs val="0"/>
                                  </p:iterate>
                                  <p:childTnLst>
                                    <p:set>
                                      <p:cBhvr>
                                        <p:cTn id="153" fill="hold"/>
                                        <p:tgtEl>
                                          <p:spTgt spid="565"/>
                                        </p:tgtEl>
                                        <p:attrNameLst>
                                          <p:attrName>style.visibility</p:attrName>
                                        </p:attrNameLst>
                                      </p:cBhvr>
                                      <p:to>
                                        <p:strVal val="visible"/>
                                      </p:to>
                                    </p:set>
                                    <p:anim calcmode="lin" valueType="num">
                                      <p:cBhvr>
                                        <p:cTn id="154" dur="1000" fill="hold"/>
                                        <p:tgtEl>
                                          <p:spTgt spid="565"/>
                                        </p:tgtEl>
                                        <p:attrNameLst>
                                          <p:attrName>ppt_x</p:attrName>
                                        </p:attrNameLst>
                                      </p:cBhvr>
                                      <p:tavLst>
                                        <p:tav tm="0">
                                          <p:val>
                                            <p:strVal val="0-#ppt_w/2"/>
                                          </p:val>
                                        </p:tav>
                                        <p:tav tm="100000">
                                          <p:val>
                                            <p:strVal val="#ppt_x"/>
                                          </p:val>
                                        </p:tav>
                                      </p:tavLst>
                                    </p:anim>
                                    <p:anim calcmode="lin" valueType="num">
                                      <p:cBhvr>
                                        <p:cTn id="155" dur="1000" fill="hold"/>
                                        <p:tgtEl>
                                          <p:spTgt spid="565"/>
                                        </p:tgtEl>
                                        <p:attrNameLst>
                                          <p:attrName>ppt_y</p:attrName>
                                        </p:attrNameLst>
                                      </p:cBhvr>
                                      <p:tavLst>
                                        <p:tav tm="0">
                                          <p:val>
                                            <p:strVal val="#ppt_y"/>
                                          </p:val>
                                        </p:tav>
                                        <p:tav tm="100000">
                                          <p:val>
                                            <p:strVal val="#ppt_y"/>
                                          </p:val>
                                        </p:tav>
                                      </p:tavLst>
                                    </p:anim>
                                  </p:childTnLst>
                                </p:cTn>
                              </p:par>
                            </p:childTnLst>
                          </p:cTn>
                        </p:par>
                        <p:par>
                          <p:cTn id="156" fill="hold">
                            <p:stCondLst>
                              <p:cond delay="7000"/>
                            </p:stCondLst>
                            <p:childTnLst>
                              <p:par>
                                <p:cTn id="157" presetClass="entr" nodeType="afterEffect" presetID="9" grpId="35" fill="hold">
                                  <p:stCondLst>
                                    <p:cond delay="0"/>
                                  </p:stCondLst>
                                  <p:iterate type="el" backwards="0">
                                    <p:tmAbs val="0"/>
                                  </p:iterate>
                                  <p:childTnLst>
                                    <p:set>
                                      <p:cBhvr>
                                        <p:cTn id="158" fill="hold"/>
                                        <p:tgtEl>
                                          <p:spTgt spid="566"/>
                                        </p:tgtEl>
                                        <p:attrNameLst>
                                          <p:attrName>style.visibility</p:attrName>
                                        </p:attrNameLst>
                                      </p:cBhvr>
                                      <p:to>
                                        <p:strVal val="visible"/>
                                      </p:to>
                                    </p:set>
                                    <p:animEffect filter="dissolve" transition="in">
                                      <p:cBhvr>
                                        <p:cTn id="159" dur="2000"/>
                                        <p:tgtEl>
                                          <p:spTgt spid="566"/>
                                        </p:tgtEl>
                                      </p:cBhvr>
                                    </p:animEffect>
                                  </p:childTnLst>
                                </p:cTn>
                              </p:par>
                            </p:childTnLst>
                          </p:cTn>
                        </p:par>
                        <p:par>
                          <p:cTn id="160" fill="hold">
                            <p:stCondLst>
                              <p:cond delay="9000"/>
                            </p:stCondLst>
                            <p:childTnLst>
                              <p:par>
                                <p:cTn id="161" presetClass="entr" nodeType="afterEffect" presetID="9" grpId="36" fill="hold">
                                  <p:stCondLst>
                                    <p:cond delay="0"/>
                                  </p:stCondLst>
                                  <p:iterate type="el" backwards="0">
                                    <p:tmAbs val="0"/>
                                  </p:iterate>
                                  <p:childTnLst>
                                    <p:set>
                                      <p:cBhvr>
                                        <p:cTn id="162" fill="hold"/>
                                        <p:tgtEl>
                                          <p:spTgt spid="568"/>
                                        </p:tgtEl>
                                        <p:attrNameLst>
                                          <p:attrName>style.visibility</p:attrName>
                                        </p:attrNameLst>
                                      </p:cBhvr>
                                      <p:to>
                                        <p:strVal val="visible"/>
                                      </p:to>
                                    </p:set>
                                    <p:animEffect filter="dissolve" transition="in">
                                      <p:cBhvr>
                                        <p:cTn id="163" dur="2000"/>
                                        <p:tgtEl>
                                          <p:spTgt spid="5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50" grpId="23"/>
      <p:bldP build="whole" bldLvl="1" animBg="1" rev="0" advAuto="0" spid="535" grpId="9"/>
      <p:bldP build="whole" bldLvl="1" animBg="1" rev="0" advAuto="0" spid="530" grpId="6"/>
      <p:bldP build="whole" bldLvl="1" animBg="1" rev="0" advAuto="0" spid="541" grpId="12"/>
      <p:bldP build="whole" bldLvl="1" animBg="1" rev="0" advAuto="0" spid="544" grpId="8"/>
      <p:bldP build="whole" bldLvl="1" animBg="1" rev="0" advAuto="0" spid="563" grpId="30"/>
      <p:bldP build="whole" bldLvl="1" animBg="1" rev="0" advAuto="0" spid="535" grpId="15"/>
      <p:bldP build="whole" bldLvl="1" animBg="1" rev="0" advAuto="0" spid="541" grpId="16"/>
      <p:bldP build="whole" bldLvl="1" animBg="1" rev="0" advAuto="0" spid="533" grpId="1"/>
      <p:bldP build="whole" bldLvl="1" animBg="1" rev="0" advAuto="0" spid="563" grpId="33"/>
      <p:bldP build="whole" bldLvl="1" animBg="1" rev="0" advAuto="0" spid="568" grpId="36"/>
      <p:bldP build="whole" bldLvl="1" animBg="1" rev="0" advAuto="0" spid="529" grpId="5"/>
      <p:bldP build="whole" bldLvl="1" animBg="1" rev="0" advAuto="0" spid="559" grpId="28"/>
      <p:bldP build="whole" bldLvl="1" animBg="1" rev="0" advAuto="0" spid="559" grpId="31"/>
      <p:bldP build="whole" bldLvl="1" animBg="1" rev="0" advAuto="0" spid="561" grpId="29"/>
      <p:bldP build="whole" bldLvl="1" animBg="1" rev="0" advAuto="0" spid="546" grpId="18"/>
      <p:bldP build="whole" bldLvl="1" animBg="1" rev="0" advAuto="0" spid="561" grpId="32"/>
      <p:bldP build="whole" bldLvl="1" animBg="1" rev="0" advAuto="0" spid="527" grpId="2"/>
      <p:bldP build="whole" bldLvl="1" animBg="1" rev="0" advAuto="0" spid="552" grpId="21"/>
      <p:bldP build="whole" bldLvl="1" animBg="1" rev="0" advAuto="0" spid="557" grpId="27"/>
      <p:bldP build="whole" bldLvl="1" animBg="1" rev="0" advAuto="0" spid="528" grpId="3"/>
      <p:bldP build="whole" bldLvl="1" animBg="1" rev="0" advAuto="0" spid="552" grpId="24"/>
      <p:bldP build="whole" bldLvl="1" animBg="1" rev="0" advAuto="0" spid="539" grpId="11"/>
      <p:bldP build="whole" bldLvl="1" animBg="1" rev="0" advAuto="0" spid="554" grpId="22"/>
      <p:bldP build="whole" bldLvl="1" animBg="1" rev="0" advAuto="0" spid="539" grpId="13"/>
      <p:bldP build="whole" bldLvl="1" animBg="1" rev="0" advAuto="0" spid="554" grpId="25"/>
      <p:bldP build="whole" bldLvl="1" animBg="1" rev="0" advAuto="0" spid="565" grpId="34"/>
      <p:bldP build="whole" bldLvl="1" animBg="1" rev="0" advAuto="0" spid="537" grpId="10"/>
      <p:bldP build="whole" bldLvl="1" animBg="1" rev="0" advAuto="0" spid="531" grpId="4"/>
      <p:bldP build="whole" bldLvl="1" animBg="1" rev="0" advAuto="0" spid="537" grpId="14"/>
      <p:bldP build="whole" bldLvl="1" animBg="1" rev="0" advAuto="0" spid="534" grpId="7"/>
      <p:bldP build="whole" bldLvl="1" animBg="1" rev="0" advAuto="0" spid="556" grpId="26"/>
      <p:bldP build="whole" bldLvl="1" animBg="1" rev="0" advAuto="0" spid="543" grpId="17"/>
      <p:bldP build="whole" bldLvl="1" animBg="1" rev="0" advAuto="0" spid="566" grpId="35"/>
      <p:bldP build="whole" bldLvl="1" animBg="1" rev="0" advAuto="0" spid="548" grpId="19"/>
      <p:bldP build="whole" bldLvl="1" animBg="1" rev="0" advAuto="0" spid="550" grpId="20"/>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1"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572" name="Hard Voting"/>
          <p:cNvSpPr txBox="1"/>
          <p:nvPr/>
        </p:nvSpPr>
        <p:spPr>
          <a:xfrm>
            <a:off x="5173353" y="316594"/>
            <a:ext cx="320725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Hard Voting</a:t>
            </a:r>
          </a:p>
        </p:txBody>
      </p:sp>
      <p:sp>
        <p:nvSpPr>
          <p:cNvPr id="573" name="Soft Voting"/>
          <p:cNvSpPr txBox="1"/>
          <p:nvPr/>
        </p:nvSpPr>
        <p:spPr>
          <a:xfrm>
            <a:off x="15518221" y="316594"/>
            <a:ext cx="296697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Soft Voting</a:t>
            </a:r>
          </a:p>
        </p:txBody>
      </p:sp>
      <p:pic>
        <p:nvPicPr>
          <p:cNvPr id="574" name="Captură de ecran din 2024-10-20 la 23.08.18.png" descr="Captură de ecran din 2024-10-20 la 23.08.18.png"/>
          <p:cNvPicPr>
            <a:picLocks noChangeAspect="1"/>
          </p:cNvPicPr>
          <p:nvPr/>
        </p:nvPicPr>
        <p:blipFill>
          <a:blip r:embed="rId2">
            <a:extLst/>
          </a:blip>
          <a:stretch>
            <a:fillRect/>
          </a:stretch>
        </p:blipFill>
        <p:spPr>
          <a:xfrm>
            <a:off x="3459172" y="1264161"/>
            <a:ext cx="8229867" cy="4884194"/>
          </a:xfrm>
          <a:prstGeom prst="rect">
            <a:avLst/>
          </a:prstGeom>
          <a:ln w="12700">
            <a:miter lim="400000"/>
          </a:ln>
        </p:spPr>
      </p:pic>
      <p:pic>
        <p:nvPicPr>
          <p:cNvPr id="575" name="Captură de ecran din 2024-10-20 la 23.08.41.png" descr="Captură de ecran din 2024-10-20 la 23.08.41.png"/>
          <p:cNvPicPr>
            <a:picLocks noChangeAspect="1"/>
          </p:cNvPicPr>
          <p:nvPr/>
        </p:nvPicPr>
        <p:blipFill>
          <a:blip r:embed="rId3">
            <a:extLst/>
          </a:blip>
          <a:stretch>
            <a:fillRect/>
          </a:stretch>
        </p:blipFill>
        <p:spPr>
          <a:xfrm>
            <a:off x="15195032" y="1979058"/>
            <a:ext cx="4749801" cy="3454401"/>
          </a:xfrm>
          <a:prstGeom prst="rect">
            <a:avLst/>
          </a:prstGeom>
          <a:ln w="12700">
            <a:miter lim="400000"/>
          </a:ln>
        </p:spPr>
      </p:pic>
      <p:pic>
        <p:nvPicPr>
          <p:cNvPr id="576" name="Linie Linie" descr="Linie Linie"/>
          <p:cNvPicPr>
            <a:picLocks noChangeAspect="0"/>
          </p:cNvPicPr>
          <p:nvPr/>
        </p:nvPicPr>
        <p:blipFill>
          <a:blip r:embed="rId4">
            <a:extLst/>
          </a:blip>
          <a:stretch>
            <a:fillRect/>
          </a:stretch>
        </p:blipFill>
        <p:spPr>
          <a:xfrm rot="16200000">
            <a:off x="7577025" y="5045278"/>
            <a:ext cx="9363786" cy="101601"/>
          </a:xfrm>
          <a:prstGeom prst="rect">
            <a:avLst/>
          </a:prstGeom>
        </p:spPr>
      </p:pic>
      <p:sp>
        <p:nvSpPr>
          <p:cNvPr id="578" name="- fiecare model din ansamblu (un grup de modele) face propria predicție (ca un “vot”)."/>
          <p:cNvSpPr txBox="1"/>
          <p:nvPr/>
        </p:nvSpPr>
        <p:spPr>
          <a:xfrm>
            <a:off x="233064" y="7053196"/>
            <a:ext cx="11629340" cy="55575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400"/>
            </a:lvl1pPr>
          </a:lstStyle>
          <a:p>
            <a:pPr/>
            <a:r>
              <a:t>- fiecare model din ansamblu (un grup de modele) face propria predicție (ca un “vot”).</a:t>
            </a:r>
          </a:p>
        </p:txBody>
      </p:sp>
      <p:pic>
        <p:nvPicPr>
          <p:cNvPr id="579" name="Oval Oval" descr="Oval Oval"/>
          <p:cNvPicPr>
            <a:picLocks noChangeAspect="0"/>
          </p:cNvPicPr>
          <p:nvPr/>
        </p:nvPicPr>
        <p:blipFill>
          <a:blip r:embed="rId5">
            <a:extLst/>
          </a:blip>
          <a:stretch>
            <a:fillRect/>
          </a:stretch>
        </p:blipFill>
        <p:spPr>
          <a:xfrm>
            <a:off x="7168320" y="2942070"/>
            <a:ext cx="648430" cy="773595"/>
          </a:xfrm>
          <a:prstGeom prst="rect">
            <a:avLst/>
          </a:prstGeom>
        </p:spPr>
      </p:pic>
      <p:pic>
        <p:nvPicPr>
          <p:cNvPr id="581" name="Oval Oval" descr="Oval Oval"/>
          <p:cNvPicPr>
            <a:picLocks noChangeAspect="0"/>
          </p:cNvPicPr>
          <p:nvPr/>
        </p:nvPicPr>
        <p:blipFill>
          <a:blip r:embed="rId6">
            <a:extLst/>
          </a:blip>
          <a:stretch>
            <a:fillRect/>
          </a:stretch>
        </p:blipFill>
        <p:spPr>
          <a:xfrm>
            <a:off x="5327467" y="2942070"/>
            <a:ext cx="811572" cy="789251"/>
          </a:xfrm>
          <a:prstGeom prst="rect">
            <a:avLst/>
          </a:prstGeom>
        </p:spPr>
      </p:pic>
      <p:pic>
        <p:nvPicPr>
          <p:cNvPr id="583" name="Oval Oval" descr="Oval Oval"/>
          <p:cNvPicPr>
            <a:picLocks noChangeAspect="0"/>
          </p:cNvPicPr>
          <p:nvPr/>
        </p:nvPicPr>
        <p:blipFill>
          <a:blip r:embed="rId6">
            <a:extLst/>
          </a:blip>
          <a:stretch>
            <a:fillRect/>
          </a:stretch>
        </p:blipFill>
        <p:spPr>
          <a:xfrm>
            <a:off x="3740226" y="3069070"/>
            <a:ext cx="811571" cy="789251"/>
          </a:xfrm>
          <a:prstGeom prst="rect">
            <a:avLst/>
          </a:prstGeom>
        </p:spPr>
      </p:pic>
      <p:pic>
        <p:nvPicPr>
          <p:cNvPr id="585" name="Oval Oval" descr="Oval Oval"/>
          <p:cNvPicPr>
            <a:picLocks noChangeAspect="0"/>
          </p:cNvPicPr>
          <p:nvPr/>
        </p:nvPicPr>
        <p:blipFill>
          <a:blip r:embed="rId6">
            <a:extLst/>
          </a:blip>
          <a:stretch>
            <a:fillRect/>
          </a:stretch>
        </p:blipFill>
        <p:spPr>
          <a:xfrm>
            <a:off x="8767792" y="2934242"/>
            <a:ext cx="811572" cy="789251"/>
          </a:xfrm>
          <a:prstGeom prst="rect">
            <a:avLst/>
          </a:prstGeom>
        </p:spPr>
      </p:pic>
      <p:sp>
        <p:nvSpPr>
          <p:cNvPr id="587" name="- predicția finală se bazează pe votul majoritar. Eticheta/clasa care primește cele mai multe voturi câștigă."/>
          <p:cNvSpPr txBox="1"/>
          <p:nvPr/>
        </p:nvSpPr>
        <p:spPr>
          <a:xfrm>
            <a:off x="233064" y="7894330"/>
            <a:ext cx="11629340" cy="9675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 predicția finală se bazează pe votul majoritar. Eticheta/clasa care primește cele mai multe voturi câștigă.</a:t>
            </a:r>
          </a:p>
        </p:txBody>
      </p:sp>
      <p:pic>
        <p:nvPicPr>
          <p:cNvPr id="588" name="Linie Linie" descr="Linie Linie"/>
          <p:cNvPicPr>
            <a:picLocks noChangeAspect="0"/>
          </p:cNvPicPr>
          <p:nvPr/>
        </p:nvPicPr>
        <p:blipFill>
          <a:blip r:embed="rId7">
            <a:extLst/>
          </a:blip>
          <a:stretch>
            <a:fillRect/>
          </a:stretch>
        </p:blipFill>
        <p:spPr>
          <a:xfrm>
            <a:off x="6932512" y="7518462"/>
            <a:ext cx="2981961" cy="101601"/>
          </a:xfrm>
          <a:prstGeom prst="rect">
            <a:avLst/>
          </a:prstGeom>
        </p:spPr>
      </p:pic>
      <p:pic>
        <p:nvPicPr>
          <p:cNvPr id="590" name="Linie Linie" descr="Linie Linie"/>
          <p:cNvPicPr>
            <a:picLocks noChangeAspect="0"/>
          </p:cNvPicPr>
          <p:nvPr/>
        </p:nvPicPr>
        <p:blipFill>
          <a:blip r:embed="rId8">
            <a:extLst/>
          </a:blip>
          <a:stretch>
            <a:fillRect/>
          </a:stretch>
        </p:blipFill>
        <p:spPr>
          <a:xfrm>
            <a:off x="10372879" y="8327298"/>
            <a:ext cx="1344310" cy="101601"/>
          </a:xfrm>
          <a:prstGeom prst="rect">
            <a:avLst/>
          </a:prstGeom>
        </p:spPr>
      </p:pic>
      <p:pic>
        <p:nvPicPr>
          <p:cNvPr id="592" name="Linie Linie" descr="Linie Linie"/>
          <p:cNvPicPr>
            <a:picLocks noChangeAspect="0"/>
          </p:cNvPicPr>
          <p:nvPr/>
        </p:nvPicPr>
        <p:blipFill>
          <a:blip r:embed="rId9">
            <a:extLst/>
          </a:blip>
          <a:stretch>
            <a:fillRect/>
          </a:stretch>
        </p:blipFill>
        <p:spPr>
          <a:xfrm>
            <a:off x="202649" y="8791587"/>
            <a:ext cx="2880360" cy="101601"/>
          </a:xfrm>
          <a:prstGeom prst="rect">
            <a:avLst/>
          </a:prstGeom>
        </p:spPr>
      </p:pic>
      <p:pic>
        <p:nvPicPr>
          <p:cNvPr id="594" name="Linie Linie" descr="Linie Linie"/>
          <p:cNvPicPr>
            <a:picLocks noChangeAspect="0"/>
          </p:cNvPicPr>
          <p:nvPr/>
        </p:nvPicPr>
        <p:blipFill>
          <a:blip r:embed="rId10">
            <a:extLst/>
          </a:blip>
          <a:stretch>
            <a:fillRect/>
          </a:stretch>
        </p:blipFill>
        <p:spPr>
          <a:xfrm rot="9582359">
            <a:off x="4207058" y="2466471"/>
            <a:ext cx="2243362" cy="405592"/>
          </a:xfrm>
          <a:prstGeom prst="rect">
            <a:avLst/>
          </a:prstGeom>
        </p:spPr>
      </p:pic>
      <p:pic>
        <p:nvPicPr>
          <p:cNvPr id="596" name="Linie Linie" descr="Linie Linie"/>
          <p:cNvPicPr>
            <a:picLocks noChangeAspect="0"/>
          </p:cNvPicPr>
          <p:nvPr/>
        </p:nvPicPr>
        <p:blipFill>
          <a:blip r:embed="rId11">
            <a:extLst/>
          </a:blip>
          <a:stretch>
            <a:fillRect/>
          </a:stretch>
        </p:blipFill>
        <p:spPr>
          <a:xfrm rot="8100000">
            <a:off x="5736941" y="2500623"/>
            <a:ext cx="889086" cy="405592"/>
          </a:xfrm>
          <a:prstGeom prst="rect">
            <a:avLst/>
          </a:prstGeom>
        </p:spPr>
      </p:pic>
      <p:pic>
        <p:nvPicPr>
          <p:cNvPr id="598" name="Linie Linie" descr="Linie Linie"/>
          <p:cNvPicPr>
            <a:picLocks noChangeAspect="0"/>
          </p:cNvPicPr>
          <p:nvPr/>
        </p:nvPicPr>
        <p:blipFill>
          <a:blip r:embed="rId12">
            <a:extLst/>
          </a:blip>
          <a:stretch>
            <a:fillRect/>
          </a:stretch>
        </p:blipFill>
        <p:spPr>
          <a:xfrm rot="890411">
            <a:off x="6630581" y="2453535"/>
            <a:ext cx="2461230" cy="405591"/>
          </a:xfrm>
          <a:prstGeom prst="rect">
            <a:avLst/>
          </a:prstGeom>
        </p:spPr>
      </p:pic>
      <p:sp>
        <p:nvSpPr>
          <p:cNvPr id="600" name="- în loc să voteze doar pentru o etichetă, fiecare model oferă probabilități pentru fiecare clasă."/>
          <p:cNvSpPr txBox="1"/>
          <p:nvPr/>
        </p:nvSpPr>
        <p:spPr>
          <a:xfrm>
            <a:off x="12422468" y="6847304"/>
            <a:ext cx="11758883" cy="9675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 în loc să voteze doar pentru o etichetă, fiecare model oferă probabilități pentru fiecare clasă.</a:t>
            </a:r>
          </a:p>
        </p:txBody>
      </p:sp>
      <p:pic>
        <p:nvPicPr>
          <p:cNvPr id="601" name="Linie Linie" descr="Linie Linie"/>
          <p:cNvPicPr>
            <a:picLocks noChangeAspect="0"/>
          </p:cNvPicPr>
          <p:nvPr/>
        </p:nvPicPr>
        <p:blipFill>
          <a:blip r:embed="rId7">
            <a:extLst/>
          </a:blip>
          <a:stretch>
            <a:fillRect/>
          </a:stretch>
        </p:blipFill>
        <p:spPr>
          <a:xfrm>
            <a:off x="19578880" y="7280272"/>
            <a:ext cx="2981961" cy="101601"/>
          </a:xfrm>
          <a:prstGeom prst="rect">
            <a:avLst/>
          </a:prstGeom>
        </p:spPr>
      </p:pic>
      <p:pic>
        <p:nvPicPr>
          <p:cNvPr id="603" name="Linie Linie" descr="Linie Linie"/>
          <p:cNvPicPr>
            <a:picLocks noChangeAspect="0"/>
          </p:cNvPicPr>
          <p:nvPr/>
        </p:nvPicPr>
        <p:blipFill>
          <a:blip r:embed="rId13">
            <a:extLst/>
          </a:blip>
          <a:stretch>
            <a:fillRect/>
          </a:stretch>
        </p:blipFill>
        <p:spPr>
          <a:xfrm>
            <a:off x="15241764" y="4609758"/>
            <a:ext cx="1582509" cy="101601"/>
          </a:xfrm>
          <a:prstGeom prst="rect">
            <a:avLst/>
          </a:prstGeom>
        </p:spPr>
      </p:pic>
      <p:pic>
        <p:nvPicPr>
          <p:cNvPr id="605" name="Linie Linie" descr="Linie Linie"/>
          <p:cNvPicPr>
            <a:picLocks noChangeAspect="0"/>
          </p:cNvPicPr>
          <p:nvPr/>
        </p:nvPicPr>
        <p:blipFill>
          <a:blip r:embed="rId13">
            <a:extLst/>
          </a:blip>
          <a:stretch>
            <a:fillRect/>
          </a:stretch>
        </p:blipFill>
        <p:spPr>
          <a:xfrm>
            <a:off x="16701086" y="4609758"/>
            <a:ext cx="1582508" cy="101601"/>
          </a:xfrm>
          <a:prstGeom prst="rect">
            <a:avLst/>
          </a:prstGeom>
        </p:spPr>
      </p:pic>
      <p:pic>
        <p:nvPicPr>
          <p:cNvPr id="607" name="Linie Linie" descr="Linie Linie"/>
          <p:cNvPicPr>
            <a:picLocks noChangeAspect="0"/>
          </p:cNvPicPr>
          <p:nvPr/>
        </p:nvPicPr>
        <p:blipFill>
          <a:blip r:embed="rId13">
            <a:extLst/>
          </a:blip>
          <a:stretch>
            <a:fillRect/>
          </a:stretch>
        </p:blipFill>
        <p:spPr>
          <a:xfrm>
            <a:off x="18378797" y="4609758"/>
            <a:ext cx="1582509" cy="101601"/>
          </a:xfrm>
          <a:prstGeom prst="rect">
            <a:avLst/>
          </a:prstGeom>
        </p:spPr>
      </p:pic>
      <p:sp>
        <p:nvSpPr>
          <p:cNvPr id="609" name="- predicția finală se face prin mediarea probabilităților de la toate modelele. Clasa cu probabilitatea medie cea mai mare este aleasă."/>
          <p:cNvSpPr txBox="1"/>
          <p:nvPr/>
        </p:nvSpPr>
        <p:spPr>
          <a:xfrm>
            <a:off x="12422468" y="7824173"/>
            <a:ext cx="11758883" cy="96753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2400"/>
            </a:lvl1pPr>
          </a:lstStyle>
          <a:p>
            <a:pPr/>
            <a:r>
              <a:t>- predicția finală se face prin mediarea probabilităților de la toate modelele. Clasa cu probabilitatea medie cea mai mare este aleasă.</a:t>
            </a:r>
          </a:p>
        </p:txBody>
      </p:sp>
      <p:pic>
        <p:nvPicPr>
          <p:cNvPr id="610" name="Linie Linie" descr="Linie Linie"/>
          <p:cNvPicPr>
            <a:picLocks noChangeAspect="0"/>
          </p:cNvPicPr>
          <p:nvPr/>
        </p:nvPicPr>
        <p:blipFill>
          <a:blip r:embed="rId14">
            <a:extLst/>
          </a:blip>
          <a:stretch>
            <a:fillRect/>
          </a:stretch>
        </p:blipFill>
        <p:spPr>
          <a:xfrm>
            <a:off x="16001361" y="8257141"/>
            <a:ext cx="3926876" cy="101601"/>
          </a:xfrm>
          <a:prstGeom prst="rect">
            <a:avLst/>
          </a:prstGeom>
        </p:spPr>
      </p:pic>
      <p:pic>
        <p:nvPicPr>
          <p:cNvPr id="612" name="Linie Linie" descr="Linie Linie"/>
          <p:cNvPicPr>
            <a:picLocks noChangeAspect="0"/>
          </p:cNvPicPr>
          <p:nvPr/>
        </p:nvPicPr>
        <p:blipFill>
          <a:blip r:embed="rId15">
            <a:extLst/>
          </a:blip>
          <a:stretch>
            <a:fillRect/>
          </a:stretch>
        </p:blipFill>
        <p:spPr>
          <a:xfrm>
            <a:off x="15117036" y="8652703"/>
            <a:ext cx="2497706" cy="101601"/>
          </a:xfrm>
          <a:prstGeom prst="rect">
            <a:avLst/>
          </a:prstGeom>
        </p:spPr>
      </p:pic>
      <p:sp>
        <p:nvSpPr>
          <p:cNvPr id="614" name="Hard voting se bazează pe numărarea voturilor, deci este mai simplu și poate ignora cât de “sigur” este un model în decizia sa."/>
          <p:cNvSpPr txBox="1"/>
          <p:nvPr/>
        </p:nvSpPr>
        <p:spPr>
          <a:xfrm>
            <a:off x="139790" y="9592165"/>
            <a:ext cx="24238256" cy="16891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Hard voting se bazează pe numărarea voturilor, deci este mai simplu și poate ignora cât de “sigur” este un model în decizia sa.</a:t>
            </a:r>
          </a:p>
        </p:txBody>
      </p:sp>
      <p:sp>
        <p:nvSpPr>
          <p:cNvPr id="615" name="Soft voting ia în calcul probabilitățile și poate genera rezultate mai precise când modelele sunt încrezătoare pe diferite clase."/>
          <p:cNvSpPr txBox="1"/>
          <p:nvPr/>
        </p:nvSpPr>
        <p:spPr>
          <a:xfrm>
            <a:off x="116682" y="11422859"/>
            <a:ext cx="23436378" cy="16891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Soft voting ia în calcul probabilitățile și poate genera rezultate mai precise când modelele sunt încrezătoare pe diferite clase.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614"/>
                                        </p:tgtEl>
                                        <p:attrNameLst>
                                          <p:attrName>style.visibility</p:attrName>
                                        </p:attrNameLst>
                                      </p:cBhvr>
                                      <p:to>
                                        <p:strVal val="visible"/>
                                      </p:to>
                                    </p:set>
                                    <p:anim calcmode="lin" valueType="num">
                                      <p:cBhvr>
                                        <p:cTn id="7" dur="1000" fill="hold"/>
                                        <p:tgtEl>
                                          <p:spTgt spid="614"/>
                                        </p:tgtEl>
                                        <p:attrNameLst>
                                          <p:attrName>ppt_x</p:attrName>
                                        </p:attrNameLst>
                                      </p:cBhvr>
                                      <p:tavLst>
                                        <p:tav tm="0">
                                          <p:val>
                                            <p:strVal val="0-#ppt_w/2"/>
                                          </p:val>
                                        </p:tav>
                                        <p:tav tm="100000">
                                          <p:val>
                                            <p:strVal val="#ppt_x"/>
                                          </p:val>
                                        </p:tav>
                                      </p:tavLst>
                                    </p:anim>
                                    <p:anim calcmode="lin" valueType="num">
                                      <p:cBhvr>
                                        <p:cTn id="8" dur="1000" fill="hold"/>
                                        <p:tgtEl>
                                          <p:spTgt spid="614"/>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0"/>
                                  </p:stCondLst>
                                  <p:iterate type="el" backwards="0">
                                    <p:tmAbs val="0"/>
                                  </p:iterate>
                                  <p:childTnLst>
                                    <p:set>
                                      <p:cBhvr>
                                        <p:cTn id="11" fill="hold"/>
                                        <p:tgtEl>
                                          <p:spTgt spid="615"/>
                                        </p:tgtEl>
                                        <p:attrNameLst>
                                          <p:attrName>style.visibility</p:attrName>
                                        </p:attrNameLst>
                                      </p:cBhvr>
                                      <p:to>
                                        <p:strVal val="visible"/>
                                      </p:to>
                                    </p:set>
                                    <p:anim calcmode="lin" valueType="num">
                                      <p:cBhvr>
                                        <p:cTn id="12" dur="1000" fill="hold"/>
                                        <p:tgtEl>
                                          <p:spTgt spid="615"/>
                                        </p:tgtEl>
                                        <p:attrNameLst>
                                          <p:attrName>ppt_x</p:attrName>
                                        </p:attrNameLst>
                                      </p:cBhvr>
                                      <p:tavLst>
                                        <p:tav tm="0">
                                          <p:val>
                                            <p:strVal val="0-#ppt_w/2"/>
                                          </p:val>
                                        </p:tav>
                                        <p:tav tm="100000">
                                          <p:val>
                                            <p:strVal val="#ppt_x"/>
                                          </p:val>
                                        </p:tav>
                                      </p:tavLst>
                                    </p:anim>
                                    <p:anim calcmode="lin" valueType="num">
                                      <p:cBhvr>
                                        <p:cTn id="13" dur="1000" fill="hold"/>
                                        <p:tgtEl>
                                          <p:spTgt spid="6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15" grpId="2"/>
      <p:bldP build="whole" bldLvl="1" animBg="1" rev="0" advAuto="0" spid="614" grpId="1"/>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18" name="Voting"/>
          <p:cNvSpPr txBox="1"/>
          <p:nvPr/>
        </p:nvSpPr>
        <p:spPr>
          <a:xfrm>
            <a:off x="9263781" y="620697"/>
            <a:ext cx="2880361" cy="147675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200"/>
            </a:lvl1pPr>
          </a:lstStyle>
          <a:p>
            <a:pPr/>
            <a:r>
              <a:t>Voting</a:t>
            </a:r>
          </a:p>
        </p:txBody>
      </p:sp>
      <p:sp>
        <p:nvSpPr>
          <p:cNvPr id="619" name="(la clasificare)"/>
          <p:cNvSpPr txBox="1"/>
          <p:nvPr/>
        </p:nvSpPr>
        <p:spPr>
          <a:xfrm>
            <a:off x="12312387" y="1034993"/>
            <a:ext cx="361853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(la clasificare)</a:t>
            </a:r>
          </a:p>
        </p:txBody>
      </p:sp>
      <p:pic>
        <p:nvPicPr>
          <p:cNvPr id="620" name="Captură de ecran din 2024-10-20 la 23.38.22.png" descr="Captură de ecran din 2024-10-20 la 23.38.22.png"/>
          <p:cNvPicPr>
            <a:picLocks noChangeAspect="1"/>
          </p:cNvPicPr>
          <p:nvPr/>
        </p:nvPicPr>
        <p:blipFill>
          <a:blip r:embed="rId2">
            <a:extLst/>
          </a:blip>
          <a:stretch>
            <a:fillRect/>
          </a:stretch>
        </p:blipFill>
        <p:spPr>
          <a:xfrm>
            <a:off x="484418" y="3813973"/>
            <a:ext cx="11229320" cy="8257988"/>
          </a:xfrm>
          <a:prstGeom prst="rect">
            <a:avLst/>
          </a:prstGeom>
          <a:ln w="12700">
            <a:miter lim="400000"/>
          </a:ln>
        </p:spPr>
      </p:pic>
      <p:sp>
        <p:nvSpPr>
          <p:cNvPr id="621" name="Hard Voting"/>
          <p:cNvSpPr txBox="1"/>
          <p:nvPr/>
        </p:nvSpPr>
        <p:spPr>
          <a:xfrm>
            <a:off x="3146067" y="2459370"/>
            <a:ext cx="320725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Hard Voting</a:t>
            </a:r>
          </a:p>
        </p:txBody>
      </p:sp>
      <p:sp>
        <p:nvSpPr>
          <p:cNvPr id="622" name="Soft Voting"/>
          <p:cNvSpPr txBox="1"/>
          <p:nvPr/>
        </p:nvSpPr>
        <p:spPr>
          <a:xfrm>
            <a:off x="16248767" y="2459370"/>
            <a:ext cx="296697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Soft Voting</a:t>
            </a:r>
          </a:p>
        </p:txBody>
      </p:sp>
      <p:pic>
        <p:nvPicPr>
          <p:cNvPr id="623" name="Linie Linie" descr="Linie Linie"/>
          <p:cNvPicPr>
            <a:picLocks noChangeAspect="0"/>
          </p:cNvPicPr>
          <p:nvPr/>
        </p:nvPicPr>
        <p:blipFill>
          <a:blip r:embed="rId3">
            <a:extLst/>
          </a:blip>
          <a:stretch>
            <a:fillRect/>
          </a:stretch>
        </p:blipFill>
        <p:spPr>
          <a:xfrm rot="16200000">
            <a:off x="7815111" y="7485663"/>
            <a:ext cx="9363786" cy="101601"/>
          </a:xfrm>
          <a:prstGeom prst="rect">
            <a:avLst/>
          </a:prstGeom>
        </p:spPr>
      </p:pic>
      <p:pic>
        <p:nvPicPr>
          <p:cNvPr id="625" name="Captură de ecran din 2024-10-20 la 23.40.23.png" descr="Captură de ecran din 2024-10-20 la 23.40.23.png"/>
          <p:cNvPicPr>
            <a:picLocks noChangeAspect="1"/>
          </p:cNvPicPr>
          <p:nvPr/>
        </p:nvPicPr>
        <p:blipFill>
          <a:blip r:embed="rId4">
            <a:extLst/>
          </a:blip>
          <a:stretch>
            <a:fillRect/>
          </a:stretch>
        </p:blipFill>
        <p:spPr>
          <a:xfrm>
            <a:off x="13101471" y="4226423"/>
            <a:ext cx="10145990" cy="6620079"/>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14:prism dir="r" isContent="1" isInverted="0"/>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621"/>
                                        </p:tgtEl>
                                        <p:attrNameLst>
                                          <p:attrName>style.visibility</p:attrName>
                                        </p:attrNameLst>
                                      </p:cBhvr>
                                      <p:to>
                                        <p:strVal val="visible"/>
                                      </p:to>
                                    </p:set>
                                    <p:anim calcmode="lin" valueType="num">
                                      <p:cBhvr>
                                        <p:cTn id="7" dur="1000" fill="hold"/>
                                        <p:tgtEl>
                                          <p:spTgt spid="621"/>
                                        </p:tgtEl>
                                        <p:attrNameLst>
                                          <p:attrName>ppt_x</p:attrName>
                                        </p:attrNameLst>
                                      </p:cBhvr>
                                      <p:tavLst>
                                        <p:tav tm="0">
                                          <p:val>
                                            <p:strVal val="0-#ppt_w/2"/>
                                          </p:val>
                                        </p:tav>
                                        <p:tav tm="100000">
                                          <p:val>
                                            <p:strVal val="#ppt_x"/>
                                          </p:val>
                                        </p:tav>
                                      </p:tavLst>
                                    </p:anim>
                                    <p:anim calcmode="lin" valueType="num">
                                      <p:cBhvr>
                                        <p:cTn id="8" dur="1000" fill="hold"/>
                                        <p:tgtEl>
                                          <p:spTgt spid="621"/>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0"/>
                                  </p:stCondLst>
                                  <p:iterate type="el" backwards="0">
                                    <p:tmAbs val="0"/>
                                  </p:iterate>
                                  <p:childTnLst>
                                    <p:set>
                                      <p:cBhvr>
                                        <p:cTn id="11" fill="hold"/>
                                        <p:tgtEl>
                                          <p:spTgt spid="622"/>
                                        </p:tgtEl>
                                        <p:attrNameLst>
                                          <p:attrName>style.visibility</p:attrName>
                                        </p:attrNameLst>
                                      </p:cBhvr>
                                      <p:to>
                                        <p:strVal val="visible"/>
                                      </p:to>
                                    </p:set>
                                    <p:anim calcmode="lin" valueType="num">
                                      <p:cBhvr>
                                        <p:cTn id="12" dur="1000" fill="hold"/>
                                        <p:tgtEl>
                                          <p:spTgt spid="622"/>
                                        </p:tgtEl>
                                        <p:attrNameLst>
                                          <p:attrName>ppt_x</p:attrName>
                                        </p:attrNameLst>
                                      </p:cBhvr>
                                      <p:tavLst>
                                        <p:tav tm="0">
                                          <p:val>
                                            <p:strVal val="0-#ppt_w/2"/>
                                          </p:val>
                                        </p:tav>
                                        <p:tav tm="100000">
                                          <p:val>
                                            <p:strVal val="#ppt_x"/>
                                          </p:val>
                                        </p:tav>
                                      </p:tavLst>
                                    </p:anim>
                                    <p:anim calcmode="lin" valueType="num">
                                      <p:cBhvr>
                                        <p:cTn id="13" dur="1000" fill="hold"/>
                                        <p:tgtEl>
                                          <p:spTgt spid="622"/>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Class="entr" nodeType="afterEffect" presetID="9" grpId="3" fill="hold">
                                  <p:stCondLst>
                                    <p:cond delay="0"/>
                                  </p:stCondLst>
                                  <p:iterate type="el" backwards="0">
                                    <p:tmAbs val="0"/>
                                  </p:iterate>
                                  <p:childTnLst>
                                    <p:set>
                                      <p:cBhvr>
                                        <p:cTn id="16" fill="hold"/>
                                        <p:tgtEl>
                                          <p:spTgt spid="623"/>
                                        </p:tgtEl>
                                        <p:attrNameLst>
                                          <p:attrName>style.visibility</p:attrName>
                                        </p:attrNameLst>
                                      </p:cBhvr>
                                      <p:to>
                                        <p:strVal val="visible"/>
                                      </p:to>
                                    </p:set>
                                    <p:animEffect filter="dissolve" transition="in">
                                      <p:cBhvr>
                                        <p:cTn id="17" dur="2000"/>
                                        <p:tgtEl>
                                          <p:spTgt spid="623"/>
                                        </p:tgtEl>
                                      </p:cBhvr>
                                    </p:animEffect>
                                  </p:childTnLst>
                                </p:cTn>
                              </p:par>
                            </p:childTnLst>
                          </p:cTn>
                        </p:par>
                        <p:par>
                          <p:cTn id="18" fill="hold">
                            <p:stCondLst>
                              <p:cond delay="4000"/>
                            </p:stCondLst>
                            <p:childTnLst>
                              <p:par>
                                <p:cTn id="19" presetClass="entr" nodeType="afterEffect" presetSubtype="8" presetID="2" grpId="4" fill="hold">
                                  <p:stCondLst>
                                    <p:cond delay="0"/>
                                  </p:stCondLst>
                                  <p:iterate type="el" backwards="0">
                                    <p:tmAbs val="0"/>
                                  </p:iterate>
                                  <p:childTnLst>
                                    <p:set>
                                      <p:cBhvr>
                                        <p:cTn id="20" fill="hold"/>
                                        <p:tgtEl>
                                          <p:spTgt spid="620"/>
                                        </p:tgtEl>
                                        <p:attrNameLst>
                                          <p:attrName>style.visibility</p:attrName>
                                        </p:attrNameLst>
                                      </p:cBhvr>
                                      <p:to>
                                        <p:strVal val="visible"/>
                                      </p:to>
                                    </p:set>
                                    <p:anim calcmode="lin" valueType="num">
                                      <p:cBhvr>
                                        <p:cTn id="21" dur="1000" fill="hold"/>
                                        <p:tgtEl>
                                          <p:spTgt spid="620"/>
                                        </p:tgtEl>
                                        <p:attrNameLst>
                                          <p:attrName>ppt_x</p:attrName>
                                        </p:attrNameLst>
                                      </p:cBhvr>
                                      <p:tavLst>
                                        <p:tav tm="0">
                                          <p:val>
                                            <p:strVal val="0-#ppt_w/2"/>
                                          </p:val>
                                        </p:tav>
                                        <p:tav tm="100000">
                                          <p:val>
                                            <p:strVal val="#ppt_x"/>
                                          </p:val>
                                        </p:tav>
                                      </p:tavLst>
                                    </p:anim>
                                    <p:anim calcmode="lin" valueType="num">
                                      <p:cBhvr>
                                        <p:cTn id="22" dur="1000" fill="hold"/>
                                        <p:tgtEl>
                                          <p:spTgt spid="620"/>
                                        </p:tgtEl>
                                        <p:attrNameLst>
                                          <p:attrName>ppt_y</p:attrName>
                                        </p:attrNameLst>
                                      </p:cBhvr>
                                      <p:tavLst>
                                        <p:tav tm="0">
                                          <p:val>
                                            <p:strVal val="#ppt_y"/>
                                          </p:val>
                                        </p:tav>
                                        <p:tav tm="100000">
                                          <p:val>
                                            <p:strVal val="#ppt_y"/>
                                          </p:val>
                                        </p:tav>
                                      </p:tavLst>
                                    </p:anim>
                                  </p:childTnLst>
                                </p:cTn>
                              </p:par>
                            </p:childTnLst>
                          </p:cTn>
                        </p:par>
                        <p:par>
                          <p:cTn id="23" fill="hold">
                            <p:stCondLst>
                              <p:cond delay="5000"/>
                            </p:stCondLst>
                            <p:childTnLst>
                              <p:par>
                                <p:cTn id="24" presetClass="entr" nodeType="afterEffect" presetSubtype="8" presetID="2" grpId="5" fill="hold">
                                  <p:stCondLst>
                                    <p:cond delay="0"/>
                                  </p:stCondLst>
                                  <p:iterate type="el" backwards="0">
                                    <p:tmAbs val="0"/>
                                  </p:iterate>
                                  <p:childTnLst>
                                    <p:set>
                                      <p:cBhvr>
                                        <p:cTn id="25" fill="hold"/>
                                        <p:tgtEl>
                                          <p:spTgt spid="625"/>
                                        </p:tgtEl>
                                        <p:attrNameLst>
                                          <p:attrName>style.visibility</p:attrName>
                                        </p:attrNameLst>
                                      </p:cBhvr>
                                      <p:to>
                                        <p:strVal val="visible"/>
                                      </p:to>
                                    </p:set>
                                    <p:anim calcmode="lin" valueType="num">
                                      <p:cBhvr>
                                        <p:cTn id="26" dur="1000" fill="hold"/>
                                        <p:tgtEl>
                                          <p:spTgt spid="625"/>
                                        </p:tgtEl>
                                        <p:attrNameLst>
                                          <p:attrName>ppt_x</p:attrName>
                                        </p:attrNameLst>
                                      </p:cBhvr>
                                      <p:tavLst>
                                        <p:tav tm="0">
                                          <p:val>
                                            <p:strVal val="0-#ppt_w/2"/>
                                          </p:val>
                                        </p:tav>
                                        <p:tav tm="100000">
                                          <p:val>
                                            <p:strVal val="#ppt_x"/>
                                          </p:val>
                                        </p:tav>
                                      </p:tavLst>
                                    </p:anim>
                                    <p:anim calcmode="lin" valueType="num">
                                      <p:cBhvr>
                                        <p:cTn id="27" dur="1000" fill="hold"/>
                                        <p:tgtEl>
                                          <p:spTgt spid="6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22" grpId="2"/>
      <p:bldP build="whole" bldLvl="1" animBg="1" rev="0" advAuto="0" spid="623" grpId="3"/>
      <p:bldP build="whole" bldLvl="1" animBg="1" rev="0" advAuto="0" spid="621" grpId="1"/>
      <p:bldP build="whole" bldLvl="1" animBg="1" rev="0" advAuto="0" spid="620" grpId="4"/>
      <p:bldP build="whole" bldLvl="1" animBg="1" rev="0" advAuto="0" spid="625" grpId="5"/>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28" name="Voting"/>
          <p:cNvSpPr txBox="1"/>
          <p:nvPr/>
        </p:nvSpPr>
        <p:spPr>
          <a:xfrm>
            <a:off x="9263781" y="620697"/>
            <a:ext cx="2880361" cy="147675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200"/>
            </a:lvl1pPr>
          </a:lstStyle>
          <a:p>
            <a:pPr/>
            <a:r>
              <a:t>Voting</a:t>
            </a:r>
          </a:p>
        </p:txBody>
      </p:sp>
      <p:sp>
        <p:nvSpPr>
          <p:cNvPr id="629" name="(la regresie)"/>
          <p:cNvSpPr txBox="1"/>
          <p:nvPr/>
        </p:nvSpPr>
        <p:spPr>
          <a:xfrm>
            <a:off x="12312387" y="1034993"/>
            <a:ext cx="307426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(la regresie)</a:t>
            </a:r>
          </a:p>
        </p:txBody>
      </p:sp>
      <p:sp>
        <p:nvSpPr>
          <p:cNvPr id="630" name="Hard Voting"/>
          <p:cNvSpPr txBox="1"/>
          <p:nvPr/>
        </p:nvSpPr>
        <p:spPr>
          <a:xfrm>
            <a:off x="10588370" y="2488607"/>
            <a:ext cx="320725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Hard Voting</a:t>
            </a:r>
          </a:p>
        </p:txBody>
      </p:sp>
      <p:pic>
        <p:nvPicPr>
          <p:cNvPr id="631" name="Captură de ecran din 2024-10-21 la 11.09.00.png" descr="Captură de ecran din 2024-10-21 la 11.09.00.png"/>
          <p:cNvPicPr>
            <a:picLocks noChangeAspect="1"/>
          </p:cNvPicPr>
          <p:nvPr/>
        </p:nvPicPr>
        <p:blipFill>
          <a:blip r:embed="rId2">
            <a:extLst/>
          </a:blip>
          <a:stretch>
            <a:fillRect/>
          </a:stretch>
        </p:blipFill>
        <p:spPr>
          <a:xfrm>
            <a:off x="5365146" y="3237528"/>
            <a:ext cx="14010837" cy="10426289"/>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push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630"/>
                                        </p:tgtEl>
                                        <p:attrNameLst>
                                          <p:attrName>style.visibility</p:attrName>
                                        </p:attrNameLst>
                                      </p:cBhvr>
                                      <p:to>
                                        <p:strVal val="visible"/>
                                      </p:to>
                                    </p:set>
                                    <p:anim calcmode="lin" valueType="num">
                                      <p:cBhvr>
                                        <p:cTn id="7" dur="1000" fill="hold"/>
                                        <p:tgtEl>
                                          <p:spTgt spid="630"/>
                                        </p:tgtEl>
                                        <p:attrNameLst>
                                          <p:attrName>ppt_x</p:attrName>
                                        </p:attrNameLst>
                                      </p:cBhvr>
                                      <p:tavLst>
                                        <p:tav tm="0">
                                          <p:val>
                                            <p:strVal val="0-#ppt_w/2"/>
                                          </p:val>
                                        </p:tav>
                                        <p:tav tm="100000">
                                          <p:val>
                                            <p:strVal val="#ppt_x"/>
                                          </p:val>
                                        </p:tav>
                                      </p:tavLst>
                                    </p:anim>
                                    <p:anim calcmode="lin" valueType="num">
                                      <p:cBhvr>
                                        <p:cTn id="8" dur="1000" fill="hold"/>
                                        <p:tgtEl>
                                          <p:spTgt spid="6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30" grpId="1"/>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34" name="- Am reușit să combinăm mai multe tipuri de modele pentru a crește acuratețea generală"/>
          <p:cNvSpPr txBox="1"/>
          <p:nvPr/>
        </p:nvSpPr>
        <p:spPr>
          <a:xfrm>
            <a:off x="1102493" y="3014905"/>
            <a:ext cx="2183485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Am reușit să combinăm mai multe tipuri de modele pentru a crește acuratețea generală</a:t>
            </a:r>
          </a:p>
        </p:txBody>
      </p:sp>
      <p:sp>
        <p:nvSpPr>
          <p:cNvPr id="635" name="- Toate modele folosite în procesul de votare din slide-ul precedent au fost antrenate pe același set de date"/>
          <p:cNvSpPr txBox="1"/>
          <p:nvPr/>
        </p:nvSpPr>
        <p:spPr>
          <a:xfrm>
            <a:off x="1121325" y="4669126"/>
            <a:ext cx="22918319" cy="1689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 Toate modele folosite în procesul de votare din slide-ul precedent au fost antrenate pe același set de date</a:t>
            </a:r>
          </a:p>
        </p:txBody>
      </p:sp>
      <p:sp>
        <p:nvSpPr>
          <p:cNvPr id="636" name="- Ce ar fi dacă fiecare model din procesul de votare este antrenat pe un subset diferit al setului de date?"/>
          <p:cNvSpPr txBox="1"/>
          <p:nvPr/>
        </p:nvSpPr>
        <p:spPr>
          <a:xfrm>
            <a:off x="1121325" y="7078285"/>
            <a:ext cx="22918319" cy="1689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 Ce ar fi dacă fiecare model din procesul de votare este antrenat pe un subset diferit al setului de date?</a:t>
            </a:r>
          </a:p>
        </p:txBody>
      </p:sp>
      <p:sp>
        <p:nvSpPr>
          <p:cNvPr id="637" name="- Vom forța astfel ca fiecare model să vadă o realitate diferită asupra setului de date"/>
          <p:cNvSpPr txBox="1"/>
          <p:nvPr/>
        </p:nvSpPr>
        <p:spPr>
          <a:xfrm>
            <a:off x="1121325" y="9467603"/>
            <a:ext cx="22918319" cy="9342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 Vom forța astfel ca fiecare model să vadă o realitate diferită asupra setului de date</a:t>
            </a:r>
          </a:p>
        </p:txBody>
      </p:sp>
      <p:sp>
        <p:nvSpPr>
          <p:cNvPr id="638" name="- Această diversificare duce la o generalizare mai bună și combatem overfitting-ul"/>
          <p:cNvSpPr txBox="1"/>
          <p:nvPr/>
        </p:nvSpPr>
        <p:spPr>
          <a:xfrm>
            <a:off x="1121325" y="10904078"/>
            <a:ext cx="22918319" cy="9342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 Această diversificare duce la o generalizare mai bună și combatem overfitting-ul</a:t>
            </a:r>
          </a:p>
        </p:txBody>
      </p:sp>
      <p:pic>
        <p:nvPicPr>
          <p:cNvPr id="639" name="Linie Linie" descr="Linie Linie"/>
          <p:cNvPicPr>
            <a:picLocks noChangeAspect="0"/>
          </p:cNvPicPr>
          <p:nvPr/>
        </p:nvPicPr>
        <p:blipFill>
          <a:blip r:embed="rId2">
            <a:extLst/>
          </a:blip>
          <a:stretch>
            <a:fillRect/>
          </a:stretch>
        </p:blipFill>
        <p:spPr>
          <a:xfrm>
            <a:off x="17716282" y="7872060"/>
            <a:ext cx="4160085" cy="101601"/>
          </a:xfrm>
          <a:prstGeom prst="rect">
            <a:avLst/>
          </a:prstGeom>
        </p:spPr>
      </p:pic>
      <p:pic>
        <p:nvPicPr>
          <p:cNvPr id="641" name="Linie Linie" descr="Linie Linie"/>
          <p:cNvPicPr>
            <a:picLocks noChangeAspect="0"/>
          </p:cNvPicPr>
          <p:nvPr/>
        </p:nvPicPr>
        <p:blipFill>
          <a:blip r:embed="rId3">
            <a:extLst/>
          </a:blip>
          <a:stretch>
            <a:fillRect/>
          </a:stretch>
        </p:blipFill>
        <p:spPr>
          <a:xfrm>
            <a:off x="8954729" y="11895759"/>
            <a:ext cx="12146016"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push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0" presetID="1" grpId="1" fill="hold">
                                  <p:stCondLst>
                                    <p:cond delay="0"/>
                                  </p:stCondLst>
                                  <p:iterate type="lt" backwards="0">
                                    <p:tmAbs val="100"/>
                                  </p:iterate>
                                  <p:childTnLst>
                                    <p:set>
                                      <p:cBhvr>
                                        <p:cTn id="6" fill="hold"/>
                                        <p:tgtEl>
                                          <p:spTgt spid="634"/>
                                        </p:tgtEl>
                                        <p:attrNameLst>
                                          <p:attrName>style.visibility</p:attrName>
                                        </p:attrNameLst>
                                      </p:cBhvr>
                                      <p:to>
                                        <p:strVal val="visible"/>
                                      </p:to>
                                    </p:set>
                                  </p:childTnLst>
                                </p:cTn>
                              </p:par>
                            </p:childTnLst>
                          </p:cTn>
                        </p:par>
                        <p:par>
                          <p:cTn id="7" fill="hold">
                            <p:stCondLst>
                              <p:cond delay="0"/>
                            </p:stCondLst>
                            <p:childTnLst>
                              <p:par>
                                <p:cTn id="8" presetClass="entr" nodeType="afterEffect" presetSubtype="0" presetID="1" grpId="2" fill="hold">
                                  <p:stCondLst>
                                    <p:cond delay="0"/>
                                  </p:stCondLst>
                                  <p:iterate type="lt" backwards="0">
                                    <p:tmAbs val="100"/>
                                  </p:iterate>
                                  <p:childTnLst>
                                    <p:set>
                                      <p:cBhvr>
                                        <p:cTn id="9" fill="hold"/>
                                        <p:tgtEl>
                                          <p:spTgt spid="635"/>
                                        </p:tgtEl>
                                        <p:attrNameLst>
                                          <p:attrName>style.visibility</p:attrName>
                                        </p:attrNameLst>
                                      </p:cBhvr>
                                      <p:to>
                                        <p:strVal val="visible"/>
                                      </p:to>
                                    </p:set>
                                  </p:childTnLst>
                                </p:cTn>
                              </p:par>
                            </p:childTnLst>
                          </p:cTn>
                        </p:par>
                        <p:par>
                          <p:cTn id="10" fill="hold">
                            <p:stCondLst>
                              <p:cond delay="0"/>
                            </p:stCondLst>
                            <p:childTnLst>
                              <p:par>
                                <p:cTn id="11" presetClass="entr" nodeType="afterEffect" presetSubtype="0" presetID="1" grpId="3" fill="hold">
                                  <p:stCondLst>
                                    <p:cond delay="0"/>
                                  </p:stCondLst>
                                  <p:iterate type="lt" backwards="0">
                                    <p:tmAbs val="100"/>
                                  </p:iterate>
                                  <p:childTnLst>
                                    <p:set>
                                      <p:cBhvr>
                                        <p:cTn id="12" fill="hold"/>
                                        <p:tgtEl>
                                          <p:spTgt spid="636"/>
                                        </p:tgtEl>
                                        <p:attrNameLst>
                                          <p:attrName>style.visibility</p:attrName>
                                        </p:attrNameLst>
                                      </p:cBhvr>
                                      <p:to>
                                        <p:strVal val="visible"/>
                                      </p:to>
                                    </p:set>
                                  </p:childTnLst>
                                </p:cTn>
                              </p:par>
                            </p:childTnLst>
                          </p:cTn>
                        </p:par>
                        <p:par>
                          <p:cTn id="13" fill="hold">
                            <p:stCondLst>
                              <p:cond delay="0"/>
                            </p:stCondLst>
                            <p:childTnLst>
                              <p:par>
                                <p:cTn id="14" presetClass="entr" nodeType="afterEffect" presetID="9" grpId="4" fill="hold">
                                  <p:stCondLst>
                                    <p:cond delay="0"/>
                                  </p:stCondLst>
                                  <p:iterate type="el" backwards="0">
                                    <p:tmAbs val="0"/>
                                  </p:iterate>
                                  <p:childTnLst>
                                    <p:set>
                                      <p:cBhvr>
                                        <p:cTn id="15" fill="hold"/>
                                        <p:tgtEl>
                                          <p:spTgt spid="639"/>
                                        </p:tgtEl>
                                        <p:attrNameLst>
                                          <p:attrName>style.visibility</p:attrName>
                                        </p:attrNameLst>
                                      </p:cBhvr>
                                      <p:to>
                                        <p:strVal val="visible"/>
                                      </p:to>
                                    </p:set>
                                    <p:animEffect filter="dissolve" transition="in">
                                      <p:cBhvr>
                                        <p:cTn id="16" dur="2000"/>
                                        <p:tgtEl>
                                          <p:spTgt spid="639"/>
                                        </p:tgtEl>
                                      </p:cBhvr>
                                    </p:animEffect>
                                  </p:childTnLst>
                                </p:cTn>
                              </p:par>
                            </p:childTnLst>
                          </p:cTn>
                        </p:par>
                        <p:par>
                          <p:cTn id="17" fill="hold">
                            <p:stCondLst>
                              <p:cond delay="2000"/>
                            </p:stCondLst>
                            <p:childTnLst>
                              <p:par>
                                <p:cTn id="18" presetClass="entr" nodeType="afterEffect" presetSubtype="0" presetID="1" grpId="5" fill="hold">
                                  <p:stCondLst>
                                    <p:cond delay="0"/>
                                  </p:stCondLst>
                                  <p:iterate type="lt" backwards="0">
                                    <p:tmAbs val="100"/>
                                  </p:iterate>
                                  <p:childTnLst>
                                    <p:set>
                                      <p:cBhvr>
                                        <p:cTn id="19" fill="hold"/>
                                        <p:tgtEl>
                                          <p:spTgt spid="637"/>
                                        </p:tgtEl>
                                        <p:attrNameLst>
                                          <p:attrName>style.visibility</p:attrName>
                                        </p:attrNameLst>
                                      </p:cBhvr>
                                      <p:to>
                                        <p:strVal val="visible"/>
                                      </p:to>
                                    </p:set>
                                  </p:childTnLst>
                                </p:cTn>
                              </p:par>
                            </p:childTnLst>
                          </p:cTn>
                        </p:par>
                        <p:par>
                          <p:cTn id="20" fill="hold">
                            <p:stCondLst>
                              <p:cond delay="2000"/>
                            </p:stCondLst>
                            <p:childTnLst>
                              <p:par>
                                <p:cTn id="21" presetClass="entr" nodeType="afterEffect" presetSubtype="0" presetID="1" grpId="6" fill="hold">
                                  <p:stCondLst>
                                    <p:cond delay="0"/>
                                  </p:stCondLst>
                                  <p:iterate type="lt" backwards="0">
                                    <p:tmAbs val="100"/>
                                  </p:iterate>
                                  <p:childTnLst>
                                    <p:set>
                                      <p:cBhvr>
                                        <p:cTn id="22" fill="hold"/>
                                        <p:tgtEl>
                                          <p:spTgt spid="638"/>
                                        </p:tgtEl>
                                        <p:attrNameLst>
                                          <p:attrName>style.visibility</p:attrName>
                                        </p:attrNameLst>
                                      </p:cBhvr>
                                      <p:to>
                                        <p:strVal val="visible"/>
                                      </p:to>
                                    </p:set>
                                  </p:childTnLst>
                                </p:cTn>
                              </p:par>
                            </p:childTnLst>
                          </p:cTn>
                        </p:par>
                        <p:par>
                          <p:cTn id="23" fill="hold">
                            <p:stCondLst>
                              <p:cond delay="2000"/>
                            </p:stCondLst>
                            <p:childTnLst>
                              <p:par>
                                <p:cTn id="24" presetClass="entr" nodeType="afterEffect" presetID="9" grpId="7" fill="hold">
                                  <p:stCondLst>
                                    <p:cond delay="0"/>
                                  </p:stCondLst>
                                  <p:iterate type="el" backwards="0">
                                    <p:tmAbs val="0"/>
                                  </p:iterate>
                                  <p:childTnLst>
                                    <p:set>
                                      <p:cBhvr>
                                        <p:cTn id="25" fill="hold"/>
                                        <p:tgtEl>
                                          <p:spTgt spid="641"/>
                                        </p:tgtEl>
                                        <p:attrNameLst>
                                          <p:attrName>style.visibility</p:attrName>
                                        </p:attrNameLst>
                                      </p:cBhvr>
                                      <p:to>
                                        <p:strVal val="visible"/>
                                      </p:to>
                                    </p:set>
                                    <p:animEffect filter="dissolve" transition="in">
                                      <p:cBhvr>
                                        <p:cTn id="26" dur="2000"/>
                                        <p:tgtEl>
                                          <p:spTgt spid="6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38" grpId="6"/>
      <p:bldP build="whole" bldLvl="1" animBg="1" rev="0" advAuto="0" spid="636" grpId="3"/>
      <p:bldP build="whole" bldLvl="1" animBg="1" rev="0" advAuto="0" spid="635" grpId="2"/>
      <p:bldP build="whole" bldLvl="1" animBg="1" rev="0" advAuto="0" spid="634" grpId="1"/>
      <p:bldP build="whole" bldLvl="1" animBg="1" rev="0" advAuto="0" spid="639" grpId="4"/>
      <p:bldP build="whole" bldLvl="1" animBg="1" rev="0" advAuto="0" spid="637" grpId="5"/>
      <p:bldP build="whole" bldLvl="1" animBg="1" rev="0" advAuto="0" spid="641" grpId="7"/>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45" name="Bagging și pasting"/>
          <p:cNvSpPr txBox="1"/>
          <p:nvPr/>
        </p:nvSpPr>
        <p:spPr>
          <a:xfrm>
            <a:off x="5067147" y="5134015"/>
            <a:ext cx="14249706" cy="268782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3600"/>
            </a:lvl1pPr>
          </a:lstStyle>
          <a:p>
            <a:pPr/>
            <a:r>
              <a:t>Bagging și pasting</a:t>
            </a:r>
          </a:p>
        </p:txBody>
      </p:sp>
    </p:spTree>
  </p:cSld>
  <p:clrMapOvr>
    <a:masterClrMapping/>
  </p:clrMapOvr>
  <mc:AlternateContent xmlns:mc="http://schemas.openxmlformats.org/markup-compatibility/2006">
    <mc:Choice xmlns:p14="http://schemas.microsoft.com/office/powerpoint/2010/main" Requires="p14">
      <p:transition spd="slow" advClick="1" p14:dur="1200">
        <p:dissolv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48" name="Bagging și pasting"/>
          <p:cNvSpPr txBox="1"/>
          <p:nvPr/>
        </p:nvSpPr>
        <p:spPr>
          <a:xfrm>
            <a:off x="5613125" y="644678"/>
            <a:ext cx="7597750" cy="147675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200"/>
            </a:lvl1pPr>
          </a:lstStyle>
          <a:p>
            <a:pPr/>
            <a:r>
              <a:t>Bagging și pasting</a:t>
            </a:r>
          </a:p>
        </p:txBody>
      </p:sp>
      <p:sp>
        <p:nvSpPr>
          <p:cNvPr id="649" name="(la clasificare)"/>
          <p:cNvSpPr txBox="1"/>
          <p:nvPr/>
        </p:nvSpPr>
        <p:spPr>
          <a:xfrm>
            <a:off x="13225051" y="1054834"/>
            <a:ext cx="361853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(la clasificare)</a:t>
            </a:r>
          </a:p>
        </p:txBody>
      </p:sp>
      <p:pic>
        <p:nvPicPr>
          <p:cNvPr id="650" name="Captură de ecran din 2024-10-21 la 00.25.52.png" descr="Captură de ecran din 2024-10-21 la 00.25.52.png"/>
          <p:cNvPicPr>
            <a:picLocks noChangeAspect="1"/>
          </p:cNvPicPr>
          <p:nvPr/>
        </p:nvPicPr>
        <p:blipFill>
          <a:blip r:embed="rId2">
            <a:extLst/>
          </a:blip>
          <a:stretch>
            <a:fillRect/>
          </a:stretch>
        </p:blipFill>
        <p:spPr>
          <a:xfrm>
            <a:off x="4923586" y="3770827"/>
            <a:ext cx="14536828" cy="7126691"/>
          </a:xfrm>
          <a:prstGeom prst="rect">
            <a:avLst/>
          </a:prstGeom>
          <a:ln w="12700">
            <a:miter lim="400000"/>
          </a:ln>
        </p:spPr>
      </p:pic>
      <p:pic>
        <p:nvPicPr>
          <p:cNvPr id="651" name="Linie Linie" descr="Linie Linie"/>
          <p:cNvPicPr>
            <a:picLocks noChangeAspect="0"/>
          </p:cNvPicPr>
          <p:nvPr/>
        </p:nvPicPr>
        <p:blipFill>
          <a:blip r:embed="rId3">
            <a:extLst/>
          </a:blip>
          <a:stretch>
            <a:fillRect/>
          </a:stretch>
        </p:blipFill>
        <p:spPr>
          <a:xfrm>
            <a:off x="6863518" y="4244776"/>
            <a:ext cx="3370476"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649"/>
                                        </p:tgtEl>
                                        <p:attrNameLst>
                                          <p:attrName>style.visibility</p:attrName>
                                        </p:attrNameLst>
                                      </p:cBhvr>
                                      <p:to>
                                        <p:strVal val="visible"/>
                                      </p:to>
                                    </p:set>
                                    <p:anim calcmode="lin" valueType="num">
                                      <p:cBhvr>
                                        <p:cTn id="7" dur="4000" fill="hold"/>
                                        <p:tgtEl>
                                          <p:spTgt spid="649"/>
                                        </p:tgtEl>
                                        <p:attrNameLst>
                                          <p:attrName>ppt_x</p:attrName>
                                        </p:attrNameLst>
                                      </p:cBhvr>
                                      <p:tavLst>
                                        <p:tav tm="0">
                                          <p:val>
                                            <p:strVal val="0-#ppt_w/2"/>
                                          </p:val>
                                        </p:tav>
                                        <p:tav tm="100000">
                                          <p:val>
                                            <p:strVal val="#ppt_x"/>
                                          </p:val>
                                        </p:tav>
                                      </p:tavLst>
                                    </p:anim>
                                    <p:anim calcmode="lin" valueType="num">
                                      <p:cBhvr>
                                        <p:cTn id="8" dur="4000" fill="hold"/>
                                        <p:tgtEl>
                                          <p:spTgt spid="64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9" grpId="2" fill="hold">
                                  <p:stCondLst>
                                    <p:cond delay="0"/>
                                  </p:stCondLst>
                                  <p:iterate type="el" backwards="0">
                                    <p:tmAbs val="0"/>
                                  </p:iterate>
                                  <p:childTnLst>
                                    <p:set>
                                      <p:cBhvr>
                                        <p:cTn id="12" fill="hold"/>
                                        <p:tgtEl>
                                          <p:spTgt spid="651"/>
                                        </p:tgtEl>
                                        <p:attrNameLst>
                                          <p:attrName>style.visibility</p:attrName>
                                        </p:attrNameLst>
                                      </p:cBhvr>
                                      <p:to>
                                        <p:strVal val="visible"/>
                                      </p:to>
                                    </p:set>
                                    <p:animEffect filter="dissolve" transition="in">
                                      <p:cBhvr>
                                        <p:cTn id="13" dur="2000"/>
                                        <p:tgtEl>
                                          <p:spTgt spid="651"/>
                                        </p:tgtEl>
                                      </p:cBhvr>
                                    </p:animEffect>
                                  </p:childTnLst>
                                </p:cTn>
                              </p:par>
                            </p:childTnLst>
                          </p:cTn>
                        </p:par>
                      </p:childTnLst>
                    </p:cTn>
                  </p:par>
                  <p:par>
                    <p:cTn id="14" fill="hold">
                      <p:stCondLst>
                        <p:cond delay="indefinite"/>
                      </p:stCondLst>
                      <p:childTnLst>
                        <p:par>
                          <p:cTn id="15" fill="hold">
                            <p:stCondLst>
                              <p:cond delay="0"/>
                            </p:stCondLst>
                            <p:childTnLst>
                              <p:par>
                                <p:cTn id="16" presetClass="exit" nodeType="clickEffect" presetID="9" grpId="3" fill="hold">
                                  <p:stCondLst>
                                    <p:cond delay="0"/>
                                  </p:stCondLst>
                                  <p:iterate type="el" backwards="0">
                                    <p:tmAbs val="0"/>
                                  </p:iterate>
                                  <p:childTnLst>
                                    <p:animEffect filter="dissolve" transition="out">
                                      <p:cBhvr>
                                        <p:cTn id="17" dur="2000" fill="hold"/>
                                        <p:tgtEl>
                                          <p:spTgt spid="651"/>
                                        </p:tgtEl>
                                      </p:cBhvr>
                                    </p:animEffect>
                                    <p:set>
                                      <p:cBhvr>
                                        <p:cTn id="18" fill="hold">
                                          <p:stCondLst>
                                            <p:cond delay="1999"/>
                                          </p:stCondLst>
                                        </p:cTn>
                                        <p:tgtEl>
                                          <p:spTgt spid="65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51" grpId="2"/>
      <p:bldP build="whole" bldLvl="1" animBg="1" rev="0" advAuto="0" spid="651" grpId="3"/>
      <p:bldP build="whole" bldLvl="1" animBg="1" rev="0" advAuto="0" spid="649" grpId="1"/>
    </p:bld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55" name="Bagging și pasting"/>
          <p:cNvSpPr txBox="1"/>
          <p:nvPr/>
        </p:nvSpPr>
        <p:spPr>
          <a:xfrm>
            <a:off x="5613125" y="644678"/>
            <a:ext cx="7597750" cy="147675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200"/>
            </a:lvl1pPr>
          </a:lstStyle>
          <a:p>
            <a:pPr/>
            <a:r>
              <a:t>Bagging și pasting</a:t>
            </a:r>
          </a:p>
        </p:txBody>
      </p:sp>
      <p:sp>
        <p:nvSpPr>
          <p:cNvPr id="656" name="(la clasificare)"/>
          <p:cNvSpPr txBox="1"/>
          <p:nvPr/>
        </p:nvSpPr>
        <p:spPr>
          <a:xfrm>
            <a:off x="13225051" y="1054834"/>
            <a:ext cx="361853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(la clasificare)</a:t>
            </a:r>
          </a:p>
        </p:txBody>
      </p:sp>
      <p:pic>
        <p:nvPicPr>
          <p:cNvPr id="657" name="Captură de ecran din 2024-10-21 la 00.25.52.png" descr="Captură de ecran din 2024-10-21 la 00.25.52.png"/>
          <p:cNvPicPr>
            <a:picLocks noChangeAspect="1"/>
          </p:cNvPicPr>
          <p:nvPr/>
        </p:nvPicPr>
        <p:blipFill>
          <a:blip r:embed="rId2">
            <a:extLst/>
          </a:blip>
          <a:stretch>
            <a:fillRect/>
          </a:stretch>
        </p:blipFill>
        <p:spPr>
          <a:xfrm>
            <a:off x="657874" y="4187478"/>
            <a:ext cx="11760270" cy="5765481"/>
          </a:xfrm>
          <a:prstGeom prst="rect">
            <a:avLst/>
          </a:prstGeom>
          <a:ln w="12700">
            <a:miter lim="400000"/>
          </a:ln>
        </p:spPr>
      </p:pic>
      <p:pic>
        <p:nvPicPr>
          <p:cNvPr id="658" name="Linie Linie" descr="Linie Linie"/>
          <p:cNvPicPr>
            <a:picLocks noChangeAspect="0"/>
          </p:cNvPicPr>
          <p:nvPr/>
        </p:nvPicPr>
        <p:blipFill>
          <a:blip r:embed="rId3">
            <a:extLst/>
          </a:blip>
          <a:stretch>
            <a:fillRect/>
          </a:stretch>
        </p:blipFill>
        <p:spPr>
          <a:xfrm>
            <a:off x="1328012" y="4939194"/>
            <a:ext cx="3947438" cy="101601"/>
          </a:xfrm>
          <a:prstGeom prst="rect">
            <a:avLst/>
          </a:prstGeom>
        </p:spPr>
      </p:pic>
      <p:sp>
        <p:nvSpPr>
          <p:cNvPr id="660" name="Parametri:"/>
          <p:cNvSpPr txBox="1"/>
          <p:nvPr/>
        </p:nvSpPr>
        <p:spPr>
          <a:xfrm>
            <a:off x="13086167" y="3312513"/>
            <a:ext cx="276860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Parametri:</a:t>
            </a:r>
          </a:p>
        </p:txBody>
      </p:sp>
      <p:sp>
        <p:nvSpPr>
          <p:cNvPr id="661" name="- modelul folosit în a realiza ansamblul"/>
          <p:cNvSpPr txBox="1"/>
          <p:nvPr/>
        </p:nvSpPr>
        <p:spPr>
          <a:xfrm>
            <a:off x="13522659" y="4046612"/>
            <a:ext cx="957981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4"/>
                </a:solidFill>
              </a:defRPr>
            </a:lvl1pPr>
          </a:lstStyle>
          <a:p>
            <a:pPr/>
            <a:r>
              <a:t>- modelul folosit în a realiza ansamblul</a:t>
            </a:r>
          </a:p>
        </p:txBody>
      </p:sp>
      <p:pic>
        <p:nvPicPr>
          <p:cNvPr id="662" name="Linie Linie" descr="Linie Linie"/>
          <p:cNvPicPr>
            <a:picLocks noChangeAspect="0"/>
          </p:cNvPicPr>
          <p:nvPr/>
        </p:nvPicPr>
        <p:blipFill>
          <a:blip r:embed="rId4">
            <a:extLst/>
          </a:blip>
          <a:stretch>
            <a:fillRect/>
          </a:stretch>
        </p:blipFill>
        <p:spPr>
          <a:xfrm>
            <a:off x="5288037" y="4939194"/>
            <a:ext cx="2499944" cy="101601"/>
          </a:xfrm>
          <a:prstGeom prst="rect">
            <a:avLst/>
          </a:prstGeom>
        </p:spPr>
      </p:pic>
      <p:sp>
        <p:nvSpPr>
          <p:cNvPr id="664" name="- numărul de modele din ansamblu"/>
          <p:cNvSpPr txBox="1"/>
          <p:nvPr/>
        </p:nvSpPr>
        <p:spPr>
          <a:xfrm>
            <a:off x="13522659" y="4927551"/>
            <a:ext cx="868517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3"/>
                </a:solidFill>
              </a:defRPr>
            </a:lvl1pPr>
          </a:lstStyle>
          <a:p>
            <a:pPr/>
            <a:r>
              <a:t>- numărul de modele din ansamblu</a:t>
            </a:r>
          </a:p>
        </p:txBody>
      </p:sp>
      <p:pic>
        <p:nvPicPr>
          <p:cNvPr id="665" name="Linie Linie" descr="Linie Linie"/>
          <p:cNvPicPr>
            <a:picLocks noChangeAspect="0"/>
          </p:cNvPicPr>
          <p:nvPr/>
        </p:nvPicPr>
        <p:blipFill>
          <a:blip r:embed="rId5">
            <a:extLst/>
          </a:blip>
          <a:stretch>
            <a:fillRect/>
          </a:stretch>
        </p:blipFill>
        <p:spPr>
          <a:xfrm>
            <a:off x="1367571" y="5343857"/>
            <a:ext cx="2499944" cy="101601"/>
          </a:xfrm>
          <a:prstGeom prst="rect">
            <a:avLst/>
          </a:prstGeom>
        </p:spPr>
      </p:pic>
      <p:sp>
        <p:nvSpPr>
          <p:cNvPr id="667" name="- numărul maxim de exemplare cu care se antrenează fiecare model"/>
          <p:cNvSpPr txBox="1"/>
          <p:nvPr/>
        </p:nvSpPr>
        <p:spPr>
          <a:xfrm>
            <a:off x="13582180" y="5728916"/>
            <a:ext cx="10796702"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solidFill>
                  <a:schemeClr val="accent2"/>
                </a:solidFill>
              </a:defRPr>
            </a:lvl1pPr>
          </a:lstStyle>
          <a:p>
            <a:pPr/>
            <a:r>
              <a:t>- numărul maxim de exemplare cu care se antrenează fiecare model</a:t>
            </a:r>
          </a:p>
        </p:txBody>
      </p:sp>
      <p:pic>
        <p:nvPicPr>
          <p:cNvPr id="668" name="Oval Oval" descr="Oval Oval"/>
          <p:cNvPicPr>
            <a:picLocks noChangeAspect="0"/>
          </p:cNvPicPr>
          <p:nvPr/>
        </p:nvPicPr>
        <p:blipFill>
          <a:blip r:embed="rId6">
            <a:extLst/>
          </a:blip>
          <a:stretch>
            <a:fillRect/>
          </a:stretch>
        </p:blipFill>
        <p:spPr>
          <a:xfrm>
            <a:off x="3808387" y="4916382"/>
            <a:ext cx="2478253" cy="685941"/>
          </a:xfrm>
          <a:prstGeom prst="rect">
            <a:avLst/>
          </a:prstGeom>
        </p:spPr>
      </p:pic>
      <p:sp>
        <p:nvSpPr>
          <p:cNvPr id="670" name="bootstrap"/>
          <p:cNvSpPr txBox="1"/>
          <p:nvPr/>
        </p:nvSpPr>
        <p:spPr>
          <a:xfrm>
            <a:off x="13026646" y="8014716"/>
            <a:ext cx="260096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bootstrap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660"/>
                                        </p:tgtEl>
                                        <p:attrNameLst>
                                          <p:attrName>style.visibility</p:attrName>
                                        </p:attrNameLst>
                                      </p:cBhvr>
                                      <p:to>
                                        <p:strVal val="visible"/>
                                      </p:to>
                                    </p:set>
                                    <p:anim calcmode="lin" valueType="num">
                                      <p:cBhvr>
                                        <p:cTn id="7" dur="1000" fill="hold"/>
                                        <p:tgtEl>
                                          <p:spTgt spid="660"/>
                                        </p:tgtEl>
                                        <p:attrNameLst>
                                          <p:attrName>ppt_x</p:attrName>
                                        </p:attrNameLst>
                                      </p:cBhvr>
                                      <p:tavLst>
                                        <p:tav tm="0">
                                          <p:val>
                                            <p:strVal val="0-#ppt_w/2"/>
                                          </p:val>
                                        </p:tav>
                                        <p:tav tm="100000">
                                          <p:val>
                                            <p:strVal val="#ppt_x"/>
                                          </p:val>
                                        </p:tav>
                                      </p:tavLst>
                                    </p:anim>
                                    <p:anim calcmode="lin" valueType="num">
                                      <p:cBhvr>
                                        <p:cTn id="8" dur="1000" fill="hold"/>
                                        <p:tgtEl>
                                          <p:spTgt spid="66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9" grpId="2" fill="hold">
                                  <p:stCondLst>
                                    <p:cond delay="0"/>
                                  </p:stCondLst>
                                  <p:iterate type="el" backwards="0">
                                    <p:tmAbs val="0"/>
                                  </p:iterate>
                                  <p:childTnLst>
                                    <p:set>
                                      <p:cBhvr>
                                        <p:cTn id="12" fill="hold"/>
                                        <p:tgtEl>
                                          <p:spTgt spid="658"/>
                                        </p:tgtEl>
                                        <p:attrNameLst>
                                          <p:attrName>style.visibility</p:attrName>
                                        </p:attrNameLst>
                                      </p:cBhvr>
                                      <p:to>
                                        <p:strVal val="visible"/>
                                      </p:to>
                                    </p:set>
                                    <p:animEffect filter="dissolve" transition="in">
                                      <p:cBhvr>
                                        <p:cTn id="13" dur="2000"/>
                                        <p:tgtEl>
                                          <p:spTgt spid="658"/>
                                        </p:tgtEl>
                                      </p:cBhvr>
                                    </p:animEffect>
                                  </p:childTnLst>
                                </p:cTn>
                              </p:par>
                            </p:childTnLst>
                          </p:cTn>
                        </p:par>
                        <p:par>
                          <p:cTn id="14" fill="hold">
                            <p:stCondLst>
                              <p:cond delay="2000"/>
                            </p:stCondLst>
                            <p:childTnLst>
                              <p:par>
                                <p:cTn id="15" presetClass="entr" nodeType="afterEffect" presetSubtype="8" presetID="2" grpId="3" fill="hold">
                                  <p:stCondLst>
                                    <p:cond delay="0"/>
                                  </p:stCondLst>
                                  <p:iterate type="el" backwards="0">
                                    <p:tmAbs val="0"/>
                                  </p:iterate>
                                  <p:childTnLst>
                                    <p:set>
                                      <p:cBhvr>
                                        <p:cTn id="16" fill="hold"/>
                                        <p:tgtEl>
                                          <p:spTgt spid="661"/>
                                        </p:tgtEl>
                                        <p:attrNameLst>
                                          <p:attrName>style.visibility</p:attrName>
                                        </p:attrNameLst>
                                      </p:cBhvr>
                                      <p:to>
                                        <p:strVal val="visible"/>
                                      </p:to>
                                    </p:set>
                                    <p:anim calcmode="lin" valueType="num">
                                      <p:cBhvr>
                                        <p:cTn id="17" dur="1000" fill="hold"/>
                                        <p:tgtEl>
                                          <p:spTgt spid="661"/>
                                        </p:tgtEl>
                                        <p:attrNameLst>
                                          <p:attrName>ppt_x</p:attrName>
                                        </p:attrNameLst>
                                      </p:cBhvr>
                                      <p:tavLst>
                                        <p:tav tm="0">
                                          <p:val>
                                            <p:strVal val="0-#ppt_w/2"/>
                                          </p:val>
                                        </p:tav>
                                        <p:tav tm="100000">
                                          <p:val>
                                            <p:strVal val="#ppt_x"/>
                                          </p:val>
                                        </p:tav>
                                      </p:tavLst>
                                    </p:anim>
                                    <p:anim calcmode="lin" valueType="num">
                                      <p:cBhvr>
                                        <p:cTn id="18" dur="1000" fill="hold"/>
                                        <p:tgtEl>
                                          <p:spTgt spid="66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ID="9" grpId="4" fill="hold">
                                  <p:stCondLst>
                                    <p:cond delay="0"/>
                                  </p:stCondLst>
                                  <p:iterate type="el" backwards="0">
                                    <p:tmAbs val="0"/>
                                  </p:iterate>
                                  <p:childTnLst>
                                    <p:set>
                                      <p:cBhvr>
                                        <p:cTn id="22" fill="hold"/>
                                        <p:tgtEl>
                                          <p:spTgt spid="662"/>
                                        </p:tgtEl>
                                        <p:attrNameLst>
                                          <p:attrName>style.visibility</p:attrName>
                                        </p:attrNameLst>
                                      </p:cBhvr>
                                      <p:to>
                                        <p:strVal val="visible"/>
                                      </p:to>
                                    </p:set>
                                    <p:animEffect filter="dissolve" transition="in">
                                      <p:cBhvr>
                                        <p:cTn id="23" dur="2000"/>
                                        <p:tgtEl>
                                          <p:spTgt spid="662"/>
                                        </p:tgtEl>
                                      </p:cBhvr>
                                    </p:animEffect>
                                  </p:childTnLst>
                                </p:cTn>
                              </p:par>
                            </p:childTnLst>
                          </p:cTn>
                        </p:par>
                        <p:par>
                          <p:cTn id="24" fill="hold">
                            <p:stCondLst>
                              <p:cond delay="2000"/>
                            </p:stCondLst>
                            <p:childTnLst>
                              <p:par>
                                <p:cTn id="25" presetClass="entr" nodeType="afterEffect" presetSubtype="8" presetID="2" grpId="5" fill="hold">
                                  <p:stCondLst>
                                    <p:cond delay="0"/>
                                  </p:stCondLst>
                                  <p:iterate type="el" backwards="0">
                                    <p:tmAbs val="0"/>
                                  </p:iterate>
                                  <p:childTnLst>
                                    <p:set>
                                      <p:cBhvr>
                                        <p:cTn id="26" fill="hold"/>
                                        <p:tgtEl>
                                          <p:spTgt spid="664"/>
                                        </p:tgtEl>
                                        <p:attrNameLst>
                                          <p:attrName>style.visibility</p:attrName>
                                        </p:attrNameLst>
                                      </p:cBhvr>
                                      <p:to>
                                        <p:strVal val="visible"/>
                                      </p:to>
                                    </p:set>
                                    <p:anim calcmode="lin" valueType="num">
                                      <p:cBhvr>
                                        <p:cTn id="27" dur="1000" fill="hold"/>
                                        <p:tgtEl>
                                          <p:spTgt spid="664"/>
                                        </p:tgtEl>
                                        <p:attrNameLst>
                                          <p:attrName>ppt_x</p:attrName>
                                        </p:attrNameLst>
                                      </p:cBhvr>
                                      <p:tavLst>
                                        <p:tav tm="0">
                                          <p:val>
                                            <p:strVal val="0-#ppt_w/2"/>
                                          </p:val>
                                        </p:tav>
                                        <p:tav tm="100000">
                                          <p:val>
                                            <p:strVal val="#ppt_x"/>
                                          </p:val>
                                        </p:tav>
                                      </p:tavLst>
                                    </p:anim>
                                    <p:anim calcmode="lin" valueType="num">
                                      <p:cBhvr>
                                        <p:cTn id="28" dur="1000" fill="hold"/>
                                        <p:tgtEl>
                                          <p:spTgt spid="664"/>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9" grpId="6" fill="hold">
                                  <p:stCondLst>
                                    <p:cond delay="0"/>
                                  </p:stCondLst>
                                  <p:iterate type="el" backwards="0">
                                    <p:tmAbs val="0"/>
                                  </p:iterate>
                                  <p:childTnLst>
                                    <p:set>
                                      <p:cBhvr>
                                        <p:cTn id="32" fill="hold"/>
                                        <p:tgtEl>
                                          <p:spTgt spid="665"/>
                                        </p:tgtEl>
                                        <p:attrNameLst>
                                          <p:attrName>style.visibility</p:attrName>
                                        </p:attrNameLst>
                                      </p:cBhvr>
                                      <p:to>
                                        <p:strVal val="visible"/>
                                      </p:to>
                                    </p:set>
                                    <p:animEffect filter="dissolve" transition="in">
                                      <p:cBhvr>
                                        <p:cTn id="33" dur="2000"/>
                                        <p:tgtEl>
                                          <p:spTgt spid="665"/>
                                        </p:tgtEl>
                                      </p:cBhvr>
                                    </p:animEffect>
                                  </p:childTnLst>
                                </p:cTn>
                              </p:par>
                            </p:childTnLst>
                          </p:cTn>
                        </p:par>
                        <p:par>
                          <p:cTn id="34" fill="hold">
                            <p:stCondLst>
                              <p:cond delay="2000"/>
                            </p:stCondLst>
                            <p:childTnLst>
                              <p:par>
                                <p:cTn id="35" presetClass="entr" nodeType="afterEffect" presetSubtype="8" presetID="2" grpId="7" fill="hold">
                                  <p:stCondLst>
                                    <p:cond delay="0"/>
                                  </p:stCondLst>
                                  <p:iterate type="el" backwards="0">
                                    <p:tmAbs val="0"/>
                                  </p:iterate>
                                  <p:childTnLst>
                                    <p:set>
                                      <p:cBhvr>
                                        <p:cTn id="36" fill="hold"/>
                                        <p:tgtEl>
                                          <p:spTgt spid="667"/>
                                        </p:tgtEl>
                                        <p:attrNameLst>
                                          <p:attrName>style.visibility</p:attrName>
                                        </p:attrNameLst>
                                      </p:cBhvr>
                                      <p:to>
                                        <p:strVal val="visible"/>
                                      </p:to>
                                    </p:set>
                                    <p:anim calcmode="lin" valueType="num">
                                      <p:cBhvr>
                                        <p:cTn id="37" dur="1000" fill="hold"/>
                                        <p:tgtEl>
                                          <p:spTgt spid="667"/>
                                        </p:tgtEl>
                                        <p:attrNameLst>
                                          <p:attrName>ppt_x</p:attrName>
                                        </p:attrNameLst>
                                      </p:cBhvr>
                                      <p:tavLst>
                                        <p:tav tm="0">
                                          <p:val>
                                            <p:strVal val="0-#ppt_w/2"/>
                                          </p:val>
                                        </p:tav>
                                        <p:tav tm="100000">
                                          <p:val>
                                            <p:strVal val="#ppt_x"/>
                                          </p:val>
                                        </p:tav>
                                      </p:tavLst>
                                    </p:anim>
                                    <p:anim calcmode="lin" valueType="num">
                                      <p:cBhvr>
                                        <p:cTn id="38" dur="1000" fill="hold"/>
                                        <p:tgtEl>
                                          <p:spTgt spid="667"/>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Class="entr" nodeType="clickEffect" presetID="9" grpId="8" fill="hold">
                                  <p:stCondLst>
                                    <p:cond delay="0"/>
                                  </p:stCondLst>
                                  <p:iterate type="el" backwards="0">
                                    <p:tmAbs val="0"/>
                                  </p:iterate>
                                  <p:childTnLst>
                                    <p:set>
                                      <p:cBhvr>
                                        <p:cTn id="42" fill="hold"/>
                                        <p:tgtEl>
                                          <p:spTgt spid="668"/>
                                        </p:tgtEl>
                                        <p:attrNameLst>
                                          <p:attrName>style.visibility</p:attrName>
                                        </p:attrNameLst>
                                      </p:cBhvr>
                                      <p:to>
                                        <p:strVal val="visible"/>
                                      </p:to>
                                    </p:set>
                                    <p:animEffect filter="dissolve" transition="in">
                                      <p:cBhvr>
                                        <p:cTn id="43" dur="2000"/>
                                        <p:tgtEl>
                                          <p:spTgt spid="668"/>
                                        </p:tgtEl>
                                      </p:cBhvr>
                                    </p:animEffect>
                                  </p:childTnLst>
                                </p:cTn>
                              </p:par>
                            </p:childTnLst>
                          </p:cTn>
                        </p:par>
                        <p:par>
                          <p:cTn id="44" fill="hold">
                            <p:stCondLst>
                              <p:cond delay="2000"/>
                            </p:stCondLst>
                            <p:childTnLst>
                              <p:par>
                                <p:cTn id="45" presetClass="entr" nodeType="afterEffect" presetSubtype="8" presetID="2" grpId="9" fill="hold">
                                  <p:stCondLst>
                                    <p:cond delay="0"/>
                                  </p:stCondLst>
                                  <p:iterate type="el" backwards="0">
                                    <p:tmAbs val="0"/>
                                  </p:iterate>
                                  <p:childTnLst>
                                    <p:set>
                                      <p:cBhvr>
                                        <p:cTn id="46" fill="hold"/>
                                        <p:tgtEl>
                                          <p:spTgt spid="670"/>
                                        </p:tgtEl>
                                        <p:attrNameLst>
                                          <p:attrName>style.visibility</p:attrName>
                                        </p:attrNameLst>
                                      </p:cBhvr>
                                      <p:to>
                                        <p:strVal val="visible"/>
                                      </p:to>
                                    </p:set>
                                    <p:anim calcmode="lin" valueType="num">
                                      <p:cBhvr>
                                        <p:cTn id="47" dur="1000" fill="hold"/>
                                        <p:tgtEl>
                                          <p:spTgt spid="670"/>
                                        </p:tgtEl>
                                        <p:attrNameLst>
                                          <p:attrName>ppt_x</p:attrName>
                                        </p:attrNameLst>
                                      </p:cBhvr>
                                      <p:tavLst>
                                        <p:tav tm="0">
                                          <p:val>
                                            <p:strVal val="0-#ppt_w/2"/>
                                          </p:val>
                                        </p:tav>
                                        <p:tav tm="100000">
                                          <p:val>
                                            <p:strVal val="#ppt_x"/>
                                          </p:val>
                                        </p:tav>
                                      </p:tavLst>
                                    </p:anim>
                                    <p:anim calcmode="lin" valueType="num">
                                      <p:cBhvr>
                                        <p:cTn id="48" dur="1000" fill="hold"/>
                                        <p:tgtEl>
                                          <p:spTgt spid="6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70" grpId="9"/>
      <p:bldP build="whole" bldLvl="1" animBg="1" rev="0" advAuto="0" spid="665" grpId="6"/>
      <p:bldP build="whole" bldLvl="1" animBg="1" rev="0" advAuto="0" spid="658" grpId="2"/>
      <p:bldP build="whole" bldLvl="1" animBg="1" rev="0" advAuto="0" spid="668" grpId="8"/>
      <p:bldP build="whole" bldLvl="1" animBg="1" rev="0" advAuto="0" spid="662" grpId="4"/>
      <p:bldP build="whole" bldLvl="1" animBg="1" rev="0" advAuto="0" spid="660" grpId="1"/>
      <p:bldP build="whole" bldLvl="1" animBg="1" rev="0" advAuto="0" spid="661" grpId="3"/>
      <p:bldP build="whole" bldLvl="1" animBg="1" rev="0" advAuto="0" spid="667" grpId="7"/>
      <p:bldP build="whole" bldLvl="1" animBg="1" rev="0" advAuto="0" spid="664" grpId="5"/>
    </p:bld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673" name="Bagging și pasting"/>
          <p:cNvSpPr txBox="1"/>
          <p:nvPr/>
        </p:nvSpPr>
        <p:spPr>
          <a:xfrm>
            <a:off x="5613125" y="644678"/>
            <a:ext cx="7597750" cy="147675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200"/>
            </a:lvl1pPr>
          </a:lstStyle>
          <a:p>
            <a:pPr/>
            <a:r>
              <a:t>Bagging și pasting</a:t>
            </a:r>
          </a:p>
        </p:txBody>
      </p:sp>
      <p:sp>
        <p:nvSpPr>
          <p:cNvPr id="674" name="(la clasificare)"/>
          <p:cNvSpPr txBox="1"/>
          <p:nvPr/>
        </p:nvSpPr>
        <p:spPr>
          <a:xfrm>
            <a:off x="13225051" y="1054834"/>
            <a:ext cx="361853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(la clasificare)</a:t>
            </a:r>
          </a:p>
        </p:txBody>
      </p:sp>
      <p:sp>
        <p:nvSpPr>
          <p:cNvPr id="675" name="bootstrap"/>
          <p:cNvSpPr txBox="1"/>
          <p:nvPr/>
        </p:nvSpPr>
        <p:spPr>
          <a:xfrm>
            <a:off x="10348176" y="2856181"/>
            <a:ext cx="260096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bootstrap</a:t>
            </a:r>
          </a:p>
        </p:txBody>
      </p:sp>
      <p:pic>
        <p:nvPicPr>
          <p:cNvPr id="676" name="Linie Linie" descr="Linie Linie"/>
          <p:cNvPicPr>
            <a:picLocks noChangeAspect="0"/>
          </p:cNvPicPr>
          <p:nvPr/>
        </p:nvPicPr>
        <p:blipFill>
          <a:blip r:embed="rId2">
            <a:extLst/>
          </a:blip>
          <a:stretch>
            <a:fillRect/>
          </a:stretch>
        </p:blipFill>
        <p:spPr>
          <a:xfrm rot="7451882">
            <a:off x="9395776" y="4607300"/>
            <a:ext cx="2066311" cy="405592"/>
          </a:xfrm>
          <a:prstGeom prst="rect">
            <a:avLst/>
          </a:prstGeom>
        </p:spPr>
      </p:pic>
      <p:pic>
        <p:nvPicPr>
          <p:cNvPr id="678" name="Linie Linie" descr="Linie Linie"/>
          <p:cNvPicPr>
            <a:picLocks noChangeAspect="0"/>
          </p:cNvPicPr>
          <p:nvPr/>
        </p:nvPicPr>
        <p:blipFill>
          <a:blip r:embed="rId3">
            <a:extLst/>
          </a:blip>
          <a:stretch>
            <a:fillRect/>
          </a:stretch>
        </p:blipFill>
        <p:spPr>
          <a:xfrm rot="3252753">
            <a:off x="11911138" y="4429589"/>
            <a:ext cx="2105042" cy="405591"/>
          </a:xfrm>
          <a:prstGeom prst="rect">
            <a:avLst/>
          </a:prstGeom>
        </p:spPr>
      </p:pic>
      <p:sp>
        <p:nvSpPr>
          <p:cNvPr id="680" name="True"/>
          <p:cNvSpPr txBox="1"/>
          <p:nvPr/>
        </p:nvSpPr>
        <p:spPr>
          <a:xfrm>
            <a:off x="9177585" y="5783205"/>
            <a:ext cx="135539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True</a:t>
            </a:r>
          </a:p>
        </p:txBody>
      </p:sp>
      <p:sp>
        <p:nvSpPr>
          <p:cNvPr id="681" name="False"/>
          <p:cNvSpPr txBox="1"/>
          <p:nvPr/>
        </p:nvSpPr>
        <p:spPr>
          <a:xfrm>
            <a:off x="12915560" y="5783205"/>
            <a:ext cx="140289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False</a:t>
            </a:r>
          </a:p>
        </p:txBody>
      </p:sp>
      <p:pic>
        <p:nvPicPr>
          <p:cNvPr id="682" name="Linie Linie" descr="Linie Linie"/>
          <p:cNvPicPr>
            <a:picLocks noChangeAspect="0"/>
          </p:cNvPicPr>
          <p:nvPr/>
        </p:nvPicPr>
        <p:blipFill>
          <a:blip r:embed="rId4">
            <a:extLst/>
          </a:blip>
          <a:stretch>
            <a:fillRect/>
          </a:stretch>
        </p:blipFill>
        <p:spPr>
          <a:xfrm rot="16200000">
            <a:off x="8730753" y="9922902"/>
            <a:ext cx="5954950" cy="101601"/>
          </a:xfrm>
          <a:prstGeom prst="rect">
            <a:avLst/>
          </a:prstGeom>
        </p:spPr>
      </p:pic>
      <p:sp>
        <p:nvSpPr>
          <p:cNvPr id="684" name="Bagging"/>
          <p:cNvSpPr txBox="1"/>
          <p:nvPr/>
        </p:nvSpPr>
        <p:spPr>
          <a:xfrm>
            <a:off x="8305144" y="7161574"/>
            <a:ext cx="221371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Bagging</a:t>
            </a:r>
          </a:p>
        </p:txBody>
      </p:sp>
      <p:sp>
        <p:nvSpPr>
          <p:cNvPr id="685" name="Pasting"/>
          <p:cNvSpPr txBox="1"/>
          <p:nvPr/>
        </p:nvSpPr>
        <p:spPr>
          <a:xfrm>
            <a:off x="12897598" y="7228264"/>
            <a:ext cx="200863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Pasting</a:t>
            </a:r>
          </a:p>
        </p:txBody>
      </p:sp>
      <p:sp>
        <p:nvSpPr>
          <p:cNvPr id="686" name="Fiecare estimator este antrenat pe un set de date care poate conține duplicate;"/>
          <p:cNvSpPr txBox="1"/>
          <p:nvPr/>
        </p:nvSpPr>
        <p:spPr>
          <a:xfrm>
            <a:off x="815418" y="9129127"/>
            <a:ext cx="10657663"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Fiecare estimator este antrenat pe un set de date care poate conține duplicate;</a:t>
            </a:r>
          </a:p>
        </p:txBody>
      </p:sp>
      <p:sp>
        <p:nvSpPr>
          <p:cNvPr id="687" name="Fiecare estimator este antrenat pe un set de date care poate conține doar elemente unice;"/>
          <p:cNvSpPr txBox="1"/>
          <p:nvPr/>
        </p:nvSpPr>
        <p:spPr>
          <a:xfrm>
            <a:off x="11943374" y="8673324"/>
            <a:ext cx="10357886" cy="244409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Fiecare estimator este antrenat pe un set de date care poate conține doar elemente unice;</a:t>
            </a:r>
          </a:p>
        </p:txBody>
      </p:sp>
      <p:pic>
        <p:nvPicPr>
          <p:cNvPr id="688" name="Linie Linie" descr="Linie Linie"/>
          <p:cNvPicPr>
            <a:picLocks noChangeAspect="0"/>
          </p:cNvPicPr>
          <p:nvPr/>
        </p:nvPicPr>
        <p:blipFill>
          <a:blip r:embed="rId5">
            <a:extLst/>
          </a:blip>
          <a:stretch>
            <a:fillRect/>
          </a:stretch>
        </p:blipFill>
        <p:spPr>
          <a:xfrm>
            <a:off x="4264409" y="10752466"/>
            <a:ext cx="6305247" cy="101601"/>
          </a:xfrm>
          <a:prstGeom prst="rect">
            <a:avLst/>
          </a:prstGeom>
        </p:spPr>
      </p:pic>
      <p:pic>
        <p:nvPicPr>
          <p:cNvPr id="690" name="Linie Linie" descr="Linie Linie"/>
          <p:cNvPicPr>
            <a:picLocks noChangeAspect="0"/>
          </p:cNvPicPr>
          <p:nvPr/>
        </p:nvPicPr>
        <p:blipFill>
          <a:blip r:embed="rId6">
            <a:extLst/>
          </a:blip>
          <a:stretch>
            <a:fillRect/>
          </a:stretch>
        </p:blipFill>
        <p:spPr>
          <a:xfrm>
            <a:off x="12168893" y="10998510"/>
            <a:ext cx="4370147" cy="101601"/>
          </a:xfrm>
          <a:prstGeom prst="rect">
            <a:avLst/>
          </a:prstGeom>
        </p:spPr>
      </p:pic>
      <p:sp>
        <p:nvSpPr>
          <p:cNvPr id="692" name="Seturile de date de la un estimator la altul se pot suprapune."/>
          <p:cNvSpPr txBox="1"/>
          <p:nvPr/>
        </p:nvSpPr>
        <p:spPr>
          <a:xfrm>
            <a:off x="815418" y="10883049"/>
            <a:ext cx="10657663"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Seturile de date de la un estimator la altul se pot suprapune.</a:t>
            </a:r>
          </a:p>
        </p:txBody>
      </p:sp>
      <p:sp>
        <p:nvSpPr>
          <p:cNvPr id="693" name="Seturile de date de la un estimator la altul nu se pot suprapune."/>
          <p:cNvSpPr txBox="1"/>
          <p:nvPr/>
        </p:nvSpPr>
        <p:spPr>
          <a:xfrm>
            <a:off x="11943374" y="10883049"/>
            <a:ext cx="10657664"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Seturile de date de la un estimator la altul nu se pot suprapune.</a:t>
            </a:r>
          </a:p>
        </p:txBody>
      </p:sp>
      <p:pic>
        <p:nvPicPr>
          <p:cNvPr id="694" name="Linie Linie" descr="Linie Linie"/>
          <p:cNvPicPr>
            <a:picLocks noChangeAspect="0"/>
          </p:cNvPicPr>
          <p:nvPr/>
        </p:nvPicPr>
        <p:blipFill>
          <a:blip r:embed="rId6">
            <a:extLst/>
          </a:blip>
          <a:stretch>
            <a:fillRect/>
          </a:stretch>
        </p:blipFill>
        <p:spPr>
          <a:xfrm>
            <a:off x="2585922" y="12446868"/>
            <a:ext cx="4370146" cy="101601"/>
          </a:xfrm>
          <a:prstGeom prst="rect">
            <a:avLst/>
          </a:prstGeom>
        </p:spPr>
      </p:pic>
      <p:pic>
        <p:nvPicPr>
          <p:cNvPr id="696" name="Linie Linie" descr="Linie Linie"/>
          <p:cNvPicPr>
            <a:picLocks noChangeAspect="0"/>
          </p:cNvPicPr>
          <p:nvPr/>
        </p:nvPicPr>
        <p:blipFill>
          <a:blip r:embed="rId7">
            <a:extLst/>
          </a:blip>
          <a:stretch>
            <a:fillRect/>
          </a:stretch>
        </p:blipFill>
        <p:spPr>
          <a:xfrm>
            <a:off x="13367281" y="12446868"/>
            <a:ext cx="5623216"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9" grpId="1" fill="hold">
                                  <p:stCondLst>
                                    <p:cond delay="0"/>
                                  </p:stCondLst>
                                  <p:iterate type="el" backwards="0">
                                    <p:tmAbs val="0"/>
                                  </p:iterate>
                                  <p:childTnLst>
                                    <p:set>
                                      <p:cBhvr>
                                        <p:cTn id="6" fill="hold"/>
                                        <p:tgtEl>
                                          <p:spTgt spid="676"/>
                                        </p:tgtEl>
                                        <p:attrNameLst>
                                          <p:attrName>style.visibility</p:attrName>
                                        </p:attrNameLst>
                                      </p:cBhvr>
                                      <p:to>
                                        <p:strVal val="visible"/>
                                      </p:to>
                                    </p:set>
                                    <p:animEffect filter="dissolve" transition="in">
                                      <p:cBhvr>
                                        <p:cTn id="7" dur="2000"/>
                                        <p:tgtEl>
                                          <p:spTgt spid="676"/>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678"/>
                                        </p:tgtEl>
                                        <p:attrNameLst>
                                          <p:attrName>style.visibility</p:attrName>
                                        </p:attrNameLst>
                                      </p:cBhvr>
                                      <p:to>
                                        <p:strVal val="visible"/>
                                      </p:to>
                                    </p:set>
                                    <p:animEffect filter="dissolve" transition="in">
                                      <p:cBhvr>
                                        <p:cTn id="11" dur="2000"/>
                                        <p:tgtEl>
                                          <p:spTgt spid="678"/>
                                        </p:tgtEl>
                                      </p:cBhvr>
                                    </p:animEffect>
                                  </p:childTnLst>
                                </p:cTn>
                              </p:par>
                            </p:childTnLst>
                          </p:cTn>
                        </p:par>
                        <p:par>
                          <p:cTn id="12" fill="hold">
                            <p:stCondLst>
                              <p:cond delay="4000"/>
                            </p:stCondLst>
                            <p:childTnLst>
                              <p:par>
                                <p:cTn id="13" presetClass="entr" nodeType="afterEffect" presetSubtype="8" presetID="2" grpId="3" fill="hold">
                                  <p:stCondLst>
                                    <p:cond delay="0"/>
                                  </p:stCondLst>
                                  <p:iterate type="el" backwards="0">
                                    <p:tmAbs val="0"/>
                                  </p:iterate>
                                  <p:childTnLst>
                                    <p:set>
                                      <p:cBhvr>
                                        <p:cTn id="14" fill="hold"/>
                                        <p:tgtEl>
                                          <p:spTgt spid="680"/>
                                        </p:tgtEl>
                                        <p:attrNameLst>
                                          <p:attrName>style.visibility</p:attrName>
                                        </p:attrNameLst>
                                      </p:cBhvr>
                                      <p:to>
                                        <p:strVal val="visible"/>
                                      </p:to>
                                    </p:set>
                                    <p:anim calcmode="lin" valueType="num">
                                      <p:cBhvr>
                                        <p:cTn id="15" dur="1000" fill="hold"/>
                                        <p:tgtEl>
                                          <p:spTgt spid="680"/>
                                        </p:tgtEl>
                                        <p:attrNameLst>
                                          <p:attrName>ppt_x</p:attrName>
                                        </p:attrNameLst>
                                      </p:cBhvr>
                                      <p:tavLst>
                                        <p:tav tm="0">
                                          <p:val>
                                            <p:strVal val="0-#ppt_w/2"/>
                                          </p:val>
                                        </p:tav>
                                        <p:tav tm="100000">
                                          <p:val>
                                            <p:strVal val="#ppt_x"/>
                                          </p:val>
                                        </p:tav>
                                      </p:tavLst>
                                    </p:anim>
                                    <p:anim calcmode="lin" valueType="num">
                                      <p:cBhvr>
                                        <p:cTn id="16" dur="1000" fill="hold"/>
                                        <p:tgtEl>
                                          <p:spTgt spid="680"/>
                                        </p:tgtEl>
                                        <p:attrNameLst>
                                          <p:attrName>ppt_y</p:attrName>
                                        </p:attrNameLst>
                                      </p:cBhvr>
                                      <p:tavLst>
                                        <p:tav tm="0">
                                          <p:val>
                                            <p:strVal val="#ppt_y"/>
                                          </p:val>
                                        </p:tav>
                                        <p:tav tm="100000">
                                          <p:val>
                                            <p:strVal val="#ppt_y"/>
                                          </p:val>
                                        </p:tav>
                                      </p:tavLst>
                                    </p:anim>
                                  </p:childTnLst>
                                </p:cTn>
                              </p:par>
                            </p:childTnLst>
                          </p:cTn>
                        </p:par>
                        <p:par>
                          <p:cTn id="17" fill="hold">
                            <p:stCondLst>
                              <p:cond delay="5000"/>
                            </p:stCondLst>
                            <p:childTnLst>
                              <p:par>
                                <p:cTn id="18" presetClass="entr" nodeType="afterEffect" presetSubtype="8" presetID="2" grpId="4" fill="hold">
                                  <p:stCondLst>
                                    <p:cond delay="0"/>
                                  </p:stCondLst>
                                  <p:iterate type="el" backwards="0">
                                    <p:tmAbs val="0"/>
                                  </p:iterate>
                                  <p:childTnLst>
                                    <p:set>
                                      <p:cBhvr>
                                        <p:cTn id="19" fill="hold"/>
                                        <p:tgtEl>
                                          <p:spTgt spid="681"/>
                                        </p:tgtEl>
                                        <p:attrNameLst>
                                          <p:attrName>style.visibility</p:attrName>
                                        </p:attrNameLst>
                                      </p:cBhvr>
                                      <p:to>
                                        <p:strVal val="visible"/>
                                      </p:to>
                                    </p:set>
                                    <p:anim calcmode="lin" valueType="num">
                                      <p:cBhvr>
                                        <p:cTn id="20" dur="1000" fill="hold"/>
                                        <p:tgtEl>
                                          <p:spTgt spid="681"/>
                                        </p:tgtEl>
                                        <p:attrNameLst>
                                          <p:attrName>ppt_x</p:attrName>
                                        </p:attrNameLst>
                                      </p:cBhvr>
                                      <p:tavLst>
                                        <p:tav tm="0">
                                          <p:val>
                                            <p:strVal val="0-#ppt_w/2"/>
                                          </p:val>
                                        </p:tav>
                                        <p:tav tm="100000">
                                          <p:val>
                                            <p:strVal val="#ppt_x"/>
                                          </p:val>
                                        </p:tav>
                                      </p:tavLst>
                                    </p:anim>
                                    <p:anim calcmode="lin" valueType="num">
                                      <p:cBhvr>
                                        <p:cTn id="21" dur="1000" fill="hold"/>
                                        <p:tgtEl>
                                          <p:spTgt spid="681"/>
                                        </p:tgtEl>
                                        <p:attrNameLst>
                                          <p:attrName>ppt_y</p:attrName>
                                        </p:attrNameLst>
                                      </p:cBhvr>
                                      <p:tavLst>
                                        <p:tav tm="0">
                                          <p:val>
                                            <p:strVal val="#ppt_y"/>
                                          </p:val>
                                        </p:tav>
                                        <p:tav tm="100000">
                                          <p:val>
                                            <p:strVal val="#ppt_y"/>
                                          </p:val>
                                        </p:tav>
                                      </p:tavLst>
                                    </p:anim>
                                  </p:childTnLst>
                                </p:cTn>
                              </p:par>
                            </p:childTnLst>
                          </p:cTn>
                        </p:par>
                        <p:par>
                          <p:cTn id="22" fill="hold">
                            <p:stCondLst>
                              <p:cond delay="6000"/>
                            </p:stCondLst>
                            <p:childTnLst>
                              <p:par>
                                <p:cTn id="23" presetClass="entr" nodeType="afterEffect" presetID="9" grpId="5" fill="hold">
                                  <p:stCondLst>
                                    <p:cond delay="0"/>
                                  </p:stCondLst>
                                  <p:iterate type="el" backwards="0">
                                    <p:tmAbs val="0"/>
                                  </p:iterate>
                                  <p:childTnLst>
                                    <p:set>
                                      <p:cBhvr>
                                        <p:cTn id="24" fill="hold"/>
                                        <p:tgtEl>
                                          <p:spTgt spid="682"/>
                                        </p:tgtEl>
                                        <p:attrNameLst>
                                          <p:attrName>style.visibility</p:attrName>
                                        </p:attrNameLst>
                                      </p:cBhvr>
                                      <p:to>
                                        <p:strVal val="visible"/>
                                      </p:to>
                                    </p:set>
                                    <p:animEffect filter="dissolve" transition="in">
                                      <p:cBhvr>
                                        <p:cTn id="25" dur="2000"/>
                                        <p:tgtEl>
                                          <p:spTgt spid="682"/>
                                        </p:tgtEl>
                                      </p:cBhvr>
                                    </p:animEffect>
                                  </p:childTnLst>
                                </p:cTn>
                              </p:par>
                            </p:childTnLst>
                          </p:cTn>
                        </p:par>
                      </p:childTnLst>
                    </p:cTn>
                  </p:par>
                  <p:par>
                    <p:cTn id="26" fill="hold">
                      <p:stCondLst>
                        <p:cond delay="indefinite"/>
                      </p:stCondLst>
                      <p:childTnLst>
                        <p:par>
                          <p:cTn id="27" fill="hold">
                            <p:stCondLst>
                              <p:cond delay="0"/>
                            </p:stCondLst>
                            <p:childTnLst>
                              <p:par>
                                <p:cTn id="28" presetClass="entr" nodeType="clickEffect" presetSubtype="8" presetID="2" grpId="6" fill="hold">
                                  <p:stCondLst>
                                    <p:cond delay="0"/>
                                  </p:stCondLst>
                                  <p:iterate type="el" backwards="0">
                                    <p:tmAbs val="0"/>
                                  </p:iterate>
                                  <p:childTnLst>
                                    <p:set>
                                      <p:cBhvr>
                                        <p:cTn id="29" fill="hold"/>
                                        <p:tgtEl>
                                          <p:spTgt spid="684"/>
                                        </p:tgtEl>
                                        <p:attrNameLst>
                                          <p:attrName>style.visibility</p:attrName>
                                        </p:attrNameLst>
                                      </p:cBhvr>
                                      <p:to>
                                        <p:strVal val="visible"/>
                                      </p:to>
                                    </p:set>
                                    <p:anim calcmode="lin" valueType="num">
                                      <p:cBhvr>
                                        <p:cTn id="30" dur="1000" fill="hold"/>
                                        <p:tgtEl>
                                          <p:spTgt spid="684"/>
                                        </p:tgtEl>
                                        <p:attrNameLst>
                                          <p:attrName>ppt_x</p:attrName>
                                        </p:attrNameLst>
                                      </p:cBhvr>
                                      <p:tavLst>
                                        <p:tav tm="0">
                                          <p:val>
                                            <p:strVal val="0-#ppt_w/2"/>
                                          </p:val>
                                        </p:tav>
                                        <p:tav tm="100000">
                                          <p:val>
                                            <p:strVal val="#ppt_x"/>
                                          </p:val>
                                        </p:tav>
                                      </p:tavLst>
                                    </p:anim>
                                    <p:anim calcmode="lin" valueType="num">
                                      <p:cBhvr>
                                        <p:cTn id="31" dur="1000" fill="hold"/>
                                        <p:tgtEl>
                                          <p:spTgt spid="684"/>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 grpId="7" fill="hold">
                                  <p:stCondLst>
                                    <p:cond delay="0"/>
                                  </p:stCondLst>
                                  <p:iterate type="el" backwards="0">
                                    <p:tmAbs val="0"/>
                                  </p:iterate>
                                  <p:childTnLst>
                                    <p:set>
                                      <p:cBhvr>
                                        <p:cTn id="35" fill="hold"/>
                                        <p:tgtEl>
                                          <p:spTgt spid="685"/>
                                        </p:tgtEl>
                                        <p:attrNameLst>
                                          <p:attrName>style.visibility</p:attrName>
                                        </p:attrNameLst>
                                      </p:cBhvr>
                                      <p:to>
                                        <p:strVal val="visible"/>
                                      </p:to>
                                    </p:set>
                                    <p:anim calcmode="lin" valueType="num">
                                      <p:cBhvr>
                                        <p:cTn id="36" dur="1000" fill="hold"/>
                                        <p:tgtEl>
                                          <p:spTgt spid="685"/>
                                        </p:tgtEl>
                                        <p:attrNameLst>
                                          <p:attrName>ppt_x</p:attrName>
                                        </p:attrNameLst>
                                      </p:cBhvr>
                                      <p:tavLst>
                                        <p:tav tm="0">
                                          <p:val>
                                            <p:strVal val="0-#ppt_w/2"/>
                                          </p:val>
                                        </p:tav>
                                        <p:tav tm="100000">
                                          <p:val>
                                            <p:strVal val="#ppt_x"/>
                                          </p:val>
                                        </p:tav>
                                      </p:tavLst>
                                    </p:anim>
                                    <p:anim calcmode="lin" valueType="num">
                                      <p:cBhvr>
                                        <p:cTn id="37" dur="1000" fill="hold"/>
                                        <p:tgtEl>
                                          <p:spTgt spid="685"/>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Class="entr" nodeType="clickEffect" presetSubtype="0" presetID="1" grpId="8" fill="hold">
                                  <p:stCondLst>
                                    <p:cond delay="0"/>
                                  </p:stCondLst>
                                  <p:iterate type="lt" backwards="0">
                                    <p:tmAbs val="100"/>
                                  </p:iterate>
                                  <p:childTnLst>
                                    <p:set>
                                      <p:cBhvr>
                                        <p:cTn id="41" fill="hold"/>
                                        <p:tgtEl>
                                          <p:spTgt spid="686"/>
                                        </p:tgtEl>
                                        <p:attrNameLst>
                                          <p:attrName>style.visibility</p:attrName>
                                        </p:attrNameLst>
                                      </p:cBhvr>
                                      <p:to>
                                        <p:strVal val="visible"/>
                                      </p:to>
                                    </p:set>
                                  </p:childTnLst>
                                </p:cTn>
                              </p:par>
                            </p:childTnLst>
                          </p:cTn>
                        </p:par>
                        <p:par>
                          <p:cTn id="42" fill="hold">
                            <p:stCondLst>
                              <p:cond delay="0"/>
                            </p:stCondLst>
                            <p:childTnLst>
                              <p:par>
                                <p:cTn id="43" presetClass="entr" nodeType="afterEffect" presetID="9" grpId="9" fill="hold">
                                  <p:stCondLst>
                                    <p:cond delay="0"/>
                                  </p:stCondLst>
                                  <p:iterate type="el" backwards="0">
                                    <p:tmAbs val="0"/>
                                  </p:iterate>
                                  <p:childTnLst>
                                    <p:set>
                                      <p:cBhvr>
                                        <p:cTn id="44" fill="hold"/>
                                        <p:tgtEl>
                                          <p:spTgt spid="688"/>
                                        </p:tgtEl>
                                        <p:attrNameLst>
                                          <p:attrName>style.visibility</p:attrName>
                                        </p:attrNameLst>
                                      </p:cBhvr>
                                      <p:to>
                                        <p:strVal val="visible"/>
                                      </p:to>
                                    </p:set>
                                    <p:animEffect filter="dissolve" transition="in">
                                      <p:cBhvr>
                                        <p:cTn id="45" dur="2000"/>
                                        <p:tgtEl>
                                          <p:spTgt spid="688"/>
                                        </p:tgtEl>
                                      </p:cBhvr>
                                    </p:animEffect>
                                  </p:childTnLst>
                                </p:cTn>
                              </p:par>
                            </p:childTnLst>
                          </p:cTn>
                        </p:par>
                      </p:childTnLst>
                    </p:cTn>
                  </p:par>
                  <p:par>
                    <p:cTn id="46" fill="hold">
                      <p:stCondLst>
                        <p:cond delay="indefinite"/>
                      </p:stCondLst>
                      <p:childTnLst>
                        <p:par>
                          <p:cTn id="47" fill="hold">
                            <p:stCondLst>
                              <p:cond delay="0"/>
                            </p:stCondLst>
                            <p:childTnLst>
                              <p:par>
                                <p:cTn id="48" presetClass="entr" nodeType="clickEffect" presetSubtype="0" presetID="1" grpId="10" fill="hold">
                                  <p:stCondLst>
                                    <p:cond delay="0"/>
                                  </p:stCondLst>
                                  <p:iterate type="lt" backwards="0">
                                    <p:tmAbs val="100"/>
                                  </p:iterate>
                                  <p:childTnLst>
                                    <p:set>
                                      <p:cBhvr>
                                        <p:cTn id="49" fill="hold"/>
                                        <p:tgtEl>
                                          <p:spTgt spid="687"/>
                                        </p:tgtEl>
                                        <p:attrNameLst>
                                          <p:attrName>style.visibility</p:attrName>
                                        </p:attrNameLst>
                                      </p:cBhvr>
                                      <p:to>
                                        <p:strVal val="visible"/>
                                      </p:to>
                                    </p:set>
                                  </p:childTnLst>
                                </p:cTn>
                              </p:par>
                            </p:childTnLst>
                          </p:cTn>
                        </p:par>
                        <p:par>
                          <p:cTn id="50" fill="hold">
                            <p:stCondLst>
                              <p:cond delay="0"/>
                            </p:stCondLst>
                            <p:childTnLst>
                              <p:par>
                                <p:cTn id="51" presetClass="entr" nodeType="afterEffect" presetID="9" grpId="11" fill="hold">
                                  <p:stCondLst>
                                    <p:cond delay="0"/>
                                  </p:stCondLst>
                                  <p:iterate type="el" backwards="0">
                                    <p:tmAbs val="0"/>
                                  </p:iterate>
                                  <p:childTnLst>
                                    <p:set>
                                      <p:cBhvr>
                                        <p:cTn id="52" fill="hold"/>
                                        <p:tgtEl>
                                          <p:spTgt spid="690"/>
                                        </p:tgtEl>
                                        <p:attrNameLst>
                                          <p:attrName>style.visibility</p:attrName>
                                        </p:attrNameLst>
                                      </p:cBhvr>
                                      <p:to>
                                        <p:strVal val="visible"/>
                                      </p:to>
                                    </p:set>
                                    <p:animEffect filter="dissolve" transition="in">
                                      <p:cBhvr>
                                        <p:cTn id="53" dur="2000"/>
                                        <p:tgtEl>
                                          <p:spTgt spid="690"/>
                                        </p:tgtEl>
                                      </p:cBhvr>
                                    </p:animEffect>
                                  </p:childTnLst>
                                </p:cTn>
                              </p:par>
                            </p:childTnLst>
                          </p:cTn>
                        </p:par>
                      </p:childTnLst>
                    </p:cTn>
                  </p:par>
                  <p:par>
                    <p:cTn id="54" fill="hold">
                      <p:stCondLst>
                        <p:cond delay="indefinite"/>
                      </p:stCondLst>
                      <p:childTnLst>
                        <p:par>
                          <p:cTn id="55" fill="hold">
                            <p:stCondLst>
                              <p:cond delay="0"/>
                            </p:stCondLst>
                            <p:childTnLst>
                              <p:par>
                                <p:cTn id="56" presetClass="entr" nodeType="clickEffect" presetSubtype="0" presetID="1" grpId="12" fill="hold">
                                  <p:stCondLst>
                                    <p:cond delay="0"/>
                                  </p:stCondLst>
                                  <p:iterate type="lt" backwards="0">
                                    <p:tmAbs val="100"/>
                                  </p:iterate>
                                  <p:childTnLst>
                                    <p:set>
                                      <p:cBhvr>
                                        <p:cTn id="57" fill="hold"/>
                                        <p:tgtEl>
                                          <p:spTgt spid="692"/>
                                        </p:tgtEl>
                                        <p:attrNameLst>
                                          <p:attrName>style.visibility</p:attrName>
                                        </p:attrNameLst>
                                      </p:cBhvr>
                                      <p:to>
                                        <p:strVal val="visible"/>
                                      </p:to>
                                    </p:set>
                                  </p:childTnLst>
                                </p:cTn>
                              </p:par>
                            </p:childTnLst>
                          </p:cTn>
                        </p:par>
                        <p:par>
                          <p:cTn id="58" fill="hold">
                            <p:stCondLst>
                              <p:cond delay="0"/>
                            </p:stCondLst>
                            <p:childTnLst>
                              <p:par>
                                <p:cTn id="59" presetClass="entr" nodeType="afterEffect" presetID="9" grpId="13" fill="hold">
                                  <p:stCondLst>
                                    <p:cond delay="0"/>
                                  </p:stCondLst>
                                  <p:iterate type="el" backwards="0">
                                    <p:tmAbs val="0"/>
                                  </p:iterate>
                                  <p:childTnLst>
                                    <p:set>
                                      <p:cBhvr>
                                        <p:cTn id="60" fill="hold"/>
                                        <p:tgtEl>
                                          <p:spTgt spid="694"/>
                                        </p:tgtEl>
                                        <p:attrNameLst>
                                          <p:attrName>style.visibility</p:attrName>
                                        </p:attrNameLst>
                                      </p:cBhvr>
                                      <p:to>
                                        <p:strVal val="visible"/>
                                      </p:to>
                                    </p:set>
                                    <p:animEffect filter="dissolve" transition="in">
                                      <p:cBhvr>
                                        <p:cTn id="61" dur="2000"/>
                                        <p:tgtEl>
                                          <p:spTgt spid="694"/>
                                        </p:tgtEl>
                                      </p:cBhvr>
                                    </p:animEffect>
                                  </p:childTnLst>
                                </p:cTn>
                              </p:par>
                            </p:childTnLst>
                          </p:cTn>
                        </p:par>
                      </p:childTnLst>
                    </p:cTn>
                  </p:par>
                  <p:par>
                    <p:cTn id="62" fill="hold">
                      <p:stCondLst>
                        <p:cond delay="indefinite"/>
                      </p:stCondLst>
                      <p:childTnLst>
                        <p:par>
                          <p:cTn id="63" fill="hold">
                            <p:stCondLst>
                              <p:cond delay="0"/>
                            </p:stCondLst>
                            <p:childTnLst>
                              <p:par>
                                <p:cTn id="64" presetClass="entr" nodeType="clickEffect" presetSubtype="0" presetID="1" grpId="14" fill="hold">
                                  <p:stCondLst>
                                    <p:cond delay="0"/>
                                  </p:stCondLst>
                                  <p:iterate type="lt" backwards="0">
                                    <p:tmAbs val="100"/>
                                  </p:iterate>
                                  <p:childTnLst>
                                    <p:set>
                                      <p:cBhvr>
                                        <p:cTn id="65" fill="hold"/>
                                        <p:tgtEl>
                                          <p:spTgt spid="693"/>
                                        </p:tgtEl>
                                        <p:attrNameLst>
                                          <p:attrName>style.visibility</p:attrName>
                                        </p:attrNameLst>
                                      </p:cBhvr>
                                      <p:to>
                                        <p:strVal val="visible"/>
                                      </p:to>
                                    </p:set>
                                  </p:childTnLst>
                                </p:cTn>
                              </p:par>
                            </p:childTnLst>
                          </p:cTn>
                        </p:par>
                        <p:par>
                          <p:cTn id="66" fill="hold">
                            <p:stCondLst>
                              <p:cond delay="0"/>
                            </p:stCondLst>
                            <p:childTnLst>
                              <p:par>
                                <p:cTn id="67" presetClass="entr" nodeType="afterEffect" presetID="9" grpId="15" fill="hold">
                                  <p:stCondLst>
                                    <p:cond delay="0"/>
                                  </p:stCondLst>
                                  <p:iterate type="el" backwards="0">
                                    <p:tmAbs val="0"/>
                                  </p:iterate>
                                  <p:childTnLst>
                                    <p:set>
                                      <p:cBhvr>
                                        <p:cTn id="68" fill="hold"/>
                                        <p:tgtEl>
                                          <p:spTgt spid="696"/>
                                        </p:tgtEl>
                                        <p:attrNameLst>
                                          <p:attrName>style.visibility</p:attrName>
                                        </p:attrNameLst>
                                      </p:cBhvr>
                                      <p:to>
                                        <p:strVal val="visible"/>
                                      </p:to>
                                    </p:set>
                                    <p:animEffect filter="dissolve" transition="in">
                                      <p:cBhvr>
                                        <p:cTn id="69" dur="2000"/>
                                        <p:tgtEl>
                                          <p:spTgt spid="6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87" grpId="10"/>
      <p:bldP build="whole" bldLvl="1" animBg="1" rev="0" advAuto="0" spid="681" grpId="4"/>
      <p:bldP build="whole" bldLvl="1" animBg="1" rev="0" advAuto="0" spid="680" grpId="3"/>
      <p:bldP build="whole" bldLvl="1" animBg="1" rev="0" advAuto="0" spid="690" grpId="11"/>
      <p:bldP build="whole" bldLvl="1" animBg="1" rev="0" advAuto="0" spid="688" grpId="9"/>
      <p:bldP build="whole" bldLvl="1" animBg="1" rev="0" advAuto="0" spid="694" grpId="13"/>
      <p:bldP build="whole" bldLvl="1" animBg="1" rev="0" advAuto="0" spid="693" grpId="14"/>
      <p:bldP build="whole" bldLvl="1" animBg="1" rev="0" advAuto="0" spid="682" grpId="5"/>
      <p:bldP build="whole" bldLvl="1" animBg="1" rev="0" advAuto="0" spid="678" grpId="2"/>
      <p:bldP build="whole" bldLvl="1" animBg="1" rev="0" advAuto="0" spid="685" grpId="7"/>
      <p:bldP build="whole" bldLvl="1" animBg="1" rev="0" advAuto="0" spid="684" grpId="6"/>
      <p:bldP build="whole" bldLvl="1" animBg="1" rev="0" advAuto="0" spid="676" grpId="1"/>
      <p:bldP build="whole" bldLvl="1" animBg="1" rev="0" advAuto="0" spid="686" grpId="8"/>
      <p:bldP build="whole" bldLvl="1" animBg="1" rev="0" advAuto="0" spid="692" grpId="12"/>
      <p:bldP build="whole" bldLvl="1" animBg="1" rev="0" advAuto="0" spid="696" grpId="15"/>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700" name="Bagging și pasting"/>
          <p:cNvSpPr txBox="1"/>
          <p:nvPr/>
        </p:nvSpPr>
        <p:spPr>
          <a:xfrm>
            <a:off x="5613125" y="644678"/>
            <a:ext cx="7597750" cy="147675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200"/>
            </a:lvl1pPr>
          </a:lstStyle>
          <a:p>
            <a:pPr/>
            <a:r>
              <a:t>Bagging și pasting</a:t>
            </a:r>
          </a:p>
        </p:txBody>
      </p:sp>
      <p:sp>
        <p:nvSpPr>
          <p:cNvPr id="701" name="(la clasificare)"/>
          <p:cNvSpPr txBox="1"/>
          <p:nvPr/>
        </p:nvSpPr>
        <p:spPr>
          <a:xfrm>
            <a:off x="13225051" y="1054834"/>
            <a:ext cx="361853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(la clasificare)</a:t>
            </a:r>
          </a:p>
        </p:txBody>
      </p:sp>
      <p:pic>
        <p:nvPicPr>
          <p:cNvPr id="702" name="Linie Linie" descr="Linie Linie"/>
          <p:cNvPicPr>
            <a:picLocks noChangeAspect="0"/>
          </p:cNvPicPr>
          <p:nvPr/>
        </p:nvPicPr>
        <p:blipFill>
          <a:blip r:embed="rId2">
            <a:extLst/>
          </a:blip>
          <a:stretch>
            <a:fillRect/>
          </a:stretch>
        </p:blipFill>
        <p:spPr>
          <a:xfrm rot="16200000">
            <a:off x="9214525" y="5915117"/>
            <a:ext cx="5954950" cy="101601"/>
          </a:xfrm>
          <a:prstGeom prst="rect">
            <a:avLst/>
          </a:prstGeom>
        </p:spPr>
      </p:pic>
      <p:sp>
        <p:nvSpPr>
          <p:cNvPr id="704" name="Bagging"/>
          <p:cNvSpPr txBox="1"/>
          <p:nvPr/>
        </p:nvSpPr>
        <p:spPr>
          <a:xfrm>
            <a:off x="8788916" y="3153788"/>
            <a:ext cx="221371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Bagging</a:t>
            </a:r>
          </a:p>
        </p:txBody>
      </p:sp>
      <p:sp>
        <p:nvSpPr>
          <p:cNvPr id="705" name="Pasting"/>
          <p:cNvSpPr txBox="1"/>
          <p:nvPr/>
        </p:nvSpPr>
        <p:spPr>
          <a:xfrm>
            <a:off x="13381370" y="3220479"/>
            <a:ext cx="200863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Pasting</a:t>
            </a:r>
          </a:p>
        </p:txBody>
      </p:sp>
      <p:sp>
        <p:nvSpPr>
          <p:cNvPr id="706" name="Fiecare estimator este antrenat pe un set de date care poate conține duplicate;"/>
          <p:cNvSpPr txBox="1"/>
          <p:nvPr/>
        </p:nvSpPr>
        <p:spPr>
          <a:xfrm>
            <a:off x="1299190" y="5121342"/>
            <a:ext cx="10657664"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Fiecare estimator este antrenat pe un set de date care poate conține duplicate;</a:t>
            </a:r>
          </a:p>
        </p:txBody>
      </p:sp>
      <p:sp>
        <p:nvSpPr>
          <p:cNvPr id="707" name="Fiecare estimator este antrenat pe un set de date care poate conține doar elemente unice;"/>
          <p:cNvSpPr txBox="1"/>
          <p:nvPr/>
        </p:nvSpPr>
        <p:spPr>
          <a:xfrm>
            <a:off x="12427146" y="4665538"/>
            <a:ext cx="10357886" cy="244409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Fiecare estimator este antrenat pe un set de date care poate conține doar elemente unice;</a:t>
            </a:r>
          </a:p>
        </p:txBody>
      </p:sp>
      <p:pic>
        <p:nvPicPr>
          <p:cNvPr id="708" name="Linie Linie" descr="Linie Linie"/>
          <p:cNvPicPr>
            <a:picLocks noChangeAspect="0"/>
          </p:cNvPicPr>
          <p:nvPr/>
        </p:nvPicPr>
        <p:blipFill>
          <a:blip r:embed="rId3">
            <a:extLst/>
          </a:blip>
          <a:stretch>
            <a:fillRect/>
          </a:stretch>
        </p:blipFill>
        <p:spPr>
          <a:xfrm>
            <a:off x="4748182" y="6744682"/>
            <a:ext cx="6305246" cy="101601"/>
          </a:xfrm>
          <a:prstGeom prst="rect">
            <a:avLst/>
          </a:prstGeom>
        </p:spPr>
      </p:pic>
      <p:pic>
        <p:nvPicPr>
          <p:cNvPr id="710" name="Linie Linie" descr="Linie Linie"/>
          <p:cNvPicPr>
            <a:picLocks noChangeAspect="0"/>
          </p:cNvPicPr>
          <p:nvPr/>
        </p:nvPicPr>
        <p:blipFill>
          <a:blip r:embed="rId4">
            <a:extLst/>
          </a:blip>
          <a:stretch>
            <a:fillRect/>
          </a:stretch>
        </p:blipFill>
        <p:spPr>
          <a:xfrm>
            <a:off x="12652665" y="6990725"/>
            <a:ext cx="4370147" cy="101601"/>
          </a:xfrm>
          <a:prstGeom prst="rect">
            <a:avLst/>
          </a:prstGeom>
        </p:spPr>
      </p:pic>
      <p:sp>
        <p:nvSpPr>
          <p:cNvPr id="712" name="Seturile de date de la un estimator la altul se pot suprapune."/>
          <p:cNvSpPr txBox="1"/>
          <p:nvPr/>
        </p:nvSpPr>
        <p:spPr>
          <a:xfrm>
            <a:off x="1299190" y="6875265"/>
            <a:ext cx="10657664" cy="1689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Seturile de date de la un estimator la altul se pot suprapune.</a:t>
            </a:r>
          </a:p>
        </p:txBody>
      </p:sp>
      <p:sp>
        <p:nvSpPr>
          <p:cNvPr id="713" name="Seturile de date de la un estimator la altul nu se pot suprapune."/>
          <p:cNvSpPr txBox="1"/>
          <p:nvPr/>
        </p:nvSpPr>
        <p:spPr>
          <a:xfrm>
            <a:off x="12427146" y="6875265"/>
            <a:ext cx="10657664" cy="1689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marL="441157" indent="-441157">
              <a:buSzPct val="100000"/>
              <a:buChar char="-"/>
            </a:lvl1pPr>
          </a:lstStyle>
          <a:p>
            <a:pPr/>
            <a:r>
              <a:t>Seturile de date de la un estimator la altul nu se pot suprapune.</a:t>
            </a:r>
          </a:p>
        </p:txBody>
      </p:sp>
      <p:pic>
        <p:nvPicPr>
          <p:cNvPr id="714" name="Linie Linie" descr="Linie Linie"/>
          <p:cNvPicPr>
            <a:picLocks noChangeAspect="0"/>
          </p:cNvPicPr>
          <p:nvPr/>
        </p:nvPicPr>
        <p:blipFill>
          <a:blip r:embed="rId4">
            <a:extLst/>
          </a:blip>
          <a:stretch>
            <a:fillRect/>
          </a:stretch>
        </p:blipFill>
        <p:spPr>
          <a:xfrm>
            <a:off x="3069694" y="8439083"/>
            <a:ext cx="4370147" cy="101601"/>
          </a:xfrm>
          <a:prstGeom prst="rect">
            <a:avLst/>
          </a:prstGeom>
        </p:spPr>
      </p:pic>
      <p:pic>
        <p:nvPicPr>
          <p:cNvPr id="716" name="Linie Linie" descr="Linie Linie"/>
          <p:cNvPicPr>
            <a:picLocks noChangeAspect="0"/>
          </p:cNvPicPr>
          <p:nvPr/>
        </p:nvPicPr>
        <p:blipFill>
          <a:blip r:embed="rId5">
            <a:extLst/>
          </a:blip>
          <a:stretch>
            <a:fillRect/>
          </a:stretch>
        </p:blipFill>
        <p:spPr>
          <a:xfrm>
            <a:off x="13851053" y="8439083"/>
            <a:ext cx="5623216" cy="101601"/>
          </a:xfrm>
          <a:prstGeom prst="rect">
            <a:avLst/>
          </a:prstGeom>
        </p:spPr>
      </p:pic>
      <p:sp>
        <p:nvSpPr>
          <p:cNvPr id="718" name="Exemplu: avem un set de date cu următoarele puncte [A,B,C,D,E] și 2 estimatori"/>
          <p:cNvSpPr txBox="1"/>
          <p:nvPr/>
        </p:nvSpPr>
        <p:spPr>
          <a:xfrm>
            <a:off x="2292924" y="9502962"/>
            <a:ext cx="1982094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Exemplu: avem un set de date cu următoarele puncte [A,B,C,D,E] și 2 estimatori</a:t>
            </a:r>
          </a:p>
        </p:txBody>
      </p:sp>
      <p:pic>
        <p:nvPicPr>
          <p:cNvPr id="719" name="Linie Linie" descr="Linie Linie"/>
          <p:cNvPicPr>
            <a:picLocks noChangeAspect="0"/>
          </p:cNvPicPr>
          <p:nvPr/>
        </p:nvPicPr>
        <p:blipFill>
          <a:blip r:embed="rId6">
            <a:extLst/>
          </a:blip>
          <a:stretch>
            <a:fillRect/>
          </a:stretch>
        </p:blipFill>
        <p:spPr>
          <a:xfrm rot="16200000">
            <a:off x="10809313" y="12021660"/>
            <a:ext cx="2765375" cy="101601"/>
          </a:xfrm>
          <a:prstGeom prst="rect">
            <a:avLst/>
          </a:prstGeom>
        </p:spPr>
      </p:pic>
      <p:sp>
        <p:nvSpPr>
          <p:cNvPr id="721" name="Estimatorul 1 ar putea primi: [A,B,A,D,E]"/>
          <p:cNvSpPr txBox="1"/>
          <p:nvPr/>
        </p:nvSpPr>
        <p:spPr>
          <a:xfrm>
            <a:off x="983450" y="10814792"/>
            <a:ext cx="1024590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Estimatorul 1 ar putea primi: [A,B,A,D,E]</a:t>
            </a:r>
          </a:p>
        </p:txBody>
      </p:sp>
      <p:sp>
        <p:nvSpPr>
          <p:cNvPr id="722" name="Estimatorul 2 ar putea primi: [B,C,D,B,E]"/>
          <p:cNvSpPr txBox="1"/>
          <p:nvPr/>
        </p:nvSpPr>
        <p:spPr>
          <a:xfrm>
            <a:off x="983450" y="11605354"/>
            <a:ext cx="1034984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Estimatorul 2 ar putea primi: [B,C,D,B,E]</a:t>
            </a:r>
          </a:p>
        </p:txBody>
      </p:sp>
      <p:sp>
        <p:nvSpPr>
          <p:cNvPr id="723" name="Estimatorul 1 ar putea primi: [A,B,D]"/>
          <p:cNvSpPr txBox="1"/>
          <p:nvPr/>
        </p:nvSpPr>
        <p:spPr>
          <a:xfrm>
            <a:off x="12581058" y="10783067"/>
            <a:ext cx="919256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Estimatorul 1 ar putea primi: [A,B,D]</a:t>
            </a:r>
          </a:p>
        </p:txBody>
      </p:sp>
      <p:sp>
        <p:nvSpPr>
          <p:cNvPr id="724" name="Estimatorul 2 ar putea primi: [C,E]"/>
          <p:cNvSpPr txBox="1"/>
          <p:nvPr/>
        </p:nvSpPr>
        <p:spPr>
          <a:xfrm>
            <a:off x="12581058" y="11573629"/>
            <a:ext cx="872932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Estimatorul 2 ar putea primi: [C,E]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9" grpId="1" fill="hold">
                                  <p:stCondLst>
                                    <p:cond delay="0"/>
                                  </p:stCondLst>
                                  <p:iterate type="el" backwards="0">
                                    <p:tmAbs val="0"/>
                                  </p:iterate>
                                  <p:childTnLst>
                                    <p:set>
                                      <p:cBhvr>
                                        <p:cTn id="6" fill="hold"/>
                                        <p:tgtEl>
                                          <p:spTgt spid="719"/>
                                        </p:tgtEl>
                                        <p:attrNameLst>
                                          <p:attrName>style.visibility</p:attrName>
                                        </p:attrNameLst>
                                      </p:cBhvr>
                                      <p:to>
                                        <p:strVal val="visible"/>
                                      </p:to>
                                    </p:set>
                                    <p:animEffect filter="dissolve" transition="in">
                                      <p:cBhvr>
                                        <p:cTn id="7" dur="2000"/>
                                        <p:tgtEl>
                                          <p:spTgt spid="719"/>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 grpId="2" fill="hold">
                                  <p:stCondLst>
                                    <p:cond delay="0"/>
                                  </p:stCondLst>
                                  <p:iterate type="el" backwards="0">
                                    <p:tmAbs val="0"/>
                                  </p:iterate>
                                  <p:childTnLst>
                                    <p:set>
                                      <p:cBhvr>
                                        <p:cTn id="11" fill="hold"/>
                                        <p:tgtEl>
                                          <p:spTgt spid="718"/>
                                        </p:tgtEl>
                                        <p:attrNameLst>
                                          <p:attrName>style.visibility</p:attrName>
                                        </p:attrNameLst>
                                      </p:cBhvr>
                                      <p:to>
                                        <p:strVal val="visible"/>
                                      </p:to>
                                    </p:set>
                                    <p:anim calcmode="lin" valueType="num">
                                      <p:cBhvr>
                                        <p:cTn id="12" dur="1000" fill="hold"/>
                                        <p:tgtEl>
                                          <p:spTgt spid="718"/>
                                        </p:tgtEl>
                                        <p:attrNameLst>
                                          <p:attrName>ppt_x</p:attrName>
                                        </p:attrNameLst>
                                      </p:cBhvr>
                                      <p:tavLst>
                                        <p:tav tm="0">
                                          <p:val>
                                            <p:strVal val="0-#ppt_w/2"/>
                                          </p:val>
                                        </p:tav>
                                        <p:tav tm="100000">
                                          <p:val>
                                            <p:strVal val="#ppt_x"/>
                                          </p:val>
                                        </p:tav>
                                      </p:tavLst>
                                    </p:anim>
                                    <p:anim calcmode="lin" valueType="num">
                                      <p:cBhvr>
                                        <p:cTn id="13" dur="1000" fill="hold"/>
                                        <p:tgtEl>
                                          <p:spTgt spid="71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8" presetID="2" grpId="3" fill="hold">
                                  <p:stCondLst>
                                    <p:cond delay="0"/>
                                  </p:stCondLst>
                                  <p:iterate type="el" backwards="0">
                                    <p:tmAbs val="0"/>
                                  </p:iterate>
                                  <p:childTnLst>
                                    <p:set>
                                      <p:cBhvr>
                                        <p:cTn id="17" fill="hold"/>
                                        <p:tgtEl>
                                          <p:spTgt spid="721"/>
                                        </p:tgtEl>
                                        <p:attrNameLst>
                                          <p:attrName>style.visibility</p:attrName>
                                        </p:attrNameLst>
                                      </p:cBhvr>
                                      <p:to>
                                        <p:strVal val="visible"/>
                                      </p:to>
                                    </p:set>
                                    <p:anim calcmode="lin" valueType="num">
                                      <p:cBhvr>
                                        <p:cTn id="18" dur="1000" fill="hold"/>
                                        <p:tgtEl>
                                          <p:spTgt spid="721"/>
                                        </p:tgtEl>
                                        <p:attrNameLst>
                                          <p:attrName>ppt_x</p:attrName>
                                        </p:attrNameLst>
                                      </p:cBhvr>
                                      <p:tavLst>
                                        <p:tav tm="0">
                                          <p:val>
                                            <p:strVal val="0-#ppt_w/2"/>
                                          </p:val>
                                        </p:tav>
                                        <p:tav tm="100000">
                                          <p:val>
                                            <p:strVal val="#ppt_x"/>
                                          </p:val>
                                        </p:tav>
                                      </p:tavLst>
                                    </p:anim>
                                    <p:anim calcmode="lin" valueType="num">
                                      <p:cBhvr>
                                        <p:cTn id="19" dur="1000" fill="hold"/>
                                        <p:tgtEl>
                                          <p:spTgt spid="721"/>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Class="entr" nodeType="afterEffect" presetSubtype="8" presetID="2" grpId="4" fill="hold">
                                  <p:stCondLst>
                                    <p:cond delay="0"/>
                                  </p:stCondLst>
                                  <p:iterate type="el" backwards="0">
                                    <p:tmAbs val="0"/>
                                  </p:iterate>
                                  <p:childTnLst>
                                    <p:set>
                                      <p:cBhvr>
                                        <p:cTn id="22" fill="hold"/>
                                        <p:tgtEl>
                                          <p:spTgt spid="722"/>
                                        </p:tgtEl>
                                        <p:attrNameLst>
                                          <p:attrName>style.visibility</p:attrName>
                                        </p:attrNameLst>
                                      </p:cBhvr>
                                      <p:to>
                                        <p:strVal val="visible"/>
                                      </p:to>
                                    </p:set>
                                    <p:anim calcmode="lin" valueType="num">
                                      <p:cBhvr>
                                        <p:cTn id="23" dur="1000" fill="hold"/>
                                        <p:tgtEl>
                                          <p:spTgt spid="722"/>
                                        </p:tgtEl>
                                        <p:attrNameLst>
                                          <p:attrName>ppt_x</p:attrName>
                                        </p:attrNameLst>
                                      </p:cBhvr>
                                      <p:tavLst>
                                        <p:tav tm="0">
                                          <p:val>
                                            <p:strVal val="0-#ppt_w/2"/>
                                          </p:val>
                                        </p:tav>
                                        <p:tav tm="100000">
                                          <p:val>
                                            <p:strVal val="#ppt_x"/>
                                          </p:val>
                                        </p:tav>
                                      </p:tavLst>
                                    </p:anim>
                                    <p:anim calcmode="lin" valueType="num">
                                      <p:cBhvr>
                                        <p:cTn id="24" dur="1000" fill="hold"/>
                                        <p:tgtEl>
                                          <p:spTgt spid="722"/>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8" presetID="2" grpId="5" fill="hold">
                                  <p:stCondLst>
                                    <p:cond delay="0"/>
                                  </p:stCondLst>
                                  <p:iterate type="el" backwards="0">
                                    <p:tmAbs val="0"/>
                                  </p:iterate>
                                  <p:childTnLst>
                                    <p:set>
                                      <p:cBhvr>
                                        <p:cTn id="28" fill="hold"/>
                                        <p:tgtEl>
                                          <p:spTgt spid="723"/>
                                        </p:tgtEl>
                                        <p:attrNameLst>
                                          <p:attrName>style.visibility</p:attrName>
                                        </p:attrNameLst>
                                      </p:cBhvr>
                                      <p:to>
                                        <p:strVal val="visible"/>
                                      </p:to>
                                    </p:set>
                                    <p:anim calcmode="lin" valueType="num">
                                      <p:cBhvr>
                                        <p:cTn id="29" dur="1000" fill="hold"/>
                                        <p:tgtEl>
                                          <p:spTgt spid="723"/>
                                        </p:tgtEl>
                                        <p:attrNameLst>
                                          <p:attrName>ppt_x</p:attrName>
                                        </p:attrNameLst>
                                      </p:cBhvr>
                                      <p:tavLst>
                                        <p:tav tm="0">
                                          <p:val>
                                            <p:strVal val="0-#ppt_w/2"/>
                                          </p:val>
                                        </p:tav>
                                        <p:tav tm="100000">
                                          <p:val>
                                            <p:strVal val="#ppt_x"/>
                                          </p:val>
                                        </p:tav>
                                      </p:tavLst>
                                    </p:anim>
                                    <p:anim calcmode="lin" valueType="num">
                                      <p:cBhvr>
                                        <p:cTn id="30" dur="1000" fill="hold"/>
                                        <p:tgtEl>
                                          <p:spTgt spid="723"/>
                                        </p:tgtEl>
                                        <p:attrNameLst>
                                          <p:attrName>ppt_y</p:attrName>
                                        </p:attrNameLst>
                                      </p:cBhvr>
                                      <p:tavLst>
                                        <p:tav tm="0">
                                          <p:val>
                                            <p:strVal val="#ppt_y"/>
                                          </p:val>
                                        </p:tav>
                                        <p:tav tm="100000">
                                          <p:val>
                                            <p:strVal val="#ppt_y"/>
                                          </p:val>
                                        </p:tav>
                                      </p:tavLst>
                                    </p:anim>
                                  </p:childTnLst>
                                </p:cTn>
                              </p:par>
                            </p:childTnLst>
                          </p:cTn>
                        </p:par>
                        <p:par>
                          <p:cTn id="31" fill="hold">
                            <p:stCondLst>
                              <p:cond delay="1000"/>
                            </p:stCondLst>
                            <p:childTnLst>
                              <p:par>
                                <p:cTn id="32" presetClass="entr" nodeType="afterEffect" presetSubtype="8" presetID="2" grpId="6" fill="hold">
                                  <p:stCondLst>
                                    <p:cond delay="0"/>
                                  </p:stCondLst>
                                  <p:iterate type="el" backwards="0">
                                    <p:tmAbs val="0"/>
                                  </p:iterate>
                                  <p:childTnLst>
                                    <p:set>
                                      <p:cBhvr>
                                        <p:cTn id="33" fill="hold"/>
                                        <p:tgtEl>
                                          <p:spTgt spid="724"/>
                                        </p:tgtEl>
                                        <p:attrNameLst>
                                          <p:attrName>style.visibility</p:attrName>
                                        </p:attrNameLst>
                                      </p:cBhvr>
                                      <p:to>
                                        <p:strVal val="visible"/>
                                      </p:to>
                                    </p:set>
                                    <p:anim calcmode="lin" valueType="num">
                                      <p:cBhvr>
                                        <p:cTn id="34" dur="1000" fill="hold"/>
                                        <p:tgtEl>
                                          <p:spTgt spid="724"/>
                                        </p:tgtEl>
                                        <p:attrNameLst>
                                          <p:attrName>ppt_x</p:attrName>
                                        </p:attrNameLst>
                                      </p:cBhvr>
                                      <p:tavLst>
                                        <p:tav tm="0">
                                          <p:val>
                                            <p:strVal val="0-#ppt_w/2"/>
                                          </p:val>
                                        </p:tav>
                                        <p:tav tm="100000">
                                          <p:val>
                                            <p:strVal val="#ppt_x"/>
                                          </p:val>
                                        </p:tav>
                                      </p:tavLst>
                                    </p:anim>
                                    <p:anim calcmode="lin" valueType="num">
                                      <p:cBhvr>
                                        <p:cTn id="35" dur="1000" fill="hold"/>
                                        <p:tgtEl>
                                          <p:spTgt spid="7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22" grpId="4"/>
      <p:bldP build="whole" bldLvl="1" animBg="1" rev="0" advAuto="0" spid="721" grpId="3"/>
      <p:bldP build="whole" bldLvl="1" animBg="1" rev="0" advAuto="0" spid="723" grpId="5"/>
      <p:bldP build="whole" bldLvl="1" animBg="1" rev="0" advAuto="0" spid="724" grpId="6"/>
      <p:bldP build="whole" bldLvl="1" animBg="1" rev="0" advAuto="0" spid="719" grpId="1"/>
      <p:bldP build="whole" bldLvl="1" animBg="1" rev="0" advAuto="0" spid="718" grpId="2"/>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727" name="Bagging și pasting"/>
          <p:cNvSpPr txBox="1"/>
          <p:nvPr/>
        </p:nvSpPr>
        <p:spPr>
          <a:xfrm>
            <a:off x="5613125" y="644678"/>
            <a:ext cx="7597750" cy="147675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200"/>
            </a:lvl1pPr>
          </a:lstStyle>
          <a:p>
            <a:pPr/>
            <a:r>
              <a:t>Bagging și pasting</a:t>
            </a:r>
          </a:p>
        </p:txBody>
      </p:sp>
      <p:sp>
        <p:nvSpPr>
          <p:cNvPr id="728" name="(la clasificare)"/>
          <p:cNvSpPr txBox="1"/>
          <p:nvPr/>
        </p:nvSpPr>
        <p:spPr>
          <a:xfrm>
            <a:off x="13225051" y="1054834"/>
            <a:ext cx="361853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(la clasificare)</a:t>
            </a:r>
          </a:p>
        </p:txBody>
      </p:sp>
      <p:pic>
        <p:nvPicPr>
          <p:cNvPr id="729" name="Captură de ecran din 2024-10-21 la 00.25.52.png" descr="Captură de ecran din 2024-10-21 la 00.25.52.png"/>
          <p:cNvPicPr>
            <a:picLocks noChangeAspect="1"/>
          </p:cNvPicPr>
          <p:nvPr/>
        </p:nvPicPr>
        <p:blipFill>
          <a:blip r:embed="rId2">
            <a:extLst/>
          </a:blip>
          <a:stretch>
            <a:fillRect/>
          </a:stretch>
        </p:blipFill>
        <p:spPr>
          <a:xfrm>
            <a:off x="657874" y="4187478"/>
            <a:ext cx="11760270" cy="5765481"/>
          </a:xfrm>
          <a:prstGeom prst="rect">
            <a:avLst/>
          </a:prstGeom>
          <a:ln w="12700">
            <a:miter lim="400000"/>
          </a:ln>
        </p:spPr>
      </p:pic>
      <p:pic>
        <p:nvPicPr>
          <p:cNvPr id="730" name="Linie Linie" descr="Linie Linie"/>
          <p:cNvPicPr>
            <a:picLocks noChangeAspect="0"/>
          </p:cNvPicPr>
          <p:nvPr/>
        </p:nvPicPr>
        <p:blipFill>
          <a:blip r:embed="rId3">
            <a:extLst/>
          </a:blip>
          <a:stretch>
            <a:fillRect/>
          </a:stretch>
        </p:blipFill>
        <p:spPr>
          <a:xfrm>
            <a:off x="1328012" y="4939194"/>
            <a:ext cx="3947438" cy="101601"/>
          </a:xfrm>
          <a:prstGeom prst="rect">
            <a:avLst/>
          </a:prstGeom>
        </p:spPr>
      </p:pic>
      <p:sp>
        <p:nvSpPr>
          <p:cNvPr id="732" name="Parametri:"/>
          <p:cNvSpPr txBox="1"/>
          <p:nvPr/>
        </p:nvSpPr>
        <p:spPr>
          <a:xfrm>
            <a:off x="13086167" y="3312513"/>
            <a:ext cx="276860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Parametri:</a:t>
            </a:r>
          </a:p>
        </p:txBody>
      </p:sp>
      <p:sp>
        <p:nvSpPr>
          <p:cNvPr id="733" name="- modelul folosit în a realiza ansamblul"/>
          <p:cNvSpPr txBox="1"/>
          <p:nvPr/>
        </p:nvSpPr>
        <p:spPr>
          <a:xfrm>
            <a:off x="13522659" y="4046612"/>
            <a:ext cx="957981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4"/>
                </a:solidFill>
              </a:defRPr>
            </a:lvl1pPr>
          </a:lstStyle>
          <a:p>
            <a:pPr/>
            <a:r>
              <a:t>- modelul folosit în a realiza ansamblul</a:t>
            </a:r>
          </a:p>
        </p:txBody>
      </p:sp>
      <p:pic>
        <p:nvPicPr>
          <p:cNvPr id="734" name="Linie Linie" descr="Linie Linie"/>
          <p:cNvPicPr>
            <a:picLocks noChangeAspect="0"/>
          </p:cNvPicPr>
          <p:nvPr/>
        </p:nvPicPr>
        <p:blipFill>
          <a:blip r:embed="rId4">
            <a:extLst/>
          </a:blip>
          <a:stretch>
            <a:fillRect/>
          </a:stretch>
        </p:blipFill>
        <p:spPr>
          <a:xfrm>
            <a:off x="5288037" y="4939194"/>
            <a:ext cx="2499944" cy="101601"/>
          </a:xfrm>
          <a:prstGeom prst="rect">
            <a:avLst/>
          </a:prstGeom>
        </p:spPr>
      </p:pic>
      <p:sp>
        <p:nvSpPr>
          <p:cNvPr id="736" name="- numărul de modele din ansamblu"/>
          <p:cNvSpPr txBox="1"/>
          <p:nvPr/>
        </p:nvSpPr>
        <p:spPr>
          <a:xfrm>
            <a:off x="13522659" y="4927551"/>
            <a:ext cx="868517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3"/>
                </a:solidFill>
              </a:defRPr>
            </a:lvl1pPr>
          </a:lstStyle>
          <a:p>
            <a:pPr/>
            <a:r>
              <a:t>- numărul de modele din ansamblu</a:t>
            </a:r>
          </a:p>
        </p:txBody>
      </p:sp>
      <p:pic>
        <p:nvPicPr>
          <p:cNvPr id="737" name="Linie Linie" descr="Linie Linie"/>
          <p:cNvPicPr>
            <a:picLocks noChangeAspect="0"/>
          </p:cNvPicPr>
          <p:nvPr/>
        </p:nvPicPr>
        <p:blipFill>
          <a:blip r:embed="rId5">
            <a:extLst/>
          </a:blip>
          <a:stretch>
            <a:fillRect/>
          </a:stretch>
        </p:blipFill>
        <p:spPr>
          <a:xfrm>
            <a:off x="1367571" y="5343857"/>
            <a:ext cx="2499944" cy="101601"/>
          </a:xfrm>
          <a:prstGeom prst="rect">
            <a:avLst/>
          </a:prstGeom>
        </p:spPr>
      </p:pic>
      <p:sp>
        <p:nvSpPr>
          <p:cNvPr id="739" name="- numărul maxim de exemplare cu care se antrenează fiecare model"/>
          <p:cNvSpPr txBox="1"/>
          <p:nvPr/>
        </p:nvSpPr>
        <p:spPr>
          <a:xfrm>
            <a:off x="13582180" y="5728916"/>
            <a:ext cx="10796702"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solidFill>
                  <a:schemeClr val="accent2"/>
                </a:solidFill>
              </a:defRPr>
            </a:lvl1pPr>
          </a:lstStyle>
          <a:p>
            <a:pPr/>
            <a:r>
              <a:t>- numărul maxim de exemplare cu care se antrenează fiecare model</a:t>
            </a:r>
          </a:p>
        </p:txBody>
      </p:sp>
      <p:pic>
        <p:nvPicPr>
          <p:cNvPr id="740" name="Oval Oval" descr="Oval Oval"/>
          <p:cNvPicPr>
            <a:picLocks noChangeAspect="0"/>
          </p:cNvPicPr>
          <p:nvPr/>
        </p:nvPicPr>
        <p:blipFill>
          <a:blip r:embed="rId6">
            <a:extLst/>
          </a:blip>
          <a:stretch>
            <a:fillRect/>
          </a:stretch>
        </p:blipFill>
        <p:spPr>
          <a:xfrm>
            <a:off x="3808387" y="4916382"/>
            <a:ext cx="2478253" cy="685941"/>
          </a:xfrm>
          <a:prstGeom prst="rect">
            <a:avLst/>
          </a:prstGeom>
        </p:spPr>
      </p:pic>
      <p:sp>
        <p:nvSpPr>
          <p:cNvPr id="742" name="bootstrap"/>
          <p:cNvSpPr txBox="1"/>
          <p:nvPr/>
        </p:nvSpPr>
        <p:spPr>
          <a:xfrm>
            <a:off x="13026646" y="8014716"/>
            <a:ext cx="260096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bootstrap</a:t>
            </a:r>
          </a:p>
        </p:txBody>
      </p:sp>
    </p:spTree>
  </p:cSld>
  <p:clrMapOvr>
    <a:masterClrMapping/>
  </p:clrMapOvr>
  <mc:AlternateContent xmlns:mc="http://schemas.openxmlformats.org/markup-compatibility/2006">
    <mc:Choice xmlns:p14="http://schemas.microsoft.com/office/powerpoint/2010/main" Requires="p14">
      <p:transition spd="slow" advClick="1" p14:dur="1200">
        <p14:prism dir="r" isContent="1" isInverted="0"/>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745" name="Bagging și pasting"/>
          <p:cNvSpPr txBox="1"/>
          <p:nvPr/>
        </p:nvSpPr>
        <p:spPr>
          <a:xfrm>
            <a:off x="5613125" y="644678"/>
            <a:ext cx="7597750" cy="147675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7200"/>
            </a:lvl1pPr>
          </a:lstStyle>
          <a:p>
            <a:pPr/>
            <a:r>
              <a:t>Bagging și pasting</a:t>
            </a:r>
          </a:p>
        </p:txBody>
      </p:sp>
      <p:sp>
        <p:nvSpPr>
          <p:cNvPr id="746" name="(la regresie)"/>
          <p:cNvSpPr txBox="1"/>
          <p:nvPr/>
        </p:nvSpPr>
        <p:spPr>
          <a:xfrm>
            <a:off x="13225051" y="1054834"/>
            <a:ext cx="307426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(la regresie)</a:t>
            </a:r>
          </a:p>
        </p:txBody>
      </p:sp>
      <p:pic>
        <p:nvPicPr>
          <p:cNvPr id="747" name="Captură de ecran din 2024-10-21 la 11.00.35.png" descr="Captură de ecran din 2024-10-21 la 11.00.35.png"/>
          <p:cNvPicPr>
            <a:picLocks noChangeAspect="1"/>
          </p:cNvPicPr>
          <p:nvPr/>
        </p:nvPicPr>
        <p:blipFill>
          <a:blip r:embed="rId2">
            <a:extLst/>
          </a:blip>
          <a:stretch>
            <a:fillRect/>
          </a:stretch>
        </p:blipFill>
        <p:spPr>
          <a:xfrm>
            <a:off x="5382390" y="2554332"/>
            <a:ext cx="13619220" cy="10453493"/>
          </a:xfrm>
          <a:prstGeom prst="rect">
            <a:avLst/>
          </a:prstGeom>
          <a:ln w="12700">
            <a:miter lim="400000"/>
          </a:ln>
        </p:spPr>
      </p:pic>
      <p:pic>
        <p:nvPicPr>
          <p:cNvPr id="748" name="Linie Linie" descr="Linie Linie"/>
          <p:cNvPicPr>
            <a:picLocks noChangeAspect="0"/>
          </p:cNvPicPr>
          <p:nvPr/>
        </p:nvPicPr>
        <p:blipFill>
          <a:blip r:embed="rId3">
            <a:extLst/>
          </a:blip>
          <a:stretch>
            <a:fillRect/>
          </a:stretch>
        </p:blipFill>
        <p:spPr>
          <a:xfrm>
            <a:off x="10117363" y="3094025"/>
            <a:ext cx="2567266" cy="101601"/>
          </a:xfrm>
          <a:prstGeom prst="rect">
            <a:avLst/>
          </a:prstGeom>
        </p:spPr>
      </p:pic>
      <p:pic>
        <p:nvPicPr>
          <p:cNvPr id="750" name="Linie Linie" descr="Linie Linie"/>
          <p:cNvPicPr>
            <a:picLocks noChangeAspect="0"/>
          </p:cNvPicPr>
          <p:nvPr/>
        </p:nvPicPr>
        <p:blipFill>
          <a:blip r:embed="rId3">
            <a:extLst/>
          </a:blip>
          <a:stretch>
            <a:fillRect/>
          </a:stretch>
        </p:blipFill>
        <p:spPr>
          <a:xfrm>
            <a:off x="7486531" y="6534392"/>
            <a:ext cx="2567265"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746"/>
                                        </p:tgtEl>
                                        <p:attrNameLst>
                                          <p:attrName>style.visibility</p:attrName>
                                        </p:attrNameLst>
                                      </p:cBhvr>
                                      <p:to>
                                        <p:strVal val="visible"/>
                                      </p:to>
                                    </p:set>
                                    <p:anim calcmode="lin" valueType="num">
                                      <p:cBhvr>
                                        <p:cTn id="7" dur="4000" fill="hold"/>
                                        <p:tgtEl>
                                          <p:spTgt spid="746"/>
                                        </p:tgtEl>
                                        <p:attrNameLst>
                                          <p:attrName>ppt_x</p:attrName>
                                        </p:attrNameLst>
                                      </p:cBhvr>
                                      <p:tavLst>
                                        <p:tav tm="0">
                                          <p:val>
                                            <p:strVal val="0-#ppt_w/2"/>
                                          </p:val>
                                        </p:tav>
                                        <p:tav tm="100000">
                                          <p:val>
                                            <p:strVal val="#ppt_x"/>
                                          </p:val>
                                        </p:tav>
                                      </p:tavLst>
                                    </p:anim>
                                    <p:anim calcmode="lin" valueType="num">
                                      <p:cBhvr>
                                        <p:cTn id="8" dur="4000" fill="hold"/>
                                        <p:tgtEl>
                                          <p:spTgt spid="7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9" grpId="2" fill="hold">
                                  <p:stCondLst>
                                    <p:cond delay="0"/>
                                  </p:stCondLst>
                                  <p:iterate type="el" backwards="0">
                                    <p:tmAbs val="0"/>
                                  </p:iterate>
                                  <p:childTnLst>
                                    <p:set>
                                      <p:cBhvr>
                                        <p:cTn id="12" fill="hold"/>
                                        <p:tgtEl>
                                          <p:spTgt spid="748"/>
                                        </p:tgtEl>
                                        <p:attrNameLst>
                                          <p:attrName>style.visibility</p:attrName>
                                        </p:attrNameLst>
                                      </p:cBhvr>
                                      <p:to>
                                        <p:strVal val="visible"/>
                                      </p:to>
                                    </p:set>
                                    <p:animEffect filter="dissolve" transition="in">
                                      <p:cBhvr>
                                        <p:cTn id="13" dur="2000"/>
                                        <p:tgtEl>
                                          <p:spTgt spid="748"/>
                                        </p:tgtEl>
                                      </p:cBhvr>
                                    </p:animEffect>
                                  </p:childTnLst>
                                </p:cTn>
                              </p:par>
                            </p:childTnLst>
                          </p:cTn>
                        </p:par>
                        <p:par>
                          <p:cTn id="14" fill="hold">
                            <p:stCondLst>
                              <p:cond delay="2000"/>
                            </p:stCondLst>
                            <p:childTnLst>
                              <p:par>
                                <p:cTn id="15" presetClass="entr" nodeType="afterEffect" presetID="9" grpId="3" fill="hold">
                                  <p:stCondLst>
                                    <p:cond delay="0"/>
                                  </p:stCondLst>
                                  <p:iterate type="el" backwards="0">
                                    <p:tmAbs val="0"/>
                                  </p:iterate>
                                  <p:childTnLst>
                                    <p:set>
                                      <p:cBhvr>
                                        <p:cTn id="16" fill="hold"/>
                                        <p:tgtEl>
                                          <p:spTgt spid="750"/>
                                        </p:tgtEl>
                                        <p:attrNameLst>
                                          <p:attrName>style.visibility</p:attrName>
                                        </p:attrNameLst>
                                      </p:cBhvr>
                                      <p:to>
                                        <p:strVal val="visible"/>
                                      </p:to>
                                    </p:set>
                                    <p:animEffect filter="dissolve" transition="in">
                                      <p:cBhvr>
                                        <p:cTn id="17" dur="2000"/>
                                        <p:tgtEl>
                                          <p:spTgt spid="7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50" grpId="3"/>
      <p:bldP build="whole" bldLvl="1" animBg="1" rev="0" advAuto="0" spid="748" grpId="2"/>
      <p:bldP build="whole" bldLvl="1" animBg="1" rev="0" advAuto="0" spid="746" grpId="1"/>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754" name="Arbori de decizie"/>
          <p:cNvSpPr txBox="1"/>
          <p:nvPr/>
        </p:nvSpPr>
        <p:spPr>
          <a:xfrm>
            <a:off x="4078571" y="4006931"/>
            <a:ext cx="437291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Arbori de decizie</a:t>
            </a:r>
          </a:p>
        </p:txBody>
      </p:sp>
      <p:sp>
        <p:nvSpPr>
          <p:cNvPr id="755" name="Voting"/>
          <p:cNvSpPr txBox="1"/>
          <p:nvPr/>
        </p:nvSpPr>
        <p:spPr>
          <a:xfrm>
            <a:off x="10725146" y="4006931"/>
            <a:ext cx="180467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Voting</a:t>
            </a:r>
          </a:p>
        </p:txBody>
      </p:sp>
      <p:sp>
        <p:nvSpPr>
          <p:cNvPr id="756" name="Bagging / Pasting"/>
          <p:cNvSpPr txBox="1"/>
          <p:nvPr/>
        </p:nvSpPr>
        <p:spPr>
          <a:xfrm>
            <a:off x="15090060" y="4006931"/>
            <a:ext cx="451373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Bagging / Pasting</a:t>
            </a:r>
          </a:p>
        </p:txBody>
      </p:sp>
      <p:pic>
        <p:nvPicPr>
          <p:cNvPr id="757" name="Linie Linie" descr="Linie Linie"/>
          <p:cNvPicPr>
            <a:picLocks noChangeAspect="0"/>
          </p:cNvPicPr>
          <p:nvPr/>
        </p:nvPicPr>
        <p:blipFill>
          <a:blip r:embed="rId2">
            <a:extLst/>
          </a:blip>
          <a:stretch>
            <a:fillRect/>
          </a:stretch>
        </p:blipFill>
        <p:spPr>
          <a:xfrm>
            <a:off x="4066004" y="4879672"/>
            <a:ext cx="4731143" cy="101601"/>
          </a:xfrm>
          <a:prstGeom prst="rect">
            <a:avLst/>
          </a:prstGeom>
        </p:spPr>
      </p:pic>
      <p:pic>
        <p:nvPicPr>
          <p:cNvPr id="759" name="Linie Linie" descr="Linie Linie"/>
          <p:cNvPicPr>
            <a:picLocks noChangeAspect="0"/>
          </p:cNvPicPr>
          <p:nvPr/>
        </p:nvPicPr>
        <p:blipFill>
          <a:blip r:embed="rId3">
            <a:extLst/>
          </a:blip>
          <a:stretch>
            <a:fillRect/>
          </a:stretch>
        </p:blipFill>
        <p:spPr>
          <a:xfrm>
            <a:off x="10539559" y="4879672"/>
            <a:ext cx="2175844" cy="101601"/>
          </a:xfrm>
          <a:prstGeom prst="rect">
            <a:avLst/>
          </a:prstGeom>
        </p:spPr>
      </p:pic>
      <p:pic>
        <p:nvPicPr>
          <p:cNvPr id="761" name="Linie Linie" descr="Linie Linie"/>
          <p:cNvPicPr>
            <a:picLocks noChangeAspect="0"/>
          </p:cNvPicPr>
          <p:nvPr/>
        </p:nvPicPr>
        <p:blipFill>
          <a:blip r:embed="rId2">
            <a:extLst/>
          </a:blip>
          <a:stretch>
            <a:fillRect/>
          </a:stretch>
        </p:blipFill>
        <p:spPr>
          <a:xfrm>
            <a:off x="14981355" y="4879672"/>
            <a:ext cx="4731143" cy="101601"/>
          </a:xfrm>
          <a:prstGeom prst="rect">
            <a:avLst/>
          </a:prstGeom>
        </p:spPr>
      </p:pic>
      <p:sp>
        <p:nvSpPr>
          <p:cNvPr id="763" name="+"/>
          <p:cNvSpPr txBox="1"/>
          <p:nvPr/>
        </p:nvSpPr>
        <p:spPr>
          <a:xfrm>
            <a:off x="11421690" y="6189388"/>
            <a:ext cx="41158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
        <p:nvSpPr>
          <p:cNvPr id="764" name="X"/>
          <p:cNvSpPr txBox="1"/>
          <p:nvPr/>
        </p:nvSpPr>
        <p:spPr>
          <a:xfrm>
            <a:off x="11366927" y="7895673"/>
            <a:ext cx="52110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X</a:t>
            </a:r>
          </a:p>
        </p:txBody>
      </p:sp>
      <p:sp>
        <p:nvSpPr>
          <p:cNvPr id="765" name="Random Forests"/>
          <p:cNvSpPr txBox="1"/>
          <p:nvPr/>
        </p:nvSpPr>
        <p:spPr>
          <a:xfrm>
            <a:off x="9790069" y="11030475"/>
            <a:ext cx="423656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Random Forests</a:t>
            </a:r>
          </a:p>
        </p:txBody>
      </p:sp>
      <p:sp>
        <p:nvSpPr>
          <p:cNvPr id="766" name="="/>
          <p:cNvSpPr txBox="1"/>
          <p:nvPr/>
        </p:nvSpPr>
        <p:spPr>
          <a:xfrm>
            <a:off x="11421690" y="9601958"/>
            <a:ext cx="41158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fast" advClick="1" p14:dur="300">
        <p159:morph option="byObject"/>
      </p:transition>
    </mc:Choice>
    <mc:Fallback>
      <p:transition spd="fast">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757"/>
                                        </p:tgtEl>
                                        <p:attrNameLst>
                                          <p:attrName>style.visibility</p:attrName>
                                        </p:attrNameLst>
                                      </p:cBhvr>
                                      <p:to>
                                        <p:strVal val="visible"/>
                                      </p:to>
                                    </p:set>
                                    <p:animEffect filter="dissolve" transition="in">
                                      <p:cBhvr>
                                        <p:cTn id="7" dur="2000"/>
                                        <p:tgtEl>
                                          <p:spTgt spid="757"/>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759"/>
                                        </p:tgtEl>
                                        <p:attrNameLst>
                                          <p:attrName>style.visibility</p:attrName>
                                        </p:attrNameLst>
                                      </p:cBhvr>
                                      <p:to>
                                        <p:strVal val="visible"/>
                                      </p:to>
                                    </p:set>
                                    <p:animEffect filter="dissolve" transition="in">
                                      <p:cBhvr>
                                        <p:cTn id="11" dur="2000"/>
                                        <p:tgtEl>
                                          <p:spTgt spid="759"/>
                                        </p:tgtEl>
                                      </p:cBhvr>
                                    </p:animEffect>
                                  </p:childTnLst>
                                </p:cTn>
                              </p:par>
                            </p:childTnLst>
                          </p:cTn>
                        </p:par>
                        <p:par>
                          <p:cTn id="12" fill="hold">
                            <p:stCondLst>
                              <p:cond delay="4000"/>
                            </p:stCondLst>
                            <p:childTnLst>
                              <p:par>
                                <p:cTn id="13" presetClass="entr" nodeType="afterEffect" presetID="9" grpId="3" fill="hold">
                                  <p:stCondLst>
                                    <p:cond delay="0"/>
                                  </p:stCondLst>
                                  <p:iterate type="el" backwards="0">
                                    <p:tmAbs val="0"/>
                                  </p:iterate>
                                  <p:childTnLst>
                                    <p:set>
                                      <p:cBhvr>
                                        <p:cTn id="14" fill="hold"/>
                                        <p:tgtEl>
                                          <p:spTgt spid="761"/>
                                        </p:tgtEl>
                                        <p:attrNameLst>
                                          <p:attrName>style.visibility</p:attrName>
                                        </p:attrNameLst>
                                      </p:cBhvr>
                                      <p:to>
                                        <p:strVal val="visible"/>
                                      </p:to>
                                    </p:set>
                                    <p:animEffect filter="dissolve" transition="in">
                                      <p:cBhvr>
                                        <p:cTn id="15" dur="2000"/>
                                        <p:tgtEl>
                                          <p:spTgt spid="761"/>
                                        </p:tgtEl>
                                      </p:cBhvr>
                                    </p:animEffect>
                                  </p:childTnLst>
                                </p:cTn>
                              </p:par>
                            </p:childTnLst>
                          </p:cTn>
                        </p:par>
                        <p:par>
                          <p:cTn id="16" fill="hold">
                            <p:stCondLst>
                              <p:cond delay="6000"/>
                            </p:stCondLst>
                            <p:childTnLst>
                              <p:par>
                                <p:cTn id="17" presetClass="entr" nodeType="afterEffect" presetSubtype="8" presetID="2" grpId="4" fill="hold">
                                  <p:stCondLst>
                                    <p:cond delay="0"/>
                                  </p:stCondLst>
                                  <p:iterate type="el" backwards="0">
                                    <p:tmAbs val="0"/>
                                  </p:iterate>
                                  <p:childTnLst>
                                    <p:set>
                                      <p:cBhvr>
                                        <p:cTn id="18" fill="hold"/>
                                        <p:tgtEl>
                                          <p:spTgt spid="763"/>
                                        </p:tgtEl>
                                        <p:attrNameLst>
                                          <p:attrName>style.visibility</p:attrName>
                                        </p:attrNameLst>
                                      </p:cBhvr>
                                      <p:to>
                                        <p:strVal val="visible"/>
                                      </p:to>
                                    </p:set>
                                    <p:anim calcmode="lin" valueType="num">
                                      <p:cBhvr>
                                        <p:cTn id="19" dur="1000" fill="hold"/>
                                        <p:tgtEl>
                                          <p:spTgt spid="763"/>
                                        </p:tgtEl>
                                        <p:attrNameLst>
                                          <p:attrName>ppt_x</p:attrName>
                                        </p:attrNameLst>
                                      </p:cBhvr>
                                      <p:tavLst>
                                        <p:tav tm="0">
                                          <p:val>
                                            <p:strVal val="0-#ppt_w/2"/>
                                          </p:val>
                                        </p:tav>
                                        <p:tav tm="100000">
                                          <p:val>
                                            <p:strVal val="#ppt_x"/>
                                          </p:val>
                                        </p:tav>
                                      </p:tavLst>
                                    </p:anim>
                                    <p:anim calcmode="lin" valueType="num">
                                      <p:cBhvr>
                                        <p:cTn id="20" dur="1000" fill="hold"/>
                                        <p:tgtEl>
                                          <p:spTgt spid="763"/>
                                        </p:tgtEl>
                                        <p:attrNameLst>
                                          <p:attrName>ppt_y</p:attrName>
                                        </p:attrNameLst>
                                      </p:cBhvr>
                                      <p:tavLst>
                                        <p:tav tm="0">
                                          <p:val>
                                            <p:strVal val="#ppt_y"/>
                                          </p:val>
                                        </p:tav>
                                        <p:tav tm="100000">
                                          <p:val>
                                            <p:strVal val="#ppt_y"/>
                                          </p:val>
                                        </p:tav>
                                      </p:tavLst>
                                    </p:anim>
                                  </p:childTnLst>
                                </p:cTn>
                              </p:par>
                            </p:childTnLst>
                          </p:cTn>
                        </p:par>
                        <p:par>
                          <p:cTn id="21" fill="hold">
                            <p:stCondLst>
                              <p:cond delay="7000"/>
                            </p:stCondLst>
                            <p:childTnLst>
                              <p:par>
                                <p:cTn id="22" presetClass="entr" nodeType="afterEffect" presetSubtype="8" presetID="2" grpId="5" fill="hold">
                                  <p:stCondLst>
                                    <p:cond delay="0"/>
                                  </p:stCondLst>
                                  <p:iterate type="el" backwards="0">
                                    <p:tmAbs val="0"/>
                                  </p:iterate>
                                  <p:childTnLst>
                                    <p:set>
                                      <p:cBhvr>
                                        <p:cTn id="23" fill="hold"/>
                                        <p:tgtEl>
                                          <p:spTgt spid="764"/>
                                        </p:tgtEl>
                                        <p:attrNameLst>
                                          <p:attrName>style.visibility</p:attrName>
                                        </p:attrNameLst>
                                      </p:cBhvr>
                                      <p:to>
                                        <p:strVal val="visible"/>
                                      </p:to>
                                    </p:set>
                                    <p:anim calcmode="lin" valueType="num">
                                      <p:cBhvr>
                                        <p:cTn id="24" dur="1000" fill="hold"/>
                                        <p:tgtEl>
                                          <p:spTgt spid="764"/>
                                        </p:tgtEl>
                                        <p:attrNameLst>
                                          <p:attrName>ppt_x</p:attrName>
                                        </p:attrNameLst>
                                      </p:cBhvr>
                                      <p:tavLst>
                                        <p:tav tm="0">
                                          <p:val>
                                            <p:strVal val="0-#ppt_w/2"/>
                                          </p:val>
                                        </p:tav>
                                        <p:tav tm="100000">
                                          <p:val>
                                            <p:strVal val="#ppt_x"/>
                                          </p:val>
                                        </p:tav>
                                      </p:tavLst>
                                    </p:anim>
                                    <p:anim calcmode="lin" valueType="num">
                                      <p:cBhvr>
                                        <p:cTn id="25" dur="1000" fill="hold"/>
                                        <p:tgtEl>
                                          <p:spTgt spid="764"/>
                                        </p:tgtEl>
                                        <p:attrNameLst>
                                          <p:attrName>ppt_y</p:attrName>
                                        </p:attrNameLst>
                                      </p:cBhvr>
                                      <p:tavLst>
                                        <p:tav tm="0">
                                          <p:val>
                                            <p:strVal val="#ppt_y"/>
                                          </p:val>
                                        </p:tav>
                                        <p:tav tm="100000">
                                          <p:val>
                                            <p:strVal val="#ppt_y"/>
                                          </p:val>
                                        </p:tav>
                                      </p:tavLst>
                                    </p:anim>
                                  </p:childTnLst>
                                </p:cTn>
                              </p:par>
                            </p:childTnLst>
                          </p:cTn>
                        </p:par>
                        <p:par>
                          <p:cTn id="26" fill="hold">
                            <p:stCondLst>
                              <p:cond delay="8000"/>
                            </p:stCondLst>
                            <p:childTnLst>
                              <p:par>
                                <p:cTn id="27" presetClass="entr" nodeType="afterEffect" presetSubtype="8" presetID="2" grpId="6" fill="hold">
                                  <p:stCondLst>
                                    <p:cond delay="0"/>
                                  </p:stCondLst>
                                  <p:iterate type="el" backwards="0">
                                    <p:tmAbs val="0"/>
                                  </p:iterate>
                                  <p:childTnLst>
                                    <p:set>
                                      <p:cBhvr>
                                        <p:cTn id="28" fill="hold"/>
                                        <p:tgtEl>
                                          <p:spTgt spid="766"/>
                                        </p:tgtEl>
                                        <p:attrNameLst>
                                          <p:attrName>style.visibility</p:attrName>
                                        </p:attrNameLst>
                                      </p:cBhvr>
                                      <p:to>
                                        <p:strVal val="visible"/>
                                      </p:to>
                                    </p:set>
                                    <p:anim calcmode="lin" valueType="num">
                                      <p:cBhvr>
                                        <p:cTn id="29" dur="1000" fill="hold"/>
                                        <p:tgtEl>
                                          <p:spTgt spid="766"/>
                                        </p:tgtEl>
                                        <p:attrNameLst>
                                          <p:attrName>ppt_x</p:attrName>
                                        </p:attrNameLst>
                                      </p:cBhvr>
                                      <p:tavLst>
                                        <p:tav tm="0">
                                          <p:val>
                                            <p:strVal val="0-#ppt_w/2"/>
                                          </p:val>
                                        </p:tav>
                                        <p:tav tm="100000">
                                          <p:val>
                                            <p:strVal val="#ppt_x"/>
                                          </p:val>
                                        </p:tav>
                                      </p:tavLst>
                                    </p:anim>
                                    <p:anim calcmode="lin" valueType="num">
                                      <p:cBhvr>
                                        <p:cTn id="30" dur="1000" fill="hold"/>
                                        <p:tgtEl>
                                          <p:spTgt spid="766"/>
                                        </p:tgtEl>
                                        <p:attrNameLst>
                                          <p:attrName>ppt_y</p:attrName>
                                        </p:attrNameLst>
                                      </p:cBhvr>
                                      <p:tavLst>
                                        <p:tav tm="0">
                                          <p:val>
                                            <p:strVal val="#ppt_y"/>
                                          </p:val>
                                        </p:tav>
                                        <p:tav tm="100000">
                                          <p:val>
                                            <p:strVal val="#ppt_y"/>
                                          </p:val>
                                        </p:tav>
                                      </p:tavLst>
                                    </p:anim>
                                  </p:childTnLst>
                                </p:cTn>
                              </p:par>
                            </p:childTnLst>
                          </p:cTn>
                        </p:par>
                        <p:par>
                          <p:cTn id="31" fill="hold">
                            <p:stCondLst>
                              <p:cond delay="9000"/>
                            </p:stCondLst>
                            <p:childTnLst>
                              <p:par>
                                <p:cTn id="32" presetClass="entr" nodeType="afterEffect" presetSubtype="0" presetID="1" grpId="7" fill="hold">
                                  <p:stCondLst>
                                    <p:cond delay="0"/>
                                  </p:stCondLst>
                                  <p:iterate type="lt" backwards="0">
                                    <p:tmAbs val="100"/>
                                  </p:iterate>
                                  <p:childTnLst>
                                    <p:set>
                                      <p:cBhvr>
                                        <p:cTn id="33" fill="hold"/>
                                        <p:tgtEl>
                                          <p:spTgt spid="765"/>
                                        </p:tgtEl>
                                        <p:attrNameLst>
                                          <p:attrName>style.visibility</p:attrName>
                                        </p:attrNameLst>
                                      </p:cBhvr>
                                      <p:to>
                                        <p:strVal val="visible"/>
                                      </p:to>
                                    </p:set>
                                  </p:childTnLst>
                                </p:cTn>
                              </p:par>
                            </p:childTnLst>
                          </p:cTn>
                        </p:par>
                        <p:par>
                          <p:cTn id="34" fill="hold">
                            <p:stCondLst>
                              <p:cond delay="0"/>
                            </p:stCondLst>
                            <p:childTnLst>
                              <p:par>
                                <p:cTn id="35" presetClass="emph" nodeType="afterEffect" presetSubtype="0" presetID="6" grpId="8" accel="50000" decel="50000" fill="hold">
                                  <p:stCondLst>
                                    <p:cond delay="0"/>
                                  </p:stCondLst>
                                  <p:childTnLst>
                                    <p:animScale>
                                      <p:cBhvr>
                                        <p:cTn id="36" dur="1000" fill="hold"/>
                                        <p:tgtEl>
                                          <p:spTgt spid="765"/>
                                        </p:tgtEl>
                                      </p:cBhvr>
                                      <p:by x="205851" y="205851"/>
                                    </p:animScale>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59" grpId="2"/>
      <p:bldP build="whole" bldLvl="1" animBg="1" rev="0" advAuto="0" spid="765" grpId="7"/>
      <p:bldP build="whole" bldLvl="1" animBg="1" rev="0" advAuto="0" spid="764" grpId="5"/>
      <p:bldP build="whole" bldLvl="1" animBg="1" rev="0" advAuto="0" spid="765" grpId="8"/>
      <p:bldP build="whole" bldLvl="1" animBg="1" rev="0" advAuto="0" spid="763" grpId="4"/>
      <p:bldP build="whole" bldLvl="1" animBg="1" rev="0" advAuto="0" spid="761" grpId="3"/>
      <p:bldP build="whole" bldLvl="1" animBg="1" rev="0" advAuto="0" spid="766" grpId="6"/>
      <p:bldP build="whole" bldLvl="1" animBg="1" rev="0" advAuto="0" spid="757" grpId="1"/>
    </p:bldLst>
  </p:timing>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6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769" name="Random Forests"/>
          <p:cNvSpPr txBox="1"/>
          <p:nvPr/>
        </p:nvSpPr>
        <p:spPr>
          <a:xfrm>
            <a:off x="10073716" y="753086"/>
            <a:ext cx="423656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Random Forests</a:t>
            </a:r>
          </a:p>
        </p:txBody>
      </p:sp>
      <p:sp>
        <p:nvSpPr>
          <p:cNvPr id="770" name="În general, sunt două tipuri mari și late:"/>
          <p:cNvSpPr txBox="1"/>
          <p:nvPr>
            <p:ph type="body" sz="quarter" idx="1"/>
          </p:nvPr>
        </p:nvSpPr>
        <p:spPr>
          <a:xfrm>
            <a:off x="992983" y="3037162"/>
            <a:ext cx="21948579" cy="2006602"/>
          </a:xfrm>
          <a:prstGeom prst="rect">
            <a:avLst/>
          </a:prstGeom>
        </p:spPr>
        <p:txBody>
          <a:bodyPr/>
          <a:lstStyle>
            <a:lvl1pPr marL="436880" indent="-436880" defTabSz="1950670">
              <a:spcBef>
                <a:spcPts val="1900"/>
              </a:spcBef>
              <a:defRPr sz="3520"/>
            </a:lvl1pPr>
          </a:lstStyle>
          <a:p>
            <a:pPr/>
            <a:r>
              <a:t>În Random Forests, creăm o mulțime de arbori de decizie, similar cu ceea ce am discutat la bagging și pasting. Fiecare arbore este antrenat pe un subset aleatoriu diferit de date (exact cum am făcut cu bagging sau pasting).</a:t>
            </a:r>
          </a:p>
        </p:txBody>
      </p:sp>
      <p:sp>
        <p:nvSpPr>
          <p:cNvPr id="771" name="În general, sunt două tipuri mari și late:"/>
          <p:cNvSpPr txBox="1"/>
          <p:nvPr/>
        </p:nvSpPr>
        <p:spPr>
          <a:xfrm>
            <a:off x="992983" y="5108533"/>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436880" indent="-436880" defTabSz="1950670">
              <a:spcBef>
                <a:spcPts val="1900"/>
              </a:spcBef>
              <a:buSzPct val="150000"/>
              <a:buChar char="•"/>
              <a:defRPr sz="3520">
                <a:latin typeface="Canela Text Regular"/>
                <a:ea typeface="Canela Text Regular"/>
                <a:cs typeface="Canela Text Regular"/>
                <a:sym typeface="Canela Text Regular"/>
              </a:defRPr>
            </a:lvl1pPr>
          </a:lstStyle>
          <a:p>
            <a:pPr/>
            <a:r>
              <a:t>Când fiecare arbore este construit, în loc să se uite la toate caracteristicile la fiecare punct de decizie, alegem aleatoriu doar câteva caracteristici pentru fiecare împărțire. Acest lucru face arborii și mai diverși, deoarece nu se împart pe aceleași caracteristici.</a:t>
            </a:r>
          </a:p>
        </p:txBody>
      </p:sp>
      <p:sp>
        <p:nvSpPr>
          <p:cNvPr id="772" name="În general, sunt două tipuri mari și late:"/>
          <p:cNvSpPr txBox="1"/>
          <p:nvPr/>
        </p:nvSpPr>
        <p:spPr>
          <a:xfrm>
            <a:off x="992983" y="7318788"/>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436880" indent="-436880" defTabSz="1950670">
              <a:spcBef>
                <a:spcPts val="1900"/>
              </a:spcBef>
              <a:buSzPct val="150000"/>
              <a:buChar char="•"/>
              <a:defRPr sz="3520">
                <a:latin typeface="Canela Text Regular"/>
                <a:ea typeface="Canela Text Regular"/>
                <a:cs typeface="Canela Text Regular"/>
                <a:sym typeface="Canela Text Regular"/>
              </a:defRPr>
            </a:lvl1pPr>
          </a:lstStyle>
          <a:p>
            <a:pPr/>
            <a:r>
              <a:t>Odată ce toți arborii sunt construiți, combinăm rezultatele lor. Dacă facem clasificare, cerem fiecărui arbore „votul” său pentru eticheta de clasă, iar clasa cu cele mai multe voturi câștigă (exact ca la votare). Pentru regresie, facem media predicțiilor din toți arborii.</a:t>
            </a:r>
          </a:p>
        </p:txBody>
      </p:sp>
      <p:sp>
        <p:nvSpPr>
          <p:cNvPr id="773" name="În general, sunt două tipuri mari și late:"/>
          <p:cNvSpPr txBox="1"/>
          <p:nvPr/>
        </p:nvSpPr>
        <p:spPr>
          <a:xfrm>
            <a:off x="992983" y="9707607"/>
            <a:ext cx="21948579" cy="20066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436880" indent="-436880" defTabSz="1950670">
              <a:spcBef>
                <a:spcPts val="1900"/>
              </a:spcBef>
              <a:buSzPct val="150000"/>
              <a:buChar char="•"/>
              <a:defRPr sz="3520">
                <a:latin typeface="Canela Text Regular"/>
                <a:ea typeface="Canela Text Regular"/>
                <a:cs typeface="Canela Text Regular"/>
                <a:sym typeface="Canela Text Regular"/>
              </a:defRPr>
            </a:lvl1pPr>
          </a:lstStyle>
          <a:p>
            <a:pPr/>
            <a:r>
              <a:t>Random Forests sunt grozave pentru că aleatoritatea în date (bagging/pasting) și aleatoritatea în caracteristici ajută modelul să evite overfitting-ul. Iar combinând rezultatele tuturor arborilor, obținem o predicție mai stabilă și mai precisă.</a:t>
            </a:r>
          </a:p>
        </p:txBody>
      </p:sp>
      <p:pic>
        <p:nvPicPr>
          <p:cNvPr id="774" name="Linie Linie" descr="Linie Linie"/>
          <p:cNvPicPr>
            <a:picLocks noChangeAspect="0"/>
          </p:cNvPicPr>
          <p:nvPr/>
        </p:nvPicPr>
        <p:blipFill>
          <a:blip r:embed="rId2">
            <a:extLst/>
          </a:blip>
          <a:stretch>
            <a:fillRect/>
          </a:stretch>
        </p:blipFill>
        <p:spPr>
          <a:xfrm>
            <a:off x="6764315" y="3689241"/>
            <a:ext cx="6387750" cy="101601"/>
          </a:xfrm>
          <a:prstGeom prst="rect">
            <a:avLst/>
          </a:prstGeom>
        </p:spPr>
      </p:pic>
      <p:pic>
        <p:nvPicPr>
          <p:cNvPr id="776" name="Linie Linie" descr="Linie Linie"/>
          <p:cNvPicPr>
            <a:picLocks noChangeAspect="0"/>
          </p:cNvPicPr>
          <p:nvPr/>
        </p:nvPicPr>
        <p:blipFill>
          <a:blip r:embed="rId3">
            <a:extLst/>
          </a:blip>
          <a:stretch>
            <a:fillRect/>
          </a:stretch>
        </p:blipFill>
        <p:spPr>
          <a:xfrm>
            <a:off x="1585939" y="6355527"/>
            <a:ext cx="8272617" cy="101601"/>
          </a:xfrm>
          <a:prstGeom prst="rect">
            <a:avLst/>
          </a:prstGeom>
        </p:spPr>
      </p:pic>
      <p:sp>
        <p:nvSpPr>
          <p:cNvPr id="778" name="X"/>
          <p:cNvSpPr txBox="1"/>
          <p:nvPr/>
        </p:nvSpPr>
        <p:spPr>
          <a:xfrm>
            <a:off x="785045" y="5644727"/>
            <a:ext cx="52110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5"/>
                </a:solidFill>
              </a:defRPr>
            </a:lvl1pPr>
          </a:lstStyle>
          <a:p>
            <a:pPr/>
            <a:r>
              <a:t>X</a:t>
            </a:r>
          </a:p>
        </p:txBody>
      </p:sp>
      <p:pic>
        <p:nvPicPr>
          <p:cNvPr id="779" name="Linie Linie" descr="Linie Linie"/>
          <p:cNvPicPr>
            <a:picLocks noChangeAspect="0"/>
          </p:cNvPicPr>
          <p:nvPr/>
        </p:nvPicPr>
        <p:blipFill>
          <a:blip r:embed="rId4">
            <a:extLst/>
          </a:blip>
          <a:stretch>
            <a:fillRect/>
          </a:stretch>
        </p:blipFill>
        <p:spPr>
          <a:xfrm>
            <a:off x="4193004" y="9203159"/>
            <a:ext cx="5515414" cy="101601"/>
          </a:xfrm>
          <a:prstGeom prst="rect">
            <a:avLst/>
          </a:prstGeom>
        </p:spPr>
      </p:pic>
      <p:pic>
        <p:nvPicPr>
          <p:cNvPr id="781" name="Linie Linie" descr="Linie Linie"/>
          <p:cNvPicPr>
            <a:picLocks noChangeAspect="0"/>
          </p:cNvPicPr>
          <p:nvPr/>
        </p:nvPicPr>
        <p:blipFill>
          <a:blip r:embed="rId5">
            <a:extLst/>
          </a:blip>
          <a:stretch>
            <a:fillRect/>
          </a:stretch>
        </p:blipFill>
        <p:spPr>
          <a:xfrm>
            <a:off x="10827695" y="8698710"/>
            <a:ext cx="7994160" cy="101601"/>
          </a:xfrm>
          <a:prstGeom prst="rect">
            <a:avLst/>
          </a:prstGeom>
        </p:spPr>
      </p:pic>
      <p:pic>
        <p:nvPicPr>
          <p:cNvPr id="783" name="Linie Linie" descr="Linie Linie"/>
          <p:cNvPicPr>
            <a:picLocks noChangeAspect="0"/>
          </p:cNvPicPr>
          <p:nvPr/>
        </p:nvPicPr>
        <p:blipFill>
          <a:blip r:embed="rId6">
            <a:extLst/>
          </a:blip>
          <a:stretch>
            <a:fillRect/>
          </a:stretch>
        </p:blipFill>
        <p:spPr>
          <a:xfrm>
            <a:off x="6819910" y="10957081"/>
            <a:ext cx="4799987" cy="101601"/>
          </a:xfrm>
          <a:prstGeom prst="rect">
            <a:avLst/>
          </a:prstGeom>
        </p:spPr>
      </p:pic>
      <p:pic>
        <p:nvPicPr>
          <p:cNvPr id="785" name="Linie Linie" descr="Linie Linie"/>
          <p:cNvPicPr>
            <a:picLocks noChangeAspect="0"/>
          </p:cNvPicPr>
          <p:nvPr/>
        </p:nvPicPr>
        <p:blipFill>
          <a:blip r:embed="rId7">
            <a:extLst/>
          </a:blip>
          <a:stretch>
            <a:fillRect/>
          </a:stretch>
        </p:blipFill>
        <p:spPr>
          <a:xfrm rot="21600000">
            <a:off x="7169083" y="4398887"/>
            <a:ext cx="9164415"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770"/>
                                        </p:tgtEl>
                                        <p:attrNameLst>
                                          <p:attrName>style.visibility</p:attrName>
                                        </p:attrNameLst>
                                      </p:cBhvr>
                                      <p:to>
                                        <p:strVal val="visible"/>
                                      </p:to>
                                    </p:set>
                                    <p:anim calcmode="lin" valueType="num">
                                      <p:cBhvr>
                                        <p:cTn id="7" dur="1000" fill="hold"/>
                                        <p:tgtEl>
                                          <p:spTgt spid="770"/>
                                        </p:tgtEl>
                                        <p:attrNameLst>
                                          <p:attrName>ppt_x</p:attrName>
                                        </p:attrNameLst>
                                      </p:cBhvr>
                                      <p:tavLst>
                                        <p:tav tm="0">
                                          <p:val>
                                            <p:strVal val="0-#ppt_w/2"/>
                                          </p:val>
                                        </p:tav>
                                        <p:tav tm="100000">
                                          <p:val>
                                            <p:strVal val="#ppt_x"/>
                                          </p:val>
                                        </p:tav>
                                      </p:tavLst>
                                    </p:anim>
                                    <p:anim calcmode="lin" valueType="num">
                                      <p:cBhvr>
                                        <p:cTn id="8" dur="1000" fill="hold"/>
                                        <p:tgtEl>
                                          <p:spTgt spid="770"/>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ID="9" grpId="2" fill="hold">
                                  <p:stCondLst>
                                    <p:cond delay="0"/>
                                  </p:stCondLst>
                                  <p:iterate type="el" backwards="0">
                                    <p:tmAbs val="0"/>
                                  </p:iterate>
                                  <p:childTnLst>
                                    <p:set>
                                      <p:cBhvr>
                                        <p:cTn id="11" fill="hold"/>
                                        <p:tgtEl>
                                          <p:spTgt spid="774"/>
                                        </p:tgtEl>
                                        <p:attrNameLst>
                                          <p:attrName>style.visibility</p:attrName>
                                        </p:attrNameLst>
                                      </p:cBhvr>
                                      <p:to>
                                        <p:strVal val="visible"/>
                                      </p:to>
                                    </p:set>
                                    <p:animEffect filter="dissolve" transition="in">
                                      <p:cBhvr>
                                        <p:cTn id="12" dur="2000"/>
                                        <p:tgtEl>
                                          <p:spTgt spid="774"/>
                                        </p:tgtEl>
                                      </p:cBhvr>
                                    </p:animEffect>
                                  </p:childTnLst>
                                </p:cTn>
                              </p:par>
                            </p:childTnLst>
                          </p:cTn>
                        </p:par>
                        <p:par>
                          <p:cTn id="13" fill="hold">
                            <p:stCondLst>
                              <p:cond delay="3000"/>
                            </p:stCondLst>
                            <p:childTnLst>
                              <p:par>
                                <p:cTn id="14" presetClass="entr" nodeType="afterEffect" presetID="9" grpId="3" fill="hold">
                                  <p:stCondLst>
                                    <p:cond delay="0"/>
                                  </p:stCondLst>
                                  <p:iterate type="el" backwards="0">
                                    <p:tmAbs val="0"/>
                                  </p:iterate>
                                  <p:childTnLst>
                                    <p:set>
                                      <p:cBhvr>
                                        <p:cTn id="15" fill="hold"/>
                                        <p:tgtEl>
                                          <p:spTgt spid="785"/>
                                        </p:tgtEl>
                                        <p:attrNameLst>
                                          <p:attrName>style.visibility</p:attrName>
                                        </p:attrNameLst>
                                      </p:cBhvr>
                                      <p:to>
                                        <p:strVal val="visible"/>
                                      </p:to>
                                    </p:set>
                                    <p:animEffect filter="dissolve" transition="in">
                                      <p:cBhvr>
                                        <p:cTn id="16" dur="2000"/>
                                        <p:tgtEl>
                                          <p:spTgt spid="785"/>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 grpId="4" fill="hold">
                                  <p:stCondLst>
                                    <p:cond delay="0"/>
                                  </p:stCondLst>
                                  <p:iterate type="el" backwards="0">
                                    <p:tmAbs val="0"/>
                                  </p:iterate>
                                  <p:childTnLst>
                                    <p:set>
                                      <p:cBhvr>
                                        <p:cTn id="20" fill="hold"/>
                                        <p:tgtEl>
                                          <p:spTgt spid="771"/>
                                        </p:tgtEl>
                                        <p:attrNameLst>
                                          <p:attrName>style.visibility</p:attrName>
                                        </p:attrNameLst>
                                      </p:cBhvr>
                                      <p:to>
                                        <p:strVal val="visible"/>
                                      </p:to>
                                    </p:set>
                                    <p:anim calcmode="lin" valueType="num">
                                      <p:cBhvr>
                                        <p:cTn id="21" dur="1000" fill="hold"/>
                                        <p:tgtEl>
                                          <p:spTgt spid="771"/>
                                        </p:tgtEl>
                                        <p:attrNameLst>
                                          <p:attrName>ppt_x</p:attrName>
                                        </p:attrNameLst>
                                      </p:cBhvr>
                                      <p:tavLst>
                                        <p:tav tm="0">
                                          <p:val>
                                            <p:strVal val="0-#ppt_w/2"/>
                                          </p:val>
                                        </p:tav>
                                        <p:tav tm="100000">
                                          <p:val>
                                            <p:strVal val="#ppt_x"/>
                                          </p:val>
                                        </p:tav>
                                      </p:tavLst>
                                    </p:anim>
                                    <p:anim calcmode="lin" valueType="num">
                                      <p:cBhvr>
                                        <p:cTn id="22" dur="1000" fill="hold"/>
                                        <p:tgtEl>
                                          <p:spTgt spid="771"/>
                                        </p:tgtEl>
                                        <p:attrNameLst>
                                          <p:attrName>ppt_y</p:attrName>
                                        </p:attrNameLst>
                                      </p:cBhvr>
                                      <p:tavLst>
                                        <p:tav tm="0">
                                          <p:val>
                                            <p:strVal val="#ppt_y"/>
                                          </p:val>
                                        </p:tav>
                                        <p:tav tm="100000">
                                          <p:val>
                                            <p:strVal val="#ppt_y"/>
                                          </p:val>
                                        </p:tav>
                                      </p:tavLst>
                                    </p:anim>
                                  </p:childTnLst>
                                </p:cTn>
                              </p:par>
                            </p:childTnLst>
                          </p:cTn>
                        </p:par>
                        <p:par>
                          <p:cTn id="23" fill="hold">
                            <p:stCondLst>
                              <p:cond delay="1000"/>
                            </p:stCondLst>
                            <p:childTnLst>
                              <p:par>
                                <p:cTn id="24" presetClass="entr" nodeType="afterEffect" presetID="9" grpId="5" fill="hold">
                                  <p:stCondLst>
                                    <p:cond delay="0"/>
                                  </p:stCondLst>
                                  <p:iterate type="el" backwards="0">
                                    <p:tmAbs val="0"/>
                                  </p:iterate>
                                  <p:childTnLst>
                                    <p:set>
                                      <p:cBhvr>
                                        <p:cTn id="25" fill="hold"/>
                                        <p:tgtEl>
                                          <p:spTgt spid="776"/>
                                        </p:tgtEl>
                                        <p:attrNameLst>
                                          <p:attrName>style.visibility</p:attrName>
                                        </p:attrNameLst>
                                      </p:cBhvr>
                                      <p:to>
                                        <p:strVal val="visible"/>
                                      </p:to>
                                    </p:set>
                                    <p:animEffect filter="dissolve" transition="in">
                                      <p:cBhvr>
                                        <p:cTn id="26" dur="2000"/>
                                        <p:tgtEl>
                                          <p:spTgt spid="776"/>
                                        </p:tgtEl>
                                      </p:cBhvr>
                                    </p:animEffect>
                                  </p:childTnLst>
                                </p:cTn>
                              </p:par>
                            </p:childTnLst>
                          </p:cTn>
                        </p:par>
                        <p:par>
                          <p:cTn id="27" fill="hold">
                            <p:stCondLst>
                              <p:cond delay="3000"/>
                            </p:stCondLst>
                            <p:childTnLst>
                              <p:par>
                                <p:cTn id="28" presetClass="entr" nodeType="afterEffect" presetSubtype="8" presetID="2" grpId="6" fill="hold">
                                  <p:stCondLst>
                                    <p:cond delay="0"/>
                                  </p:stCondLst>
                                  <p:iterate type="el" backwards="0">
                                    <p:tmAbs val="0"/>
                                  </p:iterate>
                                  <p:childTnLst>
                                    <p:set>
                                      <p:cBhvr>
                                        <p:cTn id="29" fill="hold"/>
                                        <p:tgtEl>
                                          <p:spTgt spid="778"/>
                                        </p:tgtEl>
                                        <p:attrNameLst>
                                          <p:attrName>style.visibility</p:attrName>
                                        </p:attrNameLst>
                                      </p:cBhvr>
                                      <p:to>
                                        <p:strVal val="visible"/>
                                      </p:to>
                                    </p:set>
                                    <p:anim calcmode="lin" valueType="num">
                                      <p:cBhvr>
                                        <p:cTn id="30" dur="1000" fill="hold"/>
                                        <p:tgtEl>
                                          <p:spTgt spid="778"/>
                                        </p:tgtEl>
                                        <p:attrNameLst>
                                          <p:attrName>ppt_x</p:attrName>
                                        </p:attrNameLst>
                                      </p:cBhvr>
                                      <p:tavLst>
                                        <p:tav tm="0">
                                          <p:val>
                                            <p:strVal val="0-#ppt_w/2"/>
                                          </p:val>
                                        </p:tav>
                                        <p:tav tm="100000">
                                          <p:val>
                                            <p:strVal val="#ppt_x"/>
                                          </p:val>
                                        </p:tav>
                                      </p:tavLst>
                                    </p:anim>
                                    <p:anim calcmode="lin" valueType="num">
                                      <p:cBhvr>
                                        <p:cTn id="31" dur="1000" fill="hold"/>
                                        <p:tgtEl>
                                          <p:spTgt spid="778"/>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 grpId="7" fill="hold">
                                  <p:stCondLst>
                                    <p:cond delay="0"/>
                                  </p:stCondLst>
                                  <p:iterate type="el" backwards="0">
                                    <p:tmAbs val="0"/>
                                  </p:iterate>
                                  <p:childTnLst>
                                    <p:set>
                                      <p:cBhvr>
                                        <p:cTn id="35" fill="hold"/>
                                        <p:tgtEl>
                                          <p:spTgt spid="772"/>
                                        </p:tgtEl>
                                        <p:attrNameLst>
                                          <p:attrName>style.visibility</p:attrName>
                                        </p:attrNameLst>
                                      </p:cBhvr>
                                      <p:to>
                                        <p:strVal val="visible"/>
                                      </p:to>
                                    </p:set>
                                    <p:anim calcmode="lin" valueType="num">
                                      <p:cBhvr>
                                        <p:cTn id="36" dur="1000" fill="hold"/>
                                        <p:tgtEl>
                                          <p:spTgt spid="772"/>
                                        </p:tgtEl>
                                        <p:attrNameLst>
                                          <p:attrName>ppt_x</p:attrName>
                                        </p:attrNameLst>
                                      </p:cBhvr>
                                      <p:tavLst>
                                        <p:tav tm="0">
                                          <p:val>
                                            <p:strVal val="0-#ppt_w/2"/>
                                          </p:val>
                                        </p:tav>
                                        <p:tav tm="100000">
                                          <p:val>
                                            <p:strVal val="#ppt_x"/>
                                          </p:val>
                                        </p:tav>
                                      </p:tavLst>
                                    </p:anim>
                                    <p:anim calcmode="lin" valueType="num">
                                      <p:cBhvr>
                                        <p:cTn id="37" dur="1000" fill="hold"/>
                                        <p:tgtEl>
                                          <p:spTgt spid="772"/>
                                        </p:tgtEl>
                                        <p:attrNameLst>
                                          <p:attrName>ppt_y</p:attrName>
                                        </p:attrNameLst>
                                      </p:cBhvr>
                                      <p:tavLst>
                                        <p:tav tm="0">
                                          <p:val>
                                            <p:strVal val="#ppt_y"/>
                                          </p:val>
                                        </p:tav>
                                        <p:tav tm="100000">
                                          <p:val>
                                            <p:strVal val="#ppt_y"/>
                                          </p:val>
                                        </p:tav>
                                      </p:tavLst>
                                    </p:anim>
                                  </p:childTnLst>
                                </p:cTn>
                              </p:par>
                            </p:childTnLst>
                          </p:cTn>
                        </p:par>
                        <p:par>
                          <p:cTn id="38" fill="hold">
                            <p:stCondLst>
                              <p:cond delay="1000"/>
                            </p:stCondLst>
                            <p:childTnLst>
                              <p:par>
                                <p:cTn id="39" presetClass="entr" nodeType="afterEffect" presetID="9" grpId="8" fill="hold">
                                  <p:stCondLst>
                                    <p:cond delay="0"/>
                                  </p:stCondLst>
                                  <p:iterate type="el" backwards="0">
                                    <p:tmAbs val="0"/>
                                  </p:iterate>
                                  <p:childTnLst>
                                    <p:set>
                                      <p:cBhvr>
                                        <p:cTn id="40" fill="hold"/>
                                        <p:tgtEl>
                                          <p:spTgt spid="781"/>
                                        </p:tgtEl>
                                        <p:attrNameLst>
                                          <p:attrName>style.visibility</p:attrName>
                                        </p:attrNameLst>
                                      </p:cBhvr>
                                      <p:to>
                                        <p:strVal val="visible"/>
                                      </p:to>
                                    </p:set>
                                    <p:animEffect filter="dissolve" transition="in">
                                      <p:cBhvr>
                                        <p:cTn id="41" dur="2000"/>
                                        <p:tgtEl>
                                          <p:spTgt spid="781"/>
                                        </p:tgtEl>
                                      </p:cBhvr>
                                    </p:animEffect>
                                  </p:childTnLst>
                                </p:cTn>
                              </p:par>
                            </p:childTnLst>
                          </p:cTn>
                        </p:par>
                        <p:par>
                          <p:cTn id="42" fill="hold">
                            <p:stCondLst>
                              <p:cond delay="3000"/>
                            </p:stCondLst>
                            <p:childTnLst>
                              <p:par>
                                <p:cTn id="43" presetClass="entr" nodeType="afterEffect" presetID="9" grpId="9" fill="hold">
                                  <p:stCondLst>
                                    <p:cond delay="0"/>
                                  </p:stCondLst>
                                  <p:iterate type="el" backwards="0">
                                    <p:tmAbs val="0"/>
                                  </p:iterate>
                                  <p:childTnLst>
                                    <p:set>
                                      <p:cBhvr>
                                        <p:cTn id="44" fill="hold"/>
                                        <p:tgtEl>
                                          <p:spTgt spid="779"/>
                                        </p:tgtEl>
                                        <p:attrNameLst>
                                          <p:attrName>style.visibility</p:attrName>
                                        </p:attrNameLst>
                                      </p:cBhvr>
                                      <p:to>
                                        <p:strVal val="visible"/>
                                      </p:to>
                                    </p:set>
                                    <p:animEffect filter="dissolve" transition="in">
                                      <p:cBhvr>
                                        <p:cTn id="45" dur="2000"/>
                                        <p:tgtEl>
                                          <p:spTgt spid="779"/>
                                        </p:tgtEl>
                                      </p:cBhvr>
                                    </p:animEffect>
                                  </p:childTnLst>
                                </p:cTn>
                              </p:par>
                            </p:childTnLst>
                          </p:cTn>
                        </p:par>
                      </p:childTnLst>
                    </p:cTn>
                  </p:par>
                  <p:par>
                    <p:cTn id="46" fill="hold">
                      <p:stCondLst>
                        <p:cond delay="indefinite"/>
                      </p:stCondLst>
                      <p:childTnLst>
                        <p:par>
                          <p:cTn id="47" fill="hold">
                            <p:stCondLst>
                              <p:cond delay="0"/>
                            </p:stCondLst>
                            <p:childTnLst>
                              <p:par>
                                <p:cTn id="48" presetClass="entr" nodeType="clickEffect" presetSubtype="8" presetID="2" grpId="10" fill="hold">
                                  <p:stCondLst>
                                    <p:cond delay="0"/>
                                  </p:stCondLst>
                                  <p:iterate type="el" backwards="0">
                                    <p:tmAbs val="0"/>
                                  </p:iterate>
                                  <p:childTnLst>
                                    <p:set>
                                      <p:cBhvr>
                                        <p:cTn id="49" fill="hold"/>
                                        <p:tgtEl>
                                          <p:spTgt spid="773"/>
                                        </p:tgtEl>
                                        <p:attrNameLst>
                                          <p:attrName>style.visibility</p:attrName>
                                        </p:attrNameLst>
                                      </p:cBhvr>
                                      <p:to>
                                        <p:strVal val="visible"/>
                                      </p:to>
                                    </p:set>
                                    <p:anim calcmode="lin" valueType="num">
                                      <p:cBhvr>
                                        <p:cTn id="50" dur="1000" fill="hold"/>
                                        <p:tgtEl>
                                          <p:spTgt spid="773"/>
                                        </p:tgtEl>
                                        <p:attrNameLst>
                                          <p:attrName>ppt_x</p:attrName>
                                        </p:attrNameLst>
                                      </p:cBhvr>
                                      <p:tavLst>
                                        <p:tav tm="0">
                                          <p:val>
                                            <p:strVal val="0-#ppt_w/2"/>
                                          </p:val>
                                        </p:tav>
                                        <p:tav tm="100000">
                                          <p:val>
                                            <p:strVal val="#ppt_x"/>
                                          </p:val>
                                        </p:tav>
                                      </p:tavLst>
                                    </p:anim>
                                    <p:anim calcmode="lin" valueType="num">
                                      <p:cBhvr>
                                        <p:cTn id="51" dur="1000" fill="hold"/>
                                        <p:tgtEl>
                                          <p:spTgt spid="773"/>
                                        </p:tgtEl>
                                        <p:attrNameLst>
                                          <p:attrName>ppt_y</p:attrName>
                                        </p:attrNameLst>
                                      </p:cBhvr>
                                      <p:tavLst>
                                        <p:tav tm="0">
                                          <p:val>
                                            <p:strVal val="#ppt_y"/>
                                          </p:val>
                                        </p:tav>
                                        <p:tav tm="100000">
                                          <p:val>
                                            <p:strVal val="#ppt_y"/>
                                          </p:val>
                                        </p:tav>
                                      </p:tavLst>
                                    </p:anim>
                                  </p:childTnLst>
                                </p:cTn>
                              </p:par>
                            </p:childTnLst>
                          </p:cTn>
                        </p:par>
                        <p:par>
                          <p:cTn id="52" fill="hold">
                            <p:stCondLst>
                              <p:cond delay="1000"/>
                            </p:stCondLst>
                            <p:childTnLst>
                              <p:par>
                                <p:cTn id="53" presetClass="entr" nodeType="afterEffect" presetID="9" grpId="11" fill="hold">
                                  <p:stCondLst>
                                    <p:cond delay="0"/>
                                  </p:stCondLst>
                                  <p:iterate type="el" backwards="0">
                                    <p:tmAbs val="0"/>
                                  </p:iterate>
                                  <p:childTnLst>
                                    <p:set>
                                      <p:cBhvr>
                                        <p:cTn id="54" fill="hold"/>
                                        <p:tgtEl>
                                          <p:spTgt spid="783"/>
                                        </p:tgtEl>
                                        <p:attrNameLst>
                                          <p:attrName>style.visibility</p:attrName>
                                        </p:attrNameLst>
                                      </p:cBhvr>
                                      <p:to>
                                        <p:strVal val="visible"/>
                                      </p:to>
                                    </p:set>
                                    <p:animEffect filter="dissolve" transition="in">
                                      <p:cBhvr>
                                        <p:cTn id="55" dur="2000"/>
                                        <p:tgtEl>
                                          <p:spTgt spid="7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78" grpId="6"/>
      <p:bldP build="whole" bldLvl="1" animBg="1" rev="0" advAuto="0" spid="776" grpId="5"/>
      <p:bldP build="whole" bldLvl="1" animBg="1" rev="0" advAuto="0" spid="774" grpId="2"/>
      <p:bldP build="whole" bldLvl="1" animBg="1" rev="0" advAuto="0" spid="785" grpId="3"/>
      <p:bldP build="whole" bldLvl="1" animBg="1" rev="0" advAuto="0" spid="781" grpId="8"/>
      <p:bldP build="whole" bldLvl="1" animBg="1" rev="0" advAuto="0" spid="772" grpId="7"/>
      <p:bldP build="whole" bldLvl="1" animBg="1" rev="0" advAuto="0" spid="771" grpId="4"/>
      <p:bldP build="whole" bldLvl="1" animBg="1" rev="0" advAuto="0" spid="779" grpId="9"/>
      <p:bldP build="whole" bldLvl="1" animBg="1" rev="0" advAuto="0" spid="773" grpId="10"/>
      <p:bldP build="whole" bldLvl="1" animBg="1" rev="0" advAuto="0" spid="770" grpId="1"/>
      <p:bldP build="whole" bldLvl="1" animBg="1" rev="0" advAuto="0" spid="783" grpId="11"/>
    </p:bld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88" name="Captură de ecran din 2024-10-21 la 14.58.40.png" descr="Captură de ecran din 2024-10-21 la 14.58.40.png"/>
          <p:cNvPicPr>
            <a:picLocks noChangeAspect="1"/>
          </p:cNvPicPr>
          <p:nvPr/>
        </p:nvPicPr>
        <p:blipFill>
          <a:blip r:embed="rId2">
            <a:extLst/>
          </a:blip>
          <a:stretch>
            <a:fillRect/>
          </a:stretch>
        </p:blipFill>
        <p:spPr>
          <a:xfrm>
            <a:off x="6708110" y="2330104"/>
            <a:ext cx="11268695" cy="10661304"/>
          </a:xfrm>
          <a:prstGeom prst="rect">
            <a:avLst/>
          </a:prstGeom>
          <a:ln w="12700">
            <a:miter lim="400000"/>
          </a:ln>
        </p:spPr>
      </p:pic>
      <p:sp>
        <p:nvSpPr>
          <p:cNvPr id="789"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790" name="Random Forests"/>
          <p:cNvSpPr txBox="1"/>
          <p:nvPr/>
        </p:nvSpPr>
        <p:spPr>
          <a:xfrm>
            <a:off x="10073716" y="753086"/>
            <a:ext cx="423656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Random Forests</a:t>
            </a:r>
          </a:p>
        </p:txBody>
      </p:sp>
      <p:pic>
        <p:nvPicPr>
          <p:cNvPr id="791" name="Linie Linie" descr="Linie Linie"/>
          <p:cNvPicPr>
            <a:picLocks noChangeAspect="0"/>
          </p:cNvPicPr>
          <p:nvPr/>
        </p:nvPicPr>
        <p:blipFill>
          <a:blip r:embed="rId3">
            <a:extLst/>
          </a:blip>
          <a:stretch>
            <a:fillRect/>
          </a:stretch>
        </p:blipFill>
        <p:spPr>
          <a:xfrm>
            <a:off x="10454651" y="2776577"/>
            <a:ext cx="3093026" cy="101601"/>
          </a:xfrm>
          <a:prstGeom prst="rect">
            <a:avLst/>
          </a:prstGeom>
        </p:spPr>
      </p:pic>
      <p:pic>
        <p:nvPicPr>
          <p:cNvPr id="793" name="Linie Linie" descr="Linie Linie"/>
          <p:cNvPicPr>
            <a:picLocks noChangeAspect="0"/>
          </p:cNvPicPr>
          <p:nvPr/>
        </p:nvPicPr>
        <p:blipFill>
          <a:blip r:embed="rId4">
            <a:extLst/>
          </a:blip>
          <a:stretch>
            <a:fillRect/>
          </a:stretch>
        </p:blipFill>
        <p:spPr>
          <a:xfrm>
            <a:off x="8101586" y="5343961"/>
            <a:ext cx="3449981"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14:prism dir="r" isContent="1" isInverted="0"/>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791"/>
                                        </p:tgtEl>
                                        <p:attrNameLst>
                                          <p:attrName>style.visibility</p:attrName>
                                        </p:attrNameLst>
                                      </p:cBhvr>
                                      <p:to>
                                        <p:strVal val="visible"/>
                                      </p:to>
                                    </p:set>
                                    <p:animEffect filter="dissolve" transition="in">
                                      <p:cBhvr>
                                        <p:cTn id="7" dur="2000"/>
                                        <p:tgtEl>
                                          <p:spTgt spid="791"/>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793"/>
                                        </p:tgtEl>
                                        <p:attrNameLst>
                                          <p:attrName>style.visibility</p:attrName>
                                        </p:attrNameLst>
                                      </p:cBhvr>
                                      <p:to>
                                        <p:strVal val="visible"/>
                                      </p:to>
                                    </p:set>
                                    <p:animEffect filter="dissolve" transition="in">
                                      <p:cBhvr>
                                        <p:cTn id="11" dur="2000"/>
                                        <p:tgtEl>
                                          <p:spTgt spid="793"/>
                                        </p:tgtEl>
                                      </p:cBhvr>
                                    </p:animEffect>
                                  </p:childTnLst>
                                </p:cTn>
                              </p:par>
                            </p:childTnLst>
                          </p:cTn>
                        </p:par>
                      </p:childTnLst>
                    </p:cTn>
                  </p:par>
                  <p:par>
                    <p:cTn id="12" fill="hold">
                      <p:stCondLst>
                        <p:cond delay="indefinite"/>
                      </p:stCondLst>
                      <p:childTnLst>
                        <p:par>
                          <p:cTn id="13" fill="hold">
                            <p:stCondLst>
                              <p:cond delay="0"/>
                            </p:stCondLst>
                            <p:childTnLst>
                              <p:par>
                                <p:cTn id="14" presetClass="exit" nodeType="clickEffect" presetID="9" grpId="3" fill="hold">
                                  <p:stCondLst>
                                    <p:cond delay="0"/>
                                  </p:stCondLst>
                                  <p:iterate type="el" backwards="0">
                                    <p:tmAbs val="0"/>
                                  </p:iterate>
                                  <p:childTnLst>
                                    <p:animEffect filter="dissolve" transition="out">
                                      <p:cBhvr>
                                        <p:cTn id="15" dur="2000" fill="hold"/>
                                        <p:tgtEl>
                                          <p:spTgt spid="791"/>
                                        </p:tgtEl>
                                      </p:cBhvr>
                                    </p:animEffect>
                                    <p:set>
                                      <p:cBhvr>
                                        <p:cTn id="16" fill="hold">
                                          <p:stCondLst>
                                            <p:cond delay="1999"/>
                                          </p:stCondLst>
                                        </p:cTn>
                                        <p:tgtEl>
                                          <p:spTgt spid="791"/>
                                        </p:tgtEl>
                                        <p:attrNameLst>
                                          <p:attrName>style.visibility</p:attrName>
                                        </p:attrNameLst>
                                      </p:cBhvr>
                                      <p:to>
                                        <p:strVal val="hidden"/>
                                      </p:to>
                                    </p:set>
                                  </p:childTnLst>
                                </p:cTn>
                              </p:par>
                            </p:childTnLst>
                          </p:cTn>
                        </p:par>
                        <p:par>
                          <p:cTn id="17" fill="hold">
                            <p:stCondLst>
                              <p:cond delay="2000"/>
                            </p:stCondLst>
                            <p:childTnLst>
                              <p:par>
                                <p:cTn id="18" presetClass="exit" nodeType="afterEffect" presetID="9" grpId="4" fill="hold">
                                  <p:stCondLst>
                                    <p:cond delay="0"/>
                                  </p:stCondLst>
                                  <p:iterate type="el" backwards="0">
                                    <p:tmAbs val="0"/>
                                  </p:iterate>
                                  <p:childTnLst>
                                    <p:animEffect filter="dissolve" transition="out">
                                      <p:cBhvr>
                                        <p:cTn id="19" dur="2000" fill="hold"/>
                                        <p:tgtEl>
                                          <p:spTgt spid="793"/>
                                        </p:tgtEl>
                                      </p:cBhvr>
                                    </p:animEffect>
                                    <p:set>
                                      <p:cBhvr>
                                        <p:cTn id="20" fill="hold">
                                          <p:stCondLst>
                                            <p:cond delay="1999"/>
                                          </p:stCondLst>
                                        </p:cTn>
                                        <p:tgtEl>
                                          <p:spTgt spid="79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91" grpId="1"/>
      <p:bldP build="whole" bldLvl="1" animBg="1" rev="0" advAuto="0" spid="791" grpId="3"/>
      <p:bldP build="whole" bldLvl="1" animBg="1" rev="0" advAuto="0" spid="793" grpId="4"/>
      <p:bldP build="whole" bldLvl="1" animBg="1" rev="0" advAuto="0" spid="793" grpId="2"/>
    </p:bldLst>
  </p:timing>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96" name="Captură de ecran din 2024-10-21 la 14.58.40.png" descr="Captură de ecran din 2024-10-21 la 14.58.40.png"/>
          <p:cNvPicPr>
            <a:picLocks noChangeAspect="1"/>
          </p:cNvPicPr>
          <p:nvPr/>
        </p:nvPicPr>
        <p:blipFill>
          <a:blip r:embed="rId2">
            <a:extLst/>
          </a:blip>
          <a:stretch>
            <a:fillRect/>
          </a:stretch>
        </p:blipFill>
        <p:spPr>
          <a:xfrm>
            <a:off x="1470213" y="2250742"/>
            <a:ext cx="11268695" cy="10661304"/>
          </a:xfrm>
          <a:prstGeom prst="rect">
            <a:avLst/>
          </a:prstGeom>
          <a:ln w="12700">
            <a:miter lim="400000"/>
          </a:ln>
        </p:spPr>
      </p:pic>
      <p:sp>
        <p:nvSpPr>
          <p:cNvPr id="79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798" name="Random Forests"/>
          <p:cNvSpPr txBox="1"/>
          <p:nvPr/>
        </p:nvSpPr>
        <p:spPr>
          <a:xfrm>
            <a:off x="10073716" y="753086"/>
            <a:ext cx="423656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Random Forests</a:t>
            </a:r>
          </a:p>
        </p:txBody>
      </p:sp>
      <p:pic>
        <p:nvPicPr>
          <p:cNvPr id="799" name="Linie Linie" descr="Linie Linie"/>
          <p:cNvPicPr>
            <a:picLocks noChangeAspect="0"/>
          </p:cNvPicPr>
          <p:nvPr/>
        </p:nvPicPr>
        <p:blipFill>
          <a:blip r:embed="rId3">
            <a:extLst/>
          </a:blip>
          <a:stretch>
            <a:fillRect/>
          </a:stretch>
        </p:blipFill>
        <p:spPr>
          <a:xfrm rot="16200000">
            <a:off x="2198992" y="5932753"/>
            <a:ext cx="661142" cy="101601"/>
          </a:xfrm>
          <a:prstGeom prst="rect">
            <a:avLst/>
          </a:prstGeom>
        </p:spPr>
      </p:pic>
      <p:sp>
        <p:nvSpPr>
          <p:cNvPr id="801" name="Parametri:"/>
          <p:cNvSpPr txBox="1"/>
          <p:nvPr/>
        </p:nvSpPr>
        <p:spPr>
          <a:xfrm>
            <a:off x="13086167" y="3312513"/>
            <a:ext cx="276860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Parametri:</a:t>
            </a:r>
          </a:p>
        </p:txBody>
      </p:sp>
      <p:sp>
        <p:nvSpPr>
          <p:cNvPr id="802" name="- parametri specifici arborilor de decizie"/>
          <p:cNvSpPr txBox="1"/>
          <p:nvPr/>
        </p:nvSpPr>
        <p:spPr>
          <a:xfrm>
            <a:off x="13403615" y="4998957"/>
            <a:ext cx="1001903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4"/>
                </a:solidFill>
              </a:defRPr>
            </a:lvl1pPr>
          </a:lstStyle>
          <a:p>
            <a:pPr/>
            <a:r>
              <a:t>- parametri specifici arborilor de decizie</a:t>
            </a:r>
          </a:p>
        </p:txBody>
      </p:sp>
      <p:sp>
        <p:nvSpPr>
          <p:cNvPr id="803" name="- bootstrap: parametru specific bagging/pasting"/>
          <p:cNvSpPr txBox="1"/>
          <p:nvPr/>
        </p:nvSpPr>
        <p:spPr>
          <a:xfrm>
            <a:off x="13448574" y="9252095"/>
            <a:ext cx="9929114" cy="1689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solidFill>
                  <a:schemeClr val="accent3"/>
                </a:solidFill>
              </a:defRPr>
            </a:lvl1pPr>
          </a:lstStyle>
          <a:p>
            <a:pPr/>
            <a:r>
              <a:t>- bootstrap: parametru specific bagging/pasting</a:t>
            </a:r>
          </a:p>
        </p:txBody>
      </p:sp>
      <p:pic>
        <p:nvPicPr>
          <p:cNvPr id="804" name="Linie Linie" descr="Linie Linie"/>
          <p:cNvPicPr>
            <a:picLocks noChangeAspect="0"/>
          </p:cNvPicPr>
          <p:nvPr/>
        </p:nvPicPr>
        <p:blipFill>
          <a:blip r:embed="rId4">
            <a:extLst/>
          </a:blip>
          <a:stretch>
            <a:fillRect/>
          </a:stretch>
        </p:blipFill>
        <p:spPr>
          <a:xfrm rot="16200000">
            <a:off x="2283560" y="6985765"/>
            <a:ext cx="492007" cy="101601"/>
          </a:xfrm>
          <a:prstGeom prst="rect">
            <a:avLst/>
          </a:prstGeom>
        </p:spPr>
      </p:pic>
      <p:pic>
        <p:nvPicPr>
          <p:cNvPr id="806" name="Linie Linie" descr="Linie Linie"/>
          <p:cNvPicPr>
            <a:picLocks noChangeAspect="0"/>
          </p:cNvPicPr>
          <p:nvPr/>
        </p:nvPicPr>
        <p:blipFill>
          <a:blip r:embed="rId5">
            <a:extLst/>
          </a:blip>
          <a:stretch>
            <a:fillRect/>
          </a:stretch>
        </p:blipFill>
        <p:spPr>
          <a:xfrm rot="16200000">
            <a:off x="2274796" y="5415263"/>
            <a:ext cx="509534" cy="101601"/>
          </a:xfrm>
          <a:prstGeom prst="rect">
            <a:avLst/>
          </a:prstGeom>
        </p:spPr>
      </p:pic>
      <p:sp>
        <p:nvSpPr>
          <p:cNvPr id="808" name="- n_estimators: numărul de arbori"/>
          <p:cNvSpPr txBox="1"/>
          <p:nvPr/>
        </p:nvSpPr>
        <p:spPr>
          <a:xfrm>
            <a:off x="13403615" y="4272814"/>
            <a:ext cx="842533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 n_estimators: numărul de arbori</a:t>
            </a:r>
          </a:p>
        </p:txBody>
      </p:sp>
      <p:sp>
        <p:nvSpPr>
          <p:cNvPr id="809" name="Pentru regresie, se folosește clasa RandomForestRegressor"/>
          <p:cNvSpPr txBox="1"/>
          <p:nvPr/>
        </p:nvSpPr>
        <p:spPr>
          <a:xfrm>
            <a:off x="13199219" y="11406945"/>
            <a:ext cx="10427824"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Pentru regresie, se folosește clasa RandomForestRegressor</a:t>
            </a:r>
          </a:p>
        </p:txBody>
      </p:sp>
      <p:pic>
        <p:nvPicPr>
          <p:cNvPr id="810" name="Linie Linie" descr="Linie Linie"/>
          <p:cNvPicPr>
            <a:picLocks noChangeAspect="0"/>
          </p:cNvPicPr>
          <p:nvPr/>
        </p:nvPicPr>
        <p:blipFill>
          <a:blip r:embed="rId6">
            <a:extLst/>
          </a:blip>
          <a:stretch>
            <a:fillRect/>
          </a:stretch>
        </p:blipFill>
        <p:spPr>
          <a:xfrm>
            <a:off x="13053759" y="13016050"/>
            <a:ext cx="6831070" cy="101601"/>
          </a:xfrm>
          <a:prstGeom prst="rect">
            <a:avLst/>
          </a:prstGeom>
        </p:spPr>
      </p:pic>
      <p:pic>
        <p:nvPicPr>
          <p:cNvPr id="812" name="Linie Linie" descr="Linie Linie"/>
          <p:cNvPicPr>
            <a:picLocks noChangeAspect="0"/>
          </p:cNvPicPr>
          <p:nvPr/>
        </p:nvPicPr>
        <p:blipFill>
          <a:blip r:embed="rId7">
            <a:extLst/>
          </a:blip>
          <a:stretch>
            <a:fillRect/>
          </a:stretch>
        </p:blipFill>
        <p:spPr>
          <a:xfrm>
            <a:off x="2101793" y="9403311"/>
            <a:ext cx="3380941" cy="101601"/>
          </a:xfrm>
          <a:prstGeom prst="rect">
            <a:avLst/>
          </a:prstGeom>
        </p:spPr>
      </p:pic>
      <p:pic>
        <p:nvPicPr>
          <p:cNvPr id="814" name="Dreptunghi Dreptunghi" descr="Dreptunghi Dreptunghi"/>
          <p:cNvPicPr>
            <a:picLocks noChangeAspect="0"/>
          </p:cNvPicPr>
          <p:nvPr/>
        </p:nvPicPr>
        <p:blipFill>
          <a:blip r:embed="rId8">
            <a:extLst/>
          </a:blip>
          <a:stretch>
            <a:fillRect/>
          </a:stretch>
        </p:blipFill>
        <p:spPr>
          <a:xfrm>
            <a:off x="2240676" y="9561828"/>
            <a:ext cx="7986167" cy="3049753"/>
          </a:xfrm>
          <a:prstGeom prst="rect">
            <a:avLst/>
          </a:prstGeom>
        </p:spPr>
      </p:pic>
      <p:pic>
        <p:nvPicPr>
          <p:cNvPr id="816" name="Linie Linie" descr="Linie Linie"/>
          <p:cNvPicPr>
            <a:picLocks noChangeAspect="0"/>
          </p:cNvPicPr>
          <p:nvPr/>
        </p:nvPicPr>
        <p:blipFill>
          <a:blip r:embed="rId9">
            <a:extLst/>
          </a:blip>
          <a:stretch>
            <a:fillRect/>
          </a:stretch>
        </p:blipFill>
        <p:spPr>
          <a:xfrm>
            <a:off x="5414090" y="9403311"/>
            <a:ext cx="1131178" cy="101601"/>
          </a:xfrm>
          <a:prstGeom prst="rect">
            <a:avLst/>
          </a:prstGeom>
        </p:spPr>
      </p:pic>
      <p:pic>
        <p:nvPicPr>
          <p:cNvPr id="818" name="Linie Linie" descr="Linie Linie"/>
          <p:cNvPicPr>
            <a:picLocks noChangeAspect="0"/>
          </p:cNvPicPr>
          <p:nvPr/>
        </p:nvPicPr>
        <p:blipFill>
          <a:blip r:embed="rId10">
            <a:extLst/>
          </a:blip>
          <a:stretch>
            <a:fillRect/>
          </a:stretch>
        </p:blipFill>
        <p:spPr>
          <a:xfrm>
            <a:off x="2227723" y="12823837"/>
            <a:ext cx="1982626" cy="101601"/>
          </a:xfrm>
          <a:prstGeom prst="rect">
            <a:avLst/>
          </a:prstGeom>
        </p:spPr>
      </p:pic>
      <p:pic>
        <p:nvPicPr>
          <p:cNvPr id="820" name="Linie Linie" descr="Linie Linie"/>
          <p:cNvPicPr>
            <a:picLocks noChangeAspect="0"/>
          </p:cNvPicPr>
          <p:nvPr/>
        </p:nvPicPr>
        <p:blipFill>
          <a:blip r:embed="rId11">
            <a:extLst/>
          </a:blip>
          <a:stretch>
            <a:fillRect/>
          </a:stretch>
        </p:blipFill>
        <p:spPr>
          <a:xfrm rot="16200000">
            <a:off x="2365993" y="6639663"/>
            <a:ext cx="327140" cy="101601"/>
          </a:xfrm>
          <a:prstGeom prst="rect">
            <a:avLst/>
          </a:prstGeom>
        </p:spPr>
      </p:pic>
      <p:sp>
        <p:nvSpPr>
          <p:cNvPr id="822" name="- max_features: similar cu decision trees"/>
          <p:cNvSpPr txBox="1"/>
          <p:nvPr/>
        </p:nvSpPr>
        <p:spPr>
          <a:xfrm>
            <a:off x="13448574" y="5845888"/>
            <a:ext cx="9929114"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solidFill>
                  <a:schemeClr val="accent2"/>
                </a:solidFill>
              </a:defRPr>
            </a:lvl1pPr>
          </a:lstStyle>
          <a:p>
            <a:pPr/>
            <a:r>
              <a:t>- max_features: similar cu decision trees</a:t>
            </a:r>
          </a:p>
        </p:txBody>
      </p:sp>
      <p:sp>
        <p:nvSpPr>
          <p:cNvPr id="823" name="- dacă e ‘sqrt’, se iau   caracteristici"/>
          <p:cNvSpPr txBox="1"/>
          <p:nvPr/>
        </p:nvSpPr>
        <p:spPr>
          <a:xfrm>
            <a:off x="14018672" y="7308953"/>
            <a:ext cx="9208122" cy="103576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dacă e ‘sqrt’, se iau </a:t>
            </a:r>
            <a14:m>
              <m:oMath>
                <m:rad>
                  <m:radPr>
                    <m:ctrlPr>
                      <a:rPr xmlns:a="http://schemas.openxmlformats.org/drawingml/2006/main" sz="4900" i="1">
                        <a:solidFill>
                          <a:srgbClr val="000000"/>
                        </a:solidFill>
                        <a:latin typeface="Cambria Math" panose="02040503050406030204" pitchFamily="18" charset="0"/>
                      </a:rPr>
                    </m:ctrlPr>
                    <m:degHide m:val="on"/>
                  </m:radPr>
                  <m:deg/>
                  <m:e>
                    <m:r>
                      <a:rPr xmlns:a="http://schemas.openxmlformats.org/drawingml/2006/main" sz="4900" i="1">
                        <a:solidFill>
                          <a:srgbClr val="000000"/>
                        </a:solidFill>
                        <a:latin typeface="Cambria Math" panose="02040503050406030204" pitchFamily="18" charset="0"/>
                      </a:rPr>
                      <m:t>d</m:t>
                    </m:r>
                  </m:e>
                </m:rad>
              </m:oMath>
            </a14:m>
            <a:r>
              <a:t> caracteristici</a:t>
            </a:r>
          </a:p>
        </p:txBody>
      </p:sp>
      <p:sp>
        <p:nvSpPr>
          <p:cNvPr id="824" name="- d e numărul total de caracteristici"/>
          <p:cNvSpPr txBox="1"/>
          <p:nvPr/>
        </p:nvSpPr>
        <p:spPr>
          <a:xfrm>
            <a:off x="14018672" y="8164281"/>
            <a:ext cx="868517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d e numărul total de caracteristici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801"/>
                                        </p:tgtEl>
                                        <p:attrNameLst>
                                          <p:attrName>style.visibility</p:attrName>
                                        </p:attrNameLst>
                                      </p:cBhvr>
                                      <p:to>
                                        <p:strVal val="visible"/>
                                      </p:to>
                                    </p:set>
                                    <p:anim calcmode="lin" valueType="num">
                                      <p:cBhvr>
                                        <p:cTn id="7" dur="1000" fill="hold"/>
                                        <p:tgtEl>
                                          <p:spTgt spid="801"/>
                                        </p:tgtEl>
                                        <p:attrNameLst>
                                          <p:attrName>ppt_x</p:attrName>
                                        </p:attrNameLst>
                                      </p:cBhvr>
                                      <p:tavLst>
                                        <p:tav tm="0">
                                          <p:val>
                                            <p:strVal val="0-#ppt_w/2"/>
                                          </p:val>
                                        </p:tav>
                                        <p:tav tm="100000">
                                          <p:val>
                                            <p:strVal val="#ppt_x"/>
                                          </p:val>
                                        </p:tav>
                                      </p:tavLst>
                                    </p:anim>
                                    <p:anim calcmode="lin" valueType="num">
                                      <p:cBhvr>
                                        <p:cTn id="8" dur="1000" fill="hold"/>
                                        <p:tgtEl>
                                          <p:spTgt spid="80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9" grpId="2" fill="hold">
                                  <p:stCondLst>
                                    <p:cond delay="0"/>
                                  </p:stCondLst>
                                  <p:iterate type="el" backwards="0">
                                    <p:tmAbs val="0"/>
                                  </p:iterate>
                                  <p:childTnLst>
                                    <p:set>
                                      <p:cBhvr>
                                        <p:cTn id="12" fill="hold"/>
                                        <p:tgtEl>
                                          <p:spTgt spid="806"/>
                                        </p:tgtEl>
                                        <p:attrNameLst>
                                          <p:attrName>style.visibility</p:attrName>
                                        </p:attrNameLst>
                                      </p:cBhvr>
                                      <p:to>
                                        <p:strVal val="visible"/>
                                      </p:to>
                                    </p:set>
                                    <p:animEffect filter="dissolve" transition="in">
                                      <p:cBhvr>
                                        <p:cTn id="13" dur="2000"/>
                                        <p:tgtEl>
                                          <p:spTgt spid="806"/>
                                        </p:tgtEl>
                                      </p:cBhvr>
                                    </p:animEffect>
                                  </p:childTnLst>
                                </p:cTn>
                              </p:par>
                            </p:childTnLst>
                          </p:cTn>
                        </p:par>
                        <p:par>
                          <p:cTn id="14" fill="hold">
                            <p:stCondLst>
                              <p:cond delay="2000"/>
                            </p:stCondLst>
                            <p:childTnLst>
                              <p:par>
                                <p:cTn id="15" presetClass="entr" nodeType="afterEffect" presetSubtype="8" presetID="2" grpId="3" fill="hold">
                                  <p:stCondLst>
                                    <p:cond delay="0"/>
                                  </p:stCondLst>
                                  <p:iterate type="el" backwards="0">
                                    <p:tmAbs val="0"/>
                                  </p:iterate>
                                  <p:childTnLst>
                                    <p:set>
                                      <p:cBhvr>
                                        <p:cTn id="16" fill="hold"/>
                                        <p:tgtEl>
                                          <p:spTgt spid="808"/>
                                        </p:tgtEl>
                                        <p:attrNameLst>
                                          <p:attrName>style.visibility</p:attrName>
                                        </p:attrNameLst>
                                      </p:cBhvr>
                                      <p:to>
                                        <p:strVal val="visible"/>
                                      </p:to>
                                    </p:set>
                                    <p:anim calcmode="lin" valueType="num">
                                      <p:cBhvr>
                                        <p:cTn id="17" dur="1000" fill="hold"/>
                                        <p:tgtEl>
                                          <p:spTgt spid="808"/>
                                        </p:tgtEl>
                                        <p:attrNameLst>
                                          <p:attrName>ppt_x</p:attrName>
                                        </p:attrNameLst>
                                      </p:cBhvr>
                                      <p:tavLst>
                                        <p:tav tm="0">
                                          <p:val>
                                            <p:strVal val="0-#ppt_w/2"/>
                                          </p:val>
                                        </p:tav>
                                        <p:tav tm="100000">
                                          <p:val>
                                            <p:strVal val="#ppt_x"/>
                                          </p:val>
                                        </p:tav>
                                      </p:tavLst>
                                    </p:anim>
                                    <p:anim calcmode="lin" valueType="num">
                                      <p:cBhvr>
                                        <p:cTn id="18" dur="1000" fill="hold"/>
                                        <p:tgtEl>
                                          <p:spTgt spid="80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ID="9" grpId="4" fill="hold">
                                  <p:stCondLst>
                                    <p:cond delay="0"/>
                                  </p:stCondLst>
                                  <p:iterate type="el" backwards="0">
                                    <p:tmAbs val="0"/>
                                  </p:iterate>
                                  <p:childTnLst>
                                    <p:set>
                                      <p:cBhvr>
                                        <p:cTn id="22" fill="hold"/>
                                        <p:tgtEl>
                                          <p:spTgt spid="799"/>
                                        </p:tgtEl>
                                        <p:attrNameLst>
                                          <p:attrName>style.visibility</p:attrName>
                                        </p:attrNameLst>
                                      </p:cBhvr>
                                      <p:to>
                                        <p:strVal val="visible"/>
                                      </p:to>
                                    </p:set>
                                    <p:animEffect filter="dissolve" transition="in">
                                      <p:cBhvr>
                                        <p:cTn id="23" dur="2000"/>
                                        <p:tgtEl>
                                          <p:spTgt spid="799"/>
                                        </p:tgtEl>
                                      </p:cBhvr>
                                    </p:animEffect>
                                  </p:childTnLst>
                                </p:cTn>
                              </p:par>
                            </p:childTnLst>
                          </p:cTn>
                        </p:par>
                        <p:par>
                          <p:cTn id="24" fill="hold">
                            <p:stCondLst>
                              <p:cond delay="2000"/>
                            </p:stCondLst>
                            <p:childTnLst>
                              <p:par>
                                <p:cTn id="25" presetClass="entr" nodeType="afterEffect" presetSubtype="8" presetID="2" grpId="5" fill="hold">
                                  <p:stCondLst>
                                    <p:cond delay="0"/>
                                  </p:stCondLst>
                                  <p:iterate type="el" backwards="0">
                                    <p:tmAbs val="0"/>
                                  </p:iterate>
                                  <p:childTnLst>
                                    <p:set>
                                      <p:cBhvr>
                                        <p:cTn id="26" fill="hold"/>
                                        <p:tgtEl>
                                          <p:spTgt spid="802"/>
                                        </p:tgtEl>
                                        <p:attrNameLst>
                                          <p:attrName>style.visibility</p:attrName>
                                        </p:attrNameLst>
                                      </p:cBhvr>
                                      <p:to>
                                        <p:strVal val="visible"/>
                                      </p:to>
                                    </p:set>
                                    <p:anim calcmode="lin" valueType="num">
                                      <p:cBhvr>
                                        <p:cTn id="27" dur="1000" fill="hold"/>
                                        <p:tgtEl>
                                          <p:spTgt spid="802"/>
                                        </p:tgtEl>
                                        <p:attrNameLst>
                                          <p:attrName>ppt_x</p:attrName>
                                        </p:attrNameLst>
                                      </p:cBhvr>
                                      <p:tavLst>
                                        <p:tav tm="0">
                                          <p:val>
                                            <p:strVal val="0-#ppt_w/2"/>
                                          </p:val>
                                        </p:tav>
                                        <p:tav tm="100000">
                                          <p:val>
                                            <p:strVal val="#ppt_x"/>
                                          </p:val>
                                        </p:tav>
                                      </p:tavLst>
                                    </p:anim>
                                    <p:anim calcmode="lin" valueType="num">
                                      <p:cBhvr>
                                        <p:cTn id="28" dur="1000" fill="hold"/>
                                        <p:tgtEl>
                                          <p:spTgt spid="80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9" grpId="6" fill="hold">
                                  <p:stCondLst>
                                    <p:cond delay="0"/>
                                  </p:stCondLst>
                                  <p:iterate type="el" backwards="0">
                                    <p:tmAbs val="0"/>
                                  </p:iterate>
                                  <p:childTnLst>
                                    <p:set>
                                      <p:cBhvr>
                                        <p:cTn id="32" fill="hold"/>
                                        <p:tgtEl>
                                          <p:spTgt spid="820"/>
                                        </p:tgtEl>
                                        <p:attrNameLst>
                                          <p:attrName>style.visibility</p:attrName>
                                        </p:attrNameLst>
                                      </p:cBhvr>
                                      <p:to>
                                        <p:strVal val="visible"/>
                                      </p:to>
                                    </p:set>
                                    <p:animEffect filter="dissolve" transition="in">
                                      <p:cBhvr>
                                        <p:cTn id="33" dur="2000"/>
                                        <p:tgtEl>
                                          <p:spTgt spid="820"/>
                                        </p:tgtEl>
                                      </p:cBhvr>
                                    </p:animEffect>
                                  </p:childTnLst>
                                </p:cTn>
                              </p:par>
                            </p:childTnLst>
                          </p:cTn>
                        </p:par>
                        <p:par>
                          <p:cTn id="34" fill="hold">
                            <p:stCondLst>
                              <p:cond delay="2000"/>
                            </p:stCondLst>
                            <p:childTnLst>
                              <p:par>
                                <p:cTn id="35" presetClass="entr" nodeType="afterEffect" presetSubtype="8" presetID="2" grpId="7" fill="hold">
                                  <p:stCondLst>
                                    <p:cond delay="0"/>
                                  </p:stCondLst>
                                  <p:iterate type="el" backwards="0">
                                    <p:tmAbs val="0"/>
                                  </p:iterate>
                                  <p:childTnLst>
                                    <p:set>
                                      <p:cBhvr>
                                        <p:cTn id="36" fill="hold"/>
                                        <p:tgtEl>
                                          <p:spTgt spid="822"/>
                                        </p:tgtEl>
                                        <p:attrNameLst>
                                          <p:attrName>style.visibility</p:attrName>
                                        </p:attrNameLst>
                                      </p:cBhvr>
                                      <p:to>
                                        <p:strVal val="visible"/>
                                      </p:to>
                                    </p:set>
                                    <p:anim calcmode="lin" valueType="num">
                                      <p:cBhvr>
                                        <p:cTn id="37" dur="1000" fill="hold"/>
                                        <p:tgtEl>
                                          <p:spTgt spid="822"/>
                                        </p:tgtEl>
                                        <p:attrNameLst>
                                          <p:attrName>ppt_x</p:attrName>
                                        </p:attrNameLst>
                                      </p:cBhvr>
                                      <p:tavLst>
                                        <p:tav tm="0">
                                          <p:val>
                                            <p:strVal val="0-#ppt_w/2"/>
                                          </p:val>
                                        </p:tav>
                                        <p:tav tm="100000">
                                          <p:val>
                                            <p:strVal val="#ppt_x"/>
                                          </p:val>
                                        </p:tav>
                                      </p:tavLst>
                                    </p:anim>
                                    <p:anim calcmode="lin" valueType="num">
                                      <p:cBhvr>
                                        <p:cTn id="38" dur="1000" fill="hold"/>
                                        <p:tgtEl>
                                          <p:spTgt spid="822"/>
                                        </p:tgtEl>
                                        <p:attrNameLst>
                                          <p:attrName>ppt_y</p:attrName>
                                        </p:attrNameLst>
                                      </p:cBhvr>
                                      <p:tavLst>
                                        <p:tav tm="0">
                                          <p:val>
                                            <p:strVal val="#ppt_y"/>
                                          </p:val>
                                        </p:tav>
                                        <p:tav tm="100000">
                                          <p:val>
                                            <p:strVal val="#ppt_y"/>
                                          </p:val>
                                        </p:tav>
                                      </p:tavLst>
                                    </p:anim>
                                  </p:childTnLst>
                                </p:cTn>
                              </p:par>
                            </p:childTnLst>
                          </p:cTn>
                        </p:par>
                        <p:par>
                          <p:cTn id="39" fill="hold">
                            <p:stCondLst>
                              <p:cond delay="3000"/>
                            </p:stCondLst>
                            <p:childTnLst>
                              <p:par>
                                <p:cTn id="40" presetClass="entr" nodeType="afterEffect" presetSubtype="8" presetID="2" grpId="8" fill="hold">
                                  <p:stCondLst>
                                    <p:cond delay="0"/>
                                  </p:stCondLst>
                                  <p:iterate type="el" backwards="0">
                                    <p:tmAbs val="0"/>
                                  </p:iterate>
                                  <p:childTnLst>
                                    <p:set>
                                      <p:cBhvr>
                                        <p:cTn id="41" fill="hold"/>
                                        <p:tgtEl>
                                          <p:spTgt spid="823"/>
                                        </p:tgtEl>
                                        <p:attrNameLst>
                                          <p:attrName>style.visibility</p:attrName>
                                        </p:attrNameLst>
                                      </p:cBhvr>
                                      <p:to>
                                        <p:strVal val="visible"/>
                                      </p:to>
                                    </p:set>
                                    <p:anim calcmode="lin" valueType="num">
                                      <p:cBhvr>
                                        <p:cTn id="42" dur="1000" fill="hold"/>
                                        <p:tgtEl>
                                          <p:spTgt spid="823"/>
                                        </p:tgtEl>
                                        <p:attrNameLst>
                                          <p:attrName>ppt_x</p:attrName>
                                        </p:attrNameLst>
                                      </p:cBhvr>
                                      <p:tavLst>
                                        <p:tav tm="0">
                                          <p:val>
                                            <p:strVal val="0-#ppt_w/2"/>
                                          </p:val>
                                        </p:tav>
                                        <p:tav tm="100000">
                                          <p:val>
                                            <p:strVal val="#ppt_x"/>
                                          </p:val>
                                        </p:tav>
                                      </p:tavLst>
                                    </p:anim>
                                    <p:anim calcmode="lin" valueType="num">
                                      <p:cBhvr>
                                        <p:cTn id="43" dur="1000" fill="hold"/>
                                        <p:tgtEl>
                                          <p:spTgt spid="823"/>
                                        </p:tgtEl>
                                        <p:attrNameLst>
                                          <p:attrName>ppt_y</p:attrName>
                                        </p:attrNameLst>
                                      </p:cBhvr>
                                      <p:tavLst>
                                        <p:tav tm="0">
                                          <p:val>
                                            <p:strVal val="#ppt_y"/>
                                          </p:val>
                                        </p:tav>
                                        <p:tav tm="100000">
                                          <p:val>
                                            <p:strVal val="#ppt_y"/>
                                          </p:val>
                                        </p:tav>
                                      </p:tavLst>
                                    </p:anim>
                                  </p:childTnLst>
                                </p:cTn>
                              </p:par>
                            </p:childTnLst>
                          </p:cTn>
                        </p:par>
                        <p:par>
                          <p:cTn id="44" fill="hold">
                            <p:stCondLst>
                              <p:cond delay="4000"/>
                            </p:stCondLst>
                            <p:childTnLst>
                              <p:par>
                                <p:cTn id="45" presetClass="entr" nodeType="afterEffect" presetSubtype="8" presetID="2" grpId="9" fill="hold">
                                  <p:stCondLst>
                                    <p:cond delay="0"/>
                                  </p:stCondLst>
                                  <p:iterate type="el" backwards="0">
                                    <p:tmAbs val="0"/>
                                  </p:iterate>
                                  <p:childTnLst>
                                    <p:set>
                                      <p:cBhvr>
                                        <p:cTn id="46" fill="hold"/>
                                        <p:tgtEl>
                                          <p:spTgt spid="824"/>
                                        </p:tgtEl>
                                        <p:attrNameLst>
                                          <p:attrName>style.visibility</p:attrName>
                                        </p:attrNameLst>
                                      </p:cBhvr>
                                      <p:to>
                                        <p:strVal val="visible"/>
                                      </p:to>
                                    </p:set>
                                    <p:anim calcmode="lin" valueType="num">
                                      <p:cBhvr>
                                        <p:cTn id="47" dur="1000" fill="hold"/>
                                        <p:tgtEl>
                                          <p:spTgt spid="824"/>
                                        </p:tgtEl>
                                        <p:attrNameLst>
                                          <p:attrName>ppt_x</p:attrName>
                                        </p:attrNameLst>
                                      </p:cBhvr>
                                      <p:tavLst>
                                        <p:tav tm="0">
                                          <p:val>
                                            <p:strVal val="0-#ppt_w/2"/>
                                          </p:val>
                                        </p:tav>
                                        <p:tav tm="100000">
                                          <p:val>
                                            <p:strVal val="#ppt_x"/>
                                          </p:val>
                                        </p:tav>
                                      </p:tavLst>
                                    </p:anim>
                                    <p:anim calcmode="lin" valueType="num">
                                      <p:cBhvr>
                                        <p:cTn id="48" dur="1000" fill="hold"/>
                                        <p:tgtEl>
                                          <p:spTgt spid="824"/>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Class="entr" nodeType="clickEffect" presetID="9" grpId="10" fill="hold">
                                  <p:stCondLst>
                                    <p:cond delay="0"/>
                                  </p:stCondLst>
                                  <p:iterate type="el" backwards="0">
                                    <p:tmAbs val="0"/>
                                  </p:iterate>
                                  <p:childTnLst>
                                    <p:set>
                                      <p:cBhvr>
                                        <p:cTn id="52" fill="hold"/>
                                        <p:tgtEl>
                                          <p:spTgt spid="804"/>
                                        </p:tgtEl>
                                        <p:attrNameLst>
                                          <p:attrName>style.visibility</p:attrName>
                                        </p:attrNameLst>
                                      </p:cBhvr>
                                      <p:to>
                                        <p:strVal val="visible"/>
                                      </p:to>
                                    </p:set>
                                    <p:animEffect filter="dissolve" transition="in">
                                      <p:cBhvr>
                                        <p:cTn id="53" dur="2000"/>
                                        <p:tgtEl>
                                          <p:spTgt spid="804"/>
                                        </p:tgtEl>
                                      </p:cBhvr>
                                    </p:animEffect>
                                  </p:childTnLst>
                                </p:cTn>
                              </p:par>
                            </p:childTnLst>
                          </p:cTn>
                        </p:par>
                        <p:par>
                          <p:cTn id="54" fill="hold">
                            <p:stCondLst>
                              <p:cond delay="2000"/>
                            </p:stCondLst>
                            <p:childTnLst>
                              <p:par>
                                <p:cTn id="55" presetClass="entr" nodeType="afterEffect" presetSubtype="8" presetID="2" grpId="11" fill="hold">
                                  <p:stCondLst>
                                    <p:cond delay="0"/>
                                  </p:stCondLst>
                                  <p:iterate type="el" backwards="0">
                                    <p:tmAbs val="0"/>
                                  </p:iterate>
                                  <p:childTnLst>
                                    <p:set>
                                      <p:cBhvr>
                                        <p:cTn id="56" fill="hold"/>
                                        <p:tgtEl>
                                          <p:spTgt spid="803"/>
                                        </p:tgtEl>
                                        <p:attrNameLst>
                                          <p:attrName>style.visibility</p:attrName>
                                        </p:attrNameLst>
                                      </p:cBhvr>
                                      <p:to>
                                        <p:strVal val="visible"/>
                                      </p:to>
                                    </p:set>
                                    <p:anim calcmode="lin" valueType="num">
                                      <p:cBhvr>
                                        <p:cTn id="57" dur="1000" fill="hold"/>
                                        <p:tgtEl>
                                          <p:spTgt spid="803"/>
                                        </p:tgtEl>
                                        <p:attrNameLst>
                                          <p:attrName>ppt_x</p:attrName>
                                        </p:attrNameLst>
                                      </p:cBhvr>
                                      <p:tavLst>
                                        <p:tav tm="0">
                                          <p:val>
                                            <p:strVal val="0-#ppt_w/2"/>
                                          </p:val>
                                        </p:tav>
                                        <p:tav tm="100000">
                                          <p:val>
                                            <p:strVal val="#ppt_x"/>
                                          </p:val>
                                        </p:tav>
                                      </p:tavLst>
                                    </p:anim>
                                    <p:anim calcmode="lin" valueType="num">
                                      <p:cBhvr>
                                        <p:cTn id="58" dur="1000" fill="hold"/>
                                        <p:tgtEl>
                                          <p:spTgt spid="803"/>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Class="entr" nodeType="clickEffect" presetID="9" grpId="12" fill="hold">
                                  <p:stCondLst>
                                    <p:cond delay="0"/>
                                  </p:stCondLst>
                                  <p:iterate type="el" backwards="0">
                                    <p:tmAbs val="0"/>
                                  </p:iterate>
                                  <p:childTnLst>
                                    <p:set>
                                      <p:cBhvr>
                                        <p:cTn id="62" fill="hold"/>
                                        <p:tgtEl>
                                          <p:spTgt spid="812"/>
                                        </p:tgtEl>
                                        <p:attrNameLst>
                                          <p:attrName>style.visibility</p:attrName>
                                        </p:attrNameLst>
                                      </p:cBhvr>
                                      <p:to>
                                        <p:strVal val="visible"/>
                                      </p:to>
                                    </p:set>
                                    <p:animEffect filter="dissolve" transition="in">
                                      <p:cBhvr>
                                        <p:cTn id="63" dur="2000"/>
                                        <p:tgtEl>
                                          <p:spTgt spid="812"/>
                                        </p:tgtEl>
                                      </p:cBhvr>
                                    </p:animEffect>
                                  </p:childTnLst>
                                </p:cTn>
                              </p:par>
                            </p:childTnLst>
                          </p:cTn>
                        </p:par>
                        <p:par>
                          <p:cTn id="64" fill="hold">
                            <p:stCondLst>
                              <p:cond delay="2000"/>
                            </p:stCondLst>
                            <p:childTnLst>
                              <p:par>
                                <p:cTn id="65" presetClass="entr" nodeType="afterEffect" presetID="9" grpId="13" fill="hold">
                                  <p:stCondLst>
                                    <p:cond delay="0"/>
                                  </p:stCondLst>
                                  <p:iterate type="el" backwards="0">
                                    <p:tmAbs val="0"/>
                                  </p:iterate>
                                  <p:childTnLst>
                                    <p:set>
                                      <p:cBhvr>
                                        <p:cTn id="66" fill="hold"/>
                                        <p:tgtEl>
                                          <p:spTgt spid="814"/>
                                        </p:tgtEl>
                                        <p:attrNameLst>
                                          <p:attrName>style.visibility</p:attrName>
                                        </p:attrNameLst>
                                      </p:cBhvr>
                                      <p:to>
                                        <p:strVal val="visible"/>
                                      </p:to>
                                    </p:set>
                                    <p:animEffect filter="dissolve" transition="in">
                                      <p:cBhvr>
                                        <p:cTn id="67" dur="2000"/>
                                        <p:tgtEl>
                                          <p:spTgt spid="814"/>
                                        </p:tgtEl>
                                      </p:cBhvr>
                                    </p:animEffect>
                                  </p:childTnLst>
                                </p:cTn>
                              </p:par>
                            </p:childTnLst>
                          </p:cTn>
                        </p:par>
                      </p:childTnLst>
                    </p:cTn>
                  </p:par>
                  <p:par>
                    <p:cTn id="68" fill="hold">
                      <p:stCondLst>
                        <p:cond delay="indefinite"/>
                      </p:stCondLst>
                      <p:childTnLst>
                        <p:par>
                          <p:cTn id="69" fill="hold">
                            <p:stCondLst>
                              <p:cond delay="0"/>
                            </p:stCondLst>
                            <p:childTnLst>
                              <p:par>
                                <p:cTn id="70" presetClass="entr" nodeType="clickEffect" presetID="9" grpId="14" fill="hold">
                                  <p:stCondLst>
                                    <p:cond delay="0"/>
                                  </p:stCondLst>
                                  <p:iterate type="el" backwards="0">
                                    <p:tmAbs val="0"/>
                                  </p:iterate>
                                  <p:childTnLst>
                                    <p:set>
                                      <p:cBhvr>
                                        <p:cTn id="71" fill="hold"/>
                                        <p:tgtEl>
                                          <p:spTgt spid="816"/>
                                        </p:tgtEl>
                                        <p:attrNameLst>
                                          <p:attrName>style.visibility</p:attrName>
                                        </p:attrNameLst>
                                      </p:cBhvr>
                                      <p:to>
                                        <p:strVal val="visible"/>
                                      </p:to>
                                    </p:set>
                                    <p:animEffect filter="dissolve" transition="in">
                                      <p:cBhvr>
                                        <p:cTn id="72" dur="2000"/>
                                        <p:tgtEl>
                                          <p:spTgt spid="816"/>
                                        </p:tgtEl>
                                      </p:cBhvr>
                                    </p:animEffect>
                                  </p:childTnLst>
                                </p:cTn>
                              </p:par>
                            </p:childTnLst>
                          </p:cTn>
                        </p:par>
                        <p:par>
                          <p:cTn id="73" fill="hold">
                            <p:stCondLst>
                              <p:cond delay="2000"/>
                            </p:stCondLst>
                            <p:childTnLst>
                              <p:par>
                                <p:cTn id="74" presetClass="entr" nodeType="afterEffect" presetID="9" grpId="15" fill="hold">
                                  <p:stCondLst>
                                    <p:cond delay="0"/>
                                  </p:stCondLst>
                                  <p:iterate type="el" backwards="0">
                                    <p:tmAbs val="0"/>
                                  </p:iterate>
                                  <p:childTnLst>
                                    <p:set>
                                      <p:cBhvr>
                                        <p:cTn id="75" fill="hold"/>
                                        <p:tgtEl>
                                          <p:spTgt spid="818"/>
                                        </p:tgtEl>
                                        <p:attrNameLst>
                                          <p:attrName>style.visibility</p:attrName>
                                        </p:attrNameLst>
                                      </p:cBhvr>
                                      <p:to>
                                        <p:strVal val="visible"/>
                                      </p:to>
                                    </p:set>
                                    <p:animEffect filter="dissolve" transition="in">
                                      <p:cBhvr>
                                        <p:cTn id="76" dur="2000"/>
                                        <p:tgtEl>
                                          <p:spTgt spid="818"/>
                                        </p:tgtEl>
                                      </p:cBhvr>
                                    </p:animEffect>
                                  </p:childTnLst>
                                </p:cTn>
                              </p:par>
                            </p:childTnLst>
                          </p:cTn>
                        </p:par>
                      </p:childTnLst>
                    </p:cTn>
                  </p:par>
                  <p:par>
                    <p:cTn id="77" fill="hold">
                      <p:stCondLst>
                        <p:cond delay="indefinite"/>
                      </p:stCondLst>
                      <p:childTnLst>
                        <p:par>
                          <p:cTn id="78" fill="hold">
                            <p:stCondLst>
                              <p:cond delay="0"/>
                            </p:stCondLst>
                            <p:childTnLst>
                              <p:par>
                                <p:cTn id="79" presetClass="entr" nodeType="clickEffect" presetSubtype="8" presetID="2" grpId="16" fill="hold">
                                  <p:stCondLst>
                                    <p:cond delay="0"/>
                                  </p:stCondLst>
                                  <p:iterate type="el" backwards="0">
                                    <p:tmAbs val="0"/>
                                  </p:iterate>
                                  <p:childTnLst>
                                    <p:set>
                                      <p:cBhvr>
                                        <p:cTn id="80" fill="hold"/>
                                        <p:tgtEl>
                                          <p:spTgt spid="809"/>
                                        </p:tgtEl>
                                        <p:attrNameLst>
                                          <p:attrName>style.visibility</p:attrName>
                                        </p:attrNameLst>
                                      </p:cBhvr>
                                      <p:to>
                                        <p:strVal val="visible"/>
                                      </p:to>
                                    </p:set>
                                    <p:anim calcmode="lin" valueType="num">
                                      <p:cBhvr>
                                        <p:cTn id="81" dur="1000" fill="hold"/>
                                        <p:tgtEl>
                                          <p:spTgt spid="809"/>
                                        </p:tgtEl>
                                        <p:attrNameLst>
                                          <p:attrName>ppt_x</p:attrName>
                                        </p:attrNameLst>
                                      </p:cBhvr>
                                      <p:tavLst>
                                        <p:tav tm="0">
                                          <p:val>
                                            <p:strVal val="0-#ppt_w/2"/>
                                          </p:val>
                                        </p:tav>
                                        <p:tav tm="100000">
                                          <p:val>
                                            <p:strVal val="#ppt_x"/>
                                          </p:val>
                                        </p:tav>
                                      </p:tavLst>
                                    </p:anim>
                                    <p:anim calcmode="lin" valueType="num">
                                      <p:cBhvr>
                                        <p:cTn id="82" dur="1000" fill="hold"/>
                                        <p:tgtEl>
                                          <p:spTgt spid="809"/>
                                        </p:tgtEl>
                                        <p:attrNameLst>
                                          <p:attrName>ppt_y</p:attrName>
                                        </p:attrNameLst>
                                      </p:cBhvr>
                                      <p:tavLst>
                                        <p:tav tm="0">
                                          <p:val>
                                            <p:strVal val="#ppt_y"/>
                                          </p:val>
                                        </p:tav>
                                        <p:tav tm="100000">
                                          <p:val>
                                            <p:strVal val="#ppt_y"/>
                                          </p:val>
                                        </p:tav>
                                      </p:tavLst>
                                    </p:anim>
                                  </p:childTnLst>
                                </p:cTn>
                              </p:par>
                            </p:childTnLst>
                          </p:cTn>
                        </p:par>
                        <p:par>
                          <p:cTn id="83" fill="hold">
                            <p:stCondLst>
                              <p:cond delay="1000"/>
                            </p:stCondLst>
                            <p:childTnLst>
                              <p:par>
                                <p:cTn id="84" presetClass="entr" nodeType="afterEffect" presetID="9" grpId="17" fill="hold">
                                  <p:stCondLst>
                                    <p:cond delay="0"/>
                                  </p:stCondLst>
                                  <p:iterate type="el" backwards="0">
                                    <p:tmAbs val="0"/>
                                  </p:iterate>
                                  <p:childTnLst>
                                    <p:set>
                                      <p:cBhvr>
                                        <p:cTn id="85" fill="hold"/>
                                        <p:tgtEl>
                                          <p:spTgt spid="810"/>
                                        </p:tgtEl>
                                        <p:attrNameLst>
                                          <p:attrName>style.visibility</p:attrName>
                                        </p:attrNameLst>
                                      </p:cBhvr>
                                      <p:to>
                                        <p:strVal val="visible"/>
                                      </p:to>
                                    </p:set>
                                    <p:animEffect filter="dissolve" transition="in">
                                      <p:cBhvr>
                                        <p:cTn id="86" dur="2000"/>
                                        <p:tgtEl>
                                          <p:spTgt spid="8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03" grpId="11"/>
      <p:bldP build="whole" bldLvl="1" animBg="1" rev="0" advAuto="0" spid="808" grpId="3"/>
      <p:bldP build="whole" bldLvl="1" animBg="1" rev="0" advAuto="0" spid="809" grpId="16"/>
      <p:bldP build="whole" bldLvl="1" animBg="1" rev="0" advAuto="0" spid="810" grpId="17"/>
      <p:bldP build="whole" bldLvl="1" animBg="1" rev="0" advAuto="0" spid="806" grpId="2"/>
      <p:bldP build="whole" bldLvl="1" animBg="1" rev="0" advAuto="0" spid="812" grpId="12"/>
      <p:bldP build="whole" bldLvl="1" animBg="1" rev="0" advAuto="0" spid="816" grpId="14"/>
      <p:bldP build="whole" bldLvl="1" animBg="1" rev="0" advAuto="0" spid="820" grpId="6"/>
      <p:bldP build="whole" bldLvl="1" animBg="1" rev="0" advAuto="0" spid="801" grpId="1"/>
      <p:bldP build="whole" bldLvl="1" animBg="1" rev="0" advAuto="0" spid="814" grpId="13"/>
      <p:bldP build="whole" bldLvl="1" animBg="1" rev="0" advAuto="0" spid="822" grpId="7"/>
      <p:bldP build="whole" bldLvl="1" animBg="1" rev="0" advAuto="0" spid="799" grpId="4"/>
      <p:bldP build="whole" bldLvl="1" animBg="1" rev="0" advAuto="0" spid="824" grpId="9"/>
      <p:bldP build="whole" bldLvl="1" animBg="1" rev="0" advAuto="0" spid="823" grpId="8"/>
      <p:bldP build="whole" bldLvl="1" animBg="1" rev="0" advAuto="0" spid="818" grpId="15"/>
      <p:bldP build="whole" bldLvl="1" animBg="1" rev="0" advAuto="0" spid="802" grpId="5"/>
      <p:bldP build="whole" bldLvl="1" animBg="1" rev="0" advAuto="0" spid="804" grpId="10"/>
    </p:bld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826" name="Captură de ecran din 2024-10-21 la 14.56.28.png" descr="Captură de ecran din 2024-10-21 la 14.56.28.png"/>
          <p:cNvPicPr>
            <a:picLocks noChangeAspect="1"/>
          </p:cNvPicPr>
          <p:nvPr/>
        </p:nvPicPr>
        <p:blipFill>
          <a:blip r:embed="rId2">
            <a:extLst/>
          </a:blip>
          <a:stretch>
            <a:fillRect/>
          </a:stretch>
        </p:blipFill>
        <p:spPr>
          <a:xfrm>
            <a:off x="1245927" y="3693390"/>
            <a:ext cx="11787243" cy="8861838"/>
          </a:xfrm>
          <a:prstGeom prst="rect">
            <a:avLst/>
          </a:prstGeom>
          <a:ln w="12700">
            <a:miter lim="400000"/>
          </a:ln>
        </p:spPr>
      </p:pic>
      <p:sp>
        <p:nvSpPr>
          <p:cNvPr id="82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828" name="Random Forests"/>
          <p:cNvSpPr txBox="1"/>
          <p:nvPr/>
        </p:nvSpPr>
        <p:spPr>
          <a:xfrm>
            <a:off x="10073716" y="753086"/>
            <a:ext cx="4236568"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Random Forests</a:t>
            </a:r>
          </a:p>
        </p:txBody>
      </p:sp>
      <p:pic>
        <p:nvPicPr>
          <p:cNvPr id="829" name="Linie Linie" descr="Linie Linie"/>
          <p:cNvPicPr>
            <a:picLocks noChangeAspect="0"/>
          </p:cNvPicPr>
          <p:nvPr/>
        </p:nvPicPr>
        <p:blipFill>
          <a:blip r:embed="rId3">
            <a:extLst/>
          </a:blip>
          <a:stretch>
            <a:fillRect/>
          </a:stretch>
        </p:blipFill>
        <p:spPr>
          <a:xfrm rot="16200000">
            <a:off x="1727289" y="7530593"/>
            <a:ext cx="1326781" cy="101601"/>
          </a:xfrm>
          <a:prstGeom prst="rect">
            <a:avLst/>
          </a:prstGeom>
        </p:spPr>
      </p:pic>
      <p:pic>
        <p:nvPicPr>
          <p:cNvPr id="831" name="Linie Linie" descr="Linie Linie"/>
          <p:cNvPicPr>
            <a:picLocks noChangeAspect="0"/>
          </p:cNvPicPr>
          <p:nvPr/>
        </p:nvPicPr>
        <p:blipFill>
          <a:blip r:embed="rId4">
            <a:extLst/>
          </a:blip>
          <a:stretch>
            <a:fillRect/>
          </a:stretch>
        </p:blipFill>
        <p:spPr>
          <a:xfrm rot="16200000">
            <a:off x="2144676" y="8331435"/>
            <a:ext cx="492007" cy="101601"/>
          </a:xfrm>
          <a:prstGeom prst="rect">
            <a:avLst/>
          </a:prstGeom>
        </p:spPr>
      </p:pic>
      <p:pic>
        <p:nvPicPr>
          <p:cNvPr id="833" name="Linie Linie" descr="Linie Linie"/>
          <p:cNvPicPr>
            <a:picLocks noChangeAspect="0"/>
          </p:cNvPicPr>
          <p:nvPr/>
        </p:nvPicPr>
        <p:blipFill>
          <a:blip r:embed="rId5">
            <a:extLst/>
          </a:blip>
          <a:stretch>
            <a:fillRect/>
          </a:stretch>
        </p:blipFill>
        <p:spPr>
          <a:xfrm rot="16200000">
            <a:off x="2135912" y="6694947"/>
            <a:ext cx="509535" cy="101601"/>
          </a:xfrm>
          <a:prstGeom prst="rect">
            <a:avLst/>
          </a:prstGeom>
        </p:spPr>
      </p:pic>
      <p:sp>
        <p:nvSpPr>
          <p:cNvPr id="835" name="Parametri:"/>
          <p:cNvSpPr txBox="1"/>
          <p:nvPr/>
        </p:nvSpPr>
        <p:spPr>
          <a:xfrm>
            <a:off x="13086167" y="3312513"/>
            <a:ext cx="276860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Parametri:</a:t>
            </a:r>
          </a:p>
        </p:txBody>
      </p:sp>
      <p:sp>
        <p:nvSpPr>
          <p:cNvPr id="836" name="- parametri specifici arborilor de decizie"/>
          <p:cNvSpPr txBox="1"/>
          <p:nvPr/>
        </p:nvSpPr>
        <p:spPr>
          <a:xfrm>
            <a:off x="13403615" y="4998957"/>
            <a:ext cx="1001903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4"/>
                </a:solidFill>
              </a:defRPr>
            </a:lvl1pPr>
          </a:lstStyle>
          <a:p>
            <a:pPr/>
            <a:r>
              <a:t>- parametri specifici arborilor de decizie</a:t>
            </a:r>
          </a:p>
        </p:txBody>
      </p:sp>
      <p:sp>
        <p:nvSpPr>
          <p:cNvPr id="837" name="- bootstrap: parametru specific bagging/pasting"/>
          <p:cNvSpPr txBox="1"/>
          <p:nvPr/>
        </p:nvSpPr>
        <p:spPr>
          <a:xfrm>
            <a:off x="13448574" y="9252095"/>
            <a:ext cx="9929114" cy="16891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solidFill>
                  <a:schemeClr val="accent3"/>
                </a:solidFill>
              </a:defRPr>
            </a:lvl1pPr>
          </a:lstStyle>
          <a:p>
            <a:pPr/>
            <a:r>
              <a:t>- bootstrap: parametru specific bagging/pasting</a:t>
            </a:r>
          </a:p>
        </p:txBody>
      </p:sp>
      <p:sp>
        <p:nvSpPr>
          <p:cNvPr id="838" name="- n_estimators: numărul de arbori"/>
          <p:cNvSpPr txBox="1"/>
          <p:nvPr/>
        </p:nvSpPr>
        <p:spPr>
          <a:xfrm>
            <a:off x="13403615" y="4272814"/>
            <a:ext cx="842533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1"/>
                </a:solidFill>
              </a:defRPr>
            </a:lvl1pPr>
          </a:lstStyle>
          <a:p>
            <a:pPr/>
            <a:r>
              <a:t>- n_estimators: numărul de arbori</a:t>
            </a:r>
          </a:p>
        </p:txBody>
      </p:sp>
      <p:sp>
        <p:nvSpPr>
          <p:cNvPr id="839" name="Pentru regresie, se folosește clasa RandomForestRegressor"/>
          <p:cNvSpPr txBox="1"/>
          <p:nvPr/>
        </p:nvSpPr>
        <p:spPr>
          <a:xfrm>
            <a:off x="13199219" y="11406945"/>
            <a:ext cx="10427824"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Pentru regresie, se folosește clasa RandomForestRegressor</a:t>
            </a:r>
          </a:p>
        </p:txBody>
      </p:sp>
      <p:pic>
        <p:nvPicPr>
          <p:cNvPr id="840" name="Linie Linie" descr="Linie Linie"/>
          <p:cNvPicPr>
            <a:picLocks noChangeAspect="0"/>
          </p:cNvPicPr>
          <p:nvPr/>
        </p:nvPicPr>
        <p:blipFill>
          <a:blip r:embed="rId6">
            <a:extLst/>
          </a:blip>
          <a:stretch>
            <a:fillRect/>
          </a:stretch>
        </p:blipFill>
        <p:spPr>
          <a:xfrm>
            <a:off x="13053759" y="13016050"/>
            <a:ext cx="6831070" cy="101601"/>
          </a:xfrm>
          <a:prstGeom prst="rect">
            <a:avLst/>
          </a:prstGeom>
        </p:spPr>
      </p:pic>
      <p:sp>
        <p:nvSpPr>
          <p:cNvPr id="842" name="- max_features: similar cu decision trees"/>
          <p:cNvSpPr txBox="1"/>
          <p:nvPr/>
        </p:nvSpPr>
        <p:spPr>
          <a:xfrm>
            <a:off x="13448574" y="5845888"/>
            <a:ext cx="9929114"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solidFill>
                  <a:schemeClr val="accent2"/>
                </a:solidFill>
              </a:defRPr>
            </a:lvl1pPr>
          </a:lstStyle>
          <a:p>
            <a:pPr/>
            <a:r>
              <a:t>- max_features: similar cu decision trees</a:t>
            </a:r>
          </a:p>
        </p:txBody>
      </p:sp>
      <p:sp>
        <p:nvSpPr>
          <p:cNvPr id="843" name="- dacă e ‘sqrt’, se iau   caracteristici"/>
          <p:cNvSpPr txBox="1"/>
          <p:nvPr/>
        </p:nvSpPr>
        <p:spPr>
          <a:xfrm>
            <a:off x="14018672" y="7308953"/>
            <a:ext cx="9208122" cy="103576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dacă e ‘sqrt’, se iau </a:t>
            </a:r>
            <a14:m>
              <m:oMath>
                <m:rad>
                  <m:radPr>
                    <m:ctrlPr>
                      <a:rPr xmlns:a="http://schemas.openxmlformats.org/drawingml/2006/main" sz="4900" i="1">
                        <a:solidFill>
                          <a:srgbClr val="000000"/>
                        </a:solidFill>
                        <a:latin typeface="Cambria Math" panose="02040503050406030204" pitchFamily="18" charset="0"/>
                      </a:rPr>
                    </m:ctrlPr>
                    <m:degHide m:val="on"/>
                  </m:radPr>
                  <m:deg/>
                  <m:e>
                    <m:r>
                      <a:rPr xmlns:a="http://schemas.openxmlformats.org/drawingml/2006/main" sz="4900" i="1">
                        <a:solidFill>
                          <a:srgbClr val="000000"/>
                        </a:solidFill>
                        <a:latin typeface="Cambria Math" panose="02040503050406030204" pitchFamily="18" charset="0"/>
                      </a:rPr>
                      <m:t>d</m:t>
                    </m:r>
                  </m:e>
                </m:rad>
              </m:oMath>
            </a14:m>
            <a:r>
              <a:t> caracteristici</a:t>
            </a:r>
          </a:p>
        </p:txBody>
      </p:sp>
      <p:sp>
        <p:nvSpPr>
          <p:cNvPr id="844" name="- d e numărul total de caracteristici"/>
          <p:cNvSpPr txBox="1"/>
          <p:nvPr/>
        </p:nvSpPr>
        <p:spPr>
          <a:xfrm>
            <a:off x="14018672" y="8164281"/>
            <a:ext cx="868517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d e numărul total de caracteristici</a:t>
            </a: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6"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847" name="- Până acum am antrenat modele în paralel pe diferite subseturi de date pentru a crește performanța generală"/>
          <p:cNvSpPr txBox="1"/>
          <p:nvPr/>
        </p:nvSpPr>
        <p:spPr>
          <a:xfrm>
            <a:off x="765204" y="2200944"/>
            <a:ext cx="21578368" cy="16891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Până acum am antrenat modele în paralel pe diferite subseturi de date pentru a crește performanța generală</a:t>
            </a:r>
          </a:p>
        </p:txBody>
      </p:sp>
      <p:sp>
        <p:nvSpPr>
          <p:cNvPr id="848" name="- O altă metodă de a crește performanța generală folosind mai multe modele:"/>
          <p:cNvSpPr txBox="1"/>
          <p:nvPr/>
        </p:nvSpPr>
        <p:spPr>
          <a:xfrm>
            <a:off x="765204" y="5483087"/>
            <a:ext cx="1905985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O altă metodă de a crește performanța generală folosind mai multe modele:</a:t>
            </a:r>
          </a:p>
        </p:txBody>
      </p:sp>
      <p:sp>
        <p:nvSpPr>
          <p:cNvPr id="849" name="- Pornim de la un model de bază"/>
          <p:cNvSpPr txBox="1"/>
          <p:nvPr/>
        </p:nvSpPr>
        <p:spPr>
          <a:xfrm>
            <a:off x="1955635" y="6390894"/>
            <a:ext cx="7953148" cy="93421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Pornim de la un model de bază</a:t>
            </a:r>
          </a:p>
        </p:txBody>
      </p:sp>
      <p:sp>
        <p:nvSpPr>
          <p:cNvPr id="850" name="- Antrenăm un alt model pe greșelile primului model"/>
          <p:cNvSpPr txBox="1"/>
          <p:nvPr/>
        </p:nvSpPr>
        <p:spPr>
          <a:xfrm>
            <a:off x="1955635" y="7291674"/>
            <a:ext cx="12998553"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Antrenăm un alt model pe greșelile primului model</a:t>
            </a:r>
          </a:p>
        </p:txBody>
      </p:sp>
      <p:sp>
        <p:nvSpPr>
          <p:cNvPr id="851" name="- Antrenăm un alt model pe greșelile celui de al doilea model"/>
          <p:cNvSpPr txBox="1"/>
          <p:nvPr/>
        </p:nvSpPr>
        <p:spPr>
          <a:xfrm>
            <a:off x="1955635" y="8251976"/>
            <a:ext cx="1491300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Antrenăm un alt model pe greșelile celui de al doilea model</a:t>
            </a:r>
          </a:p>
        </p:txBody>
      </p:sp>
      <p:sp>
        <p:nvSpPr>
          <p:cNvPr id="852" name="Continuăm procesul până ajungem la N modele"/>
          <p:cNvSpPr txBox="1"/>
          <p:nvPr/>
        </p:nvSpPr>
        <p:spPr>
          <a:xfrm>
            <a:off x="1955635" y="9212279"/>
            <a:ext cx="1236905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marL="441157" indent="-441157">
              <a:buSzPct val="100000"/>
              <a:buChar char="-"/>
            </a:lvl1pPr>
          </a:lstStyle>
          <a:p>
            <a:pPr/>
            <a:r>
              <a:t>Continuăm procesul până ajungem la N modele</a:t>
            </a:r>
          </a:p>
        </p:txBody>
      </p:sp>
      <p:sp>
        <p:nvSpPr>
          <p:cNvPr id="853" name="Toate cele N modele vor fi folosite la predicție pe bază de votare"/>
          <p:cNvSpPr txBox="1"/>
          <p:nvPr/>
        </p:nvSpPr>
        <p:spPr>
          <a:xfrm>
            <a:off x="920016" y="10873936"/>
            <a:ext cx="1624041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marL="441157" indent="-441157">
              <a:buSzPct val="100000"/>
              <a:buChar char="-"/>
            </a:lvl1pPr>
          </a:lstStyle>
          <a:p>
            <a:pPr/>
            <a:r>
              <a:t>Toate cele N modele vor fi folosite la predicție pe bază de votare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847"/>
                                        </p:tgtEl>
                                        <p:attrNameLst>
                                          <p:attrName>style.visibility</p:attrName>
                                        </p:attrNameLst>
                                      </p:cBhvr>
                                      <p:to>
                                        <p:strVal val="visible"/>
                                      </p:to>
                                    </p:set>
                                    <p:anim calcmode="lin" valueType="num">
                                      <p:cBhvr>
                                        <p:cTn id="7" dur="1000" fill="hold"/>
                                        <p:tgtEl>
                                          <p:spTgt spid="847"/>
                                        </p:tgtEl>
                                        <p:attrNameLst>
                                          <p:attrName>ppt_x</p:attrName>
                                        </p:attrNameLst>
                                      </p:cBhvr>
                                      <p:tavLst>
                                        <p:tav tm="0">
                                          <p:val>
                                            <p:strVal val="0-#ppt_w/2"/>
                                          </p:val>
                                        </p:tav>
                                        <p:tav tm="100000">
                                          <p:val>
                                            <p:strVal val="#ppt_x"/>
                                          </p:val>
                                        </p:tav>
                                      </p:tavLst>
                                    </p:anim>
                                    <p:anim calcmode="lin" valueType="num">
                                      <p:cBhvr>
                                        <p:cTn id="8" dur="1000" fill="hold"/>
                                        <p:tgtEl>
                                          <p:spTgt spid="84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848"/>
                                        </p:tgtEl>
                                        <p:attrNameLst>
                                          <p:attrName>style.visibility</p:attrName>
                                        </p:attrNameLst>
                                      </p:cBhvr>
                                      <p:to>
                                        <p:strVal val="visible"/>
                                      </p:to>
                                    </p:set>
                                    <p:anim calcmode="lin" valueType="num">
                                      <p:cBhvr>
                                        <p:cTn id="13" dur="1000" fill="hold"/>
                                        <p:tgtEl>
                                          <p:spTgt spid="848"/>
                                        </p:tgtEl>
                                        <p:attrNameLst>
                                          <p:attrName>ppt_x</p:attrName>
                                        </p:attrNameLst>
                                      </p:cBhvr>
                                      <p:tavLst>
                                        <p:tav tm="0">
                                          <p:val>
                                            <p:strVal val="0-#ppt_w/2"/>
                                          </p:val>
                                        </p:tav>
                                        <p:tav tm="100000">
                                          <p:val>
                                            <p:strVal val="#ppt_x"/>
                                          </p:val>
                                        </p:tav>
                                      </p:tavLst>
                                    </p:anim>
                                    <p:anim calcmode="lin" valueType="num">
                                      <p:cBhvr>
                                        <p:cTn id="14" dur="1000" fill="hold"/>
                                        <p:tgtEl>
                                          <p:spTgt spid="84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8" presetID="2" grpId="3" fill="hold">
                                  <p:stCondLst>
                                    <p:cond delay="0"/>
                                  </p:stCondLst>
                                  <p:iterate type="el" backwards="0">
                                    <p:tmAbs val="0"/>
                                  </p:iterate>
                                  <p:childTnLst>
                                    <p:set>
                                      <p:cBhvr>
                                        <p:cTn id="18" fill="hold"/>
                                        <p:tgtEl>
                                          <p:spTgt spid="849"/>
                                        </p:tgtEl>
                                        <p:attrNameLst>
                                          <p:attrName>style.visibility</p:attrName>
                                        </p:attrNameLst>
                                      </p:cBhvr>
                                      <p:to>
                                        <p:strVal val="visible"/>
                                      </p:to>
                                    </p:set>
                                    <p:anim calcmode="lin" valueType="num">
                                      <p:cBhvr>
                                        <p:cTn id="19" dur="1000" fill="hold"/>
                                        <p:tgtEl>
                                          <p:spTgt spid="849"/>
                                        </p:tgtEl>
                                        <p:attrNameLst>
                                          <p:attrName>ppt_x</p:attrName>
                                        </p:attrNameLst>
                                      </p:cBhvr>
                                      <p:tavLst>
                                        <p:tav tm="0">
                                          <p:val>
                                            <p:strVal val="0-#ppt_w/2"/>
                                          </p:val>
                                        </p:tav>
                                        <p:tav tm="100000">
                                          <p:val>
                                            <p:strVal val="#ppt_x"/>
                                          </p:val>
                                        </p:tav>
                                      </p:tavLst>
                                    </p:anim>
                                    <p:anim calcmode="lin" valueType="num">
                                      <p:cBhvr>
                                        <p:cTn id="20" dur="1000" fill="hold"/>
                                        <p:tgtEl>
                                          <p:spTgt spid="84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8" presetID="2" grpId="4" fill="hold">
                                  <p:stCondLst>
                                    <p:cond delay="0"/>
                                  </p:stCondLst>
                                  <p:iterate type="el" backwards="0">
                                    <p:tmAbs val="0"/>
                                  </p:iterate>
                                  <p:childTnLst>
                                    <p:set>
                                      <p:cBhvr>
                                        <p:cTn id="24" fill="hold"/>
                                        <p:tgtEl>
                                          <p:spTgt spid="850"/>
                                        </p:tgtEl>
                                        <p:attrNameLst>
                                          <p:attrName>style.visibility</p:attrName>
                                        </p:attrNameLst>
                                      </p:cBhvr>
                                      <p:to>
                                        <p:strVal val="visible"/>
                                      </p:to>
                                    </p:set>
                                    <p:anim calcmode="lin" valueType="num">
                                      <p:cBhvr>
                                        <p:cTn id="25" dur="1000" fill="hold"/>
                                        <p:tgtEl>
                                          <p:spTgt spid="850"/>
                                        </p:tgtEl>
                                        <p:attrNameLst>
                                          <p:attrName>ppt_x</p:attrName>
                                        </p:attrNameLst>
                                      </p:cBhvr>
                                      <p:tavLst>
                                        <p:tav tm="0">
                                          <p:val>
                                            <p:strVal val="0-#ppt_w/2"/>
                                          </p:val>
                                        </p:tav>
                                        <p:tav tm="100000">
                                          <p:val>
                                            <p:strVal val="#ppt_x"/>
                                          </p:val>
                                        </p:tav>
                                      </p:tavLst>
                                    </p:anim>
                                    <p:anim calcmode="lin" valueType="num">
                                      <p:cBhvr>
                                        <p:cTn id="26" dur="1000" fill="hold"/>
                                        <p:tgtEl>
                                          <p:spTgt spid="85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 grpId="5" fill="hold">
                                  <p:stCondLst>
                                    <p:cond delay="0"/>
                                  </p:stCondLst>
                                  <p:iterate type="el" backwards="0">
                                    <p:tmAbs val="0"/>
                                  </p:iterate>
                                  <p:childTnLst>
                                    <p:set>
                                      <p:cBhvr>
                                        <p:cTn id="30" fill="hold"/>
                                        <p:tgtEl>
                                          <p:spTgt spid="851"/>
                                        </p:tgtEl>
                                        <p:attrNameLst>
                                          <p:attrName>style.visibility</p:attrName>
                                        </p:attrNameLst>
                                      </p:cBhvr>
                                      <p:to>
                                        <p:strVal val="visible"/>
                                      </p:to>
                                    </p:set>
                                    <p:anim calcmode="lin" valueType="num">
                                      <p:cBhvr>
                                        <p:cTn id="31" dur="1000" fill="hold"/>
                                        <p:tgtEl>
                                          <p:spTgt spid="851"/>
                                        </p:tgtEl>
                                        <p:attrNameLst>
                                          <p:attrName>ppt_x</p:attrName>
                                        </p:attrNameLst>
                                      </p:cBhvr>
                                      <p:tavLst>
                                        <p:tav tm="0">
                                          <p:val>
                                            <p:strVal val="0-#ppt_w/2"/>
                                          </p:val>
                                        </p:tav>
                                        <p:tav tm="100000">
                                          <p:val>
                                            <p:strVal val="#ppt_x"/>
                                          </p:val>
                                        </p:tav>
                                      </p:tavLst>
                                    </p:anim>
                                    <p:anim calcmode="lin" valueType="num">
                                      <p:cBhvr>
                                        <p:cTn id="32" dur="1000" fill="hold"/>
                                        <p:tgtEl>
                                          <p:spTgt spid="85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8" presetID="2" grpId="6" fill="hold">
                                  <p:stCondLst>
                                    <p:cond delay="0"/>
                                  </p:stCondLst>
                                  <p:iterate type="el" backwards="0">
                                    <p:tmAbs val="0"/>
                                  </p:iterate>
                                  <p:childTnLst>
                                    <p:set>
                                      <p:cBhvr>
                                        <p:cTn id="36" fill="hold"/>
                                        <p:tgtEl>
                                          <p:spTgt spid="852"/>
                                        </p:tgtEl>
                                        <p:attrNameLst>
                                          <p:attrName>style.visibility</p:attrName>
                                        </p:attrNameLst>
                                      </p:cBhvr>
                                      <p:to>
                                        <p:strVal val="visible"/>
                                      </p:to>
                                    </p:set>
                                    <p:anim calcmode="lin" valueType="num">
                                      <p:cBhvr>
                                        <p:cTn id="37" dur="1000" fill="hold"/>
                                        <p:tgtEl>
                                          <p:spTgt spid="852"/>
                                        </p:tgtEl>
                                        <p:attrNameLst>
                                          <p:attrName>ppt_x</p:attrName>
                                        </p:attrNameLst>
                                      </p:cBhvr>
                                      <p:tavLst>
                                        <p:tav tm="0">
                                          <p:val>
                                            <p:strVal val="0-#ppt_w/2"/>
                                          </p:val>
                                        </p:tav>
                                        <p:tav tm="100000">
                                          <p:val>
                                            <p:strVal val="#ppt_x"/>
                                          </p:val>
                                        </p:tav>
                                      </p:tavLst>
                                    </p:anim>
                                    <p:anim calcmode="lin" valueType="num">
                                      <p:cBhvr>
                                        <p:cTn id="38" dur="1000" fill="hold"/>
                                        <p:tgtEl>
                                          <p:spTgt spid="85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Class="entr" nodeType="clickEffect" presetSubtype="8" presetID="2" grpId="7" fill="hold">
                                  <p:stCondLst>
                                    <p:cond delay="0"/>
                                  </p:stCondLst>
                                  <p:iterate type="el" backwards="0">
                                    <p:tmAbs val="0"/>
                                  </p:iterate>
                                  <p:childTnLst>
                                    <p:set>
                                      <p:cBhvr>
                                        <p:cTn id="42" fill="hold"/>
                                        <p:tgtEl>
                                          <p:spTgt spid="853"/>
                                        </p:tgtEl>
                                        <p:attrNameLst>
                                          <p:attrName>style.visibility</p:attrName>
                                        </p:attrNameLst>
                                      </p:cBhvr>
                                      <p:to>
                                        <p:strVal val="visible"/>
                                      </p:to>
                                    </p:set>
                                    <p:anim calcmode="lin" valueType="num">
                                      <p:cBhvr>
                                        <p:cTn id="43" dur="1000" fill="hold"/>
                                        <p:tgtEl>
                                          <p:spTgt spid="853"/>
                                        </p:tgtEl>
                                        <p:attrNameLst>
                                          <p:attrName>ppt_x</p:attrName>
                                        </p:attrNameLst>
                                      </p:cBhvr>
                                      <p:tavLst>
                                        <p:tav tm="0">
                                          <p:val>
                                            <p:strVal val="0-#ppt_w/2"/>
                                          </p:val>
                                        </p:tav>
                                        <p:tav tm="100000">
                                          <p:val>
                                            <p:strVal val="#ppt_x"/>
                                          </p:val>
                                        </p:tav>
                                      </p:tavLst>
                                    </p:anim>
                                    <p:anim calcmode="lin" valueType="num">
                                      <p:cBhvr>
                                        <p:cTn id="44" dur="1000" fill="hold"/>
                                        <p:tgtEl>
                                          <p:spTgt spid="8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51" grpId="5"/>
      <p:bldP build="whole" bldLvl="1" animBg="1" rev="0" advAuto="0" spid="853" grpId="7"/>
      <p:bldP build="whole" bldLvl="1" animBg="1" rev="0" advAuto="0" spid="849" grpId="3"/>
      <p:bldP build="whole" bldLvl="1" animBg="1" rev="0" advAuto="0" spid="848" grpId="2"/>
      <p:bldP build="whole" bldLvl="1" animBg="1" rev="0" advAuto="0" spid="850" grpId="4"/>
      <p:bldP build="whole" bldLvl="1" animBg="1" rev="0" advAuto="0" spid="852" grpId="6"/>
      <p:bldP build="whole" bldLvl="1" animBg="1" rev="0" advAuto="0" spid="847" grpId="1"/>
    </p:bldLst>
  </p:timing>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856" name="Boosting"/>
          <p:cNvSpPr txBox="1"/>
          <p:nvPr/>
        </p:nvSpPr>
        <p:spPr>
          <a:xfrm>
            <a:off x="8578545" y="5021647"/>
            <a:ext cx="7226910" cy="2687829"/>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13600"/>
            </a:lvl1pPr>
          </a:lstStyle>
          <a:p>
            <a:pPr/>
            <a:r>
              <a:t>Boosting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859" name="Boosting"/>
          <p:cNvSpPr txBox="1"/>
          <p:nvPr/>
        </p:nvSpPr>
        <p:spPr>
          <a:xfrm>
            <a:off x="10513593" y="796304"/>
            <a:ext cx="3356814"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Boosting</a:t>
            </a:r>
          </a:p>
        </p:txBody>
      </p:sp>
      <p:sp>
        <p:nvSpPr>
          <p:cNvPr id="860" name="Regulă de bază:"/>
          <p:cNvSpPr txBox="1"/>
          <p:nvPr/>
        </p:nvSpPr>
        <p:spPr>
          <a:xfrm>
            <a:off x="1801102" y="2663999"/>
            <a:ext cx="401249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Regulă de bază:</a:t>
            </a:r>
          </a:p>
        </p:txBody>
      </p:sp>
      <p:sp>
        <p:nvSpPr>
          <p:cNvPr id="861" name="- Fiecare model (sau „învățăcel slab”) este antrenat secvențial, iar fiecare model se concentrează mai mult pe greșelile modelului anterior."/>
          <p:cNvSpPr txBox="1"/>
          <p:nvPr/>
        </p:nvSpPr>
        <p:spPr>
          <a:xfrm>
            <a:off x="2381673" y="3541313"/>
            <a:ext cx="19024144"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 Fiecare model (sau „învățăcel slab”) este antrenat secvențial, iar fiecare model se concentrează mai mult pe greșelile modelului anterior.</a:t>
            </a:r>
          </a:p>
        </p:txBody>
      </p:sp>
      <p:sp>
        <p:nvSpPr>
          <p:cNvPr id="862" name="- După ce toate modelele sunt antrenate, predicțiile lor sunt combinate într-un mod ponderat. Modelele care au avut performanțe mai bune primesc o pondere mai mare în decizia finală, dar toate modelele fac parte din ansamblul final."/>
          <p:cNvSpPr txBox="1"/>
          <p:nvPr/>
        </p:nvSpPr>
        <p:spPr>
          <a:xfrm>
            <a:off x="2381673" y="5258485"/>
            <a:ext cx="19024144" cy="319903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 După ce toate modelele sunt antrenate, predicțiile lor sunt combinate într-un mod ponderat. Modelele care au avut performanțe mai bune primesc o pondere mai mare în decizia finală, dar toate modelele fac parte din ansamblul final.</a:t>
            </a:r>
          </a:p>
        </p:txBody>
      </p:sp>
      <p:pic>
        <p:nvPicPr>
          <p:cNvPr id="863" name="Linie Linie" descr="Linie Linie"/>
          <p:cNvPicPr>
            <a:picLocks noChangeAspect="0"/>
          </p:cNvPicPr>
          <p:nvPr/>
        </p:nvPicPr>
        <p:blipFill>
          <a:blip r:embed="rId2">
            <a:extLst/>
          </a:blip>
          <a:stretch>
            <a:fillRect/>
          </a:stretch>
        </p:blipFill>
        <p:spPr>
          <a:xfrm>
            <a:off x="11318919" y="5119914"/>
            <a:ext cx="7089488" cy="101601"/>
          </a:xfrm>
          <a:prstGeom prst="rect">
            <a:avLst/>
          </a:prstGeom>
        </p:spPr>
      </p:pic>
      <p:pic>
        <p:nvPicPr>
          <p:cNvPr id="865" name="Linie Linie" descr="Linie Linie"/>
          <p:cNvPicPr>
            <a:picLocks noChangeAspect="0"/>
          </p:cNvPicPr>
          <p:nvPr/>
        </p:nvPicPr>
        <p:blipFill>
          <a:blip r:embed="rId3">
            <a:extLst/>
          </a:blip>
          <a:stretch>
            <a:fillRect/>
          </a:stretch>
        </p:blipFill>
        <p:spPr>
          <a:xfrm>
            <a:off x="12419780" y="6014766"/>
            <a:ext cx="8648467" cy="101601"/>
          </a:xfrm>
          <a:prstGeom prst="rect">
            <a:avLst/>
          </a:prstGeom>
        </p:spPr>
      </p:pic>
      <p:pic>
        <p:nvPicPr>
          <p:cNvPr id="867" name="Linie Linie" descr="Linie Linie"/>
          <p:cNvPicPr>
            <a:picLocks noChangeAspect="0"/>
          </p:cNvPicPr>
          <p:nvPr/>
        </p:nvPicPr>
        <p:blipFill>
          <a:blip r:embed="rId4">
            <a:extLst/>
          </a:blip>
          <a:stretch>
            <a:fillRect/>
          </a:stretch>
        </p:blipFill>
        <p:spPr>
          <a:xfrm>
            <a:off x="2358688" y="6807200"/>
            <a:ext cx="4572770" cy="101600"/>
          </a:xfrm>
          <a:prstGeom prst="rect">
            <a:avLst/>
          </a:prstGeom>
        </p:spPr>
      </p:pic>
      <p:sp>
        <p:nvSpPr>
          <p:cNvPr id="869" name="Două metode bine-cunoscute:                             și GradientBoosting."/>
          <p:cNvSpPr txBox="1"/>
          <p:nvPr/>
        </p:nvSpPr>
        <p:spPr>
          <a:xfrm>
            <a:off x="2194392" y="9743225"/>
            <a:ext cx="1556847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Două metode bine-cunoscute:                             și GradientBoosting.</a:t>
            </a:r>
          </a:p>
        </p:txBody>
      </p:sp>
      <p:sp>
        <p:nvSpPr>
          <p:cNvPr id="870" name="AdaBoost"/>
          <p:cNvSpPr txBox="1"/>
          <p:nvPr/>
        </p:nvSpPr>
        <p:spPr>
          <a:xfrm>
            <a:off x="9835461" y="9743225"/>
            <a:ext cx="263169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AdaBoost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860"/>
                                        </p:tgtEl>
                                        <p:attrNameLst>
                                          <p:attrName>style.visibility</p:attrName>
                                        </p:attrNameLst>
                                      </p:cBhvr>
                                      <p:to>
                                        <p:strVal val="visible"/>
                                      </p:to>
                                    </p:set>
                                    <p:anim calcmode="lin" valueType="num">
                                      <p:cBhvr>
                                        <p:cTn id="7" dur="1000" fill="hold"/>
                                        <p:tgtEl>
                                          <p:spTgt spid="860"/>
                                        </p:tgtEl>
                                        <p:attrNameLst>
                                          <p:attrName>ppt_x</p:attrName>
                                        </p:attrNameLst>
                                      </p:cBhvr>
                                      <p:tavLst>
                                        <p:tav tm="0">
                                          <p:val>
                                            <p:strVal val="0-#ppt_w/2"/>
                                          </p:val>
                                        </p:tav>
                                        <p:tav tm="100000">
                                          <p:val>
                                            <p:strVal val="#ppt_x"/>
                                          </p:val>
                                        </p:tav>
                                      </p:tavLst>
                                    </p:anim>
                                    <p:anim calcmode="lin" valueType="num">
                                      <p:cBhvr>
                                        <p:cTn id="8" dur="1000" fill="hold"/>
                                        <p:tgtEl>
                                          <p:spTgt spid="86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861"/>
                                        </p:tgtEl>
                                        <p:attrNameLst>
                                          <p:attrName>style.visibility</p:attrName>
                                        </p:attrNameLst>
                                      </p:cBhvr>
                                      <p:to>
                                        <p:strVal val="visible"/>
                                      </p:to>
                                    </p:set>
                                    <p:anim calcmode="lin" valueType="num">
                                      <p:cBhvr>
                                        <p:cTn id="13" dur="1000" fill="hold"/>
                                        <p:tgtEl>
                                          <p:spTgt spid="861"/>
                                        </p:tgtEl>
                                        <p:attrNameLst>
                                          <p:attrName>ppt_x</p:attrName>
                                        </p:attrNameLst>
                                      </p:cBhvr>
                                      <p:tavLst>
                                        <p:tav tm="0">
                                          <p:val>
                                            <p:strVal val="0-#ppt_w/2"/>
                                          </p:val>
                                        </p:tav>
                                        <p:tav tm="100000">
                                          <p:val>
                                            <p:strVal val="#ppt_x"/>
                                          </p:val>
                                        </p:tav>
                                      </p:tavLst>
                                    </p:anim>
                                    <p:anim calcmode="lin" valueType="num">
                                      <p:cBhvr>
                                        <p:cTn id="14" dur="1000" fill="hold"/>
                                        <p:tgtEl>
                                          <p:spTgt spid="861"/>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ID="9" grpId="3" fill="hold">
                                  <p:stCondLst>
                                    <p:cond delay="0"/>
                                  </p:stCondLst>
                                  <p:iterate type="el" backwards="0">
                                    <p:tmAbs val="0"/>
                                  </p:iterate>
                                  <p:childTnLst>
                                    <p:set>
                                      <p:cBhvr>
                                        <p:cTn id="17" fill="hold"/>
                                        <p:tgtEl>
                                          <p:spTgt spid="863"/>
                                        </p:tgtEl>
                                        <p:attrNameLst>
                                          <p:attrName>style.visibility</p:attrName>
                                        </p:attrNameLst>
                                      </p:cBhvr>
                                      <p:to>
                                        <p:strVal val="visible"/>
                                      </p:to>
                                    </p:set>
                                    <p:animEffect filter="dissolve" transition="in">
                                      <p:cBhvr>
                                        <p:cTn id="18" dur="2000"/>
                                        <p:tgtEl>
                                          <p:spTgt spid="863"/>
                                        </p:tgtEl>
                                      </p:cBhvr>
                                    </p:animEffec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 grpId="4" fill="hold">
                                  <p:stCondLst>
                                    <p:cond delay="0"/>
                                  </p:stCondLst>
                                  <p:iterate type="el" backwards="0">
                                    <p:tmAbs val="0"/>
                                  </p:iterate>
                                  <p:childTnLst>
                                    <p:set>
                                      <p:cBhvr>
                                        <p:cTn id="22" fill="hold"/>
                                        <p:tgtEl>
                                          <p:spTgt spid="862"/>
                                        </p:tgtEl>
                                        <p:attrNameLst>
                                          <p:attrName>style.visibility</p:attrName>
                                        </p:attrNameLst>
                                      </p:cBhvr>
                                      <p:to>
                                        <p:strVal val="visible"/>
                                      </p:to>
                                    </p:set>
                                    <p:anim calcmode="lin" valueType="num">
                                      <p:cBhvr>
                                        <p:cTn id="23" dur="1000" fill="hold"/>
                                        <p:tgtEl>
                                          <p:spTgt spid="862"/>
                                        </p:tgtEl>
                                        <p:attrNameLst>
                                          <p:attrName>ppt_x</p:attrName>
                                        </p:attrNameLst>
                                      </p:cBhvr>
                                      <p:tavLst>
                                        <p:tav tm="0">
                                          <p:val>
                                            <p:strVal val="0-#ppt_w/2"/>
                                          </p:val>
                                        </p:tav>
                                        <p:tav tm="100000">
                                          <p:val>
                                            <p:strVal val="#ppt_x"/>
                                          </p:val>
                                        </p:tav>
                                      </p:tavLst>
                                    </p:anim>
                                    <p:anim calcmode="lin" valueType="num">
                                      <p:cBhvr>
                                        <p:cTn id="24" dur="1000" fill="hold"/>
                                        <p:tgtEl>
                                          <p:spTgt spid="862"/>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Class="entr" nodeType="afterEffect" presetID="9" grpId="5" fill="hold">
                                  <p:stCondLst>
                                    <p:cond delay="0"/>
                                  </p:stCondLst>
                                  <p:iterate type="el" backwards="0">
                                    <p:tmAbs val="0"/>
                                  </p:iterate>
                                  <p:childTnLst>
                                    <p:set>
                                      <p:cBhvr>
                                        <p:cTn id="27" fill="hold"/>
                                        <p:tgtEl>
                                          <p:spTgt spid="865"/>
                                        </p:tgtEl>
                                        <p:attrNameLst>
                                          <p:attrName>style.visibility</p:attrName>
                                        </p:attrNameLst>
                                      </p:cBhvr>
                                      <p:to>
                                        <p:strVal val="visible"/>
                                      </p:to>
                                    </p:set>
                                    <p:animEffect filter="dissolve" transition="in">
                                      <p:cBhvr>
                                        <p:cTn id="28" dur="2000"/>
                                        <p:tgtEl>
                                          <p:spTgt spid="865"/>
                                        </p:tgtEl>
                                      </p:cBhvr>
                                    </p:animEffect>
                                  </p:childTnLst>
                                </p:cTn>
                              </p:par>
                            </p:childTnLst>
                          </p:cTn>
                        </p:par>
                        <p:par>
                          <p:cTn id="29" fill="hold">
                            <p:stCondLst>
                              <p:cond delay="3000"/>
                            </p:stCondLst>
                            <p:childTnLst>
                              <p:par>
                                <p:cTn id="30" presetClass="entr" nodeType="afterEffect" presetID="9" grpId="6" fill="hold">
                                  <p:stCondLst>
                                    <p:cond delay="0"/>
                                  </p:stCondLst>
                                  <p:iterate type="el" backwards="0">
                                    <p:tmAbs val="0"/>
                                  </p:iterate>
                                  <p:childTnLst>
                                    <p:set>
                                      <p:cBhvr>
                                        <p:cTn id="31" fill="hold"/>
                                        <p:tgtEl>
                                          <p:spTgt spid="867"/>
                                        </p:tgtEl>
                                        <p:attrNameLst>
                                          <p:attrName>style.visibility</p:attrName>
                                        </p:attrNameLst>
                                      </p:cBhvr>
                                      <p:to>
                                        <p:strVal val="visible"/>
                                      </p:to>
                                    </p:set>
                                    <p:animEffect filter="dissolve" transition="in">
                                      <p:cBhvr>
                                        <p:cTn id="32" dur="2000"/>
                                        <p:tgtEl>
                                          <p:spTgt spid="867"/>
                                        </p:tgtEl>
                                      </p:cBhvr>
                                    </p:animEffect>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8" presetID="2" grpId="7" fill="hold">
                                  <p:stCondLst>
                                    <p:cond delay="0"/>
                                  </p:stCondLst>
                                  <p:iterate type="el" backwards="0">
                                    <p:tmAbs val="0"/>
                                  </p:iterate>
                                  <p:childTnLst>
                                    <p:set>
                                      <p:cBhvr>
                                        <p:cTn id="36" fill="hold"/>
                                        <p:tgtEl>
                                          <p:spTgt spid="869"/>
                                        </p:tgtEl>
                                        <p:attrNameLst>
                                          <p:attrName>style.visibility</p:attrName>
                                        </p:attrNameLst>
                                      </p:cBhvr>
                                      <p:to>
                                        <p:strVal val="visible"/>
                                      </p:to>
                                    </p:set>
                                    <p:anim calcmode="lin" valueType="num">
                                      <p:cBhvr>
                                        <p:cTn id="37" dur="1000" fill="hold"/>
                                        <p:tgtEl>
                                          <p:spTgt spid="869"/>
                                        </p:tgtEl>
                                        <p:attrNameLst>
                                          <p:attrName>ppt_x</p:attrName>
                                        </p:attrNameLst>
                                      </p:cBhvr>
                                      <p:tavLst>
                                        <p:tav tm="0">
                                          <p:val>
                                            <p:strVal val="0-#ppt_w/2"/>
                                          </p:val>
                                        </p:tav>
                                        <p:tav tm="100000">
                                          <p:val>
                                            <p:strVal val="#ppt_x"/>
                                          </p:val>
                                        </p:tav>
                                      </p:tavLst>
                                    </p:anim>
                                    <p:anim calcmode="lin" valueType="num">
                                      <p:cBhvr>
                                        <p:cTn id="38" dur="1000" fill="hold"/>
                                        <p:tgtEl>
                                          <p:spTgt spid="869"/>
                                        </p:tgtEl>
                                        <p:attrNameLst>
                                          <p:attrName>ppt_y</p:attrName>
                                        </p:attrNameLst>
                                      </p:cBhvr>
                                      <p:tavLst>
                                        <p:tav tm="0">
                                          <p:val>
                                            <p:strVal val="#ppt_y"/>
                                          </p:val>
                                        </p:tav>
                                        <p:tav tm="100000">
                                          <p:val>
                                            <p:strVal val="#ppt_y"/>
                                          </p:val>
                                        </p:tav>
                                      </p:tavLst>
                                    </p:anim>
                                  </p:childTnLst>
                                </p:cTn>
                              </p:par>
                            </p:childTnLst>
                          </p:cTn>
                        </p:par>
                        <p:par>
                          <p:cTn id="39" fill="hold">
                            <p:stCondLst>
                              <p:cond delay="1000"/>
                            </p:stCondLst>
                            <p:childTnLst>
                              <p:par>
                                <p:cTn id="40" presetClass="entr" nodeType="afterEffect" presetSubtype="8" presetID="2" grpId="8" fill="hold">
                                  <p:stCondLst>
                                    <p:cond delay="0"/>
                                  </p:stCondLst>
                                  <p:iterate type="el" backwards="0">
                                    <p:tmAbs val="0"/>
                                  </p:iterate>
                                  <p:childTnLst>
                                    <p:set>
                                      <p:cBhvr>
                                        <p:cTn id="41" fill="hold"/>
                                        <p:tgtEl>
                                          <p:spTgt spid="870"/>
                                        </p:tgtEl>
                                        <p:attrNameLst>
                                          <p:attrName>style.visibility</p:attrName>
                                        </p:attrNameLst>
                                      </p:cBhvr>
                                      <p:to>
                                        <p:strVal val="visible"/>
                                      </p:to>
                                    </p:set>
                                    <p:anim calcmode="lin" valueType="num">
                                      <p:cBhvr>
                                        <p:cTn id="42" dur="1000" fill="hold"/>
                                        <p:tgtEl>
                                          <p:spTgt spid="870"/>
                                        </p:tgtEl>
                                        <p:attrNameLst>
                                          <p:attrName>ppt_x</p:attrName>
                                        </p:attrNameLst>
                                      </p:cBhvr>
                                      <p:tavLst>
                                        <p:tav tm="0">
                                          <p:val>
                                            <p:strVal val="0-#ppt_w/2"/>
                                          </p:val>
                                        </p:tav>
                                        <p:tav tm="100000">
                                          <p:val>
                                            <p:strVal val="#ppt_x"/>
                                          </p:val>
                                        </p:tav>
                                      </p:tavLst>
                                    </p:anim>
                                    <p:anim calcmode="lin" valueType="num">
                                      <p:cBhvr>
                                        <p:cTn id="43" dur="1000" fill="hold"/>
                                        <p:tgtEl>
                                          <p:spTgt spid="8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61" grpId="2"/>
      <p:bldP build="whole" bldLvl="1" animBg="1" rev="0" advAuto="0" spid="862" grpId="4"/>
      <p:bldP build="whole" bldLvl="1" animBg="1" rev="0" advAuto="0" spid="867" grpId="6"/>
      <p:bldP build="whole" bldLvl="1" animBg="1" rev="0" advAuto="0" spid="869" grpId="7"/>
      <p:bldP build="whole" bldLvl="1" animBg="1" rev="0" advAuto="0" spid="863" grpId="3"/>
      <p:bldP build="whole" bldLvl="1" animBg="1" rev="0" advAuto="0" spid="865" grpId="5"/>
      <p:bldP build="whole" bldLvl="1" animBg="1" rev="0" advAuto="0" spid="860" grpId="1"/>
      <p:bldP build="whole" bldLvl="1" animBg="1" rev="0" advAuto="0" spid="870" grpId="8"/>
    </p:bldLst>
  </p:timing>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2"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873" name="AdaBoost"/>
          <p:cNvSpPr txBox="1"/>
          <p:nvPr/>
        </p:nvSpPr>
        <p:spPr>
          <a:xfrm>
            <a:off x="10361231" y="530897"/>
            <a:ext cx="3661538"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AdaBoost</a:t>
            </a:r>
          </a:p>
        </p:txBody>
      </p:sp>
      <p:sp>
        <p:nvSpPr>
          <p:cNvPr id="874" name="Cum funcționează?"/>
          <p:cNvSpPr txBox="1"/>
          <p:nvPr/>
        </p:nvSpPr>
        <p:spPr>
          <a:xfrm>
            <a:off x="1876014" y="3169658"/>
            <a:ext cx="50054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Cum funcționează?</a:t>
            </a:r>
          </a:p>
        </p:txBody>
      </p:sp>
      <p:sp>
        <p:nvSpPr>
          <p:cNvPr id="875" name="- Prima dată, antrenăm un model pe date. Dacă acest model face greșeli, AdaBoost acordă o pondere mai mare punctelor de date care au fost clasificate greșit."/>
          <p:cNvSpPr txBox="1"/>
          <p:nvPr/>
        </p:nvSpPr>
        <p:spPr>
          <a:xfrm>
            <a:off x="2583199" y="4009516"/>
            <a:ext cx="21130480"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 Prima dată, antrenăm un model pe date. Dacă acest model face greșeli, AdaBoost acordă o pondere mai mare punctelor de date care au fost clasificate greșit.</a:t>
            </a:r>
          </a:p>
        </p:txBody>
      </p:sp>
      <p:sp>
        <p:nvSpPr>
          <p:cNvPr id="876" name="- Apoi, al doilea model este antrenat pe aceleași date, dar cu mai multă atenție pe greșelile primului model (puncte de date cu greutăți mai mari)."/>
          <p:cNvSpPr txBox="1"/>
          <p:nvPr/>
        </p:nvSpPr>
        <p:spPr>
          <a:xfrm>
            <a:off x="2583199" y="5728406"/>
            <a:ext cx="21130480"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 Apoi, al doilea model este antrenat pe aceleași date, dar cu mai multă atenție pe greșelile primului model (puncte de date cu greutăți mai mari).</a:t>
            </a:r>
          </a:p>
        </p:txBody>
      </p:sp>
      <p:sp>
        <p:nvSpPr>
          <p:cNvPr id="877" name="- Acest proces continuă, iar la final combinăm toate modelele antrenate, fiecare având o contribuție ponderată, pentru a face predicția finală."/>
          <p:cNvSpPr txBox="1"/>
          <p:nvPr/>
        </p:nvSpPr>
        <p:spPr>
          <a:xfrm>
            <a:off x="2532286" y="7399305"/>
            <a:ext cx="21849945" cy="168915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Acest proces continuă, iar la final combinăm toate modelele antrenate, fiecare având o contribuție ponderată, pentru a face predicția finală.</a:t>
            </a:r>
          </a:p>
        </p:txBody>
      </p:sp>
      <p:pic>
        <p:nvPicPr>
          <p:cNvPr id="878" name="Linie Linie" descr="Linie Linie"/>
          <p:cNvPicPr>
            <a:picLocks noChangeAspect="0"/>
          </p:cNvPicPr>
          <p:nvPr/>
        </p:nvPicPr>
        <p:blipFill>
          <a:blip r:embed="rId2">
            <a:extLst/>
          </a:blip>
          <a:stretch>
            <a:fillRect/>
          </a:stretch>
        </p:blipFill>
        <p:spPr>
          <a:xfrm>
            <a:off x="4520614" y="5532677"/>
            <a:ext cx="5107078" cy="101601"/>
          </a:xfrm>
          <a:prstGeom prst="rect">
            <a:avLst/>
          </a:prstGeom>
        </p:spPr>
      </p:pic>
      <p:pic>
        <p:nvPicPr>
          <p:cNvPr id="880" name="Linie Linie" descr="Linie Linie"/>
          <p:cNvPicPr>
            <a:picLocks noChangeAspect="0"/>
          </p:cNvPicPr>
          <p:nvPr/>
        </p:nvPicPr>
        <p:blipFill>
          <a:blip r:embed="rId2">
            <a:extLst/>
          </a:blip>
          <a:stretch>
            <a:fillRect/>
          </a:stretch>
        </p:blipFill>
        <p:spPr>
          <a:xfrm>
            <a:off x="16783429" y="6522181"/>
            <a:ext cx="5107078" cy="101601"/>
          </a:xfrm>
          <a:prstGeom prst="rect">
            <a:avLst/>
          </a:prstGeom>
        </p:spPr>
      </p:pic>
      <p:pic>
        <p:nvPicPr>
          <p:cNvPr id="882" name="Linie Linie" descr="Linie Linie"/>
          <p:cNvPicPr>
            <a:picLocks noChangeAspect="0"/>
          </p:cNvPicPr>
          <p:nvPr/>
        </p:nvPicPr>
        <p:blipFill>
          <a:blip r:embed="rId3">
            <a:extLst/>
          </a:blip>
          <a:stretch>
            <a:fillRect/>
          </a:stretch>
        </p:blipFill>
        <p:spPr>
          <a:xfrm>
            <a:off x="2400241" y="9042092"/>
            <a:ext cx="5902163"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874"/>
                                        </p:tgtEl>
                                        <p:attrNameLst>
                                          <p:attrName>style.visibility</p:attrName>
                                        </p:attrNameLst>
                                      </p:cBhvr>
                                      <p:to>
                                        <p:strVal val="visible"/>
                                      </p:to>
                                    </p:set>
                                    <p:anim calcmode="lin" valueType="num">
                                      <p:cBhvr>
                                        <p:cTn id="7" dur="1000" fill="hold"/>
                                        <p:tgtEl>
                                          <p:spTgt spid="874"/>
                                        </p:tgtEl>
                                        <p:attrNameLst>
                                          <p:attrName>ppt_x</p:attrName>
                                        </p:attrNameLst>
                                      </p:cBhvr>
                                      <p:tavLst>
                                        <p:tav tm="0">
                                          <p:val>
                                            <p:strVal val="0-#ppt_w/2"/>
                                          </p:val>
                                        </p:tav>
                                        <p:tav tm="100000">
                                          <p:val>
                                            <p:strVal val="#ppt_x"/>
                                          </p:val>
                                        </p:tav>
                                      </p:tavLst>
                                    </p:anim>
                                    <p:anim calcmode="lin" valueType="num">
                                      <p:cBhvr>
                                        <p:cTn id="8" dur="1000" fill="hold"/>
                                        <p:tgtEl>
                                          <p:spTgt spid="8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875"/>
                                        </p:tgtEl>
                                        <p:attrNameLst>
                                          <p:attrName>style.visibility</p:attrName>
                                        </p:attrNameLst>
                                      </p:cBhvr>
                                      <p:to>
                                        <p:strVal val="visible"/>
                                      </p:to>
                                    </p:set>
                                    <p:anim calcmode="lin" valueType="num">
                                      <p:cBhvr>
                                        <p:cTn id="13" dur="1000" fill="hold"/>
                                        <p:tgtEl>
                                          <p:spTgt spid="875"/>
                                        </p:tgtEl>
                                        <p:attrNameLst>
                                          <p:attrName>ppt_x</p:attrName>
                                        </p:attrNameLst>
                                      </p:cBhvr>
                                      <p:tavLst>
                                        <p:tav tm="0">
                                          <p:val>
                                            <p:strVal val="0-#ppt_w/2"/>
                                          </p:val>
                                        </p:tav>
                                        <p:tav tm="100000">
                                          <p:val>
                                            <p:strVal val="#ppt_x"/>
                                          </p:val>
                                        </p:tav>
                                      </p:tavLst>
                                    </p:anim>
                                    <p:anim calcmode="lin" valueType="num">
                                      <p:cBhvr>
                                        <p:cTn id="14" dur="1000" fill="hold"/>
                                        <p:tgtEl>
                                          <p:spTgt spid="875"/>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ID="9" grpId="3" fill="hold">
                                  <p:stCondLst>
                                    <p:cond delay="0"/>
                                  </p:stCondLst>
                                  <p:iterate type="el" backwards="0">
                                    <p:tmAbs val="0"/>
                                  </p:iterate>
                                  <p:childTnLst>
                                    <p:set>
                                      <p:cBhvr>
                                        <p:cTn id="17" fill="hold"/>
                                        <p:tgtEl>
                                          <p:spTgt spid="878"/>
                                        </p:tgtEl>
                                        <p:attrNameLst>
                                          <p:attrName>style.visibility</p:attrName>
                                        </p:attrNameLst>
                                      </p:cBhvr>
                                      <p:to>
                                        <p:strVal val="visible"/>
                                      </p:to>
                                    </p:set>
                                    <p:animEffect filter="dissolve" transition="in">
                                      <p:cBhvr>
                                        <p:cTn id="18" dur="2000"/>
                                        <p:tgtEl>
                                          <p:spTgt spid="878"/>
                                        </p:tgtEl>
                                      </p:cBhvr>
                                    </p:animEffec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 grpId="4" fill="hold">
                                  <p:stCondLst>
                                    <p:cond delay="0"/>
                                  </p:stCondLst>
                                  <p:iterate type="el" backwards="0">
                                    <p:tmAbs val="0"/>
                                  </p:iterate>
                                  <p:childTnLst>
                                    <p:set>
                                      <p:cBhvr>
                                        <p:cTn id="22" fill="hold"/>
                                        <p:tgtEl>
                                          <p:spTgt spid="876"/>
                                        </p:tgtEl>
                                        <p:attrNameLst>
                                          <p:attrName>style.visibility</p:attrName>
                                        </p:attrNameLst>
                                      </p:cBhvr>
                                      <p:to>
                                        <p:strVal val="visible"/>
                                      </p:to>
                                    </p:set>
                                    <p:anim calcmode="lin" valueType="num">
                                      <p:cBhvr>
                                        <p:cTn id="23" dur="1000" fill="hold"/>
                                        <p:tgtEl>
                                          <p:spTgt spid="876"/>
                                        </p:tgtEl>
                                        <p:attrNameLst>
                                          <p:attrName>ppt_x</p:attrName>
                                        </p:attrNameLst>
                                      </p:cBhvr>
                                      <p:tavLst>
                                        <p:tav tm="0">
                                          <p:val>
                                            <p:strVal val="0-#ppt_w/2"/>
                                          </p:val>
                                        </p:tav>
                                        <p:tav tm="100000">
                                          <p:val>
                                            <p:strVal val="#ppt_x"/>
                                          </p:val>
                                        </p:tav>
                                      </p:tavLst>
                                    </p:anim>
                                    <p:anim calcmode="lin" valueType="num">
                                      <p:cBhvr>
                                        <p:cTn id="24" dur="1000" fill="hold"/>
                                        <p:tgtEl>
                                          <p:spTgt spid="876"/>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Class="entr" nodeType="afterEffect" presetID="9" grpId="5" fill="hold">
                                  <p:stCondLst>
                                    <p:cond delay="0"/>
                                  </p:stCondLst>
                                  <p:iterate type="el" backwards="0">
                                    <p:tmAbs val="0"/>
                                  </p:iterate>
                                  <p:childTnLst>
                                    <p:set>
                                      <p:cBhvr>
                                        <p:cTn id="27" fill="hold"/>
                                        <p:tgtEl>
                                          <p:spTgt spid="880"/>
                                        </p:tgtEl>
                                        <p:attrNameLst>
                                          <p:attrName>style.visibility</p:attrName>
                                        </p:attrNameLst>
                                      </p:cBhvr>
                                      <p:to>
                                        <p:strVal val="visible"/>
                                      </p:to>
                                    </p:set>
                                    <p:animEffect filter="dissolve" transition="in">
                                      <p:cBhvr>
                                        <p:cTn id="28" dur="2000"/>
                                        <p:tgtEl>
                                          <p:spTgt spid="880"/>
                                        </p:tgtEl>
                                      </p:cBhvr>
                                    </p:animEffec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8" presetID="2" grpId="6" fill="hold">
                                  <p:stCondLst>
                                    <p:cond delay="0"/>
                                  </p:stCondLst>
                                  <p:iterate type="el" backwards="0">
                                    <p:tmAbs val="0"/>
                                  </p:iterate>
                                  <p:childTnLst>
                                    <p:set>
                                      <p:cBhvr>
                                        <p:cTn id="32" fill="hold"/>
                                        <p:tgtEl>
                                          <p:spTgt spid="877"/>
                                        </p:tgtEl>
                                        <p:attrNameLst>
                                          <p:attrName>style.visibility</p:attrName>
                                        </p:attrNameLst>
                                      </p:cBhvr>
                                      <p:to>
                                        <p:strVal val="visible"/>
                                      </p:to>
                                    </p:set>
                                    <p:anim calcmode="lin" valueType="num">
                                      <p:cBhvr>
                                        <p:cTn id="33" dur="2500" fill="hold"/>
                                        <p:tgtEl>
                                          <p:spTgt spid="877"/>
                                        </p:tgtEl>
                                        <p:attrNameLst>
                                          <p:attrName>ppt_x</p:attrName>
                                        </p:attrNameLst>
                                      </p:cBhvr>
                                      <p:tavLst>
                                        <p:tav tm="0">
                                          <p:val>
                                            <p:strVal val="0-#ppt_w/2"/>
                                          </p:val>
                                        </p:tav>
                                        <p:tav tm="100000">
                                          <p:val>
                                            <p:strVal val="#ppt_x"/>
                                          </p:val>
                                        </p:tav>
                                      </p:tavLst>
                                    </p:anim>
                                    <p:anim calcmode="lin" valueType="num">
                                      <p:cBhvr>
                                        <p:cTn id="34" dur="2500" fill="hold"/>
                                        <p:tgtEl>
                                          <p:spTgt spid="877"/>
                                        </p:tgtEl>
                                        <p:attrNameLst>
                                          <p:attrName>ppt_y</p:attrName>
                                        </p:attrNameLst>
                                      </p:cBhvr>
                                      <p:tavLst>
                                        <p:tav tm="0">
                                          <p:val>
                                            <p:strVal val="#ppt_y"/>
                                          </p:val>
                                        </p:tav>
                                        <p:tav tm="100000">
                                          <p:val>
                                            <p:strVal val="#ppt_y"/>
                                          </p:val>
                                        </p:tav>
                                      </p:tavLst>
                                    </p:anim>
                                  </p:childTnLst>
                                </p:cTn>
                              </p:par>
                            </p:childTnLst>
                          </p:cTn>
                        </p:par>
                        <p:par>
                          <p:cTn id="35" fill="hold">
                            <p:stCondLst>
                              <p:cond delay="2500"/>
                            </p:stCondLst>
                            <p:childTnLst>
                              <p:par>
                                <p:cTn id="36" presetClass="entr" nodeType="afterEffect" presetID="9" grpId="7" fill="hold">
                                  <p:stCondLst>
                                    <p:cond delay="0"/>
                                  </p:stCondLst>
                                  <p:iterate type="el" backwards="0">
                                    <p:tmAbs val="0"/>
                                  </p:iterate>
                                  <p:childTnLst>
                                    <p:set>
                                      <p:cBhvr>
                                        <p:cTn id="37" fill="hold"/>
                                        <p:tgtEl>
                                          <p:spTgt spid="882"/>
                                        </p:tgtEl>
                                        <p:attrNameLst>
                                          <p:attrName>style.visibility</p:attrName>
                                        </p:attrNameLst>
                                      </p:cBhvr>
                                      <p:to>
                                        <p:strVal val="visible"/>
                                      </p:to>
                                    </p:set>
                                    <p:animEffect filter="dissolve" transition="in">
                                      <p:cBhvr>
                                        <p:cTn id="38" dur="2000"/>
                                        <p:tgtEl>
                                          <p:spTgt spid="8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82" grpId="7"/>
      <p:bldP build="whole" bldLvl="1" animBg="1" rev="0" advAuto="0" spid="880" grpId="5"/>
      <p:bldP build="whole" bldLvl="1" animBg="1" rev="0" advAuto="0" spid="875" grpId="2"/>
      <p:bldP build="whole" bldLvl="1" animBg="1" rev="0" advAuto="0" spid="878" grpId="3"/>
      <p:bldP build="whole" bldLvl="1" animBg="1" rev="0" advAuto="0" spid="874" grpId="1"/>
      <p:bldP build="whole" bldLvl="1" animBg="1" rev="0" advAuto="0" spid="876" grpId="4"/>
      <p:bldP build="whole" bldLvl="1" animBg="1" rev="0" advAuto="0" spid="877" grpId="6"/>
    </p:bldLst>
  </p:timing>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5"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886" name="AdaBoost"/>
          <p:cNvSpPr txBox="1"/>
          <p:nvPr/>
        </p:nvSpPr>
        <p:spPr>
          <a:xfrm>
            <a:off x="10361231" y="530897"/>
            <a:ext cx="3661538"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AdaBoost</a:t>
            </a:r>
          </a:p>
        </p:txBody>
      </p:sp>
      <p:pic>
        <p:nvPicPr>
          <p:cNvPr id="887" name="Captură de ecran din 2024-10-21 la 12.32.05.png" descr="Captură de ecran din 2024-10-21 la 12.32.05.png"/>
          <p:cNvPicPr>
            <a:picLocks noChangeAspect="1"/>
          </p:cNvPicPr>
          <p:nvPr/>
        </p:nvPicPr>
        <p:blipFill>
          <a:blip r:embed="rId2">
            <a:extLst/>
          </a:blip>
          <a:stretch>
            <a:fillRect/>
          </a:stretch>
        </p:blipFill>
        <p:spPr>
          <a:xfrm>
            <a:off x="4248446" y="2046660"/>
            <a:ext cx="15887108" cy="10843876"/>
          </a:xfrm>
          <a:prstGeom prst="rect">
            <a:avLst/>
          </a:prstGeom>
          <a:ln w="12700">
            <a:miter lim="400000"/>
          </a:ln>
        </p:spPr>
      </p:pic>
      <p:pic>
        <p:nvPicPr>
          <p:cNvPr id="888" name="Linie Linie" descr="Linie Linie"/>
          <p:cNvPicPr>
            <a:picLocks noChangeAspect="0"/>
          </p:cNvPicPr>
          <p:nvPr/>
        </p:nvPicPr>
        <p:blipFill>
          <a:blip r:embed="rId3">
            <a:extLst/>
          </a:blip>
          <a:stretch>
            <a:fillRect/>
          </a:stretch>
        </p:blipFill>
        <p:spPr>
          <a:xfrm>
            <a:off x="9764485" y="2966181"/>
            <a:ext cx="2966617" cy="101601"/>
          </a:xfrm>
          <a:prstGeom prst="rect">
            <a:avLst/>
          </a:prstGeom>
        </p:spPr>
      </p:pic>
      <p:pic>
        <p:nvPicPr>
          <p:cNvPr id="890" name="Linie Linie" descr="Linie Linie"/>
          <p:cNvPicPr>
            <a:picLocks noChangeAspect="0"/>
          </p:cNvPicPr>
          <p:nvPr/>
        </p:nvPicPr>
        <p:blipFill>
          <a:blip r:embed="rId3">
            <a:extLst/>
          </a:blip>
          <a:stretch>
            <a:fillRect/>
          </a:stretch>
        </p:blipFill>
        <p:spPr>
          <a:xfrm>
            <a:off x="6857531" y="6807200"/>
            <a:ext cx="2966617" cy="1016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888"/>
                                        </p:tgtEl>
                                        <p:attrNameLst>
                                          <p:attrName>style.visibility</p:attrName>
                                        </p:attrNameLst>
                                      </p:cBhvr>
                                      <p:to>
                                        <p:strVal val="visible"/>
                                      </p:to>
                                    </p:set>
                                    <p:animEffect filter="dissolve" transition="in">
                                      <p:cBhvr>
                                        <p:cTn id="7" dur="2000"/>
                                        <p:tgtEl>
                                          <p:spTgt spid="888"/>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890"/>
                                        </p:tgtEl>
                                        <p:attrNameLst>
                                          <p:attrName>style.visibility</p:attrName>
                                        </p:attrNameLst>
                                      </p:cBhvr>
                                      <p:to>
                                        <p:strVal val="visible"/>
                                      </p:to>
                                    </p:set>
                                    <p:animEffect filter="dissolve" transition="in">
                                      <p:cBhvr>
                                        <p:cTn id="11" dur="2000"/>
                                        <p:tgtEl>
                                          <p:spTgt spid="890"/>
                                        </p:tgtEl>
                                      </p:cBhvr>
                                    </p:animEffect>
                                  </p:childTnLst>
                                </p:cTn>
                              </p:par>
                            </p:childTnLst>
                          </p:cTn>
                        </p:par>
                      </p:childTnLst>
                    </p:cTn>
                  </p:par>
                  <p:par>
                    <p:cTn id="12" fill="hold">
                      <p:stCondLst>
                        <p:cond delay="indefinite"/>
                      </p:stCondLst>
                      <p:childTnLst>
                        <p:par>
                          <p:cTn id="13" fill="hold">
                            <p:stCondLst>
                              <p:cond delay="0"/>
                            </p:stCondLst>
                            <p:childTnLst>
                              <p:par>
                                <p:cTn id="14" presetClass="exit" nodeType="clickEffect" presetID="9" grpId="3" fill="hold">
                                  <p:stCondLst>
                                    <p:cond delay="0"/>
                                  </p:stCondLst>
                                  <p:iterate type="el" backwards="0">
                                    <p:tmAbs val="0"/>
                                  </p:iterate>
                                  <p:childTnLst>
                                    <p:animEffect filter="dissolve" transition="out">
                                      <p:cBhvr>
                                        <p:cTn id="15" dur="2000" fill="hold"/>
                                        <p:tgtEl>
                                          <p:spTgt spid="888"/>
                                        </p:tgtEl>
                                      </p:cBhvr>
                                    </p:animEffect>
                                    <p:set>
                                      <p:cBhvr>
                                        <p:cTn id="16" fill="hold">
                                          <p:stCondLst>
                                            <p:cond delay="1999"/>
                                          </p:stCondLst>
                                        </p:cTn>
                                        <p:tgtEl>
                                          <p:spTgt spid="888"/>
                                        </p:tgtEl>
                                        <p:attrNameLst>
                                          <p:attrName>style.visibility</p:attrName>
                                        </p:attrNameLst>
                                      </p:cBhvr>
                                      <p:to>
                                        <p:strVal val="hidden"/>
                                      </p:to>
                                    </p:set>
                                  </p:childTnLst>
                                </p:cTn>
                              </p:par>
                            </p:childTnLst>
                          </p:cTn>
                        </p:par>
                        <p:par>
                          <p:cTn id="17" fill="hold">
                            <p:stCondLst>
                              <p:cond delay="2000"/>
                            </p:stCondLst>
                            <p:childTnLst>
                              <p:par>
                                <p:cTn id="18" presetClass="exit" nodeType="afterEffect" presetID="9" grpId="4" fill="hold">
                                  <p:stCondLst>
                                    <p:cond delay="0"/>
                                  </p:stCondLst>
                                  <p:iterate type="el" backwards="0">
                                    <p:tmAbs val="0"/>
                                  </p:iterate>
                                  <p:childTnLst>
                                    <p:animEffect filter="dissolve" transition="out">
                                      <p:cBhvr>
                                        <p:cTn id="19" dur="2000" fill="hold"/>
                                        <p:tgtEl>
                                          <p:spTgt spid="890"/>
                                        </p:tgtEl>
                                      </p:cBhvr>
                                    </p:animEffect>
                                    <p:set>
                                      <p:cBhvr>
                                        <p:cTn id="20" fill="hold">
                                          <p:stCondLst>
                                            <p:cond delay="1999"/>
                                          </p:stCondLst>
                                        </p:cTn>
                                        <p:tgtEl>
                                          <p:spTgt spid="89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90" grpId="4"/>
      <p:bldP build="whole" bldLvl="1" animBg="1" rev="0" advAuto="0" spid="890" grpId="2"/>
      <p:bldP build="whole" bldLvl="1" animBg="1" rev="0" advAuto="0" spid="888" grpId="1"/>
      <p:bldP build="whole" bldLvl="1" animBg="1" rev="0" advAuto="0" spid="888" grpId="3"/>
    </p:bldLst>
  </p:timing>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894" name="AdaBoost"/>
          <p:cNvSpPr txBox="1"/>
          <p:nvPr/>
        </p:nvSpPr>
        <p:spPr>
          <a:xfrm>
            <a:off x="10361231" y="530897"/>
            <a:ext cx="3661538"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AdaBoost</a:t>
            </a:r>
          </a:p>
        </p:txBody>
      </p:sp>
      <p:pic>
        <p:nvPicPr>
          <p:cNvPr id="895" name="Captură de ecran din 2024-10-21 la 12.32.05.png" descr="Captură de ecran din 2024-10-21 la 12.32.05.png"/>
          <p:cNvPicPr>
            <a:picLocks noChangeAspect="1"/>
          </p:cNvPicPr>
          <p:nvPr/>
        </p:nvPicPr>
        <p:blipFill>
          <a:blip r:embed="rId2">
            <a:extLst/>
          </a:blip>
          <a:stretch>
            <a:fillRect/>
          </a:stretch>
        </p:blipFill>
        <p:spPr>
          <a:xfrm>
            <a:off x="933570" y="3151619"/>
            <a:ext cx="12293060" cy="8390728"/>
          </a:xfrm>
          <a:prstGeom prst="rect">
            <a:avLst/>
          </a:prstGeom>
          <a:ln w="12700">
            <a:miter lim="400000"/>
          </a:ln>
        </p:spPr>
      </p:pic>
      <p:sp>
        <p:nvSpPr>
          <p:cNvPr id="896" name="Parametri:"/>
          <p:cNvSpPr txBox="1"/>
          <p:nvPr/>
        </p:nvSpPr>
        <p:spPr>
          <a:xfrm>
            <a:off x="13235992" y="3312513"/>
            <a:ext cx="276860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Parametri:</a:t>
            </a:r>
          </a:p>
        </p:txBody>
      </p:sp>
      <p:sp>
        <p:nvSpPr>
          <p:cNvPr id="897" name="- modelul folosit în a realiza ansamblul"/>
          <p:cNvSpPr txBox="1"/>
          <p:nvPr/>
        </p:nvSpPr>
        <p:spPr>
          <a:xfrm>
            <a:off x="13522659" y="4046612"/>
            <a:ext cx="957981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4"/>
                </a:solidFill>
              </a:defRPr>
            </a:lvl1pPr>
          </a:lstStyle>
          <a:p>
            <a:pPr/>
            <a:r>
              <a:t>- modelul folosit în a realiza ansamblul</a:t>
            </a:r>
          </a:p>
        </p:txBody>
      </p:sp>
      <p:sp>
        <p:nvSpPr>
          <p:cNvPr id="898" name="- numărul de modele din ansamblu"/>
          <p:cNvSpPr txBox="1"/>
          <p:nvPr/>
        </p:nvSpPr>
        <p:spPr>
          <a:xfrm>
            <a:off x="13522659" y="4927551"/>
            <a:ext cx="868517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3"/>
                </a:solidFill>
              </a:defRPr>
            </a:lvl1pPr>
          </a:lstStyle>
          <a:p>
            <a:pPr/>
            <a:r>
              <a:t>- numărul de modele din ansamblu</a:t>
            </a:r>
          </a:p>
        </p:txBody>
      </p:sp>
      <p:sp>
        <p:nvSpPr>
          <p:cNvPr id="899" name="- rata de contribuție a fiecărui model nou"/>
          <p:cNvSpPr txBox="1"/>
          <p:nvPr/>
        </p:nvSpPr>
        <p:spPr>
          <a:xfrm>
            <a:off x="13488539" y="5740814"/>
            <a:ext cx="10796702" cy="9342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solidFill>
                  <a:schemeClr val="accent2"/>
                </a:solidFill>
              </a:defRPr>
            </a:lvl1pPr>
          </a:lstStyle>
          <a:p>
            <a:pPr/>
            <a:r>
              <a:t>- rata de contribuție a fiecărui model nou</a:t>
            </a:r>
          </a:p>
        </p:txBody>
      </p:sp>
      <p:pic>
        <p:nvPicPr>
          <p:cNvPr id="900" name="Linie Linie" descr="Linie Linie"/>
          <p:cNvPicPr>
            <a:picLocks noChangeAspect="0"/>
          </p:cNvPicPr>
          <p:nvPr/>
        </p:nvPicPr>
        <p:blipFill>
          <a:blip r:embed="rId3">
            <a:extLst/>
          </a:blip>
          <a:stretch>
            <a:fillRect/>
          </a:stretch>
        </p:blipFill>
        <p:spPr>
          <a:xfrm rot="16200000">
            <a:off x="1912059" y="6981150"/>
            <a:ext cx="337034" cy="101601"/>
          </a:xfrm>
          <a:prstGeom prst="rect">
            <a:avLst/>
          </a:prstGeom>
        </p:spPr>
      </p:pic>
      <p:pic>
        <p:nvPicPr>
          <p:cNvPr id="902" name="Linie Linie" descr="Linie Linie"/>
          <p:cNvPicPr>
            <a:picLocks noChangeAspect="0"/>
          </p:cNvPicPr>
          <p:nvPr/>
        </p:nvPicPr>
        <p:blipFill>
          <a:blip r:embed="rId4">
            <a:extLst/>
          </a:blip>
          <a:stretch>
            <a:fillRect/>
          </a:stretch>
        </p:blipFill>
        <p:spPr>
          <a:xfrm rot="16200000">
            <a:off x="1912059" y="7296182"/>
            <a:ext cx="337034" cy="101601"/>
          </a:xfrm>
          <a:prstGeom prst="rect">
            <a:avLst/>
          </a:prstGeom>
        </p:spPr>
      </p:pic>
      <p:pic>
        <p:nvPicPr>
          <p:cNvPr id="904" name="Linie Linie" descr="Linie Linie"/>
          <p:cNvPicPr>
            <a:picLocks noChangeAspect="0"/>
          </p:cNvPicPr>
          <p:nvPr/>
        </p:nvPicPr>
        <p:blipFill>
          <a:blip r:embed="rId5">
            <a:extLst/>
          </a:blip>
          <a:stretch>
            <a:fillRect/>
          </a:stretch>
        </p:blipFill>
        <p:spPr>
          <a:xfrm rot="16200000">
            <a:off x="1912059" y="7591735"/>
            <a:ext cx="337034" cy="101601"/>
          </a:xfrm>
          <a:prstGeom prst="rect">
            <a:avLst/>
          </a:prstGeom>
        </p:spPr>
      </p:pic>
      <p:sp>
        <p:nvSpPr>
          <p:cNvPr id="906" name="Dacă learning_rate este mare,  fiecare model nou are un impact mai puternic asupra predicției finale."/>
          <p:cNvSpPr txBox="1"/>
          <p:nvPr/>
        </p:nvSpPr>
        <p:spPr>
          <a:xfrm>
            <a:off x="13449986" y="8012785"/>
            <a:ext cx="9888921" cy="125618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lvl1pPr>
          </a:lstStyle>
          <a:p>
            <a:pPr/>
            <a:r>
              <a:t>Dacă learning_rate este mare,  fiecare model nou are un impact mai puternic asupra predicției finale. </a:t>
            </a:r>
          </a:p>
        </p:txBody>
      </p:sp>
      <p:sp>
        <p:nvSpPr>
          <p:cNvPr id="907" name="Dacă learning_rate este mic,  fiecare model nou corectează erorile mai încet și cu mai multă grijă."/>
          <p:cNvSpPr txBox="1"/>
          <p:nvPr/>
        </p:nvSpPr>
        <p:spPr>
          <a:xfrm>
            <a:off x="13449986" y="9581849"/>
            <a:ext cx="9888921" cy="125618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lvl1pPr>
          </a:lstStyle>
          <a:p>
            <a:pPr/>
            <a:r>
              <a:t>Dacă learning_rate este mic,  fiecare model nou corectează erorile mai încet și cu mai multă grijă.</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896"/>
                                        </p:tgtEl>
                                        <p:attrNameLst>
                                          <p:attrName>style.visibility</p:attrName>
                                        </p:attrNameLst>
                                      </p:cBhvr>
                                      <p:to>
                                        <p:strVal val="visible"/>
                                      </p:to>
                                    </p:set>
                                    <p:anim calcmode="lin" valueType="num">
                                      <p:cBhvr>
                                        <p:cTn id="7" dur="1000" fill="hold"/>
                                        <p:tgtEl>
                                          <p:spTgt spid="896"/>
                                        </p:tgtEl>
                                        <p:attrNameLst>
                                          <p:attrName>ppt_x</p:attrName>
                                        </p:attrNameLst>
                                      </p:cBhvr>
                                      <p:tavLst>
                                        <p:tav tm="0">
                                          <p:val>
                                            <p:strVal val="0-#ppt_w/2"/>
                                          </p:val>
                                        </p:tav>
                                        <p:tav tm="100000">
                                          <p:val>
                                            <p:strVal val="#ppt_x"/>
                                          </p:val>
                                        </p:tav>
                                      </p:tavLst>
                                    </p:anim>
                                    <p:anim calcmode="lin" valueType="num">
                                      <p:cBhvr>
                                        <p:cTn id="8" dur="1000" fill="hold"/>
                                        <p:tgtEl>
                                          <p:spTgt spid="896"/>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0"/>
                                  </p:stCondLst>
                                  <p:iterate type="el" backwards="0">
                                    <p:tmAbs val="0"/>
                                  </p:iterate>
                                  <p:childTnLst>
                                    <p:set>
                                      <p:cBhvr>
                                        <p:cTn id="11" fill="hold"/>
                                        <p:tgtEl>
                                          <p:spTgt spid="897"/>
                                        </p:tgtEl>
                                        <p:attrNameLst>
                                          <p:attrName>style.visibility</p:attrName>
                                        </p:attrNameLst>
                                      </p:cBhvr>
                                      <p:to>
                                        <p:strVal val="visible"/>
                                      </p:to>
                                    </p:set>
                                    <p:anim calcmode="lin" valueType="num">
                                      <p:cBhvr>
                                        <p:cTn id="12" dur="1000" fill="hold"/>
                                        <p:tgtEl>
                                          <p:spTgt spid="897"/>
                                        </p:tgtEl>
                                        <p:attrNameLst>
                                          <p:attrName>ppt_x</p:attrName>
                                        </p:attrNameLst>
                                      </p:cBhvr>
                                      <p:tavLst>
                                        <p:tav tm="0">
                                          <p:val>
                                            <p:strVal val="0-#ppt_w/2"/>
                                          </p:val>
                                        </p:tav>
                                        <p:tav tm="100000">
                                          <p:val>
                                            <p:strVal val="#ppt_x"/>
                                          </p:val>
                                        </p:tav>
                                      </p:tavLst>
                                    </p:anim>
                                    <p:anim calcmode="lin" valueType="num">
                                      <p:cBhvr>
                                        <p:cTn id="13" dur="1000" fill="hold"/>
                                        <p:tgtEl>
                                          <p:spTgt spid="897"/>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Class="entr" nodeType="afterEffect" presetSubtype="8" presetID="2" grpId="3" fill="hold">
                                  <p:stCondLst>
                                    <p:cond delay="0"/>
                                  </p:stCondLst>
                                  <p:iterate type="el" backwards="0">
                                    <p:tmAbs val="0"/>
                                  </p:iterate>
                                  <p:childTnLst>
                                    <p:set>
                                      <p:cBhvr>
                                        <p:cTn id="16" fill="hold"/>
                                        <p:tgtEl>
                                          <p:spTgt spid="898"/>
                                        </p:tgtEl>
                                        <p:attrNameLst>
                                          <p:attrName>style.visibility</p:attrName>
                                        </p:attrNameLst>
                                      </p:cBhvr>
                                      <p:to>
                                        <p:strVal val="visible"/>
                                      </p:to>
                                    </p:set>
                                    <p:anim calcmode="lin" valueType="num">
                                      <p:cBhvr>
                                        <p:cTn id="17" dur="1000" fill="hold"/>
                                        <p:tgtEl>
                                          <p:spTgt spid="898"/>
                                        </p:tgtEl>
                                        <p:attrNameLst>
                                          <p:attrName>ppt_x</p:attrName>
                                        </p:attrNameLst>
                                      </p:cBhvr>
                                      <p:tavLst>
                                        <p:tav tm="0">
                                          <p:val>
                                            <p:strVal val="0-#ppt_w/2"/>
                                          </p:val>
                                        </p:tav>
                                        <p:tav tm="100000">
                                          <p:val>
                                            <p:strVal val="#ppt_x"/>
                                          </p:val>
                                        </p:tav>
                                      </p:tavLst>
                                    </p:anim>
                                    <p:anim calcmode="lin" valueType="num">
                                      <p:cBhvr>
                                        <p:cTn id="18" dur="1000" fill="hold"/>
                                        <p:tgtEl>
                                          <p:spTgt spid="898"/>
                                        </p:tgtEl>
                                        <p:attrNameLst>
                                          <p:attrName>ppt_y</p:attrName>
                                        </p:attrNameLst>
                                      </p:cBhvr>
                                      <p:tavLst>
                                        <p:tav tm="0">
                                          <p:val>
                                            <p:strVal val="#ppt_y"/>
                                          </p:val>
                                        </p:tav>
                                        <p:tav tm="100000">
                                          <p:val>
                                            <p:strVal val="#ppt_y"/>
                                          </p:val>
                                        </p:tav>
                                      </p:tavLst>
                                    </p:anim>
                                  </p:childTnLst>
                                </p:cTn>
                              </p:par>
                            </p:childTnLst>
                          </p:cTn>
                        </p:par>
                        <p:par>
                          <p:cTn id="19" fill="hold">
                            <p:stCondLst>
                              <p:cond delay="3000"/>
                            </p:stCondLst>
                            <p:childTnLst>
                              <p:par>
                                <p:cTn id="20" presetClass="entr" nodeType="afterEffect" presetSubtype="8" presetID="2" grpId="4" fill="hold">
                                  <p:stCondLst>
                                    <p:cond delay="0"/>
                                  </p:stCondLst>
                                  <p:iterate type="el" backwards="0">
                                    <p:tmAbs val="0"/>
                                  </p:iterate>
                                  <p:childTnLst>
                                    <p:set>
                                      <p:cBhvr>
                                        <p:cTn id="21" fill="hold"/>
                                        <p:tgtEl>
                                          <p:spTgt spid="899"/>
                                        </p:tgtEl>
                                        <p:attrNameLst>
                                          <p:attrName>style.visibility</p:attrName>
                                        </p:attrNameLst>
                                      </p:cBhvr>
                                      <p:to>
                                        <p:strVal val="visible"/>
                                      </p:to>
                                    </p:set>
                                    <p:anim calcmode="lin" valueType="num">
                                      <p:cBhvr>
                                        <p:cTn id="22" dur="1000" fill="hold"/>
                                        <p:tgtEl>
                                          <p:spTgt spid="899"/>
                                        </p:tgtEl>
                                        <p:attrNameLst>
                                          <p:attrName>ppt_x</p:attrName>
                                        </p:attrNameLst>
                                      </p:cBhvr>
                                      <p:tavLst>
                                        <p:tav tm="0">
                                          <p:val>
                                            <p:strVal val="0-#ppt_w/2"/>
                                          </p:val>
                                        </p:tav>
                                        <p:tav tm="100000">
                                          <p:val>
                                            <p:strVal val="#ppt_x"/>
                                          </p:val>
                                        </p:tav>
                                      </p:tavLst>
                                    </p:anim>
                                    <p:anim calcmode="lin" valueType="num">
                                      <p:cBhvr>
                                        <p:cTn id="23" dur="1000" fill="hold"/>
                                        <p:tgtEl>
                                          <p:spTgt spid="899"/>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8" presetID="2" grpId="5" fill="hold">
                                  <p:stCondLst>
                                    <p:cond delay="0"/>
                                  </p:stCondLst>
                                  <p:iterate type="el" backwards="0">
                                    <p:tmAbs val="0"/>
                                  </p:iterate>
                                  <p:childTnLst>
                                    <p:set>
                                      <p:cBhvr>
                                        <p:cTn id="27" fill="hold"/>
                                        <p:tgtEl>
                                          <p:spTgt spid="906"/>
                                        </p:tgtEl>
                                        <p:attrNameLst>
                                          <p:attrName>style.visibility</p:attrName>
                                        </p:attrNameLst>
                                      </p:cBhvr>
                                      <p:to>
                                        <p:strVal val="visible"/>
                                      </p:to>
                                    </p:set>
                                    <p:anim calcmode="lin" valueType="num">
                                      <p:cBhvr>
                                        <p:cTn id="28" dur="1000" fill="hold"/>
                                        <p:tgtEl>
                                          <p:spTgt spid="906"/>
                                        </p:tgtEl>
                                        <p:attrNameLst>
                                          <p:attrName>ppt_x</p:attrName>
                                        </p:attrNameLst>
                                      </p:cBhvr>
                                      <p:tavLst>
                                        <p:tav tm="0">
                                          <p:val>
                                            <p:strVal val="0-#ppt_w/2"/>
                                          </p:val>
                                        </p:tav>
                                        <p:tav tm="100000">
                                          <p:val>
                                            <p:strVal val="#ppt_x"/>
                                          </p:val>
                                        </p:tav>
                                      </p:tavLst>
                                    </p:anim>
                                    <p:anim calcmode="lin" valueType="num">
                                      <p:cBhvr>
                                        <p:cTn id="29" dur="1000" fill="hold"/>
                                        <p:tgtEl>
                                          <p:spTgt spid="906"/>
                                        </p:tgtEl>
                                        <p:attrNameLst>
                                          <p:attrName>ppt_y</p:attrName>
                                        </p:attrNameLst>
                                      </p:cBhvr>
                                      <p:tavLst>
                                        <p:tav tm="0">
                                          <p:val>
                                            <p:strVal val="#ppt_y"/>
                                          </p:val>
                                        </p:tav>
                                        <p:tav tm="100000">
                                          <p:val>
                                            <p:strVal val="#ppt_y"/>
                                          </p:val>
                                        </p:tav>
                                      </p:tavLst>
                                    </p:anim>
                                  </p:childTnLst>
                                </p:cTn>
                              </p:par>
                            </p:childTnLst>
                          </p:cTn>
                        </p:par>
                        <p:par>
                          <p:cTn id="30" fill="hold">
                            <p:stCondLst>
                              <p:cond delay="1000"/>
                            </p:stCondLst>
                            <p:childTnLst>
                              <p:par>
                                <p:cTn id="31" presetClass="entr" nodeType="afterEffect" presetSubtype="8" presetID="2" grpId="6" fill="hold">
                                  <p:stCondLst>
                                    <p:cond delay="0"/>
                                  </p:stCondLst>
                                  <p:iterate type="el" backwards="0">
                                    <p:tmAbs val="0"/>
                                  </p:iterate>
                                  <p:childTnLst>
                                    <p:set>
                                      <p:cBhvr>
                                        <p:cTn id="32" fill="hold"/>
                                        <p:tgtEl>
                                          <p:spTgt spid="907"/>
                                        </p:tgtEl>
                                        <p:attrNameLst>
                                          <p:attrName>style.visibility</p:attrName>
                                        </p:attrNameLst>
                                      </p:cBhvr>
                                      <p:to>
                                        <p:strVal val="visible"/>
                                      </p:to>
                                    </p:set>
                                    <p:anim calcmode="lin" valueType="num">
                                      <p:cBhvr>
                                        <p:cTn id="33" dur="1000" fill="hold"/>
                                        <p:tgtEl>
                                          <p:spTgt spid="907"/>
                                        </p:tgtEl>
                                        <p:attrNameLst>
                                          <p:attrName>ppt_x</p:attrName>
                                        </p:attrNameLst>
                                      </p:cBhvr>
                                      <p:tavLst>
                                        <p:tav tm="0">
                                          <p:val>
                                            <p:strVal val="0-#ppt_w/2"/>
                                          </p:val>
                                        </p:tav>
                                        <p:tav tm="100000">
                                          <p:val>
                                            <p:strVal val="#ppt_x"/>
                                          </p:val>
                                        </p:tav>
                                      </p:tavLst>
                                    </p:anim>
                                    <p:anim calcmode="lin" valueType="num">
                                      <p:cBhvr>
                                        <p:cTn id="34" dur="1000" fill="hold"/>
                                        <p:tgtEl>
                                          <p:spTgt spid="9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897" grpId="2"/>
      <p:bldP build="whole" bldLvl="1" animBg="1" rev="0" advAuto="0" spid="898" grpId="3"/>
      <p:bldP build="whole" bldLvl="1" animBg="1" rev="0" advAuto="0" spid="906" grpId="5"/>
      <p:bldP build="whole" bldLvl="1" animBg="1" rev="0" advAuto="0" spid="896" grpId="1"/>
      <p:bldP build="whole" bldLvl="1" animBg="1" rev="0" advAuto="0" spid="899" grpId="4"/>
      <p:bldP build="whole" bldLvl="1" animBg="1" rev="0" advAuto="0" spid="907" grpId="6"/>
    </p:bldLst>
  </p:timing>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09" name="Captură de ecran din 2024-10-21 la 12.47.02.png" descr="Captură de ecran din 2024-10-21 la 12.47.02.png"/>
          <p:cNvPicPr>
            <a:picLocks noChangeAspect="1"/>
          </p:cNvPicPr>
          <p:nvPr/>
        </p:nvPicPr>
        <p:blipFill>
          <a:blip r:embed="rId2">
            <a:extLst/>
          </a:blip>
          <a:stretch>
            <a:fillRect/>
          </a:stretch>
        </p:blipFill>
        <p:spPr>
          <a:xfrm>
            <a:off x="860147" y="3508862"/>
            <a:ext cx="11699162" cy="7676241"/>
          </a:xfrm>
          <a:prstGeom prst="rect">
            <a:avLst/>
          </a:prstGeom>
          <a:ln w="12700">
            <a:miter lim="400000"/>
          </a:ln>
        </p:spPr>
      </p:pic>
      <p:sp>
        <p:nvSpPr>
          <p:cNvPr id="91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911" name="AdaBoost"/>
          <p:cNvSpPr txBox="1"/>
          <p:nvPr/>
        </p:nvSpPr>
        <p:spPr>
          <a:xfrm>
            <a:off x="8357338" y="649941"/>
            <a:ext cx="3661538"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AdaBoost</a:t>
            </a:r>
          </a:p>
        </p:txBody>
      </p:sp>
      <p:sp>
        <p:nvSpPr>
          <p:cNvPr id="912" name="Parametri:"/>
          <p:cNvSpPr txBox="1"/>
          <p:nvPr/>
        </p:nvSpPr>
        <p:spPr>
          <a:xfrm>
            <a:off x="13235992" y="3312513"/>
            <a:ext cx="276860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Parametri:</a:t>
            </a:r>
          </a:p>
        </p:txBody>
      </p:sp>
      <p:sp>
        <p:nvSpPr>
          <p:cNvPr id="913" name="- modelul folosit în a realiza ansamblul"/>
          <p:cNvSpPr txBox="1"/>
          <p:nvPr/>
        </p:nvSpPr>
        <p:spPr>
          <a:xfrm>
            <a:off x="13522659" y="4046612"/>
            <a:ext cx="957981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4"/>
                </a:solidFill>
              </a:defRPr>
            </a:lvl1pPr>
          </a:lstStyle>
          <a:p>
            <a:pPr/>
            <a:r>
              <a:t>- modelul folosit în a realiza ansamblul</a:t>
            </a:r>
          </a:p>
        </p:txBody>
      </p:sp>
      <p:sp>
        <p:nvSpPr>
          <p:cNvPr id="914" name="- numărul de modele din ansamblu"/>
          <p:cNvSpPr txBox="1"/>
          <p:nvPr/>
        </p:nvSpPr>
        <p:spPr>
          <a:xfrm>
            <a:off x="13522659" y="4927551"/>
            <a:ext cx="8685176"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solidFill>
                  <a:schemeClr val="accent3"/>
                </a:solidFill>
              </a:defRPr>
            </a:lvl1pPr>
          </a:lstStyle>
          <a:p>
            <a:pPr/>
            <a:r>
              <a:t>- numărul de modele din ansamblu</a:t>
            </a:r>
          </a:p>
        </p:txBody>
      </p:sp>
      <p:sp>
        <p:nvSpPr>
          <p:cNvPr id="915" name="- rata de contribuție a fiecărui model nou"/>
          <p:cNvSpPr txBox="1"/>
          <p:nvPr/>
        </p:nvSpPr>
        <p:spPr>
          <a:xfrm>
            <a:off x="13488539" y="5740814"/>
            <a:ext cx="10796702" cy="9342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a:solidFill>
                  <a:schemeClr val="accent2"/>
                </a:solidFill>
              </a:defRPr>
            </a:lvl1pPr>
          </a:lstStyle>
          <a:p>
            <a:pPr/>
            <a:r>
              <a:t>- rata de contribuție a fiecărui model nou</a:t>
            </a:r>
          </a:p>
        </p:txBody>
      </p:sp>
      <p:pic>
        <p:nvPicPr>
          <p:cNvPr id="916" name="Linie Linie" descr="Linie Linie"/>
          <p:cNvPicPr>
            <a:picLocks noChangeAspect="0"/>
          </p:cNvPicPr>
          <p:nvPr/>
        </p:nvPicPr>
        <p:blipFill>
          <a:blip r:embed="rId3">
            <a:extLst/>
          </a:blip>
          <a:stretch>
            <a:fillRect/>
          </a:stretch>
        </p:blipFill>
        <p:spPr>
          <a:xfrm rot="16200000">
            <a:off x="1912059" y="6981150"/>
            <a:ext cx="337034" cy="101601"/>
          </a:xfrm>
          <a:prstGeom prst="rect">
            <a:avLst/>
          </a:prstGeom>
        </p:spPr>
      </p:pic>
      <p:pic>
        <p:nvPicPr>
          <p:cNvPr id="918" name="Linie Linie" descr="Linie Linie"/>
          <p:cNvPicPr>
            <a:picLocks noChangeAspect="0"/>
          </p:cNvPicPr>
          <p:nvPr/>
        </p:nvPicPr>
        <p:blipFill>
          <a:blip r:embed="rId4">
            <a:extLst/>
          </a:blip>
          <a:stretch>
            <a:fillRect/>
          </a:stretch>
        </p:blipFill>
        <p:spPr>
          <a:xfrm rot="16200000">
            <a:off x="1912059" y="7296182"/>
            <a:ext cx="337034" cy="101601"/>
          </a:xfrm>
          <a:prstGeom prst="rect">
            <a:avLst/>
          </a:prstGeom>
        </p:spPr>
      </p:pic>
      <p:pic>
        <p:nvPicPr>
          <p:cNvPr id="920" name="Linie Linie" descr="Linie Linie"/>
          <p:cNvPicPr>
            <a:picLocks noChangeAspect="0"/>
          </p:cNvPicPr>
          <p:nvPr/>
        </p:nvPicPr>
        <p:blipFill>
          <a:blip r:embed="rId5">
            <a:extLst/>
          </a:blip>
          <a:stretch>
            <a:fillRect/>
          </a:stretch>
        </p:blipFill>
        <p:spPr>
          <a:xfrm rot="16200000">
            <a:off x="1912059" y="7591735"/>
            <a:ext cx="337034" cy="101601"/>
          </a:xfrm>
          <a:prstGeom prst="rect">
            <a:avLst/>
          </a:prstGeom>
        </p:spPr>
      </p:pic>
      <p:sp>
        <p:nvSpPr>
          <p:cNvPr id="922" name="Dacă learning_rate este mare,  fiecare model nou are un impact mai puternic asupra predicției finale."/>
          <p:cNvSpPr txBox="1"/>
          <p:nvPr/>
        </p:nvSpPr>
        <p:spPr>
          <a:xfrm>
            <a:off x="13449986" y="8012785"/>
            <a:ext cx="9888921" cy="125618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lvl1pPr>
          </a:lstStyle>
          <a:p>
            <a:pPr/>
            <a:r>
              <a:t>Dacă learning_rate este mare,  fiecare model nou are un impact mai puternic asupra predicției finale. </a:t>
            </a:r>
          </a:p>
        </p:txBody>
      </p:sp>
      <p:sp>
        <p:nvSpPr>
          <p:cNvPr id="923" name="Dacă learning_rate este mic,  fiecare model nou corectează erorile mai încet și cu mai multă grijă."/>
          <p:cNvSpPr txBox="1"/>
          <p:nvPr/>
        </p:nvSpPr>
        <p:spPr>
          <a:xfrm>
            <a:off x="13449986" y="9581849"/>
            <a:ext cx="9888921" cy="125618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lvl1pPr>
          </a:lstStyle>
          <a:p>
            <a:pPr/>
            <a:r>
              <a:t>Dacă learning_rate este mic,  fiecare model nou corectează erorile mai încet și cu mai multă grijă.</a:t>
            </a:r>
          </a:p>
        </p:txBody>
      </p:sp>
      <p:pic>
        <p:nvPicPr>
          <p:cNvPr id="924" name="Linie Linie" descr="Linie Linie"/>
          <p:cNvPicPr>
            <a:picLocks noChangeAspect="0"/>
          </p:cNvPicPr>
          <p:nvPr/>
        </p:nvPicPr>
        <p:blipFill>
          <a:blip r:embed="rId6">
            <a:extLst/>
          </a:blip>
          <a:stretch>
            <a:fillRect/>
          </a:stretch>
        </p:blipFill>
        <p:spPr>
          <a:xfrm>
            <a:off x="5045001" y="4108596"/>
            <a:ext cx="2226006" cy="101601"/>
          </a:xfrm>
          <a:prstGeom prst="rect">
            <a:avLst/>
          </a:prstGeom>
        </p:spPr>
      </p:pic>
      <p:pic>
        <p:nvPicPr>
          <p:cNvPr id="926" name="Linie Linie" descr="Linie Linie"/>
          <p:cNvPicPr>
            <a:picLocks noChangeAspect="0"/>
          </p:cNvPicPr>
          <p:nvPr/>
        </p:nvPicPr>
        <p:blipFill>
          <a:blip r:embed="rId6">
            <a:extLst/>
          </a:blip>
          <a:stretch>
            <a:fillRect/>
          </a:stretch>
        </p:blipFill>
        <p:spPr>
          <a:xfrm>
            <a:off x="2771298" y="6807200"/>
            <a:ext cx="2226006" cy="101600"/>
          </a:xfrm>
          <a:prstGeom prst="rect">
            <a:avLst/>
          </a:prstGeom>
        </p:spPr>
      </p:pic>
      <p:sp>
        <p:nvSpPr>
          <p:cNvPr id="928" name="(la regresie)"/>
          <p:cNvSpPr txBox="1"/>
          <p:nvPr/>
        </p:nvSpPr>
        <p:spPr>
          <a:xfrm>
            <a:off x="12133822" y="884211"/>
            <a:ext cx="3074265"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(la regresie)</a:t>
            </a:r>
          </a:p>
        </p:txBody>
      </p:sp>
    </p:spTree>
  </p:cSld>
  <p:clrMapOvr>
    <a:masterClrMapping/>
  </p:clrMapOvr>
  <mc:AlternateContent xmlns:mc="http://schemas.openxmlformats.org/markup-compatibility/2006">
    <mc:Choice xmlns:p14="http://schemas.microsoft.com/office/powerpoint/2010/main" Requires="p14">
      <p:transition spd="slow" advClick="1" p14:dur="1200">
        <p14:flip dir="r"/>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924"/>
                                        </p:tgtEl>
                                        <p:attrNameLst>
                                          <p:attrName>style.visibility</p:attrName>
                                        </p:attrNameLst>
                                      </p:cBhvr>
                                      <p:to>
                                        <p:strVal val="visible"/>
                                      </p:to>
                                    </p:set>
                                    <p:animEffect filter="dissolve" transition="in">
                                      <p:cBhvr>
                                        <p:cTn id="7" dur="2000"/>
                                        <p:tgtEl>
                                          <p:spTgt spid="924"/>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926"/>
                                        </p:tgtEl>
                                        <p:attrNameLst>
                                          <p:attrName>style.visibility</p:attrName>
                                        </p:attrNameLst>
                                      </p:cBhvr>
                                      <p:to>
                                        <p:strVal val="visible"/>
                                      </p:to>
                                    </p:set>
                                    <p:animEffect filter="dissolve" transition="in">
                                      <p:cBhvr>
                                        <p:cTn id="11" dur="2000"/>
                                        <p:tgtEl>
                                          <p:spTgt spid="9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24" grpId="1"/>
      <p:bldP build="whole" bldLvl="1" animBg="1" rev="0" advAuto="0" spid="926" grpId="2"/>
    </p:bldLst>
  </p:timing>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0"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931" name="GradientBoosting"/>
          <p:cNvSpPr txBox="1"/>
          <p:nvPr/>
        </p:nvSpPr>
        <p:spPr>
          <a:xfrm>
            <a:off x="8889974" y="550738"/>
            <a:ext cx="6604052"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GradientBoosting</a:t>
            </a:r>
          </a:p>
        </p:txBody>
      </p:sp>
      <p:sp>
        <p:nvSpPr>
          <p:cNvPr id="932" name="Cum funcționează?"/>
          <p:cNvSpPr txBox="1"/>
          <p:nvPr/>
        </p:nvSpPr>
        <p:spPr>
          <a:xfrm>
            <a:off x="1876014" y="3169658"/>
            <a:ext cx="500547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Cum funcționează?</a:t>
            </a:r>
          </a:p>
        </p:txBody>
      </p:sp>
      <p:sp>
        <p:nvSpPr>
          <p:cNvPr id="933" name="-  La fiecare pas, Gradient Boosting creează un nou model care corectează rezidualii (diferențele între predicția modelului anterior și valoarea reală)."/>
          <p:cNvSpPr txBox="1"/>
          <p:nvPr/>
        </p:nvSpPr>
        <p:spPr>
          <a:xfrm>
            <a:off x="2583199" y="4009516"/>
            <a:ext cx="21130480"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  La fiecare pas, Gradient Boosting creează un nou model care corectează rezidualii (diferențele între predicția modelului anterior și valoarea reală).</a:t>
            </a:r>
          </a:p>
        </p:txBody>
      </p:sp>
      <p:sp>
        <p:nvSpPr>
          <p:cNvPr id="934" name="-  Fiecare nou model nu încearcă să clasifice datele, ci încearcă să prezică erorile modelului anterior, astfel încât, treptat, predicțiile să fie mai precise."/>
          <p:cNvSpPr txBox="1"/>
          <p:nvPr/>
        </p:nvSpPr>
        <p:spPr>
          <a:xfrm>
            <a:off x="2583199" y="5728406"/>
            <a:ext cx="21130480"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  Fiecare nou model nu încearcă să clasifice datele, ci încearcă să prezică erorile modelului anterior, astfel încât, treptat, predicțiile să fie mai precise.</a:t>
            </a:r>
          </a:p>
        </p:txBody>
      </p:sp>
      <p:sp>
        <p:nvSpPr>
          <p:cNvPr id="935" name="- După ce toate modelele sunt construite, rezultatele lor sunt combinate pentru a obține predicția finală."/>
          <p:cNvSpPr txBox="1"/>
          <p:nvPr/>
        </p:nvSpPr>
        <p:spPr>
          <a:xfrm>
            <a:off x="2552127" y="7235022"/>
            <a:ext cx="21440867"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 După ce toate modelele sunt construite, rezultatele lor sunt combinate pentru a obține predicția finală.</a:t>
            </a:r>
          </a:p>
        </p:txBody>
      </p:sp>
      <p:pic>
        <p:nvPicPr>
          <p:cNvPr id="936" name="Linie Linie" descr="Linie Linie"/>
          <p:cNvPicPr>
            <a:picLocks noChangeAspect="0"/>
          </p:cNvPicPr>
          <p:nvPr/>
        </p:nvPicPr>
        <p:blipFill>
          <a:blip r:embed="rId2">
            <a:extLst/>
          </a:blip>
          <a:stretch>
            <a:fillRect/>
          </a:stretch>
        </p:blipFill>
        <p:spPr>
          <a:xfrm>
            <a:off x="18151051" y="4803292"/>
            <a:ext cx="5332593" cy="101601"/>
          </a:xfrm>
          <a:prstGeom prst="rect">
            <a:avLst/>
          </a:prstGeom>
        </p:spPr>
      </p:pic>
      <p:pic>
        <p:nvPicPr>
          <p:cNvPr id="938" name="Linie Linie" descr="Linie Linie"/>
          <p:cNvPicPr>
            <a:picLocks noChangeAspect="0"/>
          </p:cNvPicPr>
          <p:nvPr/>
        </p:nvPicPr>
        <p:blipFill>
          <a:blip r:embed="rId3">
            <a:extLst/>
          </a:blip>
          <a:stretch>
            <a:fillRect/>
          </a:stretch>
        </p:blipFill>
        <p:spPr>
          <a:xfrm>
            <a:off x="18464269" y="6522181"/>
            <a:ext cx="3751995" cy="101601"/>
          </a:xfrm>
          <a:prstGeom prst="rect">
            <a:avLst/>
          </a:prstGeom>
        </p:spPr>
      </p:pic>
      <p:pic>
        <p:nvPicPr>
          <p:cNvPr id="940" name="Linie Linie" descr="Linie Linie"/>
          <p:cNvPicPr>
            <a:picLocks noChangeAspect="0"/>
          </p:cNvPicPr>
          <p:nvPr/>
        </p:nvPicPr>
        <p:blipFill>
          <a:blip r:embed="rId4">
            <a:extLst/>
          </a:blip>
          <a:stretch>
            <a:fillRect/>
          </a:stretch>
        </p:blipFill>
        <p:spPr>
          <a:xfrm>
            <a:off x="16268765" y="8028798"/>
            <a:ext cx="4058635" cy="1016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932"/>
                                        </p:tgtEl>
                                        <p:attrNameLst>
                                          <p:attrName>style.visibility</p:attrName>
                                        </p:attrNameLst>
                                      </p:cBhvr>
                                      <p:to>
                                        <p:strVal val="visible"/>
                                      </p:to>
                                    </p:set>
                                    <p:anim calcmode="lin" valueType="num">
                                      <p:cBhvr>
                                        <p:cTn id="7" dur="1000" fill="hold"/>
                                        <p:tgtEl>
                                          <p:spTgt spid="932"/>
                                        </p:tgtEl>
                                        <p:attrNameLst>
                                          <p:attrName>ppt_x</p:attrName>
                                        </p:attrNameLst>
                                      </p:cBhvr>
                                      <p:tavLst>
                                        <p:tav tm="0">
                                          <p:val>
                                            <p:strVal val="0-#ppt_w/2"/>
                                          </p:val>
                                        </p:tav>
                                        <p:tav tm="100000">
                                          <p:val>
                                            <p:strVal val="#ppt_x"/>
                                          </p:val>
                                        </p:tav>
                                      </p:tavLst>
                                    </p:anim>
                                    <p:anim calcmode="lin" valueType="num">
                                      <p:cBhvr>
                                        <p:cTn id="8" dur="1000" fill="hold"/>
                                        <p:tgtEl>
                                          <p:spTgt spid="9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8" presetID="2" grpId="2" fill="hold">
                                  <p:stCondLst>
                                    <p:cond delay="0"/>
                                  </p:stCondLst>
                                  <p:iterate type="el" backwards="0">
                                    <p:tmAbs val="0"/>
                                  </p:iterate>
                                  <p:childTnLst>
                                    <p:set>
                                      <p:cBhvr>
                                        <p:cTn id="12" fill="hold"/>
                                        <p:tgtEl>
                                          <p:spTgt spid="933"/>
                                        </p:tgtEl>
                                        <p:attrNameLst>
                                          <p:attrName>style.visibility</p:attrName>
                                        </p:attrNameLst>
                                      </p:cBhvr>
                                      <p:to>
                                        <p:strVal val="visible"/>
                                      </p:to>
                                    </p:set>
                                    <p:anim calcmode="lin" valueType="num">
                                      <p:cBhvr>
                                        <p:cTn id="13" dur="1000" fill="hold"/>
                                        <p:tgtEl>
                                          <p:spTgt spid="933"/>
                                        </p:tgtEl>
                                        <p:attrNameLst>
                                          <p:attrName>ppt_x</p:attrName>
                                        </p:attrNameLst>
                                      </p:cBhvr>
                                      <p:tavLst>
                                        <p:tav tm="0">
                                          <p:val>
                                            <p:strVal val="0-#ppt_w/2"/>
                                          </p:val>
                                        </p:tav>
                                        <p:tav tm="100000">
                                          <p:val>
                                            <p:strVal val="#ppt_x"/>
                                          </p:val>
                                        </p:tav>
                                      </p:tavLst>
                                    </p:anim>
                                    <p:anim calcmode="lin" valueType="num">
                                      <p:cBhvr>
                                        <p:cTn id="14" dur="1000" fill="hold"/>
                                        <p:tgtEl>
                                          <p:spTgt spid="933"/>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Class="entr" nodeType="afterEffect" presetID="9" grpId="3" fill="hold">
                                  <p:stCondLst>
                                    <p:cond delay="0"/>
                                  </p:stCondLst>
                                  <p:iterate type="el" backwards="0">
                                    <p:tmAbs val="0"/>
                                  </p:iterate>
                                  <p:childTnLst>
                                    <p:set>
                                      <p:cBhvr>
                                        <p:cTn id="17" fill="hold"/>
                                        <p:tgtEl>
                                          <p:spTgt spid="936"/>
                                        </p:tgtEl>
                                        <p:attrNameLst>
                                          <p:attrName>style.visibility</p:attrName>
                                        </p:attrNameLst>
                                      </p:cBhvr>
                                      <p:to>
                                        <p:strVal val="visible"/>
                                      </p:to>
                                    </p:set>
                                    <p:animEffect filter="dissolve" transition="in">
                                      <p:cBhvr>
                                        <p:cTn id="18" dur="2000"/>
                                        <p:tgtEl>
                                          <p:spTgt spid="936"/>
                                        </p:tgtEl>
                                      </p:cBhvr>
                                    </p:animEffec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8" presetID="2" grpId="4" fill="hold">
                                  <p:stCondLst>
                                    <p:cond delay="0"/>
                                  </p:stCondLst>
                                  <p:iterate type="el" backwards="0">
                                    <p:tmAbs val="0"/>
                                  </p:iterate>
                                  <p:childTnLst>
                                    <p:set>
                                      <p:cBhvr>
                                        <p:cTn id="22" fill="hold"/>
                                        <p:tgtEl>
                                          <p:spTgt spid="934"/>
                                        </p:tgtEl>
                                        <p:attrNameLst>
                                          <p:attrName>style.visibility</p:attrName>
                                        </p:attrNameLst>
                                      </p:cBhvr>
                                      <p:to>
                                        <p:strVal val="visible"/>
                                      </p:to>
                                    </p:set>
                                    <p:anim calcmode="lin" valueType="num">
                                      <p:cBhvr>
                                        <p:cTn id="23" dur="1000" fill="hold"/>
                                        <p:tgtEl>
                                          <p:spTgt spid="934"/>
                                        </p:tgtEl>
                                        <p:attrNameLst>
                                          <p:attrName>ppt_x</p:attrName>
                                        </p:attrNameLst>
                                      </p:cBhvr>
                                      <p:tavLst>
                                        <p:tav tm="0">
                                          <p:val>
                                            <p:strVal val="0-#ppt_w/2"/>
                                          </p:val>
                                        </p:tav>
                                        <p:tav tm="100000">
                                          <p:val>
                                            <p:strVal val="#ppt_x"/>
                                          </p:val>
                                        </p:tav>
                                      </p:tavLst>
                                    </p:anim>
                                    <p:anim calcmode="lin" valueType="num">
                                      <p:cBhvr>
                                        <p:cTn id="24" dur="1000" fill="hold"/>
                                        <p:tgtEl>
                                          <p:spTgt spid="934"/>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Class="entr" nodeType="afterEffect" presetID="9" grpId="5" fill="hold">
                                  <p:stCondLst>
                                    <p:cond delay="0"/>
                                  </p:stCondLst>
                                  <p:iterate type="el" backwards="0">
                                    <p:tmAbs val="0"/>
                                  </p:iterate>
                                  <p:childTnLst>
                                    <p:set>
                                      <p:cBhvr>
                                        <p:cTn id="27" fill="hold"/>
                                        <p:tgtEl>
                                          <p:spTgt spid="938"/>
                                        </p:tgtEl>
                                        <p:attrNameLst>
                                          <p:attrName>style.visibility</p:attrName>
                                        </p:attrNameLst>
                                      </p:cBhvr>
                                      <p:to>
                                        <p:strVal val="visible"/>
                                      </p:to>
                                    </p:set>
                                    <p:animEffect filter="dissolve" transition="in">
                                      <p:cBhvr>
                                        <p:cTn id="28" dur="2000"/>
                                        <p:tgtEl>
                                          <p:spTgt spid="938"/>
                                        </p:tgtEl>
                                      </p:cBhvr>
                                    </p:animEffec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8" presetID="2" grpId="6" fill="hold">
                                  <p:stCondLst>
                                    <p:cond delay="0"/>
                                  </p:stCondLst>
                                  <p:iterate type="el" backwards="0">
                                    <p:tmAbs val="0"/>
                                  </p:iterate>
                                  <p:childTnLst>
                                    <p:set>
                                      <p:cBhvr>
                                        <p:cTn id="32" fill="hold"/>
                                        <p:tgtEl>
                                          <p:spTgt spid="935"/>
                                        </p:tgtEl>
                                        <p:attrNameLst>
                                          <p:attrName>style.visibility</p:attrName>
                                        </p:attrNameLst>
                                      </p:cBhvr>
                                      <p:to>
                                        <p:strVal val="visible"/>
                                      </p:to>
                                    </p:set>
                                    <p:anim calcmode="lin" valueType="num">
                                      <p:cBhvr>
                                        <p:cTn id="33" dur="2500" fill="hold"/>
                                        <p:tgtEl>
                                          <p:spTgt spid="935"/>
                                        </p:tgtEl>
                                        <p:attrNameLst>
                                          <p:attrName>ppt_x</p:attrName>
                                        </p:attrNameLst>
                                      </p:cBhvr>
                                      <p:tavLst>
                                        <p:tav tm="0">
                                          <p:val>
                                            <p:strVal val="0-#ppt_w/2"/>
                                          </p:val>
                                        </p:tav>
                                        <p:tav tm="100000">
                                          <p:val>
                                            <p:strVal val="#ppt_x"/>
                                          </p:val>
                                        </p:tav>
                                      </p:tavLst>
                                    </p:anim>
                                    <p:anim calcmode="lin" valueType="num">
                                      <p:cBhvr>
                                        <p:cTn id="34" dur="2500" fill="hold"/>
                                        <p:tgtEl>
                                          <p:spTgt spid="935"/>
                                        </p:tgtEl>
                                        <p:attrNameLst>
                                          <p:attrName>ppt_y</p:attrName>
                                        </p:attrNameLst>
                                      </p:cBhvr>
                                      <p:tavLst>
                                        <p:tav tm="0">
                                          <p:val>
                                            <p:strVal val="#ppt_y"/>
                                          </p:val>
                                        </p:tav>
                                        <p:tav tm="100000">
                                          <p:val>
                                            <p:strVal val="#ppt_y"/>
                                          </p:val>
                                        </p:tav>
                                      </p:tavLst>
                                    </p:anim>
                                  </p:childTnLst>
                                </p:cTn>
                              </p:par>
                            </p:childTnLst>
                          </p:cTn>
                        </p:par>
                        <p:par>
                          <p:cTn id="35" fill="hold">
                            <p:stCondLst>
                              <p:cond delay="2500"/>
                            </p:stCondLst>
                            <p:childTnLst>
                              <p:par>
                                <p:cTn id="36" presetClass="entr" nodeType="afterEffect" presetID="9" grpId="7" fill="hold">
                                  <p:stCondLst>
                                    <p:cond delay="0"/>
                                  </p:stCondLst>
                                  <p:iterate type="el" backwards="0">
                                    <p:tmAbs val="0"/>
                                  </p:iterate>
                                  <p:childTnLst>
                                    <p:set>
                                      <p:cBhvr>
                                        <p:cTn id="37" fill="hold"/>
                                        <p:tgtEl>
                                          <p:spTgt spid="940"/>
                                        </p:tgtEl>
                                        <p:attrNameLst>
                                          <p:attrName>style.visibility</p:attrName>
                                        </p:attrNameLst>
                                      </p:cBhvr>
                                      <p:to>
                                        <p:strVal val="visible"/>
                                      </p:to>
                                    </p:set>
                                    <p:animEffect filter="dissolve" transition="in">
                                      <p:cBhvr>
                                        <p:cTn id="38" dur="2000"/>
                                        <p:tgtEl>
                                          <p:spTgt spid="9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36" grpId="3"/>
      <p:bldP build="whole" bldLvl="1" animBg="1" rev="0" advAuto="0" spid="933" grpId="2"/>
      <p:bldP build="whole" bldLvl="1" animBg="1" rev="0" advAuto="0" spid="938" grpId="5"/>
      <p:bldP build="whole" bldLvl="1" animBg="1" rev="0" advAuto="0" spid="940" grpId="7"/>
      <p:bldP build="whole" bldLvl="1" animBg="1" rev="0" advAuto="0" spid="934" grpId="4"/>
      <p:bldP build="whole" bldLvl="1" animBg="1" rev="0" advAuto="0" spid="932" grpId="1"/>
      <p:bldP build="whole" bldLvl="1" animBg="1" rev="0" advAuto="0" spid="935" grpId="6"/>
    </p:bldLst>
  </p:timing>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944" name="GradientBoosting"/>
          <p:cNvSpPr txBox="1"/>
          <p:nvPr/>
        </p:nvSpPr>
        <p:spPr>
          <a:xfrm>
            <a:off x="8889974" y="550738"/>
            <a:ext cx="6604052"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GradientBoosting</a:t>
            </a:r>
          </a:p>
        </p:txBody>
      </p:sp>
      <p:pic>
        <p:nvPicPr>
          <p:cNvPr id="945" name="Captură de ecran din 2024-10-21 la 13.16.00.png" descr="Captură de ecran din 2024-10-21 la 13.16.00.png"/>
          <p:cNvPicPr>
            <a:picLocks noChangeAspect="1"/>
          </p:cNvPicPr>
          <p:nvPr/>
        </p:nvPicPr>
        <p:blipFill>
          <a:blip r:embed="rId2">
            <a:extLst/>
          </a:blip>
          <a:stretch>
            <a:fillRect/>
          </a:stretch>
        </p:blipFill>
        <p:spPr>
          <a:xfrm>
            <a:off x="3257736" y="3427679"/>
            <a:ext cx="9716252" cy="2452878"/>
          </a:xfrm>
          <a:prstGeom prst="rect">
            <a:avLst/>
          </a:prstGeom>
          <a:ln w="12700">
            <a:miter lim="400000"/>
          </a:ln>
        </p:spPr>
      </p:pic>
      <p:sp>
        <p:nvSpPr>
          <p:cNvPr id="946" name="- Începem cu un model obișnuit:"/>
          <p:cNvSpPr txBox="1"/>
          <p:nvPr/>
        </p:nvSpPr>
        <p:spPr>
          <a:xfrm>
            <a:off x="2015157" y="2465562"/>
            <a:ext cx="802299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Începem cu un model obișnuit:</a:t>
            </a:r>
          </a:p>
        </p:txBody>
      </p:sp>
      <p:pic>
        <p:nvPicPr>
          <p:cNvPr id="947" name="Captură de ecran din 2024-10-21 la 13.16.35.png" descr="Captură de ecran din 2024-10-21 la 13.16.35.png"/>
          <p:cNvPicPr>
            <a:picLocks noChangeAspect="1"/>
          </p:cNvPicPr>
          <p:nvPr/>
        </p:nvPicPr>
        <p:blipFill>
          <a:blip r:embed="rId3">
            <a:extLst/>
          </a:blip>
          <a:stretch>
            <a:fillRect/>
          </a:stretch>
        </p:blipFill>
        <p:spPr>
          <a:xfrm>
            <a:off x="3416460" y="6870578"/>
            <a:ext cx="9716252" cy="1611477"/>
          </a:xfrm>
          <a:prstGeom prst="rect">
            <a:avLst/>
          </a:prstGeom>
          <a:ln w="12700">
            <a:miter lim="400000"/>
          </a:ln>
        </p:spPr>
      </p:pic>
      <p:sp>
        <p:nvSpPr>
          <p:cNvPr id="948" name="- Antrenăm un al doilea model pe erorile de la primul:"/>
          <p:cNvSpPr txBox="1"/>
          <p:nvPr/>
        </p:nvSpPr>
        <p:spPr>
          <a:xfrm>
            <a:off x="2015157" y="5908461"/>
            <a:ext cx="1323213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Antrenăm un al doilea model pe erorile de la primul:</a:t>
            </a:r>
          </a:p>
        </p:txBody>
      </p:sp>
      <p:sp>
        <p:nvSpPr>
          <p:cNvPr id="949" name="- Antrenăm un al treilea model pe erorile de la al doilea:"/>
          <p:cNvSpPr txBox="1"/>
          <p:nvPr/>
        </p:nvSpPr>
        <p:spPr>
          <a:xfrm>
            <a:off x="1995316" y="8739587"/>
            <a:ext cx="13671907"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 Antrenăm un al treilea model pe erorile de la al doilea:</a:t>
            </a:r>
          </a:p>
        </p:txBody>
      </p:sp>
      <p:pic>
        <p:nvPicPr>
          <p:cNvPr id="950" name="Captură de ecran din 2024-10-21 la 13.17.20.png" descr="Captură de ecran din 2024-10-21 la 13.17.20.png"/>
          <p:cNvPicPr>
            <a:picLocks noChangeAspect="1"/>
          </p:cNvPicPr>
          <p:nvPr/>
        </p:nvPicPr>
        <p:blipFill>
          <a:blip r:embed="rId4">
            <a:extLst/>
          </a:blip>
          <a:stretch>
            <a:fillRect/>
          </a:stretch>
        </p:blipFill>
        <p:spPr>
          <a:xfrm>
            <a:off x="3239953" y="9931331"/>
            <a:ext cx="9751818" cy="1287527"/>
          </a:xfrm>
          <a:prstGeom prst="rect">
            <a:avLst/>
          </a:prstGeom>
          <a:ln w="12700">
            <a:miter lim="400000"/>
          </a:ln>
        </p:spPr>
      </p:pic>
      <p:pic>
        <p:nvPicPr>
          <p:cNvPr id="951" name="Captură de ecran din 2024-10-21 la 13.17.50.png" descr="Captură de ecran din 2024-10-21 la 13.17.50.png"/>
          <p:cNvPicPr>
            <a:picLocks noChangeAspect="1"/>
          </p:cNvPicPr>
          <p:nvPr/>
        </p:nvPicPr>
        <p:blipFill>
          <a:blip r:embed="rId5">
            <a:extLst/>
          </a:blip>
          <a:stretch>
            <a:fillRect/>
          </a:stretch>
        </p:blipFill>
        <p:spPr>
          <a:xfrm>
            <a:off x="16030547" y="6557364"/>
            <a:ext cx="7674614" cy="1385175"/>
          </a:xfrm>
          <a:prstGeom prst="rect">
            <a:avLst/>
          </a:prstGeom>
          <a:ln w="12700">
            <a:miter lim="400000"/>
          </a:ln>
        </p:spPr>
      </p:pic>
      <p:sp>
        <p:nvSpPr>
          <p:cNvPr id="952" name="- Combinăm rezultatele celor 3 modele"/>
          <p:cNvSpPr txBox="1"/>
          <p:nvPr/>
        </p:nvSpPr>
        <p:spPr>
          <a:xfrm>
            <a:off x="15911478" y="4722117"/>
            <a:ext cx="6604052" cy="168915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t>- Combinăm rezultatele celor 3 modele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 grpId="1" fill="hold">
                                  <p:stCondLst>
                                    <p:cond delay="0"/>
                                  </p:stCondLst>
                                  <p:iterate type="el" backwards="0">
                                    <p:tmAbs val="0"/>
                                  </p:iterate>
                                  <p:childTnLst>
                                    <p:set>
                                      <p:cBhvr>
                                        <p:cTn id="6" fill="hold"/>
                                        <p:tgtEl>
                                          <p:spTgt spid="946"/>
                                        </p:tgtEl>
                                        <p:attrNameLst>
                                          <p:attrName>style.visibility</p:attrName>
                                        </p:attrNameLst>
                                      </p:cBhvr>
                                      <p:to>
                                        <p:strVal val="visible"/>
                                      </p:to>
                                    </p:set>
                                    <p:anim calcmode="lin" valueType="num">
                                      <p:cBhvr>
                                        <p:cTn id="7" dur="1000" fill="hold"/>
                                        <p:tgtEl>
                                          <p:spTgt spid="946"/>
                                        </p:tgtEl>
                                        <p:attrNameLst>
                                          <p:attrName>ppt_x</p:attrName>
                                        </p:attrNameLst>
                                      </p:cBhvr>
                                      <p:tavLst>
                                        <p:tav tm="0">
                                          <p:val>
                                            <p:strVal val="0-#ppt_w/2"/>
                                          </p:val>
                                        </p:tav>
                                        <p:tav tm="100000">
                                          <p:val>
                                            <p:strVal val="#ppt_x"/>
                                          </p:val>
                                        </p:tav>
                                      </p:tavLst>
                                    </p:anim>
                                    <p:anim calcmode="lin" valueType="num">
                                      <p:cBhvr>
                                        <p:cTn id="8" dur="1000" fill="hold"/>
                                        <p:tgtEl>
                                          <p:spTgt spid="946"/>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0"/>
                                  </p:stCondLst>
                                  <p:iterate type="el" backwards="0">
                                    <p:tmAbs val="0"/>
                                  </p:iterate>
                                  <p:childTnLst>
                                    <p:set>
                                      <p:cBhvr>
                                        <p:cTn id="11" fill="hold"/>
                                        <p:tgtEl>
                                          <p:spTgt spid="945"/>
                                        </p:tgtEl>
                                        <p:attrNameLst>
                                          <p:attrName>style.visibility</p:attrName>
                                        </p:attrNameLst>
                                      </p:cBhvr>
                                      <p:to>
                                        <p:strVal val="visible"/>
                                      </p:to>
                                    </p:set>
                                    <p:anim calcmode="lin" valueType="num">
                                      <p:cBhvr>
                                        <p:cTn id="12" dur="1000" fill="hold"/>
                                        <p:tgtEl>
                                          <p:spTgt spid="945"/>
                                        </p:tgtEl>
                                        <p:attrNameLst>
                                          <p:attrName>ppt_x</p:attrName>
                                        </p:attrNameLst>
                                      </p:cBhvr>
                                      <p:tavLst>
                                        <p:tav tm="0">
                                          <p:val>
                                            <p:strVal val="0-#ppt_w/2"/>
                                          </p:val>
                                        </p:tav>
                                        <p:tav tm="100000">
                                          <p:val>
                                            <p:strVal val="#ppt_x"/>
                                          </p:val>
                                        </p:tav>
                                      </p:tavLst>
                                    </p:anim>
                                    <p:anim calcmode="lin" valueType="num">
                                      <p:cBhvr>
                                        <p:cTn id="13" dur="1000" fill="hold"/>
                                        <p:tgtEl>
                                          <p:spTgt spid="94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8" presetID="2" grpId="3" fill="hold">
                                  <p:stCondLst>
                                    <p:cond delay="0"/>
                                  </p:stCondLst>
                                  <p:iterate type="el" backwards="0">
                                    <p:tmAbs val="0"/>
                                  </p:iterate>
                                  <p:childTnLst>
                                    <p:set>
                                      <p:cBhvr>
                                        <p:cTn id="17" fill="hold"/>
                                        <p:tgtEl>
                                          <p:spTgt spid="948"/>
                                        </p:tgtEl>
                                        <p:attrNameLst>
                                          <p:attrName>style.visibility</p:attrName>
                                        </p:attrNameLst>
                                      </p:cBhvr>
                                      <p:to>
                                        <p:strVal val="visible"/>
                                      </p:to>
                                    </p:set>
                                    <p:anim calcmode="lin" valueType="num">
                                      <p:cBhvr>
                                        <p:cTn id="18" dur="1000" fill="hold"/>
                                        <p:tgtEl>
                                          <p:spTgt spid="948"/>
                                        </p:tgtEl>
                                        <p:attrNameLst>
                                          <p:attrName>ppt_x</p:attrName>
                                        </p:attrNameLst>
                                      </p:cBhvr>
                                      <p:tavLst>
                                        <p:tav tm="0">
                                          <p:val>
                                            <p:strVal val="0-#ppt_w/2"/>
                                          </p:val>
                                        </p:tav>
                                        <p:tav tm="100000">
                                          <p:val>
                                            <p:strVal val="#ppt_x"/>
                                          </p:val>
                                        </p:tav>
                                      </p:tavLst>
                                    </p:anim>
                                    <p:anim calcmode="lin" valueType="num">
                                      <p:cBhvr>
                                        <p:cTn id="19" dur="1000" fill="hold"/>
                                        <p:tgtEl>
                                          <p:spTgt spid="948"/>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Class="entr" nodeType="afterEffect" presetSubtype="8" presetID="2" grpId="4" fill="hold">
                                  <p:stCondLst>
                                    <p:cond delay="0"/>
                                  </p:stCondLst>
                                  <p:iterate type="el" backwards="0">
                                    <p:tmAbs val="0"/>
                                  </p:iterate>
                                  <p:childTnLst>
                                    <p:set>
                                      <p:cBhvr>
                                        <p:cTn id="22" fill="hold"/>
                                        <p:tgtEl>
                                          <p:spTgt spid="947"/>
                                        </p:tgtEl>
                                        <p:attrNameLst>
                                          <p:attrName>style.visibility</p:attrName>
                                        </p:attrNameLst>
                                      </p:cBhvr>
                                      <p:to>
                                        <p:strVal val="visible"/>
                                      </p:to>
                                    </p:set>
                                    <p:anim calcmode="lin" valueType="num">
                                      <p:cBhvr>
                                        <p:cTn id="23" dur="1000" fill="hold"/>
                                        <p:tgtEl>
                                          <p:spTgt spid="947"/>
                                        </p:tgtEl>
                                        <p:attrNameLst>
                                          <p:attrName>ppt_x</p:attrName>
                                        </p:attrNameLst>
                                      </p:cBhvr>
                                      <p:tavLst>
                                        <p:tav tm="0">
                                          <p:val>
                                            <p:strVal val="0-#ppt_w/2"/>
                                          </p:val>
                                        </p:tav>
                                        <p:tav tm="100000">
                                          <p:val>
                                            <p:strVal val="#ppt_x"/>
                                          </p:val>
                                        </p:tav>
                                      </p:tavLst>
                                    </p:anim>
                                    <p:anim calcmode="lin" valueType="num">
                                      <p:cBhvr>
                                        <p:cTn id="24" dur="1000" fill="hold"/>
                                        <p:tgtEl>
                                          <p:spTgt spid="94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8" presetID="2" grpId="5" fill="hold">
                                  <p:stCondLst>
                                    <p:cond delay="0"/>
                                  </p:stCondLst>
                                  <p:iterate type="el" backwards="0">
                                    <p:tmAbs val="0"/>
                                  </p:iterate>
                                  <p:childTnLst>
                                    <p:set>
                                      <p:cBhvr>
                                        <p:cTn id="28" fill="hold"/>
                                        <p:tgtEl>
                                          <p:spTgt spid="949"/>
                                        </p:tgtEl>
                                        <p:attrNameLst>
                                          <p:attrName>style.visibility</p:attrName>
                                        </p:attrNameLst>
                                      </p:cBhvr>
                                      <p:to>
                                        <p:strVal val="visible"/>
                                      </p:to>
                                    </p:set>
                                    <p:anim calcmode="lin" valueType="num">
                                      <p:cBhvr>
                                        <p:cTn id="29" dur="1000" fill="hold"/>
                                        <p:tgtEl>
                                          <p:spTgt spid="949"/>
                                        </p:tgtEl>
                                        <p:attrNameLst>
                                          <p:attrName>ppt_x</p:attrName>
                                        </p:attrNameLst>
                                      </p:cBhvr>
                                      <p:tavLst>
                                        <p:tav tm="0">
                                          <p:val>
                                            <p:strVal val="0-#ppt_w/2"/>
                                          </p:val>
                                        </p:tav>
                                        <p:tav tm="100000">
                                          <p:val>
                                            <p:strVal val="#ppt_x"/>
                                          </p:val>
                                        </p:tav>
                                      </p:tavLst>
                                    </p:anim>
                                    <p:anim calcmode="lin" valueType="num">
                                      <p:cBhvr>
                                        <p:cTn id="30" dur="1000" fill="hold"/>
                                        <p:tgtEl>
                                          <p:spTgt spid="949"/>
                                        </p:tgtEl>
                                        <p:attrNameLst>
                                          <p:attrName>ppt_y</p:attrName>
                                        </p:attrNameLst>
                                      </p:cBhvr>
                                      <p:tavLst>
                                        <p:tav tm="0">
                                          <p:val>
                                            <p:strVal val="#ppt_y"/>
                                          </p:val>
                                        </p:tav>
                                        <p:tav tm="100000">
                                          <p:val>
                                            <p:strVal val="#ppt_y"/>
                                          </p:val>
                                        </p:tav>
                                      </p:tavLst>
                                    </p:anim>
                                  </p:childTnLst>
                                </p:cTn>
                              </p:par>
                            </p:childTnLst>
                          </p:cTn>
                        </p:par>
                        <p:par>
                          <p:cTn id="31" fill="hold">
                            <p:stCondLst>
                              <p:cond delay="1000"/>
                            </p:stCondLst>
                            <p:childTnLst>
                              <p:par>
                                <p:cTn id="32" presetClass="entr" nodeType="afterEffect" presetSubtype="8" presetID="2" grpId="6" fill="hold">
                                  <p:stCondLst>
                                    <p:cond delay="0"/>
                                  </p:stCondLst>
                                  <p:iterate type="el" backwards="0">
                                    <p:tmAbs val="0"/>
                                  </p:iterate>
                                  <p:childTnLst>
                                    <p:set>
                                      <p:cBhvr>
                                        <p:cTn id="33" fill="hold"/>
                                        <p:tgtEl>
                                          <p:spTgt spid="950"/>
                                        </p:tgtEl>
                                        <p:attrNameLst>
                                          <p:attrName>style.visibility</p:attrName>
                                        </p:attrNameLst>
                                      </p:cBhvr>
                                      <p:to>
                                        <p:strVal val="visible"/>
                                      </p:to>
                                    </p:set>
                                    <p:anim calcmode="lin" valueType="num">
                                      <p:cBhvr>
                                        <p:cTn id="34" dur="1000" fill="hold"/>
                                        <p:tgtEl>
                                          <p:spTgt spid="950"/>
                                        </p:tgtEl>
                                        <p:attrNameLst>
                                          <p:attrName>ppt_x</p:attrName>
                                        </p:attrNameLst>
                                      </p:cBhvr>
                                      <p:tavLst>
                                        <p:tav tm="0">
                                          <p:val>
                                            <p:strVal val="0-#ppt_w/2"/>
                                          </p:val>
                                        </p:tav>
                                        <p:tav tm="100000">
                                          <p:val>
                                            <p:strVal val="#ppt_x"/>
                                          </p:val>
                                        </p:tav>
                                      </p:tavLst>
                                    </p:anim>
                                    <p:anim calcmode="lin" valueType="num">
                                      <p:cBhvr>
                                        <p:cTn id="35" dur="1000" fill="hold"/>
                                        <p:tgtEl>
                                          <p:spTgt spid="950"/>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Class="entr" nodeType="clickEffect" presetSubtype="8" presetID="2" grpId="7" fill="hold">
                                  <p:stCondLst>
                                    <p:cond delay="0"/>
                                  </p:stCondLst>
                                  <p:iterate type="el" backwards="0">
                                    <p:tmAbs val="0"/>
                                  </p:iterate>
                                  <p:childTnLst>
                                    <p:set>
                                      <p:cBhvr>
                                        <p:cTn id="39" fill="hold"/>
                                        <p:tgtEl>
                                          <p:spTgt spid="952"/>
                                        </p:tgtEl>
                                        <p:attrNameLst>
                                          <p:attrName>style.visibility</p:attrName>
                                        </p:attrNameLst>
                                      </p:cBhvr>
                                      <p:to>
                                        <p:strVal val="visible"/>
                                      </p:to>
                                    </p:set>
                                    <p:anim calcmode="lin" valueType="num">
                                      <p:cBhvr>
                                        <p:cTn id="40" dur="1000" fill="hold"/>
                                        <p:tgtEl>
                                          <p:spTgt spid="952"/>
                                        </p:tgtEl>
                                        <p:attrNameLst>
                                          <p:attrName>ppt_x</p:attrName>
                                        </p:attrNameLst>
                                      </p:cBhvr>
                                      <p:tavLst>
                                        <p:tav tm="0">
                                          <p:val>
                                            <p:strVal val="0-#ppt_w/2"/>
                                          </p:val>
                                        </p:tav>
                                        <p:tav tm="100000">
                                          <p:val>
                                            <p:strVal val="#ppt_x"/>
                                          </p:val>
                                        </p:tav>
                                      </p:tavLst>
                                    </p:anim>
                                    <p:anim calcmode="lin" valueType="num">
                                      <p:cBhvr>
                                        <p:cTn id="41" dur="1000" fill="hold"/>
                                        <p:tgtEl>
                                          <p:spTgt spid="952"/>
                                        </p:tgtEl>
                                        <p:attrNameLst>
                                          <p:attrName>ppt_y</p:attrName>
                                        </p:attrNameLst>
                                      </p:cBhvr>
                                      <p:tavLst>
                                        <p:tav tm="0">
                                          <p:val>
                                            <p:strVal val="#ppt_y"/>
                                          </p:val>
                                        </p:tav>
                                        <p:tav tm="100000">
                                          <p:val>
                                            <p:strVal val="#ppt_y"/>
                                          </p:val>
                                        </p:tav>
                                      </p:tavLst>
                                    </p:anim>
                                  </p:childTnLst>
                                </p:cTn>
                              </p:par>
                            </p:childTnLst>
                          </p:cTn>
                        </p:par>
                        <p:par>
                          <p:cTn id="42" fill="hold">
                            <p:stCondLst>
                              <p:cond delay="1000"/>
                            </p:stCondLst>
                            <p:childTnLst>
                              <p:par>
                                <p:cTn id="43" presetClass="entr" nodeType="afterEffect" presetSubtype="8" presetID="2" grpId="8" fill="hold">
                                  <p:stCondLst>
                                    <p:cond delay="0"/>
                                  </p:stCondLst>
                                  <p:iterate type="el" backwards="0">
                                    <p:tmAbs val="0"/>
                                  </p:iterate>
                                  <p:childTnLst>
                                    <p:set>
                                      <p:cBhvr>
                                        <p:cTn id="44" fill="hold"/>
                                        <p:tgtEl>
                                          <p:spTgt spid="951"/>
                                        </p:tgtEl>
                                        <p:attrNameLst>
                                          <p:attrName>style.visibility</p:attrName>
                                        </p:attrNameLst>
                                      </p:cBhvr>
                                      <p:to>
                                        <p:strVal val="visible"/>
                                      </p:to>
                                    </p:set>
                                    <p:anim calcmode="lin" valueType="num">
                                      <p:cBhvr>
                                        <p:cTn id="45" dur="1000" fill="hold"/>
                                        <p:tgtEl>
                                          <p:spTgt spid="951"/>
                                        </p:tgtEl>
                                        <p:attrNameLst>
                                          <p:attrName>ppt_x</p:attrName>
                                        </p:attrNameLst>
                                      </p:cBhvr>
                                      <p:tavLst>
                                        <p:tav tm="0">
                                          <p:val>
                                            <p:strVal val="0-#ppt_w/2"/>
                                          </p:val>
                                        </p:tav>
                                        <p:tav tm="100000">
                                          <p:val>
                                            <p:strVal val="#ppt_x"/>
                                          </p:val>
                                        </p:tav>
                                      </p:tavLst>
                                    </p:anim>
                                    <p:anim calcmode="lin" valueType="num">
                                      <p:cBhvr>
                                        <p:cTn id="46" dur="1000" fill="hold"/>
                                        <p:tgtEl>
                                          <p:spTgt spid="9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45" grpId="2"/>
      <p:bldP build="whole" bldLvl="1" animBg="1" rev="0" advAuto="0" spid="946" grpId="1"/>
      <p:bldP build="whole" bldLvl="1" animBg="1" rev="0" advAuto="0" spid="952" grpId="7"/>
      <p:bldP build="whole" bldLvl="1" animBg="1" rev="0" advAuto="0" spid="947" grpId="4"/>
      <p:bldP build="whole" bldLvl="1" animBg="1" rev="0" advAuto="0" spid="949" grpId="5"/>
      <p:bldP build="whole" bldLvl="1" animBg="1" rev="0" advAuto="0" spid="951" grpId="8"/>
      <p:bldP build="whole" bldLvl="1" animBg="1" rev="0" advAuto="0" spid="950" grpId="6"/>
      <p:bldP build="whole" bldLvl="1" animBg="1" rev="0" advAuto="0" spid="948" grpId="3"/>
    </p:bldLst>
  </p:timing>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4"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955" name="GradientBoosting"/>
          <p:cNvSpPr txBox="1"/>
          <p:nvPr/>
        </p:nvSpPr>
        <p:spPr>
          <a:xfrm>
            <a:off x="8889974" y="550738"/>
            <a:ext cx="6604052"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GradientBoosting</a:t>
            </a:r>
          </a:p>
        </p:txBody>
      </p:sp>
      <p:pic>
        <p:nvPicPr>
          <p:cNvPr id="956" name="Captură de ecran din 2024-10-21 la 13.21.19.png" descr="Captură de ecran din 2024-10-21 la 13.21.19.png"/>
          <p:cNvPicPr>
            <a:picLocks noChangeAspect="1"/>
          </p:cNvPicPr>
          <p:nvPr/>
        </p:nvPicPr>
        <p:blipFill>
          <a:blip r:embed="rId2">
            <a:extLst/>
          </a:blip>
          <a:stretch>
            <a:fillRect/>
          </a:stretch>
        </p:blipFill>
        <p:spPr>
          <a:xfrm>
            <a:off x="6866174" y="2204824"/>
            <a:ext cx="10651651" cy="10342459"/>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push dir="l"/>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8"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959" name="GradientBoosting"/>
          <p:cNvSpPr txBox="1"/>
          <p:nvPr/>
        </p:nvSpPr>
        <p:spPr>
          <a:xfrm>
            <a:off x="8889974" y="550738"/>
            <a:ext cx="6604052"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GradientBoosting</a:t>
            </a:r>
          </a:p>
        </p:txBody>
      </p:sp>
      <p:pic>
        <p:nvPicPr>
          <p:cNvPr id="960" name="Captură de ecran din 2024-10-21 la 13.33.33.png" descr="Captură de ecran din 2024-10-21 la 13.33.33.png"/>
          <p:cNvPicPr>
            <a:picLocks noChangeAspect="1"/>
          </p:cNvPicPr>
          <p:nvPr/>
        </p:nvPicPr>
        <p:blipFill>
          <a:blip r:embed="rId2">
            <a:extLst/>
          </a:blip>
          <a:stretch>
            <a:fillRect/>
          </a:stretch>
        </p:blipFill>
        <p:spPr>
          <a:xfrm>
            <a:off x="3358119" y="3409252"/>
            <a:ext cx="17667762" cy="8607875"/>
          </a:xfrm>
          <a:prstGeom prst="rect">
            <a:avLst/>
          </a:prstGeom>
          <a:ln w="12700">
            <a:miter lim="400000"/>
          </a:ln>
        </p:spPr>
      </p:pic>
      <p:pic>
        <p:nvPicPr>
          <p:cNvPr id="961" name="Linie Linie" descr="Linie Linie"/>
          <p:cNvPicPr>
            <a:picLocks noChangeAspect="0"/>
          </p:cNvPicPr>
          <p:nvPr/>
        </p:nvPicPr>
        <p:blipFill>
          <a:blip r:embed="rId3">
            <a:extLst/>
          </a:blip>
          <a:stretch>
            <a:fillRect/>
          </a:stretch>
        </p:blipFill>
        <p:spPr>
          <a:xfrm>
            <a:off x="9204699" y="5137599"/>
            <a:ext cx="4248174" cy="101601"/>
          </a:xfrm>
          <a:prstGeom prst="rect">
            <a:avLst/>
          </a:prstGeom>
        </p:spPr>
      </p:pic>
      <p:pic>
        <p:nvPicPr>
          <p:cNvPr id="963" name="Linie Linie" descr="Linie Linie"/>
          <p:cNvPicPr>
            <a:picLocks noChangeAspect="0"/>
          </p:cNvPicPr>
          <p:nvPr/>
        </p:nvPicPr>
        <p:blipFill>
          <a:blip r:embed="rId3">
            <a:extLst/>
          </a:blip>
          <a:stretch>
            <a:fillRect/>
          </a:stretch>
        </p:blipFill>
        <p:spPr>
          <a:xfrm>
            <a:off x="5562000" y="8538534"/>
            <a:ext cx="4248175" cy="101601"/>
          </a:xfrm>
          <a:prstGeom prst="rect">
            <a:avLst/>
          </a:prstGeom>
        </p:spPr>
      </p:pic>
      <p:sp>
        <p:nvSpPr>
          <p:cNvPr id="965" name="Există și GradientBoostingClassifier pentru clasificare."/>
          <p:cNvSpPr txBox="1"/>
          <p:nvPr/>
        </p:nvSpPr>
        <p:spPr>
          <a:xfrm>
            <a:off x="2491329" y="12260588"/>
            <a:ext cx="1389822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Există și GradientBoostingClassifier pentru clasificare.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961"/>
                                        </p:tgtEl>
                                        <p:attrNameLst>
                                          <p:attrName>style.visibility</p:attrName>
                                        </p:attrNameLst>
                                      </p:cBhvr>
                                      <p:to>
                                        <p:strVal val="visible"/>
                                      </p:to>
                                    </p:set>
                                    <p:animEffect filter="dissolve" transition="in">
                                      <p:cBhvr>
                                        <p:cTn id="7" dur="2000"/>
                                        <p:tgtEl>
                                          <p:spTgt spid="961"/>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963"/>
                                        </p:tgtEl>
                                        <p:attrNameLst>
                                          <p:attrName>style.visibility</p:attrName>
                                        </p:attrNameLst>
                                      </p:cBhvr>
                                      <p:to>
                                        <p:strVal val="visible"/>
                                      </p:to>
                                    </p:set>
                                    <p:animEffect filter="dissolve" transition="in">
                                      <p:cBhvr>
                                        <p:cTn id="11" dur="2000"/>
                                        <p:tgtEl>
                                          <p:spTgt spid="96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 grpId="3" fill="hold">
                                  <p:stCondLst>
                                    <p:cond delay="0"/>
                                  </p:stCondLst>
                                  <p:iterate type="el" backwards="0">
                                    <p:tmAbs val="0"/>
                                  </p:iterate>
                                  <p:childTnLst>
                                    <p:set>
                                      <p:cBhvr>
                                        <p:cTn id="15" fill="hold"/>
                                        <p:tgtEl>
                                          <p:spTgt spid="965"/>
                                        </p:tgtEl>
                                        <p:attrNameLst>
                                          <p:attrName>style.visibility</p:attrName>
                                        </p:attrNameLst>
                                      </p:cBhvr>
                                      <p:to>
                                        <p:strVal val="visible"/>
                                      </p:to>
                                    </p:set>
                                    <p:anim calcmode="lin" valueType="num">
                                      <p:cBhvr>
                                        <p:cTn id="16" dur="1000" fill="hold"/>
                                        <p:tgtEl>
                                          <p:spTgt spid="965"/>
                                        </p:tgtEl>
                                        <p:attrNameLst>
                                          <p:attrName>ppt_x</p:attrName>
                                        </p:attrNameLst>
                                      </p:cBhvr>
                                      <p:tavLst>
                                        <p:tav tm="0">
                                          <p:val>
                                            <p:strVal val="0-#ppt_w/2"/>
                                          </p:val>
                                        </p:tav>
                                        <p:tav tm="100000">
                                          <p:val>
                                            <p:strVal val="#ppt_x"/>
                                          </p:val>
                                        </p:tav>
                                      </p:tavLst>
                                    </p:anim>
                                    <p:anim calcmode="lin" valueType="num">
                                      <p:cBhvr>
                                        <p:cTn id="17" dur="1000" fill="hold"/>
                                        <p:tgtEl>
                                          <p:spTgt spid="9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63" grpId="2"/>
      <p:bldP build="whole" bldLvl="1" animBg="1" rev="0" advAuto="0" spid="965" grpId="3"/>
      <p:bldP build="whole" bldLvl="1" animBg="1" rev="0" advAuto="0" spid="961" grpId="1"/>
    </p:bldLst>
  </p:timing>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968" name="GradientBoosting"/>
          <p:cNvSpPr txBox="1"/>
          <p:nvPr/>
        </p:nvSpPr>
        <p:spPr>
          <a:xfrm>
            <a:off x="8889974" y="550738"/>
            <a:ext cx="6604052"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GradientBoosting</a:t>
            </a:r>
          </a:p>
        </p:txBody>
      </p:sp>
      <p:pic>
        <p:nvPicPr>
          <p:cNvPr id="969" name="Captură de ecran din 2024-10-21 la 13.33.33.png" descr="Captură de ecran din 2024-10-21 la 13.33.33.png"/>
          <p:cNvPicPr>
            <a:picLocks noChangeAspect="1"/>
          </p:cNvPicPr>
          <p:nvPr/>
        </p:nvPicPr>
        <p:blipFill>
          <a:blip r:embed="rId2">
            <a:extLst/>
          </a:blip>
          <a:stretch>
            <a:fillRect/>
          </a:stretch>
        </p:blipFill>
        <p:spPr>
          <a:xfrm>
            <a:off x="719330" y="5044717"/>
            <a:ext cx="12950245" cy="6309463"/>
          </a:xfrm>
          <a:prstGeom prst="rect">
            <a:avLst/>
          </a:prstGeom>
          <a:ln w="12700">
            <a:miter lim="400000"/>
          </a:ln>
        </p:spPr>
      </p:pic>
      <p:sp>
        <p:nvSpPr>
          <p:cNvPr id="970" name="Dacă learning_rate este mare,  fiecare model nou are un impact mai puternic asupra predicției finale."/>
          <p:cNvSpPr txBox="1"/>
          <p:nvPr/>
        </p:nvSpPr>
        <p:spPr>
          <a:xfrm>
            <a:off x="13965840" y="6191609"/>
            <a:ext cx="9888921" cy="125618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lvl1pPr>
          </a:lstStyle>
          <a:p>
            <a:pPr/>
            <a:r>
              <a:t>Dacă learning_rate este mare,  fiecare model nou are un impact mai puternic asupra predicției finale. </a:t>
            </a:r>
          </a:p>
        </p:txBody>
      </p:sp>
      <p:sp>
        <p:nvSpPr>
          <p:cNvPr id="971" name="Dacă learning_rate este mic,  fiecare model nou corectează erorile mai încet și cu mai multă grijă."/>
          <p:cNvSpPr txBox="1"/>
          <p:nvPr/>
        </p:nvSpPr>
        <p:spPr>
          <a:xfrm>
            <a:off x="13965840" y="7760674"/>
            <a:ext cx="9888921" cy="125618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3200"/>
            </a:lvl1pPr>
          </a:lstStyle>
          <a:p>
            <a:pPr/>
            <a:r>
              <a:t>Dacă learning_rate este mic,  fiecare model nou corectează erorile mai încet și cu mai multă grijă.</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 grpId="1" fill="hold">
                                  <p:stCondLst>
                                    <p:cond delay="0"/>
                                  </p:stCondLst>
                                  <p:iterate type="el" backwards="0">
                                    <p:tmAbs val="0"/>
                                  </p:iterate>
                                  <p:childTnLst>
                                    <p:set>
                                      <p:cBhvr>
                                        <p:cTn id="6" fill="hold"/>
                                        <p:tgtEl>
                                          <p:spTgt spid="970"/>
                                        </p:tgtEl>
                                        <p:attrNameLst>
                                          <p:attrName>style.visibility</p:attrName>
                                        </p:attrNameLst>
                                      </p:cBhvr>
                                      <p:to>
                                        <p:strVal val="visible"/>
                                      </p:to>
                                    </p:set>
                                    <p:anim calcmode="lin" valueType="num">
                                      <p:cBhvr>
                                        <p:cTn id="7" dur="1000" fill="hold"/>
                                        <p:tgtEl>
                                          <p:spTgt spid="970"/>
                                        </p:tgtEl>
                                        <p:attrNameLst>
                                          <p:attrName>ppt_x</p:attrName>
                                        </p:attrNameLst>
                                      </p:cBhvr>
                                      <p:tavLst>
                                        <p:tav tm="0">
                                          <p:val>
                                            <p:strVal val="0-#ppt_w/2"/>
                                          </p:val>
                                        </p:tav>
                                        <p:tav tm="100000">
                                          <p:val>
                                            <p:strVal val="#ppt_x"/>
                                          </p:val>
                                        </p:tav>
                                      </p:tavLst>
                                    </p:anim>
                                    <p:anim calcmode="lin" valueType="num">
                                      <p:cBhvr>
                                        <p:cTn id="8" dur="1000" fill="hold"/>
                                        <p:tgtEl>
                                          <p:spTgt spid="970"/>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Class="entr" nodeType="afterEffect" presetSubtype="8" presetID="2" grpId="2" fill="hold">
                                  <p:stCondLst>
                                    <p:cond delay="0"/>
                                  </p:stCondLst>
                                  <p:iterate type="el" backwards="0">
                                    <p:tmAbs val="0"/>
                                  </p:iterate>
                                  <p:childTnLst>
                                    <p:set>
                                      <p:cBhvr>
                                        <p:cTn id="11" fill="hold"/>
                                        <p:tgtEl>
                                          <p:spTgt spid="971"/>
                                        </p:tgtEl>
                                        <p:attrNameLst>
                                          <p:attrName>style.visibility</p:attrName>
                                        </p:attrNameLst>
                                      </p:cBhvr>
                                      <p:to>
                                        <p:strVal val="visible"/>
                                      </p:to>
                                    </p:set>
                                    <p:anim calcmode="lin" valueType="num">
                                      <p:cBhvr>
                                        <p:cTn id="12" dur="1000" fill="hold"/>
                                        <p:tgtEl>
                                          <p:spTgt spid="971"/>
                                        </p:tgtEl>
                                        <p:attrNameLst>
                                          <p:attrName>ppt_x</p:attrName>
                                        </p:attrNameLst>
                                      </p:cBhvr>
                                      <p:tavLst>
                                        <p:tav tm="0">
                                          <p:val>
                                            <p:strVal val="0-#ppt_w/2"/>
                                          </p:val>
                                        </p:tav>
                                        <p:tav tm="100000">
                                          <p:val>
                                            <p:strVal val="#ppt_x"/>
                                          </p:val>
                                        </p:tav>
                                      </p:tavLst>
                                    </p:anim>
                                    <p:anim calcmode="lin" valueType="num">
                                      <p:cBhvr>
                                        <p:cTn id="13" dur="1000" fill="hold"/>
                                        <p:tgtEl>
                                          <p:spTgt spid="9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70" grpId="1"/>
      <p:bldP build="whole" bldLvl="1" animBg="1" rev="0" advAuto="0" spid="971" grpId="2"/>
    </p:bldLst>
  </p:timing>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3"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974" name="GradientBoosting"/>
          <p:cNvSpPr txBox="1"/>
          <p:nvPr/>
        </p:nvSpPr>
        <p:spPr>
          <a:xfrm>
            <a:off x="8889974" y="550738"/>
            <a:ext cx="6604052"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GradientBoosting</a:t>
            </a:r>
          </a:p>
        </p:txBody>
      </p:sp>
      <p:pic>
        <p:nvPicPr>
          <p:cNvPr id="975" name="Captură de ecran din 2024-10-21 la 13.35.10.png" descr="Captură de ecran din 2024-10-21 la 13.35.10.png"/>
          <p:cNvPicPr>
            <a:picLocks noChangeAspect="1"/>
          </p:cNvPicPr>
          <p:nvPr/>
        </p:nvPicPr>
        <p:blipFill>
          <a:blip r:embed="rId2">
            <a:extLst/>
          </a:blip>
          <a:stretch>
            <a:fillRect/>
          </a:stretch>
        </p:blipFill>
        <p:spPr>
          <a:xfrm>
            <a:off x="5508966" y="2788011"/>
            <a:ext cx="13366068" cy="10399803"/>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slow" advClick="1" p14:dur="1200">
        <p14:prism dir="r"/>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7" name="Nesupervizate"/>
          <p:cNvSpPr txBox="1"/>
          <p:nvPr/>
        </p:nvSpPr>
        <p:spPr>
          <a:xfrm>
            <a:off x="25150122" y="7952249"/>
            <a:ext cx="8358423" cy="2006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0000">
                <a:latin typeface="Canela Text Regular"/>
                <a:ea typeface="Canela Text Regular"/>
                <a:cs typeface="Canela Text Regular"/>
                <a:sym typeface="Canela Text Regular"/>
              </a:defRPr>
            </a:lvl1pPr>
          </a:lstStyle>
          <a:p>
            <a:pPr/>
            <a:r>
              <a:t>Nesupervizate</a:t>
            </a:r>
          </a:p>
        </p:txBody>
      </p:sp>
      <p:sp>
        <p:nvSpPr>
          <p:cNvPr id="978" name="GradientBoosting"/>
          <p:cNvSpPr txBox="1"/>
          <p:nvPr/>
        </p:nvSpPr>
        <p:spPr>
          <a:xfrm>
            <a:off x="8889974" y="550738"/>
            <a:ext cx="6604052"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GradientBoosting</a:t>
            </a:r>
          </a:p>
        </p:txBody>
      </p:sp>
      <p:pic>
        <p:nvPicPr>
          <p:cNvPr id="979" name="Captură de ecran din 2024-10-21 la 13.35.10.png" descr="Captură de ecran din 2024-10-21 la 13.35.10.png"/>
          <p:cNvPicPr>
            <a:picLocks noChangeAspect="1"/>
          </p:cNvPicPr>
          <p:nvPr/>
        </p:nvPicPr>
        <p:blipFill>
          <a:blip r:embed="rId2">
            <a:extLst/>
          </a:blip>
          <a:stretch>
            <a:fillRect/>
          </a:stretch>
        </p:blipFill>
        <p:spPr>
          <a:xfrm>
            <a:off x="12167220" y="4173369"/>
            <a:ext cx="7640319" cy="5944740"/>
          </a:xfrm>
          <a:prstGeom prst="rect">
            <a:avLst/>
          </a:prstGeom>
          <a:ln w="12700">
            <a:miter lim="400000"/>
          </a:ln>
        </p:spPr>
      </p:pic>
      <p:pic>
        <p:nvPicPr>
          <p:cNvPr id="980" name="Captură de ecran din 2024-10-21 la 13.36.28.png" descr="Captură de ecran din 2024-10-21 la 13.36.28.png"/>
          <p:cNvPicPr>
            <a:picLocks noChangeAspect="1"/>
          </p:cNvPicPr>
          <p:nvPr/>
        </p:nvPicPr>
        <p:blipFill>
          <a:blip r:embed="rId3">
            <a:extLst/>
          </a:blip>
          <a:stretch>
            <a:fillRect/>
          </a:stretch>
        </p:blipFill>
        <p:spPr>
          <a:xfrm>
            <a:off x="3085722" y="4107036"/>
            <a:ext cx="7925265" cy="6077405"/>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82" name="Captură de ecran din 2024-10-21 la 13.46.07.png" descr="Captură de ecran din 2024-10-21 la 13.46.07.png"/>
          <p:cNvPicPr>
            <a:picLocks noChangeAspect="1"/>
          </p:cNvPicPr>
          <p:nvPr/>
        </p:nvPicPr>
        <p:blipFill>
          <a:blip r:embed="rId2">
            <a:extLst/>
          </a:blip>
          <a:stretch>
            <a:fillRect/>
          </a:stretch>
        </p:blipFill>
        <p:spPr>
          <a:xfrm>
            <a:off x="2026499" y="2213059"/>
            <a:ext cx="20331002" cy="10309218"/>
          </a:xfrm>
          <a:prstGeom prst="rect">
            <a:avLst/>
          </a:prstGeom>
          <a:ln w="12700">
            <a:miter lim="400000"/>
          </a:ln>
        </p:spPr>
      </p:pic>
      <p:sp>
        <p:nvSpPr>
          <p:cNvPr id="983" name="errors = [mean_squared_error(y_val, y_pred) for y_pred in gbrt.staged_predict(X_val)]…"/>
          <p:cNvSpPr txBox="1"/>
          <p:nvPr/>
        </p:nvSpPr>
        <p:spPr>
          <a:xfrm>
            <a:off x="3165907" y="7171509"/>
            <a:ext cx="11727806" cy="107306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2400">
                <a:latin typeface="Arial"/>
                <a:ea typeface="Arial"/>
                <a:cs typeface="Arial"/>
                <a:sym typeface="Arial"/>
              </a:defRPr>
            </a:pPr>
            <a:r>
              <a:t>errors = [mean_squared_error(y_val, y_pred) for y_pred in gbrt.staged_predict(X_val)]</a:t>
            </a:r>
          </a:p>
          <a:p>
            <a:pPr>
              <a:defRPr sz="2400">
                <a:latin typeface="Arial"/>
                <a:ea typeface="Arial"/>
                <a:cs typeface="Arial"/>
                <a:sym typeface="Arial"/>
              </a:defRPr>
            </a:pPr>
            <a:r>
              <a:t>bst_n_estimators = np.argmin(errors) + 1</a:t>
            </a:r>
          </a:p>
        </p:txBody>
      </p:sp>
      <p:pic>
        <p:nvPicPr>
          <p:cNvPr id="984" name="Dreptunghi Dreptunghi" descr="Dreptunghi Dreptunghi"/>
          <p:cNvPicPr>
            <a:picLocks noChangeAspect="0"/>
          </p:cNvPicPr>
          <p:nvPr/>
        </p:nvPicPr>
        <p:blipFill>
          <a:blip r:embed="rId3">
            <a:extLst/>
          </a:blip>
          <a:stretch>
            <a:fillRect/>
          </a:stretch>
        </p:blipFill>
        <p:spPr>
          <a:xfrm>
            <a:off x="3034297" y="7063085"/>
            <a:ext cx="12269549" cy="1489870"/>
          </a:xfrm>
          <a:prstGeom prst="rect">
            <a:avLst/>
          </a:prstGeom>
        </p:spPr>
      </p:pic>
      <p:sp>
        <p:nvSpPr>
          <p:cNvPr id="986" name="La fel ca înainte"/>
          <p:cNvSpPr txBox="1"/>
          <p:nvPr/>
        </p:nvSpPr>
        <p:spPr>
          <a:xfrm>
            <a:off x="14594047" y="5911621"/>
            <a:ext cx="4015842"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La fel ca înainte</a:t>
            </a:r>
          </a:p>
        </p:txBody>
      </p:sp>
      <p:pic>
        <p:nvPicPr>
          <p:cNvPr id="987" name="Dreptunghi Dreptunghi" descr="Dreptunghi Dreptunghi"/>
          <p:cNvPicPr>
            <a:picLocks noChangeAspect="0"/>
          </p:cNvPicPr>
          <p:nvPr/>
        </p:nvPicPr>
        <p:blipFill>
          <a:blip r:embed="rId4">
            <a:extLst/>
          </a:blip>
          <a:stretch>
            <a:fillRect/>
          </a:stretch>
        </p:blipFill>
        <p:spPr>
          <a:xfrm>
            <a:off x="3260500" y="5065987"/>
            <a:ext cx="16436601" cy="2023238"/>
          </a:xfrm>
          <a:prstGeom prst="rect">
            <a:avLst/>
          </a:prstGeom>
        </p:spPr>
      </p:pic>
      <p:sp>
        <p:nvSpPr>
          <p:cNvPr id="989" name="GradientBoosting"/>
          <p:cNvSpPr txBox="1"/>
          <p:nvPr/>
        </p:nvSpPr>
        <p:spPr>
          <a:xfrm>
            <a:off x="5903760" y="570579"/>
            <a:ext cx="6604052"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GradientBoosting</a:t>
            </a:r>
          </a:p>
        </p:txBody>
      </p:sp>
      <p:sp>
        <p:nvSpPr>
          <p:cNvPr id="990" name="+ Early Stopping"/>
          <p:cNvSpPr txBox="1"/>
          <p:nvPr/>
        </p:nvSpPr>
        <p:spPr>
          <a:xfrm>
            <a:off x="12448388" y="570579"/>
            <a:ext cx="5955234"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 Early Stopping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2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987"/>
                                        </p:tgtEl>
                                        <p:attrNameLst>
                                          <p:attrName>style.visibility</p:attrName>
                                        </p:attrNameLst>
                                      </p:cBhvr>
                                      <p:to>
                                        <p:strVal val="visible"/>
                                      </p:to>
                                    </p:set>
                                    <p:animEffect filter="dissolve" transition="in">
                                      <p:cBhvr>
                                        <p:cTn id="7" dur="2000"/>
                                        <p:tgtEl>
                                          <p:spTgt spid="987"/>
                                        </p:tgtEl>
                                      </p:cBhvr>
                                    </p:animEffect>
                                  </p:childTnLst>
                                </p:cTn>
                              </p:par>
                            </p:childTnLst>
                          </p:cTn>
                        </p:par>
                        <p:par>
                          <p:cTn id="8" fill="hold">
                            <p:stCondLst>
                              <p:cond delay="2000"/>
                            </p:stCondLst>
                            <p:childTnLst>
                              <p:par>
                                <p:cTn id="9" presetClass="entr" nodeType="afterEffect" presetSubtype="8" presetID="2" grpId="2" fill="hold">
                                  <p:stCondLst>
                                    <p:cond delay="0"/>
                                  </p:stCondLst>
                                  <p:iterate type="el" backwards="0">
                                    <p:tmAbs val="0"/>
                                  </p:iterate>
                                  <p:childTnLst>
                                    <p:set>
                                      <p:cBhvr>
                                        <p:cTn id="10" fill="hold"/>
                                        <p:tgtEl>
                                          <p:spTgt spid="986"/>
                                        </p:tgtEl>
                                        <p:attrNameLst>
                                          <p:attrName>style.visibility</p:attrName>
                                        </p:attrNameLst>
                                      </p:cBhvr>
                                      <p:to>
                                        <p:strVal val="visible"/>
                                      </p:to>
                                    </p:set>
                                    <p:anim calcmode="lin" valueType="num">
                                      <p:cBhvr>
                                        <p:cTn id="11" dur="1000" fill="hold"/>
                                        <p:tgtEl>
                                          <p:spTgt spid="986"/>
                                        </p:tgtEl>
                                        <p:attrNameLst>
                                          <p:attrName>ppt_x</p:attrName>
                                        </p:attrNameLst>
                                      </p:cBhvr>
                                      <p:tavLst>
                                        <p:tav tm="0">
                                          <p:val>
                                            <p:strVal val="0-#ppt_w/2"/>
                                          </p:val>
                                        </p:tav>
                                        <p:tav tm="100000">
                                          <p:val>
                                            <p:strVal val="#ppt_x"/>
                                          </p:val>
                                        </p:tav>
                                      </p:tavLst>
                                    </p:anim>
                                    <p:anim calcmode="lin" valueType="num">
                                      <p:cBhvr>
                                        <p:cTn id="12" dur="1000" fill="hold"/>
                                        <p:tgtEl>
                                          <p:spTgt spid="98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Class="exit" nodeType="clickEffect" presetSubtype="2" presetID="2" grpId="3" fill="hold">
                                  <p:stCondLst>
                                    <p:cond delay="0"/>
                                  </p:stCondLst>
                                  <p:iterate type="el" backwards="0">
                                    <p:tmAbs val="0"/>
                                  </p:iterate>
                                  <p:childTnLst>
                                    <p:anim calcmode="lin" valueType="num">
                                      <p:cBhvr>
                                        <p:cTn id="16" dur="1000" fill="hold"/>
                                        <p:tgtEl>
                                          <p:spTgt spid="986"/>
                                        </p:tgtEl>
                                        <p:attrNameLst>
                                          <p:attrName>ppt_x</p:attrName>
                                        </p:attrNameLst>
                                      </p:cBhvr>
                                      <p:tavLst>
                                        <p:tav tm="0">
                                          <p:val>
                                            <p:strVal val="ppt_x"/>
                                          </p:val>
                                        </p:tav>
                                        <p:tav tm="100000">
                                          <p:val>
                                            <p:strVal val="1+ppt_w/2"/>
                                          </p:val>
                                        </p:tav>
                                      </p:tavLst>
                                    </p:anim>
                                    <p:anim calcmode="lin" valueType="num">
                                      <p:cBhvr>
                                        <p:cTn id="17" dur="1000" fill="hold"/>
                                        <p:tgtEl>
                                          <p:spTgt spid="986"/>
                                        </p:tgtEl>
                                        <p:attrNameLst>
                                          <p:attrName>ppt_y</p:attrName>
                                        </p:attrNameLst>
                                      </p:cBhvr>
                                      <p:tavLst>
                                        <p:tav tm="0">
                                          <p:val>
                                            <p:strVal val="ppt_y"/>
                                          </p:val>
                                        </p:tav>
                                        <p:tav tm="100000">
                                          <p:val>
                                            <p:strVal val="ppt_y"/>
                                          </p:val>
                                        </p:tav>
                                      </p:tavLst>
                                    </p:anim>
                                    <p:set>
                                      <p:cBhvr>
                                        <p:cTn id="18" fill="hold">
                                          <p:stCondLst>
                                            <p:cond delay="999"/>
                                          </p:stCondLst>
                                        </p:cTn>
                                        <p:tgtEl>
                                          <p:spTgt spid="986"/>
                                        </p:tgtEl>
                                        <p:attrNameLst>
                                          <p:attrName>style.visibility</p:attrName>
                                        </p:attrNameLst>
                                      </p:cBhvr>
                                      <p:to>
                                        <p:strVal val="hidden"/>
                                      </p:to>
                                    </p:set>
                                  </p:childTnLst>
                                </p:cTn>
                              </p:par>
                            </p:childTnLst>
                          </p:cTn>
                        </p:par>
                        <p:par>
                          <p:cTn id="19" fill="hold">
                            <p:stCondLst>
                              <p:cond delay="1000"/>
                            </p:stCondLst>
                            <p:childTnLst>
                              <p:par>
                                <p:cTn id="20" presetClass="exit" nodeType="afterEffect" presetID="9" grpId="4" fill="hold">
                                  <p:stCondLst>
                                    <p:cond delay="0"/>
                                  </p:stCondLst>
                                  <p:iterate type="el" backwards="0">
                                    <p:tmAbs val="0"/>
                                  </p:iterate>
                                  <p:childTnLst>
                                    <p:animEffect filter="dissolve" transition="out">
                                      <p:cBhvr>
                                        <p:cTn id="21" dur="1000" fill="hold"/>
                                        <p:tgtEl>
                                          <p:spTgt spid="987"/>
                                        </p:tgtEl>
                                      </p:cBhvr>
                                    </p:animEffect>
                                    <p:set>
                                      <p:cBhvr>
                                        <p:cTn id="22" fill="hold">
                                          <p:stCondLst>
                                            <p:cond delay="999"/>
                                          </p:stCondLst>
                                        </p:cTn>
                                        <p:tgtEl>
                                          <p:spTgt spid="98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Class="entr" nodeType="clickEffect" presetID="9" grpId="5" fill="hold">
                                  <p:stCondLst>
                                    <p:cond delay="0"/>
                                  </p:stCondLst>
                                  <p:iterate type="el" backwards="0">
                                    <p:tmAbs val="0"/>
                                  </p:iterate>
                                  <p:childTnLst>
                                    <p:set>
                                      <p:cBhvr>
                                        <p:cTn id="26" fill="hold"/>
                                        <p:tgtEl>
                                          <p:spTgt spid="984"/>
                                        </p:tgtEl>
                                        <p:attrNameLst>
                                          <p:attrName>style.visibility</p:attrName>
                                        </p:attrNameLst>
                                      </p:cBhvr>
                                      <p:to>
                                        <p:strVal val="visible"/>
                                      </p:to>
                                    </p:set>
                                    <p:animEffect filter="dissolve" transition="in">
                                      <p:cBhvr>
                                        <p:cTn id="27" dur="2000"/>
                                        <p:tgtEl>
                                          <p:spTgt spid="9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86" grpId="2"/>
      <p:bldP build="whole" bldLvl="1" animBg="1" rev="0" advAuto="0" spid="986" grpId="3"/>
      <p:bldP build="whole" bldLvl="1" animBg="1" rev="0" advAuto="0" spid="987" grpId="4"/>
      <p:bldP build="whole" bldLvl="1" animBg="1" rev="0" advAuto="0" spid="987" grpId="1"/>
      <p:bldP build="whole" bldLvl="1" animBg="1" rev="0" advAuto="0" spid="984" grpId="5"/>
    </p:bldLst>
  </p:timing>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2" name="GradientBoosting"/>
          <p:cNvSpPr txBox="1"/>
          <p:nvPr/>
        </p:nvSpPr>
        <p:spPr>
          <a:xfrm>
            <a:off x="5903760" y="570579"/>
            <a:ext cx="6604052"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GradientBoosting</a:t>
            </a:r>
          </a:p>
        </p:txBody>
      </p:sp>
      <p:sp>
        <p:nvSpPr>
          <p:cNvPr id="993" name="+ Early Stopping"/>
          <p:cNvSpPr txBox="1"/>
          <p:nvPr/>
        </p:nvSpPr>
        <p:spPr>
          <a:xfrm>
            <a:off x="12448388" y="570579"/>
            <a:ext cx="5955234"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 Early Stopping</a:t>
            </a:r>
          </a:p>
        </p:txBody>
      </p:sp>
      <p:sp>
        <p:nvSpPr>
          <p:cNvPr id="994" name="errors = [mean_squared_error(y_val, y_pred) for y_pred in gbrt.staged_predict(X_val)]…"/>
          <p:cNvSpPr txBox="1"/>
          <p:nvPr/>
        </p:nvSpPr>
        <p:spPr>
          <a:xfrm>
            <a:off x="1489137" y="4330551"/>
            <a:ext cx="21405726" cy="159644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a:latin typeface="Arial"/>
                <a:ea typeface="Arial"/>
                <a:cs typeface="Arial"/>
                <a:sym typeface="Arial"/>
              </a:defRPr>
            </a:pPr>
            <a:r>
              <a:t>errors = [mean_squared_error(y_val, y_pred) for y_pred in gbrt.staged_predict(X_val)]</a:t>
            </a:r>
          </a:p>
          <a:p>
            <a:pPr>
              <a:defRPr>
                <a:latin typeface="Arial"/>
                <a:ea typeface="Arial"/>
                <a:cs typeface="Arial"/>
                <a:sym typeface="Arial"/>
              </a:defRPr>
            </a:pPr>
            <a:r>
              <a:t>bst_n_estimators = np.argmin(errors) + 1</a:t>
            </a:r>
          </a:p>
        </p:txBody>
      </p:sp>
      <p:pic>
        <p:nvPicPr>
          <p:cNvPr id="995" name="Linie Linie" descr="Linie Linie"/>
          <p:cNvPicPr>
            <a:picLocks noChangeAspect="0"/>
          </p:cNvPicPr>
          <p:nvPr/>
        </p:nvPicPr>
        <p:blipFill>
          <a:blip r:embed="rId2">
            <a:extLst/>
          </a:blip>
          <a:stretch>
            <a:fillRect/>
          </a:stretch>
        </p:blipFill>
        <p:spPr>
          <a:xfrm>
            <a:off x="15732230" y="5077974"/>
            <a:ext cx="5321803" cy="101601"/>
          </a:xfrm>
          <a:prstGeom prst="rect">
            <a:avLst/>
          </a:prstGeom>
        </p:spPr>
      </p:pic>
      <p:sp>
        <p:nvSpPr>
          <p:cNvPr id="997" name="Funcția staged_predict ne permite să calculăm prezicerile în stagii intermediare"/>
          <p:cNvSpPr txBox="1"/>
          <p:nvPr/>
        </p:nvSpPr>
        <p:spPr>
          <a:xfrm>
            <a:off x="1023131" y="7717109"/>
            <a:ext cx="19891909"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Funcția staged_predict ne permite să calculăm prezicerile în stagii intermediare</a:t>
            </a:r>
          </a:p>
        </p:txBody>
      </p:sp>
      <p:sp>
        <p:nvSpPr>
          <p:cNvPr id="998" name="De exemplu, va face predicția doar cu primul estimator, după doar cu primel două, dupa cu primele trei, și tot așa, până ajunge să facă predicția cu toate."/>
          <p:cNvSpPr txBox="1"/>
          <p:nvPr/>
        </p:nvSpPr>
        <p:spPr>
          <a:xfrm>
            <a:off x="1062812" y="8716592"/>
            <a:ext cx="22614383" cy="16891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De exemplu, va face predicția doar cu primul estimator, după doar cu primel două, dupa cu primele trei, și tot așa, până ajunge să facă predicția cu toate.</a:t>
            </a:r>
          </a:p>
        </p:txBody>
      </p:sp>
      <p:sp>
        <p:nvSpPr>
          <p:cNvPr id="999" name="Ne va oferi prezicerile la aceste stagii intermediare pentru a putea selecta numărul optim de estimatori."/>
          <p:cNvSpPr txBox="1"/>
          <p:nvPr/>
        </p:nvSpPr>
        <p:spPr>
          <a:xfrm>
            <a:off x="970331" y="10471015"/>
            <a:ext cx="22799346" cy="168915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Ne va oferi prezicerile la aceste stagii intermediare pentru a putea selecta numărul optim de estimatori.</a:t>
            </a:r>
          </a:p>
        </p:txBody>
      </p:sp>
      <p:pic>
        <p:nvPicPr>
          <p:cNvPr id="1000" name="Linie Linie" descr="Linie Linie"/>
          <p:cNvPicPr>
            <a:picLocks noChangeAspect="0"/>
          </p:cNvPicPr>
          <p:nvPr/>
        </p:nvPicPr>
        <p:blipFill>
          <a:blip r:embed="rId2">
            <a:extLst/>
          </a:blip>
          <a:stretch>
            <a:fillRect/>
          </a:stretch>
        </p:blipFill>
        <p:spPr>
          <a:xfrm>
            <a:off x="15732230" y="8549720"/>
            <a:ext cx="5321803" cy="101601"/>
          </a:xfrm>
          <a:prstGeom prst="rect">
            <a:avLst/>
          </a:prstGeom>
        </p:spPr>
      </p:pic>
      <p:pic>
        <p:nvPicPr>
          <p:cNvPr id="1002" name="Linie Linie" descr="Linie Linie"/>
          <p:cNvPicPr>
            <a:picLocks noChangeAspect="0"/>
          </p:cNvPicPr>
          <p:nvPr/>
        </p:nvPicPr>
        <p:blipFill>
          <a:blip r:embed="rId2">
            <a:extLst/>
          </a:blip>
          <a:stretch>
            <a:fillRect/>
          </a:stretch>
        </p:blipFill>
        <p:spPr>
          <a:xfrm>
            <a:off x="18478179" y="11274042"/>
            <a:ext cx="5321802" cy="10160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995"/>
                                        </p:tgtEl>
                                        <p:attrNameLst>
                                          <p:attrName>style.visibility</p:attrName>
                                        </p:attrNameLst>
                                      </p:cBhvr>
                                      <p:to>
                                        <p:strVal val="visible"/>
                                      </p:to>
                                    </p:set>
                                    <p:animEffect filter="dissolve" transition="in">
                                      <p:cBhvr>
                                        <p:cTn id="7" dur="2000"/>
                                        <p:tgtEl>
                                          <p:spTgt spid="995"/>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 grpId="2" fill="hold">
                                  <p:stCondLst>
                                    <p:cond delay="0"/>
                                  </p:stCondLst>
                                  <p:iterate type="el" backwards="0">
                                    <p:tmAbs val="0"/>
                                  </p:iterate>
                                  <p:childTnLst>
                                    <p:set>
                                      <p:cBhvr>
                                        <p:cTn id="11" fill="hold"/>
                                        <p:tgtEl>
                                          <p:spTgt spid="997"/>
                                        </p:tgtEl>
                                        <p:attrNameLst>
                                          <p:attrName>style.visibility</p:attrName>
                                        </p:attrNameLst>
                                      </p:cBhvr>
                                      <p:to>
                                        <p:strVal val="visible"/>
                                      </p:to>
                                    </p:set>
                                    <p:anim calcmode="lin" valueType="num">
                                      <p:cBhvr>
                                        <p:cTn id="12" dur="1000" fill="hold"/>
                                        <p:tgtEl>
                                          <p:spTgt spid="997"/>
                                        </p:tgtEl>
                                        <p:attrNameLst>
                                          <p:attrName>ppt_x</p:attrName>
                                        </p:attrNameLst>
                                      </p:cBhvr>
                                      <p:tavLst>
                                        <p:tav tm="0">
                                          <p:val>
                                            <p:strVal val="0-#ppt_w/2"/>
                                          </p:val>
                                        </p:tav>
                                        <p:tav tm="100000">
                                          <p:val>
                                            <p:strVal val="#ppt_x"/>
                                          </p:val>
                                        </p:tav>
                                      </p:tavLst>
                                    </p:anim>
                                    <p:anim calcmode="lin" valueType="num">
                                      <p:cBhvr>
                                        <p:cTn id="13" dur="1000" fill="hold"/>
                                        <p:tgtEl>
                                          <p:spTgt spid="99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Class="entr" nodeType="afterEffect" presetID="9" grpId="3" fill="hold">
                                  <p:stCondLst>
                                    <p:cond delay="0"/>
                                  </p:stCondLst>
                                  <p:iterate type="el" backwards="0">
                                    <p:tmAbs val="0"/>
                                  </p:iterate>
                                  <p:childTnLst>
                                    <p:set>
                                      <p:cBhvr>
                                        <p:cTn id="16" fill="hold"/>
                                        <p:tgtEl>
                                          <p:spTgt spid="1000"/>
                                        </p:tgtEl>
                                        <p:attrNameLst>
                                          <p:attrName>style.visibility</p:attrName>
                                        </p:attrNameLst>
                                      </p:cBhvr>
                                      <p:to>
                                        <p:strVal val="visible"/>
                                      </p:to>
                                    </p:set>
                                    <p:animEffect filter="dissolve" transition="in">
                                      <p:cBhvr>
                                        <p:cTn id="17" dur="2000"/>
                                        <p:tgtEl>
                                          <p:spTgt spid="1000"/>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 grpId="4" fill="hold">
                                  <p:stCondLst>
                                    <p:cond delay="0"/>
                                  </p:stCondLst>
                                  <p:iterate type="el" backwards="0">
                                    <p:tmAbs val="0"/>
                                  </p:iterate>
                                  <p:childTnLst>
                                    <p:set>
                                      <p:cBhvr>
                                        <p:cTn id="21" fill="hold"/>
                                        <p:tgtEl>
                                          <p:spTgt spid="998"/>
                                        </p:tgtEl>
                                        <p:attrNameLst>
                                          <p:attrName>style.visibility</p:attrName>
                                        </p:attrNameLst>
                                      </p:cBhvr>
                                      <p:to>
                                        <p:strVal val="visible"/>
                                      </p:to>
                                    </p:set>
                                    <p:anim calcmode="lin" valueType="num">
                                      <p:cBhvr>
                                        <p:cTn id="22" dur="1000" fill="hold"/>
                                        <p:tgtEl>
                                          <p:spTgt spid="998"/>
                                        </p:tgtEl>
                                        <p:attrNameLst>
                                          <p:attrName>ppt_x</p:attrName>
                                        </p:attrNameLst>
                                      </p:cBhvr>
                                      <p:tavLst>
                                        <p:tav tm="0">
                                          <p:val>
                                            <p:strVal val="0-#ppt_w/2"/>
                                          </p:val>
                                        </p:tav>
                                        <p:tav tm="100000">
                                          <p:val>
                                            <p:strVal val="#ppt_x"/>
                                          </p:val>
                                        </p:tav>
                                      </p:tavLst>
                                    </p:anim>
                                    <p:anim calcmode="lin" valueType="num">
                                      <p:cBhvr>
                                        <p:cTn id="23" dur="1000" fill="hold"/>
                                        <p:tgtEl>
                                          <p:spTgt spid="998"/>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8" presetID="2" grpId="5" fill="hold">
                                  <p:stCondLst>
                                    <p:cond delay="0"/>
                                  </p:stCondLst>
                                  <p:iterate type="el" backwards="0">
                                    <p:tmAbs val="0"/>
                                  </p:iterate>
                                  <p:childTnLst>
                                    <p:set>
                                      <p:cBhvr>
                                        <p:cTn id="27" fill="hold"/>
                                        <p:tgtEl>
                                          <p:spTgt spid="999"/>
                                        </p:tgtEl>
                                        <p:attrNameLst>
                                          <p:attrName>style.visibility</p:attrName>
                                        </p:attrNameLst>
                                      </p:cBhvr>
                                      <p:to>
                                        <p:strVal val="visible"/>
                                      </p:to>
                                    </p:set>
                                    <p:anim calcmode="lin" valueType="num">
                                      <p:cBhvr>
                                        <p:cTn id="28" dur="1000" fill="hold"/>
                                        <p:tgtEl>
                                          <p:spTgt spid="999"/>
                                        </p:tgtEl>
                                        <p:attrNameLst>
                                          <p:attrName>ppt_x</p:attrName>
                                        </p:attrNameLst>
                                      </p:cBhvr>
                                      <p:tavLst>
                                        <p:tav tm="0">
                                          <p:val>
                                            <p:strVal val="0-#ppt_w/2"/>
                                          </p:val>
                                        </p:tav>
                                        <p:tav tm="100000">
                                          <p:val>
                                            <p:strVal val="#ppt_x"/>
                                          </p:val>
                                        </p:tav>
                                      </p:tavLst>
                                    </p:anim>
                                    <p:anim calcmode="lin" valueType="num">
                                      <p:cBhvr>
                                        <p:cTn id="29" dur="1000" fill="hold"/>
                                        <p:tgtEl>
                                          <p:spTgt spid="999"/>
                                        </p:tgtEl>
                                        <p:attrNameLst>
                                          <p:attrName>ppt_y</p:attrName>
                                        </p:attrNameLst>
                                      </p:cBhvr>
                                      <p:tavLst>
                                        <p:tav tm="0">
                                          <p:val>
                                            <p:strVal val="#ppt_y"/>
                                          </p:val>
                                        </p:tav>
                                        <p:tav tm="100000">
                                          <p:val>
                                            <p:strVal val="#ppt_y"/>
                                          </p:val>
                                        </p:tav>
                                      </p:tavLst>
                                    </p:anim>
                                  </p:childTnLst>
                                </p:cTn>
                              </p:par>
                            </p:childTnLst>
                          </p:cTn>
                        </p:par>
                        <p:par>
                          <p:cTn id="30" fill="hold">
                            <p:stCondLst>
                              <p:cond delay="1000"/>
                            </p:stCondLst>
                            <p:childTnLst>
                              <p:par>
                                <p:cTn id="31" presetClass="entr" nodeType="afterEffect" presetID="9" grpId="6" fill="hold">
                                  <p:stCondLst>
                                    <p:cond delay="0"/>
                                  </p:stCondLst>
                                  <p:iterate type="el" backwards="0">
                                    <p:tmAbs val="0"/>
                                  </p:iterate>
                                  <p:childTnLst>
                                    <p:set>
                                      <p:cBhvr>
                                        <p:cTn id="32" fill="hold"/>
                                        <p:tgtEl>
                                          <p:spTgt spid="1002"/>
                                        </p:tgtEl>
                                        <p:attrNameLst>
                                          <p:attrName>style.visibility</p:attrName>
                                        </p:attrNameLst>
                                      </p:cBhvr>
                                      <p:to>
                                        <p:strVal val="visible"/>
                                      </p:to>
                                    </p:set>
                                    <p:animEffect filter="dissolve" transition="in">
                                      <p:cBhvr>
                                        <p:cTn id="33" dur="2000"/>
                                        <p:tgtEl>
                                          <p:spTgt spid="10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95" grpId="1"/>
      <p:bldP build="whole" bldLvl="1" animBg="1" rev="0" advAuto="0" spid="997" grpId="2"/>
      <p:bldP build="whole" bldLvl="1" animBg="1" rev="0" advAuto="0" spid="998" grpId="4"/>
      <p:bldP build="whole" bldLvl="1" animBg="1" rev="0" advAuto="0" spid="999" grpId="5"/>
      <p:bldP build="whole" bldLvl="1" animBg="1" rev="0" advAuto="0" spid="1002" grpId="6"/>
      <p:bldP build="whole" bldLvl="1" animBg="1" rev="0" advAuto="0" spid="1000" grpId="3"/>
    </p:bldLst>
  </p:timing>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5" name="GradientBoosting"/>
          <p:cNvSpPr txBox="1"/>
          <p:nvPr/>
        </p:nvSpPr>
        <p:spPr>
          <a:xfrm>
            <a:off x="5903760" y="570579"/>
            <a:ext cx="6604052"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GradientBoosting</a:t>
            </a:r>
          </a:p>
        </p:txBody>
      </p:sp>
      <p:sp>
        <p:nvSpPr>
          <p:cNvPr id="1006" name="+ Early Stopping"/>
          <p:cNvSpPr txBox="1"/>
          <p:nvPr/>
        </p:nvSpPr>
        <p:spPr>
          <a:xfrm>
            <a:off x="12448388" y="570579"/>
            <a:ext cx="5955234"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 Early Stopping</a:t>
            </a:r>
          </a:p>
        </p:txBody>
      </p:sp>
      <p:sp>
        <p:nvSpPr>
          <p:cNvPr id="1007" name="errors = [mean_squared_error(y_val, y_pred) for y_pred in gbrt.staged_predict(X_val)]…"/>
          <p:cNvSpPr txBox="1"/>
          <p:nvPr/>
        </p:nvSpPr>
        <p:spPr>
          <a:xfrm>
            <a:off x="1489137" y="4330551"/>
            <a:ext cx="21405726" cy="159644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a:latin typeface="Arial"/>
                <a:ea typeface="Arial"/>
                <a:cs typeface="Arial"/>
                <a:sym typeface="Arial"/>
              </a:defRPr>
            </a:pPr>
            <a:r>
              <a:t>errors = [mean_squared_error(y_val, y_pred) for y_pred in gbrt.staged_predict(X_val)]</a:t>
            </a:r>
          </a:p>
          <a:p>
            <a:pPr>
              <a:defRPr>
                <a:latin typeface="Arial"/>
                <a:ea typeface="Arial"/>
                <a:cs typeface="Arial"/>
                <a:sym typeface="Arial"/>
              </a:defRPr>
            </a:pPr>
            <a:r>
              <a:t>bst_n_estimators = np.argmin(errors) + 1</a:t>
            </a:r>
          </a:p>
        </p:txBody>
      </p:sp>
      <p:pic>
        <p:nvPicPr>
          <p:cNvPr id="1008" name="Linie Linie" descr="Linie Linie"/>
          <p:cNvPicPr>
            <a:picLocks noChangeAspect="0"/>
          </p:cNvPicPr>
          <p:nvPr/>
        </p:nvPicPr>
        <p:blipFill>
          <a:blip r:embed="rId2">
            <a:extLst/>
          </a:blip>
          <a:stretch>
            <a:fillRect/>
          </a:stretch>
        </p:blipFill>
        <p:spPr>
          <a:xfrm>
            <a:off x="15732230" y="5077974"/>
            <a:ext cx="5321803" cy="101601"/>
          </a:xfrm>
          <a:prstGeom prst="rect">
            <a:avLst/>
          </a:prstGeom>
        </p:spPr>
      </p:pic>
      <p:sp>
        <p:nvSpPr>
          <p:cNvPr id="1010" name="Practic, aici calculăm eroarea pentru 1 estimator, 2 estimatori, până la N estimatori"/>
          <p:cNvSpPr txBox="1"/>
          <p:nvPr/>
        </p:nvSpPr>
        <p:spPr>
          <a:xfrm>
            <a:off x="1023131" y="7717109"/>
            <a:ext cx="2048759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Practic, aici calculăm eroarea pentru 1 estimator, 2 estimatori, până la N estimatori</a:t>
            </a:r>
          </a:p>
        </p:txBody>
      </p:sp>
      <p:sp>
        <p:nvSpPr>
          <p:cNvPr id="1011" name="Obținem o listă de erori"/>
          <p:cNvSpPr txBox="1"/>
          <p:nvPr/>
        </p:nvSpPr>
        <p:spPr>
          <a:xfrm>
            <a:off x="1003290" y="8950306"/>
            <a:ext cx="6008524"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Obținem o listă de erori</a:t>
            </a:r>
          </a:p>
        </p:txBody>
      </p:sp>
      <p:sp>
        <p:nvSpPr>
          <p:cNvPr id="1012" name="Cu np.argmin calculăm indicele din listă unde se află eroarea cea mai mică"/>
          <p:cNvSpPr txBox="1"/>
          <p:nvPr/>
        </p:nvSpPr>
        <p:spPr>
          <a:xfrm>
            <a:off x="1042971" y="10183505"/>
            <a:ext cx="18461941"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Cu np.argmin calculăm indicele din listă unde se află eroarea cea mai mică</a:t>
            </a:r>
          </a:p>
        </p:txBody>
      </p:sp>
      <p:sp>
        <p:nvSpPr>
          <p:cNvPr id="1013" name="Adunăm un 1 deoarece indexarea în liste începe de la 0"/>
          <p:cNvSpPr txBox="1"/>
          <p:nvPr/>
        </p:nvSpPr>
        <p:spPr>
          <a:xfrm>
            <a:off x="1003290" y="11451513"/>
            <a:ext cx="13605410" cy="934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Adunăm un 1 deoarece indexarea în liste începe de la 0</a:t>
            </a:r>
          </a:p>
        </p:txBody>
      </p:sp>
      <p:pic>
        <p:nvPicPr>
          <p:cNvPr id="1014" name="Linie Linie" descr="Linie Linie"/>
          <p:cNvPicPr>
            <a:picLocks noChangeAspect="0"/>
          </p:cNvPicPr>
          <p:nvPr/>
        </p:nvPicPr>
        <p:blipFill>
          <a:blip r:embed="rId3">
            <a:extLst/>
          </a:blip>
          <a:stretch>
            <a:fillRect/>
          </a:stretch>
        </p:blipFill>
        <p:spPr>
          <a:xfrm>
            <a:off x="3280340" y="9782919"/>
            <a:ext cx="3707733" cy="101601"/>
          </a:xfrm>
          <a:prstGeom prst="rect">
            <a:avLst/>
          </a:prstGeom>
        </p:spPr>
      </p:pic>
      <p:pic>
        <p:nvPicPr>
          <p:cNvPr id="1016" name="Linie Linie" descr="Linie Linie"/>
          <p:cNvPicPr>
            <a:picLocks noChangeAspect="0"/>
          </p:cNvPicPr>
          <p:nvPr/>
        </p:nvPicPr>
        <p:blipFill>
          <a:blip r:embed="rId4">
            <a:extLst/>
          </a:blip>
          <a:stretch>
            <a:fillRect/>
          </a:stretch>
        </p:blipFill>
        <p:spPr>
          <a:xfrm>
            <a:off x="6732590" y="12307881"/>
            <a:ext cx="8010121" cy="101601"/>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1008"/>
                                        </p:tgtEl>
                                        <p:attrNameLst>
                                          <p:attrName>style.visibility</p:attrName>
                                        </p:attrNameLst>
                                      </p:cBhvr>
                                      <p:to>
                                        <p:strVal val="visible"/>
                                      </p:to>
                                    </p:set>
                                    <p:animEffect filter="dissolve" transition="in">
                                      <p:cBhvr>
                                        <p:cTn id="7" dur="2000"/>
                                        <p:tgtEl>
                                          <p:spTgt spid="1008"/>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 grpId="2" fill="hold">
                                  <p:stCondLst>
                                    <p:cond delay="0"/>
                                  </p:stCondLst>
                                  <p:iterate type="el" backwards="0">
                                    <p:tmAbs val="0"/>
                                  </p:iterate>
                                  <p:childTnLst>
                                    <p:set>
                                      <p:cBhvr>
                                        <p:cTn id="11" fill="hold"/>
                                        <p:tgtEl>
                                          <p:spTgt spid="1010"/>
                                        </p:tgtEl>
                                        <p:attrNameLst>
                                          <p:attrName>style.visibility</p:attrName>
                                        </p:attrNameLst>
                                      </p:cBhvr>
                                      <p:to>
                                        <p:strVal val="visible"/>
                                      </p:to>
                                    </p:set>
                                    <p:anim calcmode="lin" valueType="num">
                                      <p:cBhvr>
                                        <p:cTn id="12" dur="1000" fill="hold"/>
                                        <p:tgtEl>
                                          <p:spTgt spid="1010"/>
                                        </p:tgtEl>
                                        <p:attrNameLst>
                                          <p:attrName>ppt_x</p:attrName>
                                        </p:attrNameLst>
                                      </p:cBhvr>
                                      <p:tavLst>
                                        <p:tav tm="0">
                                          <p:val>
                                            <p:strVal val="0-#ppt_w/2"/>
                                          </p:val>
                                        </p:tav>
                                        <p:tav tm="100000">
                                          <p:val>
                                            <p:strVal val="#ppt_x"/>
                                          </p:val>
                                        </p:tav>
                                      </p:tavLst>
                                    </p:anim>
                                    <p:anim calcmode="lin" valueType="num">
                                      <p:cBhvr>
                                        <p:cTn id="13" dur="1000" fill="hold"/>
                                        <p:tgtEl>
                                          <p:spTgt spid="101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Class="entr" nodeType="clickEffect" presetSubtype="8" presetID="2" grpId="3" fill="hold">
                                  <p:stCondLst>
                                    <p:cond delay="0"/>
                                  </p:stCondLst>
                                  <p:iterate type="el" backwards="0">
                                    <p:tmAbs val="0"/>
                                  </p:iterate>
                                  <p:childTnLst>
                                    <p:set>
                                      <p:cBhvr>
                                        <p:cTn id="17" fill="hold"/>
                                        <p:tgtEl>
                                          <p:spTgt spid="1011"/>
                                        </p:tgtEl>
                                        <p:attrNameLst>
                                          <p:attrName>style.visibility</p:attrName>
                                        </p:attrNameLst>
                                      </p:cBhvr>
                                      <p:to>
                                        <p:strVal val="visible"/>
                                      </p:to>
                                    </p:set>
                                    <p:anim calcmode="lin" valueType="num">
                                      <p:cBhvr>
                                        <p:cTn id="18" dur="1000" fill="hold"/>
                                        <p:tgtEl>
                                          <p:spTgt spid="1011"/>
                                        </p:tgtEl>
                                        <p:attrNameLst>
                                          <p:attrName>ppt_x</p:attrName>
                                        </p:attrNameLst>
                                      </p:cBhvr>
                                      <p:tavLst>
                                        <p:tav tm="0">
                                          <p:val>
                                            <p:strVal val="0-#ppt_w/2"/>
                                          </p:val>
                                        </p:tav>
                                        <p:tav tm="100000">
                                          <p:val>
                                            <p:strVal val="#ppt_x"/>
                                          </p:val>
                                        </p:tav>
                                      </p:tavLst>
                                    </p:anim>
                                    <p:anim calcmode="lin" valueType="num">
                                      <p:cBhvr>
                                        <p:cTn id="19" dur="1000" fill="hold"/>
                                        <p:tgtEl>
                                          <p:spTgt spid="1011"/>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Class="entr" nodeType="afterEffect" presetID="9" grpId="4" fill="hold">
                                  <p:stCondLst>
                                    <p:cond delay="0"/>
                                  </p:stCondLst>
                                  <p:iterate type="el" backwards="0">
                                    <p:tmAbs val="0"/>
                                  </p:iterate>
                                  <p:childTnLst>
                                    <p:set>
                                      <p:cBhvr>
                                        <p:cTn id="22" fill="hold"/>
                                        <p:tgtEl>
                                          <p:spTgt spid="1014"/>
                                        </p:tgtEl>
                                        <p:attrNameLst>
                                          <p:attrName>style.visibility</p:attrName>
                                        </p:attrNameLst>
                                      </p:cBhvr>
                                      <p:to>
                                        <p:strVal val="visible"/>
                                      </p:to>
                                    </p:set>
                                    <p:animEffect filter="dissolve" transition="in">
                                      <p:cBhvr>
                                        <p:cTn id="23" dur="2000"/>
                                        <p:tgtEl>
                                          <p:spTgt spid="1014"/>
                                        </p:tgtEl>
                                      </p:cBhvr>
                                    </p:animEffect>
                                  </p:childTnLst>
                                </p:cTn>
                              </p:par>
                            </p:childTnLst>
                          </p:cTn>
                        </p:par>
                      </p:childTnLst>
                    </p:cTn>
                  </p:par>
                  <p:par>
                    <p:cTn id="24" fill="hold">
                      <p:stCondLst>
                        <p:cond delay="indefinite"/>
                      </p:stCondLst>
                      <p:childTnLst>
                        <p:par>
                          <p:cTn id="25" fill="hold">
                            <p:stCondLst>
                              <p:cond delay="0"/>
                            </p:stCondLst>
                            <p:childTnLst>
                              <p:par>
                                <p:cTn id="26" presetClass="entr" nodeType="clickEffect" presetSubtype="8" presetID="2" grpId="5" fill="hold">
                                  <p:stCondLst>
                                    <p:cond delay="0"/>
                                  </p:stCondLst>
                                  <p:iterate type="el" backwards="0">
                                    <p:tmAbs val="0"/>
                                  </p:iterate>
                                  <p:childTnLst>
                                    <p:set>
                                      <p:cBhvr>
                                        <p:cTn id="27" fill="hold"/>
                                        <p:tgtEl>
                                          <p:spTgt spid="1012"/>
                                        </p:tgtEl>
                                        <p:attrNameLst>
                                          <p:attrName>style.visibility</p:attrName>
                                        </p:attrNameLst>
                                      </p:cBhvr>
                                      <p:to>
                                        <p:strVal val="visible"/>
                                      </p:to>
                                    </p:set>
                                    <p:anim calcmode="lin" valueType="num">
                                      <p:cBhvr>
                                        <p:cTn id="28" dur="1000" fill="hold"/>
                                        <p:tgtEl>
                                          <p:spTgt spid="1012"/>
                                        </p:tgtEl>
                                        <p:attrNameLst>
                                          <p:attrName>ppt_x</p:attrName>
                                        </p:attrNameLst>
                                      </p:cBhvr>
                                      <p:tavLst>
                                        <p:tav tm="0">
                                          <p:val>
                                            <p:strVal val="0-#ppt_w/2"/>
                                          </p:val>
                                        </p:tav>
                                        <p:tav tm="100000">
                                          <p:val>
                                            <p:strVal val="#ppt_x"/>
                                          </p:val>
                                        </p:tav>
                                      </p:tavLst>
                                    </p:anim>
                                    <p:anim calcmode="lin" valueType="num">
                                      <p:cBhvr>
                                        <p:cTn id="29" dur="1000" fill="hold"/>
                                        <p:tgtEl>
                                          <p:spTgt spid="1012"/>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Class="entr" nodeType="clickEffect" presetSubtype="8" presetID="2" grpId="6" fill="hold">
                                  <p:stCondLst>
                                    <p:cond delay="0"/>
                                  </p:stCondLst>
                                  <p:iterate type="el" backwards="0">
                                    <p:tmAbs val="0"/>
                                  </p:iterate>
                                  <p:childTnLst>
                                    <p:set>
                                      <p:cBhvr>
                                        <p:cTn id="33" fill="hold"/>
                                        <p:tgtEl>
                                          <p:spTgt spid="1013"/>
                                        </p:tgtEl>
                                        <p:attrNameLst>
                                          <p:attrName>style.visibility</p:attrName>
                                        </p:attrNameLst>
                                      </p:cBhvr>
                                      <p:to>
                                        <p:strVal val="visible"/>
                                      </p:to>
                                    </p:set>
                                    <p:anim calcmode="lin" valueType="num">
                                      <p:cBhvr>
                                        <p:cTn id="34" dur="1000" fill="hold"/>
                                        <p:tgtEl>
                                          <p:spTgt spid="1013"/>
                                        </p:tgtEl>
                                        <p:attrNameLst>
                                          <p:attrName>ppt_x</p:attrName>
                                        </p:attrNameLst>
                                      </p:cBhvr>
                                      <p:tavLst>
                                        <p:tav tm="0">
                                          <p:val>
                                            <p:strVal val="0-#ppt_w/2"/>
                                          </p:val>
                                        </p:tav>
                                        <p:tav tm="100000">
                                          <p:val>
                                            <p:strVal val="#ppt_x"/>
                                          </p:val>
                                        </p:tav>
                                      </p:tavLst>
                                    </p:anim>
                                    <p:anim calcmode="lin" valueType="num">
                                      <p:cBhvr>
                                        <p:cTn id="35" dur="1000" fill="hold"/>
                                        <p:tgtEl>
                                          <p:spTgt spid="1013"/>
                                        </p:tgtEl>
                                        <p:attrNameLst>
                                          <p:attrName>ppt_y</p:attrName>
                                        </p:attrNameLst>
                                      </p:cBhvr>
                                      <p:tavLst>
                                        <p:tav tm="0">
                                          <p:val>
                                            <p:strVal val="#ppt_y"/>
                                          </p:val>
                                        </p:tav>
                                        <p:tav tm="100000">
                                          <p:val>
                                            <p:strVal val="#ppt_y"/>
                                          </p:val>
                                        </p:tav>
                                      </p:tavLst>
                                    </p:anim>
                                  </p:childTnLst>
                                </p:cTn>
                              </p:par>
                            </p:childTnLst>
                          </p:cTn>
                        </p:par>
                        <p:par>
                          <p:cTn id="36" fill="hold">
                            <p:stCondLst>
                              <p:cond delay="1000"/>
                            </p:stCondLst>
                            <p:childTnLst>
                              <p:par>
                                <p:cTn id="37" presetClass="entr" nodeType="afterEffect" presetID="9" grpId="7" fill="hold">
                                  <p:stCondLst>
                                    <p:cond delay="0"/>
                                  </p:stCondLst>
                                  <p:iterate type="el" backwards="0">
                                    <p:tmAbs val="0"/>
                                  </p:iterate>
                                  <p:childTnLst>
                                    <p:set>
                                      <p:cBhvr>
                                        <p:cTn id="38" fill="hold"/>
                                        <p:tgtEl>
                                          <p:spTgt spid="1016"/>
                                        </p:tgtEl>
                                        <p:attrNameLst>
                                          <p:attrName>style.visibility</p:attrName>
                                        </p:attrNameLst>
                                      </p:cBhvr>
                                      <p:to>
                                        <p:strVal val="visible"/>
                                      </p:to>
                                    </p:set>
                                    <p:animEffect filter="dissolve" transition="in">
                                      <p:cBhvr>
                                        <p:cTn id="39" dur="2000"/>
                                        <p:tgtEl>
                                          <p:spTgt spid="10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14" grpId="4"/>
      <p:bldP build="whole" bldLvl="1" animBg="1" rev="0" advAuto="0" spid="1011" grpId="3"/>
      <p:bldP build="whole" bldLvl="1" animBg="1" rev="0" advAuto="0" spid="1010" grpId="2"/>
      <p:bldP build="whole" bldLvl="1" animBg="1" rev="0" advAuto="0" spid="1008" grpId="1"/>
      <p:bldP build="whole" bldLvl="1" animBg="1" rev="0" advAuto="0" spid="1013" grpId="6"/>
      <p:bldP build="whole" bldLvl="1" animBg="1" rev="0" advAuto="0" spid="1012" grpId="5"/>
      <p:bldP build="whole" bldLvl="1" animBg="1" rev="0" advAuto="0" spid="1016" grpId="7"/>
    </p:bldLst>
  </p:timing>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019" name="Captură de ecran din 2024-10-21 la 13.46.07.png" descr="Captură de ecran din 2024-10-21 la 13.46.07.png"/>
          <p:cNvPicPr>
            <a:picLocks noChangeAspect="1"/>
          </p:cNvPicPr>
          <p:nvPr/>
        </p:nvPicPr>
        <p:blipFill>
          <a:blip r:embed="rId2">
            <a:extLst/>
          </a:blip>
          <a:stretch>
            <a:fillRect/>
          </a:stretch>
        </p:blipFill>
        <p:spPr>
          <a:xfrm>
            <a:off x="2026499" y="2213059"/>
            <a:ext cx="20331002" cy="10309218"/>
          </a:xfrm>
          <a:prstGeom prst="rect">
            <a:avLst/>
          </a:prstGeom>
          <a:ln w="12700">
            <a:miter lim="400000"/>
          </a:ln>
        </p:spPr>
      </p:pic>
      <p:sp>
        <p:nvSpPr>
          <p:cNvPr id="1020" name="errors = [mean_squared_error(y_val, y_pred) for y_pred in gbrt.staged_predict(X_val)]…"/>
          <p:cNvSpPr txBox="1"/>
          <p:nvPr/>
        </p:nvSpPr>
        <p:spPr>
          <a:xfrm>
            <a:off x="3165907" y="7171509"/>
            <a:ext cx="11727806" cy="107306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2400">
                <a:latin typeface="Arial"/>
                <a:ea typeface="Arial"/>
                <a:cs typeface="Arial"/>
                <a:sym typeface="Arial"/>
              </a:defRPr>
            </a:pPr>
            <a:r>
              <a:t>errors = [mean_squared_error(y_val, y_pred) for y_pred in gbrt.staged_predict(X_val)]</a:t>
            </a:r>
          </a:p>
          <a:p>
            <a:pPr>
              <a:defRPr sz="2400">
                <a:latin typeface="Arial"/>
                <a:ea typeface="Arial"/>
                <a:cs typeface="Arial"/>
                <a:sym typeface="Arial"/>
              </a:defRPr>
            </a:pPr>
            <a:r>
              <a:t>bst_n_estimators = np.argmin(errors) + 1</a:t>
            </a:r>
          </a:p>
        </p:txBody>
      </p:sp>
      <p:sp>
        <p:nvSpPr>
          <p:cNvPr id="1021" name="GradientBoosting"/>
          <p:cNvSpPr txBox="1"/>
          <p:nvPr/>
        </p:nvSpPr>
        <p:spPr>
          <a:xfrm>
            <a:off x="5903760" y="570579"/>
            <a:ext cx="6604052"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GradientBoosting</a:t>
            </a:r>
          </a:p>
        </p:txBody>
      </p:sp>
      <p:sp>
        <p:nvSpPr>
          <p:cNvPr id="1022" name="+ Early Stopping"/>
          <p:cNvSpPr txBox="1"/>
          <p:nvPr/>
        </p:nvSpPr>
        <p:spPr>
          <a:xfrm>
            <a:off x="12448388" y="570579"/>
            <a:ext cx="5955234" cy="128752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6200"/>
            </a:lvl1pPr>
          </a:lstStyle>
          <a:p>
            <a:pPr/>
            <a:r>
              <a:t>+ Early Stopping</a:t>
            </a:r>
          </a:p>
        </p:txBody>
      </p:sp>
      <p:pic>
        <p:nvPicPr>
          <p:cNvPr id="1023" name="Linie Linie" descr="Linie Linie"/>
          <p:cNvPicPr>
            <a:picLocks noChangeAspect="0"/>
          </p:cNvPicPr>
          <p:nvPr/>
        </p:nvPicPr>
        <p:blipFill>
          <a:blip r:embed="rId3">
            <a:extLst/>
          </a:blip>
          <a:stretch>
            <a:fillRect/>
          </a:stretch>
        </p:blipFill>
        <p:spPr>
          <a:xfrm>
            <a:off x="3153340" y="11228639"/>
            <a:ext cx="689189" cy="101601"/>
          </a:xfrm>
          <a:prstGeom prst="rect">
            <a:avLst/>
          </a:prstGeom>
        </p:spPr>
      </p:pic>
      <p:pic>
        <p:nvPicPr>
          <p:cNvPr id="1025" name="Linie Linie" descr="Linie Linie"/>
          <p:cNvPicPr>
            <a:picLocks noChangeAspect="0"/>
          </p:cNvPicPr>
          <p:nvPr/>
        </p:nvPicPr>
        <p:blipFill>
          <a:blip r:embed="rId4">
            <a:extLst/>
          </a:blip>
          <a:stretch>
            <a:fillRect/>
          </a:stretch>
        </p:blipFill>
        <p:spPr>
          <a:xfrm>
            <a:off x="3153340" y="11911173"/>
            <a:ext cx="3507706" cy="101601"/>
          </a:xfrm>
          <a:prstGeom prst="rect">
            <a:avLst/>
          </a:prstGeom>
        </p:spPr>
      </p:pic>
      <p:pic>
        <p:nvPicPr>
          <p:cNvPr id="1027" name="Linie Linie" descr="Linie Linie"/>
          <p:cNvPicPr>
            <a:picLocks noChangeAspect="0"/>
          </p:cNvPicPr>
          <p:nvPr/>
        </p:nvPicPr>
        <p:blipFill>
          <a:blip r:embed="rId5">
            <a:extLst/>
          </a:blip>
          <a:stretch>
            <a:fillRect/>
          </a:stretch>
        </p:blipFill>
        <p:spPr>
          <a:xfrm>
            <a:off x="3935078" y="11228639"/>
            <a:ext cx="2872818" cy="101601"/>
          </a:xfrm>
          <a:prstGeom prst="rect">
            <a:avLst/>
          </a:prstGeom>
        </p:spPr>
      </p:pic>
      <p:pic>
        <p:nvPicPr>
          <p:cNvPr id="1029" name="Linie Linie" descr="Linie Linie"/>
          <p:cNvPicPr>
            <a:picLocks noChangeAspect="0"/>
          </p:cNvPicPr>
          <p:nvPr/>
        </p:nvPicPr>
        <p:blipFill>
          <a:blip r:embed="rId6">
            <a:extLst/>
          </a:blip>
          <a:stretch>
            <a:fillRect/>
          </a:stretch>
        </p:blipFill>
        <p:spPr>
          <a:xfrm>
            <a:off x="6740548" y="11911173"/>
            <a:ext cx="689188" cy="101601"/>
          </a:xfrm>
          <a:prstGeom prst="rect">
            <a:avLst/>
          </a:prstGeom>
        </p:spPr>
      </p:pic>
      <p:pic>
        <p:nvPicPr>
          <p:cNvPr id="1031" name="Linie Linie" descr="Linie Linie"/>
          <p:cNvPicPr>
            <a:picLocks noChangeAspect="0"/>
          </p:cNvPicPr>
          <p:nvPr/>
        </p:nvPicPr>
        <p:blipFill>
          <a:blip r:embed="rId7">
            <a:extLst/>
          </a:blip>
          <a:stretch>
            <a:fillRect/>
          </a:stretch>
        </p:blipFill>
        <p:spPr>
          <a:xfrm>
            <a:off x="6720707" y="11228639"/>
            <a:ext cx="1578680" cy="101601"/>
          </a:xfrm>
          <a:prstGeom prst="rect">
            <a:avLst/>
          </a:prstGeom>
        </p:spPr>
      </p:pic>
      <p:pic>
        <p:nvPicPr>
          <p:cNvPr id="1033" name="Linie Linie" descr="Linie Linie"/>
          <p:cNvPicPr>
            <a:picLocks noChangeAspect="0"/>
          </p:cNvPicPr>
          <p:nvPr/>
        </p:nvPicPr>
        <p:blipFill>
          <a:blip r:embed="rId8">
            <a:extLst/>
          </a:blip>
          <a:stretch>
            <a:fillRect/>
          </a:stretch>
        </p:blipFill>
        <p:spPr>
          <a:xfrm>
            <a:off x="7510047" y="11911173"/>
            <a:ext cx="3391478" cy="101601"/>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9" grpId="1" fill="hold">
                                  <p:stCondLst>
                                    <p:cond delay="0"/>
                                  </p:stCondLst>
                                  <p:iterate type="el" backwards="0">
                                    <p:tmAbs val="0"/>
                                  </p:iterate>
                                  <p:childTnLst>
                                    <p:set>
                                      <p:cBhvr>
                                        <p:cTn id="6" fill="hold"/>
                                        <p:tgtEl>
                                          <p:spTgt spid="1023"/>
                                        </p:tgtEl>
                                        <p:attrNameLst>
                                          <p:attrName>style.visibility</p:attrName>
                                        </p:attrNameLst>
                                      </p:cBhvr>
                                      <p:to>
                                        <p:strVal val="visible"/>
                                      </p:to>
                                    </p:set>
                                    <p:animEffect filter="dissolve" transition="in">
                                      <p:cBhvr>
                                        <p:cTn id="7" dur="2000"/>
                                        <p:tgtEl>
                                          <p:spTgt spid="1023"/>
                                        </p:tgtEl>
                                      </p:cBhvr>
                                    </p:animEffect>
                                  </p:childTnLst>
                                </p:cTn>
                              </p:par>
                            </p:childTnLst>
                          </p:cTn>
                        </p:par>
                        <p:par>
                          <p:cTn id="8" fill="hold">
                            <p:stCondLst>
                              <p:cond delay="2000"/>
                            </p:stCondLst>
                            <p:childTnLst>
                              <p:par>
                                <p:cTn id="9" presetClass="entr" nodeType="afterEffect" presetID="9" grpId="2" fill="hold">
                                  <p:stCondLst>
                                    <p:cond delay="0"/>
                                  </p:stCondLst>
                                  <p:iterate type="el" backwards="0">
                                    <p:tmAbs val="0"/>
                                  </p:iterate>
                                  <p:childTnLst>
                                    <p:set>
                                      <p:cBhvr>
                                        <p:cTn id="10" fill="hold"/>
                                        <p:tgtEl>
                                          <p:spTgt spid="1025"/>
                                        </p:tgtEl>
                                        <p:attrNameLst>
                                          <p:attrName>style.visibility</p:attrName>
                                        </p:attrNameLst>
                                      </p:cBhvr>
                                      <p:to>
                                        <p:strVal val="visible"/>
                                      </p:to>
                                    </p:set>
                                    <p:animEffect filter="dissolve" transition="in">
                                      <p:cBhvr>
                                        <p:cTn id="11" dur="2000"/>
                                        <p:tgtEl>
                                          <p:spTgt spid="1025"/>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9" grpId="3" fill="hold">
                                  <p:stCondLst>
                                    <p:cond delay="0"/>
                                  </p:stCondLst>
                                  <p:iterate type="el" backwards="0">
                                    <p:tmAbs val="0"/>
                                  </p:iterate>
                                  <p:childTnLst>
                                    <p:set>
                                      <p:cBhvr>
                                        <p:cTn id="15" fill="hold"/>
                                        <p:tgtEl>
                                          <p:spTgt spid="1027"/>
                                        </p:tgtEl>
                                        <p:attrNameLst>
                                          <p:attrName>style.visibility</p:attrName>
                                        </p:attrNameLst>
                                      </p:cBhvr>
                                      <p:to>
                                        <p:strVal val="visible"/>
                                      </p:to>
                                    </p:set>
                                    <p:animEffect filter="dissolve" transition="in">
                                      <p:cBhvr>
                                        <p:cTn id="16" dur="2000"/>
                                        <p:tgtEl>
                                          <p:spTgt spid="1027"/>
                                        </p:tgtEl>
                                      </p:cBhvr>
                                    </p:animEffect>
                                  </p:childTnLst>
                                </p:cTn>
                              </p:par>
                            </p:childTnLst>
                          </p:cTn>
                        </p:par>
                        <p:par>
                          <p:cTn id="17" fill="hold">
                            <p:stCondLst>
                              <p:cond delay="2000"/>
                            </p:stCondLst>
                            <p:childTnLst>
                              <p:par>
                                <p:cTn id="18" presetClass="entr" nodeType="afterEffect" presetID="9" grpId="4" fill="hold">
                                  <p:stCondLst>
                                    <p:cond delay="0"/>
                                  </p:stCondLst>
                                  <p:iterate type="el" backwards="0">
                                    <p:tmAbs val="0"/>
                                  </p:iterate>
                                  <p:childTnLst>
                                    <p:set>
                                      <p:cBhvr>
                                        <p:cTn id="19" fill="hold"/>
                                        <p:tgtEl>
                                          <p:spTgt spid="1029"/>
                                        </p:tgtEl>
                                        <p:attrNameLst>
                                          <p:attrName>style.visibility</p:attrName>
                                        </p:attrNameLst>
                                      </p:cBhvr>
                                      <p:to>
                                        <p:strVal val="visible"/>
                                      </p:to>
                                    </p:set>
                                    <p:animEffect filter="dissolve" transition="in">
                                      <p:cBhvr>
                                        <p:cTn id="20" dur="2000"/>
                                        <p:tgtEl>
                                          <p:spTgt spid="1029"/>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9" grpId="5" fill="hold">
                                  <p:stCondLst>
                                    <p:cond delay="0"/>
                                  </p:stCondLst>
                                  <p:iterate type="el" backwards="0">
                                    <p:tmAbs val="0"/>
                                  </p:iterate>
                                  <p:childTnLst>
                                    <p:set>
                                      <p:cBhvr>
                                        <p:cTn id="24" fill="hold"/>
                                        <p:tgtEl>
                                          <p:spTgt spid="1031"/>
                                        </p:tgtEl>
                                        <p:attrNameLst>
                                          <p:attrName>style.visibility</p:attrName>
                                        </p:attrNameLst>
                                      </p:cBhvr>
                                      <p:to>
                                        <p:strVal val="visible"/>
                                      </p:to>
                                    </p:set>
                                    <p:animEffect filter="dissolve" transition="in">
                                      <p:cBhvr>
                                        <p:cTn id="25" dur="2000"/>
                                        <p:tgtEl>
                                          <p:spTgt spid="1031"/>
                                        </p:tgtEl>
                                      </p:cBhvr>
                                    </p:animEffect>
                                  </p:childTnLst>
                                </p:cTn>
                              </p:par>
                            </p:childTnLst>
                          </p:cTn>
                        </p:par>
                        <p:par>
                          <p:cTn id="26" fill="hold">
                            <p:stCondLst>
                              <p:cond delay="2000"/>
                            </p:stCondLst>
                            <p:childTnLst>
                              <p:par>
                                <p:cTn id="27" presetClass="entr" nodeType="afterEffect" presetID="9" grpId="6" fill="hold">
                                  <p:stCondLst>
                                    <p:cond delay="0"/>
                                  </p:stCondLst>
                                  <p:iterate type="el" backwards="0">
                                    <p:tmAbs val="0"/>
                                  </p:iterate>
                                  <p:childTnLst>
                                    <p:set>
                                      <p:cBhvr>
                                        <p:cTn id="28" fill="hold"/>
                                        <p:tgtEl>
                                          <p:spTgt spid="1033"/>
                                        </p:tgtEl>
                                        <p:attrNameLst>
                                          <p:attrName>style.visibility</p:attrName>
                                        </p:attrNameLst>
                                      </p:cBhvr>
                                      <p:to>
                                        <p:strVal val="visible"/>
                                      </p:to>
                                    </p:set>
                                    <p:animEffect filter="dissolve" transition="in">
                                      <p:cBhvr>
                                        <p:cTn id="29" dur="2000"/>
                                        <p:tgtEl>
                                          <p:spTgt spid="10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027" grpId="3"/>
      <p:bldP build="whole" bldLvl="1" animBg="1" rev="0" advAuto="0" spid="1025" grpId="2"/>
      <p:bldP build="whole" bldLvl="1" animBg="1" rev="0" advAuto="0" spid="1023" grpId="1"/>
      <p:bldP build="whole" bldLvl="1" animBg="1" rev="0" advAuto="0" spid="1029" grpId="4"/>
      <p:bldP build="whole" bldLvl="1" animBg="1" rev="0" advAuto="0" spid="1031" grpId="5"/>
      <p:bldP build="whole" bldLvl="1" animBg="1" rev="0" advAuto="0" spid="1033" grpId="6"/>
    </p:bldLst>
  </p:timing>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6" name="That’s it for today!…"/>
          <p:cNvSpPr txBox="1"/>
          <p:nvPr>
            <p:ph type="title"/>
          </p:nvPr>
        </p:nvSpPr>
        <p:spPr>
          <a:xfrm>
            <a:off x="1219200" y="5994400"/>
            <a:ext cx="21945600" cy="1727200"/>
          </a:xfrm>
          <a:prstGeom prst="rect">
            <a:avLst/>
          </a:prstGeom>
        </p:spPr>
        <p:txBody>
          <a:bodyPr/>
          <a:lstStyle/>
          <a:p>
            <a:pPr defTabSz="1389888">
              <a:defRPr spc="-99" sz="4700"/>
            </a:pPr>
            <a:r>
              <a:t>That’s it for today!</a:t>
            </a:r>
          </a:p>
          <a:p>
            <a:pPr defTabSz="1389888">
              <a:defRPr spc="-99" sz="4700"/>
            </a:pPr>
            <a:r>
              <a:t>Now let’s do some exercises.</a:t>
            </a:r>
          </a:p>
        </p:txBody>
      </p:sp>
    </p:spTree>
  </p:cSld>
  <p:clrMapOvr>
    <a:masterClrMapping/>
  </p:clrMapOvr>
  <mc:AlternateContent xmlns:mc="http://schemas.openxmlformats.org/markup-compatibility/2006">
    <mc:Choice xmlns:p14="http://schemas.microsoft.com/office/powerpoint/2010/main" Requires="p14">
      <p:transition spd="slow" advClick="1" p14:dur="2000">
        <p14:flip dir="r"/>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8" name="That’s it for today!…"/>
          <p:cNvSpPr txBox="1"/>
          <p:nvPr>
            <p:ph type="title"/>
          </p:nvPr>
        </p:nvSpPr>
        <p:spPr>
          <a:xfrm>
            <a:off x="1219200" y="419213"/>
            <a:ext cx="21945600" cy="1727201"/>
          </a:xfrm>
          <a:prstGeom prst="rect">
            <a:avLst/>
          </a:prstGeom>
        </p:spPr>
        <p:txBody>
          <a:bodyPr/>
          <a:lstStyle/>
          <a:p>
            <a:pPr defTabSz="1389888">
              <a:defRPr spc="-99" sz="4700"/>
            </a:pPr>
            <a:r>
              <a:t>That’s it for today!</a:t>
            </a:r>
          </a:p>
          <a:p>
            <a:pPr defTabSz="1389888">
              <a:defRPr spc="-99" sz="4700"/>
            </a:pPr>
            <a:r>
              <a:t>Now let’s do some exercises.</a:t>
            </a:r>
          </a:p>
        </p:txBody>
      </p:sp>
      <p:pic>
        <p:nvPicPr>
          <p:cNvPr id="1039" name="Captură de ecran din 2024-10-21 la 14.01.22.png" descr="Captură de ecran din 2024-10-21 la 14.01.22.png"/>
          <p:cNvPicPr>
            <a:picLocks noChangeAspect="1"/>
          </p:cNvPicPr>
          <p:nvPr/>
        </p:nvPicPr>
        <p:blipFill>
          <a:blip r:embed="rId2">
            <a:extLst/>
          </a:blip>
          <a:stretch>
            <a:fillRect/>
          </a:stretch>
        </p:blipFill>
        <p:spPr>
          <a:xfrm>
            <a:off x="6169007" y="2097670"/>
            <a:ext cx="12045986" cy="11467449"/>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2000">
        <p159:morph option="byObject"/>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A7A7A7"/>
      </a:dk2>
      <a:lt2>
        <a:srgbClr val="535353"/>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a:ea typeface="Helvetica"/>
        <a:cs typeface="Helvetica"/>
      </a:majorFont>
      <a:minorFont>
        <a:latin typeface="Helvetica Neue"/>
        <a:ea typeface="Helvetica Neue"/>
        <a:cs typeface="Helvetica Neu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A7A7A7"/>
      </a:dk2>
      <a:lt2>
        <a:srgbClr val="535353"/>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Helvetica"/>
        <a:ea typeface="Helvetica"/>
        <a:cs typeface="Helvetica"/>
      </a:majorFont>
      <a:minorFont>
        <a:latin typeface="Helvetica Neue"/>
        <a:ea typeface="Helvetica Neue"/>
        <a:cs typeface="Helvetica Neue"/>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7"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Bold"/>
            <a:ea typeface="Canela Bold"/>
            <a:cs typeface="Canela Bold"/>
            <a:sym typeface="Canela Bold"/>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