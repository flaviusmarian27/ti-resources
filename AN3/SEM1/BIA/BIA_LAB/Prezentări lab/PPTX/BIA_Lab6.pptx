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b="def" i="def"/>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b="def" i="def"/>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b="def" i="def"/>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8" name="Shape 178"/>
          <p:cNvSpPr/>
          <p:nvPr>
            <p:ph type="sldImg"/>
          </p:nvPr>
        </p:nvSpPr>
        <p:spPr>
          <a:xfrm>
            <a:off x="1143000" y="685800"/>
            <a:ext cx="4572000" cy="3429000"/>
          </a:xfrm>
          <a:prstGeom prst="rect">
            <a:avLst/>
          </a:prstGeom>
        </p:spPr>
        <p:txBody>
          <a:bodyPr/>
          <a:lstStyle/>
          <a:p>
            <a:pPr/>
          </a:p>
        </p:txBody>
      </p:sp>
      <p:sp>
        <p:nvSpPr>
          <p:cNvPr id="179" name="Shape 17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p:spTree>
      <p:nvGrpSpPr>
        <p:cNvPr id="1" name=""/>
        <p:cNvGrpSpPr/>
        <p:nvPr/>
      </p:nvGrpSpPr>
      <p:grpSpPr>
        <a:xfrm>
          <a:off x="0" y="0"/>
          <a:ext cx="0" cy="0"/>
          <a:chOff x="0" y="0"/>
          <a:chExt cx="0" cy="0"/>
        </a:xfrm>
      </p:grpSpPr>
      <p:sp>
        <p:nvSpPr>
          <p:cNvPr id="11" name="Nivel corp unu…"/>
          <p:cNvSpPr txBox="1"/>
          <p:nvPr>
            <p:ph type="body" sz="quarter" idx="1" hasCustomPrompt="1"/>
          </p:nvPr>
        </p:nvSpPr>
        <p:spPr>
          <a:xfrm>
            <a:off x="1219200" y="11986162"/>
            <a:ext cx="21945599" cy="605792"/>
          </a:xfrm>
          <a:prstGeom prst="rect">
            <a:avLst/>
          </a:prstGeom>
        </p:spPr>
        <p:txBody>
          <a:bodyPr/>
          <a:lstStyle>
            <a:lvl1pPr marL="0" indent="0" algn="ctr" defTabSz="808990">
              <a:lnSpc>
                <a:spcPct val="100000"/>
              </a:lnSpc>
              <a:spcBef>
                <a:spcPts val="0"/>
              </a:spcBef>
              <a:buSzTx/>
              <a:buNone/>
              <a:defRPr spc="-29" sz="2900">
                <a:latin typeface="Avenir Next Medium"/>
                <a:ea typeface="Avenir Next Medium"/>
                <a:cs typeface="Avenir Next Medium"/>
                <a:sym typeface="Avenir Next Medium"/>
              </a:defRPr>
            </a:lvl1pPr>
            <a:lvl2pPr marL="906029" indent="-359929" algn="ctr" defTabSz="808990">
              <a:lnSpc>
                <a:spcPct val="100000"/>
              </a:lnSpc>
              <a:spcBef>
                <a:spcPts val="0"/>
              </a:spcBef>
              <a:defRPr spc="-29" sz="2900">
                <a:latin typeface="Avenir Next Medium"/>
                <a:ea typeface="Avenir Next Medium"/>
                <a:cs typeface="Avenir Next Medium"/>
                <a:sym typeface="Avenir Next Medium"/>
              </a:defRPr>
            </a:lvl2pPr>
            <a:lvl3pPr marL="1452129" indent="-359929" algn="ctr" defTabSz="808990">
              <a:lnSpc>
                <a:spcPct val="100000"/>
              </a:lnSpc>
              <a:spcBef>
                <a:spcPts val="0"/>
              </a:spcBef>
              <a:defRPr spc="-29" sz="2900">
                <a:latin typeface="Avenir Next Medium"/>
                <a:ea typeface="Avenir Next Medium"/>
                <a:cs typeface="Avenir Next Medium"/>
                <a:sym typeface="Avenir Next Medium"/>
              </a:defRPr>
            </a:lvl3pPr>
            <a:lvl4pPr marL="1998229" indent="-359929" algn="ctr" defTabSz="808990">
              <a:lnSpc>
                <a:spcPct val="100000"/>
              </a:lnSpc>
              <a:spcBef>
                <a:spcPts val="0"/>
              </a:spcBef>
              <a:defRPr spc="-29" sz="2900">
                <a:latin typeface="Avenir Next Medium"/>
                <a:ea typeface="Avenir Next Medium"/>
                <a:cs typeface="Avenir Next Medium"/>
                <a:sym typeface="Avenir Next Medium"/>
              </a:defRPr>
            </a:lvl4pPr>
            <a:lvl5pPr marL="2544329" indent="-359929" algn="ctr" defTabSz="808990">
              <a:lnSpc>
                <a:spcPct val="100000"/>
              </a:lnSpc>
              <a:spcBef>
                <a:spcPts val="0"/>
              </a:spcBef>
              <a:defRPr spc="-29" sz="2900">
                <a:latin typeface="Avenir Next Medium"/>
                <a:ea typeface="Avenir Next Medium"/>
                <a:cs typeface="Avenir Next Medium"/>
                <a:sym typeface="Avenir Next Medium"/>
              </a:defRPr>
            </a:lvl5pPr>
          </a:lstStyle>
          <a:p>
            <a:pPr/>
            <a:r>
              <a:t>Autor și dată</a:t>
            </a:r>
          </a:p>
          <a:p>
            <a:pPr lvl="1"/>
            <a:r>
              <a:t/>
            </a:r>
          </a:p>
          <a:p>
            <a:pPr lvl="2"/>
            <a:r>
              <a:t/>
            </a:r>
          </a:p>
          <a:p>
            <a:pPr lvl="3"/>
            <a:r>
              <a:t/>
            </a:r>
          </a:p>
          <a:p>
            <a:pPr lvl="4"/>
            <a:r>
              <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pc="-100" sz="6000">
                <a:latin typeface="Avenir Next Demi Bold"/>
                <a:ea typeface="Avenir Next Demi Bold"/>
                <a:cs typeface="Avenir Next Demi Bold"/>
                <a:sym typeface="Avenir Next Demi Bold"/>
              </a:defRPr>
            </a:lvl1pPr>
          </a:lstStyle>
          <a:p>
            <a:pPr/>
            <a:r>
              <a:t>Subtitlu prezentare</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100" sz="290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4" y="4585101"/>
            <a:ext cx="9757339" cy="2540002"/>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3"/>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5"/>
          </a:xfrm>
          <a:prstGeom prst="rect">
            <a:avLst/>
          </a:prstGeom>
        </p:spPr>
        <p:txBody>
          <a:bodyPr lIns="91439" tIns="45719" rIns="91439" bIns="45719">
            <a:noAutofit/>
          </a:bodyPr>
          <a:lstStyle/>
          <a:p>
            <a:pPr/>
          </a:p>
        </p:txBody>
      </p:sp>
      <p:sp>
        <p:nvSpPr>
          <p:cNvPr id="6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63" name="Nivel corp unu…"/>
          <p:cNvSpPr txBox="1"/>
          <p:nvPr>
            <p:ph type="body" sz="half" idx="22" hasCustomPrompt="1"/>
          </p:nvPr>
        </p:nvSpPr>
        <p:spPr>
          <a:xfrm>
            <a:off x="1219199" y="4023221"/>
            <a:ext cx="9757571" cy="8384679"/>
          </a:xfrm>
          <a:prstGeom prst="rect">
            <a:avLst/>
          </a:prstGeom>
        </p:spPr>
        <p:txBody>
          <a:bodyPr/>
          <a:lstStyle/>
          <a:p>
            <a:pPr/>
            <a:r>
              <a:t>Text marcator diapozitiv</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7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8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69"/>
            <a:ext cx="21945600" cy="6604002"/>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Nivel corp unu…"/>
          <p:cNvSpPr txBox="1"/>
          <p:nvPr>
            <p:ph type="body" sz="quarter" idx="1" hasCustomPrompt="1"/>
          </p:nvPr>
        </p:nvSpPr>
        <p:spPr>
          <a:xfrm>
            <a:off x="1219200" y="2384648"/>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0" defTabSz="825500">
              <a:lnSpc>
                <a:spcPct val="100000"/>
              </a:lnSpc>
              <a:buSzTx/>
              <a:buNone/>
              <a:defRPr spc="-136" sz="6800">
                <a:latin typeface="Canela Deck Regular"/>
                <a:ea typeface="Canela Deck Regular"/>
                <a:cs typeface="Canela Deck Regular"/>
                <a:sym typeface="Canela Deck Regular"/>
              </a:defRPr>
            </a:lvl2pPr>
            <a:lvl3pPr marL="0" indent="0" defTabSz="825500">
              <a:lnSpc>
                <a:spcPct val="100000"/>
              </a:lnSpc>
              <a:buSzTx/>
              <a:buNone/>
              <a:defRPr spc="-136" sz="6800">
                <a:latin typeface="Canela Deck Regular"/>
                <a:ea typeface="Canela Deck Regular"/>
                <a:cs typeface="Canela Deck Regular"/>
                <a:sym typeface="Canela Deck Regular"/>
              </a:defRPr>
            </a:lvl3pPr>
            <a:lvl4pPr marL="0" indent="0" defTabSz="825500">
              <a:lnSpc>
                <a:spcPct val="100000"/>
              </a:lnSpc>
              <a:buSzTx/>
              <a:buNone/>
              <a:defRPr spc="-136" sz="6800">
                <a:latin typeface="Canela Deck Regular"/>
                <a:ea typeface="Canela Deck Regular"/>
                <a:cs typeface="Canela Deck Regular"/>
                <a:sym typeface="Canela Deck Regular"/>
              </a:defRPr>
            </a:lvl4pPr>
            <a:lvl5pPr marL="0" indent="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4"/>
            <a:ext cx="21945602" cy="832614"/>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Nivel corp unu…"/>
          <p:cNvSpPr txBox="1"/>
          <p:nvPr>
            <p:ph type="body" sz="quarter" idx="1" hasCustomPrompt="1"/>
          </p:nvPr>
        </p:nvSpPr>
        <p:spPr>
          <a:xfrm>
            <a:off x="1219200" y="8462239"/>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Informații factuale</a:t>
            </a:r>
          </a:p>
          <a:p>
            <a:pPr lvl="1"/>
            <a:r>
              <a:t/>
            </a:r>
          </a:p>
          <a:p>
            <a:pPr lvl="2"/>
            <a:r>
              <a:t/>
            </a:r>
          </a:p>
          <a:p>
            <a:pPr lvl="3"/>
            <a:r>
              <a:t/>
            </a:r>
          </a:p>
          <a:p>
            <a:pPr lvl="4"/>
            <a:r>
              <a:t/>
            </a:r>
          </a:p>
        </p:txBody>
      </p:sp>
      <p:sp>
        <p:nvSpPr>
          <p:cNvPr id="127" name="Nivel corp unu…"/>
          <p:cNvSpPr txBox="1"/>
          <p:nvPr>
            <p:ph type="body" sz="half" idx="21" hasCustomPrompt="1"/>
          </p:nvPr>
        </p:nvSpPr>
        <p:spPr>
          <a:xfrm>
            <a:off x="1219200" y="4214483"/>
            <a:ext cx="21945600" cy="4269709"/>
          </a:xfrm>
          <a:prstGeom prst="rect">
            <a:avLst/>
          </a:prstGeom>
        </p:spPr>
        <p:txBody>
          <a:bodyPr anchor="b"/>
          <a:lstStyle/>
          <a:p>
            <a:pPr lvl="4" marL="0"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Nivel corp unu…"/>
          <p:cNvSpPr txBox="1"/>
          <p:nvPr>
            <p:ph type="body" sz="quarter" idx="1" hasCustomPrompt="1"/>
          </p:nvPr>
        </p:nvSpPr>
        <p:spPr>
          <a:xfrm>
            <a:off x="1219200" y="11100052"/>
            <a:ext cx="21945602" cy="832614"/>
          </a:xfrm>
          <a:prstGeom prst="rect">
            <a:avLst/>
          </a:prstGeom>
        </p:spPr>
        <p:txBody>
          <a:bodyPr anchor="ct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Atribuire</a:t>
            </a:r>
          </a:p>
          <a:p>
            <a:pPr lvl="1"/>
            <a:r>
              <a:t/>
            </a:r>
          </a:p>
          <a:p>
            <a:pPr lvl="2"/>
            <a:r>
              <a:t/>
            </a:r>
          </a:p>
          <a:p>
            <a:pPr lvl="3"/>
            <a:r>
              <a:t/>
            </a:r>
          </a:p>
          <a:p>
            <a:pPr lvl="4"/>
            <a:r>
              <a:t/>
            </a:r>
          </a:p>
        </p:txBody>
      </p:sp>
      <p:sp>
        <p:nvSpPr>
          <p:cNvPr id="136" name="Nivel corp unu…"/>
          <p:cNvSpPr txBox="1"/>
          <p:nvPr>
            <p:ph type="body" sz="half" idx="21" hasCustomPrompt="1"/>
          </p:nvPr>
        </p:nvSpPr>
        <p:spPr>
          <a:xfrm>
            <a:off x="1219200" y="4178300"/>
            <a:ext cx="21945600" cy="4416425"/>
          </a:xfrm>
          <a:prstGeom prst="rect">
            <a:avLst/>
          </a:prstGeom>
        </p:spPr>
        <p:txBody>
          <a:bodyPr anchor="ctr"/>
          <a:lstStyle/>
          <a:p>
            <a:pPr lvl="4" marL="0" indent="1700783" algn="ctr" defTabSz="1511808">
              <a:lnSpc>
                <a:spcPct val="80000"/>
              </a:lnSpc>
              <a:spcBef>
                <a:spcPts val="0"/>
              </a:spcBef>
              <a:buSzTx/>
              <a:buNone/>
              <a:defRPr sz="5208">
                <a:latin typeface="Canela Bold"/>
                <a:ea typeface="Canela Bold"/>
                <a:cs typeface="Canela Bold"/>
                <a:sym typeface="Canela Bold"/>
              </a:defRPr>
            </a:pPr>
            <a:r>
              <a:t>“Citat important”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1"/>
            <a:ext cx="7365408" cy="8280402"/>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169" name="Titlu diapozitiv"/>
          <p:cNvSpPr txBox="1"/>
          <p:nvPr>
            <p:ph type="title" hasCustomPrompt="1"/>
          </p:nvPr>
        </p:nvSpPr>
        <p:spPr>
          <a:prstGeom prst="rect">
            <a:avLst/>
          </a:prstGeom>
        </p:spPr>
        <p:txBody>
          <a:bodyPr/>
          <a:lstStyle/>
          <a:p>
            <a:pPr/>
            <a:r>
              <a:t>Titlu diapozitiv</a:t>
            </a:r>
          </a:p>
        </p:txBody>
      </p:sp>
      <p:sp>
        <p:nvSpPr>
          <p:cNvPr id="170" name="Nivel corp unu…"/>
          <p:cNvSpPr txBox="1"/>
          <p:nvPr>
            <p:ph type="body" idx="1" hasCustomPrompt="1"/>
          </p:nvPr>
        </p:nvSpPr>
        <p:spPr>
          <a:prstGeom prst="rect">
            <a:avLst/>
          </a:prstGeom>
        </p:spPr>
        <p:txBody>
          <a:bodyPr/>
          <a:lstStyle>
            <a:lvl1pPr defTabSz="2438338"/>
            <a:lvl2pPr defTabSz="2438338"/>
            <a:lvl3pPr defTabSz="2438338"/>
            <a:lvl4pPr defTabSz="2438338"/>
            <a:lvl5pPr defTabSz="2438338"/>
          </a:lstStyle>
          <a:p>
            <a:pPr/>
            <a:r>
              <a:t>Text marcator diapozitiv</a:t>
            </a:r>
          </a:p>
          <a:p>
            <a:pPr lvl="1"/>
            <a:r>
              <a:t/>
            </a:r>
          </a:p>
          <a:p>
            <a:pPr lvl="2"/>
            <a:r>
              <a:t/>
            </a:r>
          </a:p>
          <a:p>
            <a:pPr lvl="3"/>
            <a:r>
              <a:t/>
            </a:r>
          </a:p>
          <a:p>
            <a:pPr lvl="4"/>
            <a:r>
              <a:t/>
            </a:r>
          </a:p>
        </p:txBody>
      </p:sp>
      <p:sp>
        <p:nvSpPr>
          <p:cNvPr id="171"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172" name="Număr diapozitiv"/>
          <p:cNvSpPr txBox="1"/>
          <p:nvPr>
            <p:ph type="sldNum" sz="quarter" idx="2"/>
          </p:nvPr>
        </p:nvSpPr>
        <p:spPr>
          <a:xfrm>
            <a:off x="1198753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36.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 Id="rId3" Type="http://schemas.openxmlformats.org/officeDocument/2006/relationships/image" Target="../media/image48.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 Id="rId3" Type="http://schemas.openxmlformats.org/officeDocument/2006/relationships/image" Target="../media/image48.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 Id="rId15" Type="http://schemas.openxmlformats.org/officeDocument/2006/relationships/image" Target="../media/image63.png"/><Relationship Id="rId16" Type="http://schemas.openxmlformats.org/officeDocument/2006/relationships/image" Target="../media/image64.png"/><Relationship Id="rId17" Type="http://schemas.openxmlformats.org/officeDocument/2006/relationships/image" Target="../media/image65.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6.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7.png"/><Relationship Id="rId3" Type="http://schemas.openxmlformats.org/officeDocument/2006/relationships/image" Target="../media/image6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gif"/></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9.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3.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4.png"/><Relationship Id="rId3" Type="http://schemas.openxmlformats.org/officeDocument/2006/relationships/image" Target="../media/image77.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2.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3.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4.png"/></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5.png"/></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6.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7.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8.png"/><Relationship Id="rId3" Type="http://schemas.openxmlformats.org/officeDocument/2006/relationships/image" Target="../media/image89.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8.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image" Target="../media/image95.png"/><Relationship Id="rId9" Type="http://schemas.openxmlformats.org/officeDocument/2006/relationships/image" Target="../media/image96.png"/><Relationship Id="rId10" Type="http://schemas.openxmlformats.org/officeDocument/2006/relationships/image" Target="../media/image97.png"/><Relationship Id="rId11" Type="http://schemas.openxmlformats.org/officeDocument/2006/relationships/image" Target="../media/image98.png"/><Relationship Id="rId12" Type="http://schemas.openxmlformats.org/officeDocument/2006/relationships/image" Target="../media/image99.png"/></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0.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7.png"/><Relationship Id="rId3" Type="http://schemas.openxmlformats.org/officeDocument/2006/relationships/image" Target="../media/image108.png"/></Relationships>

</file>

<file path=ppt/slides/_rels/slide6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9.png"/><Relationship Id="rId3" Type="http://schemas.openxmlformats.org/officeDocument/2006/relationships/image" Target="../media/image108.png"/><Relationship Id="rId4" Type="http://schemas.openxmlformats.org/officeDocument/2006/relationships/image" Target="../media/image110.png"/></Relationships>

</file>

<file path=ppt/slides/_rels/slide6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8.png"/><Relationship Id="rId3" Type="http://schemas.openxmlformats.org/officeDocument/2006/relationships/image" Target="../media/image111.png"/></Relationships>

</file>

<file path=ppt/slides/_rels/slide6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8.png"/><Relationship Id="rId3" Type="http://schemas.openxmlformats.org/officeDocument/2006/relationships/image" Target="../media/image112.png"/></Relationships>

</file>

<file path=ppt/slides/_rels/slide6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Efrem Dragoș-Sebastian-Mihaly"/>
          <p:cNvSpPr txBox="1"/>
          <p:nvPr>
            <p:ph type="body" sz="quarter" idx="1"/>
          </p:nvPr>
        </p:nvSpPr>
        <p:spPr>
          <a:xfrm>
            <a:off x="1219199" y="11986162"/>
            <a:ext cx="21945600" cy="605792"/>
          </a:xfrm>
          <a:prstGeom prst="rect">
            <a:avLst/>
          </a:prstGeom>
        </p:spPr>
        <p:txBody>
          <a:bodyPr/>
          <a:lstStyle>
            <a:lvl1pPr>
              <a:defRPr spc="-100"/>
            </a:lvl1pPr>
          </a:lstStyle>
          <a:p>
            <a:pPr/>
            <a:r>
              <a:t>Efrem Dragoș-Sebastian-Mihaly</a:t>
            </a:r>
          </a:p>
        </p:txBody>
      </p:sp>
      <p:sp>
        <p:nvSpPr>
          <p:cNvPr id="182" name="Bazele Inteligenței Artificiale"/>
          <p:cNvSpPr txBox="1"/>
          <p:nvPr>
            <p:ph type="title"/>
          </p:nvPr>
        </p:nvSpPr>
        <p:spPr>
          <a:prstGeom prst="rect">
            <a:avLst/>
          </a:prstGeom>
        </p:spPr>
        <p:txBody>
          <a:bodyPr/>
          <a:lstStyle>
            <a:lvl1pPr>
              <a:defRPr spc="-200"/>
            </a:lvl1pPr>
          </a:lstStyle>
          <a:p>
            <a:pPr/>
            <a:r>
              <a:t>Bazele Inteligenței Artificiale</a:t>
            </a:r>
          </a:p>
        </p:txBody>
      </p:sp>
      <p:sp>
        <p:nvSpPr>
          <p:cNvPr id="183" name="Lab 2. Modele parametrice"/>
          <p:cNvSpPr txBox="1"/>
          <p:nvPr/>
        </p:nvSpPr>
        <p:spPr>
          <a:xfrm>
            <a:off x="1219200" y="7567579"/>
            <a:ext cx="21945600" cy="225059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825500">
              <a:lnSpc>
                <a:spcPct val="100000"/>
              </a:lnSpc>
              <a:spcBef>
                <a:spcPts val="0"/>
              </a:spcBef>
              <a:defRPr spc="-100" sz="6000">
                <a:latin typeface="Avenir Next Demi Bold"/>
                <a:ea typeface="Avenir Next Demi Bold"/>
                <a:cs typeface="Avenir Next Demi Bold"/>
                <a:sym typeface="Avenir Next Demi Bold"/>
              </a:defRPr>
            </a:lvl1pPr>
          </a:lstStyle>
          <a:p>
            <a:pPr/>
            <a:r>
              <a:t>Lab 6. Clusterizare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Tipuri de modele în ML"/>
          <p:cNvSpPr txBox="1"/>
          <p:nvPr>
            <p:ph type="title"/>
          </p:nvPr>
        </p:nvSpPr>
        <p:spPr>
          <a:prstGeom prst="rect">
            <a:avLst/>
          </a:prstGeom>
        </p:spPr>
        <p:txBody>
          <a:bodyPr/>
          <a:lstStyle/>
          <a:p>
            <a:pPr/>
            <a:r>
              <a:t>Tipuri de modele în ML</a:t>
            </a:r>
          </a:p>
        </p:txBody>
      </p:sp>
      <p:sp>
        <p:nvSpPr>
          <p:cNvPr id="186" name="În general, sunt două tipuri mari și late:"/>
          <p:cNvSpPr txBox="1"/>
          <p:nvPr>
            <p:ph type="body" idx="1"/>
          </p:nvPr>
        </p:nvSpPr>
        <p:spPr>
          <a:xfrm>
            <a:off x="1687402" y="4009348"/>
            <a:ext cx="21948578" cy="8483601"/>
          </a:xfrm>
          <a:prstGeom prst="rect">
            <a:avLst/>
          </a:prstGeom>
        </p:spPr>
        <p:txBody>
          <a:bodyPr/>
          <a:lstStyle/>
          <a:p>
            <a:pPr/>
            <a:r>
              <a:t>În general, sunt două tipuri mari și late:</a:t>
            </a:r>
          </a:p>
        </p:txBody>
      </p:sp>
      <p:sp>
        <p:nvSpPr>
          <p:cNvPr id="187" name="Supervizate"/>
          <p:cNvSpPr txBox="1"/>
          <p:nvPr/>
        </p:nvSpPr>
        <p:spPr>
          <a:xfrm>
            <a:off x="1706623" y="5854700"/>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2438338">
              <a:defRPr sz="10000">
                <a:latin typeface="Canela Text Regular"/>
                <a:ea typeface="Canela Text Regular"/>
                <a:cs typeface="Canela Text Regular"/>
                <a:sym typeface="Canela Text Regular"/>
              </a:defRPr>
            </a:lvl1pPr>
          </a:lstStyle>
          <a:p>
            <a:pPr/>
            <a:r>
              <a:t>Supervizate</a:t>
            </a:r>
          </a:p>
        </p:txBody>
      </p:sp>
      <p:sp>
        <p:nvSpPr>
          <p:cNvPr id="188" name="Nesupervizate"/>
          <p:cNvSpPr txBox="1"/>
          <p:nvPr/>
        </p:nvSpPr>
        <p:spPr>
          <a:xfrm>
            <a:off x="14456370" y="5854700"/>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2438338">
              <a:defRPr sz="10000">
                <a:latin typeface="Canela Text Regular"/>
                <a:ea typeface="Canela Text Regular"/>
                <a:cs typeface="Canela Text Regular"/>
                <a:sym typeface="Canela Text Regular"/>
              </a:defRPr>
            </a:lvl1pPr>
          </a:lstStyle>
          <a:p>
            <a:pPr/>
            <a:r>
              <a:t>Nesupervizate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86"/>
                                        </p:tgtEl>
                                        <p:attrNameLst>
                                          <p:attrName>style.visibility</p:attrName>
                                        </p:attrNameLst>
                                      </p:cBhvr>
                                      <p:to>
                                        <p:strVal val="visible"/>
                                      </p:to>
                                    </p:set>
                                    <p:anim calcmode="lin" valueType="num">
                                      <p:cBhvr>
                                        <p:cTn id="7" dur="1000" fill="hold"/>
                                        <p:tgtEl>
                                          <p:spTgt spid="186"/>
                                        </p:tgtEl>
                                        <p:attrNameLst>
                                          <p:attrName>ppt_x</p:attrName>
                                        </p:attrNameLst>
                                      </p:cBhvr>
                                      <p:tavLst>
                                        <p:tav tm="0">
                                          <p:val>
                                            <p:strVal val="0-#ppt_w/2"/>
                                          </p:val>
                                        </p:tav>
                                        <p:tav tm="100000">
                                          <p:val>
                                            <p:strVal val="#ppt_x"/>
                                          </p:val>
                                        </p:tav>
                                      </p:tavLst>
                                    </p:anim>
                                    <p:anim calcmode="lin" valueType="num">
                                      <p:cBhvr>
                                        <p:cTn id="8" dur="1000" fill="hold"/>
                                        <p:tgtEl>
                                          <p:spTgt spid="1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lt" backwards="0">
                                    <p:tmAbs val="0"/>
                                  </p:iterate>
                                  <p:childTnLst>
                                    <p:set>
                                      <p:cBhvr>
                                        <p:cTn id="12" fill="hold"/>
                                        <p:tgtEl>
                                          <p:spTgt spid="187"/>
                                        </p:tgtEl>
                                        <p:attrNameLst>
                                          <p:attrName>style.visibility</p:attrName>
                                        </p:attrNameLst>
                                      </p:cBhvr>
                                      <p:to>
                                        <p:strVal val="visible"/>
                                      </p:to>
                                    </p:set>
                                    <p:anim calcmode="lin" valueType="num">
                                      <p:cBhvr>
                                        <p:cTn id="13" dur="1000" fill="hold"/>
                                        <p:tgtEl>
                                          <p:spTgt spid="187"/>
                                        </p:tgtEl>
                                        <p:attrNameLst>
                                          <p:attrName>ppt_x</p:attrName>
                                        </p:attrNameLst>
                                      </p:cBhvr>
                                      <p:tavLst>
                                        <p:tav tm="0">
                                          <p:val>
                                            <p:strVal val="0-#ppt_w/2"/>
                                          </p:val>
                                        </p:tav>
                                        <p:tav tm="100000">
                                          <p:val>
                                            <p:strVal val="#ppt_x"/>
                                          </p:val>
                                        </p:tav>
                                      </p:tavLst>
                                    </p:anim>
                                    <p:anim calcmode="lin" valueType="num">
                                      <p:cBhvr>
                                        <p:cTn id="14" dur="1000" fill="hold"/>
                                        <p:tgtEl>
                                          <p:spTgt spid="18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lt" backwards="0">
                                    <p:tmAbs val="0"/>
                                  </p:iterate>
                                  <p:childTnLst>
                                    <p:set>
                                      <p:cBhvr>
                                        <p:cTn id="18" fill="hold"/>
                                        <p:tgtEl>
                                          <p:spTgt spid="188"/>
                                        </p:tgtEl>
                                        <p:attrNameLst>
                                          <p:attrName>style.visibility</p:attrName>
                                        </p:attrNameLst>
                                      </p:cBhvr>
                                      <p:to>
                                        <p:strVal val="visible"/>
                                      </p:to>
                                    </p:set>
                                    <p:anim calcmode="lin" valueType="num">
                                      <p:cBhvr>
                                        <p:cTn id="19" dur="1250" fill="hold"/>
                                        <p:tgtEl>
                                          <p:spTgt spid="188"/>
                                        </p:tgtEl>
                                        <p:attrNameLst>
                                          <p:attrName>ppt_x</p:attrName>
                                        </p:attrNameLst>
                                      </p:cBhvr>
                                      <p:tavLst>
                                        <p:tav tm="0">
                                          <p:val>
                                            <p:strVal val="0-#ppt_w/2"/>
                                          </p:val>
                                        </p:tav>
                                        <p:tav tm="100000">
                                          <p:val>
                                            <p:strVal val="#ppt_x"/>
                                          </p:val>
                                        </p:tav>
                                      </p:tavLst>
                                    </p:anim>
                                    <p:anim calcmode="lin" valueType="num">
                                      <p:cBhvr>
                                        <p:cTn id="20" dur="1250" fill="hold"/>
                                        <p:tgtEl>
                                          <p:spTgt spid="1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6" grpId="1"/>
      <p:bldP build="whole" bldLvl="1" animBg="1" rev="0" advAuto="0" spid="187" grpId="2"/>
      <p:bldP build="whole" bldLvl="1" animBg="1" rev="0" advAuto="0" spid="188" grpId="3"/>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Învață din date care au deja etichete (adică știm răspunsul corect pentru fiecare element utilizat pentru a antrena modelul)"/>
          <p:cNvSpPr txBox="1"/>
          <p:nvPr>
            <p:ph type="body" idx="1"/>
          </p:nvPr>
        </p:nvSpPr>
        <p:spPr>
          <a:prstGeom prst="rect">
            <a:avLst/>
          </a:prstGeom>
        </p:spPr>
        <p:txBody>
          <a:bodyPr/>
          <a:lstStyle/>
          <a:p>
            <a:pPr/>
            <a:r>
              <a:t>Învață din date care au deja etichete (adică știm răspunsul corect pentru fiecare element utilizat pentru a antrena modelul)</a:t>
            </a:r>
          </a:p>
        </p:txBody>
      </p:sp>
      <p:sp>
        <p:nvSpPr>
          <p:cNvPr id="191" name="Supervizate"/>
          <p:cNvSpPr txBox="1"/>
          <p:nvPr/>
        </p:nvSpPr>
        <p:spPr>
          <a:xfrm>
            <a:off x="8012789" y="630325"/>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2438338">
              <a:defRPr sz="10000">
                <a:latin typeface="Canela Text Regular"/>
                <a:ea typeface="Canela Text Regular"/>
                <a:cs typeface="Canela Text Regular"/>
                <a:sym typeface="Canela Text Regular"/>
              </a:defRPr>
            </a:lvl1pPr>
          </a:lstStyle>
          <a:p>
            <a:pPr/>
            <a:r>
              <a:t>Supervizate</a:t>
            </a:r>
          </a:p>
        </p:txBody>
      </p:sp>
      <p:pic>
        <p:nvPicPr>
          <p:cNvPr id="192" name="film lipit.png" descr="film lipit.png"/>
          <p:cNvPicPr>
            <a:picLocks noChangeAspect="1"/>
          </p:cNvPicPr>
          <p:nvPr/>
        </p:nvPicPr>
        <p:blipFill>
          <a:blip r:embed="rId2">
            <a:extLst/>
          </a:blip>
          <a:stretch>
            <a:fillRect/>
          </a:stretch>
        </p:blipFill>
        <p:spPr>
          <a:xfrm>
            <a:off x="4359253" y="5866548"/>
            <a:ext cx="5428369" cy="5414798"/>
          </a:xfrm>
          <a:prstGeom prst="rect">
            <a:avLst/>
          </a:prstGeom>
          <a:ln w="12700">
            <a:miter lim="400000"/>
          </a:ln>
        </p:spPr>
      </p:pic>
      <p:pic>
        <p:nvPicPr>
          <p:cNvPr id="193" name="film lipit.png" descr="film lipit.png"/>
          <p:cNvPicPr>
            <a:picLocks noChangeAspect="1"/>
          </p:cNvPicPr>
          <p:nvPr/>
        </p:nvPicPr>
        <p:blipFill>
          <a:blip r:embed="rId3">
            <a:extLst/>
          </a:blip>
          <a:stretch>
            <a:fillRect/>
          </a:stretch>
        </p:blipFill>
        <p:spPr>
          <a:xfrm>
            <a:off x="10061190" y="5909154"/>
            <a:ext cx="7482854" cy="5329585"/>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190"/>
                                        </p:tgtEl>
                                        <p:attrNameLst>
                                          <p:attrName>style.visibility</p:attrName>
                                        </p:attrNameLst>
                                      </p:cBhvr>
                                      <p:to>
                                        <p:strVal val="visible"/>
                                      </p:to>
                                    </p:set>
                                    <p:anim calcmode="lin" valueType="num">
                                      <p:cBhvr>
                                        <p:cTn id="7" dur="1000" fill="hold"/>
                                        <p:tgtEl>
                                          <p:spTgt spid="190"/>
                                        </p:tgtEl>
                                        <p:attrNameLst>
                                          <p:attrName>ppt_x</p:attrName>
                                        </p:attrNameLst>
                                      </p:cBhvr>
                                      <p:tavLst>
                                        <p:tav tm="0">
                                          <p:val>
                                            <p:strVal val="0-#ppt_w/2"/>
                                          </p:val>
                                        </p:tav>
                                        <p:tav tm="100000">
                                          <p:val>
                                            <p:strVal val="#ppt_x"/>
                                          </p:val>
                                        </p:tav>
                                      </p:tavLst>
                                    </p:anim>
                                    <p:anim calcmode="lin" valueType="num">
                                      <p:cBhvr>
                                        <p:cTn id="8" dur="1000" fill="hold"/>
                                        <p:tgtEl>
                                          <p:spTgt spid="1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32" presetID="4" grpId="2" fill="hold">
                                  <p:stCondLst>
                                    <p:cond delay="0"/>
                                  </p:stCondLst>
                                  <p:iterate type="el" backwards="0">
                                    <p:tmAbs val="0"/>
                                  </p:iterate>
                                  <p:childTnLst>
                                    <p:set>
                                      <p:cBhvr>
                                        <p:cTn id="12" fill="hold"/>
                                        <p:tgtEl>
                                          <p:spTgt spid="192"/>
                                        </p:tgtEl>
                                        <p:attrNameLst>
                                          <p:attrName>style.visibility</p:attrName>
                                        </p:attrNameLst>
                                      </p:cBhvr>
                                      <p:to>
                                        <p:strVal val="visible"/>
                                      </p:to>
                                    </p:set>
                                    <p:animEffect filter="box(out)" transition="in">
                                      <p:cBhvr>
                                        <p:cTn id="13" dur="1000"/>
                                        <p:tgtEl>
                                          <p:spTgt spid="192"/>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32" presetID="4" grpId="3" fill="hold">
                                  <p:stCondLst>
                                    <p:cond delay="0"/>
                                  </p:stCondLst>
                                  <p:iterate type="el" backwards="0">
                                    <p:tmAbs val="0"/>
                                  </p:iterate>
                                  <p:childTnLst>
                                    <p:set>
                                      <p:cBhvr>
                                        <p:cTn id="17" fill="hold"/>
                                        <p:tgtEl>
                                          <p:spTgt spid="193"/>
                                        </p:tgtEl>
                                        <p:attrNameLst>
                                          <p:attrName>style.visibility</p:attrName>
                                        </p:attrNameLst>
                                      </p:cBhvr>
                                      <p:to>
                                        <p:strVal val="visible"/>
                                      </p:to>
                                    </p:set>
                                    <p:animEffect filter="box(out)" transition="in">
                                      <p:cBhvr>
                                        <p:cTn id="18" dur="10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0" grpId="1"/>
      <p:bldP build="whole" bldLvl="1" animBg="1" rev="0" advAuto="0" spid="193" grpId="3"/>
      <p:bldP build="whole" bldLvl="1" animBg="1" rev="0" advAuto="0" spid="192"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Învață din date care nu au etichete (adică nu știm răspunsul corect pentru fiecare element utilizat pentru a antrena modelul)"/>
          <p:cNvSpPr txBox="1"/>
          <p:nvPr>
            <p:ph type="body" sz="quarter" idx="1"/>
          </p:nvPr>
        </p:nvSpPr>
        <p:spPr>
          <a:xfrm>
            <a:off x="1088103" y="3264075"/>
            <a:ext cx="21948577" cy="2346268"/>
          </a:xfrm>
          <a:prstGeom prst="rect">
            <a:avLst/>
          </a:prstGeom>
        </p:spPr>
        <p:txBody>
          <a:bodyPr/>
          <a:lstStyle/>
          <a:p>
            <a:pPr/>
            <a:r>
              <a:t>Învață din date care nu au etichete (adică nu știm răspunsul corect pentru fiecare element utilizat pentru a antrena modelul)</a:t>
            </a:r>
          </a:p>
        </p:txBody>
      </p:sp>
      <p:sp>
        <p:nvSpPr>
          <p:cNvPr id="196" name="Nesupervizate"/>
          <p:cNvSpPr txBox="1"/>
          <p:nvPr/>
        </p:nvSpPr>
        <p:spPr>
          <a:xfrm>
            <a:off x="8012789" y="630325"/>
            <a:ext cx="835842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2438338">
              <a:defRPr sz="10000">
                <a:latin typeface="Canela Text Regular"/>
                <a:ea typeface="Canela Text Regular"/>
                <a:cs typeface="Canela Text Regular"/>
                <a:sym typeface="Canela Text Regular"/>
              </a:defRPr>
            </a:lvl1pPr>
          </a:lstStyle>
          <a:p>
            <a:pPr/>
            <a:r>
              <a:t>Nesupervizate</a:t>
            </a:r>
          </a:p>
        </p:txBody>
      </p:sp>
      <p:sp>
        <p:nvSpPr>
          <p:cNvPr id="197" name="Spre deosebire de învățarea supervizată, unde îi spunem algoritmului exact ce reprezintă fiecare categorie (ex: “aceasta e o pisică, acesta e un câine”), în învățarea nesupervizată îi dăm pur și simplu o mulțime de date și îl lăsăm să identifice singur a"/>
          <p:cNvSpPr txBox="1"/>
          <p:nvPr/>
        </p:nvSpPr>
        <p:spPr>
          <a:xfrm>
            <a:off x="1088103" y="5188974"/>
            <a:ext cx="21948577" cy="37046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deosebire de învățarea supervizată, unde îi spunem algoritmului exact ce reprezintă fiecare categorie (ex: “aceasta e o pisică, acesta e un câine”), în învățarea nesupervizată îi dăm pur și simplu o mulțime de date și îl lăsăm să identifice singur asemănările sau grupările</a:t>
            </a:r>
          </a:p>
        </p:txBody>
      </p:sp>
      <p:sp>
        <p:nvSpPr>
          <p:cNvPr id="198" name="Imaginați-vă că intrați într-o cameră plină de oameni fără să aveți habar cine sunt…"/>
          <p:cNvSpPr txBox="1"/>
          <p:nvPr/>
        </p:nvSpPr>
        <p:spPr>
          <a:xfrm>
            <a:off x="1088103" y="8518481"/>
            <a:ext cx="21948577" cy="41520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Imaginați-vă că intrați într-o cameră plină de oameni fără să aveți habar cine sunt</a:t>
            </a:r>
          </a:p>
          <a:p>
            <a:pPr marL="546100" indent="-546100" defTabSz="2438338">
              <a:buSzPct val="150000"/>
              <a:buChar char="•"/>
              <a:defRPr>
                <a:latin typeface="Canela Text Regular"/>
                <a:ea typeface="Canela Text Regular"/>
                <a:cs typeface="Canela Text Regular"/>
                <a:sym typeface="Canela Text Regular"/>
              </a:defRPr>
            </a:pPr>
            <a:r>
              <a:t>Dacă observați comportamentul lor și cine cu cine interacționează, veți putea intui grupuri sau categorii. Cam așa funcționează învățarea nesupervizată: descoperirea de tipare fără să știm de la început detalii precise</a:t>
            </a:r>
          </a:p>
        </p:txBody>
      </p:sp>
      <p:pic>
        <p:nvPicPr>
          <p:cNvPr id="199" name="Linie Linie" descr="Linie Linie"/>
          <p:cNvPicPr>
            <a:picLocks noChangeAspect="0"/>
          </p:cNvPicPr>
          <p:nvPr/>
        </p:nvPicPr>
        <p:blipFill>
          <a:blip r:embed="rId2">
            <a:extLst/>
          </a:blip>
          <a:stretch>
            <a:fillRect/>
          </a:stretch>
        </p:blipFill>
        <p:spPr>
          <a:xfrm>
            <a:off x="17611563" y="7573296"/>
            <a:ext cx="5013829" cy="101601"/>
          </a:xfrm>
          <a:prstGeom prst="rect">
            <a:avLst/>
          </a:prstGeom>
        </p:spPr>
      </p:pic>
      <p:pic>
        <p:nvPicPr>
          <p:cNvPr id="201" name="Linie Linie" descr="Linie Linie"/>
          <p:cNvPicPr>
            <a:picLocks noChangeAspect="0"/>
          </p:cNvPicPr>
          <p:nvPr/>
        </p:nvPicPr>
        <p:blipFill>
          <a:blip r:embed="rId3">
            <a:extLst/>
          </a:blip>
          <a:stretch>
            <a:fillRect/>
          </a:stretch>
        </p:blipFill>
        <p:spPr>
          <a:xfrm>
            <a:off x="6951172" y="4179411"/>
            <a:ext cx="3635258" cy="101601"/>
          </a:xfrm>
          <a:prstGeom prst="rect">
            <a:avLst/>
          </a:prstGeom>
        </p:spPr>
      </p:pic>
      <p:pic>
        <p:nvPicPr>
          <p:cNvPr id="203" name="Linie Linie" descr="Linie Linie"/>
          <p:cNvPicPr>
            <a:picLocks noChangeAspect="0"/>
          </p:cNvPicPr>
          <p:nvPr/>
        </p:nvPicPr>
        <p:blipFill>
          <a:blip r:embed="rId4">
            <a:extLst/>
          </a:blip>
          <a:stretch>
            <a:fillRect/>
          </a:stretch>
        </p:blipFill>
        <p:spPr>
          <a:xfrm>
            <a:off x="1613660" y="8337052"/>
            <a:ext cx="6791680" cy="101601"/>
          </a:xfrm>
          <a:prstGeom prst="rect">
            <a:avLst/>
          </a:prstGeom>
        </p:spPr>
      </p:pic>
      <p:pic>
        <p:nvPicPr>
          <p:cNvPr id="205" name="Linie Linie" descr="Linie Linie"/>
          <p:cNvPicPr>
            <a:picLocks noChangeAspect="0"/>
          </p:cNvPicPr>
          <p:nvPr/>
        </p:nvPicPr>
        <p:blipFill>
          <a:blip r:embed="rId5">
            <a:extLst/>
          </a:blip>
          <a:stretch>
            <a:fillRect/>
          </a:stretch>
        </p:blipFill>
        <p:spPr>
          <a:xfrm>
            <a:off x="3800752" y="12003664"/>
            <a:ext cx="9936098"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2000">
        <p:pus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195"/>
                                        </p:tgtEl>
                                        <p:attrNameLst>
                                          <p:attrName>style.visibility</p:attrName>
                                        </p:attrNameLst>
                                      </p:cBhvr>
                                      <p:to>
                                        <p:strVal val="visible"/>
                                      </p:to>
                                    </p:set>
                                    <p:anim calcmode="lin" valueType="num">
                                      <p:cBhvr>
                                        <p:cTn id="7" dur="1000" fill="hold"/>
                                        <p:tgtEl>
                                          <p:spTgt spid="195"/>
                                        </p:tgtEl>
                                        <p:attrNameLst>
                                          <p:attrName>ppt_x</p:attrName>
                                        </p:attrNameLst>
                                      </p:cBhvr>
                                      <p:tavLst>
                                        <p:tav tm="0">
                                          <p:val>
                                            <p:strVal val="0-#ppt_w/2"/>
                                          </p:val>
                                        </p:tav>
                                        <p:tav tm="100000">
                                          <p:val>
                                            <p:strVal val="#ppt_x"/>
                                          </p:val>
                                        </p:tav>
                                      </p:tavLst>
                                    </p:anim>
                                    <p:anim calcmode="lin" valueType="num">
                                      <p:cBhvr>
                                        <p:cTn id="8" dur="1000" fill="hold"/>
                                        <p:tgtEl>
                                          <p:spTgt spid="19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201"/>
                                        </p:tgtEl>
                                        <p:attrNameLst>
                                          <p:attrName>style.visibility</p:attrName>
                                        </p:attrNameLst>
                                      </p:cBhvr>
                                      <p:to>
                                        <p:strVal val="visible"/>
                                      </p:to>
                                    </p:set>
                                    <p:animEffect filter="dissolve" transition="in">
                                      <p:cBhvr>
                                        <p:cTn id="12" dur="2000"/>
                                        <p:tgtEl>
                                          <p:spTgt spid="20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197"/>
                                        </p:tgtEl>
                                        <p:attrNameLst>
                                          <p:attrName>style.visibility</p:attrName>
                                        </p:attrNameLst>
                                      </p:cBhvr>
                                      <p:to>
                                        <p:strVal val="visible"/>
                                      </p:to>
                                    </p:set>
                                    <p:anim calcmode="lin" valueType="num">
                                      <p:cBhvr>
                                        <p:cTn id="17" dur="1000" fill="hold"/>
                                        <p:tgtEl>
                                          <p:spTgt spid="197"/>
                                        </p:tgtEl>
                                        <p:attrNameLst>
                                          <p:attrName>ppt_x</p:attrName>
                                        </p:attrNameLst>
                                      </p:cBhvr>
                                      <p:tavLst>
                                        <p:tav tm="0">
                                          <p:val>
                                            <p:strVal val="0-#ppt_w/2"/>
                                          </p:val>
                                        </p:tav>
                                        <p:tav tm="100000">
                                          <p:val>
                                            <p:strVal val="#ppt_x"/>
                                          </p:val>
                                        </p:tav>
                                      </p:tavLst>
                                    </p:anim>
                                    <p:anim calcmode="lin" valueType="num">
                                      <p:cBhvr>
                                        <p:cTn id="18" dur="1000" fill="hold"/>
                                        <p:tgtEl>
                                          <p:spTgt spid="197"/>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199"/>
                                        </p:tgtEl>
                                        <p:attrNameLst>
                                          <p:attrName>style.visibility</p:attrName>
                                        </p:attrNameLst>
                                      </p:cBhvr>
                                      <p:to>
                                        <p:strVal val="visible"/>
                                      </p:to>
                                    </p:set>
                                    <p:animEffect filter="dissolve" transition="in">
                                      <p:cBhvr>
                                        <p:cTn id="22" dur="2000"/>
                                        <p:tgtEl>
                                          <p:spTgt spid="199"/>
                                        </p:tgtEl>
                                      </p:cBhvr>
                                    </p:animEffect>
                                  </p:childTnLst>
                                </p:cTn>
                              </p:par>
                            </p:childTnLst>
                          </p:cTn>
                        </p:par>
                        <p:par>
                          <p:cTn id="23" fill="hold">
                            <p:stCondLst>
                              <p:cond delay="3000"/>
                            </p:stCondLst>
                            <p:childTnLst>
                              <p:par>
                                <p:cTn id="24" presetClass="entr" nodeType="afterEffect" presetID="9" grpId="5" fill="hold">
                                  <p:stCondLst>
                                    <p:cond delay="0"/>
                                  </p:stCondLst>
                                  <p:iterate type="el" backwards="0">
                                    <p:tmAbs val="0"/>
                                  </p:iterate>
                                  <p:childTnLst>
                                    <p:set>
                                      <p:cBhvr>
                                        <p:cTn id="25" fill="hold"/>
                                        <p:tgtEl>
                                          <p:spTgt spid="203"/>
                                        </p:tgtEl>
                                        <p:attrNameLst>
                                          <p:attrName>style.visibility</p:attrName>
                                        </p:attrNameLst>
                                      </p:cBhvr>
                                      <p:to>
                                        <p:strVal val="visible"/>
                                      </p:to>
                                    </p:set>
                                    <p:animEffect filter="dissolve" transition="in">
                                      <p:cBhvr>
                                        <p:cTn id="26" dur="2000"/>
                                        <p:tgtEl>
                                          <p:spTgt spid="203"/>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6" fill="hold">
                                  <p:stCondLst>
                                    <p:cond delay="0"/>
                                  </p:stCondLst>
                                  <p:iterate type="el" backwards="0">
                                    <p:tmAbs val="0"/>
                                  </p:iterate>
                                  <p:childTnLst>
                                    <p:set>
                                      <p:cBhvr>
                                        <p:cTn id="30" fill="hold"/>
                                        <p:tgtEl>
                                          <p:spTgt spid="198"/>
                                        </p:tgtEl>
                                        <p:attrNameLst>
                                          <p:attrName>style.visibility</p:attrName>
                                        </p:attrNameLst>
                                      </p:cBhvr>
                                      <p:to>
                                        <p:strVal val="visible"/>
                                      </p:to>
                                    </p:set>
                                    <p:anim calcmode="lin" valueType="num">
                                      <p:cBhvr>
                                        <p:cTn id="31" dur="1000" fill="hold"/>
                                        <p:tgtEl>
                                          <p:spTgt spid="198"/>
                                        </p:tgtEl>
                                        <p:attrNameLst>
                                          <p:attrName>ppt_x</p:attrName>
                                        </p:attrNameLst>
                                      </p:cBhvr>
                                      <p:tavLst>
                                        <p:tav tm="0">
                                          <p:val>
                                            <p:strVal val="0-#ppt_w/2"/>
                                          </p:val>
                                        </p:tav>
                                        <p:tav tm="100000">
                                          <p:val>
                                            <p:strVal val="#ppt_x"/>
                                          </p:val>
                                        </p:tav>
                                      </p:tavLst>
                                    </p:anim>
                                    <p:anim calcmode="lin" valueType="num">
                                      <p:cBhvr>
                                        <p:cTn id="32" dur="1000" fill="hold"/>
                                        <p:tgtEl>
                                          <p:spTgt spid="198"/>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Class="entr" nodeType="afterEffect" presetID="9" grpId="7" fill="hold">
                                  <p:stCondLst>
                                    <p:cond delay="0"/>
                                  </p:stCondLst>
                                  <p:iterate type="el" backwards="0">
                                    <p:tmAbs val="0"/>
                                  </p:iterate>
                                  <p:childTnLst>
                                    <p:set>
                                      <p:cBhvr>
                                        <p:cTn id="35" fill="hold"/>
                                        <p:tgtEl>
                                          <p:spTgt spid="205"/>
                                        </p:tgtEl>
                                        <p:attrNameLst>
                                          <p:attrName>style.visibility</p:attrName>
                                        </p:attrNameLst>
                                      </p:cBhvr>
                                      <p:to>
                                        <p:strVal val="visible"/>
                                      </p:to>
                                    </p:set>
                                    <p:animEffect filter="dissolve" transition="in">
                                      <p:cBhvr>
                                        <p:cTn id="36" dur="20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3" grpId="5"/>
      <p:bldP build="whole" bldLvl="1" animBg="1" rev="0" advAuto="0" spid="198" grpId="6"/>
      <p:bldP build="whole" bldLvl="1" animBg="1" rev="0" advAuto="0" spid="195" grpId="1"/>
      <p:bldP build="whole" bldLvl="1" animBg="1" rev="0" advAuto="0" spid="197" grpId="3"/>
      <p:bldP build="whole" bldLvl="1" animBg="1" rev="0" advAuto="0" spid="201" grpId="2"/>
      <p:bldP build="whole" bldLvl="1" animBg="1" rev="0" advAuto="0" spid="205" grpId="7"/>
      <p:bldP build="whole" bldLvl="1" animBg="1" rev="0" advAuto="0" spid="199"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0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210" name="Tabelul 1"/>
          <p:cNvGraphicFramePr/>
          <p:nvPr/>
        </p:nvGraphicFramePr>
        <p:xfrm>
          <a:off x="5869171" y="4320370"/>
          <a:ext cx="10499842" cy="3906754"/>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495713"/>
                <a:gridCol w="3495713"/>
                <a:gridCol w="3495713"/>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Caracteristica 1</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Caracteristica 2</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Etichetă</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11" name="Linie Linie" descr="Linie Linie"/>
          <p:cNvPicPr>
            <a:picLocks noChangeAspect="0"/>
          </p:cNvPicPr>
          <p:nvPr/>
        </p:nvPicPr>
        <p:blipFill>
          <a:blip r:embed="rId2">
            <a:extLst/>
          </a:blip>
          <a:stretch>
            <a:fillRect/>
          </a:stretch>
        </p:blipFill>
        <p:spPr>
          <a:xfrm>
            <a:off x="5654140" y="8276679"/>
            <a:ext cx="7414992" cy="101601"/>
          </a:xfrm>
          <a:prstGeom prst="rect">
            <a:avLst/>
          </a:prstGeom>
        </p:spPr>
      </p:pic>
      <p:sp>
        <p:nvSpPr>
          <p:cNvPr id="213" name="Caracteristici / Atribute / Features"/>
          <p:cNvSpPr txBox="1"/>
          <p:nvPr/>
        </p:nvSpPr>
        <p:spPr>
          <a:xfrm>
            <a:off x="3986729" y="8631467"/>
            <a:ext cx="871479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14" name="Linie Linie" descr="Linie Linie"/>
          <p:cNvPicPr>
            <a:picLocks noChangeAspect="0"/>
          </p:cNvPicPr>
          <p:nvPr/>
        </p:nvPicPr>
        <p:blipFill>
          <a:blip r:embed="rId3">
            <a:extLst/>
          </a:blip>
          <a:stretch>
            <a:fillRect/>
          </a:stretch>
        </p:blipFill>
        <p:spPr>
          <a:xfrm>
            <a:off x="12901528" y="8276679"/>
            <a:ext cx="3639490" cy="101601"/>
          </a:xfrm>
          <a:prstGeom prst="rect">
            <a:avLst/>
          </a:prstGeom>
        </p:spPr>
      </p:pic>
      <p:sp>
        <p:nvSpPr>
          <p:cNvPr id="216" name="Etichetă / Clasă"/>
          <p:cNvSpPr txBox="1"/>
          <p:nvPr/>
        </p:nvSpPr>
        <p:spPr>
          <a:xfrm>
            <a:off x="13648952" y="8631467"/>
            <a:ext cx="416727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
        <p:nvSpPr>
          <p:cNvPr id="217" name="Să zicem că avem un set de date în 2D"/>
          <p:cNvSpPr txBox="1"/>
          <p:nvPr/>
        </p:nvSpPr>
        <p:spPr>
          <a:xfrm>
            <a:off x="1217285" y="1864155"/>
            <a:ext cx="943005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Să zicem că avem un set de date în 2D </a:t>
            </a:r>
          </a:p>
        </p:txBody>
      </p:sp>
      <p:pic>
        <p:nvPicPr>
          <p:cNvPr id="218" name="Oval Oval" descr="Oval Oval"/>
          <p:cNvPicPr>
            <a:picLocks noChangeAspect="0"/>
          </p:cNvPicPr>
          <p:nvPr/>
        </p:nvPicPr>
        <p:blipFill>
          <a:blip r:embed="rId4">
            <a:extLst/>
          </a:blip>
          <a:stretch>
            <a:fillRect/>
          </a:stretch>
        </p:blipFill>
        <p:spPr>
          <a:xfrm>
            <a:off x="5138642" y="3400439"/>
            <a:ext cx="8061633" cy="5067111"/>
          </a:xfrm>
          <a:prstGeom prst="rect">
            <a:avLst/>
          </a:prstGeom>
        </p:spPr>
      </p:pic>
      <p:sp>
        <p:nvSpPr>
          <p:cNvPr id="220" name="X"/>
          <p:cNvSpPr txBox="1"/>
          <p:nvPr/>
        </p:nvSpPr>
        <p:spPr>
          <a:xfrm>
            <a:off x="10191295" y="2720184"/>
            <a:ext cx="52110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X</a:t>
            </a:r>
          </a:p>
        </p:txBody>
      </p:sp>
      <p:pic>
        <p:nvPicPr>
          <p:cNvPr id="221" name="Oval Oval" descr="Oval Oval"/>
          <p:cNvPicPr>
            <a:picLocks noChangeAspect="0"/>
          </p:cNvPicPr>
          <p:nvPr/>
        </p:nvPicPr>
        <p:blipFill>
          <a:blip r:embed="rId5">
            <a:extLst/>
          </a:blip>
          <a:stretch>
            <a:fillRect/>
          </a:stretch>
        </p:blipFill>
        <p:spPr>
          <a:xfrm>
            <a:off x="11999229" y="3602352"/>
            <a:ext cx="5444087" cy="5067111"/>
          </a:xfrm>
          <a:prstGeom prst="rect">
            <a:avLst/>
          </a:prstGeom>
        </p:spPr>
      </p:pic>
      <p:sp>
        <p:nvSpPr>
          <p:cNvPr id="223" name="y"/>
          <p:cNvSpPr txBox="1"/>
          <p:nvPr/>
        </p:nvSpPr>
        <p:spPr>
          <a:xfrm>
            <a:off x="15974184" y="2969113"/>
            <a:ext cx="38252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a:r>
              <a:t>y</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advClick="1" p14:dur="1000">
        <p15:prstTrans prst="peelOff" invX="1"/>
      </p:transition>
    </mc:Choice>
    <mc:Choice xmlns:p14="http://schemas.microsoft.com/office/powerpoint/2010/main" Requires="p14">
      <p:transition spd="med" advClick="1" p14:dur="1000">
        <p:peelOff/>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10"/>
                                        </p:tgtEl>
                                        <p:attrNameLst>
                                          <p:attrName>style.visibility</p:attrName>
                                        </p:attrNameLst>
                                      </p:cBhvr>
                                      <p:to>
                                        <p:strVal val="visible"/>
                                      </p:to>
                                    </p:set>
                                    <p:anim calcmode="lin" valueType="num">
                                      <p:cBhvr>
                                        <p:cTn id="7" dur="500" fill="hold"/>
                                        <p:tgtEl>
                                          <p:spTgt spid="210"/>
                                        </p:tgtEl>
                                        <p:attrNameLst>
                                          <p:attrName>ppt_x</p:attrName>
                                        </p:attrNameLst>
                                      </p:cBhvr>
                                      <p:tavLst>
                                        <p:tav tm="0">
                                          <p:val>
                                            <p:strVal val="0-#ppt_w/2"/>
                                          </p:val>
                                        </p:tav>
                                        <p:tav tm="100000">
                                          <p:val>
                                            <p:strVal val="#ppt_x"/>
                                          </p:val>
                                        </p:tav>
                                      </p:tavLst>
                                    </p:anim>
                                    <p:anim calcmode="lin" valueType="num">
                                      <p:cBhvr>
                                        <p:cTn id="8" dur="500" fill="hold"/>
                                        <p:tgtEl>
                                          <p:spTgt spid="2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Class="entr" nodeType="afterEffect" presetSubtype="8" presetID="2" grpId="2" fill="hold">
                                  <p:stCondLst>
                                    <p:cond delay="0"/>
                                  </p:stCondLst>
                                  <p:iterate type="el" backwards="0">
                                    <p:tmAbs val="0"/>
                                  </p:iterate>
                                  <p:childTnLst>
                                    <p:set>
                                      <p:cBhvr>
                                        <p:cTn id="11" fill="hold"/>
                                        <p:tgtEl>
                                          <p:spTgt spid="217"/>
                                        </p:tgtEl>
                                        <p:attrNameLst>
                                          <p:attrName>style.visibility</p:attrName>
                                        </p:attrNameLst>
                                      </p:cBhvr>
                                      <p:to>
                                        <p:strVal val="visible"/>
                                      </p:to>
                                    </p:set>
                                    <p:anim calcmode="lin" valueType="num">
                                      <p:cBhvr>
                                        <p:cTn id="12" dur="1000" fill="hold"/>
                                        <p:tgtEl>
                                          <p:spTgt spid="217"/>
                                        </p:tgtEl>
                                        <p:attrNameLst>
                                          <p:attrName>ppt_x</p:attrName>
                                        </p:attrNameLst>
                                      </p:cBhvr>
                                      <p:tavLst>
                                        <p:tav tm="0">
                                          <p:val>
                                            <p:strVal val="0-#ppt_w/2"/>
                                          </p:val>
                                        </p:tav>
                                        <p:tav tm="100000">
                                          <p:val>
                                            <p:strVal val="#ppt_x"/>
                                          </p:val>
                                        </p:tav>
                                      </p:tavLst>
                                    </p:anim>
                                    <p:anim calcmode="lin" valueType="num">
                                      <p:cBhvr>
                                        <p:cTn id="13" dur="1000" fill="hold"/>
                                        <p:tgtEl>
                                          <p:spTgt spid="21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211"/>
                                        </p:tgtEl>
                                        <p:attrNameLst>
                                          <p:attrName>style.visibility</p:attrName>
                                        </p:attrNameLst>
                                      </p:cBhvr>
                                      <p:to>
                                        <p:strVal val="visible"/>
                                      </p:to>
                                    </p:set>
                                    <p:animEffect filter="dissolve" transition="in">
                                      <p:cBhvr>
                                        <p:cTn id="18" dur="2000"/>
                                        <p:tgtEl>
                                          <p:spTgt spid="211"/>
                                        </p:tgtEl>
                                      </p:cBhvr>
                                    </p:animEffect>
                                  </p:childTnLst>
                                </p:cTn>
                              </p:par>
                            </p:childTnLst>
                          </p:cTn>
                        </p:par>
                        <p:par>
                          <p:cTn id="19" fill="hold">
                            <p:stCondLst>
                              <p:cond delay="2000"/>
                            </p:stCondLst>
                            <p:childTnLst>
                              <p:par>
                                <p:cTn id="20" presetClass="entr" nodeType="afterEffect" presetSubtype="8" presetID="2" grpId="4" fill="hold">
                                  <p:stCondLst>
                                    <p:cond delay="0"/>
                                  </p:stCondLst>
                                  <p:iterate type="el" backwards="0">
                                    <p:tmAbs val="0"/>
                                  </p:iterate>
                                  <p:childTnLst>
                                    <p:set>
                                      <p:cBhvr>
                                        <p:cTn id="21" fill="hold"/>
                                        <p:tgtEl>
                                          <p:spTgt spid="213"/>
                                        </p:tgtEl>
                                        <p:attrNameLst>
                                          <p:attrName>style.visibility</p:attrName>
                                        </p:attrNameLst>
                                      </p:cBhvr>
                                      <p:to>
                                        <p:strVal val="visible"/>
                                      </p:to>
                                    </p:set>
                                    <p:anim calcmode="lin" valueType="num">
                                      <p:cBhvr>
                                        <p:cTn id="22" dur="1000" fill="hold"/>
                                        <p:tgtEl>
                                          <p:spTgt spid="213"/>
                                        </p:tgtEl>
                                        <p:attrNameLst>
                                          <p:attrName>ppt_x</p:attrName>
                                        </p:attrNameLst>
                                      </p:cBhvr>
                                      <p:tavLst>
                                        <p:tav tm="0">
                                          <p:val>
                                            <p:strVal val="0-#ppt_w/2"/>
                                          </p:val>
                                        </p:tav>
                                        <p:tav tm="100000">
                                          <p:val>
                                            <p:strVal val="#ppt_x"/>
                                          </p:val>
                                        </p:tav>
                                      </p:tavLst>
                                    </p:anim>
                                    <p:anim calcmode="lin" valueType="num">
                                      <p:cBhvr>
                                        <p:cTn id="23" dur="1000" fill="hold"/>
                                        <p:tgtEl>
                                          <p:spTgt spid="21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ID="9" grpId="5" fill="hold">
                                  <p:stCondLst>
                                    <p:cond delay="0"/>
                                  </p:stCondLst>
                                  <p:iterate type="el" backwards="0">
                                    <p:tmAbs val="0"/>
                                  </p:iterate>
                                  <p:childTnLst>
                                    <p:set>
                                      <p:cBhvr>
                                        <p:cTn id="27" fill="hold"/>
                                        <p:tgtEl>
                                          <p:spTgt spid="214"/>
                                        </p:tgtEl>
                                        <p:attrNameLst>
                                          <p:attrName>style.visibility</p:attrName>
                                        </p:attrNameLst>
                                      </p:cBhvr>
                                      <p:to>
                                        <p:strVal val="visible"/>
                                      </p:to>
                                    </p:set>
                                    <p:animEffect filter="dissolve" transition="in">
                                      <p:cBhvr>
                                        <p:cTn id="28" dur="2000"/>
                                        <p:tgtEl>
                                          <p:spTgt spid="214"/>
                                        </p:tgtEl>
                                      </p:cBhvr>
                                    </p:animEffect>
                                  </p:childTnLst>
                                </p:cTn>
                              </p:par>
                            </p:childTnLst>
                          </p:cTn>
                        </p:par>
                        <p:par>
                          <p:cTn id="29" fill="hold">
                            <p:stCondLst>
                              <p:cond delay="2000"/>
                            </p:stCondLst>
                            <p:childTnLst>
                              <p:par>
                                <p:cTn id="30" presetClass="entr" nodeType="afterEffect" presetSubtype="8" presetID="2" grpId="6" fill="hold">
                                  <p:stCondLst>
                                    <p:cond delay="0"/>
                                  </p:stCondLst>
                                  <p:iterate type="el" backwards="0">
                                    <p:tmAbs val="0"/>
                                  </p:iterate>
                                  <p:childTnLst>
                                    <p:set>
                                      <p:cBhvr>
                                        <p:cTn id="31" fill="hold"/>
                                        <p:tgtEl>
                                          <p:spTgt spid="216"/>
                                        </p:tgtEl>
                                        <p:attrNameLst>
                                          <p:attrName>style.visibility</p:attrName>
                                        </p:attrNameLst>
                                      </p:cBhvr>
                                      <p:to>
                                        <p:strVal val="visible"/>
                                      </p:to>
                                    </p:set>
                                    <p:anim calcmode="lin" valueType="num">
                                      <p:cBhvr>
                                        <p:cTn id="32" dur="1000" fill="hold"/>
                                        <p:tgtEl>
                                          <p:spTgt spid="216"/>
                                        </p:tgtEl>
                                        <p:attrNameLst>
                                          <p:attrName>ppt_x</p:attrName>
                                        </p:attrNameLst>
                                      </p:cBhvr>
                                      <p:tavLst>
                                        <p:tav tm="0">
                                          <p:val>
                                            <p:strVal val="0-#ppt_w/2"/>
                                          </p:val>
                                        </p:tav>
                                        <p:tav tm="100000">
                                          <p:val>
                                            <p:strVal val="#ppt_x"/>
                                          </p:val>
                                        </p:tav>
                                      </p:tavLst>
                                    </p:anim>
                                    <p:anim calcmode="lin" valueType="num">
                                      <p:cBhvr>
                                        <p:cTn id="33" dur="1000" fill="hold"/>
                                        <p:tgtEl>
                                          <p:spTgt spid="216"/>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Class="entr" nodeType="clickEffect" presetID="9" grpId="7" fill="hold">
                                  <p:stCondLst>
                                    <p:cond delay="0"/>
                                  </p:stCondLst>
                                  <p:iterate type="el" backwards="0">
                                    <p:tmAbs val="0"/>
                                  </p:iterate>
                                  <p:childTnLst>
                                    <p:set>
                                      <p:cBhvr>
                                        <p:cTn id="37" fill="hold"/>
                                        <p:tgtEl>
                                          <p:spTgt spid="218"/>
                                        </p:tgtEl>
                                        <p:attrNameLst>
                                          <p:attrName>style.visibility</p:attrName>
                                        </p:attrNameLst>
                                      </p:cBhvr>
                                      <p:to>
                                        <p:strVal val="visible"/>
                                      </p:to>
                                    </p:set>
                                    <p:animEffect filter="dissolve" transition="in">
                                      <p:cBhvr>
                                        <p:cTn id="38" dur="2000"/>
                                        <p:tgtEl>
                                          <p:spTgt spid="218"/>
                                        </p:tgtEl>
                                      </p:cBhvr>
                                    </p:animEffect>
                                  </p:childTnLst>
                                </p:cTn>
                              </p:par>
                            </p:childTnLst>
                          </p:cTn>
                        </p:par>
                        <p:par>
                          <p:cTn id="39" fill="hold">
                            <p:stCondLst>
                              <p:cond delay="2000"/>
                            </p:stCondLst>
                            <p:childTnLst>
                              <p:par>
                                <p:cTn id="40" presetClass="entr" nodeType="afterEffect" presetSubtype="8" presetID="2" grpId="8" fill="hold">
                                  <p:stCondLst>
                                    <p:cond delay="0"/>
                                  </p:stCondLst>
                                  <p:iterate type="el" backwards="0">
                                    <p:tmAbs val="0"/>
                                  </p:iterate>
                                  <p:childTnLst>
                                    <p:set>
                                      <p:cBhvr>
                                        <p:cTn id="41" fill="hold"/>
                                        <p:tgtEl>
                                          <p:spTgt spid="220"/>
                                        </p:tgtEl>
                                        <p:attrNameLst>
                                          <p:attrName>style.visibility</p:attrName>
                                        </p:attrNameLst>
                                      </p:cBhvr>
                                      <p:to>
                                        <p:strVal val="visible"/>
                                      </p:to>
                                    </p:set>
                                    <p:anim calcmode="lin" valueType="num">
                                      <p:cBhvr>
                                        <p:cTn id="42" dur="1000" fill="hold"/>
                                        <p:tgtEl>
                                          <p:spTgt spid="220"/>
                                        </p:tgtEl>
                                        <p:attrNameLst>
                                          <p:attrName>ppt_x</p:attrName>
                                        </p:attrNameLst>
                                      </p:cBhvr>
                                      <p:tavLst>
                                        <p:tav tm="0">
                                          <p:val>
                                            <p:strVal val="0-#ppt_w/2"/>
                                          </p:val>
                                        </p:tav>
                                        <p:tav tm="100000">
                                          <p:val>
                                            <p:strVal val="#ppt_x"/>
                                          </p:val>
                                        </p:tav>
                                      </p:tavLst>
                                    </p:anim>
                                    <p:anim calcmode="lin" valueType="num">
                                      <p:cBhvr>
                                        <p:cTn id="43" dur="1000" fill="hold"/>
                                        <p:tgtEl>
                                          <p:spTgt spid="220"/>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Class="entr" nodeType="clickEffect" presetID="9" grpId="9" fill="hold">
                                  <p:stCondLst>
                                    <p:cond delay="0"/>
                                  </p:stCondLst>
                                  <p:iterate type="el" backwards="0">
                                    <p:tmAbs val="0"/>
                                  </p:iterate>
                                  <p:childTnLst>
                                    <p:set>
                                      <p:cBhvr>
                                        <p:cTn id="47" fill="hold"/>
                                        <p:tgtEl>
                                          <p:spTgt spid="221"/>
                                        </p:tgtEl>
                                        <p:attrNameLst>
                                          <p:attrName>style.visibility</p:attrName>
                                        </p:attrNameLst>
                                      </p:cBhvr>
                                      <p:to>
                                        <p:strVal val="visible"/>
                                      </p:to>
                                    </p:set>
                                    <p:animEffect filter="dissolve" transition="in">
                                      <p:cBhvr>
                                        <p:cTn id="48" dur="2000"/>
                                        <p:tgtEl>
                                          <p:spTgt spid="221"/>
                                        </p:tgtEl>
                                      </p:cBhvr>
                                    </p:animEffect>
                                  </p:childTnLst>
                                </p:cTn>
                              </p:par>
                            </p:childTnLst>
                          </p:cTn>
                        </p:par>
                        <p:par>
                          <p:cTn id="49" fill="hold">
                            <p:stCondLst>
                              <p:cond delay="2000"/>
                            </p:stCondLst>
                            <p:childTnLst>
                              <p:par>
                                <p:cTn id="50" presetClass="entr" nodeType="afterEffect" presetSubtype="8" presetID="2" grpId="10" fill="hold">
                                  <p:stCondLst>
                                    <p:cond delay="0"/>
                                  </p:stCondLst>
                                  <p:iterate type="el" backwards="0">
                                    <p:tmAbs val="0"/>
                                  </p:iterate>
                                  <p:childTnLst>
                                    <p:set>
                                      <p:cBhvr>
                                        <p:cTn id="51" fill="hold"/>
                                        <p:tgtEl>
                                          <p:spTgt spid="223"/>
                                        </p:tgtEl>
                                        <p:attrNameLst>
                                          <p:attrName>style.visibility</p:attrName>
                                        </p:attrNameLst>
                                      </p:cBhvr>
                                      <p:to>
                                        <p:strVal val="visible"/>
                                      </p:to>
                                    </p:set>
                                    <p:anim calcmode="lin" valueType="num">
                                      <p:cBhvr>
                                        <p:cTn id="52" dur="1000" fill="hold"/>
                                        <p:tgtEl>
                                          <p:spTgt spid="223"/>
                                        </p:tgtEl>
                                        <p:attrNameLst>
                                          <p:attrName>ppt_x</p:attrName>
                                        </p:attrNameLst>
                                      </p:cBhvr>
                                      <p:tavLst>
                                        <p:tav tm="0">
                                          <p:val>
                                            <p:strVal val="0-#ppt_w/2"/>
                                          </p:val>
                                        </p:tav>
                                        <p:tav tm="100000">
                                          <p:val>
                                            <p:strVal val="#ppt_x"/>
                                          </p:val>
                                        </p:tav>
                                      </p:tavLst>
                                    </p:anim>
                                    <p:anim calcmode="lin" valueType="num">
                                      <p:cBhvr>
                                        <p:cTn id="53" dur="1000" fill="hold"/>
                                        <p:tgtEl>
                                          <p:spTgt spid="2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3" grpId="4"/>
      <p:bldP build="whole" bldLvl="1" animBg="1" rev="0" advAuto="0" spid="217" grpId="2"/>
      <p:bldP build="whole" bldLvl="1" animBg="1" rev="0" advAuto="0" spid="214" grpId="5"/>
      <p:bldP build="whole" bldLvl="1" animBg="1" rev="0" advAuto="0" spid="216" grpId="6"/>
      <p:bldP build="whole" bldLvl="1" animBg="1" rev="0" advAuto="0" spid="218" grpId="7"/>
      <p:bldP build="whole" bldLvl="1" animBg="1" rev="0" advAuto="0" spid="220" grpId="8"/>
      <p:bldP build="whole" bldLvl="1" animBg="1" rev="0" advAuto="0" spid="221" grpId="9"/>
      <p:bldP build="whole" bldLvl="1" animBg="1" rev="0" advAuto="0" spid="211" grpId="3"/>
      <p:bldP build="whole" bldLvl="1" animBg="1" rev="0" advAuto="0" spid="210" grpId="1"/>
      <p:bldP build="whole" bldLvl="1" animBg="1" rev="0" advAuto="0" spid="223" grpId="1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2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227" name="Tabelul 1"/>
          <p:cNvGraphicFramePr/>
          <p:nvPr/>
        </p:nvGraphicFramePr>
        <p:xfrm>
          <a:off x="9146591" y="5035437"/>
          <a:ext cx="10499842" cy="3906755"/>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495713"/>
                <a:gridCol w="3495713"/>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Caracteristica 1</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Caracteristica 2</a:t>
                      </a:r>
                    </a:p>
                  </a:txBody>
                  <a:tcPr marL="0" marR="0" marT="0" marB="0" anchor="ctr" anchorCtr="0" horzOverflow="overflow"/>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28" name="Linie Linie" descr="Linie Linie"/>
          <p:cNvPicPr>
            <a:picLocks noChangeAspect="0"/>
          </p:cNvPicPr>
          <p:nvPr/>
        </p:nvPicPr>
        <p:blipFill>
          <a:blip r:embed="rId2">
            <a:extLst/>
          </a:blip>
          <a:stretch>
            <a:fillRect/>
          </a:stretch>
        </p:blipFill>
        <p:spPr>
          <a:xfrm>
            <a:off x="8931560" y="8991747"/>
            <a:ext cx="7414991" cy="101601"/>
          </a:xfrm>
          <a:prstGeom prst="rect">
            <a:avLst/>
          </a:prstGeom>
        </p:spPr>
      </p:pic>
      <p:sp>
        <p:nvSpPr>
          <p:cNvPr id="230" name="Caracteristici / Atribute / Features"/>
          <p:cNvSpPr txBox="1"/>
          <p:nvPr/>
        </p:nvSpPr>
        <p:spPr>
          <a:xfrm>
            <a:off x="7264148" y="9346535"/>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sp>
        <p:nvSpPr>
          <p:cNvPr id="231" name="Să zicem că avem un set de date în 2D"/>
          <p:cNvSpPr txBox="1"/>
          <p:nvPr/>
        </p:nvSpPr>
        <p:spPr>
          <a:xfrm>
            <a:off x="1217285" y="1864155"/>
            <a:ext cx="943005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Să zicem că avem un set de date în 2D </a:t>
            </a:r>
          </a:p>
        </p:txBody>
      </p:sp>
      <p:pic>
        <p:nvPicPr>
          <p:cNvPr id="232" name="Oval Oval" descr="Oval Oval"/>
          <p:cNvPicPr>
            <a:picLocks noChangeAspect="0"/>
          </p:cNvPicPr>
          <p:nvPr/>
        </p:nvPicPr>
        <p:blipFill>
          <a:blip r:embed="rId3">
            <a:extLst/>
          </a:blip>
          <a:stretch>
            <a:fillRect/>
          </a:stretch>
        </p:blipFill>
        <p:spPr>
          <a:xfrm>
            <a:off x="8416062" y="4115507"/>
            <a:ext cx="8061633" cy="5067111"/>
          </a:xfrm>
          <a:prstGeom prst="rect">
            <a:avLst/>
          </a:prstGeom>
        </p:spPr>
      </p:pic>
      <p:sp>
        <p:nvSpPr>
          <p:cNvPr id="234" name="X"/>
          <p:cNvSpPr txBox="1"/>
          <p:nvPr/>
        </p:nvSpPr>
        <p:spPr>
          <a:xfrm>
            <a:off x="13468715" y="3435252"/>
            <a:ext cx="52110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X</a:t>
            </a:r>
          </a:p>
        </p:txBody>
      </p:sp>
    </p:spTree>
  </p:cSld>
  <p:clrMapOvr>
    <a:masterClrMapping/>
  </p:clrMapOvr>
  <mc:AlternateContent xmlns:mc="http://schemas.openxmlformats.org/markup-compatibility/2006">
    <mc:Choice xmlns:p14="http://schemas.microsoft.com/office/powerpoint/2010/main" Requires="p14">
      <p:transition spd="med" advClick="1" p14:dur="1000">
        <p14:warp dir="in"/>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3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38" name="Captură de ecran din 2024-11-03 la 21.04.13.png" descr="Captură de ecran din 2024-11-03 la 21.04.13.png"/>
          <p:cNvPicPr>
            <a:picLocks noChangeAspect="1"/>
          </p:cNvPicPr>
          <p:nvPr/>
        </p:nvPicPr>
        <p:blipFill>
          <a:blip r:embed="rId2">
            <a:extLst/>
          </a:blip>
          <a:stretch>
            <a:fillRect/>
          </a:stretch>
        </p:blipFill>
        <p:spPr>
          <a:xfrm>
            <a:off x="2214057" y="2242680"/>
            <a:ext cx="18292837" cy="9230640"/>
          </a:xfrm>
          <a:prstGeom prst="rect">
            <a:avLst/>
          </a:prstGeom>
          <a:ln w="12700">
            <a:miter lim="400000"/>
          </a:ln>
        </p:spPr>
      </p:pic>
      <p:pic>
        <p:nvPicPr>
          <p:cNvPr id="239" name="Oval Oval" descr="Oval Oval"/>
          <p:cNvPicPr>
            <a:picLocks noChangeAspect="0"/>
          </p:cNvPicPr>
          <p:nvPr/>
        </p:nvPicPr>
        <p:blipFill>
          <a:blip r:embed="rId3">
            <a:extLst/>
          </a:blip>
          <a:stretch>
            <a:fillRect/>
          </a:stretch>
        </p:blipFill>
        <p:spPr>
          <a:xfrm>
            <a:off x="4651711" y="2632587"/>
            <a:ext cx="2495946" cy="2527696"/>
          </a:xfrm>
          <a:prstGeom prst="rect">
            <a:avLst/>
          </a:prstGeom>
        </p:spPr>
      </p:pic>
      <p:pic>
        <p:nvPicPr>
          <p:cNvPr id="241" name="Oval Oval" descr="Oval Oval"/>
          <p:cNvPicPr>
            <a:picLocks noChangeAspect="0"/>
          </p:cNvPicPr>
          <p:nvPr/>
        </p:nvPicPr>
        <p:blipFill>
          <a:blip r:embed="rId4">
            <a:extLst/>
          </a:blip>
          <a:stretch>
            <a:fillRect/>
          </a:stretch>
        </p:blipFill>
        <p:spPr>
          <a:xfrm>
            <a:off x="4841845" y="5624988"/>
            <a:ext cx="2115678" cy="2006602"/>
          </a:xfrm>
          <a:prstGeom prst="rect">
            <a:avLst/>
          </a:prstGeom>
        </p:spPr>
      </p:pic>
      <p:pic>
        <p:nvPicPr>
          <p:cNvPr id="243" name="Oval Oval" descr="Oval Oval"/>
          <p:cNvPicPr>
            <a:picLocks noChangeAspect="0"/>
          </p:cNvPicPr>
          <p:nvPr/>
        </p:nvPicPr>
        <p:blipFill>
          <a:blip r:embed="rId4">
            <a:extLst/>
          </a:blip>
          <a:stretch>
            <a:fillRect/>
          </a:stretch>
        </p:blipFill>
        <p:spPr>
          <a:xfrm>
            <a:off x="4687924" y="7250236"/>
            <a:ext cx="2115677" cy="2006602"/>
          </a:xfrm>
          <a:prstGeom prst="rect">
            <a:avLst/>
          </a:prstGeom>
        </p:spPr>
      </p:pic>
      <p:pic>
        <p:nvPicPr>
          <p:cNvPr id="245" name="Oval Oval" descr="Oval Oval"/>
          <p:cNvPicPr>
            <a:picLocks noChangeAspect="0"/>
          </p:cNvPicPr>
          <p:nvPr/>
        </p:nvPicPr>
        <p:blipFill>
          <a:blip r:embed="rId5">
            <a:extLst/>
          </a:blip>
          <a:stretch>
            <a:fillRect/>
          </a:stretch>
        </p:blipFill>
        <p:spPr>
          <a:xfrm>
            <a:off x="7534597" y="2680577"/>
            <a:ext cx="4835350" cy="5865178"/>
          </a:xfrm>
          <a:prstGeom prst="rect">
            <a:avLst/>
          </a:prstGeom>
        </p:spPr>
      </p:pic>
      <p:pic>
        <p:nvPicPr>
          <p:cNvPr id="247" name="Oval Oval" descr="Oval Oval"/>
          <p:cNvPicPr>
            <a:picLocks noChangeAspect="0"/>
          </p:cNvPicPr>
          <p:nvPr/>
        </p:nvPicPr>
        <p:blipFill>
          <a:blip r:embed="rId6">
            <a:extLst/>
          </a:blip>
          <a:stretch>
            <a:fillRect/>
          </a:stretch>
        </p:blipFill>
        <p:spPr>
          <a:xfrm>
            <a:off x="12347721" y="2399656"/>
            <a:ext cx="6100888" cy="66109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39"/>
                                        </p:tgtEl>
                                        <p:attrNameLst>
                                          <p:attrName>style.visibility</p:attrName>
                                        </p:attrNameLst>
                                      </p:cBhvr>
                                      <p:to>
                                        <p:strVal val="visible"/>
                                      </p:to>
                                    </p:set>
                                    <p:animEffect filter="dissolve" transition="in">
                                      <p:cBhvr>
                                        <p:cTn id="7" dur="2000"/>
                                        <p:tgtEl>
                                          <p:spTgt spid="239"/>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241"/>
                                        </p:tgtEl>
                                        <p:attrNameLst>
                                          <p:attrName>style.visibility</p:attrName>
                                        </p:attrNameLst>
                                      </p:cBhvr>
                                      <p:to>
                                        <p:strVal val="visible"/>
                                      </p:to>
                                    </p:set>
                                    <p:animEffect filter="dissolve" transition="in">
                                      <p:cBhvr>
                                        <p:cTn id="11" dur="2000"/>
                                        <p:tgtEl>
                                          <p:spTgt spid="241"/>
                                        </p:tgtEl>
                                      </p:cBhvr>
                                    </p:animEffect>
                                  </p:childTnLst>
                                </p:cTn>
                              </p:par>
                            </p:childTnLst>
                          </p:cTn>
                        </p:par>
                        <p:par>
                          <p:cTn id="12" fill="hold">
                            <p:stCondLst>
                              <p:cond delay="4000"/>
                            </p:stCondLst>
                            <p:childTnLst>
                              <p:par>
                                <p:cTn id="13" presetClass="entr" nodeType="afterEffect" presetID="9" grpId="3" fill="hold">
                                  <p:stCondLst>
                                    <p:cond delay="0"/>
                                  </p:stCondLst>
                                  <p:iterate type="el" backwards="0">
                                    <p:tmAbs val="0"/>
                                  </p:iterate>
                                  <p:childTnLst>
                                    <p:set>
                                      <p:cBhvr>
                                        <p:cTn id="14" fill="hold"/>
                                        <p:tgtEl>
                                          <p:spTgt spid="243"/>
                                        </p:tgtEl>
                                        <p:attrNameLst>
                                          <p:attrName>style.visibility</p:attrName>
                                        </p:attrNameLst>
                                      </p:cBhvr>
                                      <p:to>
                                        <p:strVal val="visible"/>
                                      </p:to>
                                    </p:set>
                                    <p:animEffect filter="dissolve" transition="in">
                                      <p:cBhvr>
                                        <p:cTn id="15" dur="2000"/>
                                        <p:tgtEl>
                                          <p:spTgt spid="243"/>
                                        </p:tgtEl>
                                      </p:cBhvr>
                                    </p:animEffect>
                                  </p:childTnLst>
                                </p:cTn>
                              </p:par>
                            </p:childTnLst>
                          </p:cTn>
                        </p:par>
                        <p:par>
                          <p:cTn id="16" fill="hold">
                            <p:stCondLst>
                              <p:cond delay="6000"/>
                            </p:stCondLst>
                            <p:childTnLst>
                              <p:par>
                                <p:cTn id="17" presetClass="entr" nodeType="afterEffect" presetID="9" grpId="4" fill="hold">
                                  <p:stCondLst>
                                    <p:cond delay="0"/>
                                  </p:stCondLst>
                                  <p:iterate type="el" backwards="0">
                                    <p:tmAbs val="0"/>
                                  </p:iterate>
                                  <p:childTnLst>
                                    <p:set>
                                      <p:cBhvr>
                                        <p:cTn id="18" fill="hold"/>
                                        <p:tgtEl>
                                          <p:spTgt spid="245"/>
                                        </p:tgtEl>
                                        <p:attrNameLst>
                                          <p:attrName>style.visibility</p:attrName>
                                        </p:attrNameLst>
                                      </p:cBhvr>
                                      <p:to>
                                        <p:strVal val="visible"/>
                                      </p:to>
                                    </p:set>
                                    <p:animEffect filter="dissolve" transition="in">
                                      <p:cBhvr>
                                        <p:cTn id="19" dur="2000"/>
                                        <p:tgtEl>
                                          <p:spTgt spid="245"/>
                                        </p:tgtEl>
                                      </p:cBhvr>
                                    </p:animEffect>
                                  </p:childTnLst>
                                </p:cTn>
                              </p:par>
                            </p:childTnLst>
                          </p:cTn>
                        </p:par>
                        <p:par>
                          <p:cTn id="20" fill="hold">
                            <p:stCondLst>
                              <p:cond delay="8000"/>
                            </p:stCondLst>
                            <p:childTnLst>
                              <p:par>
                                <p:cTn id="21" presetClass="entr" nodeType="afterEffect" presetID="9" grpId="5" fill="hold">
                                  <p:stCondLst>
                                    <p:cond delay="0"/>
                                  </p:stCondLst>
                                  <p:iterate type="el" backwards="0">
                                    <p:tmAbs val="0"/>
                                  </p:iterate>
                                  <p:childTnLst>
                                    <p:set>
                                      <p:cBhvr>
                                        <p:cTn id="22" fill="hold"/>
                                        <p:tgtEl>
                                          <p:spTgt spid="247"/>
                                        </p:tgtEl>
                                        <p:attrNameLst>
                                          <p:attrName>style.visibility</p:attrName>
                                        </p:attrNameLst>
                                      </p:cBhvr>
                                      <p:to>
                                        <p:strVal val="visible"/>
                                      </p:to>
                                    </p:set>
                                    <p:animEffect filter="dissolve" transition="in">
                                      <p:cBhvr>
                                        <p:cTn id="23" dur="2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9" grpId="1"/>
      <p:bldP build="whole" bldLvl="1" animBg="1" rev="0" advAuto="0" spid="243" grpId="3"/>
      <p:bldP build="whole" bldLvl="1" animBg="1" rev="0" advAuto="0" spid="245" grpId="4"/>
      <p:bldP build="whole" bldLvl="1" animBg="1" rev="0" advAuto="0" spid="241" grpId="2"/>
      <p:bldP build="whole" bldLvl="1" animBg="1" rev="0" advAuto="0" spid="247"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5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52" name="Captură de ecran din 2024-11-03 la 21.04.13.png" descr="Captură de ecran din 2024-11-03 la 21.04.13.png"/>
          <p:cNvPicPr>
            <a:picLocks noChangeAspect="1"/>
          </p:cNvPicPr>
          <p:nvPr/>
        </p:nvPicPr>
        <p:blipFill>
          <a:blip r:embed="rId2">
            <a:extLst/>
          </a:blip>
          <a:stretch>
            <a:fillRect/>
          </a:stretch>
        </p:blipFill>
        <p:spPr>
          <a:xfrm>
            <a:off x="2700988" y="632063"/>
            <a:ext cx="18292836" cy="9230639"/>
          </a:xfrm>
          <a:prstGeom prst="rect">
            <a:avLst/>
          </a:prstGeom>
          <a:ln w="12700">
            <a:miter lim="400000"/>
          </a:ln>
        </p:spPr>
      </p:pic>
      <p:pic>
        <p:nvPicPr>
          <p:cNvPr id="253" name="Oval Oval" descr="Oval Oval"/>
          <p:cNvPicPr>
            <a:picLocks noChangeAspect="0"/>
          </p:cNvPicPr>
          <p:nvPr/>
        </p:nvPicPr>
        <p:blipFill>
          <a:blip r:embed="rId3">
            <a:extLst/>
          </a:blip>
          <a:stretch>
            <a:fillRect/>
          </a:stretch>
        </p:blipFill>
        <p:spPr>
          <a:xfrm>
            <a:off x="5138642" y="1021969"/>
            <a:ext cx="2495946" cy="2527696"/>
          </a:xfrm>
          <a:prstGeom prst="rect">
            <a:avLst/>
          </a:prstGeom>
        </p:spPr>
      </p:pic>
      <p:pic>
        <p:nvPicPr>
          <p:cNvPr id="255" name="Oval Oval" descr="Oval Oval"/>
          <p:cNvPicPr>
            <a:picLocks noChangeAspect="0"/>
          </p:cNvPicPr>
          <p:nvPr/>
        </p:nvPicPr>
        <p:blipFill>
          <a:blip r:embed="rId4">
            <a:extLst/>
          </a:blip>
          <a:stretch>
            <a:fillRect/>
          </a:stretch>
        </p:blipFill>
        <p:spPr>
          <a:xfrm>
            <a:off x="5328776" y="4014370"/>
            <a:ext cx="2115678" cy="2006602"/>
          </a:xfrm>
          <a:prstGeom prst="rect">
            <a:avLst/>
          </a:prstGeom>
        </p:spPr>
      </p:pic>
      <p:pic>
        <p:nvPicPr>
          <p:cNvPr id="257" name="Oval Oval" descr="Oval Oval"/>
          <p:cNvPicPr>
            <a:picLocks noChangeAspect="0"/>
          </p:cNvPicPr>
          <p:nvPr/>
        </p:nvPicPr>
        <p:blipFill>
          <a:blip r:embed="rId4">
            <a:extLst/>
          </a:blip>
          <a:stretch>
            <a:fillRect/>
          </a:stretch>
        </p:blipFill>
        <p:spPr>
          <a:xfrm>
            <a:off x="5174855" y="5639618"/>
            <a:ext cx="2115677" cy="2006602"/>
          </a:xfrm>
          <a:prstGeom prst="rect">
            <a:avLst/>
          </a:prstGeom>
        </p:spPr>
      </p:pic>
      <p:pic>
        <p:nvPicPr>
          <p:cNvPr id="259" name="Oval Oval" descr="Oval Oval"/>
          <p:cNvPicPr>
            <a:picLocks noChangeAspect="0"/>
          </p:cNvPicPr>
          <p:nvPr/>
        </p:nvPicPr>
        <p:blipFill>
          <a:blip r:embed="rId5">
            <a:extLst/>
          </a:blip>
          <a:stretch>
            <a:fillRect/>
          </a:stretch>
        </p:blipFill>
        <p:spPr>
          <a:xfrm>
            <a:off x="8021528" y="1069960"/>
            <a:ext cx="4835350" cy="5865178"/>
          </a:xfrm>
          <a:prstGeom prst="rect">
            <a:avLst/>
          </a:prstGeom>
        </p:spPr>
      </p:pic>
      <p:pic>
        <p:nvPicPr>
          <p:cNvPr id="261" name="Oval Oval" descr="Oval Oval"/>
          <p:cNvPicPr>
            <a:picLocks noChangeAspect="0"/>
          </p:cNvPicPr>
          <p:nvPr/>
        </p:nvPicPr>
        <p:blipFill>
          <a:blip r:embed="rId6">
            <a:extLst/>
          </a:blip>
          <a:stretch>
            <a:fillRect/>
          </a:stretch>
        </p:blipFill>
        <p:spPr>
          <a:xfrm>
            <a:off x="12834652" y="789038"/>
            <a:ext cx="6100888" cy="6610938"/>
          </a:xfrm>
          <a:prstGeom prst="rect">
            <a:avLst/>
          </a:prstGeom>
        </p:spPr>
      </p:pic>
      <p:sp>
        <p:nvSpPr>
          <p:cNvPr id="263" name="În general, sunt două tipuri mari și late:"/>
          <p:cNvSpPr txBox="1"/>
          <p:nvPr>
            <p:ph type="body" sz="quarter" idx="1"/>
          </p:nvPr>
        </p:nvSpPr>
        <p:spPr>
          <a:xfrm>
            <a:off x="732269" y="9444352"/>
            <a:ext cx="21948577" cy="1257184"/>
          </a:xfrm>
          <a:prstGeom prst="rect">
            <a:avLst/>
          </a:prstGeom>
        </p:spPr>
        <p:txBody>
          <a:bodyPr/>
          <a:lstStyle/>
          <a:p>
            <a:pPr/>
            <a:r>
              <a:t>Ochiometric, oamenii își pot da seama ușor de grupuri în date</a:t>
            </a:r>
          </a:p>
        </p:txBody>
      </p:sp>
      <p:sp>
        <p:nvSpPr>
          <p:cNvPr id="264" name="În general, sunt două tipuri mari și late:"/>
          <p:cNvSpPr txBox="1"/>
          <p:nvPr/>
        </p:nvSpPr>
        <p:spPr>
          <a:xfrm>
            <a:off x="732269" y="10563942"/>
            <a:ext cx="21948577" cy="1257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rPr>
                <a:latin typeface="Canela Text Bold"/>
                <a:ea typeface="Canela Text Bold"/>
                <a:cs typeface="Canela Text Bold"/>
                <a:sym typeface="Canela Text Bold"/>
              </a:rPr>
              <a:t>Problema</a:t>
            </a:r>
            <a:r>
              <a:t> e cum facem un model care să își da seama singur de aceste grupuri</a:t>
            </a:r>
          </a:p>
        </p:txBody>
      </p:sp>
      <p:sp>
        <p:nvSpPr>
          <p:cNvPr id="265" name="În general, sunt două tipuri mari și late:"/>
          <p:cNvSpPr txBox="1"/>
          <p:nvPr/>
        </p:nvSpPr>
        <p:spPr>
          <a:xfrm>
            <a:off x="732269" y="11725085"/>
            <a:ext cx="21948577" cy="12571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18794" indent="-518794" defTabSz="2316421">
              <a:spcBef>
                <a:spcPts val="2200"/>
              </a:spcBef>
              <a:buSzPct val="150000"/>
              <a:buChar char="•"/>
              <a:defRPr sz="4180">
                <a:latin typeface="Canela Text Regular"/>
                <a:ea typeface="Canela Text Regular"/>
                <a:cs typeface="Canela Text Regular"/>
                <a:sym typeface="Canela Text Regular"/>
              </a:defRPr>
            </a:lvl1pPr>
          </a:lstStyle>
          <a:p>
            <a:pPr/>
            <a:r>
              <a:t>Din poză, observăm că distanța dintre puncte poate fi folosită ca o masură a similarității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63"/>
                                        </p:tgtEl>
                                        <p:attrNameLst>
                                          <p:attrName>style.visibility</p:attrName>
                                        </p:attrNameLst>
                                      </p:cBhvr>
                                      <p:to>
                                        <p:strVal val="visible"/>
                                      </p:to>
                                    </p:set>
                                    <p:anim calcmode="lin" valueType="num">
                                      <p:cBhvr>
                                        <p:cTn id="7" dur="1000" fill="hold"/>
                                        <p:tgtEl>
                                          <p:spTgt spid="263"/>
                                        </p:tgtEl>
                                        <p:attrNameLst>
                                          <p:attrName>ppt_x</p:attrName>
                                        </p:attrNameLst>
                                      </p:cBhvr>
                                      <p:tavLst>
                                        <p:tav tm="0">
                                          <p:val>
                                            <p:strVal val="0-#ppt_w/2"/>
                                          </p:val>
                                        </p:tav>
                                        <p:tav tm="100000">
                                          <p:val>
                                            <p:strVal val="#ppt_x"/>
                                          </p:val>
                                        </p:tav>
                                      </p:tavLst>
                                    </p:anim>
                                    <p:anim calcmode="lin" valueType="num">
                                      <p:cBhvr>
                                        <p:cTn id="8" dur="1000" fill="hold"/>
                                        <p:tgtEl>
                                          <p:spTgt spid="2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64"/>
                                        </p:tgtEl>
                                        <p:attrNameLst>
                                          <p:attrName>style.visibility</p:attrName>
                                        </p:attrNameLst>
                                      </p:cBhvr>
                                      <p:to>
                                        <p:strVal val="visible"/>
                                      </p:to>
                                    </p:set>
                                    <p:anim calcmode="lin" valueType="num">
                                      <p:cBhvr>
                                        <p:cTn id="13" dur="1000" fill="hold"/>
                                        <p:tgtEl>
                                          <p:spTgt spid="264"/>
                                        </p:tgtEl>
                                        <p:attrNameLst>
                                          <p:attrName>ppt_x</p:attrName>
                                        </p:attrNameLst>
                                      </p:cBhvr>
                                      <p:tavLst>
                                        <p:tav tm="0">
                                          <p:val>
                                            <p:strVal val="0-#ppt_w/2"/>
                                          </p:val>
                                        </p:tav>
                                        <p:tav tm="100000">
                                          <p:val>
                                            <p:strVal val="#ppt_x"/>
                                          </p:val>
                                        </p:tav>
                                      </p:tavLst>
                                    </p:anim>
                                    <p:anim calcmode="lin" valueType="num">
                                      <p:cBhvr>
                                        <p:cTn id="14" dur="1000" fill="hold"/>
                                        <p:tgtEl>
                                          <p:spTgt spid="26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265"/>
                                        </p:tgtEl>
                                        <p:attrNameLst>
                                          <p:attrName>style.visibility</p:attrName>
                                        </p:attrNameLst>
                                      </p:cBhvr>
                                      <p:to>
                                        <p:strVal val="visible"/>
                                      </p:to>
                                    </p:set>
                                    <p:anim calcmode="lin" valueType="num">
                                      <p:cBhvr>
                                        <p:cTn id="19" dur="1000" fill="hold"/>
                                        <p:tgtEl>
                                          <p:spTgt spid="265"/>
                                        </p:tgtEl>
                                        <p:attrNameLst>
                                          <p:attrName>ppt_x</p:attrName>
                                        </p:attrNameLst>
                                      </p:cBhvr>
                                      <p:tavLst>
                                        <p:tav tm="0">
                                          <p:val>
                                            <p:strVal val="0-#ppt_w/2"/>
                                          </p:val>
                                        </p:tav>
                                        <p:tav tm="100000">
                                          <p:val>
                                            <p:strVal val="#ppt_x"/>
                                          </p:val>
                                        </p:tav>
                                      </p:tavLst>
                                    </p:anim>
                                    <p:anim calcmode="lin" valueType="num">
                                      <p:cBhvr>
                                        <p:cTn id="20" dur="1000" fill="hold"/>
                                        <p:tgtEl>
                                          <p:spTgt spid="2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5" grpId="3"/>
      <p:bldP build="whole" bldLvl="1" animBg="1" rev="0" advAuto="0" spid="263" grpId="1"/>
      <p:bldP build="whole" bldLvl="1" animBg="1" rev="0" advAuto="0" spid="264" grpId="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6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69" name="Imagine" descr="Imagine"/>
          <p:cNvPicPr>
            <a:picLocks noChangeAspect="1"/>
          </p:cNvPicPr>
          <p:nvPr/>
        </p:nvPicPr>
        <p:blipFill>
          <a:blip r:embed="rId2">
            <a:extLst/>
          </a:blip>
          <a:stretch>
            <a:fillRect/>
          </a:stretch>
        </p:blipFill>
        <p:spPr>
          <a:xfrm>
            <a:off x="4129757" y="-77137"/>
            <a:ext cx="16124486" cy="9573915"/>
          </a:xfrm>
          <a:prstGeom prst="rect">
            <a:avLst/>
          </a:prstGeom>
          <a:ln w="12700">
            <a:miter lim="400000"/>
          </a:ln>
        </p:spPr>
      </p:pic>
      <p:sp>
        <p:nvSpPr>
          <p:cNvPr id="270" name="Pătrat"/>
          <p:cNvSpPr/>
          <p:nvPr/>
        </p:nvSpPr>
        <p:spPr>
          <a:xfrm>
            <a:off x="5451635" y="810576"/>
            <a:ext cx="1270001" cy="1270001"/>
          </a:xfrm>
          <a:prstGeom prst="rect">
            <a:avLst/>
          </a:prstGeom>
          <a:solidFill>
            <a:srgbClr val="FFFFFF"/>
          </a:solidFill>
          <a:ln w="12700">
            <a:miter lim="400000"/>
          </a:ln>
        </p:spPr>
        <p:txBody>
          <a:bodyPr lIns="50800" tIns="50800" rIns="50800" bIns="50800" anchor="ctr"/>
          <a:lstStyle/>
          <a:p>
            <a:pPr/>
          </a:p>
        </p:txBody>
      </p:sp>
      <p:sp>
        <p:nvSpPr>
          <p:cNvPr id="271" name="Pătrat"/>
          <p:cNvSpPr/>
          <p:nvPr/>
        </p:nvSpPr>
        <p:spPr>
          <a:xfrm>
            <a:off x="5451635" y="5132672"/>
            <a:ext cx="1270001" cy="1270001"/>
          </a:xfrm>
          <a:prstGeom prst="rect">
            <a:avLst/>
          </a:prstGeom>
          <a:solidFill>
            <a:srgbClr val="FFFFFF"/>
          </a:solidFill>
          <a:ln w="12700">
            <a:miter lim="400000"/>
          </a:ln>
        </p:spPr>
        <p:txBody>
          <a:bodyPr lIns="50800" tIns="50800" rIns="50800" bIns="50800" anchor="ctr"/>
          <a:lstStyle/>
          <a:p>
            <a:pPr/>
          </a:p>
        </p:txBody>
      </p:sp>
      <p:sp>
        <p:nvSpPr>
          <p:cNvPr id="272" name="Pătrat"/>
          <p:cNvSpPr/>
          <p:nvPr/>
        </p:nvSpPr>
        <p:spPr>
          <a:xfrm>
            <a:off x="9080792" y="8503732"/>
            <a:ext cx="1270001" cy="1270001"/>
          </a:xfrm>
          <a:prstGeom prst="rect">
            <a:avLst/>
          </a:prstGeom>
          <a:solidFill>
            <a:srgbClr val="FFFFFF"/>
          </a:solidFill>
          <a:ln w="12700">
            <a:miter lim="400000"/>
          </a:ln>
        </p:spPr>
        <p:txBody>
          <a:bodyPr lIns="50800" tIns="50800" rIns="50800" bIns="50800" anchor="ctr"/>
          <a:lstStyle/>
          <a:p>
            <a:pPr/>
          </a:p>
        </p:txBody>
      </p:sp>
      <p:sp>
        <p:nvSpPr>
          <p:cNvPr id="273" name="Pătrat"/>
          <p:cNvSpPr/>
          <p:nvPr/>
        </p:nvSpPr>
        <p:spPr>
          <a:xfrm>
            <a:off x="15897824" y="8503732"/>
            <a:ext cx="1270001" cy="1270001"/>
          </a:xfrm>
          <a:prstGeom prst="rect">
            <a:avLst/>
          </a:prstGeom>
          <a:solidFill>
            <a:srgbClr val="FFFFFF"/>
          </a:solidFill>
          <a:ln w="12700">
            <a:miter lim="400000"/>
          </a:ln>
        </p:spPr>
        <p:txBody>
          <a:bodyPr lIns="50800" tIns="50800" rIns="50800" bIns="50800" anchor="ctr"/>
          <a:lstStyle/>
          <a:p>
            <a:pPr/>
          </a:p>
        </p:txBody>
      </p:sp>
      <p:sp>
        <p:nvSpPr>
          <p:cNvPr id="274" name="X1"/>
          <p:cNvSpPr txBox="1"/>
          <p:nvPr/>
        </p:nvSpPr>
        <p:spPr>
          <a:xfrm>
            <a:off x="17439075" y="8488443"/>
            <a:ext cx="73345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X1</a:t>
            </a:r>
          </a:p>
        </p:txBody>
      </p:sp>
      <p:sp>
        <p:nvSpPr>
          <p:cNvPr id="275" name="X2"/>
          <p:cNvSpPr txBox="1"/>
          <p:nvPr/>
        </p:nvSpPr>
        <p:spPr>
          <a:xfrm>
            <a:off x="5813551" y="131609"/>
            <a:ext cx="8334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X2</a:t>
            </a:r>
          </a:p>
        </p:txBody>
      </p:sp>
      <p:sp>
        <p:nvSpPr>
          <p:cNvPr id="276" name="Ecuație"/>
          <p:cNvSpPr txBox="1"/>
          <p:nvPr/>
        </p:nvSpPr>
        <p:spPr>
          <a:xfrm>
            <a:off x="9701338" y="8553425"/>
            <a:ext cx="760140" cy="5045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A</m:t>
                      </m:r>
                    </m:sub>
                  </m:sSub>
                </m:oMath>
              </m:oMathPara>
            </a14:m>
            <a:endParaRPr sz="4400"/>
          </a:p>
        </p:txBody>
      </p:sp>
      <p:sp>
        <p:nvSpPr>
          <p:cNvPr id="277" name="Ecuație"/>
          <p:cNvSpPr txBox="1"/>
          <p:nvPr/>
        </p:nvSpPr>
        <p:spPr>
          <a:xfrm>
            <a:off x="16152755" y="8553425"/>
            <a:ext cx="769661" cy="5045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B</m:t>
                      </m:r>
                    </m:sub>
                  </m:sSub>
                </m:oMath>
              </m:oMathPara>
            </a14:m>
            <a:endParaRPr sz="4400"/>
          </a:p>
        </p:txBody>
      </p:sp>
      <p:sp>
        <p:nvSpPr>
          <p:cNvPr id="278" name="Ecuație"/>
          <p:cNvSpPr txBox="1"/>
          <p:nvPr/>
        </p:nvSpPr>
        <p:spPr>
          <a:xfrm>
            <a:off x="5850220" y="5515374"/>
            <a:ext cx="768049" cy="5045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A</m:t>
                      </m:r>
                    </m:sub>
                  </m:sSub>
                </m:oMath>
              </m:oMathPara>
            </a14:m>
            <a:endParaRPr sz="4400"/>
          </a:p>
        </p:txBody>
      </p:sp>
      <p:sp>
        <p:nvSpPr>
          <p:cNvPr id="279" name="Ecuație"/>
          <p:cNvSpPr txBox="1"/>
          <p:nvPr/>
        </p:nvSpPr>
        <p:spPr>
          <a:xfrm>
            <a:off x="5850220" y="1507559"/>
            <a:ext cx="769661" cy="5045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B</m:t>
                      </m:r>
                    </m:sub>
                  </m:sSub>
                </m:oMath>
              </m:oMathPara>
            </a14:m>
            <a:endParaRPr sz="4400"/>
          </a:p>
        </p:txBody>
      </p:sp>
      <p:sp>
        <p:nvSpPr>
          <p:cNvPr id="280" name="În general, sunt două tipuri mari și late:"/>
          <p:cNvSpPr txBox="1"/>
          <p:nvPr>
            <p:ph type="body" sz="quarter" idx="1"/>
          </p:nvPr>
        </p:nvSpPr>
        <p:spPr>
          <a:xfrm>
            <a:off x="732269" y="9444352"/>
            <a:ext cx="21948577" cy="1257184"/>
          </a:xfrm>
          <a:prstGeom prst="rect">
            <a:avLst/>
          </a:prstGeom>
        </p:spPr>
        <p:txBody>
          <a:bodyPr/>
          <a:lstStyle/>
          <a:p>
            <a:pPr/>
            <a:r>
              <a:t>Avem două puncte de date, (X1A,X2A) și (X1B,X2B)</a:t>
            </a:r>
          </a:p>
        </p:txBody>
      </p:sp>
      <p:sp>
        <p:nvSpPr>
          <p:cNvPr id="281" name="În general, sunt două tipuri mari și late:"/>
          <p:cNvSpPr txBox="1"/>
          <p:nvPr/>
        </p:nvSpPr>
        <p:spPr>
          <a:xfrm>
            <a:off x="732269" y="10469524"/>
            <a:ext cx="21948577" cy="11494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Distanța dintre ele poate fi calculată ca distanța euclideană:</a:t>
            </a:r>
          </a:p>
        </p:txBody>
      </p:sp>
      <p:sp>
        <p:nvSpPr>
          <p:cNvPr id="282" name="Ecuație"/>
          <p:cNvSpPr txBox="1"/>
          <p:nvPr/>
        </p:nvSpPr>
        <p:spPr>
          <a:xfrm>
            <a:off x="16598365" y="10368491"/>
            <a:ext cx="7630551" cy="1032105"/>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d</m:t>
                  </m:r>
                  <m:r>
                    <a:rPr xmlns:a="http://schemas.openxmlformats.org/drawingml/2006/main" sz="4400" i="1">
                      <a:solidFill>
                        <a:srgbClr val="000000"/>
                      </a:solidFill>
                      <a:latin typeface="Cambria Math" panose="02040503050406030204" pitchFamily="18" charset="0"/>
                    </a:rPr>
                    <m:t>=</m:t>
                  </m:r>
                  <m:rad>
                    <m:radPr>
                      <m:ctrlPr>
                        <a:rPr xmlns:a="http://schemas.openxmlformats.org/drawingml/2006/main" sz="4400" i="1">
                          <a:solidFill>
                            <a:srgbClr val="000000"/>
                          </a:solidFill>
                          <a:latin typeface="Cambria Math" panose="02040503050406030204" pitchFamily="18" charset="0"/>
                        </a:rPr>
                      </m:ctrlPr>
                      <m:degHide m:val="on"/>
                    </m:radPr>
                    <m:deg/>
                    <m:e>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B</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A</m:t>
                          </m:r>
                        </m:sub>
                      </m:sSub>
                      <m:sSup>
                        <m:e>
                          <m:r>
                            <a:rPr xmlns:a="http://schemas.openxmlformats.org/drawingml/2006/main" sz="4400" i="1">
                              <a:solidFill>
                                <a:srgbClr val="000000"/>
                              </a:solidFill>
                              <a:latin typeface="Cambria Math" panose="02040503050406030204" pitchFamily="18" charset="0"/>
                            </a:rPr>
                            <m:t>)</m:t>
                          </m:r>
                        </m:e>
                        <m:sup>
                          <m:r>
                            <a:rPr xmlns:a="http://schemas.openxmlformats.org/drawingml/2006/main" sz="4400" i="1">
                              <a:solidFill>
                                <a:srgbClr val="000000"/>
                              </a:solidFill>
                              <a:latin typeface="Cambria Math" panose="02040503050406030204" pitchFamily="18" charset="0"/>
                            </a:rPr>
                            <m:t>2</m:t>
                          </m:r>
                        </m:sup>
                      </m:sSup>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B</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A</m:t>
                          </m:r>
                        </m:sub>
                      </m:sSub>
                      <m:sSup>
                        <m:e>
                          <m:r>
                            <a:rPr xmlns:a="http://schemas.openxmlformats.org/drawingml/2006/main" sz="4400" i="1">
                              <a:solidFill>
                                <a:srgbClr val="000000"/>
                              </a:solidFill>
                              <a:latin typeface="Cambria Math" panose="02040503050406030204" pitchFamily="18" charset="0"/>
                            </a:rPr>
                            <m:t>)</m:t>
                          </m:r>
                        </m:e>
                        <m:sup>
                          <m:r>
                            <a:rPr xmlns:a="http://schemas.openxmlformats.org/drawingml/2006/main" sz="4400" i="1">
                              <a:solidFill>
                                <a:srgbClr val="000000"/>
                              </a:solidFill>
                              <a:latin typeface="Cambria Math" panose="02040503050406030204" pitchFamily="18" charset="0"/>
                            </a:rPr>
                            <m:t>2</m:t>
                          </m:r>
                        </m:sup>
                      </m:sSup>
                    </m:e>
                  </m:rad>
                </m:oMath>
              </m:oMathPara>
            </a14:m>
            <a:endParaRPr sz="4400"/>
          </a:p>
        </p:txBody>
      </p:sp>
      <p:sp>
        <p:nvSpPr>
          <p:cNvPr id="283" name="În general, sunt două tipuri mari și late:"/>
          <p:cNvSpPr txBox="1"/>
          <p:nvPr/>
        </p:nvSpPr>
        <p:spPr>
          <a:xfrm>
            <a:off x="732269" y="11551658"/>
            <a:ext cx="23720871" cy="165259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latin typeface="Canela Text Regular"/>
                <a:ea typeface="Canela Text Regular"/>
                <a:cs typeface="Canela Text Regular"/>
                <a:sym typeface="Canela Text Regular"/>
              </a:defRPr>
            </a:lvl1pPr>
          </a:lstStyle>
          <a:p>
            <a:pPr/>
            <a:r>
              <a:t>Observăm că dacă X1A=X1B și X2A=X2B, cele două puncte sunt de fapt același punct și atunci distanța e zero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80"/>
                                        </p:tgtEl>
                                        <p:attrNameLst>
                                          <p:attrName>style.visibility</p:attrName>
                                        </p:attrNameLst>
                                      </p:cBhvr>
                                      <p:to>
                                        <p:strVal val="visible"/>
                                      </p:to>
                                    </p:set>
                                    <p:anim calcmode="lin" valueType="num">
                                      <p:cBhvr>
                                        <p:cTn id="7" dur="1000" fill="hold"/>
                                        <p:tgtEl>
                                          <p:spTgt spid="280"/>
                                        </p:tgtEl>
                                        <p:attrNameLst>
                                          <p:attrName>ppt_x</p:attrName>
                                        </p:attrNameLst>
                                      </p:cBhvr>
                                      <p:tavLst>
                                        <p:tav tm="0">
                                          <p:val>
                                            <p:strVal val="0-#ppt_w/2"/>
                                          </p:val>
                                        </p:tav>
                                        <p:tav tm="100000">
                                          <p:val>
                                            <p:strVal val="#ppt_x"/>
                                          </p:val>
                                        </p:tav>
                                      </p:tavLst>
                                    </p:anim>
                                    <p:anim calcmode="lin" valueType="num">
                                      <p:cBhvr>
                                        <p:cTn id="8" dur="1000" fill="hold"/>
                                        <p:tgtEl>
                                          <p:spTgt spid="2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81"/>
                                        </p:tgtEl>
                                        <p:attrNameLst>
                                          <p:attrName>style.visibility</p:attrName>
                                        </p:attrNameLst>
                                      </p:cBhvr>
                                      <p:to>
                                        <p:strVal val="visible"/>
                                      </p:to>
                                    </p:set>
                                    <p:anim calcmode="lin" valueType="num">
                                      <p:cBhvr>
                                        <p:cTn id="13" dur="1000" fill="hold"/>
                                        <p:tgtEl>
                                          <p:spTgt spid="281"/>
                                        </p:tgtEl>
                                        <p:attrNameLst>
                                          <p:attrName>ppt_x</p:attrName>
                                        </p:attrNameLst>
                                      </p:cBhvr>
                                      <p:tavLst>
                                        <p:tav tm="0">
                                          <p:val>
                                            <p:strVal val="0-#ppt_w/2"/>
                                          </p:val>
                                        </p:tav>
                                        <p:tav tm="100000">
                                          <p:val>
                                            <p:strVal val="#ppt_x"/>
                                          </p:val>
                                        </p:tav>
                                      </p:tavLst>
                                    </p:anim>
                                    <p:anim calcmode="lin" valueType="num">
                                      <p:cBhvr>
                                        <p:cTn id="14" dur="1000" fill="hold"/>
                                        <p:tgtEl>
                                          <p:spTgt spid="281"/>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Subtype="8" presetID="2" grpId="3" fill="hold">
                                  <p:stCondLst>
                                    <p:cond delay="0"/>
                                  </p:stCondLst>
                                  <p:iterate type="el" backwards="0">
                                    <p:tmAbs val="0"/>
                                  </p:iterate>
                                  <p:childTnLst>
                                    <p:set>
                                      <p:cBhvr>
                                        <p:cTn id="17" fill="hold"/>
                                        <p:tgtEl>
                                          <p:spTgt spid="282"/>
                                        </p:tgtEl>
                                        <p:attrNameLst>
                                          <p:attrName>style.visibility</p:attrName>
                                        </p:attrNameLst>
                                      </p:cBhvr>
                                      <p:to>
                                        <p:strVal val="visible"/>
                                      </p:to>
                                    </p:set>
                                    <p:anim calcmode="lin" valueType="num">
                                      <p:cBhvr>
                                        <p:cTn id="18" dur="1000" fill="hold"/>
                                        <p:tgtEl>
                                          <p:spTgt spid="282"/>
                                        </p:tgtEl>
                                        <p:attrNameLst>
                                          <p:attrName>ppt_x</p:attrName>
                                        </p:attrNameLst>
                                      </p:cBhvr>
                                      <p:tavLst>
                                        <p:tav tm="0">
                                          <p:val>
                                            <p:strVal val="0-#ppt_w/2"/>
                                          </p:val>
                                        </p:tav>
                                        <p:tav tm="100000">
                                          <p:val>
                                            <p:strVal val="#ppt_x"/>
                                          </p:val>
                                        </p:tav>
                                      </p:tavLst>
                                    </p:anim>
                                    <p:anim calcmode="lin" valueType="num">
                                      <p:cBhvr>
                                        <p:cTn id="19" dur="1000" fill="hold"/>
                                        <p:tgtEl>
                                          <p:spTgt spid="28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8" presetID="2" grpId="4" fill="hold">
                                  <p:stCondLst>
                                    <p:cond delay="0"/>
                                  </p:stCondLst>
                                  <p:iterate type="el" backwards="0">
                                    <p:tmAbs val="0"/>
                                  </p:iterate>
                                  <p:childTnLst>
                                    <p:set>
                                      <p:cBhvr>
                                        <p:cTn id="23" fill="hold"/>
                                        <p:tgtEl>
                                          <p:spTgt spid="283"/>
                                        </p:tgtEl>
                                        <p:attrNameLst>
                                          <p:attrName>style.visibility</p:attrName>
                                        </p:attrNameLst>
                                      </p:cBhvr>
                                      <p:to>
                                        <p:strVal val="visible"/>
                                      </p:to>
                                    </p:set>
                                    <p:anim calcmode="lin" valueType="num">
                                      <p:cBhvr>
                                        <p:cTn id="24" dur="1000" fill="hold"/>
                                        <p:tgtEl>
                                          <p:spTgt spid="283"/>
                                        </p:tgtEl>
                                        <p:attrNameLst>
                                          <p:attrName>ppt_x</p:attrName>
                                        </p:attrNameLst>
                                      </p:cBhvr>
                                      <p:tavLst>
                                        <p:tav tm="0">
                                          <p:val>
                                            <p:strVal val="0-#ppt_w/2"/>
                                          </p:val>
                                        </p:tav>
                                        <p:tav tm="100000">
                                          <p:val>
                                            <p:strVal val="#ppt_x"/>
                                          </p:val>
                                        </p:tav>
                                      </p:tavLst>
                                    </p:anim>
                                    <p:anim calcmode="lin" valueType="num">
                                      <p:cBhvr>
                                        <p:cTn id="25" dur="1000" fill="hold"/>
                                        <p:tgtEl>
                                          <p:spTgt spid="2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3" grpId="4"/>
      <p:bldP build="whole" bldLvl="1" animBg="1" rev="0" advAuto="0" spid="280" grpId="1"/>
      <p:bldP build="whole" bldLvl="1" animBg="1" rev="0" advAuto="0" spid="282" grpId="3"/>
      <p:bldP build="whole" bldLvl="1" animBg="1" rev="0" advAuto="0" spid="281"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8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87" name="Imagine" descr="Imagine"/>
          <p:cNvPicPr>
            <a:picLocks noChangeAspect="1"/>
          </p:cNvPicPr>
          <p:nvPr/>
        </p:nvPicPr>
        <p:blipFill>
          <a:blip r:embed="rId2">
            <a:extLst/>
          </a:blip>
          <a:stretch>
            <a:fillRect/>
          </a:stretch>
        </p:blipFill>
        <p:spPr>
          <a:xfrm>
            <a:off x="1632523" y="695112"/>
            <a:ext cx="10101071" cy="5997511"/>
          </a:xfrm>
          <a:prstGeom prst="rect">
            <a:avLst/>
          </a:prstGeom>
          <a:ln w="12700">
            <a:miter lim="400000"/>
          </a:ln>
        </p:spPr>
      </p:pic>
      <p:sp>
        <p:nvSpPr>
          <p:cNvPr id="288" name="Pătrat"/>
          <p:cNvSpPr/>
          <p:nvPr/>
        </p:nvSpPr>
        <p:spPr>
          <a:xfrm>
            <a:off x="1275267" y="585838"/>
            <a:ext cx="1270001" cy="1270001"/>
          </a:xfrm>
          <a:prstGeom prst="rect">
            <a:avLst/>
          </a:prstGeom>
          <a:solidFill>
            <a:srgbClr val="FFFFFF"/>
          </a:solidFill>
          <a:ln w="12700">
            <a:miter lim="400000"/>
          </a:ln>
        </p:spPr>
        <p:txBody>
          <a:bodyPr lIns="50800" tIns="50800" rIns="50800" bIns="50800" anchor="ctr"/>
          <a:lstStyle/>
          <a:p>
            <a:pPr/>
          </a:p>
        </p:txBody>
      </p:sp>
      <p:sp>
        <p:nvSpPr>
          <p:cNvPr id="289" name="Pătrat"/>
          <p:cNvSpPr/>
          <p:nvPr/>
        </p:nvSpPr>
        <p:spPr>
          <a:xfrm>
            <a:off x="1275267" y="4907935"/>
            <a:ext cx="1270001" cy="1270001"/>
          </a:xfrm>
          <a:prstGeom prst="rect">
            <a:avLst/>
          </a:prstGeom>
          <a:solidFill>
            <a:srgbClr val="FFFFFF"/>
          </a:solidFill>
          <a:ln w="12700">
            <a:miter lim="400000"/>
          </a:ln>
        </p:spPr>
        <p:txBody>
          <a:bodyPr lIns="50800" tIns="50800" rIns="50800" bIns="50800" anchor="ctr"/>
          <a:lstStyle/>
          <a:p>
            <a:pPr/>
          </a:p>
        </p:txBody>
      </p:sp>
      <p:sp>
        <p:nvSpPr>
          <p:cNvPr id="290" name="Pătrat"/>
          <p:cNvSpPr/>
          <p:nvPr/>
        </p:nvSpPr>
        <p:spPr>
          <a:xfrm>
            <a:off x="4754598" y="6031622"/>
            <a:ext cx="1270001" cy="1270001"/>
          </a:xfrm>
          <a:prstGeom prst="rect">
            <a:avLst/>
          </a:prstGeom>
          <a:solidFill>
            <a:srgbClr val="FFFFFF"/>
          </a:solidFill>
          <a:ln w="12700">
            <a:miter lim="400000"/>
          </a:ln>
        </p:spPr>
        <p:txBody>
          <a:bodyPr lIns="50800" tIns="50800" rIns="50800" bIns="50800" anchor="ctr"/>
          <a:lstStyle/>
          <a:p>
            <a:pPr/>
          </a:p>
        </p:txBody>
      </p:sp>
      <p:sp>
        <p:nvSpPr>
          <p:cNvPr id="291" name="Pătrat"/>
          <p:cNvSpPr/>
          <p:nvPr/>
        </p:nvSpPr>
        <p:spPr>
          <a:xfrm>
            <a:off x="11721456" y="8278995"/>
            <a:ext cx="1270001" cy="1270001"/>
          </a:xfrm>
          <a:prstGeom prst="rect">
            <a:avLst/>
          </a:prstGeom>
          <a:solidFill>
            <a:srgbClr val="FFFFFF"/>
          </a:solidFill>
          <a:ln w="12700">
            <a:miter lim="400000"/>
          </a:ln>
        </p:spPr>
        <p:txBody>
          <a:bodyPr lIns="50800" tIns="50800" rIns="50800" bIns="50800" anchor="ctr"/>
          <a:lstStyle/>
          <a:p>
            <a:pPr/>
          </a:p>
        </p:txBody>
      </p:sp>
      <p:sp>
        <p:nvSpPr>
          <p:cNvPr id="292" name="X1"/>
          <p:cNvSpPr txBox="1"/>
          <p:nvPr/>
        </p:nvSpPr>
        <p:spPr>
          <a:xfrm>
            <a:off x="10884236" y="5903963"/>
            <a:ext cx="73345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X1</a:t>
            </a:r>
          </a:p>
        </p:txBody>
      </p:sp>
      <p:sp>
        <p:nvSpPr>
          <p:cNvPr id="293" name="X2"/>
          <p:cNvSpPr txBox="1"/>
          <p:nvPr/>
        </p:nvSpPr>
        <p:spPr>
          <a:xfrm>
            <a:off x="1637182" y="-93128"/>
            <a:ext cx="8334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X2</a:t>
            </a:r>
          </a:p>
        </p:txBody>
      </p:sp>
      <p:sp>
        <p:nvSpPr>
          <p:cNvPr id="294" name="Ecuație"/>
          <p:cNvSpPr txBox="1"/>
          <p:nvPr/>
        </p:nvSpPr>
        <p:spPr>
          <a:xfrm>
            <a:off x="5009529" y="6118771"/>
            <a:ext cx="760139" cy="5045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A</m:t>
                      </m:r>
                    </m:sub>
                  </m:sSub>
                </m:oMath>
              </m:oMathPara>
            </a14:m>
            <a:endParaRPr sz="4400"/>
          </a:p>
        </p:txBody>
      </p:sp>
      <p:sp>
        <p:nvSpPr>
          <p:cNvPr id="295" name="În general, sunt două tipuri mari și late:"/>
          <p:cNvSpPr txBox="1"/>
          <p:nvPr>
            <p:ph type="body" sz="quarter" idx="1"/>
          </p:nvPr>
        </p:nvSpPr>
        <p:spPr>
          <a:xfrm>
            <a:off x="657356" y="7139809"/>
            <a:ext cx="21948578" cy="1257184"/>
          </a:xfrm>
          <a:prstGeom prst="rect">
            <a:avLst/>
          </a:prstGeom>
        </p:spPr>
        <p:txBody>
          <a:bodyPr/>
          <a:lstStyle/>
          <a:p>
            <a:pPr/>
            <a:r>
              <a:t>Avem două puncte de date, (X1A,X2A) și (X1B,X2B)</a:t>
            </a:r>
          </a:p>
        </p:txBody>
      </p:sp>
      <p:sp>
        <p:nvSpPr>
          <p:cNvPr id="296" name="În general, sunt două tipuri mari și late:"/>
          <p:cNvSpPr txBox="1"/>
          <p:nvPr/>
        </p:nvSpPr>
        <p:spPr>
          <a:xfrm>
            <a:off x="657356" y="8290085"/>
            <a:ext cx="21948578" cy="11494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Distanța dintre ele poate fi calculată ca distanța euclideană:</a:t>
            </a:r>
          </a:p>
        </p:txBody>
      </p:sp>
      <p:sp>
        <p:nvSpPr>
          <p:cNvPr id="297" name="Ecuație"/>
          <p:cNvSpPr txBox="1"/>
          <p:nvPr/>
        </p:nvSpPr>
        <p:spPr>
          <a:xfrm>
            <a:off x="16504724" y="8289673"/>
            <a:ext cx="7630551" cy="1032104"/>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400" i="1">
                      <a:solidFill>
                        <a:srgbClr val="000000"/>
                      </a:solidFill>
                      <a:latin typeface="Cambria Math" panose="02040503050406030204" pitchFamily="18" charset="0"/>
                    </a:rPr>
                    <m:t>d</m:t>
                  </m:r>
                  <m:r>
                    <a:rPr xmlns:a="http://schemas.openxmlformats.org/drawingml/2006/main" sz="4400" i="1">
                      <a:solidFill>
                        <a:srgbClr val="000000"/>
                      </a:solidFill>
                      <a:latin typeface="Cambria Math" panose="02040503050406030204" pitchFamily="18" charset="0"/>
                    </a:rPr>
                    <m:t>=</m:t>
                  </m:r>
                  <m:rad>
                    <m:radPr>
                      <m:ctrlPr>
                        <a:rPr xmlns:a="http://schemas.openxmlformats.org/drawingml/2006/main" sz="4400" i="1">
                          <a:solidFill>
                            <a:srgbClr val="000000"/>
                          </a:solidFill>
                          <a:latin typeface="Cambria Math" panose="02040503050406030204" pitchFamily="18" charset="0"/>
                        </a:rPr>
                      </m:ctrlPr>
                      <m:degHide m:val="on"/>
                    </m:radPr>
                    <m:deg/>
                    <m:e>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B</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A</m:t>
                          </m:r>
                        </m:sub>
                      </m:sSub>
                      <m:sSup>
                        <m:e>
                          <m:r>
                            <a:rPr xmlns:a="http://schemas.openxmlformats.org/drawingml/2006/main" sz="4400" i="1">
                              <a:solidFill>
                                <a:srgbClr val="000000"/>
                              </a:solidFill>
                              <a:latin typeface="Cambria Math" panose="02040503050406030204" pitchFamily="18" charset="0"/>
                            </a:rPr>
                            <m:t>)</m:t>
                          </m:r>
                        </m:e>
                        <m:sup>
                          <m:r>
                            <a:rPr xmlns:a="http://schemas.openxmlformats.org/drawingml/2006/main" sz="4400" i="1">
                              <a:solidFill>
                                <a:srgbClr val="000000"/>
                              </a:solidFill>
                              <a:latin typeface="Cambria Math" panose="02040503050406030204" pitchFamily="18" charset="0"/>
                            </a:rPr>
                            <m:t>2</m:t>
                          </m:r>
                        </m:sup>
                      </m:sSup>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B</m:t>
                          </m:r>
                        </m:sub>
                      </m:sSub>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A</m:t>
                          </m:r>
                        </m:sub>
                      </m:sSub>
                      <m:sSup>
                        <m:e>
                          <m:r>
                            <a:rPr xmlns:a="http://schemas.openxmlformats.org/drawingml/2006/main" sz="4400" i="1">
                              <a:solidFill>
                                <a:srgbClr val="000000"/>
                              </a:solidFill>
                              <a:latin typeface="Cambria Math" panose="02040503050406030204" pitchFamily="18" charset="0"/>
                            </a:rPr>
                            <m:t>)</m:t>
                          </m:r>
                        </m:e>
                        <m:sup>
                          <m:r>
                            <a:rPr xmlns:a="http://schemas.openxmlformats.org/drawingml/2006/main" sz="4400" i="1">
                              <a:solidFill>
                                <a:srgbClr val="000000"/>
                              </a:solidFill>
                              <a:latin typeface="Cambria Math" panose="02040503050406030204" pitchFamily="18" charset="0"/>
                            </a:rPr>
                            <m:t>2</m:t>
                          </m:r>
                        </m:sup>
                      </m:sSup>
                    </m:e>
                  </m:rad>
                </m:oMath>
              </m:oMathPara>
            </a14:m>
            <a:endParaRPr sz="4400"/>
          </a:p>
        </p:txBody>
      </p:sp>
      <p:sp>
        <p:nvSpPr>
          <p:cNvPr id="298" name="În general, sunt două tipuri mari și late:"/>
          <p:cNvSpPr txBox="1"/>
          <p:nvPr/>
        </p:nvSpPr>
        <p:spPr>
          <a:xfrm>
            <a:off x="713541" y="9467663"/>
            <a:ext cx="23720870" cy="165259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latin typeface="Canela Text Regular"/>
                <a:ea typeface="Canela Text Regular"/>
                <a:cs typeface="Canela Text Regular"/>
                <a:sym typeface="Canela Text Regular"/>
              </a:defRPr>
            </a:lvl1pPr>
          </a:lstStyle>
          <a:p>
            <a:pPr/>
            <a:r>
              <a:t>Observăm că dacă X1A=X1B și X2A=X2B, cele două puncte sunt de fapt același punct și atunci distanța e zero</a:t>
            </a:r>
          </a:p>
        </p:txBody>
      </p:sp>
      <p:sp>
        <p:nvSpPr>
          <p:cNvPr id="299" name="Pătrat"/>
          <p:cNvSpPr/>
          <p:nvPr/>
        </p:nvSpPr>
        <p:spPr>
          <a:xfrm>
            <a:off x="8740054" y="6031622"/>
            <a:ext cx="1270001" cy="1270001"/>
          </a:xfrm>
          <a:prstGeom prst="rect">
            <a:avLst/>
          </a:prstGeom>
          <a:solidFill>
            <a:srgbClr val="FFFFFF"/>
          </a:solidFill>
          <a:ln w="12700">
            <a:miter lim="400000"/>
          </a:ln>
        </p:spPr>
        <p:txBody>
          <a:bodyPr lIns="50800" tIns="50800" rIns="50800" bIns="50800" anchor="ctr"/>
          <a:lstStyle/>
          <a:p>
            <a:pPr/>
          </a:p>
        </p:txBody>
      </p:sp>
      <p:sp>
        <p:nvSpPr>
          <p:cNvPr id="300" name="Pătrat"/>
          <p:cNvSpPr/>
          <p:nvPr/>
        </p:nvSpPr>
        <p:spPr>
          <a:xfrm>
            <a:off x="2034925" y="3862823"/>
            <a:ext cx="1270001" cy="1270001"/>
          </a:xfrm>
          <a:prstGeom prst="rect">
            <a:avLst/>
          </a:prstGeom>
          <a:solidFill>
            <a:srgbClr val="FFFFFF"/>
          </a:solidFill>
          <a:ln w="12700">
            <a:miter lim="400000"/>
          </a:ln>
        </p:spPr>
        <p:txBody>
          <a:bodyPr lIns="50800" tIns="50800" rIns="50800" bIns="50800" anchor="ctr"/>
          <a:lstStyle/>
          <a:p>
            <a:pPr/>
          </a:p>
        </p:txBody>
      </p:sp>
      <p:sp>
        <p:nvSpPr>
          <p:cNvPr id="301" name="Pătrat"/>
          <p:cNvSpPr/>
          <p:nvPr/>
        </p:nvSpPr>
        <p:spPr>
          <a:xfrm>
            <a:off x="2034925" y="1424874"/>
            <a:ext cx="1270001" cy="1270001"/>
          </a:xfrm>
          <a:prstGeom prst="rect">
            <a:avLst/>
          </a:prstGeom>
          <a:solidFill>
            <a:srgbClr val="FFFFFF"/>
          </a:solidFill>
          <a:ln w="12700">
            <a:miter lim="400000"/>
          </a:ln>
        </p:spPr>
        <p:txBody>
          <a:bodyPr lIns="50800" tIns="50800" rIns="50800" bIns="50800" anchor="ctr"/>
          <a:lstStyle/>
          <a:p>
            <a:pPr/>
          </a:p>
        </p:txBody>
      </p:sp>
      <p:sp>
        <p:nvSpPr>
          <p:cNvPr id="302" name="Ecuație"/>
          <p:cNvSpPr txBox="1"/>
          <p:nvPr/>
        </p:nvSpPr>
        <p:spPr>
          <a:xfrm>
            <a:off x="2516616" y="1545015"/>
            <a:ext cx="769661" cy="5045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B</m:t>
                      </m:r>
                    </m:sub>
                  </m:sSub>
                </m:oMath>
              </m:oMathPara>
            </a14:m>
            <a:endParaRPr sz="4400"/>
          </a:p>
        </p:txBody>
      </p:sp>
      <p:sp>
        <p:nvSpPr>
          <p:cNvPr id="303" name="Ecuație"/>
          <p:cNvSpPr txBox="1"/>
          <p:nvPr/>
        </p:nvSpPr>
        <p:spPr>
          <a:xfrm>
            <a:off x="2285901" y="4245525"/>
            <a:ext cx="768049" cy="50459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2</m:t>
                      </m:r>
                      <m:r>
                        <a:rPr xmlns:a="http://schemas.openxmlformats.org/drawingml/2006/main" sz="4400" i="1">
                          <a:solidFill>
                            <a:srgbClr val="000000"/>
                          </a:solidFill>
                          <a:latin typeface="Cambria Math" panose="02040503050406030204" pitchFamily="18" charset="0"/>
                        </a:rPr>
                        <m:t>A</m:t>
                      </m:r>
                    </m:sub>
                  </m:sSub>
                </m:oMath>
              </m:oMathPara>
            </a14:m>
            <a:endParaRPr sz="4400"/>
          </a:p>
        </p:txBody>
      </p:sp>
      <p:sp>
        <p:nvSpPr>
          <p:cNvPr id="304" name="Ecuație"/>
          <p:cNvSpPr txBox="1"/>
          <p:nvPr/>
        </p:nvSpPr>
        <p:spPr>
          <a:xfrm>
            <a:off x="9185898" y="6118771"/>
            <a:ext cx="769661" cy="5045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1</m:t>
                      </m:r>
                      <m:r>
                        <a:rPr xmlns:a="http://schemas.openxmlformats.org/drawingml/2006/main" sz="4400" i="1">
                          <a:solidFill>
                            <a:srgbClr val="000000"/>
                          </a:solidFill>
                          <a:latin typeface="Cambria Math" panose="02040503050406030204" pitchFamily="18" charset="0"/>
                        </a:rPr>
                        <m:t>B</m:t>
                      </m:r>
                    </m:sub>
                  </m:sSub>
                </m:oMath>
              </m:oMathPara>
            </a14:m>
            <a:endParaRPr sz="4400"/>
          </a:p>
        </p:txBody>
      </p:sp>
      <p:sp>
        <p:nvSpPr>
          <p:cNvPr id="305" name="În general, sunt două tipuri mari și late:"/>
          <p:cNvSpPr txBox="1"/>
          <p:nvPr/>
        </p:nvSpPr>
        <p:spPr>
          <a:xfrm>
            <a:off x="713541" y="11148414"/>
            <a:ext cx="23720870" cy="16525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Are sens: dacă punctele prezintă exact aceleași caracteristici, atunci sunt maxim de similare</a:t>
            </a:r>
          </a:p>
        </p:txBody>
      </p:sp>
      <p:sp>
        <p:nvSpPr>
          <p:cNvPr id="306" name="În general, sunt două tipuri mari și late:"/>
          <p:cNvSpPr txBox="1"/>
          <p:nvPr/>
        </p:nvSpPr>
        <p:spPr>
          <a:xfrm>
            <a:off x="713541" y="11987082"/>
            <a:ext cx="23720870" cy="165259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latin typeface="Canela Text Regular"/>
                <a:ea typeface="Canela Text Regular"/>
                <a:cs typeface="Canela Text Regular"/>
                <a:sym typeface="Canela Text Regular"/>
              </a:defRPr>
            </a:lvl1pPr>
          </a:lstStyle>
          <a:p>
            <a:pPr/>
            <a:r>
              <a:t>Cu cât distanța dintre două puncte este mai aproape de zero, cu atât ele sunt mai similare din punctul de vedere al caracteristicilor</a:t>
            </a:r>
          </a:p>
        </p:txBody>
      </p:sp>
      <p:pic>
        <p:nvPicPr>
          <p:cNvPr id="307" name="Linie Linie" descr="Linie Linie"/>
          <p:cNvPicPr>
            <a:picLocks noChangeAspect="0"/>
          </p:cNvPicPr>
          <p:nvPr/>
        </p:nvPicPr>
        <p:blipFill>
          <a:blip r:embed="rId3">
            <a:extLst/>
          </a:blip>
          <a:stretch>
            <a:fillRect/>
          </a:stretch>
        </p:blipFill>
        <p:spPr>
          <a:xfrm rot="21600000">
            <a:off x="9521020" y="11923911"/>
            <a:ext cx="7020840" cy="101601"/>
          </a:xfrm>
          <a:prstGeom prst="rect">
            <a:avLst/>
          </a:prstGeom>
        </p:spPr>
      </p:pic>
      <p:pic>
        <p:nvPicPr>
          <p:cNvPr id="309" name="Linie Linie" descr="Linie Linie"/>
          <p:cNvPicPr>
            <a:picLocks noChangeAspect="0"/>
          </p:cNvPicPr>
          <p:nvPr/>
        </p:nvPicPr>
        <p:blipFill>
          <a:blip r:embed="rId4">
            <a:extLst/>
          </a:blip>
          <a:stretch>
            <a:fillRect/>
          </a:stretch>
        </p:blipFill>
        <p:spPr>
          <a:xfrm>
            <a:off x="19801109" y="11923911"/>
            <a:ext cx="4902110" cy="101601"/>
          </a:xfrm>
          <a:prstGeom prst="rect">
            <a:avLst/>
          </a:prstGeom>
        </p:spPr>
      </p:pic>
      <p:pic>
        <p:nvPicPr>
          <p:cNvPr id="311" name="Linie Linie" descr="Linie Linie"/>
          <p:cNvPicPr>
            <a:picLocks noChangeAspect="0"/>
          </p:cNvPicPr>
          <p:nvPr/>
        </p:nvPicPr>
        <p:blipFill>
          <a:blip r:embed="rId5">
            <a:extLst/>
          </a:blip>
          <a:stretch>
            <a:fillRect/>
          </a:stretch>
        </p:blipFill>
        <p:spPr>
          <a:xfrm>
            <a:off x="11839209" y="12829164"/>
            <a:ext cx="4682427" cy="101601"/>
          </a:xfrm>
          <a:prstGeom prst="rect">
            <a:avLst/>
          </a:prstGeom>
        </p:spPr>
      </p:pic>
      <p:pic>
        <p:nvPicPr>
          <p:cNvPr id="313" name="Linie Linie" descr="Linie Linie"/>
          <p:cNvPicPr>
            <a:picLocks noChangeAspect="0"/>
          </p:cNvPicPr>
          <p:nvPr/>
        </p:nvPicPr>
        <p:blipFill>
          <a:blip r:embed="rId6">
            <a:extLst/>
          </a:blip>
          <a:stretch>
            <a:fillRect/>
          </a:stretch>
        </p:blipFill>
        <p:spPr>
          <a:xfrm>
            <a:off x="20230258" y="12762579"/>
            <a:ext cx="323541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05"/>
                                        </p:tgtEl>
                                        <p:attrNameLst>
                                          <p:attrName>style.visibility</p:attrName>
                                        </p:attrNameLst>
                                      </p:cBhvr>
                                      <p:to>
                                        <p:strVal val="visible"/>
                                      </p:to>
                                    </p:set>
                                    <p:anim calcmode="lin" valueType="num">
                                      <p:cBhvr>
                                        <p:cTn id="7" dur="1000" fill="hold"/>
                                        <p:tgtEl>
                                          <p:spTgt spid="305"/>
                                        </p:tgtEl>
                                        <p:attrNameLst>
                                          <p:attrName>ppt_x</p:attrName>
                                        </p:attrNameLst>
                                      </p:cBhvr>
                                      <p:tavLst>
                                        <p:tav tm="0">
                                          <p:val>
                                            <p:strVal val="0-#ppt_w/2"/>
                                          </p:val>
                                        </p:tav>
                                        <p:tav tm="100000">
                                          <p:val>
                                            <p:strVal val="#ppt_x"/>
                                          </p:val>
                                        </p:tav>
                                      </p:tavLst>
                                    </p:anim>
                                    <p:anim calcmode="lin" valueType="num">
                                      <p:cBhvr>
                                        <p:cTn id="8" dur="1000" fill="hold"/>
                                        <p:tgtEl>
                                          <p:spTgt spid="30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07"/>
                                        </p:tgtEl>
                                        <p:attrNameLst>
                                          <p:attrName>style.visibility</p:attrName>
                                        </p:attrNameLst>
                                      </p:cBhvr>
                                      <p:to>
                                        <p:strVal val="visible"/>
                                      </p:to>
                                    </p:set>
                                    <p:animEffect filter="dissolve" transition="in">
                                      <p:cBhvr>
                                        <p:cTn id="12" dur="2000"/>
                                        <p:tgtEl>
                                          <p:spTgt spid="307"/>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309"/>
                                        </p:tgtEl>
                                        <p:attrNameLst>
                                          <p:attrName>style.visibility</p:attrName>
                                        </p:attrNameLst>
                                      </p:cBhvr>
                                      <p:to>
                                        <p:strVal val="visible"/>
                                      </p:to>
                                    </p:set>
                                    <p:animEffect filter="dissolve" transition="in">
                                      <p:cBhvr>
                                        <p:cTn id="16" dur="2000"/>
                                        <p:tgtEl>
                                          <p:spTgt spid="30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306"/>
                                        </p:tgtEl>
                                        <p:attrNameLst>
                                          <p:attrName>style.visibility</p:attrName>
                                        </p:attrNameLst>
                                      </p:cBhvr>
                                      <p:to>
                                        <p:strVal val="visible"/>
                                      </p:to>
                                    </p:set>
                                    <p:anim calcmode="lin" valueType="num">
                                      <p:cBhvr>
                                        <p:cTn id="21" dur="1000" fill="hold"/>
                                        <p:tgtEl>
                                          <p:spTgt spid="306"/>
                                        </p:tgtEl>
                                        <p:attrNameLst>
                                          <p:attrName>ppt_x</p:attrName>
                                        </p:attrNameLst>
                                      </p:cBhvr>
                                      <p:tavLst>
                                        <p:tav tm="0">
                                          <p:val>
                                            <p:strVal val="0-#ppt_w/2"/>
                                          </p:val>
                                        </p:tav>
                                        <p:tav tm="100000">
                                          <p:val>
                                            <p:strVal val="#ppt_x"/>
                                          </p:val>
                                        </p:tav>
                                      </p:tavLst>
                                    </p:anim>
                                    <p:anim calcmode="lin" valueType="num">
                                      <p:cBhvr>
                                        <p:cTn id="22" dur="1000" fill="hold"/>
                                        <p:tgtEl>
                                          <p:spTgt spid="306"/>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311"/>
                                        </p:tgtEl>
                                        <p:attrNameLst>
                                          <p:attrName>style.visibility</p:attrName>
                                        </p:attrNameLst>
                                      </p:cBhvr>
                                      <p:to>
                                        <p:strVal val="visible"/>
                                      </p:to>
                                    </p:set>
                                    <p:animEffect filter="dissolve" transition="in">
                                      <p:cBhvr>
                                        <p:cTn id="26" dur="2000"/>
                                        <p:tgtEl>
                                          <p:spTgt spid="311"/>
                                        </p:tgtEl>
                                      </p:cBhvr>
                                    </p:animEffect>
                                  </p:childTnLst>
                                </p:cTn>
                              </p:par>
                            </p:childTnLst>
                          </p:cTn>
                        </p:par>
                        <p:par>
                          <p:cTn id="27" fill="hold">
                            <p:stCondLst>
                              <p:cond delay="3000"/>
                            </p:stCondLst>
                            <p:childTnLst>
                              <p:par>
                                <p:cTn id="28" presetClass="entr" nodeType="afterEffect" presetID="9" grpId="6" fill="hold">
                                  <p:stCondLst>
                                    <p:cond delay="0"/>
                                  </p:stCondLst>
                                  <p:iterate type="el" backwards="0">
                                    <p:tmAbs val="0"/>
                                  </p:iterate>
                                  <p:childTnLst>
                                    <p:set>
                                      <p:cBhvr>
                                        <p:cTn id="29" fill="hold"/>
                                        <p:tgtEl>
                                          <p:spTgt spid="313"/>
                                        </p:tgtEl>
                                        <p:attrNameLst>
                                          <p:attrName>style.visibility</p:attrName>
                                        </p:attrNameLst>
                                      </p:cBhvr>
                                      <p:to>
                                        <p:strVal val="visible"/>
                                      </p:to>
                                    </p:set>
                                    <p:animEffect filter="dissolve" transition="in">
                                      <p:cBhvr>
                                        <p:cTn id="30" dur="20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9" grpId="3"/>
      <p:bldP build="whole" bldLvl="1" animBg="1" rev="0" advAuto="0" spid="305" grpId="1"/>
      <p:bldP build="whole" bldLvl="1" animBg="1" rev="0" advAuto="0" spid="307" grpId="2"/>
      <p:bldP build="whole" bldLvl="1" animBg="1" rev="0" advAuto="0" spid="306" grpId="4"/>
      <p:bldP build="whole" bldLvl="1" animBg="1" rev="0" advAuto="0" spid="311" grpId="5"/>
      <p:bldP build="whole" bldLvl="1" animBg="1" rev="0" advAuto="0" spid="313" grpId="6"/>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1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18" name="Clusterizarea K-Means"/>
          <p:cNvSpPr txBox="1"/>
          <p:nvPr/>
        </p:nvSpPr>
        <p:spPr>
          <a:xfrm>
            <a:off x="113347" y="5053584"/>
            <a:ext cx="22650328" cy="36088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400">
                <a:latin typeface="Canela Regular"/>
                <a:ea typeface="Canela Regular"/>
                <a:cs typeface="Canela Regular"/>
                <a:sym typeface="Canela Regular"/>
              </a:defRPr>
            </a:lvl1pPr>
          </a:lstStyle>
          <a:p>
            <a:pPr/>
            <a:r>
              <a:t>Clusterizarea K-Means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21"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322" name="În general, sunt două tipuri mari și late:"/>
          <p:cNvSpPr txBox="1"/>
          <p:nvPr>
            <p:ph type="body" sz="quarter" idx="1"/>
          </p:nvPr>
        </p:nvSpPr>
        <p:spPr>
          <a:xfrm>
            <a:off x="658849" y="5182178"/>
            <a:ext cx="21948579" cy="2625428"/>
          </a:xfrm>
          <a:prstGeom prst="rect">
            <a:avLst/>
          </a:prstGeom>
        </p:spPr>
        <p:txBody>
          <a:bodyPr/>
          <a:lstStyle/>
          <a:p>
            <a:pPr/>
            <a:r>
              <a:t>Algoritmul împarte un set de date în grupuri (clustere), astfel încât punctele din același grup să fie cât mai asemănătoare între ele și cât mai diferite față de cele din alte grupuri</a:t>
            </a:r>
          </a:p>
        </p:txBody>
      </p:sp>
      <p:sp>
        <p:nvSpPr>
          <p:cNvPr id="323" name="În general, sunt două tipuri mari și late:"/>
          <p:cNvSpPr txBox="1"/>
          <p:nvPr/>
        </p:nvSpPr>
        <p:spPr>
          <a:xfrm>
            <a:off x="658849" y="7794773"/>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Când folosim K-Means, trebuie să alegem câte grupuri dorim să formăm. Acest număr, „K”, este stabilit de noi (ex: K=3 înseamnă că vrem 3 clustere)</a:t>
            </a:r>
          </a:p>
        </p:txBody>
      </p:sp>
      <p:pic>
        <p:nvPicPr>
          <p:cNvPr id="324" name="Linie Linie" descr="Linie Linie"/>
          <p:cNvPicPr>
            <a:picLocks noChangeAspect="0"/>
          </p:cNvPicPr>
          <p:nvPr/>
        </p:nvPicPr>
        <p:blipFill>
          <a:blip r:embed="rId2">
            <a:extLst/>
          </a:blip>
          <a:stretch>
            <a:fillRect/>
          </a:stretch>
        </p:blipFill>
        <p:spPr>
          <a:xfrm>
            <a:off x="4052411" y="5981407"/>
            <a:ext cx="10457219" cy="101601"/>
          </a:xfrm>
          <a:prstGeom prst="rect">
            <a:avLst/>
          </a:prstGeom>
        </p:spPr>
      </p:pic>
      <p:pic>
        <p:nvPicPr>
          <p:cNvPr id="326" name="Linie Linie" descr="Linie Linie"/>
          <p:cNvPicPr>
            <a:picLocks noChangeAspect="0"/>
          </p:cNvPicPr>
          <p:nvPr/>
        </p:nvPicPr>
        <p:blipFill>
          <a:blip r:embed="rId3">
            <a:extLst/>
          </a:blip>
          <a:stretch>
            <a:fillRect/>
          </a:stretch>
        </p:blipFill>
        <p:spPr>
          <a:xfrm>
            <a:off x="7194637" y="8580518"/>
            <a:ext cx="12271369"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22"/>
                                        </p:tgtEl>
                                        <p:attrNameLst>
                                          <p:attrName>style.visibility</p:attrName>
                                        </p:attrNameLst>
                                      </p:cBhvr>
                                      <p:to>
                                        <p:strVal val="visible"/>
                                      </p:to>
                                    </p:set>
                                    <p:anim calcmode="lin" valueType="num">
                                      <p:cBhvr>
                                        <p:cTn id="7" dur="1000" fill="hold"/>
                                        <p:tgtEl>
                                          <p:spTgt spid="322"/>
                                        </p:tgtEl>
                                        <p:attrNameLst>
                                          <p:attrName>ppt_x</p:attrName>
                                        </p:attrNameLst>
                                      </p:cBhvr>
                                      <p:tavLst>
                                        <p:tav tm="0">
                                          <p:val>
                                            <p:strVal val="0-#ppt_w/2"/>
                                          </p:val>
                                        </p:tav>
                                        <p:tav tm="100000">
                                          <p:val>
                                            <p:strVal val="#ppt_x"/>
                                          </p:val>
                                        </p:tav>
                                      </p:tavLst>
                                    </p:anim>
                                    <p:anim calcmode="lin" valueType="num">
                                      <p:cBhvr>
                                        <p:cTn id="8" dur="1000" fill="hold"/>
                                        <p:tgtEl>
                                          <p:spTgt spid="32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24"/>
                                        </p:tgtEl>
                                        <p:attrNameLst>
                                          <p:attrName>style.visibility</p:attrName>
                                        </p:attrNameLst>
                                      </p:cBhvr>
                                      <p:to>
                                        <p:strVal val="visible"/>
                                      </p:to>
                                    </p:set>
                                    <p:animEffect filter="dissolve" transition="in">
                                      <p:cBhvr>
                                        <p:cTn id="12" dur="2000"/>
                                        <p:tgtEl>
                                          <p:spTgt spid="32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23"/>
                                        </p:tgtEl>
                                        <p:attrNameLst>
                                          <p:attrName>style.visibility</p:attrName>
                                        </p:attrNameLst>
                                      </p:cBhvr>
                                      <p:to>
                                        <p:strVal val="visible"/>
                                      </p:to>
                                    </p:set>
                                    <p:anim calcmode="lin" valueType="num">
                                      <p:cBhvr>
                                        <p:cTn id="17" dur="1000" fill="hold"/>
                                        <p:tgtEl>
                                          <p:spTgt spid="323"/>
                                        </p:tgtEl>
                                        <p:attrNameLst>
                                          <p:attrName>ppt_x</p:attrName>
                                        </p:attrNameLst>
                                      </p:cBhvr>
                                      <p:tavLst>
                                        <p:tav tm="0">
                                          <p:val>
                                            <p:strVal val="0-#ppt_w/2"/>
                                          </p:val>
                                        </p:tav>
                                        <p:tav tm="100000">
                                          <p:val>
                                            <p:strVal val="#ppt_x"/>
                                          </p:val>
                                        </p:tav>
                                      </p:tavLst>
                                    </p:anim>
                                    <p:anim calcmode="lin" valueType="num">
                                      <p:cBhvr>
                                        <p:cTn id="18" dur="1000" fill="hold"/>
                                        <p:tgtEl>
                                          <p:spTgt spid="323"/>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326"/>
                                        </p:tgtEl>
                                        <p:attrNameLst>
                                          <p:attrName>style.visibility</p:attrName>
                                        </p:attrNameLst>
                                      </p:cBhvr>
                                      <p:to>
                                        <p:strVal val="visible"/>
                                      </p:to>
                                    </p:set>
                                    <p:animEffect filter="dissolve" transition="in">
                                      <p:cBhvr>
                                        <p:cTn id="22" dur="20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3" grpId="3"/>
      <p:bldP build="whole" bldLvl="1" animBg="1" rev="0" advAuto="0" spid="326" grpId="4"/>
      <p:bldP build="whole" bldLvl="1" animBg="1" rev="0" advAuto="0" spid="324" grpId="2"/>
      <p:bldP build="whole" bldLvl="1" animBg="1" rev="0" advAuto="0" spid="322"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30"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31" name="Captură de ecran din 2024-11-03 la 22.37.23.png" descr="Captură de ecran din 2024-11-03 la 22.37.23.png"/>
          <p:cNvPicPr>
            <a:picLocks noChangeAspect="1"/>
          </p:cNvPicPr>
          <p:nvPr/>
        </p:nvPicPr>
        <p:blipFill>
          <a:blip r:embed="rId2">
            <a:extLst/>
          </a:blip>
          <a:stretch>
            <a:fillRect/>
          </a:stretch>
        </p:blipFill>
        <p:spPr>
          <a:xfrm>
            <a:off x="4627002" y="3008220"/>
            <a:ext cx="13450430" cy="7224670"/>
          </a:xfrm>
          <a:prstGeom prst="rect">
            <a:avLst/>
          </a:prstGeom>
          <a:ln w="12700">
            <a:miter lim="400000"/>
          </a:ln>
        </p:spPr>
      </p:pic>
      <p:sp>
        <p:nvSpPr>
          <p:cNvPr id="332" name="În general, sunt două tipuri mari și late:"/>
          <p:cNvSpPr txBox="1"/>
          <p:nvPr>
            <p:ph type="body" sz="quarter" idx="1"/>
          </p:nvPr>
        </p:nvSpPr>
        <p:spPr>
          <a:xfrm>
            <a:off x="621393" y="10746982"/>
            <a:ext cx="21948579" cy="2625428"/>
          </a:xfrm>
          <a:prstGeom prst="rect">
            <a:avLst/>
          </a:prstGeom>
        </p:spPr>
        <p:txBody>
          <a:bodyPr/>
          <a:lstStyle/>
          <a:p>
            <a:pPr/>
            <a:r>
              <a:t>Pasul 1:  Algoritmul alege aleatoriu K puncte din date, care vor deveni „centroizii” inițiali (adică punctele centrale pentru fiecare cluster)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32"/>
                                        </p:tgtEl>
                                        <p:attrNameLst>
                                          <p:attrName>style.visibility</p:attrName>
                                        </p:attrNameLst>
                                      </p:cBhvr>
                                      <p:to>
                                        <p:strVal val="visible"/>
                                      </p:to>
                                    </p:set>
                                    <p:anim calcmode="lin" valueType="num">
                                      <p:cBhvr>
                                        <p:cTn id="7" dur="1000" fill="hold"/>
                                        <p:tgtEl>
                                          <p:spTgt spid="332"/>
                                        </p:tgtEl>
                                        <p:attrNameLst>
                                          <p:attrName>ppt_x</p:attrName>
                                        </p:attrNameLst>
                                      </p:cBhvr>
                                      <p:tavLst>
                                        <p:tav tm="0">
                                          <p:val>
                                            <p:strVal val="0-#ppt_w/2"/>
                                          </p:val>
                                        </p:tav>
                                        <p:tav tm="100000">
                                          <p:val>
                                            <p:strVal val="#ppt_x"/>
                                          </p:val>
                                        </p:tav>
                                      </p:tavLst>
                                    </p:anim>
                                    <p:anim calcmode="lin" valueType="num">
                                      <p:cBhvr>
                                        <p:cTn id="8" dur="1000" fill="hold"/>
                                        <p:tgtEl>
                                          <p:spTgt spid="3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2"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35"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36" name="Captură de ecran din 2024-11-03 la 22.38.30.png" descr="Captură de ecran din 2024-11-03 la 22.38.30.png"/>
          <p:cNvPicPr>
            <a:picLocks noChangeAspect="1"/>
          </p:cNvPicPr>
          <p:nvPr/>
        </p:nvPicPr>
        <p:blipFill>
          <a:blip r:embed="rId2">
            <a:extLst/>
          </a:blip>
          <a:stretch>
            <a:fillRect/>
          </a:stretch>
        </p:blipFill>
        <p:spPr>
          <a:xfrm>
            <a:off x="3416795" y="2968156"/>
            <a:ext cx="15870843" cy="856478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39"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40" name="Captură de ecran din 2024-11-03 la 22.39.13.png" descr="Captură de ecran din 2024-11-03 la 22.39.13.png"/>
          <p:cNvPicPr>
            <a:picLocks noChangeAspect="1"/>
          </p:cNvPicPr>
          <p:nvPr/>
        </p:nvPicPr>
        <p:blipFill>
          <a:blip r:embed="rId2">
            <a:extLst/>
          </a:blip>
          <a:stretch>
            <a:fillRect/>
          </a:stretch>
        </p:blipFill>
        <p:spPr>
          <a:xfrm>
            <a:off x="4501336" y="2752783"/>
            <a:ext cx="13701760" cy="7381499"/>
          </a:xfrm>
          <a:prstGeom prst="rect">
            <a:avLst/>
          </a:prstGeom>
          <a:ln w="12700">
            <a:miter lim="400000"/>
          </a:ln>
        </p:spPr>
      </p:pic>
      <p:sp>
        <p:nvSpPr>
          <p:cNvPr id="341" name="În general, sunt două tipuri mari și late:"/>
          <p:cNvSpPr txBox="1"/>
          <p:nvPr>
            <p:ph type="body" sz="quarter" idx="1"/>
          </p:nvPr>
        </p:nvSpPr>
        <p:spPr>
          <a:xfrm>
            <a:off x="621393" y="10746982"/>
            <a:ext cx="21948579" cy="2625428"/>
          </a:xfrm>
          <a:prstGeom prst="rect">
            <a:avLst/>
          </a:prstGeom>
        </p:spPr>
        <p:txBody>
          <a:bodyPr/>
          <a:lstStyle/>
          <a:p>
            <a:pPr/>
            <a:r>
              <a:t>Pasul 2:  Fiecare punct din setul de date este alocat celui mai apropiat centroid (deci, grupurile încep să se formeze în jurul acestor centroizi).</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41"/>
                                        </p:tgtEl>
                                        <p:attrNameLst>
                                          <p:attrName>style.visibility</p:attrName>
                                        </p:attrNameLst>
                                      </p:cBhvr>
                                      <p:to>
                                        <p:strVal val="visible"/>
                                      </p:to>
                                    </p:set>
                                    <p:anim calcmode="lin" valueType="num">
                                      <p:cBhvr>
                                        <p:cTn id="7" dur="1000" fill="hold"/>
                                        <p:tgtEl>
                                          <p:spTgt spid="341"/>
                                        </p:tgtEl>
                                        <p:attrNameLst>
                                          <p:attrName>ppt_x</p:attrName>
                                        </p:attrNameLst>
                                      </p:cBhvr>
                                      <p:tavLst>
                                        <p:tav tm="0">
                                          <p:val>
                                            <p:strVal val="0-#ppt_w/2"/>
                                          </p:val>
                                        </p:tav>
                                        <p:tav tm="100000">
                                          <p:val>
                                            <p:strVal val="#ppt_x"/>
                                          </p:val>
                                        </p:tav>
                                      </p:tavLst>
                                    </p:anim>
                                    <p:anim calcmode="lin" valueType="num">
                                      <p:cBhvr>
                                        <p:cTn id="8" dur="1000" fill="hold"/>
                                        <p:tgtEl>
                                          <p:spTgt spid="3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1"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44"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45" name="Captură de ecran din 2024-11-03 la 22.39.46.png" descr="Captură de ecran din 2024-11-03 la 22.39.46.png"/>
          <p:cNvPicPr>
            <a:picLocks noChangeAspect="1"/>
          </p:cNvPicPr>
          <p:nvPr/>
        </p:nvPicPr>
        <p:blipFill>
          <a:blip r:embed="rId2">
            <a:extLst/>
          </a:blip>
          <a:stretch>
            <a:fillRect/>
          </a:stretch>
        </p:blipFill>
        <p:spPr>
          <a:xfrm>
            <a:off x="4266207" y="2577997"/>
            <a:ext cx="14172018" cy="7636736"/>
          </a:xfrm>
          <a:prstGeom prst="rect">
            <a:avLst/>
          </a:prstGeom>
          <a:ln w="12700">
            <a:miter lim="400000"/>
          </a:ln>
        </p:spPr>
      </p:pic>
      <p:sp>
        <p:nvSpPr>
          <p:cNvPr id="346" name="În general, sunt două tipuri mari și late:"/>
          <p:cNvSpPr txBox="1"/>
          <p:nvPr>
            <p:ph type="body" sz="quarter" idx="1"/>
          </p:nvPr>
        </p:nvSpPr>
        <p:spPr>
          <a:xfrm>
            <a:off x="621393" y="10746982"/>
            <a:ext cx="21948579" cy="1754252"/>
          </a:xfrm>
          <a:prstGeom prst="rect">
            <a:avLst/>
          </a:prstGeom>
        </p:spPr>
        <p:txBody>
          <a:bodyPr/>
          <a:lstStyle/>
          <a:p>
            <a:pPr/>
            <a:r>
              <a:t>Pasul 3: Odată ce fiecare punct a fost alocat unui cluster, se recalculază poziția fiecărui centroid (centrul fiecărui grup) ca fiind media punctelor grupului respectiv.</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46"/>
                                        </p:tgtEl>
                                        <p:attrNameLst>
                                          <p:attrName>style.visibility</p:attrName>
                                        </p:attrNameLst>
                                      </p:cBhvr>
                                      <p:to>
                                        <p:strVal val="visible"/>
                                      </p:to>
                                    </p:set>
                                    <p:anim calcmode="lin" valueType="num">
                                      <p:cBhvr>
                                        <p:cTn id="7" dur="1000" fill="hold"/>
                                        <p:tgtEl>
                                          <p:spTgt spid="346"/>
                                        </p:tgtEl>
                                        <p:attrNameLst>
                                          <p:attrName>ppt_x</p:attrName>
                                        </p:attrNameLst>
                                      </p:cBhvr>
                                      <p:tavLst>
                                        <p:tav tm="0">
                                          <p:val>
                                            <p:strVal val="0-#ppt_w/2"/>
                                          </p:val>
                                        </p:tav>
                                        <p:tav tm="100000">
                                          <p:val>
                                            <p:strVal val="#ppt_x"/>
                                          </p:val>
                                        </p:tav>
                                      </p:tavLst>
                                    </p:anim>
                                    <p:anim calcmode="lin" valueType="num">
                                      <p:cBhvr>
                                        <p:cTn id="8" dur="1000" fill="hold"/>
                                        <p:tgtEl>
                                          <p:spTgt spid="3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6"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49"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50" name="Captură de ecran din 2024-11-03 la 22.42.54.png" descr="Captură de ecran din 2024-11-03 la 22.42.54.png"/>
          <p:cNvPicPr>
            <a:picLocks noChangeAspect="1"/>
          </p:cNvPicPr>
          <p:nvPr/>
        </p:nvPicPr>
        <p:blipFill>
          <a:blip r:embed="rId2">
            <a:extLst/>
          </a:blip>
          <a:stretch>
            <a:fillRect/>
          </a:stretch>
        </p:blipFill>
        <p:spPr>
          <a:xfrm>
            <a:off x="4636342" y="3210585"/>
            <a:ext cx="13431749" cy="7294830"/>
          </a:xfrm>
          <a:prstGeom prst="rect">
            <a:avLst/>
          </a:prstGeom>
          <a:ln w="12700">
            <a:miter lim="400000"/>
          </a:ln>
        </p:spPr>
      </p:pic>
      <p:sp>
        <p:nvSpPr>
          <p:cNvPr id="351" name="În general, sunt două tipuri mari și late:"/>
          <p:cNvSpPr txBox="1"/>
          <p:nvPr>
            <p:ph type="body" sz="quarter" idx="1"/>
          </p:nvPr>
        </p:nvSpPr>
        <p:spPr>
          <a:xfrm>
            <a:off x="621393" y="10746982"/>
            <a:ext cx="21948579" cy="1754252"/>
          </a:xfrm>
          <a:prstGeom prst="rect">
            <a:avLst/>
          </a:prstGeom>
        </p:spPr>
        <p:txBody>
          <a:bodyPr/>
          <a:lstStyle/>
          <a:p>
            <a:pPr/>
            <a:r>
              <a:t>Pasul 4: Repetăm pașii 2 și 3 până când centroizii nu se mai schimbă sau schimbările sunt minime. La final, fiecare punct va aparține unui cluster „stabil.”</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51"/>
                                        </p:tgtEl>
                                        <p:attrNameLst>
                                          <p:attrName>style.visibility</p:attrName>
                                        </p:attrNameLst>
                                      </p:cBhvr>
                                      <p:to>
                                        <p:strVal val="visible"/>
                                      </p:to>
                                    </p:set>
                                    <p:anim calcmode="lin" valueType="num">
                                      <p:cBhvr>
                                        <p:cTn id="7" dur="1000" fill="hold"/>
                                        <p:tgtEl>
                                          <p:spTgt spid="351"/>
                                        </p:tgtEl>
                                        <p:attrNameLst>
                                          <p:attrName>ppt_x</p:attrName>
                                        </p:attrNameLst>
                                      </p:cBhvr>
                                      <p:tavLst>
                                        <p:tav tm="0">
                                          <p:val>
                                            <p:strVal val="0-#ppt_w/2"/>
                                          </p:val>
                                        </p:tav>
                                        <p:tav tm="100000">
                                          <p:val>
                                            <p:strVal val="#ppt_x"/>
                                          </p:val>
                                        </p:tav>
                                      </p:tavLst>
                                    </p:anim>
                                    <p:anim calcmode="lin" valueType="num">
                                      <p:cBhvr>
                                        <p:cTn id="8" dur="1000" fill="hold"/>
                                        <p:tgtEl>
                                          <p:spTgt spid="3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1"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54"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55" name="Captură de ecran din 2024-11-03 la 22.43.27.png" descr="Captură de ecran din 2024-11-03 la 22.43.27.png"/>
          <p:cNvPicPr>
            <a:picLocks noChangeAspect="1"/>
          </p:cNvPicPr>
          <p:nvPr/>
        </p:nvPicPr>
        <p:blipFill>
          <a:blip r:embed="rId2">
            <a:extLst/>
          </a:blip>
          <a:stretch>
            <a:fillRect/>
          </a:stretch>
        </p:blipFill>
        <p:spPr>
          <a:xfrm>
            <a:off x="4386827" y="2849637"/>
            <a:ext cx="13930779" cy="7541835"/>
          </a:xfrm>
          <a:prstGeom prst="rect">
            <a:avLst/>
          </a:prstGeom>
          <a:ln w="12700">
            <a:miter lim="400000"/>
          </a:ln>
        </p:spPr>
      </p:pic>
      <p:sp>
        <p:nvSpPr>
          <p:cNvPr id="356" name="În general, sunt două tipuri mari și late:"/>
          <p:cNvSpPr txBox="1"/>
          <p:nvPr>
            <p:ph type="body" sz="quarter" idx="1"/>
          </p:nvPr>
        </p:nvSpPr>
        <p:spPr>
          <a:xfrm>
            <a:off x="621393" y="10746982"/>
            <a:ext cx="21948579" cy="2625428"/>
          </a:xfrm>
          <a:prstGeom prst="rect">
            <a:avLst/>
          </a:prstGeom>
        </p:spPr>
        <p:txBody>
          <a:bodyPr/>
          <a:lstStyle/>
          <a:p>
            <a:pPr/>
            <a:r>
              <a:t>Pasul 2:  Fiecare punct din setul de date este alocat celui mai apropiat centroid (deci, grupurile încep să se formeze în jurul acestor centroizi).</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56"/>
                                        </p:tgtEl>
                                        <p:attrNameLst>
                                          <p:attrName>style.visibility</p:attrName>
                                        </p:attrNameLst>
                                      </p:cBhvr>
                                      <p:to>
                                        <p:strVal val="visible"/>
                                      </p:to>
                                    </p:set>
                                    <p:anim calcmode="lin" valueType="num">
                                      <p:cBhvr>
                                        <p:cTn id="7" dur="1000" fill="hold"/>
                                        <p:tgtEl>
                                          <p:spTgt spid="356"/>
                                        </p:tgtEl>
                                        <p:attrNameLst>
                                          <p:attrName>ppt_x</p:attrName>
                                        </p:attrNameLst>
                                      </p:cBhvr>
                                      <p:tavLst>
                                        <p:tav tm="0">
                                          <p:val>
                                            <p:strVal val="0-#ppt_w/2"/>
                                          </p:val>
                                        </p:tav>
                                        <p:tav tm="100000">
                                          <p:val>
                                            <p:strVal val="#ppt_x"/>
                                          </p:val>
                                        </p:tav>
                                      </p:tavLst>
                                    </p:anim>
                                    <p:anim calcmode="lin" valueType="num">
                                      <p:cBhvr>
                                        <p:cTn id="8" dur="1000" fill="hold"/>
                                        <p:tgtEl>
                                          <p:spTgt spid="3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6"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59"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60" name="Captură de ecran din 2024-11-03 la 22.44.13.png" descr="Captură de ecran din 2024-11-03 la 22.44.13.png"/>
          <p:cNvPicPr>
            <a:picLocks noChangeAspect="1"/>
          </p:cNvPicPr>
          <p:nvPr/>
        </p:nvPicPr>
        <p:blipFill>
          <a:blip r:embed="rId2">
            <a:extLst/>
          </a:blip>
          <a:stretch>
            <a:fillRect/>
          </a:stretch>
        </p:blipFill>
        <p:spPr>
          <a:xfrm>
            <a:off x="4447495" y="2605797"/>
            <a:ext cx="13809443" cy="7428528"/>
          </a:xfrm>
          <a:prstGeom prst="rect">
            <a:avLst/>
          </a:prstGeom>
          <a:ln w="12700">
            <a:miter lim="400000"/>
          </a:ln>
        </p:spPr>
      </p:pic>
      <p:sp>
        <p:nvSpPr>
          <p:cNvPr id="361" name="În general, sunt două tipuri mari și late:"/>
          <p:cNvSpPr txBox="1"/>
          <p:nvPr>
            <p:ph type="body" sz="quarter" idx="1"/>
          </p:nvPr>
        </p:nvSpPr>
        <p:spPr>
          <a:xfrm>
            <a:off x="621393" y="10746982"/>
            <a:ext cx="21948579" cy="1754252"/>
          </a:xfrm>
          <a:prstGeom prst="rect">
            <a:avLst/>
          </a:prstGeom>
        </p:spPr>
        <p:txBody>
          <a:bodyPr/>
          <a:lstStyle/>
          <a:p>
            <a:pPr/>
            <a:r>
              <a:t>Pasul 3: Odată ce fiecare punct a fost alocat unui cluster, se recalculază poziția fiecărui centroid (centrul fiecărui grup).</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61"/>
                                        </p:tgtEl>
                                        <p:attrNameLst>
                                          <p:attrName>style.visibility</p:attrName>
                                        </p:attrNameLst>
                                      </p:cBhvr>
                                      <p:to>
                                        <p:strVal val="visible"/>
                                      </p:to>
                                    </p:set>
                                    <p:anim calcmode="lin" valueType="num">
                                      <p:cBhvr>
                                        <p:cTn id="7" dur="1000" fill="hold"/>
                                        <p:tgtEl>
                                          <p:spTgt spid="361"/>
                                        </p:tgtEl>
                                        <p:attrNameLst>
                                          <p:attrName>ppt_x</p:attrName>
                                        </p:attrNameLst>
                                      </p:cBhvr>
                                      <p:tavLst>
                                        <p:tav tm="0">
                                          <p:val>
                                            <p:strVal val="0-#ppt_w/2"/>
                                          </p:val>
                                        </p:tav>
                                        <p:tav tm="100000">
                                          <p:val>
                                            <p:strVal val="#ppt_x"/>
                                          </p:val>
                                        </p:tav>
                                      </p:tavLst>
                                    </p:anim>
                                    <p:anim calcmode="lin" valueType="num">
                                      <p:cBhvr>
                                        <p:cTn id="8" dur="1000" fill="hold"/>
                                        <p:tgtEl>
                                          <p:spTgt spid="3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1"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64"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65" name="Captură de ecran din 2024-11-03 la 22.45.15.png" descr="Captură de ecran din 2024-11-03 la 22.45.15.png"/>
          <p:cNvPicPr>
            <a:picLocks noChangeAspect="1"/>
          </p:cNvPicPr>
          <p:nvPr/>
        </p:nvPicPr>
        <p:blipFill>
          <a:blip r:embed="rId2">
            <a:extLst/>
          </a:blip>
          <a:stretch>
            <a:fillRect/>
          </a:stretch>
        </p:blipFill>
        <p:spPr>
          <a:xfrm>
            <a:off x="4937658" y="2678529"/>
            <a:ext cx="14508684" cy="7856779"/>
          </a:xfrm>
          <a:prstGeom prst="rect">
            <a:avLst/>
          </a:prstGeom>
          <a:ln w="12700">
            <a:miter lim="400000"/>
          </a:ln>
        </p:spPr>
      </p:pic>
      <p:sp>
        <p:nvSpPr>
          <p:cNvPr id="366" name="În general, sunt două tipuri mari și late:"/>
          <p:cNvSpPr txBox="1"/>
          <p:nvPr>
            <p:ph type="body" sz="quarter" idx="1"/>
          </p:nvPr>
        </p:nvSpPr>
        <p:spPr>
          <a:xfrm>
            <a:off x="621393" y="10746982"/>
            <a:ext cx="21948579" cy="1518321"/>
          </a:xfrm>
          <a:prstGeom prst="rect">
            <a:avLst/>
          </a:prstGeom>
        </p:spPr>
        <p:txBody>
          <a:bodyPr/>
          <a:lstStyle/>
          <a:p>
            <a:pPr/>
            <a:r>
              <a:t>În acest caz, două iterații au fost de ajuns pentru a opține niște centroizi optimi</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66"/>
                                        </p:tgtEl>
                                        <p:attrNameLst>
                                          <p:attrName>style.visibility</p:attrName>
                                        </p:attrNameLst>
                                      </p:cBhvr>
                                      <p:to>
                                        <p:strVal val="visible"/>
                                      </p:to>
                                    </p:set>
                                    <p:anim calcmode="lin" valueType="num">
                                      <p:cBhvr>
                                        <p:cTn id="7" dur="1000" fill="hold"/>
                                        <p:tgtEl>
                                          <p:spTgt spid="366"/>
                                        </p:tgtEl>
                                        <p:attrNameLst>
                                          <p:attrName>ppt_x</p:attrName>
                                        </p:attrNameLst>
                                      </p:cBhvr>
                                      <p:tavLst>
                                        <p:tav tm="0">
                                          <p:val>
                                            <p:strVal val="0-#ppt_w/2"/>
                                          </p:val>
                                        </p:tav>
                                        <p:tav tm="100000">
                                          <p:val>
                                            <p:strVal val="#ppt_x"/>
                                          </p:val>
                                        </p:tav>
                                      </p:tavLst>
                                    </p:anim>
                                    <p:anim calcmode="lin" valueType="num">
                                      <p:cBhvr>
                                        <p:cTn id="8" dur="1000" fill="hold"/>
                                        <p:tgtEl>
                                          <p:spTgt spid="3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6" grpId="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69"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70" name="Captură de ecran din 2024-11-03 la 23.30.16.png" descr="Captură de ecran din 2024-11-03 la 23.30.16.png"/>
          <p:cNvPicPr>
            <a:picLocks noChangeAspect="1"/>
          </p:cNvPicPr>
          <p:nvPr/>
        </p:nvPicPr>
        <p:blipFill>
          <a:blip r:embed="rId2">
            <a:extLst/>
          </a:blip>
          <a:stretch>
            <a:fillRect/>
          </a:stretch>
        </p:blipFill>
        <p:spPr>
          <a:xfrm>
            <a:off x="3742546" y="2622578"/>
            <a:ext cx="16898908" cy="847084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73"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374" name="Captură de ecran din 2024-11-03 la 23.30.43.png" descr="Captură de ecran din 2024-11-03 la 23.30.43.png"/>
          <p:cNvPicPr>
            <a:picLocks noChangeAspect="1"/>
          </p:cNvPicPr>
          <p:nvPr/>
        </p:nvPicPr>
        <p:blipFill>
          <a:blip r:embed="rId2">
            <a:extLst/>
          </a:blip>
          <a:stretch>
            <a:fillRect/>
          </a:stretch>
        </p:blipFill>
        <p:spPr>
          <a:xfrm>
            <a:off x="1104435" y="2801472"/>
            <a:ext cx="20495563" cy="6539895"/>
          </a:xfrm>
          <a:prstGeom prst="rect">
            <a:avLst/>
          </a:prstGeom>
          <a:ln w="12700">
            <a:miter lim="400000"/>
          </a:ln>
        </p:spPr>
      </p:pic>
      <p:sp>
        <p:nvSpPr>
          <p:cNvPr id="375" name="În general, sunt două tipuri mari și late:"/>
          <p:cNvSpPr txBox="1"/>
          <p:nvPr>
            <p:ph type="body" sz="quarter" idx="1"/>
          </p:nvPr>
        </p:nvSpPr>
        <p:spPr>
          <a:xfrm>
            <a:off x="207881" y="8980465"/>
            <a:ext cx="23048563" cy="2006601"/>
          </a:xfrm>
          <a:prstGeom prst="rect">
            <a:avLst/>
          </a:prstGeom>
        </p:spPr>
        <p:txBody>
          <a:bodyPr/>
          <a:lstStyle/>
          <a:p>
            <a:pPr/>
            <a:r>
              <a:rPr>
                <a:latin typeface="Canela Text Bold"/>
                <a:ea typeface="Canela Text Bold"/>
                <a:cs typeface="Canela Text Bold"/>
                <a:sym typeface="Canela Text Bold"/>
              </a:rPr>
              <a:t>Problemă</a:t>
            </a:r>
            <a:r>
              <a:t>: Convergența optimă a algoritmului depinde foarte mult de felul în care sunt aleși centroizii inițiali</a:t>
            </a:r>
          </a:p>
        </p:txBody>
      </p:sp>
      <p:pic>
        <p:nvPicPr>
          <p:cNvPr id="376" name="Linie Linie" descr="Linie Linie"/>
          <p:cNvPicPr>
            <a:picLocks noChangeAspect="0"/>
          </p:cNvPicPr>
          <p:nvPr/>
        </p:nvPicPr>
        <p:blipFill>
          <a:blip r:embed="rId3">
            <a:extLst/>
          </a:blip>
          <a:stretch>
            <a:fillRect/>
          </a:stretch>
        </p:blipFill>
        <p:spPr>
          <a:xfrm>
            <a:off x="1973591" y="10513610"/>
            <a:ext cx="4229021" cy="101601"/>
          </a:xfrm>
          <a:prstGeom prst="rect">
            <a:avLst/>
          </a:prstGeom>
        </p:spPr>
      </p:pic>
      <p:pic>
        <p:nvPicPr>
          <p:cNvPr id="378" name="Linie Linie" descr="Linie Linie"/>
          <p:cNvPicPr>
            <a:picLocks noChangeAspect="0"/>
          </p:cNvPicPr>
          <p:nvPr/>
        </p:nvPicPr>
        <p:blipFill>
          <a:blip r:embed="rId4">
            <a:extLst/>
          </a:blip>
          <a:stretch>
            <a:fillRect/>
          </a:stretch>
        </p:blipFill>
        <p:spPr>
          <a:xfrm>
            <a:off x="774992" y="12475964"/>
            <a:ext cx="6252514" cy="101601"/>
          </a:xfrm>
          <a:prstGeom prst="rect">
            <a:avLst/>
          </a:prstGeom>
        </p:spPr>
      </p:pic>
      <p:sp>
        <p:nvSpPr>
          <p:cNvPr id="380" name="În general, sunt două tipuri mari și late:"/>
          <p:cNvSpPr txBox="1"/>
          <p:nvPr/>
        </p:nvSpPr>
        <p:spPr>
          <a:xfrm>
            <a:off x="207881" y="10830451"/>
            <a:ext cx="23048563" cy="23048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rPr>
                <a:latin typeface="Canela Text Bold"/>
                <a:ea typeface="Canela Text Bold"/>
                <a:cs typeface="Canela Text Bold"/>
                <a:sym typeface="Canela Text Bold"/>
              </a:rPr>
              <a:t>Soluție</a:t>
            </a:r>
            <a:r>
              <a:t>: Rularea algoritmului de mai multe ori cu diferiți centroizi și păstrarea rezultatului cel mai bun</a:t>
            </a:r>
          </a:p>
        </p:txBody>
      </p:sp>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75"/>
                                        </p:tgtEl>
                                        <p:attrNameLst>
                                          <p:attrName>style.visibility</p:attrName>
                                        </p:attrNameLst>
                                      </p:cBhvr>
                                      <p:to>
                                        <p:strVal val="visible"/>
                                      </p:to>
                                    </p:set>
                                    <p:anim calcmode="lin" valueType="num">
                                      <p:cBhvr>
                                        <p:cTn id="7" dur="1000" fill="hold"/>
                                        <p:tgtEl>
                                          <p:spTgt spid="375"/>
                                        </p:tgtEl>
                                        <p:attrNameLst>
                                          <p:attrName>ppt_x</p:attrName>
                                        </p:attrNameLst>
                                      </p:cBhvr>
                                      <p:tavLst>
                                        <p:tav tm="0">
                                          <p:val>
                                            <p:strVal val="0-#ppt_w/2"/>
                                          </p:val>
                                        </p:tav>
                                        <p:tav tm="100000">
                                          <p:val>
                                            <p:strVal val="#ppt_x"/>
                                          </p:val>
                                        </p:tav>
                                      </p:tavLst>
                                    </p:anim>
                                    <p:anim calcmode="lin" valueType="num">
                                      <p:cBhvr>
                                        <p:cTn id="8" dur="1000" fill="hold"/>
                                        <p:tgtEl>
                                          <p:spTgt spid="37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76"/>
                                        </p:tgtEl>
                                        <p:attrNameLst>
                                          <p:attrName>style.visibility</p:attrName>
                                        </p:attrNameLst>
                                      </p:cBhvr>
                                      <p:to>
                                        <p:strVal val="visible"/>
                                      </p:to>
                                    </p:set>
                                    <p:animEffect filter="dissolve" transition="in">
                                      <p:cBhvr>
                                        <p:cTn id="12" dur="2000"/>
                                        <p:tgtEl>
                                          <p:spTgt spid="37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80"/>
                                        </p:tgtEl>
                                        <p:attrNameLst>
                                          <p:attrName>style.visibility</p:attrName>
                                        </p:attrNameLst>
                                      </p:cBhvr>
                                      <p:to>
                                        <p:strVal val="visible"/>
                                      </p:to>
                                    </p:set>
                                    <p:anim calcmode="lin" valueType="num">
                                      <p:cBhvr>
                                        <p:cTn id="17" dur="1000" fill="hold"/>
                                        <p:tgtEl>
                                          <p:spTgt spid="380"/>
                                        </p:tgtEl>
                                        <p:attrNameLst>
                                          <p:attrName>ppt_x</p:attrName>
                                        </p:attrNameLst>
                                      </p:cBhvr>
                                      <p:tavLst>
                                        <p:tav tm="0">
                                          <p:val>
                                            <p:strVal val="0-#ppt_w/2"/>
                                          </p:val>
                                        </p:tav>
                                        <p:tav tm="100000">
                                          <p:val>
                                            <p:strVal val="#ppt_x"/>
                                          </p:val>
                                        </p:tav>
                                      </p:tavLst>
                                    </p:anim>
                                    <p:anim calcmode="lin" valueType="num">
                                      <p:cBhvr>
                                        <p:cTn id="18" dur="1000" fill="hold"/>
                                        <p:tgtEl>
                                          <p:spTgt spid="380"/>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378"/>
                                        </p:tgtEl>
                                        <p:attrNameLst>
                                          <p:attrName>style.visibility</p:attrName>
                                        </p:attrNameLst>
                                      </p:cBhvr>
                                      <p:to>
                                        <p:strVal val="visible"/>
                                      </p:to>
                                    </p:set>
                                    <p:animEffect filter="dissolve" transition="in">
                                      <p:cBhvr>
                                        <p:cTn id="22" dur="20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0" grpId="3"/>
      <p:bldP build="whole" bldLvl="1" animBg="1" rev="0" advAuto="0" spid="376" grpId="2"/>
      <p:bldP build="whole" bldLvl="1" animBg="1" rev="0" advAuto="0" spid="378" grpId="4"/>
      <p:bldP build="whole" bldLvl="1" animBg="1" rev="0" advAuto="0" spid="375" grpId="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83"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384" name="În general, sunt două tipuri mari și late:"/>
          <p:cNvSpPr txBox="1"/>
          <p:nvPr>
            <p:ph type="body" sz="quarter" idx="1"/>
          </p:nvPr>
        </p:nvSpPr>
        <p:spPr>
          <a:xfrm>
            <a:off x="282793" y="2893828"/>
            <a:ext cx="23048563" cy="2006602"/>
          </a:xfrm>
          <a:prstGeom prst="rect">
            <a:avLst/>
          </a:prstGeom>
        </p:spPr>
        <p:txBody>
          <a:bodyPr/>
          <a:lstStyle/>
          <a:p>
            <a:pPr/>
            <a:r>
              <a:rPr>
                <a:latin typeface="Canela Text Bold"/>
                <a:ea typeface="Canela Text Bold"/>
                <a:cs typeface="Canela Text Bold"/>
                <a:sym typeface="Canela Text Bold"/>
              </a:rPr>
              <a:t>Problemă</a:t>
            </a:r>
            <a:r>
              <a:t>: Convergența optimă a algoritmului depinde foarte mult de felul în care sunt aleși centroizii inițiali</a:t>
            </a:r>
          </a:p>
        </p:txBody>
      </p:sp>
      <p:pic>
        <p:nvPicPr>
          <p:cNvPr id="385" name="Linie Linie" descr="Linie Linie"/>
          <p:cNvPicPr>
            <a:picLocks noChangeAspect="0"/>
          </p:cNvPicPr>
          <p:nvPr/>
        </p:nvPicPr>
        <p:blipFill>
          <a:blip r:embed="rId2">
            <a:extLst/>
          </a:blip>
          <a:stretch>
            <a:fillRect/>
          </a:stretch>
        </p:blipFill>
        <p:spPr>
          <a:xfrm>
            <a:off x="2048504" y="4426974"/>
            <a:ext cx="4229021" cy="101601"/>
          </a:xfrm>
          <a:prstGeom prst="rect">
            <a:avLst/>
          </a:prstGeom>
        </p:spPr>
      </p:pic>
      <p:pic>
        <p:nvPicPr>
          <p:cNvPr id="387" name="Linie Linie" descr="Linie Linie"/>
          <p:cNvPicPr>
            <a:picLocks noChangeAspect="0"/>
          </p:cNvPicPr>
          <p:nvPr/>
        </p:nvPicPr>
        <p:blipFill>
          <a:blip r:embed="rId3">
            <a:extLst/>
          </a:blip>
          <a:stretch>
            <a:fillRect/>
          </a:stretch>
        </p:blipFill>
        <p:spPr>
          <a:xfrm>
            <a:off x="849905" y="6389328"/>
            <a:ext cx="6252513" cy="101601"/>
          </a:xfrm>
          <a:prstGeom prst="rect">
            <a:avLst/>
          </a:prstGeom>
        </p:spPr>
      </p:pic>
      <p:sp>
        <p:nvSpPr>
          <p:cNvPr id="389" name="În general, sunt două tipuri mari și late:"/>
          <p:cNvSpPr txBox="1"/>
          <p:nvPr/>
        </p:nvSpPr>
        <p:spPr>
          <a:xfrm>
            <a:off x="282793" y="4743815"/>
            <a:ext cx="23048563" cy="23048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rPr>
                <a:latin typeface="Canela Text Bold"/>
                <a:ea typeface="Canela Text Bold"/>
                <a:cs typeface="Canela Text Bold"/>
                <a:sym typeface="Canela Text Bold"/>
              </a:rPr>
              <a:t>Soluție</a:t>
            </a:r>
            <a:r>
              <a:t>: Rularea algoritmului de mai multe ori cu diferiți centroizi și păstrarea rezultatului cel mai bun</a:t>
            </a:r>
          </a:p>
        </p:txBody>
      </p:sp>
      <p:sp>
        <p:nvSpPr>
          <p:cNvPr id="390" name="În general, sunt două tipuri mari și late:"/>
          <p:cNvSpPr txBox="1"/>
          <p:nvPr/>
        </p:nvSpPr>
        <p:spPr>
          <a:xfrm>
            <a:off x="377927" y="6779798"/>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Pentru aceasta, avem nevoie de o metodă prin care putem cuantifica cât de bun este un rezultat, adică cât de bine au fost identificate grupurile</a:t>
            </a:r>
          </a:p>
        </p:txBody>
      </p:sp>
      <p:sp>
        <p:nvSpPr>
          <p:cNvPr id="391" name="În general, sunt două tipuri mari și late:"/>
          <p:cNvSpPr txBox="1"/>
          <p:nvPr/>
        </p:nvSpPr>
        <p:spPr>
          <a:xfrm>
            <a:off x="377927" y="8798337"/>
            <a:ext cx="21948579" cy="141622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O astfel de metodă este calculul inerției pentru fiecare rezultat obținut</a:t>
            </a:r>
          </a:p>
        </p:txBody>
      </p:sp>
      <p:sp>
        <p:nvSpPr>
          <p:cNvPr id="392" name="În general, sunt două tipuri mari și late:"/>
          <p:cNvSpPr txBox="1"/>
          <p:nvPr/>
        </p:nvSpPr>
        <p:spPr>
          <a:xfrm>
            <a:off x="377927" y="10236305"/>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Inerția reprezintă suma distanțelor fiecărui punct la centroidul asociat punctului respectiv</a:t>
            </a:r>
          </a:p>
        </p:txBody>
      </p:sp>
      <p:pic>
        <p:nvPicPr>
          <p:cNvPr id="393" name="Linie Linie" descr="Linie Linie"/>
          <p:cNvPicPr>
            <a:picLocks noChangeAspect="0"/>
          </p:cNvPicPr>
          <p:nvPr/>
        </p:nvPicPr>
        <p:blipFill>
          <a:blip r:embed="rId4">
            <a:extLst/>
          </a:blip>
          <a:stretch>
            <a:fillRect/>
          </a:stretch>
        </p:blipFill>
        <p:spPr>
          <a:xfrm>
            <a:off x="15641015" y="7732299"/>
            <a:ext cx="5661401" cy="101601"/>
          </a:xfrm>
          <a:prstGeom prst="rect">
            <a:avLst/>
          </a:prstGeom>
        </p:spPr>
      </p:pic>
      <p:pic>
        <p:nvPicPr>
          <p:cNvPr id="395" name="Linie Linie" descr="Linie Linie"/>
          <p:cNvPicPr>
            <a:picLocks noChangeAspect="0"/>
          </p:cNvPicPr>
          <p:nvPr/>
        </p:nvPicPr>
        <p:blipFill>
          <a:blip r:embed="rId5">
            <a:extLst/>
          </a:blip>
          <a:stretch>
            <a:fillRect/>
          </a:stretch>
        </p:blipFill>
        <p:spPr>
          <a:xfrm>
            <a:off x="804255" y="11037623"/>
            <a:ext cx="1959336"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90"/>
                                        </p:tgtEl>
                                        <p:attrNameLst>
                                          <p:attrName>style.visibility</p:attrName>
                                        </p:attrNameLst>
                                      </p:cBhvr>
                                      <p:to>
                                        <p:strVal val="visible"/>
                                      </p:to>
                                    </p:set>
                                    <p:anim calcmode="lin" valueType="num">
                                      <p:cBhvr>
                                        <p:cTn id="7" dur="1000" fill="hold"/>
                                        <p:tgtEl>
                                          <p:spTgt spid="390"/>
                                        </p:tgtEl>
                                        <p:attrNameLst>
                                          <p:attrName>ppt_x</p:attrName>
                                        </p:attrNameLst>
                                      </p:cBhvr>
                                      <p:tavLst>
                                        <p:tav tm="0">
                                          <p:val>
                                            <p:strVal val="0-#ppt_w/2"/>
                                          </p:val>
                                        </p:tav>
                                        <p:tav tm="100000">
                                          <p:val>
                                            <p:strVal val="#ppt_x"/>
                                          </p:val>
                                        </p:tav>
                                      </p:tavLst>
                                    </p:anim>
                                    <p:anim calcmode="lin" valueType="num">
                                      <p:cBhvr>
                                        <p:cTn id="8" dur="1000" fill="hold"/>
                                        <p:tgtEl>
                                          <p:spTgt spid="39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93"/>
                                        </p:tgtEl>
                                        <p:attrNameLst>
                                          <p:attrName>style.visibility</p:attrName>
                                        </p:attrNameLst>
                                      </p:cBhvr>
                                      <p:to>
                                        <p:strVal val="visible"/>
                                      </p:to>
                                    </p:set>
                                    <p:animEffect filter="dissolve" transition="in">
                                      <p:cBhvr>
                                        <p:cTn id="12" dur="2000"/>
                                        <p:tgtEl>
                                          <p:spTgt spid="393"/>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91"/>
                                        </p:tgtEl>
                                        <p:attrNameLst>
                                          <p:attrName>style.visibility</p:attrName>
                                        </p:attrNameLst>
                                      </p:cBhvr>
                                      <p:to>
                                        <p:strVal val="visible"/>
                                      </p:to>
                                    </p:set>
                                    <p:anim calcmode="lin" valueType="num">
                                      <p:cBhvr>
                                        <p:cTn id="17" dur="1000" fill="hold"/>
                                        <p:tgtEl>
                                          <p:spTgt spid="391"/>
                                        </p:tgtEl>
                                        <p:attrNameLst>
                                          <p:attrName>ppt_x</p:attrName>
                                        </p:attrNameLst>
                                      </p:cBhvr>
                                      <p:tavLst>
                                        <p:tav tm="0">
                                          <p:val>
                                            <p:strVal val="0-#ppt_w/2"/>
                                          </p:val>
                                        </p:tav>
                                        <p:tav tm="100000">
                                          <p:val>
                                            <p:strVal val="#ppt_x"/>
                                          </p:val>
                                        </p:tav>
                                      </p:tavLst>
                                    </p:anim>
                                    <p:anim calcmode="lin" valueType="num">
                                      <p:cBhvr>
                                        <p:cTn id="18" dur="1000" fill="hold"/>
                                        <p:tgtEl>
                                          <p:spTgt spid="39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392"/>
                                        </p:tgtEl>
                                        <p:attrNameLst>
                                          <p:attrName>style.visibility</p:attrName>
                                        </p:attrNameLst>
                                      </p:cBhvr>
                                      <p:to>
                                        <p:strVal val="visible"/>
                                      </p:to>
                                    </p:set>
                                    <p:anim calcmode="lin" valueType="num">
                                      <p:cBhvr>
                                        <p:cTn id="23" dur="1000" fill="hold"/>
                                        <p:tgtEl>
                                          <p:spTgt spid="392"/>
                                        </p:tgtEl>
                                        <p:attrNameLst>
                                          <p:attrName>ppt_x</p:attrName>
                                        </p:attrNameLst>
                                      </p:cBhvr>
                                      <p:tavLst>
                                        <p:tav tm="0">
                                          <p:val>
                                            <p:strVal val="0-#ppt_w/2"/>
                                          </p:val>
                                        </p:tav>
                                        <p:tav tm="100000">
                                          <p:val>
                                            <p:strVal val="#ppt_x"/>
                                          </p:val>
                                        </p:tav>
                                      </p:tavLst>
                                    </p:anim>
                                    <p:anim calcmode="lin" valueType="num">
                                      <p:cBhvr>
                                        <p:cTn id="24" dur="1000" fill="hold"/>
                                        <p:tgtEl>
                                          <p:spTgt spid="39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395"/>
                                        </p:tgtEl>
                                        <p:attrNameLst>
                                          <p:attrName>style.visibility</p:attrName>
                                        </p:attrNameLst>
                                      </p:cBhvr>
                                      <p:to>
                                        <p:strVal val="visible"/>
                                      </p:to>
                                    </p:set>
                                    <p:animEffect filter="dissolve" transition="in">
                                      <p:cBhvr>
                                        <p:cTn id="28" dur="20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1" grpId="3"/>
      <p:bldP build="whole" bldLvl="1" animBg="1" rev="0" advAuto="0" spid="393" grpId="2"/>
      <p:bldP build="whole" bldLvl="1" animBg="1" rev="0" advAuto="0" spid="390" grpId="1"/>
      <p:bldP build="whole" bldLvl="1" animBg="1" rev="0" advAuto="0" spid="395" grpId="5"/>
      <p:bldP build="whole" bldLvl="1" animBg="1" rev="0" advAuto="0" spid="392" grpId="4"/>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99"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400" name="Captură de ecran din 2024-11-03 la 23.30.43.png" descr="Captură de ecran din 2024-11-03 la 23.30.43.png"/>
          <p:cNvPicPr>
            <a:picLocks noChangeAspect="1"/>
          </p:cNvPicPr>
          <p:nvPr/>
        </p:nvPicPr>
        <p:blipFill>
          <a:blip r:embed="rId2">
            <a:extLst/>
          </a:blip>
          <a:stretch>
            <a:fillRect/>
          </a:stretch>
        </p:blipFill>
        <p:spPr>
          <a:xfrm>
            <a:off x="1104435" y="2801472"/>
            <a:ext cx="20495563" cy="6539895"/>
          </a:xfrm>
          <a:prstGeom prst="rect">
            <a:avLst/>
          </a:prstGeom>
          <a:ln w="12700">
            <a:miter lim="400000"/>
          </a:ln>
        </p:spPr>
      </p:pic>
      <p:sp>
        <p:nvSpPr>
          <p:cNvPr id="401" name="În general, sunt două tipuri mari și late:"/>
          <p:cNvSpPr txBox="1"/>
          <p:nvPr>
            <p:ph type="body" sz="quarter" idx="1"/>
          </p:nvPr>
        </p:nvSpPr>
        <p:spPr>
          <a:xfrm>
            <a:off x="76784" y="9074105"/>
            <a:ext cx="24230432" cy="1438175"/>
          </a:xfrm>
          <a:prstGeom prst="rect">
            <a:avLst/>
          </a:prstGeom>
        </p:spPr>
        <p:txBody>
          <a:bodyPr/>
          <a:lstStyle/>
          <a:p>
            <a:pPr/>
            <a:r>
              <a:t>Modelul din stânga prezintă o inerție de 223.3 pe când cel din dreapta are inerția 237.5</a:t>
            </a:r>
          </a:p>
        </p:txBody>
      </p:sp>
      <p:sp>
        <p:nvSpPr>
          <p:cNvPr id="402" name="În general, sunt două tipuri mari și late:"/>
          <p:cNvSpPr txBox="1"/>
          <p:nvPr/>
        </p:nvSpPr>
        <p:spPr>
          <a:xfrm>
            <a:off x="76784" y="10343520"/>
            <a:ext cx="24230432" cy="14381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Astfel, va fi ales modelul din stânga</a:t>
            </a:r>
          </a:p>
        </p:txBody>
      </p:sp>
      <p:pic>
        <p:nvPicPr>
          <p:cNvPr id="403" name="Linie Linie" descr="Linie Linie"/>
          <p:cNvPicPr>
            <a:picLocks noChangeAspect="0"/>
          </p:cNvPicPr>
          <p:nvPr/>
        </p:nvPicPr>
        <p:blipFill>
          <a:blip r:embed="rId3">
            <a:extLst/>
          </a:blip>
          <a:stretch>
            <a:fillRect/>
          </a:stretch>
        </p:blipFill>
        <p:spPr>
          <a:xfrm>
            <a:off x="4672260" y="11166599"/>
            <a:ext cx="5028024"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01"/>
                                        </p:tgtEl>
                                        <p:attrNameLst>
                                          <p:attrName>style.visibility</p:attrName>
                                        </p:attrNameLst>
                                      </p:cBhvr>
                                      <p:to>
                                        <p:strVal val="visible"/>
                                      </p:to>
                                    </p:set>
                                    <p:anim calcmode="lin" valueType="num">
                                      <p:cBhvr>
                                        <p:cTn id="7" dur="1000" fill="hold"/>
                                        <p:tgtEl>
                                          <p:spTgt spid="401"/>
                                        </p:tgtEl>
                                        <p:attrNameLst>
                                          <p:attrName>ppt_x</p:attrName>
                                        </p:attrNameLst>
                                      </p:cBhvr>
                                      <p:tavLst>
                                        <p:tav tm="0">
                                          <p:val>
                                            <p:strVal val="0-#ppt_w/2"/>
                                          </p:val>
                                        </p:tav>
                                        <p:tav tm="100000">
                                          <p:val>
                                            <p:strVal val="#ppt_x"/>
                                          </p:val>
                                        </p:tav>
                                      </p:tavLst>
                                    </p:anim>
                                    <p:anim calcmode="lin" valueType="num">
                                      <p:cBhvr>
                                        <p:cTn id="8" dur="1000" fill="hold"/>
                                        <p:tgtEl>
                                          <p:spTgt spid="4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402"/>
                                        </p:tgtEl>
                                        <p:attrNameLst>
                                          <p:attrName>style.visibility</p:attrName>
                                        </p:attrNameLst>
                                      </p:cBhvr>
                                      <p:to>
                                        <p:strVal val="visible"/>
                                      </p:to>
                                    </p:set>
                                    <p:anim calcmode="lin" valueType="num">
                                      <p:cBhvr>
                                        <p:cTn id="13" dur="1000" fill="hold"/>
                                        <p:tgtEl>
                                          <p:spTgt spid="402"/>
                                        </p:tgtEl>
                                        <p:attrNameLst>
                                          <p:attrName>ppt_x</p:attrName>
                                        </p:attrNameLst>
                                      </p:cBhvr>
                                      <p:tavLst>
                                        <p:tav tm="0">
                                          <p:val>
                                            <p:strVal val="0-#ppt_w/2"/>
                                          </p:val>
                                        </p:tav>
                                        <p:tav tm="100000">
                                          <p:val>
                                            <p:strVal val="#ppt_x"/>
                                          </p:val>
                                        </p:tav>
                                      </p:tavLst>
                                    </p:anim>
                                    <p:anim calcmode="lin" valueType="num">
                                      <p:cBhvr>
                                        <p:cTn id="14" dur="1000" fill="hold"/>
                                        <p:tgtEl>
                                          <p:spTgt spid="402"/>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403"/>
                                        </p:tgtEl>
                                        <p:attrNameLst>
                                          <p:attrName>style.visibility</p:attrName>
                                        </p:attrNameLst>
                                      </p:cBhvr>
                                      <p:to>
                                        <p:strVal val="visible"/>
                                      </p:to>
                                    </p:set>
                                    <p:animEffect filter="dissolve" transition="in">
                                      <p:cBhvr>
                                        <p:cTn id="18" dur="20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2" grpId="2"/>
      <p:bldP build="whole" bldLvl="1" animBg="1" rev="0" advAuto="0" spid="403" grpId="3"/>
      <p:bldP build="whole" bldLvl="1" animBg="1" rev="0" advAuto="0" spid="401"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07"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08" name="În general, sunt două tipuri mari și late:"/>
          <p:cNvSpPr txBox="1"/>
          <p:nvPr>
            <p:ph type="body" sz="quarter" idx="1"/>
          </p:nvPr>
        </p:nvSpPr>
        <p:spPr>
          <a:xfrm>
            <a:off x="282793" y="3024925"/>
            <a:ext cx="23048563" cy="1133446"/>
          </a:xfrm>
          <a:prstGeom prst="rect">
            <a:avLst/>
          </a:prstGeom>
        </p:spPr>
        <p:txBody>
          <a:bodyPr/>
          <a:lstStyle/>
          <a:p>
            <a:pPr/>
            <a:r>
              <a:t>Totuși, cum știm să alegem K?</a:t>
            </a:r>
          </a:p>
        </p:txBody>
      </p:sp>
      <p:sp>
        <p:nvSpPr>
          <p:cNvPr id="409" name="În general, sunt două tipuri mari și late:"/>
          <p:cNvSpPr txBox="1"/>
          <p:nvPr/>
        </p:nvSpPr>
        <p:spPr>
          <a:xfrm>
            <a:off x="324376" y="4404205"/>
            <a:ext cx="22965398"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Pentru datele trecute care au fost în 2D, totul a fost ușor pentru ca ochiometric le-am putut vizualiza și să identificam numărul optim de clustere</a:t>
            </a:r>
          </a:p>
        </p:txBody>
      </p:sp>
      <p:sp>
        <p:nvSpPr>
          <p:cNvPr id="410" name="În general, sunt două tipuri mari și late:"/>
          <p:cNvSpPr txBox="1"/>
          <p:nvPr/>
        </p:nvSpPr>
        <p:spPr>
          <a:xfrm>
            <a:off x="377927" y="6366118"/>
            <a:ext cx="23628146" cy="25027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Problema apare atunci când avem mai multe dimensiuni, sau când clusterele nu sunt evidente nici măcar ochiometric</a:t>
            </a:r>
          </a:p>
        </p:txBody>
      </p:sp>
      <p:sp>
        <p:nvSpPr>
          <p:cNvPr id="411" name="În general, sunt două tipuri mari și late:"/>
          <p:cNvSpPr txBox="1"/>
          <p:nvPr/>
        </p:nvSpPr>
        <p:spPr>
          <a:xfrm>
            <a:off x="282793" y="8583077"/>
            <a:ext cx="23048563" cy="25027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O metodă de alegere a lui K e să antrenăm mai multe modele cu K = 1, 2, 3, ș.a, și să facem un grafic care reprezintă inerția fiecărui model în funcție de 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08"/>
                                        </p:tgtEl>
                                        <p:attrNameLst>
                                          <p:attrName>style.visibility</p:attrName>
                                        </p:attrNameLst>
                                      </p:cBhvr>
                                      <p:to>
                                        <p:strVal val="visible"/>
                                      </p:to>
                                    </p:set>
                                    <p:anim calcmode="lin" valueType="num">
                                      <p:cBhvr>
                                        <p:cTn id="7" dur="1000" fill="hold"/>
                                        <p:tgtEl>
                                          <p:spTgt spid="408"/>
                                        </p:tgtEl>
                                        <p:attrNameLst>
                                          <p:attrName>ppt_x</p:attrName>
                                        </p:attrNameLst>
                                      </p:cBhvr>
                                      <p:tavLst>
                                        <p:tav tm="0">
                                          <p:val>
                                            <p:strVal val="0-#ppt_w/2"/>
                                          </p:val>
                                        </p:tav>
                                        <p:tav tm="100000">
                                          <p:val>
                                            <p:strVal val="#ppt_x"/>
                                          </p:val>
                                        </p:tav>
                                      </p:tavLst>
                                    </p:anim>
                                    <p:anim calcmode="lin" valueType="num">
                                      <p:cBhvr>
                                        <p:cTn id="8" dur="1000" fill="hold"/>
                                        <p:tgtEl>
                                          <p:spTgt spid="4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409"/>
                                        </p:tgtEl>
                                        <p:attrNameLst>
                                          <p:attrName>style.visibility</p:attrName>
                                        </p:attrNameLst>
                                      </p:cBhvr>
                                      <p:to>
                                        <p:strVal val="visible"/>
                                      </p:to>
                                    </p:set>
                                    <p:anim calcmode="lin" valueType="num">
                                      <p:cBhvr>
                                        <p:cTn id="13" dur="1000" fill="hold"/>
                                        <p:tgtEl>
                                          <p:spTgt spid="409"/>
                                        </p:tgtEl>
                                        <p:attrNameLst>
                                          <p:attrName>ppt_x</p:attrName>
                                        </p:attrNameLst>
                                      </p:cBhvr>
                                      <p:tavLst>
                                        <p:tav tm="0">
                                          <p:val>
                                            <p:strVal val="0-#ppt_w/2"/>
                                          </p:val>
                                        </p:tav>
                                        <p:tav tm="100000">
                                          <p:val>
                                            <p:strVal val="#ppt_x"/>
                                          </p:val>
                                        </p:tav>
                                      </p:tavLst>
                                    </p:anim>
                                    <p:anim calcmode="lin" valueType="num">
                                      <p:cBhvr>
                                        <p:cTn id="14" dur="1000" fill="hold"/>
                                        <p:tgtEl>
                                          <p:spTgt spid="40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410"/>
                                        </p:tgtEl>
                                        <p:attrNameLst>
                                          <p:attrName>style.visibility</p:attrName>
                                        </p:attrNameLst>
                                      </p:cBhvr>
                                      <p:to>
                                        <p:strVal val="visible"/>
                                      </p:to>
                                    </p:set>
                                    <p:anim calcmode="lin" valueType="num">
                                      <p:cBhvr>
                                        <p:cTn id="19" dur="1000" fill="hold"/>
                                        <p:tgtEl>
                                          <p:spTgt spid="410"/>
                                        </p:tgtEl>
                                        <p:attrNameLst>
                                          <p:attrName>ppt_x</p:attrName>
                                        </p:attrNameLst>
                                      </p:cBhvr>
                                      <p:tavLst>
                                        <p:tav tm="0">
                                          <p:val>
                                            <p:strVal val="0-#ppt_w/2"/>
                                          </p:val>
                                        </p:tav>
                                        <p:tav tm="100000">
                                          <p:val>
                                            <p:strVal val="#ppt_x"/>
                                          </p:val>
                                        </p:tav>
                                      </p:tavLst>
                                    </p:anim>
                                    <p:anim calcmode="lin" valueType="num">
                                      <p:cBhvr>
                                        <p:cTn id="20" dur="1000" fill="hold"/>
                                        <p:tgtEl>
                                          <p:spTgt spid="4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 grpId="4" fill="hold">
                                  <p:stCondLst>
                                    <p:cond delay="0"/>
                                  </p:stCondLst>
                                  <p:iterate type="el" backwards="0">
                                    <p:tmAbs val="0"/>
                                  </p:iterate>
                                  <p:childTnLst>
                                    <p:set>
                                      <p:cBhvr>
                                        <p:cTn id="24" fill="hold"/>
                                        <p:tgtEl>
                                          <p:spTgt spid="411"/>
                                        </p:tgtEl>
                                        <p:attrNameLst>
                                          <p:attrName>style.visibility</p:attrName>
                                        </p:attrNameLst>
                                      </p:cBhvr>
                                      <p:to>
                                        <p:strVal val="visible"/>
                                      </p:to>
                                    </p:set>
                                    <p:anim calcmode="lin" valueType="num">
                                      <p:cBhvr>
                                        <p:cTn id="25" dur="1000" fill="hold"/>
                                        <p:tgtEl>
                                          <p:spTgt spid="411"/>
                                        </p:tgtEl>
                                        <p:attrNameLst>
                                          <p:attrName>ppt_x</p:attrName>
                                        </p:attrNameLst>
                                      </p:cBhvr>
                                      <p:tavLst>
                                        <p:tav tm="0">
                                          <p:val>
                                            <p:strVal val="0-#ppt_w/2"/>
                                          </p:val>
                                        </p:tav>
                                        <p:tav tm="100000">
                                          <p:val>
                                            <p:strVal val="#ppt_x"/>
                                          </p:val>
                                        </p:tav>
                                      </p:tavLst>
                                    </p:anim>
                                    <p:anim calcmode="lin" valueType="num">
                                      <p:cBhvr>
                                        <p:cTn id="26" dur="1000" fill="hold"/>
                                        <p:tgtEl>
                                          <p:spTgt spid="4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11" grpId="4"/>
      <p:bldP build="whole" bldLvl="1" animBg="1" rev="0" advAuto="0" spid="410" grpId="3"/>
      <p:bldP build="whole" bldLvl="1" animBg="1" rev="0" advAuto="0" spid="408" grpId="1"/>
      <p:bldP build="whole" bldLvl="1" animBg="1" rev="0" advAuto="0" spid="409" grpId="2"/>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14"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15" name="În general, sunt două tipuri mari și late:"/>
          <p:cNvSpPr txBox="1"/>
          <p:nvPr/>
        </p:nvSpPr>
        <p:spPr>
          <a:xfrm>
            <a:off x="395162" y="2535893"/>
            <a:ext cx="23048563" cy="25027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O metodă de alegere a lui K e să antrenăm mai multe modele cu K = 1, 2, 3, ș.a, și să facem un grafic care reprezintă inerția fiecărui model în funcție de K</a:t>
            </a:r>
          </a:p>
        </p:txBody>
      </p:sp>
      <p:pic>
        <p:nvPicPr>
          <p:cNvPr id="416" name="Captură de ecran din 2024-11-03 la 23.51.28.png" descr="Captură de ecran din 2024-11-03 la 23.51.28.png"/>
          <p:cNvPicPr>
            <a:picLocks noChangeAspect="1"/>
          </p:cNvPicPr>
          <p:nvPr/>
        </p:nvPicPr>
        <p:blipFill>
          <a:blip r:embed="rId2">
            <a:extLst/>
          </a:blip>
          <a:stretch>
            <a:fillRect/>
          </a:stretch>
        </p:blipFill>
        <p:spPr>
          <a:xfrm>
            <a:off x="5636193" y="4368741"/>
            <a:ext cx="11432047" cy="4711128"/>
          </a:xfrm>
          <a:prstGeom prst="rect">
            <a:avLst/>
          </a:prstGeom>
          <a:ln w="12700">
            <a:miter lim="400000"/>
          </a:ln>
        </p:spPr>
      </p:pic>
      <p:sp>
        <p:nvSpPr>
          <p:cNvPr id="417" name="În general, sunt două tipuri mari și late:"/>
          <p:cNvSpPr txBox="1"/>
          <p:nvPr/>
        </p:nvSpPr>
        <p:spPr>
          <a:xfrm>
            <a:off x="395162" y="9303596"/>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În general, pe măsură ce crește K, inertia scade, dar după un anumit punct, reducerea devine tot mai mică. Forma graficului va avea o curbură, ca un cot</a:t>
            </a:r>
          </a:p>
        </p:txBody>
      </p:sp>
      <p:sp>
        <p:nvSpPr>
          <p:cNvPr id="418" name="În general, sunt două tipuri mari și late:"/>
          <p:cNvSpPr txBox="1"/>
          <p:nvPr/>
        </p:nvSpPr>
        <p:spPr>
          <a:xfrm>
            <a:off x="395162" y="11121907"/>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Alegem valoarea lui K din „cotul” graficului, unde scăderea în valoarea erorii începe să se stabilizeze. Aceasta este metoda „elbow”. În acest caz, alegem K = 4</a:t>
            </a:r>
          </a:p>
        </p:txBody>
      </p:sp>
      <p:pic>
        <p:nvPicPr>
          <p:cNvPr id="419" name="Linie Linie" descr="Linie Linie"/>
          <p:cNvPicPr>
            <a:picLocks noChangeAspect="0"/>
          </p:cNvPicPr>
          <p:nvPr/>
        </p:nvPicPr>
        <p:blipFill>
          <a:blip r:embed="rId3">
            <a:extLst/>
          </a:blip>
          <a:stretch>
            <a:fillRect/>
          </a:stretch>
        </p:blipFill>
        <p:spPr>
          <a:xfrm>
            <a:off x="7947859" y="3380634"/>
            <a:ext cx="8488282" cy="101601"/>
          </a:xfrm>
          <a:prstGeom prst="rect">
            <a:avLst/>
          </a:prstGeom>
        </p:spPr>
      </p:pic>
      <p:pic>
        <p:nvPicPr>
          <p:cNvPr id="421" name="Linie Linie" descr="Linie Linie"/>
          <p:cNvPicPr>
            <a:picLocks noChangeAspect="0"/>
          </p:cNvPicPr>
          <p:nvPr/>
        </p:nvPicPr>
        <p:blipFill>
          <a:blip r:embed="rId4">
            <a:extLst/>
          </a:blip>
          <a:stretch>
            <a:fillRect/>
          </a:stretch>
        </p:blipFill>
        <p:spPr>
          <a:xfrm>
            <a:off x="15228997" y="10954481"/>
            <a:ext cx="2685707" cy="101601"/>
          </a:xfrm>
          <a:prstGeom prst="rect">
            <a:avLst/>
          </a:prstGeom>
        </p:spPr>
      </p:pic>
      <p:pic>
        <p:nvPicPr>
          <p:cNvPr id="423" name="Linie Linie" descr="Linie Linie"/>
          <p:cNvPicPr>
            <a:picLocks noChangeAspect="0"/>
          </p:cNvPicPr>
          <p:nvPr/>
        </p:nvPicPr>
        <p:blipFill>
          <a:blip r:embed="rId5">
            <a:extLst/>
          </a:blip>
          <a:stretch>
            <a:fillRect/>
          </a:stretch>
        </p:blipFill>
        <p:spPr>
          <a:xfrm>
            <a:off x="8898895" y="4181846"/>
            <a:ext cx="9949911" cy="101601"/>
          </a:xfrm>
          <a:prstGeom prst="rect">
            <a:avLst/>
          </a:prstGeom>
        </p:spPr>
      </p:pic>
      <p:pic>
        <p:nvPicPr>
          <p:cNvPr id="425" name="Linie Linie" descr="Linie Linie"/>
          <p:cNvPicPr>
            <a:picLocks noChangeAspect="0"/>
          </p:cNvPicPr>
          <p:nvPr/>
        </p:nvPicPr>
        <p:blipFill>
          <a:blip r:embed="rId6">
            <a:extLst/>
          </a:blip>
          <a:stretch>
            <a:fillRect/>
          </a:stretch>
        </p:blipFill>
        <p:spPr>
          <a:xfrm>
            <a:off x="16498411" y="12748283"/>
            <a:ext cx="1715437"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19"/>
                                        </p:tgtEl>
                                        <p:attrNameLst>
                                          <p:attrName>style.visibility</p:attrName>
                                        </p:attrNameLst>
                                      </p:cBhvr>
                                      <p:to>
                                        <p:strVal val="visible"/>
                                      </p:to>
                                    </p:set>
                                    <p:animEffect filter="dissolve" transition="in">
                                      <p:cBhvr>
                                        <p:cTn id="7" dur="2000"/>
                                        <p:tgtEl>
                                          <p:spTgt spid="419"/>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423"/>
                                        </p:tgtEl>
                                        <p:attrNameLst>
                                          <p:attrName>style.visibility</p:attrName>
                                        </p:attrNameLst>
                                      </p:cBhvr>
                                      <p:to>
                                        <p:strVal val="visible"/>
                                      </p:to>
                                    </p:set>
                                    <p:animEffect filter="dissolve" transition="in">
                                      <p:cBhvr>
                                        <p:cTn id="11" dur="2000"/>
                                        <p:tgtEl>
                                          <p:spTgt spid="42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0" presetID="19" grpId="3" fill="hold">
                                  <p:stCondLst>
                                    <p:cond delay="0"/>
                                  </p:stCondLst>
                                  <p:iterate type="el" backwards="0">
                                    <p:tmAbs val="0"/>
                                  </p:iterate>
                                  <p:childTnLst>
                                    <p:set>
                                      <p:cBhvr>
                                        <p:cTn id="15" fill="hold"/>
                                        <p:tgtEl>
                                          <p:spTgt spid="416"/>
                                        </p:tgtEl>
                                        <p:attrNameLst>
                                          <p:attrName>style.visibility</p:attrName>
                                        </p:attrNameLst>
                                      </p:cBhvr>
                                      <p:to>
                                        <p:strVal val="visible"/>
                                      </p:to>
                                    </p:set>
                                    <p:anim calcmode="lin" valueType="num">
                                      <p:cBhvr>
                                        <p:cTn id="16" dur="1500" fill="hold"/>
                                        <p:tgtEl>
                                          <p:spTgt spid="416"/>
                                        </p:tgtEl>
                                        <p:attrNameLst>
                                          <p:attrName>ppt_w</p:attrName>
                                        </p:attrNameLst>
                                      </p:cBhvr>
                                      <p:tavLst>
                                        <p:tav tm="0" fmla="#ppt_w*sin(2.5*pi*$)">
                                          <p:val>
                                            <p:fltVal val="0"/>
                                          </p:val>
                                        </p:tav>
                                        <p:tav tm="100000">
                                          <p:val>
                                            <p:fltVal val="1"/>
                                          </p:val>
                                        </p:tav>
                                      </p:tavLst>
                                    </p:anim>
                                    <p:anim calcmode="lin" valueType="num">
                                      <p:cBhvr>
                                        <p:cTn id="17" dur="1500" fill="hold"/>
                                        <p:tgtEl>
                                          <p:spTgt spid="416"/>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 grpId="4" fill="hold">
                                  <p:stCondLst>
                                    <p:cond delay="0"/>
                                  </p:stCondLst>
                                  <p:iterate type="el" backwards="0">
                                    <p:tmAbs val="0"/>
                                  </p:iterate>
                                  <p:childTnLst>
                                    <p:set>
                                      <p:cBhvr>
                                        <p:cTn id="21" fill="hold"/>
                                        <p:tgtEl>
                                          <p:spTgt spid="417"/>
                                        </p:tgtEl>
                                        <p:attrNameLst>
                                          <p:attrName>style.visibility</p:attrName>
                                        </p:attrNameLst>
                                      </p:cBhvr>
                                      <p:to>
                                        <p:strVal val="visible"/>
                                      </p:to>
                                    </p:set>
                                    <p:anim calcmode="lin" valueType="num">
                                      <p:cBhvr>
                                        <p:cTn id="22" dur="1000" fill="hold"/>
                                        <p:tgtEl>
                                          <p:spTgt spid="417"/>
                                        </p:tgtEl>
                                        <p:attrNameLst>
                                          <p:attrName>ppt_x</p:attrName>
                                        </p:attrNameLst>
                                      </p:cBhvr>
                                      <p:tavLst>
                                        <p:tav tm="0">
                                          <p:val>
                                            <p:strVal val="0-#ppt_w/2"/>
                                          </p:val>
                                        </p:tav>
                                        <p:tav tm="100000">
                                          <p:val>
                                            <p:strVal val="#ppt_x"/>
                                          </p:val>
                                        </p:tav>
                                      </p:tavLst>
                                    </p:anim>
                                    <p:anim calcmode="lin" valueType="num">
                                      <p:cBhvr>
                                        <p:cTn id="23" dur="1000" fill="hold"/>
                                        <p:tgtEl>
                                          <p:spTgt spid="417"/>
                                        </p:tgtEl>
                                        <p:attrNameLst>
                                          <p:attrName>ppt_y</p:attrName>
                                        </p:attrNameLst>
                                      </p:cBhvr>
                                      <p:tavLst>
                                        <p:tav tm="0">
                                          <p:val>
                                            <p:strVal val="#ppt_y"/>
                                          </p:val>
                                        </p:tav>
                                        <p:tav tm="100000">
                                          <p:val>
                                            <p:strVal val="#ppt_y"/>
                                          </p:val>
                                        </p:tav>
                                      </p:tavLst>
                                    </p:anim>
                                  </p:childTnLst>
                                </p:cTn>
                              </p:par>
                            </p:childTnLst>
                          </p:cTn>
                        </p:par>
                        <p:par>
                          <p:cTn id="24" fill="hold">
                            <p:stCondLst>
                              <p:cond delay="1000"/>
                            </p:stCondLst>
                            <p:childTnLst>
                              <p:par>
                                <p:cTn id="25" presetClass="entr" nodeType="afterEffect" presetID="9" grpId="5" fill="hold">
                                  <p:stCondLst>
                                    <p:cond delay="0"/>
                                  </p:stCondLst>
                                  <p:iterate type="el" backwards="0">
                                    <p:tmAbs val="0"/>
                                  </p:iterate>
                                  <p:childTnLst>
                                    <p:set>
                                      <p:cBhvr>
                                        <p:cTn id="26" fill="hold"/>
                                        <p:tgtEl>
                                          <p:spTgt spid="421"/>
                                        </p:tgtEl>
                                        <p:attrNameLst>
                                          <p:attrName>style.visibility</p:attrName>
                                        </p:attrNameLst>
                                      </p:cBhvr>
                                      <p:to>
                                        <p:strVal val="visible"/>
                                      </p:to>
                                    </p:set>
                                    <p:animEffect filter="dissolve" transition="in">
                                      <p:cBhvr>
                                        <p:cTn id="27" dur="2000"/>
                                        <p:tgtEl>
                                          <p:spTgt spid="421"/>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 grpId="6" fill="hold">
                                  <p:stCondLst>
                                    <p:cond delay="0"/>
                                  </p:stCondLst>
                                  <p:iterate type="el" backwards="0">
                                    <p:tmAbs val="0"/>
                                  </p:iterate>
                                  <p:childTnLst>
                                    <p:set>
                                      <p:cBhvr>
                                        <p:cTn id="31" fill="hold"/>
                                        <p:tgtEl>
                                          <p:spTgt spid="418"/>
                                        </p:tgtEl>
                                        <p:attrNameLst>
                                          <p:attrName>style.visibility</p:attrName>
                                        </p:attrNameLst>
                                      </p:cBhvr>
                                      <p:to>
                                        <p:strVal val="visible"/>
                                      </p:to>
                                    </p:set>
                                    <p:anim calcmode="lin" valueType="num">
                                      <p:cBhvr>
                                        <p:cTn id="32" dur="1000" fill="hold"/>
                                        <p:tgtEl>
                                          <p:spTgt spid="418"/>
                                        </p:tgtEl>
                                        <p:attrNameLst>
                                          <p:attrName>ppt_x</p:attrName>
                                        </p:attrNameLst>
                                      </p:cBhvr>
                                      <p:tavLst>
                                        <p:tav tm="0">
                                          <p:val>
                                            <p:strVal val="0-#ppt_w/2"/>
                                          </p:val>
                                        </p:tav>
                                        <p:tav tm="100000">
                                          <p:val>
                                            <p:strVal val="#ppt_x"/>
                                          </p:val>
                                        </p:tav>
                                      </p:tavLst>
                                    </p:anim>
                                    <p:anim calcmode="lin" valueType="num">
                                      <p:cBhvr>
                                        <p:cTn id="33" dur="1000" fill="hold"/>
                                        <p:tgtEl>
                                          <p:spTgt spid="418"/>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Class="entr" nodeType="afterEffect" presetID="9" grpId="7" fill="hold">
                                  <p:stCondLst>
                                    <p:cond delay="0"/>
                                  </p:stCondLst>
                                  <p:iterate type="el" backwards="0">
                                    <p:tmAbs val="0"/>
                                  </p:iterate>
                                  <p:childTnLst>
                                    <p:set>
                                      <p:cBhvr>
                                        <p:cTn id="36" fill="hold"/>
                                        <p:tgtEl>
                                          <p:spTgt spid="425"/>
                                        </p:tgtEl>
                                        <p:attrNameLst>
                                          <p:attrName>style.visibility</p:attrName>
                                        </p:attrNameLst>
                                      </p:cBhvr>
                                      <p:to>
                                        <p:strVal val="visible"/>
                                      </p:to>
                                    </p:set>
                                    <p:animEffect filter="dissolve" transition="in">
                                      <p:cBhvr>
                                        <p:cTn id="37" dur="2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19" grpId="1"/>
      <p:bldP build="whole" bldLvl="1" animBg="1" rev="0" advAuto="0" spid="421" grpId="5"/>
      <p:bldP build="whole" bldLvl="1" animBg="1" rev="0" advAuto="0" spid="416" grpId="3"/>
      <p:bldP build="whole" bldLvl="1" animBg="1" rev="0" advAuto="0" spid="423" grpId="2"/>
      <p:bldP build="whole" bldLvl="1" animBg="1" rev="0" advAuto="0" spid="418" grpId="6"/>
      <p:bldP build="whole" bldLvl="1" animBg="1" rev="0" advAuto="0" spid="425" grpId="7"/>
      <p:bldP build="whole" bldLvl="1" animBg="1" rev="0" advAuto="0" spid="417" grpId="4"/>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29"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30" name="În general, sunt două tipuri mari și late:"/>
          <p:cNvSpPr txBox="1"/>
          <p:nvPr/>
        </p:nvSpPr>
        <p:spPr>
          <a:xfrm>
            <a:off x="376434" y="3004096"/>
            <a:ext cx="23048563" cy="33403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35177" indent="-535177" defTabSz="2389571">
              <a:spcBef>
                <a:spcPts val="2300"/>
              </a:spcBef>
              <a:buSzPct val="150000"/>
              <a:buChar char="•"/>
              <a:defRPr sz="4312">
                <a:latin typeface="Canela Text Regular"/>
                <a:ea typeface="Canela Text Regular"/>
                <a:cs typeface="Canela Text Regular"/>
                <a:sym typeface="Canela Text Regular"/>
              </a:defRPr>
            </a:pPr>
            <a:r>
              <a:t>De multe ori, „cotul” graficului Elbow poate fi neclar, iar interpretarea lui devine subiectivă</a:t>
            </a:r>
          </a:p>
          <a:p>
            <a:pPr marL="535177" indent="-535177" defTabSz="2389571">
              <a:spcBef>
                <a:spcPts val="2300"/>
              </a:spcBef>
              <a:buSzPct val="150000"/>
              <a:buChar char="•"/>
              <a:defRPr sz="4312">
                <a:latin typeface="Canela Text Regular"/>
                <a:ea typeface="Canela Text Regular"/>
                <a:cs typeface="Canela Text Regular"/>
                <a:sym typeface="Canela Text Regular"/>
              </a:defRPr>
            </a:pPr>
            <a:r>
              <a:t>Metoda Elbow doar măsoară reducerea erorii totale, dar nu indică direct calitatea separării fiecărui punct</a:t>
            </a:r>
          </a:p>
        </p:txBody>
      </p:sp>
      <p:pic>
        <p:nvPicPr>
          <p:cNvPr id="431" name="Linie Linie" descr="Linie Linie"/>
          <p:cNvPicPr>
            <a:picLocks noChangeAspect="0"/>
          </p:cNvPicPr>
          <p:nvPr/>
        </p:nvPicPr>
        <p:blipFill>
          <a:blip r:embed="rId2">
            <a:extLst/>
          </a:blip>
          <a:stretch>
            <a:fillRect/>
          </a:stretch>
        </p:blipFill>
        <p:spPr>
          <a:xfrm>
            <a:off x="20618595" y="3740062"/>
            <a:ext cx="2929336" cy="101601"/>
          </a:xfrm>
          <a:prstGeom prst="rect">
            <a:avLst/>
          </a:prstGeom>
        </p:spPr>
      </p:pic>
      <p:sp>
        <p:nvSpPr>
          <p:cNvPr id="433" name="În general, sunt două tipuri mari și late:"/>
          <p:cNvSpPr txBox="1"/>
          <p:nvPr/>
        </p:nvSpPr>
        <p:spPr>
          <a:xfrm>
            <a:off x="376434" y="5795040"/>
            <a:ext cx="23048563" cy="2125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0638" indent="-540638" defTabSz="2413954">
              <a:spcBef>
                <a:spcPts val="2300"/>
              </a:spcBef>
              <a:buSzPct val="150000"/>
              <a:buChar char="•"/>
              <a:defRPr sz="4356">
                <a:latin typeface="Canela Text Regular"/>
                <a:ea typeface="Canela Text Regular"/>
                <a:cs typeface="Canela Text Regular"/>
                <a:sym typeface="Canela Text Regular"/>
              </a:defRPr>
            </a:lvl1pPr>
          </a:lstStyle>
          <a:p>
            <a:pPr/>
            <a:r>
              <a:t>Metoda Silhouette ia în considerare cât de bine este plasat fiecare punct în interiorul clusterului său, comparând distanța medie față de punctele din clusterul cel mai apropiat</a:t>
            </a:r>
          </a:p>
        </p:txBody>
      </p:sp>
      <p:sp>
        <p:nvSpPr>
          <p:cNvPr id="434" name="În general, sunt două tipuri mari și late:"/>
          <p:cNvSpPr txBox="1"/>
          <p:nvPr/>
        </p:nvSpPr>
        <p:spPr>
          <a:xfrm>
            <a:off x="1252558" y="7506086"/>
            <a:ext cx="23048563" cy="2125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scor apropiat de 1 indică faptul că punctul este bine alocat clusterului său și este bine separat de alte clustere.</a:t>
            </a:r>
          </a:p>
        </p:txBody>
      </p:sp>
      <p:sp>
        <p:nvSpPr>
          <p:cNvPr id="435" name="În general, sunt două tipuri mari și late:"/>
          <p:cNvSpPr txBox="1"/>
          <p:nvPr/>
        </p:nvSpPr>
        <p:spPr>
          <a:xfrm>
            <a:off x="1252558" y="9345187"/>
            <a:ext cx="23048563" cy="104005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scor de aproximativ 0 indică faptul că punctul este la granița dintre două clustere</a:t>
            </a:r>
          </a:p>
        </p:txBody>
      </p:sp>
      <p:sp>
        <p:nvSpPr>
          <p:cNvPr id="436" name="În general, sunt două tipuri mari și late:"/>
          <p:cNvSpPr txBox="1"/>
          <p:nvPr/>
        </p:nvSpPr>
        <p:spPr>
          <a:xfrm>
            <a:off x="1252558" y="10404861"/>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scor negativ (aproape de -1) arată că punctul este probabil alocat unui cluster greșit, fiind mai aproape de alt cluster</a:t>
            </a:r>
          </a:p>
        </p:txBody>
      </p:sp>
      <p:pic>
        <p:nvPicPr>
          <p:cNvPr id="437" name="Linie Linie" descr="Linie Linie"/>
          <p:cNvPicPr>
            <a:picLocks noChangeAspect="0"/>
          </p:cNvPicPr>
          <p:nvPr/>
        </p:nvPicPr>
        <p:blipFill>
          <a:blip r:embed="rId2">
            <a:extLst/>
          </a:blip>
          <a:stretch>
            <a:fillRect/>
          </a:stretch>
        </p:blipFill>
        <p:spPr>
          <a:xfrm>
            <a:off x="19078793" y="4915837"/>
            <a:ext cx="2929336" cy="101601"/>
          </a:xfrm>
          <a:prstGeom prst="rect">
            <a:avLst/>
          </a:prstGeom>
        </p:spPr>
      </p:pic>
      <p:pic>
        <p:nvPicPr>
          <p:cNvPr id="439" name="Linie Linie" descr="Linie Linie"/>
          <p:cNvPicPr>
            <a:picLocks noChangeAspect="0"/>
          </p:cNvPicPr>
          <p:nvPr/>
        </p:nvPicPr>
        <p:blipFill>
          <a:blip r:embed="rId3">
            <a:extLst/>
          </a:blip>
          <a:stretch>
            <a:fillRect/>
          </a:stretch>
        </p:blipFill>
        <p:spPr>
          <a:xfrm>
            <a:off x="4710236" y="7327666"/>
            <a:ext cx="18587209"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30"/>
                                        </p:tgtEl>
                                        <p:attrNameLst>
                                          <p:attrName>style.visibility</p:attrName>
                                        </p:attrNameLst>
                                      </p:cBhvr>
                                      <p:to>
                                        <p:strVal val="visible"/>
                                      </p:to>
                                    </p:set>
                                    <p:anim calcmode="lin" valueType="num">
                                      <p:cBhvr>
                                        <p:cTn id="7" dur="1000" fill="hold"/>
                                        <p:tgtEl>
                                          <p:spTgt spid="430"/>
                                        </p:tgtEl>
                                        <p:attrNameLst>
                                          <p:attrName>ppt_x</p:attrName>
                                        </p:attrNameLst>
                                      </p:cBhvr>
                                      <p:tavLst>
                                        <p:tav tm="0">
                                          <p:val>
                                            <p:strVal val="0-#ppt_w/2"/>
                                          </p:val>
                                        </p:tav>
                                        <p:tav tm="100000">
                                          <p:val>
                                            <p:strVal val="#ppt_x"/>
                                          </p:val>
                                        </p:tav>
                                      </p:tavLst>
                                    </p:anim>
                                    <p:anim calcmode="lin" valueType="num">
                                      <p:cBhvr>
                                        <p:cTn id="8" dur="1000" fill="hold"/>
                                        <p:tgtEl>
                                          <p:spTgt spid="43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431"/>
                                        </p:tgtEl>
                                        <p:attrNameLst>
                                          <p:attrName>style.visibility</p:attrName>
                                        </p:attrNameLst>
                                      </p:cBhvr>
                                      <p:to>
                                        <p:strVal val="visible"/>
                                      </p:to>
                                    </p:set>
                                    <p:animEffect filter="dissolve" transition="in">
                                      <p:cBhvr>
                                        <p:cTn id="12" dur="2000"/>
                                        <p:tgtEl>
                                          <p:spTgt spid="431"/>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437"/>
                                        </p:tgtEl>
                                        <p:attrNameLst>
                                          <p:attrName>style.visibility</p:attrName>
                                        </p:attrNameLst>
                                      </p:cBhvr>
                                      <p:to>
                                        <p:strVal val="visible"/>
                                      </p:to>
                                    </p:set>
                                    <p:animEffect filter="dissolve" transition="in">
                                      <p:cBhvr>
                                        <p:cTn id="16" dur="2000"/>
                                        <p:tgtEl>
                                          <p:spTgt spid="43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433"/>
                                        </p:tgtEl>
                                        <p:attrNameLst>
                                          <p:attrName>style.visibility</p:attrName>
                                        </p:attrNameLst>
                                      </p:cBhvr>
                                      <p:to>
                                        <p:strVal val="visible"/>
                                      </p:to>
                                    </p:set>
                                    <p:anim calcmode="lin" valueType="num">
                                      <p:cBhvr>
                                        <p:cTn id="21" dur="1000" fill="hold"/>
                                        <p:tgtEl>
                                          <p:spTgt spid="433"/>
                                        </p:tgtEl>
                                        <p:attrNameLst>
                                          <p:attrName>ppt_x</p:attrName>
                                        </p:attrNameLst>
                                      </p:cBhvr>
                                      <p:tavLst>
                                        <p:tav tm="0">
                                          <p:val>
                                            <p:strVal val="0-#ppt_w/2"/>
                                          </p:val>
                                        </p:tav>
                                        <p:tav tm="100000">
                                          <p:val>
                                            <p:strVal val="#ppt_x"/>
                                          </p:val>
                                        </p:tav>
                                      </p:tavLst>
                                    </p:anim>
                                    <p:anim calcmode="lin" valueType="num">
                                      <p:cBhvr>
                                        <p:cTn id="22" dur="1000" fill="hold"/>
                                        <p:tgtEl>
                                          <p:spTgt spid="433"/>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439"/>
                                        </p:tgtEl>
                                        <p:attrNameLst>
                                          <p:attrName>style.visibility</p:attrName>
                                        </p:attrNameLst>
                                      </p:cBhvr>
                                      <p:to>
                                        <p:strVal val="visible"/>
                                      </p:to>
                                    </p:set>
                                    <p:animEffect filter="dissolve" transition="in">
                                      <p:cBhvr>
                                        <p:cTn id="26" dur="2000"/>
                                        <p:tgtEl>
                                          <p:spTgt spid="439"/>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6" fill="hold">
                                  <p:stCondLst>
                                    <p:cond delay="0"/>
                                  </p:stCondLst>
                                  <p:iterate type="el" backwards="0">
                                    <p:tmAbs val="0"/>
                                  </p:iterate>
                                  <p:childTnLst>
                                    <p:set>
                                      <p:cBhvr>
                                        <p:cTn id="30" fill="hold"/>
                                        <p:tgtEl>
                                          <p:spTgt spid="434"/>
                                        </p:tgtEl>
                                        <p:attrNameLst>
                                          <p:attrName>style.visibility</p:attrName>
                                        </p:attrNameLst>
                                      </p:cBhvr>
                                      <p:to>
                                        <p:strVal val="visible"/>
                                      </p:to>
                                    </p:set>
                                    <p:anim calcmode="lin" valueType="num">
                                      <p:cBhvr>
                                        <p:cTn id="31" dur="1000" fill="hold"/>
                                        <p:tgtEl>
                                          <p:spTgt spid="434"/>
                                        </p:tgtEl>
                                        <p:attrNameLst>
                                          <p:attrName>ppt_x</p:attrName>
                                        </p:attrNameLst>
                                      </p:cBhvr>
                                      <p:tavLst>
                                        <p:tav tm="0">
                                          <p:val>
                                            <p:strVal val="0-#ppt_w/2"/>
                                          </p:val>
                                        </p:tav>
                                        <p:tav tm="100000">
                                          <p:val>
                                            <p:strVal val="#ppt_x"/>
                                          </p:val>
                                        </p:tav>
                                      </p:tavLst>
                                    </p:anim>
                                    <p:anim calcmode="lin" valueType="num">
                                      <p:cBhvr>
                                        <p:cTn id="32" dur="1000" fill="hold"/>
                                        <p:tgtEl>
                                          <p:spTgt spid="434"/>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Class="entr" nodeType="afterEffect" presetSubtype="8" presetID="2" grpId="7" fill="hold">
                                  <p:stCondLst>
                                    <p:cond delay="0"/>
                                  </p:stCondLst>
                                  <p:iterate type="el" backwards="0">
                                    <p:tmAbs val="0"/>
                                  </p:iterate>
                                  <p:childTnLst>
                                    <p:set>
                                      <p:cBhvr>
                                        <p:cTn id="35" fill="hold"/>
                                        <p:tgtEl>
                                          <p:spTgt spid="435"/>
                                        </p:tgtEl>
                                        <p:attrNameLst>
                                          <p:attrName>style.visibility</p:attrName>
                                        </p:attrNameLst>
                                      </p:cBhvr>
                                      <p:to>
                                        <p:strVal val="visible"/>
                                      </p:to>
                                    </p:set>
                                    <p:anim calcmode="lin" valueType="num">
                                      <p:cBhvr>
                                        <p:cTn id="36" dur="1000" fill="hold"/>
                                        <p:tgtEl>
                                          <p:spTgt spid="435"/>
                                        </p:tgtEl>
                                        <p:attrNameLst>
                                          <p:attrName>ppt_x</p:attrName>
                                        </p:attrNameLst>
                                      </p:cBhvr>
                                      <p:tavLst>
                                        <p:tav tm="0">
                                          <p:val>
                                            <p:strVal val="0-#ppt_w/2"/>
                                          </p:val>
                                        </p:tav>
                                        <p:tav tm="100000">
                                          <p:val>
                                            <p:strVal val="#ppt_x"/>
                                          </p:val>
                                        </p:tav>
                                      </p:tavLst>
                                    </p:anim>
                                    <p:anim calcmode="lin" valueType="num">
                                      <p:cBhvr>
                                        <p:cTn id="37" dur="1000" fill="hold"/>
                                        <p:tgtEl>
                                          <p:spTgt spid="435"/>
                                        </p:tgtEl>
                                        <p:attrNameLst>
                                          <p:attrName>ppt_y</p:attrName>
                                        </p:attrNameLst>
                                      </p:cBhvr>
                                      <p:tavLst>
                                        <p:tav tm="0">
                                          <p:val>
                                            <p:strVal val="#ppt_y"/>
                                          </p:val>
                                        </p:tav>
                                        <p:tav tm="100000">
                                          <p:val>
                                            <p:strVal val="#ppt_y"/>
                                          </p:val>
                                        </p:tav>
                                      </p:tavLst>
                                    </p:anim>
                                  </p:childTnLst>
                                </p:cTn>
                              </p:par>
                            </p:childTnLst>
                          </p:cTn>
                        </p:par>
                        <p:par>
                          <p:cTn id="38" fill="hold">
                            <p:stCondLst>
                              <p:cond delay="2000"/>
                            </p:stCondLst>
                            <p:childTnLst>
                              <p:par>
                                <p:cTn id="39" presetClass="entr" nodeType="afterEffect" presetSubtype="8" presetID="2" grpId="8" fill="hold">
                                  <p:stCondLst>
                                    <p:cond delay="0"/>
                                  </p:stCondLst>
                                  <p:iterate type="el" backwards="0">
                                    <p:tmAbs val="0"/>
                                  </p:iterate>
                                  <p:childTnLst>
                                    <p:set>
                                      <p:cBhvr>
                                        <p:cTn id="40" fill="hold"/>
                                        <p:tgtEl>
                                          <p:spTgt spid="436"/>
                                        </p:tgtEl>
                                        <p:attrNameLst>
                                          <p:attrName>style.visibility</p:attrName>
                                        </p:attrNameLst>
                                      </p:cBhvr>
                                      <p:to>
                                        <p:strVal val="visible"/>
                                      </p:to>
                                    </p:set>
                                    <p:anim calcmode="lin" valueType="num">
                                      <p:cBhvr>
                                        <p:cTn id="41" dur="1000" fill="hold"/>
                                        <p:tgtEl>
                                          <p:spTgt spid="436"/>
                                        </p:tgtEl>
                                        <p:attrNameLst>
                                          <p:attrName>ppt_x</p:attrName>
                                        </p:attrNameLst>
                                      </p:cBhvr>
                                      <p:tavLst>
                                        <p:tav tm="0">
                                          <p:val>
                                            <p:strVal val="0-#ppt_w/2"/>
                                          </p:val>
                                        </p:tav>
                                        <p:tav tm="100000">
                                          <p:val>
                                            <p:strVal val="#ppt_x"/>
                                          </p:val>
                                        </p:tav>
                                      </p:tavLst>
                                    </p:anim>
                                    <p:anim calcmode="lin" valueType="num">
                                      <p:cBhvr>
                                        <p:cTn id="42" dur="1000" fill="hold"/>
                                        <p:tgtEl>
                                          <p:spTgt spid="4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0" grpId="1"/>
      <p:bldP build="whole" bldLvl="1" animBg="1" rev="0" advAuto="0" spid="436" grpId="8"/>
      <p:bldP build="whole" bldLvl="1" animBg="1" rev="0" advAuto="0" spid="434" grpId="6"/>
      <p:bldP build="whole" bldLvl="1" animBg="1" rev="0" advAuto="0" spid="433" grpId="4"/>
      <p:bldP build="whole" bldLvl="1" animBg="1" rev="0" advAuto="0" spid="431" grpId="2"/>
      <p:bldP build="whole" bldLvl="1" animBg="1" rev="0" advAuto="0" spid="437" grpId="3"/>
      <p:bldP build="whole" bldLvl="1" animBg="1" rev="0" advAuto="0" spid="439" grpId="5"/>
      <p:bldP build="whole" bldLvl="1" animBg="1" rev="0" advAuto="0" spid="435" grpId="7"/>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43"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44" name="În general, sunt două tipuri mari și late:"/>
          <p:cNvSpPr txBox="1"/>
          <p:nvPr/>
        </p:nvSpPr>
        <p:spPr>
          <a:xfrm>
            <a:off x="451346" y="2929639"/>
            <a:ext cx="23048563" cy="2125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0638" indent="-540638" defTabSz="2413954">
              <a:spcBef>
                <a:spcPts val="2300"/>
              </a:spcBef>
              <a:buSzPct val="150000"/>
              <a:buChar char="•"/>
              <a:defRPr sz="4356">
                <a:latin typeface="Canela Text Regular"/>
                <a:ea typeface="Canela Text Regular"/>
                <a:cs typeface="Canela Text Regular"/>
                <a:sym typeface="Canela Text Regular"/>
              </a:defRPr>
            </a:lvl1pPr>
          </a:lstStyle>
          <a:p>
            <a:pPr/>
            <a:r>
              <a:t>Metoda Silhouette ia în considerare cât de bine este plasat fiecare punct în interiorul clusterului său, comparând distanța medie față de punctele din clusterul cel mai apropiat</a:t>
            </a:r>
          </a:p>
        </p:txBody>
      </p:sp>
      <p:sp>
        <p:nvSpPr>
          <p:cNvPr id="445" name="În general, sunt două tipuri mari și late:"/>
          <p:cNvSpPr txBox="1"/>
          <p:nvPr/>
        </p:nvSpPr>
        <p:spPr>
          <a:xfrm>
            <a:off x="1327471" y="4640684"/>
            <a:ext cx="23048563" cy="21259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scor apropiat de 1 indică faptul că punctul este bine alocat clusterului său și este bine separat de alte clustere.</a:t>
            </a:r>
          </a:p>
        </p:txBody>
      </p:sp>
      <p:sp>
        <p:nvSpPr>
          <p:cNvPr id="446" name="În general, sunt două tipuri mari și late:"/>
          <p:cNvSpPr txBox="1"/>
          <p:nvPr/>
        </p:nvSpPr>
        <p:spPr>
          <a:xfrm>
            <a:off x="1327471" y="6479786"/>
            <a:ext cx="23048563" cy="104005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scor de aproximativ 0 indică faptul că punctul este la granița dintre două clustere</a:t>
            </a:r>
          </a:p>
        </p:txBody>
      </p:sp>
      <p:sp>
        <p:nvSpPr>
          <p:cNvPr id="447" name="În general, sunt două tipuri mari și late:"/>
          <p:cNvSpPr txBox="1"/>
          <p:nvPr/>
        </p:nvSpPr>
        <p:spPr>
          <a:xfrm>
            <a:off x="1327471" y="7539460"/>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scor negativ (aproape de -1) arată că punctul este probabil alocat unui cluster greșit, fiind mai aproape de alt cluster</a:t>
            </a:r>
          </a:p>
        </p:txBody>
      </p:sp>
      <p:pic>
        <p:nvPicPr>
          <p:cNvPr id="448" name="Linie Linie" descr="Linie Linie"/>
          <p:cNvPicPr>
            <a:picLocks noChangeAspect="0"/>
          </p:cNvPicPr>
          <p:nvPr/>
        </p:nvPicPr>
        <p:blipFill>
          <a:blip r:embed="rId2">
            <a:extLst/>
          </a:blip>
          <a:stretch>
            <a:fillRect/>
          </a:stretch>
        </p:blipFill>
        <p:spPr>
          <a:xfrm>
            <a:off x="4785148" y="4462265"/>
            <a:ext cx="18587209" cy="101601"/>
          </a:xfrm>
          <a:prstGeom prst="rect">
            <a:avLst/>
          </a:prstGeom>
        </p:spPr>
      </p:pic>
      <p:sp>
        <p:nvSpPr>
          <p:cNvPr id="450" name="În general, sunt două tipuri mari și late:"/>
          <p:cNvSpPr txBox="1"/>
          <p:nvPr/>
        </p:nvSpPr>
        <p:spPr>
          <a:xfrm>
            <a:off x="798987" y="9435762"/>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Calculăm media scorurilor Silhouette pentru toate punctele. Acest scor mediu reprezintă scorul Silhouette general și indică calitatea globală a modelului</a:t>
            </a:r>
          </a:p>
        </p:txBody>
      </p:sp>
      <p:sp>
        <p:nvSpPr>
          <p:cNvPr id="451" name="În general, sunt două tipuri mari și late:"/>
          <p:cNvSpPr txBox="1"/>
          <p:nvPr/>
        </p:nvSpPr>
        <p:spPr>
          <a:xfrm>
            <a:off x="798987" y="11135924"/>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Cu cât scorul mediu este mai mare, cu atât modelul este mai bun</a:t>
            </a:r>
          </a:p>
        </p:txBody>
      </p:sp>
      <p:pic>
        <p:nvPicPr>
          <p:cNvPr id="452" name="Linie Linie" descr="Linie Linie"/>
          <p:cNvPicPr>
            <a:picLocks noChangeAspect="0"/>
          </p:cNvPicPr>
          <p:nvPr/>
        </p:nvPicPr>
        <p:blipFill>
          <a:blip r:embed="rId3">
            <a:extLst/>
          </a:blip>
          <a:stretch>
            <a:fillRect/>
          </a:stretch>
        </p:blipFill>
        <p:spPr>
          <a:xfrm>
            <a:off x="3882102" y="10290192"/>
            <a:ext cx="12682148" cy="101601"/>
          </a:xfrm>
          <a:prstGeom prst="rect">
            <a:avLst/>
          </a:prstGeom>
        </p:spPr>
      </p:pic>
      <p:pic>
        <p:nvPicPr>
          <p:cNvPr id="454" name="Linie Linie" descr="Linie Linie"/>
          <p:cNvPicPr>
            <a:picLocks noChangeAspect="0"/>
          </p:cNvPicPr>
          <p:nvPr/>
        </p:nvPicPr>
        <p:blipFill>
          <a:blip r:embed="rId4">
            <a:extLst/>
          </a:blip>
          <a:stretch>
            <a:fillRect/>
          </a:stretch>
        </p:blipFill>
        <p:spPr>
          <a:xfrm>
            <a:off x="8635967" y="12029964"/>
            <a:ext cx="1680516" cy="101601"/>
          </a:xfrm>
          <a:prstGeom prst="rect">
            <a:avLst/>
          </a:prstGeom>
        </p:spPr>
      </p:pic>
      <p:pic>
        <p:nvPicPr>
          <p:cNvPr id="456" name="Linie Linie" descr="Linie Linie"/>
          <p:cNvPicPr>
            <a:picLocks noChangeAspect="0"/>
          </p:cNvPicPr>
          <p:nvPr/>
        </p:nvPicPr>
        <p:blipFill>
          <a:blip r:embed="rId4">
            <a:extLst/>
          </a:blip>
          <a:stretch>
            <a:fillRect/>
          </a:stretch>
        </p:blipFill>
        <p:spPr>
          <a:xfrm>
            <a:off x="16310396" y="12029964"/>
            <a:ext cx="1680517"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450"/>
                                        </p:tgtEl>
                                        <p:attrNameLst>
                                          <p:attrName>style.visibility</p:attrName>
                                        </p:attrNameLst>
                                      </p:cBhvr>
                                      <p:to>
                                        <p:strVal val="visible"/>
                                      </p:to>
                                    </p:set>
                                    <p:anim calcmode="lin" valueType="num">
                                      <p:cBhvr>
                                        <p:cTn id="7" dur="1000" fill="hold"/>
                                        <p:tgtEl>
                                          <p:spTgt spid="450"/>
                                        </p:tgtEl>
                                        <p:attrNameLst>
                                          <p:attrName>ppt_x</p:attrName>
                                        </p:attrNameLst>
                                      </p:cBhvr>
                                      <p:tavLst>
                                        <p:tav tm="0">
                                          <p:val>
                                            <p:strVal val="0-#ppt_w/2"/>
                                          </p:val>
                                        </p:tav>
                                        <p:tav tm="100000">
                                          <p:val>
                                            <p:strVal val="#ppt_x"/>
                                          </p:val>
                                        </p:tav>
                                      </p:tavLst>
                                    </p:anim>
                                    <p:anim calcmode="lin" valueType="num">
                                      <p:cBhvr>
                                        <p:cTn id="8" dur="1000" fill="hold"/>
                                        <p:tgtEl>
                                          <p:spTgt spid="45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452"/>
                                        </p:tgtEl>
                                        <p:attrNameLst>
                                          <p:attrName>style.visibility</p:attrName>
                                        </p:attrNameLst>
                                      </p:cBhvr>
                                      <p:to>
                                        <p:strVal val="visible"/>
                                      </p:to>
                                    </p:set>
                                    <p:animEffect filter="dissolve" transition="in">
                                      <p:cBhvr>
                                        <p:cTn id="12" dur="2000"/>
                                        <p:tgtEl>
                                          <p:spTgt spid="45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451"/>
                                        </p:tgtEl>
                                        <p:attrNameLst>
                                          <p:attrName>style.visibility</p:attrName>
                                        </p:attrNameLst>
                                      </p:cBhvr>
                                      <p:to>
                                        <p:strVal val="visible"/>
                                      </p:to>
                                    </p:set>
                                    <p:anim calcmode="lin" valueType="num">
                                      <p:cBhvr>
                                        <p:cTn id="17" dur="1000" fill="hold"/>
                                        <p:tgtEl>
                                          <p:spTgt spid="451"/>
                                        </p:tgtEl>
                                        <p:attrNameLst>
                                          <p:attrName>ppt_x</p:attrName>
                                        </p:attrNameLst>
                                      </p:cBhvr>
                                      <p:tavLst>
                                        <p:tav tm="0">
                                          <p:val>
                                            <p:strVal val="0-#ppt_w/2"/>
                                          </p:val>
                                        </p:tav>
                                        <p:tav tm="100000">
                                          <p:val>
                                            <p:strVal val="#ppt_x"/>
                                          </p:val>
                                        </p:tav>
                                      </p:tavLst>
                                    </p:anim>
                                    <p:anim calcmode="lin" valueType="num">
                                      <p:cBhvr>
                                        <p:cTn id="18" dur="1000" fill="hold"/>
                                        <p:tgtEl>
                                          <p:spTgt spid="451"/>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454"/>
                                        </p:tgtEl>
                                        <p:attrNameLst>
                                          <p:attrName>style.visibility</p:attrName>
                                        </p:attrNameLst>
                                      </p:cBhvr>
                                      <p:to>
                                        <p:strVal val="visible"/>
                                      </p:to>
                                    </p:set>
                                    <p:animEffect filter="dissolve" transition="in">
                                      <p:cBhvr>
                                        <p:cTn id="22" dur="2000"/>
                                        <p:tgtEl>
                                          <p:spTgt spid="454"/>
                                        </p:tgtEl>
                                      </p:cBhvr>
                                    </p:animEffect>
                                  </p:childTnLst>
                                </p:cTn>
                              </p:par>
                            </p:childTnLst>
                          </p:cTn>
                        </p:par>
                        <p:par>
                          <p:cTn id="23" fill="hold">
                            <p:stCondLst>
                              <p:cond delay="3000"/>
                            </p:stCondLst>
                            <p:childTnLst>
                              <p:par>
                                <p:cTn id="24" presetClass="entr" nodeType="afterEffect" presetID="9" grpId="5" fill="hold">
                                  <p:stCondLst>
                                    <p:cond delay="0"/>
                                  </p:stCondLst>
                                  <p:iterate type="el" backwards="0">
                                    <p:tmAbs val="0"/>
                                  </p:iterate>
                                  <p:childTnLst>
                                    <p:set>
                                      <p:cBhvr>
                                        <p:cTn id="25" fill="hold"/>
                                        <p:tgtEl>
                                          <p:spTgt spid="456"/>
                                        </p:tgtEl>
                                        <p:attrNameLst>
                                          <p:attrName>style.visibility</p:attrName>
                                        </p:attrNameLst>
                                      </p:cBhvr>
                                      <p:to>
                                        <p:strVal val="visible"/>
                                      </p:to>
                                    </p:set>
                                    <p:animEffect filter="dissolve" transition="in">
                                      <p:cBhvr>
                                        <p:cTn id="26" dur="20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0" grpId="1"/>
      <p:bldP build="whole" bldLvl="1" animBg="1" rev="0" advAuto="0" spid="452" grpId="2"/>
      <p:bldP build="whole" bldLvl="1" animBg="1" rev="0" advAuto="0" spid="456" grpId="5"/>
      <p:bldP build="whole" bldLvl="1" animBg="1" rev="0" advAuto="0" spid="454" grpId="4"/>
      <p:bldP build="whole" bldLvl="1" animBg="1" rev="0" advAuto="0" spid="451" grpId="3"/>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60"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461" name="Captură de ecran din 2024-11-04 la 00.15.40.png" descr="Captură de ecran din 2024-11-04 la 00.15.40.png"/>
          <p:cNvPicPr>
            <a:picLocks noChangeAspect="1"/>
          </p:cNvPicPr>
          <p:nvPr/>
        </p:nvPicPr>
        <p:blipFill>
          <a:blip r:embed="rId2">
            <a:extLst/>
          </a:blip>
          <a:stretch>
            <a:fillRect/>
          </a:stretch>
        </p:blipFill>
        <p:spPr>
          <a:xfrm>
            <a:off x="3748489" y="2858846"/>
            <a:ext cx="16887022" cy="6000336"/>
          </a:xfrm>
          <a:prstGeom prst="rect">
            <a:avLst/>
          </a:prstGeom>
          <a:ln w="12700">
            <a:miter lim="400000"/>
          </a:ln>
        </p:spPr>
      </p:pic>
      <p:sp>
        <p:nvSpPr>
          <p:cNvPr id="462" name="În general, sunt două tipuri mari și late:"/>
          <p:cNvSpPr txBox="1"/>
          <p:nvPr/>
        </p:nvSpPr>
        <p:spPr>
          <a:xfrm>
            <a:off x="376434" y="8735353"/>
            <a:ext cx="23048563" cy="12495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Metoda Silhouette ne oferă o confirmare că K = 4 e o alegere bună</a:t>
            </a:r>
          </a:p>
        </p:txBody>
      </p:sp>
      <p:sp>
        <p:nvSpPr>
          <p:cNvPr id="463" name="În general, sunt două tipuri mari și late:"/>
          <p:cNvSpPr txBox="1"/>
          <p:nvPr/>
        </p:nvSpPr>
        <p:spPr>
          <a:xfrm>
            <a:off x="376434" y="9705118"/>
            <a:ext cx="23048563" cy="213228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De asemenea, prezintă niște rezultate calitative foarte bune: acum ne dăm seama că ce e dupa K = 4 s-ar putea să nu mai fie așa de bun</a:t>
            </a:r>
          </a:p>
        </p:txBody>
      </p:sp>
      <p:sp>
        <p:nvSpPr>
          <p:cNvPr id="464" name="În general, sunt două tipuri mari și late:"/>
          <p:cNvSpPr txBox="1"/>
          <p:nvPr/>
        </p:nvSpPr>
        <p:spPr>
          <a:xfrm>
            <a:off x="376434" y="11424007"/>
            <a:ext cx="23048563" cy="213228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Lucrul acesta nu era evident la metoda elbow</a:t>
            </a:r>
          </a:p>
        </p:txBody>
      </p:sp>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66" name="Captură de ecran din 2024-11-04 la 01.02.21.png" descr="Captură de ecran din 2024-11-04 la 01.02.21.png"/>
          <p:cNvPicPr>
            <a:picLocks noChangeAspect="1"/>
          </p:cNvPicPr>
          <p:nvPr/>
        </p:nvPicPr>
        <p:blipFill>
          <a:blip r:embed="rId2">
            <a:extLst/>
          </a:blip>
          <a:stretch>
            <a:fillRect/>
          </a:stretch>
        </p:blipFill>
        <p:spPr>
          <a:xfrm>
            <a:off x="3490721" y="3639489"/>
            <a:ext cx="17402558" cy="8710789"/>
          </a:xfrm>
          <a:prstGeom prst="rect">
            <a:avLst/>
          </a:prstGeom>
          <a:ln w="12700">
            <a:miter lim="400000"/>
          </a:ln>
        </p:spPr>
      </p:pic>
      <p:sp>
        <p:nvSpPr>
          <p:cNvPr id="46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68"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69" name="În general, sunt două tipuri mari și late:"/>
          <p:cNvSpPr txBox="1"/>
          <p:nvPr/>
        </p:nvSpPr>
        <p:spPr>
          <a:xfrm>
            <a:off x="451346" y="2657516"/>
            <a:ext cx="23048563" cy="12495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Aplicarea K-Means original pe un set de date</a:t>
            </a:r>
          </a:p>
        </p:txBody>
      </p:sp>
      <p:sp>
        <p:nvSpPr>
          <p:cNvPr id="470" name="clf = KMeans(n_clusters=2, n_init=1, algorithm='lloyd',  init='random', random_state=42)"/>
          <p:cNvSpPr txBox="1"/>
          <p:nvPr/>
        </p:nvSpPr>
        <p:spPr>
          <a:xfrm>
            <a:off x="4610318" y="7427625"/>
            <a:ext cx="10702430" cy="38539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000">
                <a:solidFill>
                  <a:srgbClr val="FFFFFF"/>
                </a:solidFill>
                <a:latin typeface="Arial"/>
                <a:ea typeface="Arial"/>
                <a:cs typeface="Arial"/>
                <a:sym typeface="Arial"/>
              </a:defRPr>
            </a:lvl1pPr>
          </a:lstStyle>
          <a:p>
            <a:pPr/>
            <a:r>
              <a:t>clf = KMeans(n_clusters=2, n_init=1, algorithm='lloyd',  init='random', random_state=42)</a:t>
            </a:r>
          </a:p>
        </p:txBody>
      </p:sp>
      <p:pic>
        <p:nvPicPr>
          <p:cNvPr id="471" name="Linie Linie" descr="Linie Linie"/>
          <p:cNvPicPr>
            <a:picLocks noChangeAspect="0"/>
          </p:cNvPicPr>
          <p:nvPr/>
        </p:nvPicPr>
        <p:blipFill>
          <a:blip r:embed="rId3">
            <a:extLst/>
          </a:blip>
          <a:stretch>
            <a:fillRect/>
          </a:stretch>
        </p:blipFill>
        <p:spPr>
          <a:xfrm>
            <a:off x="8337131" y="4542854"/>
            <a:ext cx="1118911" cy="101601"/>
          </a:xfrm>
          <a:prstGeom prst="rect">
            <a:avLst/>
          </a:prstGeom>
        </p:spPr>
      </p:pic>
      <p:pic>
        <p:nvPicPr>
          <p:cNvPr id="473" name="Linie Linie" descr="Linie Linie"/>
          <p:cNvPicPr>
            <a:picLocks noChangeAspect="0"/>
          </p:cNvPicPr>
          <p:nvPr/>
        </p:nvPicPr>
        <p:blipFill>
          <a:blip r:embed="rId3">
            <a:extLst/>
          </a:blip>
          <a:stretch>
            <a:fillRect/>
          </a:stretch>
        </p:blipFill>
        <p:spPr>
          <a:xfrm>
            <a:off x="5186712" y="7812986"/>
            <a:ext cx="1118911"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71"/>
                                        </p:tgtEl>
                                        <p:attrNameLst>
                                          <p:attrName>style.visibility</p:attrName>
                                        </p:attrNameLst>
                                      </p:cBhvr>
                                      <p:to>
                                        <p:strVal val="visible"/>
                                      </p:to>
                                    </p:set>
                                    <p:animEffect filter="dissolve" transition="in">
                                      <p:cBhvr>
                                        <p:cTn id="7" dur="2000"/>
                                        <p:tgtEl>
                                          <p:spTgt spid="471"/>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473"/>
                                        </p:tgtEl>
                                        <p:attrNameLst>
                                          <p:attrName>style.visibility</p:attrName>
                                        </p:attrNameLst>
                                      </p:cBhvr>
                                      <p:to>
                                        <p:strVal val="visible"/>
                                      </p:to>
                                    </p:set>
                                    <p:animEffect filter="dissolve" transition="in">
                                      <p:cBhvr>
                                        <p:cTn id="11" dur="2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71" grpId="1"/>
      <p:bldP build="whole" bldLvl="1" animBg="1" rev="0" advAuto="0" spid="473" grpId="2"/>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77"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78" name="clf = KMeans(n_clusters=2, n_init=1, algorithm='lloyd',  init='random', random_state=42)"/>
          <p:cNvSpPr txBox="1"/>
          <p:nvPr/>
        </p:nvSpPr>
        <p:spPr>
          <a:xfrm>
            <a:off x="487908" y="3871373"/>
            <a:ext cx="23408184" cy="71831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Arial"/>
                <a:ea typeface="Arial"/>
                <a:cs typeface="Arial"/>
                <a:sym typeface="Arial"/>
              </a:defRPr>
            </a:lvl1pPr>
          </a:lstStyle>
          <a:p>
            <a:pPr/>
            <a:r>
              <a:t>clf = KMeans(n_clusters=2, n_init=1, algorithm='lloyd',  init='random', random_state=42)</a:t>
            </a:r>
          </a:p>
        </p:txBody>
      </p:sp>
      <p:sp>
        <p:nvSpPr>
          <p:cNvPr id="479" name="Parametri:"/>
          <p:cNvSpPr txBox="1"/>
          <p:nvPr/>
        </p:nvSpPr>
        <p:spPr>
          <a:xfrm>
            <a:off x="433950" y="4742655"/>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480" name="În general, sunt două tipuri mari și late:"/>
          <p:cNvSpPr txBox="1"/>
          <p:nvPr/>
        </p:nvSpPr>
        <p:spPr>
          <a:xfrm>
            <a:off x="1117193" y="5700779"/>
            <a:ext cx="23048563" cy="13926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n_clusters: câte grupuri să găsească modelul</a:t>
            </a:r>
          </a:p>
        </p:txBody>
      </p:sp>
      <p:sp>
        <p:nvSpPr>
          <p:cNvPr id="481" name="În general, sunt două tipuri mari și late:"/>
          <p:cNvSpPr txBox="1"/>
          <p:nvPr/>
        </p:nvSpPr>
        <p:spPr>
          <a:xfrm>
            <a:off x="1117193" y="6689273"/>
            <a:ext cx="23048563" cy="11285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n_init: se vor antrena n_init modele și se va păstra modelul cel mai bun</a:t>
            </a:r>
          </a:p>
        </p:txBody>
      </p:sp>
      <p:sp>
        <p:nvSpPr>
          <p:cNvPr id="482" name="În general, sunt două tipuri mari și late:"/>
          <p:cNvSpPr txBox="1"/>
          <p:nvPr/>
        </p:nvSpPr>
        <p:spPr>
          <a:xfrm>
            <a:off x="1117193" y="7602853"/>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algorithm: dacă se folosește varianta originală (lloyd) sau, dacă e nesetat, se folosește o valoare optimizată (care e și default)</a:t>
            </a:r>
          </a:p>
        </p:txBody>
      </p:sp>
      <p:sp>
        <p:nvSpPr>
          <p:cNvPr id="483" name="În general, sunt două tipuri mari și late:"/>
          <p:cNvSpPr txBox="1"/>
          <p:nvPr/>
        </p:nvSpPr>
        <p:spPr>
          <a:xfrm>
            <a:off x="1117193" y="9054990"/>
            <a:ext cx="23048563" cy="13926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init: cum sunt inițializați centroizii pentru cele n_init modele</a:t>
            </a:r>
          </a:p>
        </p:txBody>
      </p:sp>
      <p:sp>
        <p:nvSpPr>
          <p:cNvPr id="484" name="În general, sunt două tipuri mari și late:"/>
          <p:cNvSpPr txBox="1"/>
          <p:nvPr/>
        </p:nvSpPr>
        <p:spPr>
          <a:xfrm>
            <a:off x="2236783" y="9796591"/>
            <a:ext cx="23048563" cy="11285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„random” le inițializează random</a:t>
            </a:r>
          </a:p>
        </p:txBody>
      </p:sp>
      <p:sp>
        <p:nvSpPr>
          <p:cNvPr id="485" name="În general, sunt două tipuri mari și late:"/>
          <p:cNvSpPr txBox="1"/>
          <p:nvPr/>
        </p:nvSpPr>
        <p:spPr>
          <a:xfrm>
            <a:off x="2236783" y="10504163"/>
            <a:ext cx="23048563" cy="11285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„k-means++” optimizează alegerea centroizilor la început (e default) </a:t>
            </a:r>
          </a:p>
        </p:txBody>
      </p:sp>
      <p:sp>
        <p:nvSpPr>
          <p:cNvPr id="486" name="În loc să aleagă centroizii random, K-Means++ alege centroizii inițiali astfel încât aceștia să fie depărtați unul de altul, iar din experimente duce la rezultate mai bune"/>
          <p:cNvSpPr txBox="1"/>
          <p:nvPr/>
        </p:nvSpPr>
        <p:spPr>
          <a:xfrm>
            <a:off x="622731" y="11535441"/>
            <a:ext cx="23138538" cy="16891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În loc să aleagă centroizii random, K-Means++ alege centroizii inițiali astfel încât aceștia să fie depărtați unul de altul, iar din experimente duce la rezultate mai bune</a:t>
            </a:r>
          </a:p>
        </p:txBody>
      </p:sp>
      <p:pic>
        <p:nvPicPr>
          <p:cNvPr id="487" name="Linie Linie" descr="Linie Linie"/>
          <p:cNvPicPr>
            <a:picLocks noChangeAspect="0"/>
          </p:cNvPicPr>
          <p:nvPr/>
        </p:nvPicPr>
        <p:blipFill>
          <a:blip r:embed="rId2">
            <a:extLst/>
          </a:blip>
          <a:stretch>
            <a:fillRect/>
          </a:stretch>
        </p:blipFill>
        <p:spPr>
          <a:xfrm>
            <a:off x="16431693" y="7496127"/>
            <a:ext cx="3179735" cy="101601"/>
          </a:xfrm>
          <a:prstGeom prst="rect">
            <a:avLst/>
          </a:prstGeom>
        </p:spPr>
      </p:pic>
      <p:pic>
        <p:nvPicPr>
          <p:cNvPr id="489" name="Linie Linie" descr="Linie Linie"/>
          <p:cNvPicPr>
            <a:picLocks noChangeAspect="0"/>
          </p:cNvPicPr>
          <p:nvPr/>
        </p:nvPicPr>
        <p:blipFill>
          <a:blip r:embed="rId3">
            <a:extLst/>
          </a:blip>
          <a:stretch>
            <a:fillRect/>
          </a:stretch>
        </p:blipFill>
        <p:spPr>
          <a:xfrm>
            <a:off x="8992536" y="8385619"/>
            <a:ext cx="4300614" cy="101601"/>
          </a:xfrm>
          <a:prstGeom prst="rect">
            <a:avLst/>
          </a:prstGeom>
        </p:spPr>
      </p:pic>
      <p:pic>
        <p:nvPicPr>
          <p:cNvPr id="491" name="Linie Linie" descr="Linie Linie"/>
          <p:cNvPicPr>
            <a:picLocks noChangeAspect="0"/>
          </p:cNvPicPr>
          <p:nvPr/>
        </p:nvPicPr>
        <p:blipFill>
          <a:blip r:embed="rId4">
            <a:extLst/>
          </a:blip>
          <a:stretch>
            <a:fillRect/>
          </a:stretch>
        </p:blipFill>
        <p:spPr>
          <a:xfrm>
            <a:off x="489974" y="13124031"/>
            <a:ext cx="265655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480"/>
                                        </p:tgtEl>
                                        <p:attrNameLst>
                                          <p:attrName>style.visibility</p:attrName>
                                        </p:attrNameLst>
                                      </p:cBhvr>
                                      <p:to>
                                        <p:strVal val="visible"/>
                                      </p:to>
                                    </p:set>
                                    <p:anim calcmode="lin" valueType="num">
                                      <p:cBhvr>
                                        <p:cTn id="7" dur="1000" fill="hold"/>
                                        <p:tgtEl>
                                          <p:spTgt spid="480"/>
                                        </p:tgtEl>
                                        <p:attrNameLst>
                                          <p:attrName>ppt_x</p:attrName>
                                        </p:attrNameLst>
                                      </p:cBhvr>
                                      <p:tavLst>
                                        <p:tav tm="0">
                                          <p:val>
                                            <p:strVal val="0-#ppt_w/2"/>
                                          </p:val>
                                        </p:tav>
                                        <p:tav tm="100000">
                                          <p:val>
                                            <p:strVal val="#ppt_x"/>
                                          </p:val>
                                        </p:tav>
                                      </p:tavLst>
                                    </p:anim>
                                    <p:anim calcmode="lin" valueType="num">
                                      <p:cBhvr>
                                        <p:cTn id="8" dur="1000" fill="hold"/>
                                        <p:tgtEl>
                                          <p:spTgt spid="4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481"/>
                                        </p:tgtEl>
                                        <p:attrNameLst>
                                          <p:attrName>style.visibility</p:attrName>
                                        </p:attrNameLst>
                                      </p:cBhvr>
                                      <p:to>
                                        <p:strVal val="visible"/>
                                      </p:to>
                                    </p:set>
                                    <p:anim calcmode="lin" valueType="num">
                                      <p:cBhvr>
                                        <p:cTn id="13" dur="1000" fill="hold"/>
                                        <p:tgtEl>
                                          <p:spTgt spid="481"/>
                                        </p:tgtEl>
                                        <p:attrNameLst>
                                          <p:attrName>ppt_x</p:attrName>
                                        </p:attrNameLst>
                                      </p:cBhvr>
                                      <p:tavLst>
                                        <p:tav tm="0">
                                          <p:val>
                                            <p:strVal val="0-#ppt_w/2"/>
                                          </p:val>
                                        </p:tav>
                                        <p:tav tm="100000">
                                          <p:val>
                                            <p:strVal val="#ppt_x"/>
                                          </p:val>
                                        </p:tav>
                                      </p:tavLst>
                                    </p:anim>
                                    <p:anim calcmode="lin" valueType="num">
                                      <p:cBhvr>
                                        <p:cTn id="14" dur="1000" fill="hold"/>
                                        <p:tgtEl>
                                          <p:spTgt spid="481"/>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487"/>
                                        </p:tgtEl>
                                        <p:attrNameLst>
                                          <p:attrName>style.visibility</p:attrName>
                                        </p:attrNameLst>
                                      </p:cBhvr>
                                      <p:to>
                                        <p:strVal val="visible"/>
                                      </p:to>
                                    </p:set>
                                    <p:animEffect filter="dissolve" transition="in">
                                      <p:cBhvr>
                                        <p:cTn id="18" dur="2000"/>
                                        <p:tgtEl>
                                          <p:spTgt spid="487"/>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482"/>
                                        </p:tgtEl>
                                        <p:attrNameLst>
                                          <p:attrName>style.visibility</p:attrName>
                                        </p:attrNameLst>
                                      </p:cBhvr>
                                      <p:to>
                                        <p:strVal val="visible"/>
                                      </p:to>
                                    </p:set>
                                    <p:anim calcmode="lin" valueType="num">
                                      <p:cBhvr>
                                        <p:cTn id="23" dur="1000" fill="hold"/>
                                        <p:tgtEl>
                                          <p:spTgt spid="482"/>
                                        </p:tgtEl>
                                        <p:attrNameLst>
                                          <p:attrName>ppt_x</p:attrName>
                                        </p:attrNameLst>
                                      </p:cBhvr>
                                      <p:tavLst>
                                        <p:tav tm="0">
                                          <p:val>
                                            <p:strVal val="0-#ppt_w/2"/>
                                          </p:val>
                                        </p:tav>
                                        <p:tav tm="100000">
                                          <p:val>
                                            <p:strVal val="#ppt_x"/>
                                          </p:val>
                                        </p:tav>
                                      </p:tavLst>
                                    </p:anim>
                                    <p:anim calcmode="lin" valueType="num">
                                      <p:cBhvr>
                                        <p:cTn id="24" dur="1000" fill="hold"/>
                                        <p:tgtEl>
                                          <p:spTgt spid="48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489"/>
                                        </p:tgtEl>
                                        <p:attrNameLst>
                                          <p:attrName>style.visibility</p:attrName>
                                        </p:attrNameLst>
                                      </p:cBhvr>
                                      <p:to>
                                        <p:strVal val="visible"/>
                                      </p:to>
                                    </p:set>
                                    <p:animEffect filter="dissolve" transition="in">
                                      <p:cBhvr>
                                        <p:cTn id="28" dur="2000"/>
                                        <p:tgtEl>
                                          <p:spTgt spid="489"/>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483"/>
                                        </p:tgtEl>
                                        <p:attrNameLst>
                                          <p:attrName>style.visibility</p:attrName>
                                        </p:attrNameLst>
                                      </p:cBhvr>
                                      <p:to>
                                        <p:strVal val="visible"/>
                                      </p:to>
                                    </p:set>
                                    <p:anim calcmode="lin" valueType="num">
                                      <p:cBhvr>
                                        <p:cTn id="33" dur="1000" fill="hold"/>
                                        <p:tgtEl>
                                          <p:spTgt spid="483"/>
                                        </p:tgtEl>
                                        <p:attrNameLst>
                                          <p:attrName>ppt_x</p:attrName>
                                        </p:attrNameLst>
                                      </p:cBhvr>
                                      <p:tavLst>
                                        <p:tav tm="0">
                                          <p:val>
                                            <p:strVal val="0-#ppt_w/2"/>
                                          </p:val>
                                        </p:tav>
                                        <p:tav tm="100000">
                                          <p:val>
                                            <p:strVal val="#ppt_x"/>
                                          </p:val>
                                        </p:tav>
                                      </p:tavLst>
                                    </p:anim>
                                    <p:anim calcmode="lin" valueType="num">
                                      <p:cBhvr>
                                        <p:cTn id="34" dur="1000" fill="hold"/>
                                        <p:tgtEl>
                                          <p:spTgt spid="48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8" presetID="2" grpId="7" fill="hold">
                                  <p:stCondLst>
                                    <p:cond delay="0"/>
                                  </p:stCondLst>
                                  <p:iterate type="el" backwards="0">
                                    <p:tmAbs val="0"/>
                                  </p:iterate>
                                  <p:childTnLst>
                                    <p:set>
                                      <p:cBhvr>
                                        <p:cTn id="38" fill="hold"/>
                                        <p:tgtEl>
                                          <p:spTgt spid="484"/>
                                        </p:tgtEl>
                                        <p:attrNameLst>
                                          <p:attrName>style.visibility</p:attrName>
                                        </p:attrNameLst>
                                      </p:cBhvr>
                                      <p:to>
                                        <p:strVal val="visible"/>
                                      </p:to>
                                    </p:set>
                                    <p:anim calcmode="lin" valueType="num">
                                      <p:cBhvr>
                                        <p:cTn id="39" dur="1000" fill="hold"/>
                                        <p:tgtEl>
                                          <p:spTgt spid="484"/>
                                        </p:tgtEl>
                                        <p:attrNameLst>
                                          <p:attrName>ppt_x</p:attrName>
                                        </p:attrNameLst>
                                      </p:cBhvr>
                                      <p:tavLst>
                                        <p:tav tm="0">
                                          <p:val>
                                            <p:strVal val="0-#ppt_w/2"/>
                                          </p:val>
                                        </p:tav>
                                        <p:tav tm="100000">
                                          <p:val>
                                            <p:strVal val="#ppt_x"/>
                                          </p:val>
                                        </p:tav>
                                      </p:tavLst>
                                    </p:anim>
                                    <p:anim calcmode="lin" valueType="num">
                                      <p:cBhvr>
                                        <p:cTn id="40" dur="1000" fill="hold"/>
                                        <p:tgtEl>
                                          <p:spTgt spid="48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Class="entr" nodeType="clickEffect" presetSubtype="8" presetID="2" grpId="8" fill="hold">
                                  <p:stCondLst>
                                    <p:cond delay="0"/>
                                  </p:stCondLst>
                                  <p:iterate type="el" backwards="0">
                                    <p:tmAbs val="0"/>
                                  </p:iterate>
                                  <p:childTnLst>
                                    <p:set>
                                      <p:cBhvr>
                                        <p:cTn id="44" fill="hold"/>
                                        <p:tgtEl>
                                          <p:spTgt spid="485"/>
                                        </p:tgtEl>
                                        <p:attrNameLst>
                                          <p:attrName>style.visibility</p:attrName>
                                        </p:attrNameLst>
                                      </p:cBhvr>
                                      <p:to>
                                        <p:strVal val="visible"/>
                                      </p:to>
                                    </p:set>
                                    <p:anim calcmode="lin" valueType="num">
                                      <p:cBhvr>
                                        <p:cTn id="45" dur="1000" fill="hold"/>
                                        <p:tgtEl>
                                          <p:spTgt spid="485"/>
                                        </p:tgtEl>
                                        <p:attrNameLst>
                                          <p:attrName>ppt_x</p:attrName>
                                        </p:attrNameLst>
                                      </p:cBhvr>
                                      <p:tavLst>
                                        <p:tav tm="0">
                                          <p:val>
                                            <p:strVal val="0-#ppt_w/2"/>
                                          </p:val>
                                        </p:tav>
                                        <p:tav tm="100000">
                                          <p:val>
                                            <p:strVal val="#ppt_x"/>
                                          </p:val>
                                        </p:tav>
                                      </p:tavLst>
                                    </p:anim>
                                    <p:anim calcmode="lin" valueType="num">
                                      <p:cBhvr>
                                        <p:cTn id="46" dur="1000" fill="hold"/>
                                        <p:tgtEl>
                                          <p:spTgt spid="485"/>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Class="entr" nodeType="clickEffect" presetSubtype="8" presetID="2" grpId="9" fill="hold">
                                  <p:stCondLst>
                                    <p:cond delay="0"/>
                                  </p:stCondLst>
                                  <p:iterate type="el" backwards="0">
                                    <p:tmAbs val="0"/>
                                  </p:iterate>
                                  <p:childTnLst>
                                    <p:set>
                                      <p:cBhvr>
                                        <p:cTn id="50" fill="hold"/>
                                        <p:tgtEl>
                                          <p:spTgt spid="486"/>
                                        </p:tgtEl>
                                        <p:attrNameLst>
                                          <p:attrName>style.visibility</p:attrName>
                                        </p:attrNameLst>
                                      </p:cBhvr>
                                      <p:to>
                                        <p:strVal val="visible"/>
                                      </p:to>
                                    </p:set>
                                    <p:anim calcmode="lin" valueType="num">
                                      <p:cBhvr>
                                        <p:cTn id="51" dur="1000" fill="hold"/>
                                        <p:tgtEl>
                                          <p:spTgt spid="486"/>
                                        </p:tgtEl>
                                        <p:attrNameLst>
                                          <p:attrName>ppt_x</p:attrName>
                                        </p:attrNameLst>
                                      </p:cBhvr>
                                      <p:tavLst>
                                        <p:tav tm="0">
                                          <p:val>
                                            <p:strVal val="0-#ppt_w/2"/>
                                          </p:val>
                                        </p:tav>
                                        <p:tav tm="100000">
                                          <p:val>
                                            <p:strVal val="#ppt_x"/>
                                          </p:val>
                                        </p:tav>
                                      </p:tavLst>
                                    </p:anim>
                                    <p:anim calcmode="lin" valueType="num">
                                      <p:cBhvr>
                                        <p:cTn id="52" dur="1000" fill="hold"/>
                                        <p:tgtEl>
                                          <p:spTgt spid="486"/>
                                        </p:tgtEl>
                                        <p:attrNameLst>
                                          <p:attrName>ppt_y</p:attrName>
                                        </p:attrNameLst>
                                      </p:cBhvr>
                                      <p:tavLst>
                                        <p:tav tm="0">
                                          <p:val>
                                            <p:strVal val="#ppt_y"/>
                                          </p:val>
                                        </p:tav>
                                        <p:tav tm="100000">
                                          <p:val>
                                            <p:strVal val="#ppt_y"/>
                                          </p:val>
                                        </p:tav>
                                      </p:tavLst>
                                    </p:anim>
                                  </p:childTnLst>
                                </p:cTn>
                              </p:par>
                            </p:childTnLst>
                          </p:cTn>
                        </p:par>
                        <p:par>
                          <p:cTn id="53" fill="hold">
                            <p:stCondLst>
                              <p:cond delay="1000"/>
                            </p:stCondLst>
                            <p:childTnLst>
                              <p:par>
                                <p:cTn id="54" presetClass="entr" nodeType="afterEffect" presetID="9" grpId="10" fill="hold">
                                  <p:stCondLst>
                                    <p:cond delay="0"/>
                                  </p:stCondLst>
                                  <p:iterate type="el" backwards="0">
                                    <p:tmAbs val="0"/>
                                  </p:iterate>
                                  <p:childTnLst>
                                    <p:set>
                                      <p:cBhvr>
                                        <p:cTn id="55" fill="hold"/>
                                        <p:tgtEl>
                                          <p:spTgt spid="491"/>
                                        </p:tgtEl>
                                        <p:attrNameLst>
                                          <p:attrName>style.visibility</p:attrName>
                                        </p:attrNameLst>
                                      </p:cBhvr>
                                      <p:to>
                                        <p:strVal val="visible"/>
                                      </p:to>
                                    </p:set>
                                    <p:animEffect filter="dissolve" transition="in">
                                      <p:cBhvr>
                                        <p:cTn id="56" dur="2000"/>
                                        <p:tgtEl>
                                          <p:spTgt spid="4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2" grpId="4"/>
      <p:bldP build="whole" bldLvl="1" animBg="1" rev="0" advAuto="0" spid="489" grpId="5"/>
      <p:bldP build="whole" bldLvl="1" animBg="1" rev="0" advAuto="0" spid="487" grpId="3"/>
      <p:bldP build="whole" bldLvl="1" animBg="1" rev="0" advAuto="0" spid="486" grpId="9"/>
      <p:bldP build="whole" bldLvl="1" animBg="1" rev="0" advAuto="0" spid="485" grpId="8"/>
      <p:bldP build="whole" bldLvl="1" animBg="1" rev="0" advAuto="0" spid="491" grpId="10"/>
      <p:bldP build="whole" bldLvl="1" animBg="1" rev="0" advAuto="0" spid="481" grpId="2"/>
      <p:bldP build="whole" bldLvl="1" animBg="1" rev="0" advAuto="0" spid="483" grpId="6"/>
      <p:bldP build="whole" bldLvl="1" animBg="1" rev="0" advAuto="0" spid="480" grpId="1"/>
      <p:bldP build="whole" bldLvl="1" animBg="1" rev="0" advAuto="0" spid="484" grpId="7"/>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94" name="Captură de ecran din 2024-11-04 la 01.02.21.png" descr="Captură de ecran din 2024-11-04 la 01.02.21.png"/>
          <p:cNvPicPr>
            <a:picLocks noChangeAspect="1"/>
          </p:cNvPicPr>
          <p:nvPr/>
        </p:nvPicPr>
        <p:blipFill>
          <a:blip r:embed="rId2">
            <a:extLst/>
          </a:blip>
          <a:stretch>
            <a:fillRect/>
          </a:stretch>
        </p:blipFill>
        <p:spPr>
          <a:xfrm>
            <a:off x="3490721" y="3639489"/>
            <a:ext cx="17402558" cy="8710789"/>
          </a:xfrm>
          <a:prstGeom prst="rect">
            <a:avLst/>
          </a:prstGeom>
          <a:ln w="12700">
            <a:miter lim="400000"/>
          </a:ln>
        </p:spPr>
      </p:pic>
      <p:sp>
        <p:nvSpPr>
          <p:cNvPr id="49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96" name="Clusterizarea K-Means"/>
          <p:cNvSpPr txBox="1"/>
          <p:nvPr/>
        </p:nvSpPr>
        <p:spPr>
          <a:xfrm>
            <a:off x="6174407" y="73987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497" name="În general, sunt două tipuri mari și late:"/>
          <p:cNvSpPr txBox="1"/>
          <p:nvPr/>
        </p:nvSpPr>
        <p:spPr>
          <a:xfrm>
            <a:off x="451346" y="2657516"/>
            <a:ext cx="23048563" cy="12495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Aplicarea K-Means original pe un set de date</a:t>
            </a:r>
          </a:p>
        </p:txBody>
      </p:sp>
      <p:sp>
        <p:nvSpPr>
          <p:cNvPr id="498" name="clf = KMeans(n_clusters=2, n_init=1, algorithm='lloyd',  init='random', random_state=42)"/>
          <p:cNvSpPr txBox="1"/>
          <p:nvPr/>
        </p:nvSpPr>
        <p:spPr>
          <a:xfrm>
            <a:off x="4591590" y="7390169"/>
            <a:ext cx="10702430" cy="38539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000">
                <a:solidFill>
                  <a:srgbClr val="FFFFFF"/>
                </a:solidFill>
                <a:latin typeface="Arial"/>
                <a:ea typeface="Arial"/>
                <a:cs typeface="Arial"/>
                <a:sym typeface="Arial"/>
              </a:defRPr>
            </a:lvl1pPr>
          </a:lstStyle>
          <a:p>
            <a:pPr/>
            <a:r>
              <a:t>clf = KMeans(n_clusters=2, n_init=1, algorithm='lloyd',  init='random', random_state=42)</a:t>
            </a:r>
          </a:p>
        </p:txBody>
      </p:sp>
      <p:pic>
        <p:nvPicPr>
          <p:cNvPr id="499" name="Linie Linie" descr="Linie Linie"/>
          <p:cNvPicPr>
            <a:picLocks noChangeAspect="0"/>
          </p:cNvPicPr>
          <p:nvPr/>
        </p:nvPicPr>
        <p:blipFill>
          <a:blip r:embed="rId3">
            <a:extLst/>
          </a:blip>
          <a:stretch>
            <a:fillRect/>
          </a:stretch>
        </p:blipFill>
        <p:spPr>
          <a:xfrm>
            <a:off x="8318403" y="4524126"/>
            <a:ext cx="1118911" cy="101601"/>
          </a:xfrm>
          <a:prstGeom prst="rect">
            <a:avLst/>
          </a:prstGeom>
        </p:spPr>
      </p:pic>
      <p:pic>
        <p:nvPicPr>
          <p:cNvPr id="501" name="Linie Linie" descr="Linie Linie"/>
          <p:cNvPicPr>
            <a:picLocks noChangeAspect="0"/>
          </p:cNvPicPr>
          <p:nvPr/>
        </p:nvPicPr>
        <p:blipFill>
          <a:blip r:embed="rId3">
            <a:extLst/>
          </a:blip>
          <a:stretch>
            <a:fillRect/>
          </a:stretch>
        </p:blipFill>
        <p:spPr>
          <a:xfrm>
            <a:off x="5224168" y="7700617"/>
            <a:ext cx="111891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04" name="Captură de ecran din 2024-11-04 la 01.02.21.png" descr="Captură de ecran din 2024-11-04 la 01.02.21.png"/>
          <p:cNvPicPr>
            <a:picLocks noChangeAspect="1"/>
          </p:cNvPicPr>
          <p:nvPr/>
        </p:nvPicPr>
        <p:blipFill>
          <a:blip r:embed="rId2">
            <a:extLst/>
          </a:blip>
          <a:stretch>
            <a:fillRect/>
          </a:stretch>
        </p:blipFill>
        <p:spPr>
          <a:xfrm>
            <a:off x="198474" y="3724962"/>
            <a:ext cx="14503153" cy="7259502"/>
          </a:xfrm>
          <a:prstGeom prst="rect">
            <a:avLst/>
          </a:prstGeom>
          <a:ln w="12700">
            <a:miter lim="400000"/>
          </a:ln>
        </p:spPr>
      </p:pic>
      <p:sp>
        <p:nvSpPr>
          <p:cNvPr id="50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06" name="Clusterizarea K-Means"/>
          <p:cNvSpPr txBox="1"/>
          <p:nvPr/>
        </p:nvSpPr>
        <p:spPr>
          <a:xfrm>
            <a:off x="6324232" y="15378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507" name="clf = KMeans(n_clusters=2, n_init=1, algorithm='lloyd',  init='random', random_state=42)"/>
          <p:cNvSpPr txBox="1"/>
          <p:nvPr/>
        </p:nvSpPr>
        <p:spPr>
          <a:xfrm>
            <a:off x="1089434" y="6816719"/>
            <a:ext cx="10702429" cy="38539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000">
                <a:solidFill>
                  <a:srgbClr val="FFFFFF"/>
                </a:solidFill>
                <a:latin typeface="Arial"/>
                <a:ea typeface="Arial"/>
                <a:cs typeface="Arial"/>
                <a:sym typeface="Arial"/>
              </a:defRPr>
            </a:lvl1pPr>
          </a:lstStyle>
          <a:p>
            <a:pPr/>
            <a:r>
              <a:t>clf = KMeans(n_clusters=2, n_init=1, algorithm='lloyd',  init='random', random_state=42)</a:t>
            </a:r>
          </a:p>
        </p:txBody>
      </p:sp>
      <p:pic>
        <p:nvPicPr>
          <p:cNvPr id="508" name="Linie Linie" descr="Linie Linie"/>
          <p:cNvPicPr>
            <a:picLocks noChangeAspect="0"/>
          </p:cNvPicPr>
          <p:nvPr/>
        </p:nvPicPr>
        <p:blipFill>
          <a:blip r:embed="rId3">
            <a:extLst/>
          </a:blip>
          <a:stretch>
            <a:fillRect/>
          </a:stretch>
        </p:blipFill>
        <p:spPr>
          <a:xfrm>
            <a:off x="4198219" y="4493791"/>
            <a:ext cx="1118911" cy="101601"/>
          </a:xfrm>
          <a:prstGeom prst="rect">
            <a:avLst/>
          </a:prstGeom>
        </p:spPr>
      </p:pic>
      <p:pic>
        <p:nvPicPr>
          <p:cNvPr id="510" name="Linie Linie" descr="Linie Linie"/>
          <p:cNvPicPr>
            <a:picLocks noChangeAspect="0"/>
          </p:cNvPicPr>
          <p:nvPr/>
        </p:nvPicPr>
        <p:blipFill>
          <a:blip r:embed="rId3">
            <a:extLst/>
          </a:blip>
          <a:stretch>
            <a:fillRect/>
          </a:stretch>
        </p:blipFill>
        <p:spPr>
          <a:xfrm>
            <a:off x="1759468" y="7134290"/>
            <a:ext cx="1118911" cy="101601"/>
          </a:xfrm>
          <a:prstGeom prst="rect">
            <a:avLst/>
          </a:prstGeom>
        </p:spPr>
      </p:pic>
      <p:sp>
        <p:nvSpPr>
          <p:cNvPr id="512" name="Afișez:"/>
          <p:cNvSpPr txBox="1"/>
          <p:nvPr/>
        </p:nvSpPr>
        <p:spPr>
          <a:xfrm>
            <a:off x="14648586" y="2252570"/>
            <a:ext cx="181249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Afișez:</a:t>
            </a:r>
          </a:p>
        </p:txBody>
      </p:sp>
      <p:sp>
        <p:nvSpPr>
          <p:cNvPr id="513" name="În general, sunt două tipuri mari și late:"/>
          <p:cNvSpPr txBox="1"/>
          <p:nvPr/>
        </p:nvSpPr>
        <p:spPr>
          <a:xfrm>
            <a:off x="15182908" y="2920804"/>
            <a:ext cx="8604215"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1"/>
                </a:solidFill>
                <a:latin typeface="Canela Text Regular"/>
                <a:ea typeface="Canela Text Regular"/>
                <a:cs typeface="Canela Text Regular"/>
                <a:sym typeface="Canela Text Regular"/>
              </a:defRPr>
            </a:lvl1pPr>
          </a:lstStyle>
          <a:p>
            <a:pPr/>
            <a:r>
              <a:t>Prezicerea celui de al 11-lea exemplar din setul de test</a:t>
            </a:r>
          </a:p>
        </p:txBody>
      </p:sp>
      <p:sp>
        <p:nvSpPr>
          <p:cNvPr id="514" name="În general, sunt două tipuri mari și late:"/>
          <p:cNvSpPr txBox="1"/>
          <p:nvPr/>
        </p:nvSpPr>
        <p:spPr>
          <a:xfrm>
            <a:off x="15182908" y="4639693"/>
            <a:ext cx="8604215" cy="284995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2"/>
                </a:solidFill>
                <a:latin typeface="Canela Text Regular"/>
                <a:ea typeface="Canela Text Regular"/>
                <a:cs typeface="Canela Text Regular"/>
                <a:sym typeface="Canela Text Regular"/>
              </a:defRPr>
            </a:lvl1pPr>
          </a:lstStyle>
          <a:p>
            <a:pPr/>
            <a:r>
              <a:t>Eticheta adevarată (ground truth) a celui de al 11-lea exemplar din setul de test</a:t>
            </a:r>
          </a:p>
        </p:txBody>
      </p:sp>
      <p:sp>
        <p:nvSpPr>
          <p:cNvPr id="515" name="În general, sunt două tipuri mari și late:"/>
          <p:cNvSpPr txBox="1"/>
          <p:nvPr/>
        </p:nvSpPr>
        <p:spPr>
          <a:xfrm>
            <a:off x="15182908" y="6957883"/>
            <a:ext cx="8604215" cy="18874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3"/>
                </a:solidFill>
                <a:latin typeface="Canela Text Regular"/>
                <a:ea typeface="Canela Text Regular"/>
                <a:cs typeface="Canela Text Regular"/>
                <a:sym typeface="Canela Text Regular"/>
              </a:defRPr>
            </a:lvl1pPr>
          </a:lstStyle>
          <a:p>
            <a:pPr/>
            <a:r>
              <a:t>În ce cluster se situează al 17-lea exemplar din setul de train</a:t>
            </a:r>
          </a:p>
        </p:txBody>
      </p:sp>
      <p:sp>
        <p:nvSpPr>
          <p:cNvPr id="516" name="În general, sunt două tipuri mari și late:"/>
          <p:cNvSpPr txBox="1"/>
          <p:nvPr/>
        </p:nvSpPr>
        <p:spPr>
          <a:xfrm>
            <a:off x="15182908" y="8470762"/>
            <a:ext cx="8604215" cy="18874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4"/>
                </a:solidFill>
                <a:latin typeface="Canela Text Regular"/>
                <a:ea typeface="Canela Text Regular"/>
                <a:cs typeface="Canela Text Regular"/>
                <a:sym typeface="Canela Text Regular"/>
              </a:defRPr>
            </a:lvl1pPr>
          </a:lstStyle>
          <a:p>
            <a:pPr/>
            <a:r>
              <a:t>Coordonatele asociate centroizilor</a:t>
            </a:r>
          </a:p>
        </p:txBody>
      </p:sp>
      <p:sp>
        <p:nvSpPr>
          <p:cNvPr id="517" name="În general, sunt două tipuri mari și late:"/>
          <p:cNvSpPr txBox="1"/>
          <p:nvPr/>
        </p:nvSpPr>
        <p:spPr>
          <a:xfrm>
            <a:off x="15182908" y="10021099"/>
            <a:ext cx="8604215" cy="12016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5"/>
                </a:solidFill>
                <a:latin typeface="Canela Text Regular"/>
                <a:ea typeface="Canela Text Regular"/>
                <a:cs typeface="Canela Text Regular"/>
                <a:sym typeface="Canela Text Regular"/>
              </a:defRPr>
            </a:lvl1pPr>
          </a:lstStyle>
          <a:p>
            <a:pPr/>
            <a:r>
              <a:t>Inerția pe setul de test</a:t>
            </a:r>
          </a:p>
        </p:txBody>
      </p:sp>
      <p:sp>
        <p:nvSpPr>
          <p:cNvPr id="518" name="În general, sunt două tipuri mari și late:"/>
          <p:cNvSpPr txBox="1"/>
          <p:nvPr/>
        </p:nvSpPr>
        <p:spPr>
          <a:xfrm>
            <a:off x="15182908" y="11814901"/>
            <a:ext cx="8604215" cy="12016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6">
                    <a:lumOff val="21568"/>
                  </a:schemeClr>
                </a:solidFill>
                <a:latin typeface="Canela Text Regular"/>
                <a:ea typeface="Canela Text Regular"/>
                <a:cs typeface="Canela Text Regular"/>
                <a:sym typeface="Canela Text Regular"/>
              </a:defRPr>
            </a:lvl1pPr>
          </a:lstStyle>
          <a:p>
            <a:pPr/>
            <a:r>
              <a:t>Inerția pe setul de train</a:t>
            </a:r>
          </a:p>
        </p:txBody>
      </p:sp>
      <p:sp>
        <p:nvSpPr>
          <p:cNvPr id="519" name="În general, sunt două tipuri mari și late:"/>
          <p:cNvSpPr txBox="1"/>
          <p:nvPr/>
        </p:nvSpPr>
        <p:spPr>
          <a:xfrm>
            <a:off x="15182908" y="10875788"/>
            <a:ext cx="8604215" cy="12016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solidFill>
                  <a:schemeClr val="accent6">
                    <a:lumOff val="10784"/>
                  </a:schemeClr>
                </a:solidFill>
                <a:latin typeface="Canela Text Regular"/>
                <a:ea typeface="Canela Text Regular"/>
                <a:cs typeface="Canela Text Regular"/>
                <a:sym typeface="Canela Text Regular"/>
              </a:defRPr>
            </a:lvl1pPr>
          </a:lstStyle>
          <a:p>
            <a:pPr/>
            <a:r>
              <a:t>Inerția negativă pe setul de train</a:t>
            </a:r>
          </a:p>
        </p:txBody>
      </p:sp>
      <p:pic>
        <p:nvPicPr>
          <p:cNvPr id="520" name="Linie Linie" descr="Linie Linie"/>
          <p:cNvPicPr>
            <a:picLocks noChangeAspect="0"/>
          </p:cNvPicPr>
          <p:nvPr/>
        </p:nvPicPr>
        <p:blipFill>
          <a:blip r:embed="rId4">
            <a:extLst/>
          </a:blip>
          <a:stretch>
            <a:fillRect/>
          </a:stretch>
        </p:blipFill>
        <p:spPr>
          <a:xfrm rot="10800000">
            <a:off x="3569423" y="10232232"/>
            <a:ext cx="1169711" cy="218396"/>
          </a:xfrm>
          <a:prstGeom prst="rect">
            <a:avLst/>
          </a:prstGeom>
        </p:spPr>
      </p:pic>
      <p:pic>
        <p:nvPicPr>
          <p:cNvPr id="522" name="Linie Linie" descr="Linie Linie"/>
          <p:cNvPicPr>
            <a:picLocks noChangeAspect="0"/>
          </p:cNvPicPr>
          <p:nvPr/>
        </p:nvPicPr>
        <p:blipFill>
          <a:blip r:embed="rId5">
            <a:extLst/>
          </a:blip>
          <a:stretch>
            <a:fillRect/>
          </a:stretch>
        </p:blipFill>
        <p:spPr>
          <a:xfrm rot="10800000">
            <a:off x="1471874" y="9070727"/>
            <a:ext cx="1169711" cy="218396"/>
          </a:xfrm>
          <a:prstGeom prst="rect">
            <a:avLst/>
          </a:prstGeom>
        </p:spPr>
      </p:pic>
      <p:pic>
        <p:nvPicPr>
          <p:cNvPr id="524" name="Linie Linie" descr="Linie Linie"/>
          <p:cNvPicPr>
            <a:picLocks noChangeAspect="0"/>
          </p:cNvPicPr>
          <p:nvPr/>
        </p:nvPicPr>
        <p:blipFill>
          <a:blip r:embed="rId6">
            <a:extLst/>
          </a:blip>
          <a:stretch>
            <a:fillRect/>
          </a:stretch>
        </p:blipFill>
        <p:spPr>
          <a:xfrm rot="10800000">
            <a:off x="1471874" y="9305279"/>
            <a:ext cx="1169711" cy="218396"/>
          </a:xfrm>
          <a:prstGeom prst="rect">
            <a:avLst/>
          </a:prstGeom>
        </p:spPr>
      </p:pic>
      <p:pic>
        <p:nvPicPr>
          <p:cNvPr id="526" name="Linie Linie" descr="Linie Linie"/>
          <p:cNvPicPr>
            <a:picLocks noChangeAspect="0"/>
          </p:cNvPicPr>
          <p:nvPr/>
        </p:nvPicPr>
        <p:blipFill>
          <a:blip r:embed="rId7">
            <a:extLst/>
          </a:blip>
          <a:stretch>
            <a:fillRect/>
          </a:stretch>
        </p:blipFill>
        <p:spPr>
          <a:xfrm rot="10800000">
            <a:off x="5329865" y="9595114"/>
            <a:ext cx="1169711" cy="218395"/>
          </a:xfrm>
          <a:prstGeom prst="rect">
            <a:avLst/>
          </a:prstGeom>
        </p:spPr>
      </p:pic>
      <p:pic>
        <p:nvPicPr>
          <p:cNvPr id="528" name="Linie Linie" descr="Linie Linie"/>
          <p:cNvPicPr>
            <a:picLocks noChangeAspect="0"/>
          </p:cNvPicPr>
          <p:nvPr/>
        </p:nvPicPr>
        <p:blipFill>
          <a:blip r:embed="rId8">
            <a:extLst/>
          </a:blip>
          <a:stretch>
            <a:fillRect/>
          </a:stretch>
        </p:blipFill>
        <p:spPr>
          <a:xfrm rot="10800000">
            <a:off x="3288501" y="9950948"/>
            <a:ext cx="1169711" cy="218396"/>
          </a:xfrm>
          <a:prstGeom prst="rect">
            <a:avLst/>
          </a:prstGeom>
        </p:spPr>
      </p:pic>
      <p:pic>
        <p:nvPicPr>
          <p:cNvPr id="530" name="Linie Linie" descr="Linie Linie"/>
          <p:cNvPicPr>
            <a:picLocks noChangeAspect="0"/>
          </p:cNvPicPr>
          <p:nvPr/>
        </p:nvPicPr>
        <p:blipFill>
          <a:blip r:embed="rId9">
            <a:extLst/>
          </a:blip>
          <a:stretch>
            <a:fillRect/>
          </a:stretch>
        </p:blipFill>
        <p:spPr>
          <a:xfrm rot="10800000">
            <a:off x="1734068" y="8845989"/>
            <a:ext cx="1169711" cy="218396"/>
          </a:xfrm>
          <a:prstGeom prst="rect">
            <a:avLst/>
          </a:prstGeom>
        </p:spPr>
      </p:pic>
      <p:pic>
        <p:nvPicPr>
          <p:cNvPr id="532" name="Linie Linie" descr="Linie Linie"/>
          <p:cNvPicPr>
            <a:picLocks noChangeAspect="0"/>
          </p:cNvPicPr>
          <p:nvPr/>
        </p:nvPicPr>
        <p:blipFill>
          <a:blip r:embed="rId10">
            <a:extLst/>
          </a:blip>
          <a:stretch>
            <a:fillRect/>
          </a:stretch>
        </p:blipFill>
        <p:spPr>
          <a:xfrm rot="10800000">
            <a:off x="3569423" y="10512730"/>
            <a:ext cx="1169711" cy="218396"/>
          </a:xfrm>
          <a:prstGeom prst="rect">
            <a:avLst/>
          </a:prstGeom>
        </p:spPr>
      </p:pic>
      <p:pic>
        <p:nvPicPr>
          <p:cNvPr id="534" name="Linie Linie" descr="Linie Linie"/>
          <p:cNvPicPr>
            <a:picLocks noChangeAspect="0"/>
          </p:cNvPicPr>
          <p:nvPr/>
        </p:nvPicPr>
        <p:blipFill>
          <a:blip r:embed="rId11">
            <a:extLst/>
          </a:blip>
          <a:stretch>
            <a:fillRect/>
          </a:stretch>
        </p:blipFill>
        <p:spPr>
          <a:xfrm>
            <a:off x="962273" y="8640798"/>
            <a:ext cx="1513886" cy="101601"/>
          </a:xfrm>
          <a:prstGeom prst="rect">
            <a:avLst/>
          </a:prstGeom>
        </p:spPr>
      </p:pic>
      <p:pic>
        <p:nvPicPr>
          <p:cNvPr id="536" name="Linie Linie" descr="Linie Linie"/>
          <p:cNvPicPr>
            <a:picLocks noChangeAspect="0"/>
          </p:cNvPicPr>
          <p:nvPr/>
        </p:nvPicPr>
        <p:blipFill>
          <a:blip r:embed="rId12">
            <a:extLst/>
          </a:blip>
          <a:stretch>
            <a:fillRect/>
          </a:stretch>
        </p:blipFill>
        <p:spPr>
          <a:xfrm>
            <a:off x="2624978" y="8640798"/>
            <a:ext cx="1327565" cy="101601"/>
          </a:xfrm>
          <a:prstGeom prst="rect">
            <a:avLst/>
          </a:prstGeom>
        </p:spPr>
      </p:pic>
      <p:pic>
        <p:nvPicPr>
          <p:cNvPr id="538" name="Linie Linie" descr="Linie Linie"/>
          <p:cNvPicPr>
            <a:picLocks noChangeAspect="0"/>
          </p:cNvPicPr>
          <p:nvPr/>
        </p:nvPicPr>
        <p:blipFill>
          <a:blip r:embed="rId13">
            <a:extLst/>
          </a:blip>
          <a:stretch>
            <a:fillRect/>
          </a:stretch>
        </p:blipFill>
        <p:spPr>
          <a:xfrm>
            <a:off x="4093892" y="8640798"/>
            <a:ext cx="1812494" cy="101601"/>
          </a:xfrm>
          <a:prstGeom prst="rect">
            <a:avLst/>
          </a:prstGeom>
        </p:spPr>
      </p:pic>
      <p:pic>
        <p:nvPicPr>
          <p:cNvPr id="540" name="Linie Linie" descr="Linie Linie"/>
          <p:cNvPicPr>
            <a:picLocks noChangeAspect="0"/>
          </p:cNvPicPr>
          <p:nvPr/>
        </p:nvPicPr>
        <p:blipFill>
          <a:blip r:embed="rId14">
            <a:extLst/>
          </a:blip>
          <a:stretch>
            <a:fillRect/>
          </a:stretch>
        </p:blipFill>
        <p:spPr>
          <a:xfrm>
            <a:off x="5887694" y="8640798"/>
            <a:ext cx="2421601" cy="101601"/>
          </a:xfrm>
          <a:prstGeom prst="rect">
            <a:avLst/>
          </a:prstGeom>
        </p:spPr>
      </p:pic>
      <p:pic>
        <p:nvPicPr>
          <p:cNvPr id="542" name="Linie Linie" descr="Linie Linie"/>
          <p:cNvPicPr>
            <a:picLocks noChangeAspect="0"/>
          </p:cNvPicPr>
          <p:nvPr/>
        </p:nvPicPr>
        <p:blipFill>
          <a:blip r:embed="rId15">
            <a:extLst/>
          </a:blip>
          <a:stretch>
            <a:fillRect/>
          </a:stretch>
        </p:blipFill>
        <p:spPr>
          <a:xfrm>
            <a:off x="8356925" y="8640798"/>
            <a:ext cx="2421602" cy="101601"/>
          </a:xfrm>
          <a:prstGeom prst="rect">
            <a:avLst/>
          </a:prstGeom>
        </p:spPr>
      </p:pic>
      <p:pic>
        <p:nvPicPr>
          <p:cNvPr id="544" name="Linie Linie" descr="Linie Linie"/>
          <p:cNvPicPr>
            <a:picLocks noChangeAspect="0"/>
          </p:cNvPicPr>
          <p:nvPr/>
        </p:nvPicPr>
        <p:blipFill>
          <a:blip r:embed="rId16">
            <a:extLst/>
          </a:blip>
          <a:stretch>
            <a:fillRect/>
          </a:stretch>
        </p:blipFill>
        <p:spPr>
          <a:xfrm>
            <a:off x="10677993" y="8640798"/>
            <a:ext cx="2136217" cy="101601"/>
          </a:xfrm>
          <a:prstGeom prst="rect">
            <a:avLst/>
          </a:prstGeom>
        </p:spPr>
      </p:pic>
      <p:pic>
        <p:nvPicPr>
          <p:cNvPr id="546" name="Linie Linie" descr="Linie Linie"/>
          <p:cNvPicPr>
            <a:picLocks noChangeAspect="0"/>
          </p:cNvPicPr>
          <p:nvPr/>
        </p:nvPicPr>
        <p:blipFill>
          <a:blip r:embed="rId17">
            <a:extLst/>
          </a:blip>
          <a:stretch>
            <a:fillRect/>
          </a:stretch>
        </p:blipFill>
        <p:spPr>
          <a:xfrm>
            <a:off x="13149358" y="8640798"/>
            <a:ext cx="132756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513"/>
                                        </p:tgtEl>
                                        <p:attrNameLst>
                                          <p:attrName>style.visibility</p:attrName>
                                        </p:attrNameLst>
                                      </p:cBhvr>
                                      <p:to>
                                        <p:strVal val="visible"/>
                                      </p:to>
                                    </p:set>
                                    <p:anim calcmode="lin" valueType="num">
                                      <p:cBhvr>
                                        <p:cTn id="7" dur="1000" fill="hold"/>
                                        <p:tgtEl>
                                          <p:spTgt spid="513"/>
                                        </p:tgtEl>
                                        <p:attrNameLst>
                                          <p:attrName>ppt_x</p:attrName>
                                        </p:attrNameLst>
                                      </p:cBhvr>
                                      <p:tavLst>
                                        <p:tav tm="0">
                                          <p:val>
                                            <p:strVal val="0-#ppt_w/2"/>
                                          </p:val>
                                        </p:tav>
                                        <p:tav tm="100000">
                                          <p:val>
                                            <p:strVal val="#ppt_x"/>
                                          </p:val>
                                        </p:tav>
                                      </p:tavLst>
                                    </p:anim>
                                    <p:anim calcmode="lin" valueType="num">
                                      <p:cBhvr>
                                        <p:cTn id="8" dur="1000" fill="hold"/>
                                        <p:tgtEl>
                                          <p:spTgt spid="51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530"/>
                                        </p:tgtEl>
                                        <p:attrNameLst>
                                          <p:attrName>style.visibility</p:attrName>
                                        </p:attrNameLst>
                                      </p:cBhvr>
                                      <p:to>
                                        <p:strVal val="visible"/>
                                      </p:to>
                                    </p:set>
                                    <p:animEffect filter="dissolve" transition="in">
                                      <p:cBhvr>
                                        <p:cTn id="12" dur="2000"/>
                                        <p:tgtEl>
                                          <p:spTgt spid="530"/>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534"/>
                                        </p:tgtEl>
                                        <p:attrNameLst>
                                          <p:attrName>style.visibility</p:attrName>
                                        </p:attrNameLst>
                                      </p:cBhvr>
                                      <p:to>
                                        <p:strVal val="visible"/>
                                      </p:to>
                                    </p:set>
                                    <p:animEffect filter="dissolve" transition="in">
                                      <p:cBhvr>
                                        <p:cTn id="16" dur="2000"/>
                                        <p:tgtEl>
                                          <p:spTgt spid="534"/>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514"/>
                                        </p:tgtEl>
                                        <p:attrNameLst>
                                          <p:attrName>style.visibility</p:attrName>
                                        </p:attrNameLst>
                                      </p:cBhvr>
                                      <p:to>
                                        <p:strVal val="visible"/>
                                      </p:to>
                                    </p:set>
                                    <p:anim calcmode="lin" valueType="num">
                                      <p:cBhvr>
                                        <p:cTn id="21" dur="1000" fill="hold"/>
                                        <p:tgtEl>
                                          <p:spTgt spid="514"/>
                                        </p:tgtEl>
                                        <p:attrNameLst>
                                          <p:attrName>ppt_x</p:attrName>
                                        </p:attrNameLst>
                                      </p:cBhvr>
                                      <p:tavLst>
                                        <p:tav tm="0">
                                          <p:val>
                                            <p:strVal val="0-#ppt_w/2"/>
                                          </p:val>
                                        </p:tav>
                                        <p:tav tm="100000">
                                          <p:val>
                                            <p:strVal val="#ppt_x"/>
                                          </p:val>
                                        </p:tav>
                                      </p:tavLst>
                                    </p:anim>
                                    <p:anim calcmode="lin" valueType="num">
                                      <p:cBhvr>
                                        <p:cTn id="22" dur="1000" fill="hold"/>
                                        <p:tgtEl>
                                          <p:spTgt spid="514"/>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522"/>
                                        </p:tgtEl>
                                        <p:attrNameLst>
                                          <p:attrName>style.visibility</p:attrName>
                                        </p:attrNameLst>
                                      </p:cBhvr>
                                      <p:to>
                                        <p:strVal val="visible"/>
                                      </p:to>
                                    </p:set>
                                    <p:animEffect filter="dissolve" transition="in">
                                      <p:cBhvr>
                                        <p:cTn id="26" dur="2000"/>
                                        <p:tgtEl>
                                          <p:spTgt spid="522"/>
                                        </p:tgtEl>
                                      </p:cBhvr>
                                    </p:animEffect>
                                  </p:childTnLst>
                                </p:cTn>
                              </p:par>
                            </p:childTnLst>
                          </p:cTn>
                        </p:par>
                        <p:par>
                          <p:cTn id="27" fill="hold">
                            <p:stCondLst>
                              <p:cond delay="3000"/>
                            </p:stCondLst>
                            <p:childTnLst>
                              <p:par>
                                <p:cTn id="28" presetClass="entr" nodeType="afterEffect" presetID="9" grpId="6" fill="hold">
                                  <p:stCondLst>
                                    <p:cond delay="0"/>
                                  </p:stCondLst>
                                  <p:iterate type="el" backwards="0">
                                    <p:tmAbs val="0"/>
                                  </p:iterate>
                                  <p:childTnLst>
                                    <p:set>
                                      <p:cBhvr>
                                        <p:cTn id="29" fill="hold"/>
                                        <p:tgtEl>
                                          <p:spTgt spid="536"/>
                                        </p:tgtEl>
                                        <p:attrNameLst>
                                          <p:attrName>style.visibility</p:attrName>
                                        </p:attrNameLst>
                                      </p:cBhvr>
                                      <p:to>
                                        <p:strVal val="visible"/>
                                      </p:to>
                                    </p:set>
                                    <p:animEffect filter="dissolve" transition="in">
                                      <p:cBhvr>
                                        <p:cTn id="30" dur="2000"/>
                                        <p:tgtEl>
                                          <p:spTgt spid="536"/>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8" presetID="2" grpId="7" fill="hold">
                                  <p:stCondLst>
                                    <p:cond delay="0"/>
                                  </p:stCondLst>
                                  <p:iterate type="el" backwards="0">
                                    <p:tmAbs val="0"/>
                                  </p:iterate>
                                  <p:childTnLst>
                                    <p:set>
                                      <p:cBhvr>
                                        <p:cTn id="34" fill="hold"/>
                                        <p:tgtEl>
                                          <p:spTgt spid="515"/>
                                        </p:tgtEl>
                                        <p:attrNameLst>
                                          <p:attrName>style.visibility</p:attrName>
                                        </p:attrNameLst>
                                      </p:cBhvr>
                                      <p:to>
                                        <p:strVal val="visible"/>
                                      </p:to>
                                    </p:set>
                                    <p:anim calcmode="lin" valueType="num">
                                      <p:cBhvr>
                                        <p:cTn id="35" dur="1000" fill="hold"/>
                                        <p:tgtEl>
                                          <p:spTgt spid="515"/>
                                        </p:tgtEl>
                                        <p:attrNameLst>
                                          <p:attrName>ppt_x</p:attrName>
                                        </p:attrNameLst>
                                      </p:cBhvr>
                                      <p:tavLst>
                                        <p:tav tm="0">
                                          <p:val>
                                            <p:strVal val="0-#ppt_w/2"/>
                                          </p:val>
                                        </p:tav>
                                        <p:tav tm="100000">
                                          <p:val>
                                            <p:strVal val="#ppt_x"/>
                                          </p:val>
                                        </p:tav>
                                      </p:tavLst>
                                    </p:anim>
                                    <p:anim calcmode="lin" valueType="num">
                                      <p:cBhvr>
                                        <p:cTn id="36" dur="1000" fill="hold"/>
                                        <p:tgtEl>
                                          <p:spTgt spid="515"/>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Class="entr" nodeType="afterEffect" presetID="9" grpId="8" fill="hold">
                                  <p:stCondLst>
                                    <p:cond delay="0"/>
                                  </p:stCondLst>
                                  <p:iterate type="el" backwards="0">
                                    <p:tmAbs val="0"/>
                                  </p:iterate>
                                  <p:childTnLst>
                                    <p:set>
                                      <p:cBhvr>
                                        <p:cTn id="39" fill="hold"/>
                                        <p:tgtEl>
                                          <p:spTgt spid="524"/>
                                        </p:tgtEl>
                                        <p:attrNameLst>
                                          <p:attrName>style.visibility</p:attrName>
                                        </p:attrNameLst>
                                      </p:cBhvr>
                                      <p:to>
                                        <p:strVal val="visible"/>
                                      </p:to>
                                    </p:set>
                                    <p:animEffect filter="dissolve" transition="in">
                                      <p:cBhvr>
                                        <p:cTn id="40" dur="2000"/>
                                        <p:tgtEl>
                                          <p:spTgt spid="524"/>
                                        </p:tgtEl>
                                      </p:cBhvr>
                                    </p:animEffect>
                                  </p:childTnLst>
                                </p:cTn>
                              </p:par>
                            </p:childTnLst>
                          </p:cTn>
                        </p:par>
                        <p:par>
                          <p:cTn id="41" fill="hold">
                            <p:stCondLst>
                              <p:cond delay="3000"/>
                            </p:stCondLst>
                            <p:childTnLst>
                              <p:par>
                                <p:cTn id="42" presetClass="entr" nodeType="afterEffect" presetID="9" grpId="9" fill="hold">
                                  <p:stCondLst>
                                    <p:cond delay="0"/>
                                  </p:stCondLst>
                                  <p:iterate type="el" backwards="0">
                                    <p:tmAbs val="0"/>
                                  </p:iterate>
                                  <p:childTnLst>
                                    <p:set>
                                      <p:cBhvr>
                                        <p:cTn id="43" fill="hold"/>
                                        <p:tgtEl>
                                          <p:spTgt spid="538"/>
                                        </p:tgtEl>
                                        <p:attrNameLst>
                                          <p:attrName>style.visibility</p:attrName>
                                        </p:attrNameLst>
                                      </p:cBhvr>
                                      <p:to>
                                        <p:strVal val="visible"/>
                                      </p:to>
                                    </p:set>
                                    <p:animEffect filter="dissolve" transition="in">
                                      <p:cBhvr>
                                        <p:cTn id="44" dur="2000"/>
                                        <p:tgtEl>
                                          <p:spTgt spid="538"/>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8" presetID="2" grpId="10" fill="hold">
                                  <p:stCondLst>
                                    <p:cond delay="0"/>
                                  </p:stCondLst>
                                  <p:iterate type="el" backwards="0">
                                    <p:tmAbs val="0"/>
                                  </p:iterate>
                                  <p:childTnLst>
                                    <p:set>
                                      <p:cBhvr>
                                        <p:cTn id="48" fill="hold"/>
                                        <p:tgtEl>
                                          <p:spTgt spid="516"/>
                                        </p:tgtEl>
                                        <p:attrNameLst>
                                          <p:attrName>style.visibility</p:attrName>
                                        </p:attrNameLst>
                                      </p:cBhvr>
                                      <p:to>
                                        <p:strVal val="visible"/>
                                      </p:to>
                                    </p:set>
                                    <p:anim calcmode="lin" valueType="num">
                                      <p:cBhvr>
                                        <p:cTn id="49" dur="1000" fill="hold"/>
                                        <p:tgtEl>
                                          <p:spTgt spid="516"/>
                                        </p:tgtEl>
                                        <p:attrNameLst>
                                          <p:attrName>ppt_x</p:attrName>
                                        </p:attrNameLst>
                                      </p:cBhvr>
                                      <p:tavLst>
                                        <p:tav tm="0">
                                          <p:val>
                                            <p:strVal val="0-#ppt_w/2"/>
                                          </p:val>
                                        </p:tav>
                                        <p:tav tm="100000">
                                          <p:val>
                                            <p:strVal val="#ppt_x"/>
                                          </p:val>
                                        </p:tav>
                                      </p:tavLst>
                                    </p:anim>
                                    <p:anim calcmode="lin" valueType="num">
                                      <p:cBhvr>
                                        <p:cTn id="50" dur="1000" fill="hold"/>
                                        <p:tgtEl>
                                          <p:spTgt spid="516"/>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Class="entr" nodeType="afterEffect" presetID="9" grpId="11" fill="hold">
                                  <p:stCondLst>
                                    <p:cond delay="0"/>
                                  </p:stCondLst>
                                  <p:iterate type="el" backwards="0">
                                    <p:tmAbs val="0"/>
                                  </p:iterate>
                                  <p:childTnLst>
                                    <p:set>
                                      <p:cBhvr>
                                        <p:cTn id="53" fill="hold"/>
                                        <p:tgtEl>
                                          <p:spTgt spid="526"/>
                                        </p:tgtEl>
                                        <p:attrNameLst>
                                          <p:attrName>style.visibility</p:attrName>
                                        </p:attrNameLst>
                                      </p:cBhvr>
                                      <p:to>
                                        <p:strVal val="visible"/>
                                      </p:to>
                                    </p:set>
                                    <p:animEffect filter="dissolve" transition="in">
                                      <p:cBhvr>
                                        <p:cTn id="54" dur="2000"/>
                                        <p:tgtEl>
                                          <p:spTgt spid="526"/>
                                        </p:tgtEl>
                                      </p:cBhvr>
                                    </p:animEffect>
                                  </p:childTnLst>
                                </p:cTn>
                              </p:par>
                            </p:childTnLst>
                          </p:cTn>
                        </p:par>
                        <p:par>
                          <p:cTn id="55" fill="hold">
                            <p:stCondLst>
                              <p:cond delay="3000"/>
                            </p:stCondLst>
                            <p:childTnLst>
                              <p:par>
                                <p:cTn id="56" presetClass="entr" nodeType="afterEffect" presetID="9" grpId="12" fill="hold">
                                  <p:stCondLst>
                                    <p:cond delay="0"/>
                                  </p:stCondLst>
                                  <p:iterate type="el" backwards="0">
                                    <p:tmAbs val="0"/>
                                  </p:iterate>
                                  <p:childTnLst>
                                    <p:set>
                                      <p:cBhvr>
                                        <p:cTn id="57" fill="hold"/>
                                        <p:tgtEl>
                                          <p:spTgt spid="540"/>
                                        </p:tgtEl>
                                        <p:attrNameLst>
                                          <p:attrName>style.visibility</p:attrName>
                                        </p:attrNameLst>
                                      </p:cBhvr>
                                      <p:to>
                                        <p:strVal val="visible"/>
                                      </p:to>
                                    </p:set>
                                    <p:animEffect filter="dissolve" transition="in">
                                      <p:cBhvr>
                                        <p:cTn id="58" dur="2000"/>
                                        <p:tgtEl>
                                          <p:spTgt spid="540"/>
                                        </p:tgtEl>
                                      </p:cBhvr>
                                    </p:animEffect>
                                  </p:childTnLst>
                                </p:cTn>
                              </p:par>
                            </p:childTnLst>
                          </p:cTn>
                        </p:par>
                      </p:childTnLst>
                    </p:cTn>
                  </p:par>
                  <p:par>
                    <p:cTn id="59" fill="hold">
                      <p:stCondLst>
                        <p:cond delay="indefinite"/>
                      </p:stCondLst>
                      <p:childTnLst>
                        <p:par>
                          <p:cTn id="60" fill="hold">
                            <p:stCondLst>
                              <p:cond delay="0"/>
                            </p:stCondLst>
                            <p:childTnLst>
                              <p:par>
                                <p:cTn id="61" presetClass="entr" nodeType="clickEffect" presetSubtype="8" presetID="2" grpId="13" fill="hold">
                                  <p:stCondLst>
                                    <p:cond delay="0"/>
                                  </p:stCondLst>
                                  <p:iterate type="el" backwards="0">
                                    <p:tmAbs val="0"/>
                                  </p:iterate>
                                  <p:childTnLst>
                                    <p:set>
                                      <p:cBhvr>
                                        <p:cTn id="62" fill="hold"/>
                                        <p:tgtEl>
                                          <p:spTgt spid="517"/>
                                        </p:tgtEl>
                                        <p:attrNameLst>
                                          <p:attrName>style.visibility</p:attrName>
                                        </p:attrNameLst>
                                      </p:cBhvr>
                                      <p:to>
                                        <p:strVal val="visible"/>
                                      </p:to>
                                    </p:set>
                                    <p:anim calcmode="lin" valueType="num">
                                      <p:cBhvr>
                                        <p:cTn id="63" dur="1000" fill="hold"/>
                                        <p:tgtEl>
                                          <p:spTgt spid="517"/>
                                        </p:tgtEl>
                                        <p:attrNameLst>
                                          <p:attrName>ppt_x</p:attrName>
                                        </p:attrNameLst>
                                      </p:cBhvr>
                                      <p:tavLst>
                                        <p:tav tm="0">
                                          <p:val>
                                            <p:strVal val="0-#ppt_w/2"/>
                                          </p:val>
                                        </p:tav>
                                        <p:tav tm="100000">
                                          <p:val>
                                            <p:strVal val="#ppt_x"/>
                                          </p:val>
                                        </p:tav>
                                      </p:tavLst>
                                    </p:anim>
                                    <p:anim calcmode="lin" valueType="num">
                                      <p:cBhvr>
                                        <p:cTn id="64" dur="1000" fill="hold"/>
                                        <p:tgtEl>
                                          <p:spTgt spid="517"/>
                                        </p:tgtEl>
                                        <p:attrNameLst>
                                          <p:attrName>ppt_y</p:attrName>
                                        </p:attrNameLst>
                                      </p:cBhvr>
                                      <p:tavLst>
                                        <p:tav tm="0">
                                          <p:val>
                                            <p:strVal val="#ppt_y"/>
                                          </p:val>
                                        </p:tav>
                                        <p:tav tm="100000">
                                          <p:val>
                                            <p:strVal val="#ppt_y"/>
                                          </p:val>
                                        </p:tav>
                                      </p:tavLst>
                                    </p:anim>
                                  </p:childTnLst>
                                </p:cTn>
                              </p:par>
                            </p:childTnLst>
                          </p:cTn>
                        </p:par>
                        <p:par>
                          <p:cTn id="65" fill="hold">
                            <p:stCondLst>
                              <p:cond delay="1000"/>
                            </p:stCondLst>
                            <p:childTnLst>
                              <p:par>
                                <p:cTn id="66" presetClass="entr" nodeType="afterEffect" presetID="9" grpId="14" fill="hold">
                                  <p:stCondLst>
                                    <p:cond delay="0"/>
                                  </p:stCondLst>
                                  <p:iterate type="el" backwards="0">
                                    <p:tmAbs val="0"/>
                                  </p:iterate>
                                  <p:childTnLst>
                                    <p:set>
                                      <p:cBhvr>
                                        <p:cTn id="67" fill="hold"/>
                                        <p:tgtEl>
                                          <p:spTgt spid="528"/>
                                        </p:tgtEl>
                                        <p:attrNameLst>
                                          <p:attrName>style.visibility</p:attrName>
                                        </p:attrNameLst>
                                      </p:cBhvr>
                                      <p:to>
                                        <p:strVal val="visible"/>
                                      </p:to>
                                    </p:set>
                                    <p:animEffect filter="dissolve" transition="in">
                                      <p:cBhvr>
                                        <p:cTn id="68" dur="2000"/>
                                        <p:tgtEl>
                                          <p:spTgt spid="528"/>
                                        </p:tgtEl>
                                      </p:cBhvr>
                                    </p:animEffect>
                                  </p:childTnLst>
                                </p:cTn>
                              </p:par>
                            </p:childTnLst>
                          </p:cTn>
                        </p:par>
                        <p:par>
                          <p:cTn id="69" fill="hold">
                            <p:stCondLst>
                              <p:cond delay="3000"/>
                            </p:stCondLst>
                            <p:childTnLst>
                              <p:par>
                                <p:cTn id="70" presetClass="entr" nodeType="afterEffect" presetID="9" grpId="15" fill="hold">
                                  <p:stCondLst>
                                    <p:cond delay="0"/>
                                  </p:stCondLst>
                                  <p:iterate type="el" backwards="0">
                                    <p:tmAbs val="0"/>
                                  </p:iterate>
                                  <p:childTnLst>
                                    <p:set>
                                      <p:cBhvr>
                                        <p:cTn id="71" fill="hold"/>
                                        <p:tgtEl>
                                          <p:spTgt spid="542"/>
                                        </p:tgtEl>
                                        <p:attrNameLst>
                                          <p:attrName>style.visibility</p:attrName>
                                        </p:attrNameLst>
                                      </p:cBhvr>
                                      <p:to>
                                        <p:strVal val="visible"/>
                                      </p:to>
                                    </p:set>
                                    <p:animEffect filter="dissolve" transition="in">
                                      <p:cBhvr>
                                        <p:cTn id="72" dur="2000"/>
                                        <p:tgtEl>
                                          <p:spTgt spid="542"/>
                                        </p:tgtEl>
                                      </p:cBhvr>
                                    </p:animEffect>
                                  </p:childTnLst>
                                </p:cTn>
                              </p:par>
                            </p:childTnLst>
                          </p:cTn>
                        </p:par>
                      </p:childTnLst>
                    </p:cTn>
                  </p:par>
                  <p:par>
                    <p:cTn id="73" fill="hold">
                      <p:stCondLst>
                        <p:cond delay="indefinite"/>
                      </p:stCondLst>
                      <p:childTnLst>
                        <p:par>
                          <p:cTn id="74" fill="hold">
                            <p:stCondLst>
                              <p:cond delay="0"/>
                            </p:stCondLst>
                            <p:childTnLst>
                              <p:par>
                                <p:cTn id="75" presetClass="entr" nodeType="clickEffect" presetSubtype="8" presetID="2" grpId="16" fill="hold">
                                  <p:stCondLst>
                                    <p:cond delay="0"/>
                                  </p:stCondLst>
                                  <p:iterate type="el" backwards="0">
                                    <p:tmAbs val="0"/>
                                  </p:iterate>
                                  <p:childTnLst>
                                    <p:set>
                                      <p:cBhvr>
                                        <p:cTn id="76" fill="hold"/>
                                        <p:tgtEl>
                                          <p:spTgt spid="519"/>
                                        </p:tgtEl>
                                        <p:attrNameLst>
                                          <p:attrName>style.visibility</p:attrName>
                                        </p:attrNameLst>
                                      </p:cBhvr>
                                      <p:to>
                                        <p:strVal val="visible"/>
                                      </p:to>
                                    </p:set>
                                    <p:anim calcmode="lin" valueType="num">
                                      <p:cBhvr>
                                        <p:cTn id="77" dur="1000" fill="hold"/>
                                        <p:tgtEl>
                                          <p:spTgt spid="519"/>
                                        </p:tgtEl>
                                        <p:attrNameLst>
                                          <p:attrName>ppt_x</p:attrName>
                                        </p:attrNameLst>
                                      </p:cBhvr>
                                      <p:tavLst>
                                        <p:tav tm="0">
                                          <p:val>
                                            <p:strVal val="0-#ppt_w/2"/>
                                          </p:val>
                                        </p:tav>
                                        <p:tav tm="100000">
                                          <p:val>
                                            <p:strVal val="#ppt_x"/>
                                          </p:val>
                                        </p:tav>
                                      </p:tavLst>
                                    </p:anim>
                                    <p:anim calcmode="lin" valueType="num">
                                      <p:cBhvr>
                                        <p:cTn id="78" dur="1000" fill="hold"/>
                                        <p:tgtEl>
                                          <p:spTgt spid="519"/>
                                        </p:tgtEl>
                                        <p:attrNameLst>
                                          <p:attrName>ppt_y</p:attrName>
                                        </p:attrNameLst>
                                      </p:cBhvr>
                                      <p:tavLst>
                                        <p:tav tm="0">
                                          <p:val>
                                            <p:strVal val="#ppt_y"/>
                                          </p:val>
                                        </p:tav>
                                        <p:tav tm="100000">
                                          <p:val>
                                            <p:strVal val="#ppt_y"/>
                                          </p:val>
                                        </p:tav>
                                      </p:tavLst>
                                    </p:anim>
                                  </p:childTnLst>
                                </p:cTn>
                              </p:par>
                            </p:childTnLst>
                          </p:cTn>
                        </p:par>
                        <p:par>
                          <p:cTn id="79" fill="hold">
                            <p:stCondLst>
                              <p:cond delay="1000"/>
                            </p:stCondLst>
                            <p:childTnLst>
                              <p:par>
                                <p:cTn id="80" presetClass="entr" nodeType="afterEffect" presetID="9" grpId="17" fill="hold">
                                  <p:stCondLst>
                                    <p:cond delay="0"/>
                                  </p:stCondLst>
                                  <p:iterate type="el" backwards="0">
                                    <p:tmAbs val="0"/>
                                  </p:iterate>
                                  <p:childTnLst>
                                    <p:set>
                                      <p:cBhvr>
                                        <p:cTn id="81" fill="hold"/>
                                        <p:tgtEl>
                                          <p:spTgt spid="520"/>
                                        </p:tgtEl>
                                        <p:attrNameLst>
                                          <p:attrName>style.visibility</p:attrName>
                                        </p:attrNameLst>
                                      </p:cBhvr>
                                      <p:to>
                                        <p:strVal val="visible"/>
                                      </p:to>
                                    </p:set>
                                    <p:animEffect filter="dissolve" transition="in">
                                      <p:cBhvr>
                                        <p:cTn id="82" dur="2000"/>
                                        <p:tgtEl>
                                          <p:spTgt spid="520"/>
                                        </p:tgtEl>
                                      </p:cBhvr>
                                    </p:animEffect>
                                  </p:childTnLst>
                                </p:cTn>
                              </p:par>
                            </p:childTnLst>
                          </p:cTn>
                        </p:par>
                        <p:par>
                          <p:cTn id="83" fill="hold">
                            <p:stCondLst>
                              <p:cond delay="3000"/>
                            </p:stCondLst>
                            <p:childTnLst>
                              <p:par>
                                <p:cTn id="84" presetClass="entr" nodeType="afterEffect" presetID="9" grpId="18" fill="hold">
                                  <p:stCondLst>
                                    <p:cond delay="0"/>
                                  </p:stCondLst>
                                  <p:iterate type="el" backwards="0">
                                    <p:tmAbs val="0"/>
                                  </p:iterate>
                                  <p:childTnLst>
                                    <p:set>
                                      <p:cBhvr>
                                        <p:cTn id="85" fill="hold"/>
                                        <p:tgtEl>
                                          <p:spTgt spid="544"/>
                                        </p:tgtEl>
                                        <p:attrNameLst>
                                          <p:attrName>style.visibility</p:attrName>
                                        </p:attrNameLst>
                                      </p:cBhvr>
                                      <p:to>
                                        <p:strVal val="visible"/>
                                      </p:to>
                                    </p:set>
                                    <p:animEffect filter="dissolve" transition="in">
                                      <p:cBhvr>
                                        <p:cTn id="86" dur="2000"/>
                                        <p:tgtEl>
                                          <p:spTgt spid="544"/>
                                        </p:tgtEl>
                                      </p:cBhvr>
                                    </p:animEffect>
                                  </p:childTnLst>
                                </p:cTn>
                              </p:par>
                            </p:childTnLst>
                          </p:cTn>
                        </p:par>
                      </p:childTnLst>
                    </p:cTn>
                  </p:par>
                  <p:par>
                    <p:cTn id="87" fill="hold">
                      <p:stCondLst>
                        <p:cond delay="indefinite"/>
                      </p:stCondLst>
                      <p:childTnLst>
                        <p:par>
                          <p:cTn id="88" fill="hold">
                            <p:stCondLst>
                              <p:cond delay="0"/>
                            </p:stCondLst>
                            <p:childTnLst>
                              <p:par>
                                <p:cTn id="89" presetClass="entr" nodeType="clickEffect" presetSubtype="8" presetID="2" grpId="19" fill="hold">
                                  <p:stCondLst>
                                    <p:cond delay="0"/>
                                  </p:stCondLst>
                                  <p:iterate type="el" backwards="0">
                                    <p:tmAbs val="0"/>
                                  </p:iterate>
                                  <p:childTnLst>
                                    <p:set>
                                      <p:cBhvr>
                                        <p:cTn id="90" fill="hold"/>
                                        <p:tgtEl>
                                          <p:spTgt spid="518"/>
                                        </p:tgtEl>
                                        <p:attrNameLst>
                                          <p:attrName>style.visibility</p:attrName>
                                        </p:attrNameLst>
                                      </p:cBhvr>
                                      <p:to>
                                        <p:strVal val="visible"/>
                                      </p:to>
                                    </p:set>
                                    <p:anim calcmode="lin" valueType="num">
                                      <p:cBhvr>
                                        <p:cTn id="91" dur="1000" fill="hold"/>
                                        <p:tgtEl>
                                          <p:spTgt spid="518"/>
                                        </p:tgtEl>
                                        <p:attrNameLst>
                                          <p:attrName>ppt_x</p:attrName>
                                        </p:attrNameLst>
                                      </p:cBhvr>
                                      <p:tavLst>
                                        <p:tav tm="0">
                                          <p:val>
                                            <p:strVal val="0-#ppt_w/2"/>
                                          </p:val>
                                        </p:tav>
                                        <p:tav tm="100000">
                                          <p:val>
                                            <p:strVal val="#ppt_x"/>
                                          </p:val>
                                        </p:tav>
                                      </p:tavLst>
                                    </p:anim>
                                    <p:anim calcmode="lin" valueType="num">
                                      <p:cBhvr>
                                        <p:cTn id="92" dur="1000" fill="hold"/>
                                        <p:tgtEl>
                                          <p:spTgt spid="518"/>
                                        </p:tgtEl>
                                        <p:attrNameLst>
                                          <p:attrName>ppt_y</p:attrName>
                                        </p:attrNameLst>
                                      </p:cBhvr>
                                      <p:tavLst>
                                        <p:tav tm="0">
                                          <p:val>
                                            <p:strVal val="#ppt_y"/>
                                          </p:val>
                                        </p:tav>
                                        <p:tav tm="100000">
                                          <p:val>
                                            <p:strVal val="#ppt_y"/>
                                          </p:val>
                                        </p:tav>
                                      </p:tavLst>
                                    </p:anim>
                                  </p:childTnLst>
                                </p:cTn>
                              </p:par>
                            </p:childTnLst>
                          </p:cTn>
                        </p:par>
                        <p:par>
                          <p:cTn id="93" fill="hold">
                            <p:stCondLst>
                              <p:cond delay="1000"/>
                            </p:stCondLst>
                            <p:childTnLst>
                              <p:par>
                                <p:cTn id="94" presetClass="entr" nodeType="afterEffect" presetID="9" grpId="20" fill="hold">
                                  <p:stCondLst>
                                    <p:cond delay="0"/>
                                  </p:stCondLst>
                                  <p:iterate type="el" backwards="0">
                                    <p:tmAbs val="0"/>
                                  </p:iterate>
                                  <p:childTnLst>
                                    <p:set>
                                      <p:cBhvr>
                                        <p:cTn id="95" fill="hold"/>
                                        <p:tgtEl>
                                          <p:spTgt spid="532"/>
                                        </p:tgtEl>
                                        <p:attrNameLst>
                                          <p:attrName>style.visibility</p:attrName>
                                        </p:attrNameLst>
                                      </p:cBhvr>
                                      <p:to>
                                        <p:strVal val="visible"/>
                                      </p:to>
                                    </p:set>
                                    <p:animEffect filter="dissolve" transition="in">
                                      <p:cBhvr>
                                        <p:cTn id="96" dur="2000"/>
                                        <p:tgtEl>
                                          <p:spTgt spid="532"/>
                                        </p:tgtEl>
                                      </p:cBhvr>
                                    </p:animEffect>
                                  </p:childTnLst>
                                </p:cTn>
                              </p:par>
                            </p:childTnLst>
                          </p:cTn>
                        </p:par>
                        <p:par>
                          <p:cTn id="97" fill="hold">
                            <p:stCondLst>
                              <p:cond delay="3000"/>
                            </p:stCondLst>
                            <p:childTnLst>
                              <p:par>
                                <p:cTn id="98" presetClass="entr" nodeType="afterEffect" presetID="9" grpId="21" fill="hold">
                                  <p:stCondLst>
                                    <p:cond delay="0"/>
                                  </p:stCondLst>
                                  <p:iterate type="el" backwards="0">
                                    <p:tmAbs val="0"/>
                                  </p:iterate>
                                  <p:childTnLst>
                                    <p:set>
                                      <p:cBhvr>
                                        <p:cTn id="99" fill="hold"/>
                                        <p:tgtEl>
                                          <p:spTgt spid="546"/>
                                        </p:tgtEl>
                                        <p:attrNameLst>
                                          <p:attrName>style.visibility</p:attrName>
                                        </p:attrNameLst>
                                      </p:cBhvr>
                                      <p:to>
                                        <p:strVal val="visible"/>
                                      </p:to>
                                    </p:set>
                                    <p:animEffect filter="dissolve" transition="in">
                                      <p:cBhvr>
                                        <p:cTn id="100" dur="2000"/>
                                        <p:tgtEl>
                                          <p:spTgt spid="5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17" grpId="13"/>
      <p:bldP build="whole" bldLvl="1" animBg="1" rev="0" advAuto="0" spid="544" grpId="18"/>
      <p:bldP build="whole" bldLvl="1" animBg="1" rev="0" advAuto="0" spid="518" grpId="19"/>
      <p:bldP build="whole" bldLvl="1" animBg="1" rev="0" advAuto="0" spid="526" grpId="11"/>
      <p:bldP build="whole" bldLvl="1" animBg="1" rev="0" advAuto="0" spid="540" grpId="12"/>
      <p:bldP build="whole" bldLvl="1" animBg="1" rev="0" advAuto="0" spid="528" grpId="14"/>
      <p:bldP build="whole" bldLvl="1" animBg="1" rev="0" advAuto="0" spid="534" grpId="3"/>
      <p:bldP build="whole" bldLvl="1" animBg="1" rev="0" advAuto="0" spid="532" grpId="20"/>
      <p:bldP build="whole" bldLvl="1" animBg="1" rev="0" advAuto="0" spid="515" grpId="7"/>
      <p:bldP build="whole" bldLvl="1" animBg="1" rev="0" advAuto="0" spid="522" grpId="5"/>
      <p:bldP build="whole" bldLvl="1" animBg="1" rev="0" advAuto="0" spid="538" grpId="9"/>
      <p:bldP build="whole" bldLvl="1" animBg="1" rev="0" advAuto="0" spid="513" grpId="1"/>
      <p:bldP build="whole" bldLvl="1" animBg="1" rev="0" advAuto="0" spid="516" grpId="10"/>
      <p:bldP build="whole" bldLvl="1" animBg="1" rev="0" advAuto="0" spid="519" grpId="16"/>
      <p:bldP build="whole" bldLvl="1" animBg="1" rev="0" advAuto="0" spid="536" grpId="6"/>
      <p:bldP build="whole" bldLvl="1" animBg="1" rev="0" advAuto="0" spid="524" grpId="8"/>
      <p:bldP build="whole" bldLvl="1" animBg="1" rev="0" advAuto="0" spid="514" grpId="4"/>
      <p:bldP build="whole" bldLvl="1" animBg="1" rev="0" advAuto="0" spid="520" grpId="17"/>
      <p:bldP build="whole" bldLvl="1" animBg="1" rev="0" advAuto="0" spid="542" grpId="15"/>
      <p:bldP build="whole" bldLvl="1" animBg="1" rev="0" advAuto="0" spid="546" grpId="21"/>
      <p:bldP build="whole" bldLvl="1" animBg="1" rev="0" advAuto="0" spid="530" grpId="2"/>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50" name="Clusterizarea K-Means"/>
          <p:cNvSpPr txBox="1"/>
          <p:nvPr/>
        </p:nvSpPr>
        <p:spPr>
          <a:xfrm>
            <a:off x="6324232" y="15378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sp>
        <p:nvSpPr>
          <p:cNvPr id="551" name="clf = KMeans(n_clusters=2, n_init=1, algorithm='lloyd',  init='random', random_state=42)"/>
          <p:cNvSpPr txBox="1"/>
          <p:nvPr/>
        </p:nvSpPr>
        <p:spPr>
          <a:xfrm>
            <a:off x="487908" y="3327868"/>
            <a:ext cx="23408184" cy="71832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Arial"/>
                <a:ea typeface="Arial"/>
                <a:cs typeface="Arial"/>
                <a:sym typeface="Arial"/>
              </a:defRPr>
            </a:lvl1pPr>
          </a:lstStyle>
          <a:p>
            <a:pPr/>
            <a:r>
              <a:t>clf = KMeans(n_clusters=2, n_init=1, algorithm='lloyd',  init='random', random_state=42)</a:t>
            </a:r>
          </a:p>
        </p:txBody>
      </p:sp>
      <p:sp>
        <p:nvSpPr>
          <p:cNvPr id="552" name="În general, sunt două tipuri mari și late:"/>
          <p:cNvSpPr txBox="1"/>
          <p:nvPr/>
        </p:nvSpPr>
        <p:spPr>
          <a:xfrm>
            <a:off x="357706" y="3997141"/>
            <a:ext cx="23048563" cy="21259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KMeans folosește tot setul de date dat la metoda fit() ca să actualizeze centroizii într-un pas de iterare</a:t>
            </a:r>
          </a:p>
        </p:txBody>
      </p:sp>
      <p:sp>
        <p:nvSpPr>
          <p:cNvPr id="553" name="În general, sunt două tipuri mari și late:"/>
          <p:cNvSpPr txBox="1"/>
          <p:nvPr/>
        </p:nvSpPr>
        <p:spPr>
          <a:xfrm>
            <a:off x="357706" y="6202961"/>
            <a:ext cx="23048563" cy="21259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S-a creat MiniBatchKMeans: acesta folosește doar un subset din date pentru a actualiza centroizii</a:t>
            </a:r>
          </a:p>
        </p:txBody>
      </p:sp>
      <p:sp>
        <p:nvSpPr>
          <p:cNvPr id="554" name="clf = MiniBatchKMeans(n_clusters=2, batch_size = 50, n_init=1,  init='random', random_state=42)"/>
          <p:cNvSpPr txBox="1"/>
          <p:nvPr/>
        </p:nvSpPr>
        <p:spPr>
          <a:xfrm>
            <a:off x="746004" y="8408781"/>
            <a:ext cx="20953612" cy="129164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Arial"/>
                <a:ea typeface="Arial"/>
                <a:cs typeface="Arial"/>
                <a:sym typeface="Arial"/>
              </a:defRPr>
            </a:lvl1pPr>
          </a:lstStyle>
          <a:p>
            <a:pPr/>
            <a:r>
              <a:t>clf = MiniBatchKMeans(n_clusters=2, batch_size = 50, n_init=1,  init='random', random_state=42)</a:t>
            </a:r>
          </a:p>
        </p:txBody>
      </p:sp>
      <p:sp>
        <p:nvSpPr>
          <p:cNvPr id="555" name="În general, sunt două tipuri mari și late:"/>
          <p:cNvSpPr txBox="1"/>
          <p:nvPr/>
        </p:nvSpPr>
        <p:spPr>
          <a:xfrm>
            <a:off x="1552208" y="9780330"/>
            <a:ext cx="23048563" cy="11365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batch_size: câte date să folosească la actualizare</a:t>
            </a:r>
          </a:p>
        </p:txBody>
      </p:sp>
      <p:sp>
        <p:nvSpPr>
          <p:cNvPr id="556" name="În general, sunt două tipuri mari și late:"/>
          <p:cNvSpPr txBox="1"/>
          <p:nvPr/>
        </p:nvSpPr>
        <p:spPr>
          <a:xfrm>
            <a:off x="1552208" y="10768823"/>
            <a:ext cx="23048563" cy="11365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lipsește parametrul algorithm: va folosi el o varianta optimă</a:t>
            </a:r>
          </a:p>
        </p:txBody>
      </p:sp>
      <p:sp>
        <p:nvSpPr>
          <p:cNvPr id="557" name="În general, sunt două tipuri mari și late:"/>
          <p:cNvSpPr txBox="1"/>
          <p:nvPr/>
        </p:nvSpPr>
        <p:spPr>
          <a:xfrm>
            <a:off x="667718" y="11986149"/>
            <a:ext cx="23048564" cy="11365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MiniBatchKMeans e util la seturi de date foarte mari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552"/>
                                        </p:tgtEl>
                                        <p:attrNameLst>
                                          <p:attrName>style.visibility</p:attrName>
                                        </p:attrNameLst>
                                      </p:cBhvr>
                                      <p:to>
                                        <p:strVal val="visible"/>
                                      </p:to>
                                    </p:set>
                                    <p:anim calcmode="lin" valueType="num">
                                      <p:cBhvr>
                                        <p:cTn id="7" dur="1000" fill="hold"/>
                                        <p:tgtEl>
                                          <p:spTgt spid="552"/>
                                        </p:tgtEl>
                                        <p:attrNameLst>
                                          <p:attrName>ppt_x</p:attrName>
                                        </p:attrNameLst>
                                      </p:cBhvr>
                                      <p:tavLst>
                                        <p:tav tm="0">
                                          <p:val>
                                            <p:strVal val="0-#ppt_w/2"/>
                                          </p:val>
                                        </p:tav>
                                        <p:tav tm="100000">
                                          <p:val>
                                            <p:strVal val="#ppt_x"/>
                                          </p:val>
                                        </p:tav>
                                      </p:tavLst>
                                    </p:anim>
                                    <p:anim calcmode="lin" valueType="num">
                                      <p:cBhvr>
                                        <p:cTn id="8" dur="1000" fill="hold"/>
                                        <p:tgtEl>
                                          <p:spTgt spid="5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53"/>
                                        </p:tgtEl>
                                        <p:attrNameLst>
                                          <p:attrName>style.visibility</p:attrName>
                                        </p:attrNameLst>
                                      </p:cBhvr>
                                      <p:to>
                                        <p:strVal val="visible"/>
                                      </p:to>
                                    </p:set>
                                    <p:anim calcmode="lin" valueType="num">
                                      <p:cBhvr>
                                        <p:cTn id="13" dur="1000" fill="hold"/>
                                        <p:tgtEl>
                                          <p:spTgt spid="553"/>
                                        </p:tgtEl>
                                        <p:attrNameLst>
                                          <p:attrName>ppt_x</p:attrName>
                                        </p:attrNameLst>
                                      </p:cBhvr>
                                      <p:tavLst>
                                        <p:tav tm="0">
                                          <p:val>
                                            <p:strVal val="0-#ppt_w/2"/>
                                          </p:val>
                                        </p:tav>
                                        <p:tav tm="100000">
                                          <p:val>
                                            <p:strVal val="#ppt_x"/>
                                          </p:val>
                                        </p:tav>
                                      </p:tavLst>
                                    </p:anim>
                                    <p:anim calcmode="lin" valueType="num">
                                      <p:cBhvr>
                                        <p:cTn id="14" dur="1000" fill="hold"/>
                                        <p:tgtEl>
                                          <p:spTgt spid="55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554"/>
                                        </p:tgtEl>
                                        <p:attrNameLst>
                                          <p:attrName>style.visibility</p:attrName>
                                        </p:attrNameLst>
                                      </p:cBhvr>
                                      <p:to>
                                        <p:strVal val="visible"/>
                                      </p:to>
                                    </p:set>
                                    <p:anim calcmode="lin" valueType="num">
                                      <p:cBhvr>
                                        <p:cTn id="19" dur="1000" fill="hold"/>
                                        <p:tgtEl>
                                          <p:spTgt spid="554"/>
                                        </p:tgtEl>
                                        <p:attrNameLst>
                                          <p:attrName>ppt_x</p:attrName>
                                        </p:attrNameLst>
                                      </p:cBhvr>
                                      <p:tavLst>
                                        <p:tav tm="0">
                                          <p:val>
                                            <p:strVal val="0-#ppt_w/2"/>
                                          </p:val>
                                        </p:tav>
                                        <p:tav tm="100000">
                                          <p:val>
                                            <p:strVal val="#ppt_x"/>
                                          </p:val>
                                        </p:tav>
                                      </p:tavLst>
                                    </p:anim>
                                    <p:anim calcmode="lin" valueType="num">
                                      <p:cBhvr>
                                        <p:cTn id="20" dur="1000" fill="hold"/>
                                        <p:tgtEl>
                                          <p:spTgt spid="55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 grpId="4" fill="hold">
                                  <p:stCondLst>
                                    <p:cond delay="0"/>
                                  </p:stCondLst>
                                  <p:iterate type="el" backwards="0">
                                    <p:tmAbs val="0"/>
                                  </p:iterate>
                                  <p:childTnLst>
                                    <p:set>
                                      <p:cBhvr>
                                        <p:cTn id="24" fill="hold"/>
                                        <p:tgtEl>
                                          <p:spTgt spid="555"/>
                                        </p:tgtEl>
                                        <p:attrNameLst>
                                          <p:attrName>style.visibility</p:attrName>
                                        </p:attrNameLst>
                                      </p:cBhvr>
                                      <p:to>
                                        <p:strVal val="visible"/>
                                      </p:to>
                                    </p:set>
                                    <p:anim calcmode="lin" valueType="num">
                                      <p:cBhvr>
                                        <p:cTn id="25" dur="1000" fill="hold"/>
                                        <p:tgtEl>
                                          <p:spTgt spid="555"/>
                                        </p:tgtEl>
                                        <p:attrNameLst>
                                          <p:attrName>ppt_x</p:attrName>
                                        </p:attrNameLst>
                                      </p:cBhvr>
                                      <p:tavLst>
                                        <p:tav tm="0">
                                          <p:val>
                                            <p:strVal val="0-#ppt_w/2"/>
                                          </p:val>
                                        </p:tav>
                                        <p:tav tm="100000">
                                          <p:val>
                                            <p:strVal val="#ppt_x"/>
                                          </p:val>
                                        </p:tav>
                                      </p:tavLst>
                                    </p:anim>
                                    <p:anim calcmode="lin" valueType="num">
                                      <p:cBhvr>
                                        <p:cTn id="26" dur="1000" fill="hold"/>
                                        <p:tgtEl>
                                          <p:spTgt spid="555"/>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Class="entr" nodeType="afterEffect" presetSubtype="8" presetID="2" grpId="5" fill="hold">
                                  <p:stCondLst>
                                    <p:cond delay="0"/>
                                  </p:stCondLst>
                                  <p:iterate type="el" backwards="0">
                                    <p:tmAbs val="0"/>
                                  </p:iterate>
                                  <p:childTnLst>
                                    <p:set>
                                      <p:cBhvr>
                                        <p:cTn id="29" fill="hold"/>
                                        <p:tgtEl>
                                          <p:spTgt spid="556"/>
                                        </p:tgtEl>
                                        <p:attrNameLst>
                                          <p:attrName>style.visibility</p:attrName>
                                        </p:attrNameLst>
                                      </p:cBhvr>
                                      <p:to>
                                        <p:strVal val="visible"/>
                                      </p:to>
                                    </p:set>
                                    <p:anim calcmode="lin" valueType="num">
                                      <p:cBhvr>
                                        <p:cTn id="30" dur="1000" fill="hold"/>
                                        <p:tgtEl>
                                          <p:spTgt spid="556"/>
                                        </p:tgtEl>
                                        <p:attrNameLst>
                                          <p:attrName>ppt_x</p:attrName>
                                        </p:attrNameLst>
                                      </p:cBhvr>
                                      <p:tavLst>
                                        <p:tav tm="0">
                                          <p:val>
                                            <p:strVal val="0-#ppt_w/2"/>
                                          </p:val>
                                        </p:tav>
                                        <p:tav tm="100000">
                                          <p:val>
                                            <p:strVal val="#ppt_x"/>
                                          </p:val>
                                        </p:tav>
                                      </p:tavLst>
                                    </p:anim>
                                    <p:anim calcmode="lin" valueType="num">
                                      <p:cBhvr>
                                        <p:cTn id="31" dur="1000" fill="hold"/>
                                        <p:tgtEl>
                                          <p:spTgt spid="55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 grpId="6" fill="hold">
                                  <p:stCondLst>
                                    <p:cond delay="0"/>
                                  </p:stCondLst>
                                  <p:iterate type="el" backwards="0">
                                    <p:tmAbs val="0"/>
                                  </p:iterate>
                                  <p:childTnLst>
                                    <p:set>
                                      <p:cBhvr>
                                        <p:cTn id="35" fill="hold"/>
                                        <p:tgtEl>
                                          <p:spTgt spid="557"/>
                                        </p:tgtEl>
                                        <p:attrNameLst>
                                          <p:attrName>style.visibility</p:attrName>
                                        </p:attrNameLst>
                                      </p:cBhvr>
                                      <p:to>
                                        <p:strVal val="visible"/>
                                      </p:to>
                                    </p:set>
                                    <p:anim calcmode="lin" valueType="num">
                                      <p:cBhvr>
                                        <p:cTn id="36" dur="1000" fill="hold"/>
                                        <p:tgtEl>
                                          <p:spTgt spid="557"/>
                                        </p:tgtEl>
                                        <p:attrNameLst>
                                          <p:attrName>ppt_x</p:attrName>
                                        </p:attrNameLst>
                                      </p:cBhvr>
                                      <p:tavLst>
                                        <p:tav tm="0">
                                          <p:val>
                                            <p:strVal val="0-#ppt_w/2"/>
                                          </p:val>
                                        </p:tav>
                                        <p:tav tm="100000">
                                          <p:val>
                                            <p:strVal val="#ppt_x"/>
                                          </p:val>
                                        </p:tav>
                                      </p:tavLst>
                                    </p:anim>
                                    <p:anim calcmode="lin" valueType="num">
                                      <p:cBhvr>
                                        <p:cTn id="37" dur="1000" fill="hold"/>
                                        <p:tgtEl>
                                          <p:spTgt spid="5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2" grpId="1"/>
      <p:bldP build="whole" bldLvl="1" animBg="1" rev="0" advAuto="0" spid="555" grpId="4"/>
      <p:bldP build="whole" bldLvl="1" animBg="1" rev="0" advAuto="0" spid="554" grpId="3"/>
      <p:bldP build="whole" bldLvl="1" animBg="1" rev="0" advAuto="0" spid="556" grpId="5"/>
      <p:bldP build="whole" bldLvl="1" animBg="1" rev="0" advAuto="0" spid="553" grpId="2"/>
      <p:bldP build="whole" bldLvl="1" animBg="1" rev="0" advAuto="0" spid="557" grpId="6"/>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60" name="Clusterizarea K-Means"/>
          <p:cNvSpPr txBox="1"/>
          <p:nvPr/>
        </p:nvSpPr>
        <p:spPr>
          <a:xfrm>
            <a:off x="6324232" y="153786"/>
            <a:ext cx="1035561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Clusterizarea K-Means</a:t>
            </a:r>
          </a:p>
        </p:txBody>
      </p:sp>
      <p:pic>
        <p:nvPicPr>
          <p:cNvPr id="561" name="Captură de ecran din 2024-11-04 la 01.24.59.png" descr="Captură de ecran din 2024-11-04 la 01.24.59.png"/>
          <p:cNvPicPr>
            <a:picLocks noChangeAspect="1"/>
          </p:cNvPicPr>
          <p:nvPr/>
        </p:nvPicPr>
        <p:blipFill>
          <a:blip r:embed="rId2">
            <a:extLst/>
          </a:blip>
          <a:stretch>
            <a:fillRect/>
          </a:stretch>
        </p:blipFill>
        <p:spPr>
          <a:xfrm>
            <a:off x="2031538" y="2525939"/>
            <a:ext cx="18941007" cy="8173886"/>
          </a:xfrm>
          <a:prstGeom prst="rect">
            <a:avLst/>
          </a:prstGeom>
          <a:ln w="12700">
            <a:miter lim="400000"/>
          </a:ln>
        </p:spPr>
      </p:pic>
      <p:sp>
        <p:nvSpPr>
          <p:cNvPr id="562" name="În general, sunt două tipuri mari și late:"/>
          <p:cNvSpPr txBox="1"/>
          <p:nvPr/>
        </p:nvSpPr>
        <p:spPr>
          <a:xfrm>
            <a:off x="338978" y="11072270"/>
            <a:ext cx="23048563" cy="17542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91490" indent="-491490" defTabSz="2194504">
              <a:spcBef>
                <a:spcPts val="2100"/>
              </a:spcBef>
              <a:buSzPct val="150000"/>
              <a:buChar char="•"/>
              <a:defRPr sz="3959">
                <a:latin typeface="Canela Text Regular"/>
                <a:ea typeface="Canela Text Regular"/>
                <a:cs typeface="Canela Text Regular"/>
                <a:sym typeface="Canela Text Regular"/>
              </a:defRPr>
            </a:lvl1pPr>
          </a:lstStyle>
          <a:p>
            <a:pPr/>
            <a:r>
              <a:t>Aici folosim MiniBatchKMeans, cu o actualizare a centroizilor bazându-se pe 50 de puncte de date și folosind optimizarea K-Means++. Se antrenează 10 modele și se alege cel mai bun dintre ele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62"/>
                                        </p:tgtEl>
                                        <p:attrNameLst>
                                          <p:attrName>style.visibility</p:attrName>
                                        </p:attrNameLst>
                                      </p:cBhvr>
                                      <p:to>
                                        <p:strVal val="visible"/>
                                      </p:to>
                                    </p:set>
                                    <p:anim calcmode="lin" valueType="num">
                                      <p:cBhvr>
                                        <p:cTn id="7" dur="1000" fill="hold"/>
                                        <p:tgtEl>
                                          <p:spTgt spid="562"/>
                                        </p:tgtEl>
                                        <p:attrNameLst>
                                          <p:attrName>ppt_x</p:attrName>
                                        </p:attrNameLst>
                                      </p:cBhvr>
                                      <p:tavLst>
                                        <p:tav tm="0">
                                          <p:val>
                                            <p:strVal val="0-#ppt_w/2"/>
                                          </p:val>
                                        </p:tav>
                                        <p:tav tm="100000">
                                          <p:val>
                                            <p:strVal val="#ppt_x"/>
                                          </p:val>
                                        </p:tav>
                                      </p:tavLst>
                                    </p:anim>
                                    <p:anim calcmode="lin" valueType="num">
                                      <p:cBhvr>
                                        <p:cTn id="8" dur="1000" fill="hold"/>
                                        <p:tgtEl>
                                          <p:spTgt spid="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2"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65" name="În general, sunt două tipuri mari și late:"/>
          <p:cNvSpPr txBox="1"/>
          <p:nvPr/>
        </p:nvSpPr>
        <p:spPr>
          <a:xfrm>
            <a:off x="470074" y="2588436"/>
            <a:ext cx="23048563" cy="15255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Aglomerative Clustering prezintă o altă metodă de a găsi grupuri în date</a:t>
            </a:r>
          </a:p>
        </p:txBody>
      </p:sp>
      <p:sp>
        <p:nvSpPr>
          <p:cNvPr id="566" name="În general, sunt două tipuri mari și late:"/>
          <p:cNvSpPr txBox="1"/>
          <p:nvPr/>
        </p:nvSpPr>
        <p:spPr>
          <a:xfrm>
            <a:off x="470074" y="4015925"/>
            <a:ext cx="23048563" cy="21098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Metoda începe prin a asocia un cluster către fiecare punct, deci fiecare punct va reprezenta inițial un cluster</a:t>
            </a:r>
          </a:p>
        </p:txBody>
      </p:sp>
      <p:sp>
        <p:nvSpPr>
          <p:cNvPr id="567" name="În general, sunt două tipuri mari și late:"/>
          <p:cNvSpPr txBox="1"/>
          <p:nvPr/>
        </p:nvSpPr>
        <p:spPr>
          <a:xfrm>
            <a:off x="338978" y="6065245"/>
            <a:ext cx="23048563" cy="21098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Apoi, în fiecare iterație, va calcula distanța între fiecare cluster și va contopi clusterele care au distanță minimă (le va face un singur cluster)</a:t>
            </a:r>
          </a:p>
        </p:txBody>
      </p:sp>
      <p:sp>
        <p:nvSpPr>
          <p:cNvPr id="568" name="În general, sunt două tipuri mari și late:"/>
          <p:cNvSpPr txBox="1"/>
          <p:nvPr/>
        </p:nvSpPr>
        <p:spPr>
          <a:xfrm>
            <a:off x="338978" y="8200249"/>
            <a:ext cx="23048563" cy="21098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Algoritmul continuă până când s-a ajuns la un singur cluster mare sau până s-a ajuns la o condiție de stop (de exemplu, numărul maxim de clustere)</a:t>
            </a:r>
          </a:p>
        </p:txBody>
      </p:sp>
      <p:pic>
        <p:nvPicPr>
          <p:cNvPr id="569" name="Linie Linie" descr="Linie Linie"/>
          <p:cNvPicPr>
            <a:picLocks noChangeAspect="0"/>
          </p:cNvPicPr>
          <p:nvPr/>
        </p:nvPicPr>
        <p:blipFill>
          <a:blip r:embed="rId2">
            <a:extLst/>
          </a:blip>
          <a:stretch>
            <a:fillRect/>
          </a:stretch>
        </p:blipFill>
        <p:spPr>
          <a:xfrm>
            <a:off x="6430881" y="4782808"/>
            <a:ext cx="9433489" cy="101601"/>
          </a:xfrm>
          <a:prstGeom prst="rect">
            <a:avLst/>
          </a:prstGeom>
        </p:spPr>
      </p:pic>
      <p:pic>
        <p:nvPicPr>
          <p:cNvPr id="571" name="Linie Linie" descr="Linie Linie"/>
          <p:cNvPicPr>
            <a:picLocks noChangeAspect="0"/>
          </p:cNvPicPr>
          <p:nvPr/>
        </p:nvPicPr>
        <p:blipFill>
          <a:blip r:embed="rId3">
            <a:extLst/>
          </a:blip>
          <a:stretch>
            <a:fillRect/>
          </a:stretch>
        </p:blipFill>
        <p:spPr>
          <a:xfrm>
            <a:off x="7231487" y="6807200"/>
            <a:ext cx="9921026" cy="101600"/>
          </a:xfrm>
          <a:prstGeom prst="rect">
            <a:avLst/>
          </a:prstGeom>
        </p:spPr>
      </p:pic>
      <p:pic>
        <p:nvPicPr>
          <p:cNvPr id="573" name="Linie Linie" descr="Linie Linie"/>
          <p:cNvPicPr>
            <a:picLocks noChangeAspect="0"/>
          </p:cNvPicPr>
          <p:nvPr/>
        </p:nvPicPr>
        <p:blipFill>
          <a:blip r:embed="rId2">
            <a:extLst/>
          </a:blip>
          <a:stretch>
            <a:fillRect/>
          </a:stretch>
        </p:blipFill>
        <p:spPr>
          <a:xfrm>
            <a:off x="4984720" y="7590177"/>
            <a:ext cx="9433489"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65"/>
                                        </p:tgtEl>
                                        <p:attrNameLst>
                                          <p:attrName>style.visibility</p:attrName>
                                        </p:attrNameLst>
                                      </p:cBhvr>
                                      <p:to>
                                        <p:strVal val="visible"/>
                                      </p:to>
                                    </p:set>
                                    <p:anim calcmode="lin" valueType="num">
                                      <p:cBhvr>
                                        <p:cTn id="7" dur="1000" fill="hold"/>
                                        <p:tgtEl>
                                          <p:spTgt spid="565"/>
                                        </p:tgtEl>
                                        <p:attrNameLst>
                                          <p:attrName>ppt_x</p:attrName>
                                        </p:attrNameLst>
                                      </p:cBhvr>
                                      <p:tavLst>
                                        <p:tav tm="0">
                                          <p:val>
                                            <p:strVal val="0-#ppt_w/2"/>
                                          </p:val>
                                        </p:tav>
                                        <p:tav tm="100000">
                                          <p:val>
                                            <p:strVal val="#ppt_x"/>
                                          </p:val>
                                        </p:tav>
                                      </p:tavLst>
                                    </p:anim>
                                    <p:anim calcmode="lin" valueType="num">
                                      <p:cBhvr>
                                        <p:cTn id="8" dur="1000" fill="hold"/>
                                        <p:tgtEl>
                                          <p:spTgt spid="5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66"/>
                                        </p:tgtEl>
                                        <p:attrNameLst>
                                          <p:attrName>style.visibility</p:attrName>
                                        </p:attrNameLst>
                                      </p:cBhvr>
                                      <p:to>
                                        <p:strVal val="visible"/>
                                      </p:to>
                                    </p:set>
                                    <p:anim calcmode="lin" valueType="num">
                                      <p:cBhvr>
                                        <p:cTn id="13" dur="1000" fill="hold"/>
                                        <p:tgtEl>
                                          <p:spTgt spid="566"/>
                                        </p:tgtEl>
                                        <p:attrNameLst>
                                          <p:attrName>ppt_x</p:attrName>
                                        </p:attrNameLst>
                                      </p:cBhvr>
                                      <p:tavLst>
                                        <p:tav tm="0">
                                          <p:val>
                                            <p:strVal val="0-#ppt_w/2"/>
                                          </p:val>
                                        </p:tav>
                                        <p:tav tm="100000">
                                          <p:val>
                                            <p:strVal val="#ppt_x"/>
                                          </p:val>
                                        </p:tav>
                                      </p:tavLst>
                                    </p:anim>
                                    <p:anim calcmode="lin" valueType="num">
                                      <p:cBhvr>
                                        <p:cTn id="14" dur="1000" fill="hold"/>
                                        <p:tgtEl>
                                          <p:spTgt spid="566"/>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569"/>
                                        </p:tgtEl>
                                        <p:attrNameLst>
                                          <p:attrName>style.visibility</p:attrName>
                                        </p:attrNameLst>
                                      </p:cBhvr>
                                      <p:to>
                                        <p:strVal val="visible"/>
                                      </p:to>
                                    </p:set>
                                    <p:animEffect filter="dissolve" transition="in">
                                      <p:cBhvr>
                                        <p:cTn id="18" dur="2000"/>
                                        <p:tgtEl>
                                          <p:spTgt spid="569"/>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567"/>
                                        </p:tgtEl>
                                        <p:attrNameLst>
                                          <p:attrName>style.visibility</p:attrName>
                                        </p:attrNameLst>
                                      </p:cBhvr>
                                      <p:to>
                                        <p:strVal val="visible"/>
                                      </p:to>
                                    </p:set>
                                    <p:anim calcmode="lin" valueType="num">
                                      <p:cBhvr>
                                        <p:cTn id="23" dur="1000" fill="hold"/>
                                        <p:tgtEl>
                                          <p:spTgt spid="567"/>
                                        </p:tgtEl>
                                        <p:attrNameLst>
                                          <p:attrName>ppt_x</p:attrName>
                                        </p:attrNameLst>
                                      </p:cBhvr>
                                      <p:tavLst>
                                        <p:tav tm="0">
                                          <p:val>
                                            <p:strVal val="0-#ppt_w/2"/>
                                          </p:val>
                                        </p:tav>
                                        <p:tav tm="100000">
                                          <p:val>
                                            <p:strVal val="#ppt_x"/>
                                          </p:val>
                                        </p:tav>
                                      </p:tavLst>
                                    </p:anim>
                                    <p:anim calcmode="lin" valueType="num">
                                      <p:cBhvr>
                                        <p:cTn id="24" dur="1000" fill="hold"/>
                                        <p:tgtEl>
                                          <p:spTgt spid="567"/>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571"/>
                                        </p:tgtEl>
                                        <p:attrNameLst>
                                          <p:attrName>style.visibility</p:attrName>
                                        </p:attrNameLst>
                                      </p:cBhvr>
                                      <p:to>
                                        <p:strVal val="visible"/>
                                      </p:to>
                                    </p:set>
                                    <p:animEffect filter="dissolve" transition="in">
                                      <p:cBhvr>
                                        <p:cTn id="28" dur="2000"/>
                                        <p:tgtEl>
                                          <p:spTgt spid="571"/>
                                        </p:tgtEl>
                                      </p:cBhvr>
                                    </p:animEffect>
                                  </p:childTnLst>
                                </p:cTn>
                              </p:par>
                            </p:childTnLst>
                          </p:cTn>
                        </p:par>
                        <p:par>
                          <p:cTn id="29" fill="hold">
                            <p:stCondLst>
                              <p:cond delay="3000"/>
                            </p:stCondLst>
                            <p:childTnLst>
                              <p:par>
                                <p:cTn id="30" presetClass="entr" nodeType="afterEffect" presetID="9" grpId="6" fill="hold">
                                  <p:stCondLst>
                                    <p:cond delay="0"/>
                                  </p:stCondLst>
                                  <p:iterate type="el" backwards="0">
                                    <p:tmAbs val="0"/>
                                  </p:iterate>
                                  <p:childTnLst>
                                    <p:set>
                                      <p:cBhvr>
                                        <p:cTn id="31" fill="hold"/>
                                        <p:tgtEl>
                                          <p:spTgt spid="573"/>
                                        </p:tgtEl>
                                        <p:attrNameLst>
                                          <p:attrName>style.visibility</p:attrName>
                                        </p:attrNameLst>
                                      </p:cBhvr>
                                      <p:to>
                                        <p:strVal val="visible"/>
                                      </p:to>
                                    </p:set>
                                    <p:animEffect filter="dissolve" transition="in">
                                      <p:cBhvr>
                                        <p:cTn id="32" dur="2000"/>
                                        <p:tgtEl>
                                          <p:spTgt spid="573"/>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 grpId="7" fill="hold">
                                  <p:stCondLst>
                                    <p:cond delay="0"/>
                                  </p:stCondLst>
                                  <p:iterate type="el" backwards="0">
                                    <p:tmAbs val="0"/>
                                  </p:iterate>
                                  <p:childTnLst>
                                    <p:set>
                                      <p:cBhvr>
                                        <p:cTn id="36" fill="hold"/>
                                        <p:tgtEl>
                                          <p:spTgt spid="568"/>
                                        </p:tgtEl>
                                        <p:attrNameLst>
                                          <p:attrName>style.visibility</p:attrName>
                                        </p:attrNameLst>
                                      </p:cBhvr>
                                      <p:to>
                                        <p:strVal val="visible"/>
                                      </p:to>
                                    </p:set>
                                    <p:anim calcmode="lin" valueType="num">
                                      <p:cBhvr>
                                        <p:cTn id="37" dur="1000" fill="hold"/>
                                        <p:tgtEl>
                                          <p:spTgt spid="568"/>
                                        </p:tgtEl>
                                        <p:attrNameLst>
                                          <p:attrName>ppt_x</p:attrName>
                                        </p:attrNameLst>
                                      </p:cBhvr>
                                      <p:tavLst>
                                        <p:tav tm="0">
                                          <p:val>
                                            <p:strVal val="0-#ppt_w/2"/>
                                          </p:val>
                                        </p:tav>
                                        <p:tav tm="100000">
                                          <p:val>
                                            <p:strVal val="#ppt_x"/>
                                          </p:val>
                                        </p:tav>
                                      </p:tavLst>
                                    </p:anim>
                                    <p:anim calcmode="lin" valueType="num">
                                      <p:cBhvr>
                                        <p:cTn id="38" dur="1000" fill="hold"/>
                                        <p:tgtEl>
                                          <p:spTgt spid="5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9" grpId="3"/>
      <p:bldP build="whole" bldLvl="1" animBg="1" rev="0" advAuto="0" spid="566" grpId="2"/>
      <p:bldP build="whole" bldLvl="1" animBg="1" rev="0" advAuto="0" spid="567" grpId="4"/>
      <p:bldP build="whole" bldLvl="1" animBg="1" rev="0" advAuto="0" spid="573" grpId="6"/>
      <p:bldP build="whole" bldLvl="1" animBg="1" rev="0" advAuto="0" spid="571" grpId="5"/>
      <p:bldP build="whole" bldLvl="1" animBg="1" rev="0" advAuto="0" spid="568" grpId="7"/>
      <p:bldP build="whole" bldLvl="1" animBg="1" rev="0" advAuto="0" spid="565"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577" name="clustering_animation-ezgif.com-speed.gif" descr="clustering_animation-ezgif.com-speed.gif"/>
          <p:cNvPicPr>
            <a:picLocks noChangeAspect="0"/>
          </p:cNvPicPr>
          <p:nvPr/>
        </p:nvPicPr>
        <p:blipFill>
          <a:blip r:embed="rId2">
            <a:extLst/>
          </a:blip>
          <a:stretch>
            <a:fillRect/>
          </a:stretch>
        </p:blipFill>
        <p:spPr>
          <a:xfrm>
            <a:off x="6802546" y="2101791"/>
            <a:ext cx="10778907" cy="10778907"/>
          </a:xfrm>
          <a:prstGeom prst="rect">
            <a:avLst/>
          </a:prstGeom>
          <a:ln w="12700">
            <a:miter lim="400000"/>
          </a:ln>
        </p:spPr>
      </p:pic>
      <p:sp>
        <p:nvSpPr>
          <p:cNvPr id="578" name="Aglomerative Clustering"/>
          <p:cNvSpPr txBox="1"/>
          <p:nvPr/>
        </p:nvSpPr>
        <p:spPr>
          <a:xfrm>
            <a:off x="6628581" y="172514"/>
            <a:ext cx="1112683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Aglomerative Clustering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81" name="Aglomerative Clustering"/>
          <p:cNvSpPr txBox="1"/>
          <p:nvPr/>
        </p:nvSpPr>
        <p:spPr>
          <a:xfrm>
            <a:off x="6628581" y="172514"/>
            <a:ext cx="1112683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Aglomerative Clustering</a:t>
            </a:r>
          </a:p>
        </p:txBody>
      </p:sp>
      <p:sp>
        <p:nvSpPr>
          <p:cNvPr id="582" name="În general, sunt două tipuri mari și late:"/>
          <p:cNvSpPr txBox="1"/>
          <p:nvPr/>
        </p:nvSpPr>
        <p:spPr>
          <a:xfrm>
            <a:off x="470074" y="2588436"/>
            <a:ext cx="23048563" cy="15255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13333" indent="-513333" defTabSz="2292037">
              <a:spcBef>
                <a:spcPts val="2200"/>
              </a:spcBef>
              <a:buSzPct val="150000"/>
              <a:buChar char="•"/>
              <a:defRPr sz="4136">
                <a:latin typeface="Canela Text Regular"/>
                <a:ea typeface="Canela Text Regular"/>
                <a:cs typeface="Canela Text Regular"/>
                <a:sym typeface="Canela Text Regular"/>
              </a:defRPr>
            </a:lvl1pPr>
          </a:lstStyle>
          <a:p>
            <a:pPr/>
            <a:r>
              <a:t>E ușor să calculăm distanța între două puncte, dar cum definim distanța dintre două clustere?</a:t>
            </a:r>
          </a:p>
        </p:txBody>
      </p:sp>
      <p:pic>
        <p:nvPicPr>
          <p:cNvPr id="583" name="Captură de ecran din 2024-11-04 la 01.53.47.png" descr="Captură de ecran din 2024-11-04 la 01.53.47.png"/>
          <p:cNvPicPr>
            <a:picLocks noChangeAspect="1"/>
          </p:cNvPicPr>
          <p:nvPr/>
        </p:nvPicPr>
        <p:blipFill>
          <a:blip r:embed="rId2">
            <a:extLst/>
          </a:blip>
          <a:stretch>
            <a:fillRect/>
          </a:stretch>
        </p:blipFill>
        <p:spPr>
          <a:xfrm>
            <a:off x="8125380" y="3761043"/>
            <a:ext cx="7188201" cy="7035801"/>
          </a:xfrm>
          <a:prstGeom prst="rect">
            <a:avLst/>
          </a:prstGeom>
          <a:ln w="12700">
            <a:miter lim="400000"/>
          </a:ln>
        </p:spPr>
      </p:pic>
      <p:sp>
        <p:nvSpPr>
          <p:cNvPr id="584" name="În general, sunt două tipuri mari și late:"/>
          <p:cNvSpPr txBox="1"/>
          <p:nvPr/>
        </p:nvSpPr>
        <p:spPr>
          <a:xfrm>
            <a:off x="470074" y="11480192"/>
            <a:ext cx="23048563" cy="185465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De exemplu, în iterația 10 am ajuns la 3 clustere, cum știm care cluster e mai aproape de altul?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82"/>
                                        </p:tgtEl>
                                        <p:attrNameLst>
                                          <p:attrName>style.visibility</p:attrName>
                                        </p:attrNameLst>
                                      </p:cBhvr>
                                      <p:to>
                                        <p:strVal val="visible"/>
                                      </p:to>
                                    </p:set>
                                    <p:anim calcmode="lin" valueType="num">
                                      <p:cBhvr>
                                        <p:cTn id="7" dur="1000" fill="hold"/>
                                        <p:tgtEl>
                                          <p:spTgt spid="582"/>
                                        </p:tgtEl>
                                        <p:attrNameLst>
                                          <p:attrName>ppt_x</p:attrName>
                                        </p:attrNameLst>
                                      </p:cBhvr>
                                      <p:tavLst>
                                        <p:tav tm="0">
                                          <p:val>
                                            <p:strVal val="0-#ppt_w/2"/>
                                          </p:val>
                                        </p:tav>
                                        <p:tav tm="100000">
                                          <p:val>
                                            <p:strVal val="#ppt_x"/>
                                          </p:val>
                                        </p:tav>
                                      </p:tavLst>
                                    </p:anim>
                                    <p:anim calcmode="lin" valueType="num">
                                      <p:cBhvr>
                                        <p:cTn id="8" dur="1000" fill="hold"/>
                                        <p:tgtEl>
                                          <p:spTgt spid="5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83"/>
                                        </p:tgtEl>
                                        <p:attrNameLst>
                                          <p:attrName>style.visibility</p:attrName>
                                        </p:attrNameLst>
                                      </p:cBhvr>
                                      <p:to>
                                        <p:strVal val="visible"/>
                                      </p:to>
                                    </p:set>
                                    <p:anim calcmode="lin" valueType="num">
                                      <p:cBhvr>
                                        <p:cTn id="13" dur="1000" fill="hold"/>
                                        <p:tgtEl>
                                          <p:spTgt spid="583"/>
                                        </p:tgtEl>
                                        <p:attrNameLst>
                                          <p:attrName>ppt_x</p:attrName>
                                        </p:attrNameLst>
                                      </p:cBhvr>
                                      <p:tavLst>
                                        <p:tav tm="0">
                                          <p:val>
                                            <p:strVal val="0-#ppt_w/2"/>
                                          </p:val>
                                        </p:tav>
                                        <p:tav tm="100000">
                                          <p:val>
                                            <p:strVal val="#ppt_x"/>
                                          </p:val>
                                        </p:tav>
                                      </p:tavLst>
                                    </p:anim>
                                    <p:anim calcmode="lin" valueType="num">
                                      <p:cBhvr>
                                        <p:cTn id="14" dur="1000" fill="hold"/>
                                        <p:tgtEl>
                                          <p:spTgt spid="5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584"/>
                                        </p:tgtEl>
                                        <p:attrNameLst>
                                          <p:attrName>style.visibility</p:attrName>
                                        </p:attrNameLst>
                                      </p:cBhvr>
                                      <p:to>
                                        <p:strVal val="visible"/>
                                      </p:to>
                                    </p:set>
                                    <p:anim calcmode="lin" valueType="num">
                                      <p:cBhvr>
                                        <p:cTn id="19" dur="1000" fill="hold"/>
                                        <p:tgtEl>
                                          <p:spTgt spid="584"/>
                                        </p:tgtEl>
                                        <p:attrNameLst>
                                          <p:attrName>ppt_x</p:attrName>
                                        </p:attrNameLst>
                                      </p:cBhvr>
                                      <p:tavLst>
                                        <p:tav tm="0">
                                          <p:val>
                                            <p:strVal val="0-#ppt_w/2"/>
                                          </p:val>
                                        </p:tav>
                                        <p:tav tm="100000">
                                          <p:val>
                                            <p:strVal val="#ppt_x"/>
                                          </p:val>
                                        </p:tav>
                                      </p:tavLst>
                                    </p:anim>
                                    <p:anim calcmode="lin" valueType="num">
                                      <p:cBhvr>
                                        <p:cTn id="20" dur="1000" fill="hold"/>
                                        <p:tgtEl>
                                          <p:spTgt spid="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82" grpId="1"/>
      <p:bldP build="whole" bldLvl="1" animBg="1" rev="0" advAuto="0" spid="583" grpId="2"/>
      <p:bldP build="whole" bldLvl="1" animBg="1" rev="0" advAuto="0" spid="584" grpId="3"/>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87" name="Aglomerative Clustering"/>
          <p:cNvSpPr txBox="1"/>
          <p:nvPr/>
        </p:nvSpPr>
        <p:spPr>
          <a:xfrm>
            <a:off x="6628581" y="172514"/>
            <a:ext cx="1112683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Aglomerative Clustering</a:t>
            </a:r>
          </a:p>
        </p:txBody>
      </p:sp>
      <p:pic>
        <p:nvPicPr>
          <p:cNvPr id="588" name="Captură de ecran din 2024-11-04 la 01.54.55.png" descr="Captură de ecran din 2024-11-04 la 01.54.55.png"/>
          <p:cNvPicPr>
            <a:picLocks noChangeAspect="1"/>
          </p:cNvPicPr>
          <p:nvPr/>
        </p:nvPicPr>
        <p:blipFill>
          <a:blip r:embed="rId2">
            <a:extLst/>
          </a:blip>
          <a:stretch>
            <a:fillRect/>
          </a:stretch>
        </p:blipFill>
        <p:spPr>
          <a:xfrm>
            <a:off x="3725226" y="2797057"/>
            <a:ext cx="16549783" cy="2794121"/>
          </a:xfrm>
          <a:prstGeom prst="rect">
            <a:avLst/>
          </a:prstGeom>
          <a:ln w="12700">
            <a:miter lim="400000"/>
          </a:ln>
        </p:spPr>
      </p:pic>
      <p:sp>
        <p:nvSpPr>
          <p:cNvPr id="589" name="Single Linkage"/>
          <p:cNvSpPr txBox="1"/>
          <p:nvPr/>
        </p:nvSpPr>
        <p:spPr>
          <a:xfrm>
            <a:off x="4329396" y="6016331"/>
            <a:ext cx="38113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Single Linkage</a:t>
            </a:r>
          </a:p>
        </p:txBody>
      </p:sp>
      <p:sp>
        <p:nvSpPr>
          <p:cNvPr id="590" name="Complete Linkage"/>
          <p:cNvSpPr txBox="1"/>
          <p:nvPr/>
        </p:nvSpPr>
        <p:spPr>
          <a:xfrm>
            <a:off x="9816388" y="6016331"/>
            <a:ext cx="475122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Complete Linkage</a:t>
            </a:r>
          </a:p>
        </p:txBody>
      </p:sp>
      <p:sp>
        <p:nvSpPr>
          <p:cNvPr id="591" name="Average Linkage"/>
          <p:cNvSpPr txBox="1"/>
          <p:nvPr/>
        </p:nvSpPr>
        <p:spPr>
          <a:xfrm>
            <a:off x="15992568" y="6016331"/>
            <a:ext cx="422706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Average Linkage</a:t>
            </a:r>
          </a:p>
        </p:txBody>
      </p:sp>
      <p:sp>
        <p:nvSpPr>
          <p:cNvPr id="592" name="În general, sunt două tipuri mari și late:"/>
          <p:cNvSpPr txBox="1"/>
          <p:nvPr/>
        </p:nvSpPr>
        <p:spPr>
          <a:xfrm>
            <a:off x="2969" y="7318369"/>
            <a:ext cx="23048564" cy="1510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S-au definit 3 metode de calcul al distanțelor dintre clustere:</a:t>
            </a:r>
          </a:p>
        </p:txBody>
      </p:sp>
      <p:sp>
        <p:nvSpPr>
          <p:cNvPr id="593" name="Single Linkage: distanța dintre două clustere este definită ca distanța dintre cele mai apropiate elemente dintre cele două clustere"/>
          <p:cNvSpPr txBox="1"/>
          <p:nvPr/>
        </p:nvSpPr>
        <p:spPr>
          <a:xfrm>
            <a:off x="1684737" y="8110974"/>
            <a:ext cx="19685028"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Single Linkage: distanța dintre două clustere este definită ca distanța dintre cele mai apropiate elemente dintre cele două clustere</a:t>
            </a:r>
          </a:p>
        </p:txBody>
      </p:sp>
      <p:sp>
        <p:nvSpPr>
          <p:cNvPr id="594" name="Complete Linkage: distanța dintre două clustere este definită ca distanța dintre cele mai depărtate elemente dintre cele două clustere"/>
          <p:cNvSpPr txBox="1"/>
          <p:nvPr/>
        </p:nvSpPr>
        <p:spPr>
          <a:xfrm>
            <a:off x="1684737" y="9713397"/>
            <a:ext cx="19685028"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Complete Linkage: distanța dintre două clustere este definită ca distanța dintre cele mai depărtate elemente dintre cele două clustere</a:t>
            </a:r>
          </a:p>
        </p:txBody>
      </p:sp>
      <p:sp>
        <p:nvSpPr>
          <p:cNvPr id="595" name="Average Linkage: distanța dintre două clustere este definită ca media distanțelor dintre toate perechile de elemente din cele două clustere"/>
          <p:cNvSpPr txBox="1"/>
          <p:nvPr/>
        </p:nvSpPr>
        <p:spPr>
          <a:xfrm>
            <a:off x="1553640" y="11357374"/>
            <a:ext cx="19685028"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Average Linkage: distanța dintre două clustere este definită ca media distanțelor dintre toate perechile de elemente din cele două clustere</a:t>
            </a:r>
          </a:p>
        </p:txBody>
      </p:sp>
      <p:pic>
        <p:nvPicPr>
          <p:cNvPr id="596" name="Linie Linie" descr="Linie Linie"/>
          <p:cNvPicPr>
            <a:picLocks noChangeAspect="0"/>
          </p:cNvPicPr>
          <p:nvPr/>
        </p:nvPicPr>
        <p:blipFill>
          <a:blip r:embed="rId3">
            <a:extLst/>
          </a:blip>
          <a:stretch>
            <a:fillRect/>
          </a:stretch>
        </p:blipFill>
        <p:spPr>
          <a:xfrm>
            <a:off x="3883859" y="9700702"/>
            <a:ext cx="2662048" cy="101601"/>
          </a:xfrm>
          <a:prstGeom prst="rect">
            <a:avLst/>
          </a:prstGeom>
        </p:spPr>
      </p:pic>
      <p:pic>
        <p:nvPicPr>
          <p:cNvPr id="598" name="Linie Linie" descr="Linie Linie"/>
          <p:cNvPicPr>
            <a:picLocks noChangeAspect="0"/>
          </p:cNvPicPr>
          <p:nvPr/>
        </p:nvPicPr>
        <p:blipFill>
          <a:blip r:embed="rId3">
            <a:extLst/>
          </a:blip>
          <a:stretch>
            <a:fillRect/>
          </a:stretch>
        </p:blipFill>
        <p:spPr>
          <a:xfrm>
            <a:off x="5509107" y="11269767"/>
            <a:ext cx="2662049" cy="101601"/>
          </a:xfrm>
          <a:prstGeom prst="rect">
            <a:avLst/>
          </a:prstGeom>
        </p:spPr>
      </p:pic>
      <p:pic>
        <p:nvPicPr>
          <p:cNvPr id="600" name="Linie Linie" descr="Linie Linie"/>
          <p:cNvPicPr>
            <a:picLocks noChangeAspect="0"/>
          </p:cNvPicPr>
          <p:nvPr/>
        </p:nvPicPr>
        <p:blipFill>
          <a:blip r:embed="rId4">
            <a:extLst/>
          </a:blip>
          <a:stretch>
            <a:fillRect/>
          </a:stretch>
        </p:blipFill>
        <p:spPr>
          <a:xfrm>
            <a:off x="16849990" y="12151149"/>
            <a:ext cx="204335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92"/>
                                        </p:tgtEl>
                                        <p:attrNameLst>
                                          <p:attrName>style.visibility</p:attrName>
                                        </p:attrNameLst>
                                      </p:cBhvr>
                                      <p:to>
                                        <p:strVal val="visible"/>
                                      </p:to>
                                    </p:set>
                                    <p:anim calcmode="lin" valueType="num">
                                      <p:cBhvr>
                                        <p:cTn id="7" dur="1000" fill="hold"/>
                                        <p:tgtEl>
                                          <p:spTgt spid="592"/>
                                        </p:tgtEl>
                                        <p:attrNameLst>
                                          <p:attrName>ppt_x</p:attrName>
                                        </p:attrNameLst>
                                      </p:cBhvr>
                                      <p:tavLst>
                                        <p:tav tm="0">
                                          <p:val>
                                            <p:strVal val="0-#ppt_w/2"/>
                                          </p:val>
                                        </p:tav>
                                        <p:tav tm="100000">
                                          <p:val>
                                            <p:strVal val="#ppt_x"/>
                                          </p:val>
                                        </p:tav>
                                      </p:tavLst>
                                    </p:anim>
                                    <p:anim calcmode="lin" valueType="num">
                                      <p:cBhvr>
                                        <p:cTn id="8" dur="1000" fill="hold"/>
                                        <p:tgtEl>
                                          <p:spTgt spid="5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93"/>
                                        </p:tgtEl>
                                        <p:attrNameLst>
                                          <p:attrName>style.visibility</p:attrName>
                                        </p:attrNameLst>
                                      </p:cBhvr>
                                      <p:to>
                                        <p:strVal val="visible"/>
                                      </p:to>
                                    </p:set>
                                    <p:anim calcmode="lin" valueType="num">
                                      <p:cBhvr>
                                        <p:cTn id="13" dur="1000" fill="hold"/>
                                        <p:tgtEl>
                                          <p:spTgt spid="593"/>
                                        </p:tgtEl>
                                        <p:attrNameLst>
                                          <p:attrName>ppt_x</p:attrName>
                                        </p:attrNameLst>
                                      </p:cBhvr>
                                      <p:tavLst>
                                        <p:tav tm="0">
                                          <p:val>
                                            <p:strVal val="0-#ppt_w/2"/>
                                          </p:val>
                                        </p:tav>
                                        <p:tav tm="100000">
                                          <p:val>
                                            <p:strVal val="#ppt_x"/>
                                          </p:val>
                                        </p:tav>
                                      </p:tavLst>
                                    </p:anim>
                                    <p:anim calcmode="lin" valueType="num">
                                      <p:cBhvr>
                                        <p:cTn id="14" dur="1000" fill="hold"/>
                                        <p:tgtEl>
                                          <p:spTgt spid="593"/>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596"/>
                                        </p:tgtEl>
                                        <p:attrNameLst>
                                          <p:attrName>style.visibility</p:attrName>
                                        </p:attrNameLst>
                                      </p:cBhvr>
                                      <p:to>
                                        <p:strVal val="visible"/>
                                      </p:to>
                                    </p:set>
                                    <p:animEffect filter="dissolve" transition="in">
                                      <p:cBhvr>
                                        <p:cTn id="18" dur="2000"/>
                                        <p:tgtEl>
                                          <p:spTgt spid="596"/>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594"/>
                                        </p:tgtEl>
                                        <p:attrNameLst>
                                          <p:attrName>style.visibility</p:attrName>
                                        </p:attrNameLst>
                                      </p:cBhvr>
                                      <p:to>
                                        <p:strVal val="visible"/>
                                      </p:to>
                                    </p:set>
                                    <p:anim calcmode="lin" valueType="num">
                                      <p:cBhvr>
                                        <p:cTn id="23" dur="1000" fill="hold"/>
                                        <p:tgtEl>
                                          <p:spTgt spid="594"/>
                                        </p:tgtEl>
                                        <p:attrNameLst>
                                          <p:attrName>ppt_x</p:attrName>
                                        </p:attrNameLst>
                                      </p:cBhvr>
                                      <p:tavLst>
                                        <p:tav tm="0">
                                          <p:val>
                                            <p:strVal val="0-#ppt_w/2"/>
                                          </p:val>
                                        </p:tav>
                                        <p:tav tm="100000">
                                          <p:val>
                                            <p:strVal val="#ppt_x"/>
                                          </p:val>
                                        </p:tav>
                                      </p:tavLst>
                                    </p:anim>
                                    <p:anim calcmode="lin" valueType="num">
                                      <p:cBhvr>
                                        <p:cTn id="24" dur="1000" fill="hold"/>
                                        <p:tgtEl>
                                          <p:spTgt spid="594"/>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598"/>
                                        </p:tgtEl>
                                        <p:attrNameLst>
                                          <p:attrName>style.visibility</p:attrName>
                                        </p:attrNameLst>
                                      </p:cBhvr>
                                      <p:to>
                                        <p:strVal val="visible"/>
                                      </p:to>
                                    </p:set>
                                    <p:animEffect filter="dissolve" transition="in">
                                      <p:cBhvr>
                                        <p:cTn id="28" dur="2000"/>
                                        <p:tgtEl>
                                          <p:spTgt spid="598"/>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595"/>
                                        </p:tgtEl>
                                        <p:attrNameLst>
                                          <p:attrName>style.visibility</p:attrName>
                                        </p:attrNameLst>
                                      </p:cBhvr>
                                      <p:to>
                                        <p:strVal val="visible"/>
                                      </p:to>
                                    </p:set>
                                    <p:anim calcmode="lin" valueType="num">
                                      <p:cBhvr>
                                        <p:cTn id="33" dur="1000" fill="hold"/>
                                        <p:tgtEl>
                                          <p:spTgt spid="595"/>
                                        </p:tgtEl>
                                        <p:attrNameLst>
                                          <p:attrName>ppt_x</p:attrName>
                                        </p:attrNameLst>
                                      </p:cBhvr>
                                      <p:tavLst>
                                        <p:tav tm="0">
                                          <p:val>
                                            <p:strVal val="0-#ppt_w/2"/>
                                          </p:val>
                                        </p:tav>
                                        <p:tav tm="100000">
                                          <p:val>
                                            <p:strVal val="#ppt_x"/>
                                          </p:val>
                                        </p:tav>
                                      </p:tavLst>
                                    </p:anim>
                                    <p:anim calcmode="lin" valueType="num">
                                      <p:cBhvr>
                                        <p:cTn id="34" dur="1000" fill="hold"/>
                                        <p:tgtEl>
                                          <p:spTgt spid="595"/>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Class="entr" nodeType="afterEffect" presetID="9" grpId="7" fill="hold">
                                  <p:stCondLst>
                                    <p:cond delay="0"/>
                                  </p:stCondLst>
                                  <p:iterate type="el" backwards="0">
                                    <p:tmAbs val="0"/>
                                  </p:iterate>
                                  <p:childTnLst>
                                    <p:set>
                                      <p:cBhvr>
                                        <p:cTn id="37" fill="hold"/>
                                        <p:tgtEl>
                                          <p:spTgt spid="600"/>
                                        </p:tgtEl>
                                        <p:attrNameLst>
                                          <p:attrName>style.visibility</p:attrName>
                                        </p:attrNameLst>
                                      </p:cBhvr>
                                      <p:to>
                                        <p:strVal val="visible"/>
                                      </p:to>
                                    </p:set>
                                    <p:animEffect filter="dissolve" transition="in">
                                      <p:cBhvr>
                                        <p:cTn id="38" dur="2000"/>
                                        <p:tgtEl>
                                          <p:spTgt spid="6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94" grpId="4"/>
      <p:bldP build="whole" bldLvl="1" animBg="1" rev="0" advAuto="0" spid="600" grpId="7"/>
      <p:bldP build="whole" bldLvl="1" animBg="1" rev="0" advAuto="0" spid="598" grpId="5"/>
      <p:bldP build="whole" bldLvl="1" animBg="1" rev="0" advAuto="0" spid="595" grpId="6"/>
      <p:bldP build="whole" bldLvl="1" animBg="1" rev="0" advAuto="0" spid="592" grpId="1"/>
      <p:bldP build="whole" bldLvl="1" animBg="1" rev="0" advAuto="0" spid="596" grpId="3"/>
      <p:bldP build="whole" bldLvl="1" animBg="1" rev="0" advAuto="0" spid="593" grpId="2"/>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04" name="Aglomerative Clustering"/>
          <p:cNvSpPr txBox="1"/>
          <p:nvPr/>
        </p:nvSpPr>
        <p:spPr>
          <a:xfrm>
            <a:off x="6628581" y="172514"/>
            <a:ext cx="1112683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Aglomerative Clustering</a:t>
            </a:r>
          </a:p>
        </p:txBody>
      </p:sp>
      <p:pic>
        <p:nvPicPr>
          <p:cNvPr id="605" name="Captură de ecran din 2024-11-04 la 02.10.52.png" descr="Captură de ecran din 2024-11-04 la 02.10.52.png"/>
          <p:cNvPicPr>
            <a:picLocks noChangeAspect="1"/>
          </p:cNvPicPr>
          <p:nvPr/>
        </p:nvPicPr>
        <p:blipFill>
          <a:blip r:embed="rId2">
            <a:extLst/>
          </a:blip>
          <a:stretch>
            <a:fillRect/>
          </a:stretch>
        </p:blipFill>
        <p:spPr>
          <a:xfrm>
            <a:off x="4970492" y="2957417"/>
            <a:ext cx="14443016" cy="5789143"/>
          </a:xfrm>
          <a:prstGeom prst="rect">
            <a:avLst/>
          </a:prstGeom>
          <a:ln w="12700">
            <a:miter lim="400000"/>
          </a:ln>
        </p:spPr>
      </p:pic>
      <p:sp>
        <p:nvSpPr>
          <p:cNvPr id="606" name="agg = AgglomerativeClustering(n_clusters=3, linkage=&quot;average&quot;)"/>
          <p:cNvSpPr txBox="1"/>
          <p:nvPr/>
        </p:nvSpPr>
        <p:spPr>
          <a:xfrm>
            <a:off x="6498515" y="5037266"/>
            <a:ext cx="10708036" cy="48408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700">
                <a:solidFill>
                  <a:srgbClr val="FFFFFF"/>
                </a:solidFill>
                <a:latin typeface="Arial"/>
                <a:ea typeface="Arial"/>
                <a:cs typeface="Arial"/>
                <a:sym typeface="Arial"/>
              </a:defRPr>
            </a:lvl1pPr>
          </a:lstStyle>
          <a:p>
            <a:pPr/>
            <a:r>
              <a:t>agg = AgglomerativeClustering(n_clusters=3, linkage="average")</a:t>
            </a:r>
          </a:p>
        </p:txBody>
      </p:sp>
      <p:sp>
        <p:nvSpPr>
          <p:cNvPr id="607" name="În general, sunt două tipuri mari și late:"/>
          <p:cNvSpPr txBox="1"/>
          <p:nvPr/>
        </p:nvSpPr>
        <p:spPr>
          <a:xfrm>
            <a:off x="667718" y="9777211"/>
            <a:ext cx="23048564" cy="17542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Afișăm în ce cluster a fost asociat fiecare element din setul de date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10" name="Aglomerative Clustering"/>
          <p:cNvSpPr txBox="1"/>
          <p:nvPr/>
        </p:nvSpPr>
        <p:spPr>
          <a:xfrm>
            <a:off x="6628581" y="172514"/>
            <a:ext cx="1112683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Aglomerative Clustering</a:t>
            </a:r>
          </a:p>
        </p:txBody>
      </p:sp>
      <p:sp>
        <p:nvSpPr>
          <p:cNvPr id="611" name="agg = AgglomerativeClustering(n_clusters=3, linkage=&quot;average&quot;)"/>
          <p:cNvSpPr txBox="1"/>
          <p:nvPr/>
        </p:nvSpPr>
        <p:spPr>
          <a:xfrm>
            <a:off x="2914377" y="3465684"/>
            <a:ext cx="18555246" cy="78057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4700">
                <a:latin typeface="Arial"/>
                <a:ea typeface="Arial"/>
                <a:cs typeface="Arial"/>
                <a:sym typeface="Arial"/>
              </a:defRPr>
            </a:lvl1pPr>
          </a:lstStyle>
          <a:p>
            <a:pPr/>
            <a:r>
              <a:t>agg = AgglomerativeClustering(n_clusters=3, linkage="average")</a:t>
            </a:r>
          </a:p>
        </p:txBody>
      </p:sp>
      <p:sp>
        <p:nvSpPr>
          <p:cNvPr id="612" name="Parametri:"/>
          <p:cNvSpPr txBox="1"/>
          <p:nvPr/>
        </p:nvSpPr>
        <p:spPr>
          <a:xfrm>
            <a:off x="421786" y="5585420"/>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613" name="În general, sunt două tipuri mari și late:"/>
          <p:cNvSpPr txBox="1"/>
          <p:nvPr/>
        </p:nvSpPr>
        <p:spPr>
          <a:xfrm>
            <a:off x="913651" y="6627941"/>
            <a:ext cx="23048563" cy="13926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n_clusters: numărul final de grupuri</a:t>
            </a:r>
          </a:p>
        </p:txBody>
      </p:sp>
      <p:sp>
        <p:nvSpPr>
          <p:cNvPr id="614" name="În general, sunt două tipuri mari și late:"/>
          <p:cNvSpPr txBox="1"/>
          <p:nvPr/>
        </p:nvSpPr>
        <p:spPr>
          <a:xfrm>
            <a:off x="913651" y="7532037"/>
            <a:ext cx="23048563" cy="13926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linkage: primește unul dintre valorile „single”, „complete” sau „average”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613"/>
                                        </p:tgtEl>
                                        <p:attrNameLst>
                                          <p:attrName>style.visibility</p:attrName>
                                        </p:attrNameLst>
                                      </p:cBhvr>
                                      <p:to>
                                        <p:strVal val="visible"/>
                                      </p:to>
                                    </p:set>
                                    <p:anim calcmode="lin" valueType="num">
                                      <p:cBhvr>
                                        <p:cTn id="7" dur="1000" fill="hold"/>
                                        <p:tgtEl>
                                          <p:spTgt spid="613"/>
                                        </p:tgtEl>
                                        <p:attrNameLst>
                                          <p:attrName>ppt_x</p:attrName>
                                        </p:attrNameLst>
                                      </p:cBhvr>
                                      <p:tavLst>
                                        <p:tav tm="0">
                                          <p:val>
                                            <p:strVal val="0-#ppt_w/2"/>
                                          </p:val>
                                        </p:tav>
                                        <p:tav tm="100000">
                                          <p:val>
                                            <p:strVal val="#ppt_x"/>
                                          </p:val>
                                        </p:tav>
                                      </p:tavLst>
                                    </p:anim>
                                    <p:anim calcmode="lin" valueType="num">
                                      <p:cBhvr>
                                        <p:cTn id="8" dur="1000" fill="hold"/>
                                        <p:tgtEl>
                                          <p:spTgt spid="6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614"/>
                                        </p:tgtEl>
                                        <p:attrNameLst>
                                          <p:attrName>style.visibility</p:attrName>
                                        </p:attrNameLst>
                                      </p:cBhvr>
                                      <p:to>
                                        <p:strVal val="visible"/>
                                      </p:to>
                                    </p:set>
                                    <p:anim calcmode="lin" valueType="num">
                                      <p:cBhvr>
                                        <p:cTn id="13" dur="1000" fill="hold"/>
                                        <p:tgtEl>
                                          <p:spTgt spid="614"/>
                                        </p:tgtEl>
                                        <p:attrNameLst>
                                          <p:attrName>ppt_x</p:attrName>
                                        </p:attrNameLst>
                                      </p:cBhvr>
                                      <p:tavLst>
                                        <p:tav tm="0">
                                          <p:val>
                                            <p:strVal val="0-#ppt_w/2"/>
                                          </p:val>
                                        </p:tav>
                                        <p:tav tm="100000">
                                          <p:val>
                                            <p:strVal val="#ppt_x"/>
                                          </p:val>
                                        </p:tav>
                                      </p:tavLst>
                                    </p:anim>
                                    <p:anim calcmode="lin" valueType="num">
                                      <p:cBhvr>
                                        <p:cTn id="14" dur="1000" fill="hold"/>
                                        <p:tgtEl>
                                          <p:spTgt spid="6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13" grpId="1"/>
      <p:bldP build="whole" bldLvl="1" animBg="1" rev="0" advAuto="0" spid="614" grpId="2"/>
    </p:bld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17" name="În general, sunt două tipuri mari și late:"/>
          <p:cNvSpPr txBox="1"/>
          <p:nvPr>
            <p:ph type="body" sz="quarter" idx="1"/>
          </p:nvPr>
        </p:nvSpPr>
        <p:spPr>
          <a:xfrm>
            <a:off x="114240" y="627727"/>
            <a:ext cx="23048563" cy="1133445"/>
          </a:xfrm>
          <a:prstGeom prst="rect">
            <a:avLst/>
          </a:prstGeom>
        </p:spPr>
        <p:txBody>
          <a:bodyPr/>
          <a:lstStyle/>
          <a:p>
            <a:pPr/>
            <a:r>
              <a:t>Altă metodă de clusterizare este DBSCAN</a:t>
            </a:r>
          </a:p>
        </p:txBody>
      </p:sp>
      <p:sp>
        <p:nvSpPr>
          <p:cNvPr id="618" name="În general, sunt două tipuri mari și late:"/>
          <p:cNvSpPr txBox="1"/>
          <p:nvPr/>
        </p:nvSpPr>
        <p:spPr>
          <a:xfrm>
            <a:off x="155823" y="1877702"/>
            <a:ext cx="22965398" cy="28927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Oamenii își pot da seama de clustere pe baza a cât de dense sunt niște grupuri de puncte</a:t>
            </a:r>
          </a:p>
        </p:txBody>
      </p:sp>
      <p:pic>
        <p:nvPicPr>
          <p:cNvPr id="619" name="Captură de ecran din 2024-11-04 la 10.54.00.png" descr="Captură de ecran din 2024-11-04 la 10.54.00.png"/>
          <p:cNvPicPr>
            <a:picLocks noChangeAspect="1"/>
          </p:cNvPicPr>
          <p:nvPr/>
        </p:nvPicPr>
        <p:blipFill>
          <a:blip r:embed="rId2">
            <a:extLst/>
          </a:blip>
          <a:stretch>
            <a:fillRect/>
          </a:stretch>
        </p:blipFill>
        <p:spPr>
          <a:xfrm>
            <a:off x="7363366" y="5037134"/>
            <a:ext cx="8550311" cy="4315679"/>
          </a:xfrm>
          <a:prstGeom prst="rect">
            <a:avLst/>
          </a:prstGeom>
          <a:ln w="12700">
            <a:miter lim="400000"/>
          </a:ln>
        </p:spPr>
      </p:pic>
      <p:sp>
        <p:nvSpPr>
          <p:cNvPr id="620" name="În general, sunt două tipuri mari și late:"/>
          <p:cNvSpPr txBox="1"/>
          <p:nvPr/>
        </p:nvSpPr>
        <p:spPr>
          <a:xfrm>
            <a:off x="424253" y="9931501"/>
            <a:ext cx="23048563" cy="100713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Aici, e ușor să ne dăm seama că exista 2 clustere</a:t>
            </a:r>
          </a:p>
        </p:txBody>
      </p:sp>
      <p:sp>
        <p:nvSpPr>
          <p:cNvPr id="621" name="În general, sunt două tipuri mari și late:"/>
          <p:cNvSpPr txBox="1"/>
          <p:nvPr/>
        </p:nvSpPr>
        <p:spPr>
          <a:xfrm>
            <a:off x="424253" y="11200916"/>
            <a:ext cx="23048563" cy="176942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Punctele izolate sunt în zone cu densitate mică s-ar putea să fie outliers, adică măsurători greșite</a:t>
            </a:r>
          </a:p>
        </p:txBody>
      </p:sp>
      <p:pic>
        <p:nvPicPr>
          <p:cNvPr id="622" name="Linie Linie" descr="Linie Linie"/>
          <p:cNvPicPr>
            <a:picLocks noChangeAspect="0"/>
          </p:cNvPicPr>
          <p:nvPr/>
        </p:nvPicPr>
        <p:blipFill>
          <a:blip r:embed="rId3">
            <a:extLst/>
          </a:blip>
          <a:stretch>
            <a:fillRect/>
          </a:stretch>
        </p:blipFill>
        <p:spPr>
          <a:xfrm>
            <a:off x="8865536" y="1509418"/>
            <a:ext cx="2558693" cy="101601"/>
          </a:xfrm>
          <a:prstGeom prst="rect">
            <a:avLst/>
          </a:prstGeom>
        </p:spPr>
      </p:pic>
      <p:pic>
        <p:nvPicPr>
          <p:cNvPr id="624" name="Linie Linie" descr="Linie Linie"/>
          <p:cNvPicPr>
            <a:picLocks noChangeAspect="0"/>
          </p:cNvPicPr>
          <p:nvPr/>
        </p:nvPicPr>
        <p:blipFill>
          <a:blip r:embed="rId3">
            <a:extLst/>
          </a:blip>
          <a:stretch>
            <a:fillRect/>
          </a:stretch>
        </p:blipFill>
        <p:spPr>
          <a:xfrm>
            <a:off x="13618379" y="2741377"/>
            <a:ext cx="2558694" cy="101601"/>
          </a:xfrm>
          <a:prstGeom prst="rect">
            <a:avLst/>
          </a:prstGeom>
        </p:spPr>
      </p:pic>
      <p:pic>
        <p:nvPicPr>
          <p:cNvPr id="626" name="Linie Linie" descr="Linie Linie"/>
          <p:cNvPicPr>
            <a:picLocks noChangeAspect="0"/>
          </p:cNvPicPr>
          <p:nvPr/>
        </p:nvPicPr>
        <p:blipFill>
          <a:blip r:embed="rId4">
            <a:extLst/>
          </a:blip>
          <a:stretch>
            <a:fillRect/>
          </a:stretch>
        </p:blipFill>
        <p:spPr>
          <a:xfrm>
            <a:off x="9149365" y="12034830"/>
            <a:ext cx="3829904" cy="101601"/>
          </a:xfrm>
          <a:prstGeom prst="rect">
            <a:avLst/>
          </a:prstGeom>
        </p:spPr>
      </p:pic>
      <p:pic>
        <p:nvPicPr>
          <p:cNvPr id="628" name="Linie Linie" descr="Linie Linie"/>
          <p:cNvPicPr>
            <a:picLocks noChangeAspect="0"/>
          </p:cNvPicPr>
          <p:nvPr/>
        </p:nvPicPr>
        <p:blipFill>
          <a:blip r:embed="rId3">
            <a:extLst/>
          </a:blip>
          <a:stretch>
            <a:fillRect/>
          </a:stretch>
        </p:blipFill>
        <p:spPr>
          <a:xfrm>
            <a:off x="16689790" y="12034830"/>
            <a:ext cx="2558694"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17"/>
                                        </p:tgtEl>
                                        <p:attrNameLst>
                                          <p:attrName>style.visibility</p:attrName>
                                        </p:attrNameLst>
                                      </p:cBhvr>
                                      <p:to>
                                        <p:strVal val="visible"/>
                                      </p:to>
                                    </p:set>
                                    <p:anim calcmode="lin" valueType="num">
                                      <p:cBhvr>
                                        <p:cTn id="7" dur="1000" fill="hold"/>
                                        <p:tgtEl>
                                          <p:spTgt spid="617"/>
                                        </p:tgtEl>
                                        <p:attrNameLst>
                                          <p:attrName>ppt_x</p:attrName>
                                        </p:attrNameLst>
                                      </p:cBhvr>
                                      <p:tavLst>
                                        <p:tav tm="0">
                                          <p:val>
                                            <p:strVal val="0-#ppt_w/2"/>
                                          </p:val>
                                        </p:tav>
                                        <p:tav tm="100000">
                                          <p:val>
                                            <p:strVal val="#ppt_x"/>
                                          </p:val>
                                        </p:tav>
                                      </p:tavLst>
                                    </p:anim>
                                    <p:anim calcmode="lin" valueType="num">
                                      <p:cBhvr>
                                        <p:cTn id="8" dur="1000" fill="hold"/>
                                        <p:tgtEl>
                                          <p:spTgt spid="61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622"/>
                                        </p:tgtEl>
                                        <p:attrNameLst>
                                          <p:attrName>style.visibility</p:attrName>
                                        </p:attrNameLst>
                                      </p:cBhvr>
                                      <p:to>
                                        <p:strVal val="visible"/>
                                      </p:to>
                                    </p:set>
                                    <p:animEffect filter="dissolve" transition="in">
                                      <p:cBhvr>
                                        <p:cTn id="12" dur="2000"/>
                                        <p:tgtEl>
                                          <p:spTgt spid="62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618"/>
                                        </p:tgtEl>
                                        <p:attrNameLst>
                                          <p:attrName>style.visibility</p:attrName>
                                        </p:attrNameLst>
                                      </p:cBhvr>
                                      <p:to>
                                        <p:strVal val="visible"/>
                                      </p:to>
                                    </p:set>
                                    <p:anim calcmode="lin" valueType="num">
                                      <p:cBhvr>
                                        <p:cTn id="17" dur="1000" fill="hold"/>
                                        <p:tgtEl>
                                          <p:spTgt spid="618"/>
                                        </p:tgtEl>
                                        <p:attrNameLst>
                                          <p:attrName>ppt_x</p:attrName>
                                        </p:attrNameLst>
                                      </p:cBhvr>
                                      <p:tavLst>
                                        <p:tav tm="0">
                                          <p:val>
                                            <p:strVal val="0-#ppt_w/2"/>
                                          </p:val>
                                        </p:tav>
                                        <p:tav tm="100000">
                                          <p:val>
                                            <p:strVal val="#ppt_x"/>
                                          </p:val>
                                        </p:tav>
                                      </p:tavLst>
                                    </p:anim>
                                    <p:anim calcmode="lin" valueType="num">
                                      <p:cBhvr>
                                        <p:cTn id="18" dur="1000" fill="hold"/>
                                        <p:tgtEl>
                                          <p:spTgt spid="618"/>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624"/>
                                        </p:tgtEl>
                                        <p:attrNameLst>
                                          <p:attrName>style.visibility</p:attrName>
                                        </p:attrNameLst>
                                      </p:cBhvr>
                                      <p:to>
                                        <p:strVal val="visible"/>
                                      </p:to>
                                    </p:set>
                                    <p:animEffect filter="dissolve" transition="in">
                                      <p:cBhvr>
                                        <p:cTn id="22" dur="2000"/>
                                        <p:tgtEl>
                                          <p:spTgt spid="62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619"/>
                                        </p:tgtEl>
                                        <p:attrNameLst>
                                          <p:attrName>style.visibility</p:attrName>
                                        </p:attrNameLst>
                                      </p:cBhvr>
                                      <p:to>
                                        <p:strVal val="visible"/>
                                      </p:to>
                                    </p:set>
                                    <p:anim calcmode="lin" valueType="num">
                                      <p:cBhvr>
                                        <p:cTn id="27" dur="1000" fill="hold"/>
                                        <p:tgtEl>
                                          <p:spTgt spid="619"/>
                                        </p:tgtEl>
                                        <p:attrNameLst>
                                          <p:attrName>ppt_x</p:attrName>
                                        </p:attrNameLst>
                                      </p:cBhvr>
                                      <p:tavLst>
                                        <p:tav tm="0">
                                          <p:val>
                                            <p:strVal val="0-#ppt_w/2"/>
                                          </p:val>
                                        </p:tav>
                                        <p:tav tm="100000">
                                          <p:val>
                                            <p:strVal val="#ppt_x"/>
                                          </p:val>
                                        </p:tav>
                                      </p:tavLst>
                                    </p:anim>
                                    <p:anim calcmode="lin" valueType="num">
                                      <p:cBhvr>
                                        <p:cTn id="28" dur="1000" fill="hold"/>
                                        <p:tgtEl>
                                          <p:spTgt spid="619"/>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Subtype="8" presetID="2" grpId="6" fill="hold">
                                  <p:stCondLst>
                                    <p:cond delay="0"/>
                                  </p:stCondLst>
                                  <p:iterate type="el" backwards="0">
                                    <p:tmAbs val="0"/>
                                  </p:iterate>
                                  <p:childTnLst>
                                    <p:set>
                                      <p:cBhvr>
                                        <p:cTn id="31" fill="hold"/>
                                        <p:tgtEl>
                                          <p:spTgt spid="620"/>
                                        </p:tgtEl>
                                        <p:attrNameLst>
                                          <p:attrName>style.visibility</p:attrName>
                                        </p:attrNameLst>
                                      </p:cBhvr>
                                      <p:to>
                                        <p:strVal val="visible"/>
                                      </p:to>
                                    </p:set>
                                    <p:anim calcmode="lin" valueType="num">
                                      <p:cBhvr>
                                        <p:cTn id="32" dur="1000" fill="hold"/>
                                        <p:tgtEl>
                                          <p:spTgt spid="620"/>
                                        </p:tgtEl>
                                        <p:attrNameLst>
                                          <p:attrName>ppt_x</p:attrName>
                                        </p:attrNameLst>
                                      </p:cBhvr>
                                      <p:tavLst>
                                        <p:tav tm="0">
                                          <p:val>
                                            <p:strVal val="0-#ppt_w/2"/>
                                          </p:val>
                                        </p:tav>
                                        <p:tav tm="100000">
                                          <p:val>
                                            <p:strVal val="#ppt_x"/>
                                          </p:val>
                                        </p:tav>
                                      </p:tavLst>
                                    </p:anim>
                                    <p:anim calcmode="lin" valueType="num">
                                      <p:cBhvr>
                                        <p:cTn id="33" dur="1000" fill="hold"/>
                                        <p:tgtEl>
                                          <p:spTgt spid="62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8" presetID="2" grpId="7" fill="hold">
                                  <p:stCondLst>
                                    <p:cond delay="0"/>
                                  </p:stCondLst>
                                  <p:iterate type="el" backwards="0">
                                    <p:tmAbs val="0"/>
                                  </p:iterate>
                                  <p:childTnLst>
                                    <p:set>
                                      <p:cBhvr>
                                        <p:cTn id="37" fill="hold"/>
                                        <p:tgtEl>
                                          <p:spTgt spid="621"/>
                                        </p:tgtEl>
                                        <p:attrNameLst>
                                          <p:attrName>style.visibility</p:attrName>
                                        </p:attrNameLst>
                                      </p:cBhvr>
                                      <p:to>
                                        <p:strVal val="visible"/>
                                      </p:to>
                                    </p:set>
                                    <p:anim calcmode="lin" valueType="num">
                                      <p:cBhvr>
                                        <p:cTn id="38" dur="1000" fill="hold"/>
                                        <p:tgtEl>
                                          <p:spTgt spid="621"/>
                                        </p:tgtEl>
                                        <p:attrNameLst>
                                          <p:attrName>ppt_x</p:attrName>
                                        </p:attrNameLst>
                                      </p:cBhvr>
                                      <p:tavLst>
                                        <p:tav tm="0">
                                          <p:val>
                                            <p:strVal val="0-#ppt_w/2"/>
                                          </p:val>
                                        </p:tav>
                                        <p:tav tm="100000">
                                          <p:val>
                                            <p:strVal val="#ppt_x"/>
                                          </p:val>
                                        </p:tav>
                                      </p:tavLst>
                                    </p:anim>
                                    <p:anim calcmode="lin" valueType="num">
                                      <p:cBhvr>
                                        <p:cTn id="39" dur="1000" fill="hold"/>
                                        <p:tgtEl>
                                          <p:spTgt spid="621"/>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Class="entr" nodeType="afterEffect" presetID="9" grpId="8" fill="hold">
                                  <p:stCondLst>
                                    <p:cond delay="0"/>
                                  </p:stCondLst>
                                  <p:iterate type="el" backwards="0">
                                    <p:tmAbs val="0"/>
                                  </p:iterate>
                                  <p:childTnLst>
                                    <p:set>
                                      <p:cBhvr>
                                        <p:cTn id="42" fill="hold"/>
                                        <p:tgtEl>
                                          <p:spTgt spid="626"/>
                                        </p:tgtEl>
                                        <p:attrNameLst>
                                          <p:attrName>style.visibility</p:attrName>
                                        </p:attrNameLst>
                                      </p:cBhvr>
                                      <p:to>
                                        <p:strVal val="visible"/>
                                      </p:to>
                                    </p:set>
                                    <p:animEffect filter="dissolve" transition="in">
                                      <p:cBhvr>
                                        <p:cTn id="43" dur="2000"/>
                                        <p:tgtEl>
                                          <p:spTgt spid="626"/>
                                        </p:tgtEl>
                                      </p:cBhvr>
                                    </p:animEffect>
                                  </p:childTnLst>
                                </p:cTn>
                              </p:par>
                            </p:childTnLst>
                          </p:cTn>
                        </p:par>
                        <p:par>
                          <p:cTn id="44" fill="hold">
                            <p:stCondLst>
                              <p:cond delay="3000"/>
                            </p:stCondLst>
                            <p:childTnLst>
                              <p:par>
                                <p:cTn id="45" presetClass="entr" nodeType="afterEffect" presetID="9" grpId="9" fill="hold">
                                  <p:stCondLst>
                                    <p:cond delay="0"/>
                                  </p:stCondLst>
                                  <p:iterate type="el" backwards="0">
                                    <p:tmAbs val="0"/>
                                  </p:iterate>
                                  <p:childTnLst>
                                    <p:set>
                                      <p:cBhvr>
                                        <p:cTn id="46" fill="hold"/>
                                        <p:tgtEl>
                                          <p:spTgt spid="628"/>
                                        </p:tgtEl>
                                        <p:attrNameLst>
                                          <p:attrName>style.visibility</p:attrName>
                                        </p:attrNameLst>
                                      </p:cBhvr>
                                      <p:to>
                                        <p:strVal val="visible"/>
                                      </p:to>
                                    </p:set>
                                    <p:animEffect filter="dissolve" transition="in">
                                      <p:cBhvr>
                                        <p:cTn id="47" dur="2000"/>
                                        <p:tgtEl>
                                          <p:spTgt spid="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17" grpId="1"/>
      <p:bldP build="whole" bldLvl="1" animBg="1" rev="0" advAuto="0" spid="621" grpId="7"/>
      <p:bldP build="whole" bldLvl="1" animBg="1" rev="0" advAuto="0" spid="618" grpId="3"/>
      <p:bldP build="whole" bldLvl="1" animBg="1" rev="0" advAuto="0" spid="620" grpId="6"/>
      <p:bldP build="whole" bldLvl="1" animBg="1" rev="0" advAuto="0" spid="622" grpId="2"/>
      <p:bldP build="whole" bldLvl="1" animBg="1" rev="0" advAuto="0" spid="628" grpId="9"/>
      <p:bldP build="whole" bldLvl="1" animBg="1" rev="0" advAuto="0" spid="619" grpId="5"/>
      <p:bldP build="whole" bldLvl="1" animBg="1" rev="0" advAuto="0" spid="624" grpId="4"/>
      <p:bldP build="whole" bldLvl="1" animBg="1" rev="0" advAuto="0" spid="626" grpId="8"/>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632" name="Captură de ecran din 2024-11-04 la 10.54.00.png" descr="Captură de ecran din 2024-11-04 la 10.54.00.png"/>
          <p:cNvPicPr>
            <a:picLocks noChangeAspect="1"/>
          </p:cNvPicPr>
          <p:nvPr/>
        </p:nvPicPr>
        <p:blipFill>
          <a:blip r:embed="rId2">
            <a:extLst/>
          </a:blip>
          <a:stretch>
            <a:fillRect/>
          </a:stretch>
        </p:blipFill>
        <p:spPr>
          <a:xfrm>
            <a:off x="1340025" y="3220640"/>
            <a:ext cx="8550311" cy="4315679"/>
          </a:xfrm>
          <a:prstGeom prst="rect">
            <a:avLst/>
          </a:prstGeom>
          <a:ln w="12700">
            <a:miter lim="400000"/>
          </a:ln>
        </p:spPr>
      </p:pic>
      <p:sp>
        <p:nvSpPr>
          <p:cNvPr id="633" name="În general, sunt două tipuri mari și late:"/>
          <p:cNvSpPr txBox="1"/>
          <p:nvPr/>
        </p:nvSpPr>
        <p:spPr>
          <a:xfrm>
            <a:off x="137095" y="9930789"/>
            <a:ext cx="22965398"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K-Means și Aglomerative Clustering nu fac o treabă foarte bună atunci când clusterele sunt destul de apropiate între ele</a:t>
            </a:r>
          </a:p>
        </p:txBody>
      </p:sp>
      <p:sp>
        <p:nvSpPr>
          <p:cNvPr id="634" name="Setul de date"/>
          <p:cNvSpPr txBox="1"/>
          <p:nvPr/>
        </p:nvSpPr>
        <p:spPr>
          <a:xfrm>
            <a:off x="3711369" y="7795502"/>
            <a:ext cx="334416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Setul de date</a:t>
            </a:r>
          </a:p>
        </p:txBody>
      </p:sp>
      <p:pic>
        <p:nvPicPr>
          <p:cNvPr id="635" name="Captură de ecran din 2024-11-04 la 10.56.07.png" descr="Captură de ecran din 2024-11-04 la 10.56.07.png"/>
          <p:cNvPicPr>
            <a:picLocks noChangeAspect="1"/>
          </p:cNvPicPr>
          <p:nvPr/>
        </p:nvPicPr>
        <p:blipFill>
          <a:blip r:embed="rId3">
            <a:extLst/>
          </a:blip>
          <a:stretch>
            <a:fillRect/>
          </a:stretch>
        </p:blipFill>
        <p:spPr>
          <a:xfrm>
            <a:off x="12899572" y="2696087"/>
            <a:ext cx="9334192" cy="4818135"/>
          </a:xfrm>
          <a:prstGeom prst="rect">
            <a:avLst/>
          </a:prstGeom>
          <a:ln w="12700">
            <a:miter lim="400000"/>
          </a:ln>
        </p:spPr>
      </p:pic>
      <p:sp>
        <p:nvSpPr>
          <p:cNvPr id="636" name="Aplicare K-Means"/>
          <p:cNvSpPr txBox="1"/>
          <p:nvPr/>
        </p:nvSpPr>
        <p:spPr>
          <a:xfrm>
            <a:off x="15875858" y="7795502"/>
            <a:ext cx="447964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Aplicare K-Means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633"/>
                                        </p:tgtEl>
                                        <p:attrNameLst>
                                          <p:attrName>style.visibility</p:attrName>
                                        </p:attrNameLst>
                                      </p:cBhvr>
                                      <p:to>
                                        <p:strVal val="visible"/>
                                      </p:to>
                                    </p:set>
                                    <p:anim calcmode="lin" valueType="num">
                                      <p:cBhvr>
                                        <p:cTn id="7" dur="1000" fill="hold"/>
                                        <p:tgtEl>
                                          <p:spTgt spid="633"/>
                                        </p:tgtEl>
                                        <p:attrNameLst>
                                          <p:attrName>ppt_x</p:attrName>
                                        </p:attrNameLst>
                                      </p:cBhvr>
                                      <p:tavLst>
                                        <p:tav tm="0">
                                          <p:val>
                                            <p:strVal val="0-#ppt_w/2"/>
                                          </p:val>
                                        </p:tav>
                                        <p:tav tm="100000">
                                          <p:val>
                                            <p:strVal val="#ppt_x"/>
                                          </p:val>
                                        </p:tav>
                                      </p:tavLst>
                                    </p:anim>
                                    <p:anim calcmode="lin" valueType="num">
                                      <p:cBhvr>
                                        <p:cTn id="8" dur="1000" fill="hold"/>
                                        <p:tgtEl>
                                          <p:spTgt spid="6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33" grpId="1"/>
    </p:bld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39" name="În general, sunt două tipuri mari și late:"/>
          <p:cNvSpPr txBox="1"/>
          <p:nvPr/>
        </p:nvSpPr>
        <p:spPr>
          <a:xfrm>
            <a:off x="137095" y="9930789"/>
            <a:ext cx="22965398" cy="187733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DBSCAN se uită la o rază ε de ficecare punct dacă există cel puțin MinPts puncte apropiate de el în acea rază (în exemplu presupunem minPts=4)</a:t>
            </a:r>
          </a:p>
        </p:txBody>
      </p:sp>
      <p:pic>
        <p:nvPicPr>
          <p:cNvPr id="640" name="Captură de ecran din 2024-11-04 la 11.08.17.png" descr="Captură de ecran din 2024-11-04 la 11.08.17.png"/>
          <p:cNvPicPr>
            <a:picLocks noChangeAspect="1"/>
          </p:cNvPicPr>
          <p:nvPr/>
        </p:nvPicPr>
        <p:blipFill>
          <a:blip r:embed="rId2">
            <a:extLst/>
          </a:blip>
          <a:stretch>
            <a:fillRect/>
          </a:stretch>
        </p:blipFill>
        <p:spPr>
          <a:xfrm>
            <a:off x="3934922" y="1717645"/>
            <a:ext cx="14960601" cy="7747001"/>
          </a:xfrm>
          <a:prstGeom prst="rect">
            <a:avLst/>
          </a:prstGeom>
          <a:ln w="12700">
            <a:miter lim="400000"/>
          </a:ln>
        </p:spPr>
      </p:pic>
      <p:sp>
        <p:nvSpPr>
          <p:cNvPr id="641" name="În general, sunt două tipuri mari și late:"/>
          <p:cNvSpPr txBox="1"/>
          <p:nvPr/>
        </p:nvSpPr>
        <p:spPr>
          <a:xfrm>
            <a:off x="137095" y="11593494"/>
            <a:ext cx="22965398" cy="103515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t>Dacă punctul are cel puțiun MinPts vecini într-o rază ε, acel punct este </a:t>
            </a:r>
            <a:r>
              <a:rPr>
                <a:solidFill>
                  <a:schemeClr val="accent3"/>
                </a:solidFill>
              </a:rPr>
              <a:t>core point</a:t>
            </a:r>
          </a:p>
        </p:txBody>
      </p:sp>
      <p:sp>
        <p:nvSpPr>
          <p:cNvPr id="642" name="În general, sunt două tipuri mari și late:"/>
          <p:cNvSpPr txBox="1"/>
          <p:nvPr/>
        </p:nvSpPr>
        <p:spPr>
          <a:xfrm>
            <a:off x="137095" y="12619443"/>
            <a:ext cx="22965398" cy="103515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t>Altfel, este un </a:t>
            </a:r>
            <a:r>
              <a:rPr>
                <a:solidFill>
                  <a:schemeClr val="accent5"/>
                </a:solidFill>
              </a:rPr>
              <a:t>punct non-core</a:t>
            </a:r>
          </a:p>
        </p:txBody>
      </p:sp>
      <p:pic>
        <p:nvPicPr>
          <p:cNvPr id="643" name="Oval Oval" descr="Oval Oval"/>
          <p:cNvPicPr>
            <a:picLocks noChangeAspect="0"/>
          </p:cNvPicPr>
          <p:nvPr/>
        </p:nvPicPr>
        <p:blipFill>
          <a:blip r:embed="rId3">
            <a:extLst/>
          </a:blip>
          <a:stretch>
            <a:fillRect/>
          </a:stretch>
        </p:blipFill>
        <p:spPr>
          <a:xfrm>
            <a:off x="10327864" y="4944630"/>
            <a:ext cx="766084" cy="654154"/>
          </a:xfrm>
          <a:prstGeom prst="rect">
            <a:avLst/>
          </a:prstGeom>
        </p:spPr>
      </p:pic>
      <p:pic>
        <p:nvPicPr>
          <p:cNvPr id="645" name="Oval Oval" descr="Oval Oval"/>
          <p:cNvPicPr>
            <a:picLocks noChangeAspect="0"/>
          </p:cNvPicPr>
          <p:nvPr/>
        </p:nvPicPr>
        <p:blipFill>
          <a:blip r:embed="rId4">
            <a:extLst/>
          </a:blip>
          <a:stretch>
            <a:fillRect/>
          </a:stretch>
        </p:blipFill>
        <p:spPr>
          <a:xfrm>
            <a:off x="13487283" y="4557485"/>
            <a:ext cx="655251" cy="625184"/>
          </a:xfrm>
          <a:prstGeom prst="rect">
            <a:avLst/>
          </a:prstGeom>
        </p:spPr>
      </p:pic>
      <p:pic>
        <p:nvPicPr>
          <p:cNvPr id="647" name="Oval Oval" descr="Oval Oval"/>
          <p:cNvPicPr>
            <a:picLocks noChangeAspect="0"/>
          </p:cNvPicPr>
          <p:nvPr/>
        </p:nvPicPr>
        <p:blipFill>
          <a:blip r:embed="rId4">
            <a:extLst/>
          </a:blip>
          <a:stretch>
            <a:fillRect/>
          </a:stretch>
        </p:blipFill>
        <p:spPr>
          <a:xfrm>
            <a:off x="10157776" y="3700089"/>
            <a:ext cx="655250" cy="625183"/>
          </a:xfrm>
          <a:prstGeom prst="rect">
            <a:avLst/>
          </a:prstGeom>
        </p:spPr>
      </p:pic>
      <p:pic>
        <p:nvPicPr>
          <p:cNvPr id="649" name="Oval Oval" descr="Oval Oval"/>
          <p:cNvPicPr>
            <a:picLocks noChangeAspect="0"/>
          </p:cNvPicPr>
          <p:nvPr/>
        </p:nvPicPr>
        <p:blipFill>
          <a:blip r:embed="rId4">
            <a:extLst/>
          </a:blip>
          <a:stretch>
            <a:fillRect/>
          </a:stretch>
        </p:blipFill>
        <p:spPr>
          <a:xfrm>
            <a:off x="14049126" y="3902001"/>
            <a:ext cx="655251" cy="625184"/>
          </a:xfrm>
          <a:prstGeom prst="rect">
            <a:avLst/>
          </a:prstGeom>
        </p:spPr>
      </p:pic>
      <p:pic>
        <p:nvPicPr>
          <p:cNvPr id="651" name="Oval Oval" descr="Oval Oval"/>
          <p:cNvPicPr>
            <a:picLocks noChangeAspect="0"/>
          </p:cNvPicPr>
          <p:nvPr/>
        </p:nvPicPr>
        <p:blipFill>
          <a:blip r:embed="rId5">
            <a:extLst/>
          </a:blip>
          <a:stretch>
            <a:fillRect/>
          </a:stretch>
        </p:blipFill>
        <p:spPr>
          <a:xfrm>
            <a:off x="15435006" y="6767402"/>
            <a:ext cx="655251" cy="625183"/>
          </a:xfrm>
          <a:prstGeom prst="rect">
            <a:avLst/>
          </a:prstGeom>
        </p:spPr>
      </p:pic>
      <p:pic>
        <p:nvPicPr>
          <p:cNvPr id="653" name="Oval Oval" descr="Oval Oval"/>
          <p:cNvPicPr>
            <a:picLocks noChangeAspect="0"/>
          </p:cNvPicPr>
          <p:nvPr/>
        </p:nvPicPr>
        <p:blipFill>
          <a:blip r:embed="rId5">
            <a:extLst/>
          </a:blip>
          <a:stretch>
            <a:fillRect/>
          </a:stretch>
        </p:blipFill>
        <p:spPr>
          <a:xfrm>
            <a:off x="17157993" y="5456434"/>
            <a:ext cx="655250" cy="62518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39"/>
                                        </p:tgtEl>
                                        <p:attrNameLst>
                                          <p:attrName>style.visibility</p:attrName>
                                        </p:attrNameLst>
                                      </p:cBhvr>
                                      <p:to>
                                        <p:strVal val="visible"/>
                                      </p:to>
                                    </p:set>
                                    <p:anim calcmode="lin" valueType="num">
                                      <p:cBhvr>
                                        <p:cTn id="7" dur="1000" fill="hold"/>
                                        <p:tgtEl>
                                          <p:spTgt spid="639"/>
                                        </p:tgtEl>
                                        <p:attrNameLst>
                                          <p:attrName>ppt_x</p:attrName>
                                        </p:attrNameLst>
                                      </p:cBhvr>
                                      <p:tavLst>
                                        <p:tav tm="0">
                                          <p:val>
                                            <p:strVal val="0-#ppt_w/2"/>
                                          </p:val>
                                        </p:tav>
                                        <p:tav tm="100000">
                                          <p:val>
                                            <p:strVal val="#ppt_x"/>
                                          </p:val>
                                        </p:tav>
                                      </p:tavLst>
                                    </p:anim>
                                    <p:anim calcmode="lin" valueType="num">
                                      <p:cBhvr>
                                        <p:cTn id="8" dur="1000" fill="hold"/>
                                        <p:tgtEl>
                                          <p:spTgt spid="6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641"/>
                                        </p:tgtEl>
                                        <p:attrNameLst>
                                          <p:attrName>style.visibility</p:attrName>
                                        </p:attrNameLst>
                                      </p:cBhvr>
                                      <p:to>
                                        <p:strVal val="visible"/>
                                      </p:to>
                                    </p:set>
                                    <p:anim calcmode="lin" valueType="num">
                                      <p:cBhvr>
                                        <p:cTn id="13" dur="1000" fill="hold"/>
                                        <p:tgtEl>
                                          <p:spTgt spid="641"/>
                                        </p:tgtEl>
                                        <p:attrNameLst>
                                          <p:attrName>ppt_x</p:attrName>
                                        </p:attrNameLst>
                                      </p:cBhvr>
                                      <p:tavLst>
                                        <p:tav tm="0">
                                          <p:val>
                                            <p:strVal val="0-#ppt_w/2"/>
                                          </p:val>
                                        </p:tav>
                                        <p:tav tm="100000">
                                          <p:val>
                                            <p:strVal val="#ppt_x"/>
                                          </p:val>
                                        </p:tav>
                                      </p:tavLst>
                                    </p:anim>
                                    <p:anim calcmode="lin" valueType="num">
                                      <p:cBhvr>
                                        <p:cTn id="14" dur="1000" fill="hold"/>
                                        <p:tgtEl>
                                          <p:spTgt spid="641"/>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647"/>
                                        </p:tgtEl>
                                        <p:attrNameLst>
                                          <p:attrName>style.visibility</p:attrName>
                                        </p:attrNameLst>
                                      </p:cBhvr>
                                      <p:to>
                                        <p:strVal val="visible"/>
                                      </p:to>
                                    </p:set>
                                    <p:animEffect filter="dissolve" transition="in">
                                      <p:cBhvr>
                                        <p:cTn id="18" dur="2000"/>
                                        <p:tgtEl>
                                          <p:spTgt spid="647"/>
                                        </p:tgtEl>
                                      </p:cBhvr>
                                    </p:animEffect>
                                  </p:childTnLst>
                                </p:cTn>
                              </p:par>
                            </p:childTnLst>
                          </p:cTn>
                        </p:par>
                        <p:par>
                          <p:cTn id="19" fill="hold">
                            <p:stCondLst>
                              <p:cond delay="3000"/>
                            </p:stCondLst>
                            <p:childTnLst>
                              <p:par>
                                <p:cTn id="20" presetClass="entr" nodeType="afterEffect" presetID="9" grpId="4" fill="hold">
                                  <p:stCondLst>
                                    <p:cond delay="0"/>
                                  </p:stCondLst>
                                  <p:iterate type="el" backwards="0">
                                    <p:tmAbs val="0"/>
                                  </p:iterate>
                                  <p:childTnLst>
                                    <p:set>
                                      <p:cBhvr>
                                        <p:cTn id="21" fill="hold"/>
                                        <p:tgtEl>
                                          <p:spTgt spid="643"/>
                                        </p:tgtEl>
                                        <p:attrNameLst>
                                          <p:attrName>style.visibility</p:attrName>
                                        </p:attrNameLst>
                                      </p:cBhvr>
                                      <p:to>
                                        <p:strVal val="visible"/>
                                      </p:to>
                                    </p:set>
                                    <p:animEffect filter="dissolve" transition="in">
                                      <p:cBhvr>
                                        <p:cTn id="22" dur="2000"/>
                                        <p:tgtEl>
                                          <p:spTgt spid="643"/>
                                        </p:tgtEl>
                                      </p:cBhvr>
                                    </p:animEffect>
                                  </p:childTnLst>
                                </p:cTn>
                              </p:par>
                            </p:childTnLst>
                          </p:cTn>
                        </p:par>
                        <p:par>
                          <p:cTn id="23" fill="hold">
                            <p:stCondLst>
                              <p:cond delay="5000"/>
                            </p:stCondLst>
                            <p:childTnLst>
                              <p:par>
                                <p:cTn id="24" presetClass="entr" nodeType="afterEffect" presetID="9" grpId="5" fill="hold">
                                  <p:stCondLst>
                                    <p:cond delay="0"/>
                                  </p:stCondLst>
                                  <p:iterate type="el" backwards="0">
                                    <p:tmAbs val="0"/>
                                  </p:iterate>
                                  <p:childTnLst>
                                    <p:set>
                                      <p:cBhvr>
                                        <p:cTn id="25" fill="hold"/>
                                        <p:tgtEl>
                                          <p:spTgt spid="645"/>
                                        </p:tgtEl>
                                        <p:attrNameLst>
                                          <p:attrName>style.visibility</p:attrName>
                                        </p:attrNameLst>
                                      </p:cBhvr>
                                      <p:to>
                                        <p:strVal val="visible"/>
                                      </p:to>
                                    </p:set>
                                    <p:animEffect filter="dissolve" transition="in">
                                      <p:cBhvr>
                                        <p:cTn id="26" dur="2000"/>
                                        <p:tgtEl>
                                          <p:spTgt spid="645"/>
                                        </p:tgtEl>
                                      </p:cBhvr>
                                    </p:animEffect>
                                  </p:childTnLst>
                                </p:cTn>
                              </p:par>
                            </p:childTnLst>
                          </p:cTn>
                        </p:par>
                        <p:par>
                          <p:cTn id="27" fill="hold">
                            <p:stCondLst>
                              <p:cond delay="7000"/>
                            </p:stCondLst>
                            <p:childTnLst>
                              <p:par>
                                <p:cTn id="28" presetClass="entr" nodeType="afterEffect" presetID="9" grpId="6" fill="hold">
                                  <p:stCondLst>
                                    <p:cond delay="0"/>
                                  </p:stCondLst>
                                  <p:iterate type="el" backwards="0">
                                    <p:tmAbs val="0"/>
                                  </p:iterate>
                                  <p:childTnLst>
                                    <p:set>
                                      <p:cBhvr>
                                        <p:cTn id="29" fill="hold"/>
                                        <p:tgtEl>
                                          <p:spTgt spid="649"/>
                                        </p:tgtEl>
                                        <p:attrNameLst>
                                          <p:attrName>style.visibility</p:attrName>
                                        </p:attrNameLst>
                                      </p:cBhvr>
                                      <p:to>
                                        <p:strVal val="visible"/>
                                      </p:to>
                                    </p:set>
                                    <p:animEffect filter="dissolve" transition="in">
                                      <p:cBhvr>
                                        <p:cTn id="30" dur="2000"/>
                                        <p:tgtEl>
                                          <p:spTgt spid="649"/>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8" presetID="2" grpId="7" fill="hold">
                                  <p:stCondLst>
                                    <p:cond delay="0"/>
                                  </p:stCondLst>
                                  <p:iterate type="el" backwards="0">
                                    <p:tmAbs val="0"/>
                                  </p:iterate>
                                  <p:childTnLst>
                                    <p:set>
                                      <p:cBhvr>
                                        <p:cTn id="34" fill="hold"/>
                                        <p:tgtEl>
                                          <p:spTgt spid="642"/>
                                        </p:tgtEl>
                                        <p:attrNameLst>
                                          <p:attrName>style.visibility</p:attrName>
                                        </p:attrNameLst>
                                      </p:cBhvr>
                                      <p:to>
                                        <p:strVal val="visible"/>
                                      </p:to>
                                    </p:set>
                                    <p:anim calcmode="lin" valueType="num">
                                      <p:cBhvr>
                                        <p:cTn id="35" dur="1000" fill="hold"/>
                                        <p:tgtEl>
                                          <p:spTgt spid="642"/>
                                        </p:tgtEl>
                                        <p:attrNameLst>
                                          <p:attrName>ppt_x</p:attrName>
                                        </p:attrNameLst>
                                      </p:cBhvr>
                                      <p:tavLst>
                                        <p:tav tm="0">
                                          <p:val>
                                            <p:strVal val="0-#ppt_w/2"/>
                                          </p:val>
                                        </p:tav>
                                        <p:tav tm="100000">
                                          <p:val>
                                            <p:strVal val="#ppt_x"/>
                                          </p:val>
                                        </p:tav>
                                      </p:tavLst>
                                    </p:anim>
                                    <p:anim calcmode="lin" valueType="num">
                                      <p:cBhvr>
                                        <p:cTn id="36" dur="1000" fill="hold"/>
                                        <p:tgtEl>
                                          <p:spTgt spid="642"/>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Class="entr" nodeType="afterEffect" presetID="9" grpId="8" fill="hold">
                                  <p:stCondLst>
                                    <p:cond delay="0"/>
                                  </p:stCondLst>
                                  <p:iterate type="el" backwards="0">
                                    <p:tmAbs val="0"/>
                                  </p:iterate>
                                  <p:childTnLst>
                                    <p:set>
                                      <p:cBhvr>
                                        <p:cTn id="39" fill="hold"/>
                                        <p:tgtEl>
                                          <p:spTgt spid="653"/>
                                        </p:tgtEl>
                                        <p:attrNameLst>
                                          <p:attrName>style.visibility</p:attrName>
                                        </p:attrNameLst>
                                      </p:cBhvr>
                                      <p:to>
                                        <p:strVal val="visible"/>
                                      </p:to>
                                    </p:set>
                                    <p:animEffect filter="dissolve" transition="in">
                                      <p:cBhvr>
                                        <p:cTn id="40" dur="2000"/>
                                        <p:tgtEl>
                                          <p:spTgt spid="653"/>
                                        </p:tgtEl>
                                      </p:cBhvr>
                                    </p:animEffect>
                                  </p:childTnLst>
                                </p:cTn>
                              </p:par>
                            </p:childTnLst>
                          </p:cTn>
                        </p:par>
                        <p:par>
                          <p:cTn id="41" fill="hold">
                            <p:stCondLst>
                              <p:cond delay="3000"/>
                            </p:stCondLst>
                            <p:childTnLst>
                              <p:par>
                                <p:cTn id="42" presetClass="entr" nodeType="afterEffect" presetID="9" grpId="9" fill="hold">
                                  <p:stCondLst>
                                    <p:cond delay="0"/>
                                  </p:stCondLst>
                                  <p:iterate type="el" backwards="0">
                                    <p:tmAbs val="0"/>
                                  </p:iterate>
                                  <p:childTnLst>
                                    <p:set>
                                      <p:cBhvr>
                                        <p:cTn id="43" fill="hold"/>
                                        <p:tgtEl>
                                          <p:spTgt spid="651"/>
                                        </p:tgtEl>
                                        <p:attrNameLst>
                                          <p:attrName>style.visibility</p:attrName>
                                        </p:attrNameLst>
                                      </p:cBhvr>
                                      <p:to>
                                        <p:strVal val="visible"/>
                                      </p:to>
                                    </p:set>
                                    <p:animEffect filter="dissolve" transition="in">
                                      <p:cBhvr>
                                        <p:cTn id="44" dur="2000"/>
                                        <p:tgtEl>
                                          <p:spTgt spid="6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49" grpId="6"/>
      <p:bldP build="whole" bldLvl="1" animBg="1" rev="0" advAuto="0" spid="647" grpId="3"/>
      <p:bldP build="whole" bldLvl="1" animBg="1" rev="0" advAuto="0" spid="641" grpId="2"/>
      <p:bldP build="whole" bldLvl="1" animBg="1" rev="0" advAuto="0" spid="643" grpId="4"/>
      <p:bldP build="whole" bldLvl="1" animBg="1" rev="0" advAuto="0" spid="642" grpId="7"/>
      <p:bldP build="whole" bldLvl="1" animBg="1" rev="0" advAuto="0" spid="639" grpId="1"/>
      <p:bldP build="whole" bldLvl="1" animBg="1" rev="0" advAuto="0" spid="653" grpId="8"/>
      <p:bldP build="whole" bldLvl="1" animBg="1" rev="0" advAuto="0" spid="651" grpId="9"/>
      <p:bldP build="whole" bldLvl="1" animBg="1" rev="0" advAuto="0" spid="645" grpId="5"/>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57" name="În general, sunt două tipuri mari și late:"/>
          <p:cNvSpPr txBox="1"/>
          <p:nvPr/>
        </p:nvSpPr>
        <p:spPr>
          <a:xfrm>
            <a:off x="137095" y="9893334"/>
            <a:ext cx="22965398" cy="34671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Algoritmul face asta într-un mod iterativ: alege un punct random, găsește vecinii, dacă are cel puțin MinPts vecini, atunci vecinii lui vor fi folosiți pentru a fi verificate în continuare dacă sunt core points și tot așa</a:t>
            </a:r>
          </a:p>
        </p:txBody>
      </p:sp>
      <p:pic>
        <p:nvPicPr>
          <p:cNvPr id="658" name="Captură de ecran din 2024-11-04 la 11.08.17.png" descr="Captură de ecran din 2024-11-04 la 11.08.17.png"/>
          <p:cNvPicPr>
            <a:picLocks noChangeAspect="1"/>
          </p:cNvPicPr>
          <p:nvPr/>
        </p:nvPicPr>
        <p:blipFill>
          <a:blip r:embed="rId2">
            <a:extLst/>
          </a:blip>
          <a:stretch>
            <a:fillRect/>
          </a:stretch>
        </p:blipFill>
        <p:spPr>
          <a:xfrm>
            <a:off x="3934922" y="1717645"/>
            <a:ext cx="14960601" cy="7747001"/>
          </a:xfrm>
          <a:prstGeom prst="rect">
            <a:avLst/>
          </a:prstGeom>
          <a:ln w="12700">
            <a:miter lim="400000"/>
          </a:ln>
        </p:spPr>
      </p:pic>
      <p:pic>
        <p:nvPicPr>
          <p:cNvPr id="659" name="Oval Oval" descr="Oval Oval"/>
          <p:cNvPicPr>
            <a:picLocks noChangeAspect="0"/>
          </p:cNvPicPr>
          <p:nvPr/>
        </p:nvPicPr>
        <p:blipFill>
          <a:blip r:embed="rId3">
            <a:extLst/>
          </a:blip>
          <a:stretch>
            <a:fillRect/>
          </a:stretch>
        </p:blipFill>
        <p:spPr>
          <a:xfrm>
            <a:off x="10327864" y="4944630"/>
            <a:ext cx="766084" cy="654154"/>
          </a:xfrm>
          <a:prstGeom prst="rect">
            <a:avLst/>
          </a:prstGeom>
        </p:spPr>
      </p:pic>
      <p:pic>
        <p:nvPicPr>
          <p:cNvPr id="661" name="Oval Oval" descr="Oval Oval"/>
          <p:cNvPicPr>
            <a:picLocks noChangeAspect="0"/>
          </p:cNvPicPr>
          <p:nvPr/>
        </p:nvPicPr>
        <p:blipFill>
          <a:blip r:embed="rId4">
            <a:extLst/>
          </a:blip>
          <a:stretch>
            <a:fillRect/>
          </a:stretch>
        </p:blipFill>
        <p:spPr>
          <a:xfrm>
            <a:off x="13487283" y="4557485"/>
            <a:ext cx="655251" cy="625184"/>
          </a:xfrm>
          <a:prstGeom prst="rect">
            <a:avLst/>
          </a:prstGeom>
        </p:spPr>
      </p:pic>
      <p:pic>
        <p:nvPicPr>
          <p:cNvPr id="663" name="Oval Oval" descr="Oval Oval"/>
          <p:cNvPicPr>
            <a:picLocks noChangeAspect="0"/>
          </p:cNvPicPr>
          <p:nvPr/>
        </p:nvPicPr>
        <p:blipFill>
          <a:blip r:embed="rId4">
            <a:extLst/>
          </a:blip>
          <a:stretch>
            <a:fillRect/>
          </a:stretch>
        </p:blipFill>
        <p:spPr>
          <a:xfrm>
            <a:off x="10157776" y="3700089"/>
            <a:ext cx="655250" cy="625183"/>
          </a:xfrm>
          <a:prstGeom prst="rect">
            <a:avLst/>
          </a:prstGeom>
        </p:spPr>
      </p:pic>
      <p:pic>
        <p:nvPicPr>
          <p:cNvPr id="665" name="Oval Oval" descr="Oval Oval"/>
          <p:cNvPicPr>
            <a:picLocks noChangeAspect="0"/>
          </p:cNvPicPr>
          <p:nvPr/>
        </p:nvPicPr>
        <p:blipFill>
          <a:blip r:embed="rId4">
            <a:extLst/>
          </a:blip>
          <a:stretch>
            <a:fillRect/>
          </a:stretch>
        </p:blipFill>
        <p:spPr>
          <a:xfrm>
            <a:off x="14049126" y="3902001"/>
            <a:ext cx="655251" cy="625184"/>
          </a:xfrm>
          <a:prstGeom prst="rect">
            <a:avLst/>
          </a:prstGeom>
        </p:spPr>
      </p:pic>
      <p:pic>
        <p:nvPicPr>
          <p:cNvPr id="667" name="Oval Oval" descr="Oval Oval"/>
          <p:cNvPicPr>
            <a:picLocks noChangeAspect="0"/>
          </p:cNvPicPr>
          <p:nvPr/>
        </p:nvPicPr>
        <p:blipFill>
          <a:blip r:embed="rId5">
            <a:extLst/>
          </a:blip>
          <a:stretch>
            <a:fillRect/>
          </a:stretch>
        </p:blipFill>
        <p:spPr>
          <a:xfrm>
            <a:off x="15435006" y="6767402"/>
            <a:ext cx="655251" cy="625183"/>
          </a:xfrm>
          <a:prstGeom prst="rect">
            <a:avLst/>
          </a:prstGeom>
        </p:spPr>
      </p:pic>
      <p:pic>
        <p:nvPicPr>
          <p:cNvPr id="669" name="Oval Oval" descr="Oval Oval"/>
          <p:cNvPicPr>
            <a:picLocks noChangeAspect="0"/>
          </p:cNvPicPr>
          <p:nvPr/>
        </p:nvPicPr>
        <p:blipFill>
          <a:blip r:embed="rId5">
            <a:extLst/>
          </a:blip>
          <a:stretch>
            <a:fillRect/>
          </a:stretch>
        </p:blipFill>
        <p:spPr>
          <a:xfrm>
            <a:off x="17157993" y="5456434"/>
            <a:ext cx="655250" cy="62518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73" name="În general, sunt două tipuri mari și late:"/>
          <p:cNvSpPr txBox="1"/>
          <p:nvPr/>
        </p:nvSpPr>
        <p:spPr>
          <a:xfrm>
            <a:off x="1167141" y="828928"/>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Putem spune că toate acestea sunt core points, deoarece în raza lor există cel puțin MinPts puncte</a:t>
            </a:r>
          </a:p>
        </p:txBody>
      </p:sp>
      <p:pic>
        <p:nvPicPr>
          <p:cNvPr id="674" name="Captură de ecran din 2024-11-04 la 11.15.10.png" descr="Captură de ecran din 2024-11-04 la 11.15.10.png"/>
          <p:cNvPicPr>
            <a:picLocks noChangeAspect="1"/>
          </p:cNvPicPr>
          <p:nvPr/>
        </p:nvPicPr>
        <p:blipFill>
          <a:blip r:embed="rId2">
            <a:extLst/>
          </a:blip>
          <a:stretch>
            <a:fillRect/>
          </a:stretch>
        </p:blipFill>
        <p:spPr>
          <a:xfrm>
            <a:off x="5340989" y="3138445"/>
            <a:ext cx="14617701" cy="86614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77" name="În general, sunt două tipuri mari și late:"/>
          <p:cNvSpPr txBox="1"/>
          <p:nvPr/>
        </p:nvSpPr>
        <p:spPr>
          <a:xfrm>
            <a:off x="1167141" y="828928"/>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Mai mult, aceste puncte sunt non-core, deoarece în raza lor nu se regăsesc cel puțin MinPts puncte</a:t>
            </a:r>
          </a:p>
        </p:txBody>
      </p:sp>
      <p:pic>
        <p:nvPicPr>
          <p:cNvPr id="678" name="Captură de ecran din 2024-11-04 la 11.16.35.png" descr="Captură de ecran din 2024-11-04 la 11.16.35.png"/>
          <p:cNvPicPr>
            <a:picLocks noChangeAspect="1"/>
          </p:cNvPicPr>
          <p:nvPr/>
        </p:nvPicPr>
        <p:blipFill>
          <a:blip r:embed="rId2">
            <a:extLst/>
          </a:blip>
          <a:stretch>
            <a:fillRect/>
          </a:stretch>
        </p:blipFill>
        <p:spPr>
          <a:xfrm>
            <a:off x="5118100" y="2812801"/>
            <a:ext cx="14147800" cy="91440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81" name="În general, sunt două tipuri mari și late:"/>
          <p:cNvSpPr txBox="1"/>
          <p:nvPr/>
        </p:nvSpPr>
        <p:spPr>
          <a:xfrm>
            <a:off x="1167141" y="828928"/>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Deci, toate aceste puncte vor forma un cluster, deoarece sunt core points</a:t>
            </a:r>
          </a:p>
        </p:txBody>
      </p:sp>
      <p:pic>
        <p:nvPicPr>
          <p:cNvPr id="682" name="Captură de ecran din 2024-11-04 la 11.17.54.png" descr="Captură de ecran din 2024-11-04 la 11.17.54.png"/>
          <p:cNvPicPr>
            <a:picLocks noChangeAspect="1"/>
          </p:cNvPicPr>
          <p:nvPr/>
        </p:nvPicPr>
        <p:blipFill>
          <a:blip r:embed="rId2">
            <a:extLst/>
          </a:blip>
          <a:stretch>
            <a:fillRect/>
          </a:stretch>
        </p:blipFill>
        <p:spPr>
          <a:xfrm>
            <a:off x="4921250" y="2709255"/>
            <a:ext cx="14541500" cy="80391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85" name="În general, sunt două tipuri mari și late:"/>
          <p:cNvSpPr txBox="1"/>
          <p:nvPr/>
        </p:nvSpPr>
        <p:spPr>
          <a:xfrm>
            <a:off x="1167141" y="828928"/>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Trebuie să facem ceva în legătură cu punctele la granițe</a:t>
            </a:r>
          </a:p>
        </p:txBody>
      </p:sp>
      <p:pic>
        <p:nvPicPr>
          <p:cNvPr id="686" name="Captură de ecran din 2024-11-04 la 11.18.50.png" descr="Captură de ecran din 2024-11-04 la 11.18.50.png"/>
          <p:cNvPicPr>
            <a:picLocks noChangeAspect="1"/>
          </p:cNvPicPr>
          <p:nvPr/>
        </p:nvPicPr>
        <p:blipFill>
          <a:blip r:embed="rId2">
            <a:extLst/>
          </a:blip>
          <a:stretch>
            <a:fillRect/>
          </a:stretch>
        </p:blipFill>
        <p:spPr>
          <a:xfrm>
            <a:off x="4965700" y="4708585"/>
            <a:ext cx="14452600" cy="7505701"/>
          </a:xfrm>
          <a:prstGeom prst="rect">
            <a:avLst/>
          </a:prstGeom>
          <a:ln w="12700">
            <a:miter lim="400000"/>
          </a:ln>
        </p:spPr>
      </p:pic>
      <p:sp>
        <p:nvSpPr>
          <p:cNvPr id="687" name="În general, sunt două tipuri mari și late:"/>
          <p:cNvSpPr txBox="1"/>
          <p:nvPr/>
        </p:nvSpPr>
        <p:spPr>
          <a:xfrm>
            <a:off x="1167141" y="2191983"/>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Soluția este să adăugăm acele puncte non-core în clusterul 1 dacă ele sunt apropiate de cel puțin un core point din acel cluster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90" name="În general, sunt două tipuri mari și late:"/>
          <p:cNvSpPr txBox="1"/>
          <p:nvPr/>
        </p:nvSpPr>
        <p:spPr>
          <a:xfrm>
            <a:off x="1023070" y="1906823"/>
            <a:ext cx="22965398" cy="187733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La fel vom proceda cu toate celelalte puncte de la graniță</a:t>
            </a:r>
          </a:p>
        </p:txBody>
      </p:sp>
      <p:sp>
        <p:nvSpPr>
          <p:cNvPr id="691" name="În general, sunt două tipuri mari și late:"/>
          <p:cNvSpPr txBox="1"/>
          <p:nvPr/>
        </p:nvSpPr>
        <p:spPr>
          <a:xfrm>
            <a:off x="1023070" y="131891"/>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De exemplu acest punct, care e non-core, este aproape de un core-point, așa că îl considerăm la clusterul 1</a:t>
            </a:r>
          </a:p>
        </p:txBody>
      </p:sp>
      <p:pic>
        <p:nvPicPr>
          <p:cNvPr id="692" name="Captură de ecran din 2024-11-04 la 11.23.49.png" descr="Captură de ecran din 2024-11-04 la 11.23.49.png"/>
          <p:cNvPicPr>
            <a:picLocks noChangeAspect="1"/>
          </p:cNvPicPr>
          <p:nvPr/>
        </p:nvPicPr>
        <p:blipFill>
          <a:blip r:embed="rId2">
            <a:extLst/>
          </a:blip>
          <a:stretch>
            <a:fillRect/>
          </a:stretch>
        </p:blipFill>
        <p:spPr>
          <a:xfrm>
            <a:off x="4451350" y="3457019"/>
            <a:ext cx="15481300" cy="88265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95" name="În general, sunt două tipuri mari și late:"/>
          <p:cNvSpPr txBox="1"/>
          <p:nvPr/>
        </p:nvSpPr>
        <p:spPr>
          <a:xfrm>
            <a:off x="1004342" y="1644630"/>
            <a:ext cx="22965398" cy="18773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Punctele care nu sunt în niciun cluster vor fi numite outliers / zgomote / erori de măsurare</a:t>
            </a:r>
          </a:p>
        </p:txBody>
      </p:sp>
      <p:sp>
        <p:nvSpPr>
          <p:cNvPr id="696" name="În general, sunt două tipuri mari și late:"/>
          <p:cNvSpPr txBox="1"/>
          <p:nvPr/>
        </p:nvSpPr>
        <p:spPr>
          <a:xfrm>
            <a:off x="1004342" y="525181"/>
            <a:ext cx="22965398" cy="12023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După ce folosim DBSCAN, ajungem la ceva de genul</a:t>
            </a:r>
          </a:p>
        </p:txBody>
      </p:sp>
      <p:pic>
        <p:nvPicPr>
          <p:cNvPr id="697" name="Captură de ecran din 2024-11-04 la 11.25.47.png" descr="Captură de ecran din 2024-11-04 la 11.25.47.png"/>
          <p:cNvPicPr>
            <a:picLocks noChangeAspect="1"/>
          </p:cNvPicPr>
          <p:nvPr/>
        </p:nvPicPr>
        <p:blipFill>
          <a:blip r:embed="rId2">
            <a:extLst/>
          </a:blip>
          <a:stretch>
            <a:fillRect/>
          </a:stretch>
        </p:blipFill>
        <p:spPr>
          <a:xfrm>
            <a:off x="4680272" y="4441151"/>
            <a:ext cx="14986001" cy="78359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00" name="În general, sunt două tipuri mari și late:"/>
          <p:cNvSpPr txBox="1"/>
          <p:nvPr/>
        </p:nvSpPr>
        <p:spPr>
          <a:xfrm>
            <a:off x="137095" y="1351523"/>
            <a:ext cx="22965398"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DBSCAN consideră că un cluster e o zonă densă de puncte. Pentru a decide ce înseamnă “dens”, folosește două concepte:</a:t>
            </a:r>
          </a:p>
        </p:txBody>
      </p:sp>
      <p:sp>
        <p:nvSpPr>
          <p:cNvPr id="701" name="În general, sunt două tipuri mari și late:"/>
          <p:cNvSpPr txBox="1"/>
          <p:nvPr/>
        </p:nvSpPr>
        <p:spPr>
          <a:xfrm>
            <a:off x="919549" y="3301750"/>
            <a:ext cx="23048563" cy="100713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Epsilon (ε): raza în jurul unui punct în care se caută altele pentru a forma un cluster</a:t>
            </a:r>
          </a:p>
        </p:txBody>
      </p:sp>
      <p:sp>
        <p:nvSpPr>
          <p:cNvPr id="702" name="În general, sunt două tipuri mari și late:"/>
          <p:cNvSpPr txBox="1"/>
          <p:nvPr/>
        </p:nvSpPr>
        <p:spPr>
          <a:xfrm>
            <a:off x="919549" y="4177874"/>
            <a:ext cx="23048563" cy="100713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latin typeface="Canela Text Regular"/>
                <a:ea typeface="Canela Text Regular"/>
                <a:cs typeface="Canela Text Regular"/>
                <a:sym typeface="Canela Text Regular"/>
              </a:defRPr>
            </a:lvl1pPr>
          </a:lstStyle>
          <a:p>
            <a:pPr/>
            <a:r>
              <a:t>MinPts: numărul minim de puncte necesar într-o rază ε pentru a considera că e un “cluster”</a:t>
            </a:r>
          </a:p>
        </p:txBody>
      </p:sp>
      <p:sp>
        <p:nvSpPr>
          <p:cNvPr id="703" name="În general, sunt două tipuri mari și late:"/>
          <p:cNvSpPr txBox="1"/>
          <p:nvPr/>
        </p:nvSpPr>
        <p:spPr>
          <a:xfrm>
            <a:off x="137095" y="5236672"/>
            <a:ext cx="22965398" cy="10071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Tipuri de puncte:</a:t>
            </a:r>
          </a:p>
        </p:txBody>
      </p:sp>
      <p:sp>
        <p:nvSpPr>
          <p:cNvPr id="704" name="În general, sunt două tipuri mari și late:"/>
          <p:cNvSpPr txBox="1"/>
          <p:nvPr/>
        </p:nvSpPr>
        <p:spPr>
          <a:xfrm>
            <a:off x="709301" y="6150254"/>
            <a:ext cx="22965398" cy="100713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35177" indent="-535177" defTabSz="2389571">
              <a:spcBef>
                <a:spcPts val="2300"/>
              </a:spcBef>
              <a:buSzPct val="150000"/>
              <a:buChar char="•"/>
              <a:defRPr sz="4312">
                <a:latin typeface="Canela Text Regular"/>
                <a:ea typeface="Canela Text Regular"/>
                <a:cs typeface="Canela Text Regular"/>
                <a:sym typeface="Canela Text Regular"/>
              </a:defRPr>
            </a:lvl1pPr>
          </a:lstStyle>
          <a:p>
            <a:pPr/>
            <a:r>
              <a:t> Core points: au cel puțin MinPts vecini într-o rază ε (sunt punctele de bază ale clusterului)</a:t>
            </a:r>
          </a:p>
        </p:txBody>
      </p:sp>
      <p:sp>
        <p:nvSpPr>
          <p:cNvPr id="705" name="În general, sunt două tipuri mari și late:"/>
          <p:cNvSpPr txBox="1"/>
          <p:nvPr/>
        </p:nvSpPr>
        <p:spPr>
          <a:xfrm>
            <a:off x="961132" y="7063696"/>
            <a:ext cx="22965397" cy="100713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Border points: au mai puțini vecini decât MinPts, dar sunt în raza ε a unui core point</a:t>
            </a:r>
          </a:p>
        </p:txBody>
      </p:sp>
      <p:sp>
        <p:nvSpPr>
          <p:cNvPr id="706" name="În general, sunt două tipuri mari și late:"/>
          <p:cNvSpPr txBox="1"/>
          <p:nvPr/>
        </p:nvSpPr>
        <p:spPr>
          <a:xfrm>
            <a:off x="961132" y="7981512"/>
            <a:ext cx="22965397"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Noise points sau outliers: puncte care nu fac parte din niciun cluster, fiind prea departe de orice zonă densă.</a:t>
            </a:r>
          </a:p>
        </p:txBody>
      </p:sp>
      <p:sp>
        <p:nvSpPr>
          <p:cNvPr id="707" name="În general, sunt două tipuri mari și late:"/>
          <p:cNvSpPr txBox="1"/>
          <p:nvPr/>
        </p:nvSpPr>
        <p:spPr>
          <a:xfrm>
            <a:off x="137095" y="9949518"/>
            <a:ext cx="22965398" cy="289274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DBSCAN începe cu un punct oarecare și vede dacă e un core point (are destui vecini în raza ε). Dacă da, se extinde în cluster adăugând vecinii direcți și verificând dacă aceștia sunt la rândul lor core points, și tot așa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710" name="Captură de ecran din 2024-11-04 la 11.45.15.png" descr="Captură de ecran din 2024-11-04 la 11.45.15.png"/>
          <p:cNvPicPr>
            <a:picLocks noChangeAspect="1"/>
          </p:cNvPicPr>
          <p:nvPr/>
        </p:nvPicPr>
        <p:blipFill>
          <a:blip r:embed="rId2">
            <a:extLst/>
          </a:blip>
          <a:stretch>
            <a:fillRect/>
          </a:stretch>
        </p:blipFill>
        <p:spPr>
          <a:xfrm>
            <a:off x="3171971" y="1714909"/>
            <a:ext cx="17613588" cy="7185849"/>
          </a:xfrm>
          <a:prstGeom prst="rect">
            <a:avLst/>
          </a:prstGeom>
          <a:ln w="12700">
            <a:miter lim="400000"/>
          </a:ln>
        </p:spPr>
      </p:pic>
      <p:pic>
        <p:nvPicPr>
          <p:cNvPr id="711" name="Linie Linie" descr="Linie Linie"/>
          <p:cNvPicPr>
            <a:picLocks noChangeAspect="0"/>
          </p:cNvPicPr>
          <p:nvPr/>
        </p:nvPicPr>
        <p:blipFill>
          <a:blip r:embed="rId3">
            <a:extLst/>
          </a:blip>
          <a:stretch>
            <a:fillRect/>
          </a:stretch>
        </p:blipFill>
        <p:spPr>
          <a:xfrm>
            <a:off x="8472246" y="2722716"/>
            <a:ext cx="1142794" cy="101601"/>
          </a:xfrm>
          <a:prstGeom prst="rect">
            <a:avLst/>
          </a:prstGeom>
        </p:spPr>
      </p:pic>
      <p:pic>
        <p:nvPicPr>
          <p:cNvPr id="713" name="Linie Linie" descr="Linie Linie"/>
          <p:cNvPicPr>
            <a:picLocks noChangeAspect="0"/>
          </p:cNvPicPr>
          <p:nvPr/>
        </p:nvPicPr>
        <p:blipFill>
          <a:blip r:embed="rId3">
            <a:extLst/>
          </a:blip>
          <a:stretch>
            <a:fillRect/>
          </a:stretch>
        </p:blipFill>
        <p:spPr>
          <a:xfrm>
            <a:off x="5658932" y="4010859"/>
            <a:ext cx="1142794" cy="101601"/>
          </a:xfrm>
          <a:prstGeom prst="rect">
            <a:avLst/>
          </a:prstGeom>
        </p:spPr>
      </p:pic>
      <p:sp>
        <p:nvSpPr>
          <p:cNvPr id="715" name="Parametri:"/>
          <p:cNvSpPr txBox="1"/>
          <p:nvPr/>
        </p:nvSpPr>
        <p:spPr>
          <a:xfrm>
            <a:off x="326097" y="8600645"/>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716" name="În general, sunt două tipuri mari și late:"/>
          <p:cNvSpPr txBox="1"/>
          <p:nvPr/>
        </p:nvSpPr>
        <p:spPr>
          <a:xfrm>
            <a:off x="1009340" y="9558770"/>
            <a:ext cx="23048563" cy="13926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eps: raza după care se caută vecini</a:t>
            </a:r>
          </a:p>
        </p:txBody>
      </p:sp>
      <p:sp>
        <p:nvSpPr>
          <p:cNvPr id="717" name="În general, sunt două tipuri mari și late:"/>
          <p:cNvSpPr txBox="1"/>
          <p:nvPr/>
        </p:nvSpPr>
        <p:spPr>
          <a:xfrm>
            <a:off x="1009340" y="10547263"/>
            <a:ext cx="23048563"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min_samples: câte puncte trebuie să fie la o rază de eps de un punct ca să fie considerat core sau nu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711"/>
                                        </p:tgtEl>
                                        <p:attrNameLst>
                                          <p:attrName>style.visibility</p:attrName>
                                        </p:attrNameLst>
                                      </p:cBhvr>
                                      <p:to>
                                        <p:strVal val="visible"/>
                                      </p:to>
                                    </p:set>
                                    <p:animEffect filter="dissolve" transition="in">
                                      <p:cBhvr>
                                        <p:cTn id="7" dur="2000"/>
                                        <p:tgtEl>
                                          <p:spTgt spid="711"/>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713"/>
                                        </p:tgtEl>
                                        <p:attrNameLst>
                                          <p:attrName>style.visibility</p:attrName>
                                        </p:attrNameLst>
                                      </p:cBhvr>
                                      <p:to>
                                        <p:strVal val="visible"/>
                                      </p:to>
                                    </p:set>
                                    <p:animEffect filter="dissolve" transition="in">
                                      <p:cBhvr>
                                        <p:cTn id="11" dur="2000"/>
                                        <p:tgtEl>
                                          <p:spTgt spid="71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 grpId="3" fill="hold">
                                  <p:stCondLst>
                                    <p:cond delay="0"/>
                                  </p:stCondLst>
                                  <p:iterate type="el" backwards="0">
                                    <p:tmAbs val="0"/>
                                  </p:iterate>
                                  <p:childTnLst>
                                    <p:set>
                                      <p:cBhvr>
                                        <p:cTn id="15" fill="hold"/>
                                        <p:tgtEl>
                                          <p:spTgt spid="716"/>
                                        </p:tgtEl>
                                        <p:attrNameLst>
                                          <p:attrName>style.visibility</p:attrName>
                                        </p:attrNameLst>
                                      </p:cBhvr>
                                      <p:to>
                                        <p:strVal val="visible"/>
                                      </p:to>
                                    </p:set>
                                    <p:anim calcmode="lin" valueType="num">
                                      <p:cBhvr>
                                        <p:cTn id="16" dur="1000" fill="hold"/>
                                        <p:tgtEl>
                                          <p:spTgt spid="716"/>
                                        </p:tgtEl>
                                        <p:attrNameLst>
                                          <p:attrName>ppt_x</p:attrName>
                                        </p:attrNameLst>
                                      </p:cBhvr>
                                      <p:tavLst>
                                        <p:tav tm="0">
                                          <p:val>
                                            <p:strVal val="0-#ppt_w/2"/>
                                          </p:val>
                                        </p:tav>
                                        <p:tav tm="100000">
                                          <p:val>
                                            <p:strVal val="#ppt_x"/>
                                          </p:val>
                                        </p:tav>
                                      </p:tavLst>
                                    </p:anim>
                                    <p:anim calcmode="lin" valueType="num">
                                      <p:cBhvr>
                                        <p:cTn id="17" dur="1000" fill="hold"/>
                                        <p:tgtEl>
                                          <p:spTgt spid="71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 grpId="4" fill="hold">
                                  <p:stCondLst>
                                    <p:cond delay="0"/>
                                  </p:stCondLst>
                                  <p:iterate type="el" backwards="0">
                                    <p:tmAbs val="0"/>
                                  </p:iterate>
                                  <p:childTnLst>
                                    <p:set>
                                      <p:cBhvr>
                                        <p:cTn id="21" fill="hold"/>
                                        <p:tgtEl>
                                          <p:spTgt spid="717"/>
                                        </p:tgtEl>
                                        <p:attrNameLst>
                                          <p:attrName>style.visibility</p:attrName>
                                        </p:attrNameLst>
                                      </p:cBhvr>
                                      <p:to>
                                        <p:strVal val="visible"/>
                                      </p:to>
                                    </p:set>
                                    <p:anim calcmode="lin" valueType="num">
                                      <p:cBhvr>
                                        <p:cTn id="22" dur="1000" fill="hold"/>
                                        <p:tgtEl>
                                          <p:spTgt spid="717"/>
                                        </p:tgtEl>
                                        <p:attrNameLst>
                                          <p:attrName>ppt_x</p:attrName>
                                        </p:attrNameLst>
                                      </p:cBhvr>
                                      <p:tavLst>
                                        <p:tav tm="0">
                                          <p:val>
                                            <p:strVal val="0-#ppt_w/2"/>
                                          </p:val>
                                        </p:tav>
                                        <p:tav tm="100000">
                                          <p:val>
                                            <p:strVal val="#ppt_x"/>
                                          </p:val>
                                        </p:tav>
                                      </p:tavLst>
                                    </p:anim>
                                    <p:anim calcmode="lin" valueType="num">
                                      <p:cBhvr>
                                        <p:cTn id="23" dur="1000" fill="hold"/>
                                        <p:tgtEl>
                                          <p:spTgt spid="7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11" grpId="1"/>
      <p:bldP build="whole" bldLvl="1" animBg="1" rev="0" advAuto="0" spid="717" grpId="4"/>
      <p:bldP build="whole" bldLvl="1" animBg="1" rev="0" advAuto="0" spid="716" grpId="3"/>
      <p:bldP build="whole" bldLvl="1" animBg="1" rev="0" advAuto="0" spid="713" grpId="2"/>
    </p:bld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720" name="Captură de ecran din 2024-11-04 la 11.45.15.png" descr="Captură de ecran din 2024-11-04 la 11.45.15.png"/>
          <p:cNvPicPr>
            <a:picLocks noChangeAspect="1"/>
          </p:cNvPicPr>
          <p:nvPr/>
        </p:nvPicPr>
        <p:blipFill>
          <a:blip r:embed="rId2">
            <a:extLst/>
          </a:blip>
          <a:stretch>
            <a:fillRect/>
          </a:stretch>
        </p:blipFill>
        <p:spPr>
          <a:xfrm>
            <a:off x="737316" y="3674919"/>
            <a:ext cx="12786774" cy="5216645"/>
          </a:xfrm>
          <a:prstGeom prst="rect">
            <a:avLst/>
          </a:prstGeom>
          <a:ln w="12700">
            <a:miter lim="400000"/>
          </a:ln>
        </p:spPr>
      </p:pic>
      <p:pic>
        <p:nvPicPr>
          <p:cNvPr id="721" name="Linie Linie" descr="Linie Linie"/>
          <p:cNvPicPr>
            <a:picLocks noChangeAspect="0"/>
          </p:cNvPicPr>
          <p:nvPr/>
        </p:nvPicPr>
        <p:blipFill>
          <a:blip r:embed="rId3">
            <a:extLst/>
          </a:blip>
          <a:stretch>
            <a:fillRect/>
          </a:stretch>
        </p:blipFill>
        <p:spPr>
          <a:xfrm>
            <a:off x="4595527" y="4383076"/>
            <a:ext cx="842526" cy="101601"/>
          </a:xfrm>
          <a:prstGeom prst="rect">
            <a:avLst/>
          </a:prstGeom>
        </p:spPr>
      </p:pic>
      <p:pic>
        <p:nvPicPr>
          <p:cNvPr id="723" name="Linie Linie" descr="Linie Linie"/>
          <p:cNvPicPr>
            <a:picLocks noChangeAspect="0"/>
          </p:cNvPicPr>
          <p:nvPr/>
        </p:nvPicPr>
        <p:blipFill>
          <a:blip r:embed="rId4">
            <a:extLst/>
          </a:blip>
          <a:stretch>
            <a:fillRect/>
          </a:stretch>
        </p:blipFill>
        <p:spPr>
          <a:xfrm>
            <a:off x="2624978" y="5315384"/>
            <a:ext cx="710661" cy="101601"/>
          </a:xfrm>
          <a:prstGeom prst="rect">
            <a:avLst/>
          </a:prstGeom>
        </p:spPr>
      </p:pic>
      <p:sp>
        <p:nvSpPr>
          <p:cNvPr id="725" name="Afișez:"/>
          <p:cNvSpPr txBox="1"/>
          <p:nvPr/>
        </p:nvSpPr>
        <p:spPr>
          <a:xfrm>
            <a:off x="14124199" y="2706372"/>
            <a:ext cx="181249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Afișez:</a:t>
            </a:r>
          </a:p>
        </p:txBody>
      </p:sp>
      <p:sp>
        <p:nvSpPr>
          <p:cNvPr id="726" name="În general, sunt două tipuri mari și late:"/>
          <p:cNvSpPr txBox="1"/>
          <p:nvPr/>
        </p:nvSpPr>
        <p:spPr>
          <a:xfrm>
            <a:off x="14658522" y="3374606"/>
            <a:ext cx="8604214" cy="256405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18794" indent="-518794" defTabSz="2316421">
              <a:spcBef>
                <a:spcPts val="2200"/>
              </a:spcBef>
              <a:buSzPct val="150000"/>
              <a:buChar char="•"/>
              <a:defRPr sz="4180">
                <a:solidFill>
                  <a:schemeClr val="accent1"/>
                </a:solidFill>
                <a:latin typeface="Canela Text Regular"/>
                <a:ea typeface="Canela Text Regular"/>
                <a:cs typeface="Canela Text Regular"/>
                <a:sym typeface="Canela Text Regular"/>
              </a:defRPr>
            </a:lvl1pPr>
          </a:lstStyle>
          <a:p>
            <a:pPr/>
            <a:r>
              <a:t>Primele 10 etichete ale clusterelor atribuite fiecărui punct din setul de date (-1 e outlier)</a:t>
            </a:r>
          </a:p>
        </p:txBody>
      </p:sp>
      <p:sp>
        <p:nvSpPr>
          <p:cNvPr id="727" name="În general, sunt două tipuri mari și late:"/>
          <p:cNvSpPr txBox="1"/>
          <p:nvPr/>
        </p:nvSpPr>
        <p:spPr>
          <a:xfrm>
            <a:off x="14658522" y="5767707"/>
            <a:ext cx="8604214" cy="28499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2"/>
                </a:solidFill>
                <a:latin typeface="Canela Text Regular"/>
                <a:ea typeface="Canela Text Regular"/>
                <a:cs typeface="Canela Text Regular"/>
                <a:sym typeface="Canela Text Regular"/>
              </a:defRPr>
            </a:lvl1pPr>
          </a:lstStyle>
          <a:p>
            <a:pPr/>
            <a:r>
              <a:t>Numărul total de core points identificate de DBSCAN în setul de date</a:t>
            </a:r>
          </a:p>
        </p:txBody>
      </p:sp>
      <p:sp>
        <p:nvSpPr>
          <p:cNvPr id="728" name="În general, sunt două tipuri mari și late:"/>
          <p:cNvSpPr txBox="1"/>
          <p:nvPr/>
        </p:nvSpPr>
        <p:spPr>
          <a:xfrm>
            <a:off x="14658522" y="8198265"/>
            <a:ext cx="8604214" cy="18874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3"/>
                </a:solidFill>
                <a:latin typeface="Canela Text Regular"/>
                <a:ea typeface="Canela Text Regular"/>
                <a:cs typeface="Canela Text Regular"/>
                <a:sym typeface="Canela Text Regular"/>
              </a:defRPr>
            </a:lvl1pPr>
          </a:lstStyle>
          <a:p>
            <a:pPr/>
            <a:r>
              <a:t>Indecșii punctelor core în setul de date</a:t>
            </a:r>
          </a:p>
        </p:txBody>
      </p:sp>
      <p:sp>
        <p:nvSpPr>
          <p:cNvPr id="729" name="În general, sunt două tipuri mari și late:"/>
          <p:cNvSpPr txBox="1"/>
          <p:nvPr/>
        </p:nvSpPr>
        <p:spPr>
          <a:xfrm>
            <a:off x="14658522" y="9992066"/>
            <a:ext cx="8604214" cy="13025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4"/>
                </a:solidFill>
                <a:latin typeface="Canela Text Regular"/>
                <a:ea typeface="Canela Text Regular"/>
                <a:cs typeface="Canela Text Regular"/>
                <a:sym typeface="Canela Text Regular"/>
              </a:defRPr>
            </a:lvl1pPr>
          </a:lstStyle>
          <a:p>
            <a:pPr/>
            <a:r>
              <a:t>Caracteristicile punctelor core</a:t>
            </a:r>
          </a:p>
        </p:txBody>
      </p:sp>
      <p:pic>
        <p:nvPicPr>
          <p:cNvPr id="730" name="Linie Linie" descr="Linie Linie"/>
          <p:cNvPicPr>
            <a:picLocks noChangeAspect="0"/>
          </p:cNvPicPr>
          <p:nvPr/>
        </p:nvPicPr>
        <p:blipFill>
          <a:blip r:embed="rId5">
            <a:extLst/>
          </a:blip>
          <a:stretch>
            <a:fillRect/>
          </a:stretch>
        </p:blipFill>
        <p:spPr>
          <a:xfrm rot="10800000">
            <a:off x="7029281" y="6395599"/>
            <a:ext cx="2561590" cy="171597"/>
          </a:xfrm>
          <a:prstGeom prst="rect">
            <a:avLst/>
          </a:prstGeom>
        </p:spPr>
      </p:pic>
      <p:pic>
        <p:nvPicPr>
          <p:cNvPr id="732" name="Linie Linie" descr="Linie Linie"/>
          <p:cNvPicPr>
            <a:picLocks noChangeAspect="0"/>
          </p:cNvPicPr>
          <p:nvPr/>
        </p:nvPicPr>
        <p:blipFill>
          <a:blip r:embed="rId6">
            <a:extLst/>
          </a:blip>
          <a:stretch>
            <a:fillRect/>
          </a:stretch>
        </p:blipFill>
        <p:spPr>
          <a:xfrm rot="10800000">
            <a:off x="2511709" y="6542288"/>
            <a:ext cx="2561590" cy="171597"/>
          </a:xfrm>
          <a:prstGeom prst="rect">
            <a:avLst/>
          </a:prstGeom>
        </p:spPr>
      </p:pic>
      <p:pic>
        <p:nvPicPr>
          <p:cNvPr id="734" name="Linie Linie" descr="Linie Linie"/>
          <p:cNvPicPr>
            <a:picLocks noChangeAspect="0"/>
          </p:cNvPicPr>
          <p:nvPr/>
        </p:nvPicPr>
        <p:blipFill>
          <a:blip r:embed="rId7">
            <a:extLst/>
          </a:blip>
          <a:stretch>
            <a:fillRect/>
          </a:stretch>
        </p:blipFill>
        <p:spPr>
          <a:xfrm rot="10800000">
            <a:off x="7029281" y="6673384"/>
            <a:ext cx="2561590" cy="171597"/>
          </a:xfrm>
          <a:prstGeom prst="rect">
            <a:avLst/>
          </a:prstGeom>
        </p:spPr>
      </p:pic>
      <p:pic>
        <p:nvPicPr>
          <p:cNvPr id="736" name="Linie Linie" descr="Linie Linie"/>
          <p:cNvPicPr>
            <a:picLocks noChangeAspect="0"/>
          </p:cNvPicPr>
          <p:nvPr/>
        </p:nvPicPr>
        <p:blipFill>
          <a:blip r:embed="rId8">
            <a:extLst/>
          </a:blip>
          <a:stretch>
            <a:fillRect/>
          </a:stretch>
        </p:blipFill>
        <p:spPr>
          <a:xfrm rot="10800000">
            <a:off x="6197050" y="7802249"/>
            <a:ext cx="2561590" cy="171597"/>
          </a:xfrm>
          <a:prstGeom prst="rect">
            <a:avLst/>
          </a:prstGeom>
        </p:spPr>
      </p:pic>
      <p:pic>
        <p:nvPicPr>
          <p:cNvPr id="738" name="Linie Linie" descr="Linie Linie"/>
          <p:cNvPicPr>
            <a:picLocks noChangeAspect="0"/>
          </p:cNvPicPr>
          <p:nvPr/>
        </p:nvPicPr>
        <p:blipFill>
          <a:blip r:embed="rId9">
            <a:extLst/>
          </a:blip>
          <a:stretch>
            <a:fillRect/>
          </a:stretch>
        </p:blipFill>
        <p:spPr>
          <a:xfrm>
            <a:off x="1572107" y="6085370"/>
            <a:ext cx="2222443" cy="101601"/>
          </a:xfrm>
          <a:prstGeom prst="rect">
            <a:avLst/>
          </a:prstGeom>
        </p:spPr>
      </p:pic>
      <p:pic>
        <p:nvPicPr>
          <p:cNvPr id="740" name="Linie Linie" descr="Linie Linie"/>
          <p:cNvPicPr>
            <a:picLocks noChangeAspect="0"/>
          </p:cNvPicPr>
          <p:nvPr/>
        </p:nvPicPr>
        <p:blipFill>
          <a:blip r:embed="rId10">
            <a:extLst/>
          </a:blip>
          <a:stretch>
            <a:fillRect/>
          </a:stretch>
        </p:blipFill>
        <p:spPr>
          <a:xfrm>
            <a:off x="3905569" y="6085370"/>
            <a:ext cx="3471541" cy="101601"/>
          </a:xfrm>
          <a:prstGeom prst="rect">
            <a:avLst/>
          </a:prstGeom>
        </p:spPr>
      </p:pic>
      <p:pic>
        <p:nvPicPr>
          <p:cNvPr id="742" name="Linie Linie" descr="Linie Linie"/>
          <p:cNvPicPr>
            <a:picLocks noChangeAspect="0"/>
          </p:cNvPicPr>
          <p:nvPr/>
        </p:nvPicPr>
        <p:blipFill>
          <a:blip r:embed="rId11">
            <a:extLst/>
          </a:blip>
          <a:stretch>
            <a:fillRect/>
          </a:stretch>
        </p:blipFill>
        <p:spPr>
          <a:xfrm>
            <a:off x="7488239" y="6085370"/>
            <a:ext cx="3476594" cy="101601"/>
          </a:xfrm>
          <a:prstGeom prst="rect">
            <a:avLst/>
          </a:prstGeom>
        </p:spPr>
      </p:pic>
      <p:pic>
        <p:nvPicPr>
          <p:cNvPr id="744" name="Linie Linie" descr="Linie Linie"/>
          <p:cNvPicPr>
            <a:picLocks noChangeAspect="0"/>
          </p:cNvPicPr>
          <p:nvPr/>
        </p:nvPicPr>
        <p:blipFill>
          <a:blip r:embed="rId12">
            <a:extLst/>
          </a:blip>
          <a:stretch>
            <a:fillRect/>
          </a:stretch>
        </p:blipFill>
        <p:spPr>
          <a:xfrm>
            <a:off x="11075852" y="6085370"/>
            <a:ext cx="2222442"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726"/>
                                        </p:tgtEl>
                                        <p:attrNameLst>
                                          <p:attrName>style.visibility</p:attrName>
                                        </p:attrNameLst>
                                      </p:cBhvr>
                                      <p:to>
                                        <p:strVal val="visible"/>
                                      </p:to>
                                    </p:set>
                                    <p:anim calcmode="lin" valueType="num">
                                      <p:cBhvr>
                                        <p:cTn id="7" dur="1000" fill="hold"/>
                                        <p:tgtEl>
                                          <p:spTgt spid="726"/>
                                        </p:tgtEl>
                                        <p:attrNameLst>
                                          <p:attrName>ppt_x</p:attrName>
                                        </p:attrNameLst>
                                      </p:cBhvr>
                                      <p:tavLst>
                                        <p:tav tm="0">
                                          <p:val>
                                            <p:strVal val="0-#ppt_w/2"/>
                                          </p:val>
                                        </p:tav>
                                        <p:tav tm="100000">
                                          <p:val>
                                            <p:strVal val="#ppt_x"/>
                                          </p:val>
                                        </p:tav>
                                      </p:tavLst>
                                    </p:anim>
                                    <p:anim calcmode="lin" valueType="num">
                                      <p:cBhvr>
                                        <p:cTn id="8" dur="1000" fill="hold"/>
                                        <p:tgtEl>
                                          <p:spTgt spid="72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738"/>
                                        </p:tgtEl>
                                        <p:attrNameLst>
                                          <p:attrName>style.visibility</p:attrName>
                                        </p:attrNameLst>
                                      </p:cBhvr>
                                      <p:to>
                                        <p:strVal val="visible"/>
                                      </p:to>
                                    </p:set>
                                    <p:animEffect filter="dissolve" transition="in">
                                      <p:cBhvr>
                                        <p:cTn id="12" dur="2000"/>
                                        <p:tgtEl>
                                          <p:spTgt spid="738"/>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730"/>
                                        </p:tgtEl>
                                        <p:attrNameLst>
                                          <p:attrName>style.visibility</p:attrName>
                                        </p:attrNameLst>
                                      </p:cBhvr>
                                      <p:to>
                                        <p:strVal val="visible"/>
                                      </p:to>
                                    </p:set>
                                    <p:animEffect filter="dissolve" transition="in">
                                      <p:cBhvr>
                                        <p:cTn id="16" dur="2000"/>
                                        <p:tgtEl>
                                          <p:spTgt spid="73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727"/>
                                        </p:tgtEl>
                                        <p:attrNameLst>
                                          <p:attrName>style.visibility</p:attrName>
                                        </p:attrNameLst>
                                      </p:cBhvr>
                                      <p:to>
                                        <p:strVal val="visible"/>
                                      </p:to>
                                    </p:set>
                                    <p:anim calcmode="lin" valueType="num">
                                      <p:cBhvr>
                                        <p:cTn id="21" dur="1000" fill="hold"/>
                                        <p:tgtEl>
                                          <p:spTgt spid="727"/>
                                        </p:tgtEl>
                                        <p:attrNameLst>
                                          <p:attrName>ppt_x</p:attrName>
                                        </p:attrNameLst>
                                      </p:cBhvr>
                                      <p:tavLst>
                                        <p:tav tm="0">
                                          <p:val>
                                            <p:strVal val="0-#ppt_w/2"/>
                                          </p:val>
                                        </p:tav>
                                        <p:tav tm="100000">
                                          <p:val>
                                            <p:strVal val="#ppt_x"/>
                                          </p:val>
                                        </p:tav>
                                      </p:tavLst>
                                    </p:anim>
                                    <p:anim calcmode="lin" valueType="num">
                                      <p:cBhvr>
                                        <p:cTn id="22" dur="1000" fill="hold"/>
                                        <p:tgtEl>
                                          <p:spTgt spid="727"/>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740"/>
                                        </p:tgtEl>
                                        <p:attrNameLst>
                                          <p:attrName>style.visibility</p:attrName>
                                        </p:attrNameLst>
                                      </p:cBhvr>
                                      <p:to>
                                        <p:strVal val="visible"/>
                                      </p:to>
                                    </p:set>
                                    <p:animEffect filter="dissolve" transition="in">
                                      <p:cBhvr>
                                        <p:cTn id="26" dur="2000"/>
                                        <p:tgtEl>
                                          <p:spTgt spid="740"/>
                                        </p:tgtEl>
                                      </p:cBhvr>
                                    </p:animEffect>
                                  </p:childTnLst>
                                </p:cTn>
                              </p:par>
                            </p:childTnLst>
                          </p:cTn>
                        </p:par>
                        <p:par>
                          <p:cTn id="27" fill="hold">
                            <p:stCondLst>
                              <p:cond delay="3000"/>
                            </p:stCondLst>
                            <p:childTnLst>
                              <p:par>
                                <p:cTn id="28" presetClass="entr" nodeType="afterEffect" presetID="9" grpId="6" fill="hold">
                                  <p:stCondLst>
                                    <p:cond delay="0"/>
                                  </p:stCondLst>
                                  <p:iterate type="el" backwards="0">
                                    <p:tmAbs val="0"/>
                                  </p:iterate>
                                  <p:childTnLst>
                                    <p:set>
                                      <p:cBhvr>
                                        <p:cTn id="29" fill="hold"/>
                                        <p:tgtEl>
                                          <p:spTgt spid="732"/>
                                        </p:tgtEl>
                                        <p:attrNameLst>
                                          <p:attrName>style.visibility</p:attrName>
                                        </p:attrNameLst>
                                      </p:cBhvr>
                                      <p:to>
                                        <p:strVal val="visible"/>
                                      </p:to>
                                    </p:set>
                                    <p:animEffect filter="dissolve" transition="in">
                                      <p:cBhvr>
                                        <p:cTn id="30" dur="2000"/>
                                        <p:tgtEl>
                                          <p:spTgt spid="732"/>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8" presetID="2" grpId="7" fill="hold">
                                  <p:stCondLst>
                                    <p:cond delay="0"/>
                                  </p:stCondLst>
                                  <p:iterate type="el" backwards="0">
                                    <p:tmAbs val="0"/>
                                  </p:iterate>
                                  <p:childTnLst>
                                    <p:set>
                                      <p:cBhvr>
                                        <p:cTn id="34" fill="hold"/>
                                        <p:tgtEl>
                                          <p:spTgt spid="728"/>
                                        </p:tgtEl>
                                        <p:attrNameLst>
                                          <p:attrName>style.visibility</p:attrName>
                                        </p:attrNameLst>
                                      </p:cBhvr>
                                      <p:to>
                                        <p:strVal val="visible"/>
                                      </p:to>
                                    </p:set>
                                    <p:anim calcmode="lin" valueType="num">
                                      <p:cBhvr>
                                        <p:cTn id="35" dur="1000" fill="hold"/>
                                        <p:tgtEl>
                                          <p:spTgt spid="728"/>
                                        </p:tgtEl>
                                        <p:attrNameLst>
                                          <p:attrName>ppt_x</p:attrName>
                                        </p:attrNameLst>
                                      </p:cBhvr>
                                      <p:tavLst>
                                        <p:tav tm="0">
                                          <p:val>
                                            <p:strVal val="0-#ppt_w/2"/>
                                          </p:val>
                                        </p:tav>
                                        <p:tav tm="100000">
                                          <p:val>
                                            <p:strVal val="#ppt_x"/>
                                          </p:val>
                                        </p:tav>
                                      </p:tavLst>
                                    </p:anim>
                                    <p:anim calcmode="lin" valueType="num">
                                      <p:cBhvr>
                                        <p:cTn id="36" dur="1000" fill="hold"/>
                                        <p:tgtEl>
                                          <p:spTgt spid="728"/>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Class="entr" nodeType="afterEffect" presetID="9" grpId="8" fill="hold">
                                  <p:stCondLst>
                                    <p:cond delay="0"/>
                                  </p:stCondLst>
                                  <p:iterate type="el" backwards="0">
                                    <p:tmAbs val="0"/>
                                  </p:iterate>
                                  <p:childTnLst>
                                    <p:set>
                                      <p:cBhvr>
                                        <p:cTn id="39" fill="hold"/>
                                        <p:tgtEl>
                                          <p:spTgt spid="742"/>
                                        </p:tgtEl>
                                        <p:attrNameLst>
                                          <p:attrName>style.visibility</p:attrName>
                                        </p:attrNameLst>
                                      </p:cBhvr>
                                      <p:to>
                                        <p:strVal val="visible"/>
                                      </p:to>
                                    </p:set>
                                    <p:animEffect filter="dissolve" transition="in">
                                      <p:cBhvr>
                                        <p:cTn id="40" dur="2000"/>
                                        <p:tgtEl>
                                          <p:spTgt spid="742"/>
                                        </p:tgtEl>
                                      </p:cBhvr>
                                    </p:animEffect>
                                  </p:childTnLst>
                                </p:cTn>
                              </p:par>
                            </p:childTnLst>
                          </p:cTn>
                        </p:par>
                        <p:par>
                          <p:cTn id="41" fill="hold">
                            <p:stCondLst>
                              <p:cond delay="3000"/>
                            </p:stCondLst>
                            <p:childTnLst>
                              <p:par>
                                <p:cTn id="42" presetClass="entr" nodeType="afterEffect" presetID="9" grpId="9" fill="hold">
                                  <p:stCondLst>
                                    <p:cond delay="0"/>
                                  </p:stCondLst>
                                  <p:iterate type="el" backwards="0">
                                    <p:tmAbs val="0"/>
                                  </p:iterate>
                                  <p:childTnLst>
                                    <p:set>
                                      <p:cBhvr>
                                        <p:cTn id="43" fill="hold"/>
                                        <p:tgtEl>
                                          <p:spTgt spid="734"/>
                                        </p:tgtEl>
                                        <p:attrNameLst>
                                          <p:attrName>style.visibility</p:attrName>
                                        </p:attrNameLst>
                                      </p:cBhvr>
                                      <p:to>
                                        <p:strVal val="visible"/>
                                      </p:to>
                                    </p:set>
                                    <p:animEffect filter="dissolve" transition="in">
                                      <p:cBhvr>
                                        <p:cTn id="44" dur="2000"/>
                                        <p:tgtEl>
                                          <p:spTgt spid="734"/>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8" presetID="2" grpId="10" fill="hold">
                                  <p:stCondLst>
                                    <p:cond delay="0"/>
                                  </p:stCondLst>
                                  <p:iterate type="el" backwards="0">
                                    <p:tmAbs val="0"/>
                                  </p:iterate>
                                  <p:childTnLst>
                                    <p:set>
                                      <p:cBhvr>
                                        <p:cTn id="48" fill="hold"/>
                                        <p:tgtEl>
                                          <p:spTgt spid="729"/>
                                        </p:tgtEl>
                                        <p:attrNameLst>
                                          <p:attrName>style.visibility</p:attrName>
                                        </p:attrNameLst>
                                      </p:cBhvr>
                                      <p:to>
                                        <p:strVal val="visible"/>
                                      </p:to>
                                    </p:set>
                                    <p:anim calcmode="lin" valueType="num">
                                      <p:cBhvr>
                                        <p:cTn id="49" dur="1000" fill="hold"/>
                                        <p:tgtEl>
                                          <p:spTgt spid="729"/>
                                        </p:tgtEl>
                                        <p:attrNameLst>
                                          <p:attrName>ppt_x</p:attrName>
                                        </p:attrNameLst>
                                      </p:cBhvr>
                                      <p:tavLst>
                                        <p:tav tm="0">
                                          <p:val>
                                            <p:strVal val="0-#ppt_w/2"/>
                                          </p:val>
                                        </p:tav>
                                        <p:tav tm="100000">
                                          <p:val>
                                            <p:strVal val="#ppt_x"/>
                                          </p:val>
                                        </p:tav>
                                      </p:tavLst>
                                    </p:anim>
                                    <p:anim calcmode="lin" valueType="num">
                                      <p:cBhvr>
                                        <p:cTn id="50" dur="1000" fill="hold"/>
                                        <p:tgtEl>
                                          <p:spTgt spid="729"/>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Class="entr" nodeType="afterEffect" presetID="9" grpId="11" fill="hold">
                                  <p:stCondLst>
                                    <p:cond delay="0"/>
                                  </p:stCondLst>
                                  <p:iterate type="el" backwards="0">
                                    <p:tmAbs val="0"/>
                                  </p:iterate>
                                  <p:childTnLst>
                                    <p:set>
                                      <p:cBhvr>
                                        <p:cTn id="53" fill="hold"/>
                                        <p:tgtEl>
                                          <p:spTgt spid="744"/>
                                        </p:tgtEl>
                                        <p:attrNameLst>
                                          <p:attrName>style.visibility</p:attrName>
                                        </p:attrNameLst>
                                      </p:cBhvr>
                                      <p:to>
                                        <p:strVal val="visible"/>
                                      </p:to>
                                    </p:set>
                                    <p:animEffect filter="dissolve" transition="in">
                                      <p:cBhvr>
                                        <p:cTn id="54" dur="2000"/>
                                        <p:tgtEl>
                                          <p:spTgt spid="744"/>
                                        </p:tgtEl>
                                      </p:cBhvr>
                                    </p:animEffect>
                                  </p:childTnLst>
                                </p:cTn>
                              </p:par>
                            </p:childTnLst>
                          </p:cTn>
                        </p:par>
                        <p:par>
                          <p:cTn id="55" fill="hold">
                            <p:stCondLst>
                              <p:cond delay="3000"/>
                            </p:stCondLst>
                            <p:childTnLst>
                              <p:par>
                                <p:cTn id="56" presetClass="entr" nodeType="afterEffect" presetID="9" grpId="12" fill="hold">
                                  <p:stCondLst>
                                    <p:cond delay="0"/>
                                  </p:stCondLst>
                                  <p:iterate type="el" backwards="0">
                                    <p:tmAbs val="0"/>
                                  </p:iterate>
                                  <p:childTnLst>
                                    <p:set>
                                      <p:cBhvr>
                                        <p:cTn id="57" fill="hold"/>
                                        <p:tgtEl>
                                          <p:spTgt spid="736"/>
                                        </p:tgtEl>
                                        <p:attrNameLst>
                                          <p:attrName>style.visibility</p:attrName>
                                        </p:attrNameLst>
                                      </p:cBhvr>
                                      <p:to>
                                        <p:strVal val="visible"/>
                                      </p:to>
                                    </p:set>
                                    <p:animEffect filter="dissolve" transition="in">
                                      <p:cBhvr>
                                        <p:cTn id="58" dur="2000"/>
                                        <p:tgtEl>
                                          <p:spTgt spid="7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29" grpId="10"/>
      <p:bldP build="whole" bldLvl="1" animBg="1" rev="0" advAuto="0" spid="744" grpId="11"/>
      <p:bldP build="whole" bldLvl="1" animBg="1" rev="0" advAuto="0" spid="732" grpId="6"/>
      <p:bldP build="whole" bldLvl="1" animBg="1" rev="0" advAuto="0" spid="726" grpId="1"/>
      <p:bldP build="whole" bldLvl="1" animBg="1" rev="0" advAuto="0" spid="727" grpId="4"/>
      <p:bldP build="whole" bldLvl="1" animBg="1" rev="0" advAuto="0" spid="738" grpId="2"/>
      <p:bldP build="whole" bldLvl="1" animBg="1" rev="0" advAuto="0" spid="742" grpId="8"/>
      <p:bldP build="whole" bldLvl="1" animBg="1" rev="0" advAuto="0" spid="734" grpId="9"/>
      <p:bldP build="whole" bldLvl="1" animBg="1" rev="0" advAuto="0" spid="730" grpId="3"/>
      <p:bldP build="whole" bldLvl="1" animBg="1" rev="0" advAuto="0" spid="728" grpId="7"/>
      <p:bldP build="whole" bldLvl="1" animBg="1" rev="0" advAuto="0" spid="740" grpId="5"/>
      <p:bldP build="whole" bldLvl="1" animBg="1" rev="0" advAuto="0" spid="736" grpId="12"/>
    </p:bldLst>
  </p:timing>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48" name="În general, sunt două tipuri mari și late:"/>
          <p:cNvSpPr txBox="1"/>
          <p:nvPr/>
        </p:nvSpPr>
        <p:spPr>
          <a:xfrm>
            <a:off x="230735" y="2905956"/>
            <a:ext cx="22965398"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Dacă pentru un set de date, pe lângă X avem și y, adică output-urile, atunci există metode prin care putem vedea cât de bun este o metodă de clusterizare</a:t>
            </a:r>
          </a:p>
        </p:txBody>
      </p:sp>
      <p:sp>
        <p:nvSpPr>
          <p:cNvPr id="749" name="În general, sunt două tipuri mari și late:"/>
          <p:cNvSpPr txBox="1"/>
          <p:nvPr/>
        </p:nvSpPr>
        <p:spPr>
          <a:xfrm>
            <a:off x="230735" y="5093048"/>
            <a:ext cx="22965398"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În practică, de obicei avem doar exemplarele X și evaluarea a cât de bun este o metodă de clusterizare față de alta este foarte dificilă</a:t>
            </a:r>
          </a:p>
        </p:txBody>
      </p:sp>
      <p:sp>
        <p:nvSpPr>
          <p:cNvPr id="750" name="În general, sunt două tipuri mari și late:"/>
          <p:cNvSpPr txBox="1"/>
          <p:nvPr/>
        </p:nvSpPr>
        <p:spPr>
          <a:xfrm>
            <a:off x="230735" y="7280140"/>
            <a:ext cx="22965398" cy="14111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Totuși, există metrici care sunt folosite în dezvoltarea de noi algoritmi de clustering</a:t>
            </a:r>
          </a:p>
        </p:txBody>
      </p:sp>
      <p:sp>
        <p:nvSpPr>
          <p:cNvPr id="751" name="În general, sunt două tipuri mari și late:"/>
          <p:cNvSpPr txBox="1"/>
          <p:nvPr/>
        </p:nvSpPr>
        <p:spPr>
          <a:xfrm>
            <a:off x="230735" y="8871737"/>
            <a:ext cx="22965398" cy="23916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În acest caz, se va folosi o metodă de clusterizare pe X, iar mai apoi clusterele se vor compara cu ce există deja în 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754" name="Captură de ecran din 2024-11-04 la 12.22.34.png" descr="Captură de ecran din 2024-11-04 la 12.22.34.png"/>
          <p:cNvPicPr>
            <a:picLocks noChangeAspect="1"/>
          </p:cNvPicPr>
          <p:nvPr/>
        </p:nvPicPr>
        <p:blipFill>
          <a:blip r:embed="rId2">
            <a:extLst/>
          </a:blip>
          <a:stretch>
            <a:fillRect/>
          </a:stretch>
        </p:blipFill>
        <p:spPr>
          <a:xfrm>
            <a:off x="1793933" y="3012901"/>
            <a:ext cx="19396557" cy="6603968"/>
          </a:xfrm>
          <a:prstGeom prst="rect">
            <a:avLst/>
          </a:prstGeom>
          <a:ln w="12700">
            <a:miter lim="400000"/>
          </a:ln>
        </p:spPr>
      </p:pic>
      <p:sp>
        <p:nvSpPr>
          <p:cNvPr id="755" name="Afișarea scorului de clusterizare pe setul de test folosind 3 metode"/>
          <p:cNvSpPr txBox="1"/>
          <p:nvPr/>
        </p:nvSpPr>
        <p:spPr>
          <a:xfrm>
            <a:off x="1894742" y="10136515"/>
            <a:ext cx="164614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Afișarea scorului de clusterizare pe setul de test folosind 3 metode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758" name="Captură de ecran din 2024-11-04 la 12.22.34.png" descr="Captură de ecran din 2024-11-04 la 12.22.34.png"/>
          <p:cNvPicPr>
            <a:picLocks noChangeAspect="1"/>
          </p:cNvPicPr>
          <p:nvPr/>
        </p:nvPicPr>
        <p:blipFill>
          <a:blip r:embed="rId2">
            <a:extLst/>
          </a:blip>
          <a:stretch>
            <a:fillRect/>
          </a:stretch>
        </p:blipFill>
        <p:spPr>
          <a:xfrm>
            <a:off x="557878" y="5076532"/>
            <a:ext cx="12430720" cy="4232302"/>
          </a:xfrm>
          <a:prstGeom prst="rect">
            <a:avLst/>
          </a:prstGeom>
          <a:ln w="12700">
            <a:miter lim="400000"/>
          </a:ln>
        </p:spPr>
      </p:pic>
      <p:sp>
        <p:nvSpPr>
          <p:cNvPr id="759" name="Afișez:"/>
          <p:cNvSpPr txBox="1"/>
          <p:nvPr/>
        </p:nvSpPr>
        <p:spPr>
          <a:xfrm>
            <a:off x="13524900" y="4071742"/>
            <a:ext cx="181249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Afișez:</a:t>
            </a:r>
          </a:p>
        </p:txBody>
      </p:sp>
      <p:sp>
        <p:nvSpPr>
          <p:cNvPr id="760" name="În general, sunt două tipuri mari și late:"/>
          <p:cNvSpPr txBox="1"/>
          <p:nvPr/>
        </p:nvSpPr>
        <p:spPr>
          <a:xfrm>
            <a:off x="14059222" y="4739976"/>
            <a:ext cx="8604215" cy="256405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1"/>
                </a:solidFill>
                <a:latin typeface="Canela Text Regular"/>
                <a:ea typeface="Canela Text Regular"/>
                <a:cs typeface="Canela Text Regular"/>
                <a:sym typeface="Canela Text Regular"/>
              </a:defRPr>
            </a:lvl1pPr>
          </a:lstStyle>
          <a:p>
            <a:pPr/>
            <a:r>
              <a:t>Adjusted Rand Score pe test</a:t>
            </a:r>
          </a:p>
        </p:txBody>
      </p:sp>
      <p:sp>
        <p:nvSpPr>
          <p:cNvPr id="761" name="În general, sunt două tipuri mari și late:"/>
          <p:cNvSpPr txBox="1"/>
          <p:nvPr/>
        </p:nvSpPr>
        <p:spPr>
          <a:xfrm>
            <a:off x="14059222" y="5859819"/>
            <a:ext cx="8604215" cy="28499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2"/>
                </a:solidFill>
                <a:latin typeface="Canela Text Regular"/>
                <a:ea typeface="Canela Text Regular"/>
                <a:cs typeface="Canela Text Regular"/>
                <a:sym typeface="Canela Text Regular"/>
              </a:defRPr>
            </a:lvl1pPr>
          </a:lstStyle>
          <a:p>
            <a:pPr/>
            <a:r>
              <a:t>Normalized Mutual Info Score pe test</a:t>
            </a:r>
          </a:p>
        </p:txBody>
      </p:sp>
      <p:sp>
        <p:nvSpPr>
          <p:cNvPr id="762" name="În general, sunt două tipuri mari și late:"/>
          <p:cNvSpPr txBox="1"/>
          <p:nvPr/>
        </p:nvSpPr>
        <p:spPr>
          <a:xfrm>
            <a:off x="14059222" y="7756828"/>
            <a:ext cx="8604215" cy="18874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3"/>
                </a:solidFill>
                <a:latin typeface="Canela Text Regular"/>
                <a:ea typeface="Canela Text Regular"/>
                <a:cs typeface="Canela Text Regular"/>
                <a:sym typeface="Canela Text Regular"/>
              </a:defRPr>
            </a:lvl1pPr>
          </a:lstStyle>
          <a:p>
            <a:pPr/>
            <a:r>
              <a:t>Silhouette Score pe test</a:t>
            </a:r>
          </a:p>
        </p:txBody>
      </p:sp>
      <p:pic>
        <p:nvPicPr>
          <p:cNvPr id="763" name="Linie Linie" descr="Linie Linie"/>
          <p:cNvPicPr>
            <a:picLocks noChangeAspect="0"/>
          </p:cNvPicPr>
          <p:nvPr/>
        </p:nvPicPr>
        <p:blipFill>
          <a:blip r:embed="rId3">
            <a:extLst/>
          </a:blip>
          <a:stretch>
            <a:fillRect/>
          </a:stretch>
        </p:blipFill>
        <p:spPr>
          <a:xfrm rot="16200000">
            <a:off x="1405273" y="9660434"/>
            <a:ext cx="1323330" cy="171597"/>
          </a:xfrm>
          <a:prstGeom prst="rect">
            <a:avLst/>
          </a:prstGeom>
        </p:spPr>
      </p:pic>
      <p:pic>
        <p:nvPicPr>
          <p:cNvPr id="765" name="Linie Linie" descr="Linie Linie"/>
          <p:cNvPicPr>
            <a:picLocks noChangeAspect="0"/>
          </p:cNvPicPr>
          <p:nvPr/>
        </p:nvPicPr>
        <p:blipFill>
          <a:blip r:embed="rId4">
            <a:extLst/>
          </a:blip>
          <a:stretch>
            <a:fillRect/>
          </a:stretch>
        </p:blipFill>
        <p:spPr>
          <a:xfrm rot="16200000">
            <a:off x="3573637" y="9660434"/>
            <a:ext cx="1323330" cy="171597"/>
          </a:xfrm>
          <a:prstGeom prst="rect">
            <a:avLst/>
          </a:prstGeom>
        </p:spPr>
      </p:pic>
      <p:pic>
        <p:nvPicPr>
          <p:cNvPr id="767" name="Linie Linie" descr="Linie Linie"/>
          <p:cNvPicPr>
            <a:picLocks noChangeAspect="0"/>
          </p:cNvPicPr>
          <p:nvPr/>
        </p:nvPicPr>
        <p:blipFill>
          <a:blip r:embed="rId5">
            <a:extLst/>
          </a:blip>
          <a:stretch>
            <a:fillRect/>
          </a:stretch>
        </p:blipFill>
        <p:spPr>
          <a:xfrm rot="16200000">
            <a:off x="5577545" y="9660434"/>
            <a:ext cx="1323330" cy="171597"/>
          </a:xfrm>
          <a:prstGeom prst="rect">
            <a:avLst/>
          </a:prstGeom>
        </p:spPr>
      </p:pic>
      <p:pic>
        <p:nvPicPr>
          <p:cNvPr id="769" name="Linie Linie" descr="Linie Linie"/>
          <p:cNvPicPr>
            <a:picLocks noChangeAspect="0"/>
          </p:cNvPicPr>
          <p:nvPr/>
        </p:nvPicPr>
        <p:blipFill>
          <a:blip r:embed="rId6">
            <a:extLst/>
          </a:blip>
          <a:stretch>
            <a:fillRect/>
          </a:stretch>
        </p:blipFill>
        <p:spPr>
          <a:xfrm>
            <a:off x="1309914" y="8463840"/>
            <a:ext cx="3545952" cy="101601"/>
          </a:xfrm>
          <a:prstGeom prst="rect">
            <a:avLst/>
          </a:prstGeom>
        </p:spPr>
      </p:pic>
      <p:pic>
        <p:nvPicPr>
          <p:cNvPr id="771" name="Linie Linie" descr="Linie Linie"/>
          <p:cNvPicPr>
            <a:picLocks noChangeAspect="0"/>
          </p:cNvPicPr>
          <p:nvPr/>
        </p:nvPicPr>
        <p:blipFill>
          <a:blip r:embed="rId7">
            <a:extLst/>
          </a:blip>
          <a:stretch>
            <a:fillRect/>
          </a:stretch>
        </p:blipFill>
        <p:spPr>
          <a:xfrm>
            <a:off x="4924439" y="8463840"/>
            <a:ext cx="4569806" cy="101601"/>
          </a:xfrm>
          <a:prstGeom prst="rect">
            <a:avLst/>
          </a:prstGeom>
        </p:spPr>
      </p:pic>
      <p:pic>
        <p:nvPicPr>
          <p:cNvPr id="773" name="Linie Linie" descr="Linie Linie"/>
          <p:cNvPicPr>
            <a:picLocks noChangeAspect="0"/>
          </p:cNvPicPr>
          <p:nvPr/>
        </p:nvPicPr>
        <p:blipFill>
          <a:blip r:embed="rId8">
            <a:extLst/>
          </a:blip>
          <a:stretch>
            <a:fillRect/>
          </a:stretch>
        </p:blipFill>
        <p:spPr>
          <a:xfrm>
            <a:off x="9562818" y="8463840"/>
            <a:ext cx="354595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760"/>
                                        </p:tgtEl>
                                        <p:attrNameLst>
                                          <p:attrName>style.visibility</p:attrName>
                                        </p:attrNameLst>
                                      </p:cBhvr>
                                      <p:to>
                                        <p:strVal val="visible"/>
                                      </p:to>
                                    </p:set>
                                    <p:anim calcmode="lin" valueType="num">
                                      <p:cBhvr>
                                        <p:cTn id="7" dur="1000" fill="hold"/>
                                        <p:tgtEl>
                                          <p:spTgt spid="760"/>
                                        </p:tgtEl>
                                        <p:attrNameLst>
                                          <p:attrName>ppt_x</p:attrName>
                                        </p:attrNameLst>
                                      </p:cBhvr>
                                      <p:tavLst>
                                        <p:tav tm="0">
                                          <p:val>
                                            <p:strVal val="0-#ppt_w/2"/>
                                          </p:val>
                                        </p:tav>
                                        <p:tav tm="100000">
                                          <p:val>
                                            <p:strVal val="#ppt_x"/>
                                          </p:val>
                                        </p:tav>
                                      </p:tavLst>
                                    </p:anim>
                                    <p:anim calcmode="lin" valueType="num">
                                      <p:cBhvr>
                                        <p:cTn id="8" dur="1000" fill="hold"/>
                                        <p:tgtEl>
                                          <p:spTgt spid="76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769"/>
                                        </p:tgtEl>
                                        <p:attrNameLst>
                                          <p:attrName>style.visibility</p:attrName>
                                        </p:attrNameLst>
                                      </p:cBhvr>
                                      <p:to>
                                        <p:strVal val="visible"/>
                                      </p:to>
                                    </p:set>
                                    <p:animEffect filter="dissolve" transition="in">
                                      <p:cBhvr>
                                        <p:cTn id="12" dur="2000"/>
                                        <p:tgtEl>
                                          <p:spTgt spid="769"/>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763"/>
                                        </p:tgtEl>
                                        <p:attrNameLst>
                                          <p:attrName>style.visibility</p:attrName>
                                        </p:attrNameLst>
                                      </p:cBhvr>
                                      <p:to>
                                        <p:strVal val="visible"/>
                                      </p:to>
                                    </p:set>
                                    <p:animEffect filter="dissolve" transition="in">
                                      <p:cBhvr>
                                        <p:cTn id="16" dur="2000"/>
                                        <p:tgtEl>
                                          <p:spTgt spid="763"/>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761"/>
                                        </p:tgtEl>
                                        <p:attrNameLst>
                                          <p:attrName>style.visibility</p:attrName>
                                        </p:attrNameLst>
                                      </p:cBhvr>
                                      <p:to>
                                        <p:strVal val="visible"/>
                                      </p:to>
                                    </p:set>
                                    <p:anim calcmode="lin" valueType="num">
                                      <p:cBhvr>
                                        <p:cTn id="21" dur="1000" fill="hold"/>
                                        <p:tgtEl>
                                          <p:spTgt spid="761"/>
                                        </p:tgtEl>
                                        <p:attrNameLst>
                                          <p:attrName>ppt_x</p:attrName>
                                        </p:attrNameLst>
                                      </p:cBhvr>
                                      <p:tavLst>
                                        <p:tav tm="0">
                                          <p:val>
                                            <p:strVal val="0-#ppt_w/2"/>
                                          </p:val>
                                        </p:tav>
                                        <p:tav tm="100000">
                                          <p:val>
                                            <p:strVal val="#ppt_x"/>
                                          </p:val>
                                        </p:tav>
                                      </p:tavLst>
                                    </p:anim>
                                    <p:anim calcmode="lin" valueType="num">
                                      <p:cBhvr>
                                        <p:cTn id="22" dur="1000" fill="hold"/>
                                        <p:tgtEl>
                                          <p:spTgt spid="761"/>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771"/>
                                        </p:tgtEl>
                                        <p:attrNameLst>
                                          <p:attrName>style.visibility</p:attrName>
                                        </p:attrNameLst>
                                      </p:cBhvr>
                                      <p:to>
                                        <p:strVal val="visible"/>
                                      </p:to>
                                    </p:set>
                                    <p:animEffect filter="dissolve" transition="in">
                                      <p:cBhvr>
                                        <p:cTn id="26" dur="2000"/>
                                        <p:tgtEl>
                                          <p:spTgt spid="771"/>
                                        </p:tgtEl>
                                      </p:cBhvr>
                                    </p:animEffect>
                                  </p:childTnLst>
                                </p:cTn>
                              </p:par>
                            </p:childTnLst>
                          </p:cTn>
                        </p:par>
                        <p:par>
                          <p:cTn id="27" fill="hold">
                            <p:stCondLst>
                              <p:cond delay="3000"/>
                            </p:stCondLst>
                            <p:childTnLst>
                              <p:par>
                                <p:cTn id="28" presetClass="entr" nodeType="afterEffect" presetID="9" grpId="6" fill="hold">
                                  <p:stCondLst>
                                    <p:cond delay="0"/>
                                  </p:stCondLst>
                                  <p:iterate type="el" backwards="0">
                                    <p:tmAbs val="0"/>
                                  </p:iterate>
                                  <p:childTnLst>
                                    <p:set>
                                      <p:cBhvr>
                                        <p:cTn id="29" fill="hold"/>
                                        <p:tgtEl>
                                          <p:spTgt spid="765"/>
                                        </p:tgtEl>
                                        <p:attrNameLst>
                                          <p:attrName>style.visibility</p:attrName>
                                        </p:attrNameLst>
                                      </p:cBhvr>
                                      <p:to>
                                        <p:strVal val="visible"/>
                                      </p:to>
                                    </p:set>
                                    <p:animEffect filter="dissolve" transition="in">
                                      <p:cBhvr>
                                        <p:cTn id="30" dur="2000"/>
                                        <p:tgtEl>
                                          <p:spTgt spid="765"/>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8" presetID="2" grpId="7" fill="hold">
                                  <p:stCondLst>
                                    <p:cond delay="0"/>
                                  </p:stCondLst>
                                  <p:iterate type="el" backwards="0">
                                    <p:tmAbs val="0"/>
                                  </p:iterate>
                                  <p:childTnLst>
                                    <p:set>
                                      <p:cBhvr>
                                        <p:cTn id="34" fill="hold"/>
                                        <p:tgtEl>
                                          <p:spTgt spid="762"/>
                                        </p:tgtEl>
                                        <p:attrNameLst>
                                          <p:attrName>style.visibility</p:attrName>
                                        </p:attrNameLst>
                                      </p:cBhvr>
                                      <p:to>
                                        <p:strVal val="visible"/>
                                      </p:to>
                                    </p:set>
                                    <p:anim calcmode="lin" valueType="num">
                                      <p:cBhvr>
                                        <p:cTn id="35" dur="1000" fill="hold"/>
                                        <p:tgtEl>
                                          <p:spTgt spid="762"/>
                                        </p:tgtEl>
                                        <p:attrNameLst>
                                          <p:attrName>ppt_x</p:attrName>
                                        </p:attrNameLst>
                                      </p:cBhvr>
                                      <p:tavLst>
                                        <p:tav tm="0">
                                          <p:val>
                                            <p:strVal val="0-#ppt_w/2"/>
                                          </p:val>
                                        </p:tav>
                                        <p:tav tm="100000">
                                          <p:val>
                                            <p:strVal val="#ppt_x"/>
                                          </p:val>
                                        </p:tav>
                                      </p:tavLst>
                                    </p:anim>
                                    <p:anim calcmode="lin" valueType="num">
                                      <p:cBhvr>
                                        <p:cTn id="36" dur="1000" fill="hold"/>
                                        <p:tgtEl>
                                          <p:spTgt spid="762"/>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Class="entr" nodeType="afterEffect" presetID="9" grpId="8" fill="hold">
                                  <p:stCondLst>
                                    <p:cond delay="0"/>
                                  </p:stCondLst>
                                  <p:iterate type="el" backwards="0">
                                    <p:tmAbs val="0"/>
                                  </p:iterate>
                                  <p:childTnLst>
                                    <p:set>
                                      <p:cBhvr>
                                        <p:cTn id="39" fill="hold"/>
                                        <p:tgtEl>
                                          <p:spTgt spid="773"/>
                                        </p:tgtEl>
                                        <p:attrNameLst>
                                          <p:attrName>style.visibility</p:attrName>
                                        </p:attrNameLst>
                                      </p:cBhvr>
                                      <p:to>
                                        <p:strVal val="visible"/>
                                      </p:to>
                                    </p:set>
                                    <p:animEffect filter="dissolve" transition="in">
                                      <p:cBhvr>
                                        <p:cTn id="40" dur="2000"/>
                                        <p:tgtEl>
                                          <p:spTgt spid="773"/>
                                        </p:tgtEl>
                                      </p:cBhvr>
                                    </p:animEffect>
                                  </p:childTnLst>
                                </p:cTn>
                              </p:par>
                            </p:childTnLst>
                          </p:cTn>
                        </p:par>
                        <p:par>
                          <p:cTn id="41" fill="hold">
                            <p:stCondLst>
                              <p:cond delay="3000"/>
                            </p:stCondLst>
                            <p:childTnLst>
                              <p:par>
                                <p:cTn id="42" presetClass="entr" nodeType="afterEffect" presetID="9" grpId="9" fill="hold">
                                  <p:stCondLst>
                                    <p:cond delay="0"/>
                                  </p:stCondLst>
                                  <p:iterate type="el" backwards="0">
                                    <p:tmAbs val="0"/>
                                  </p:iterate>
                                  <p:childTnLst>
                                    <p:set>
                                      <p:cBhvr>
                                        <p:cTn id="43" fill="hold"/>
                                        <p:tgtEl>
                                          <p:spTgt spid="767"/>
                                        </p:tgtEl>
                                        <p:attrNameLst>
                                          <p:attrName>style.visibility</p:attrName>
                                        </p:attrNameLst>
                                      </p:cBhvr>
                                      <p:to>
                                        <p:strVal val="visible"/>
                                      </p:to>
                                    </p:set>
                                    <p:animEffect filter="dissolve" transition="in">
                                      <p:cBhvr>
                                        <p:cTn id="44" dur="2000"/>
                                        <p:tgtEl>
                                          <p:spTgt spid="7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73" grpId="8"/>
      <p:bldP build="whole" bldLvl="1" animBg="1" rev="0" advAuto="0" spid="767" grpId="9"/>
      <p:bldP build="whole" bldLvl="1" animBg="1" rev="0" advAuto="0" spid="761" grpId="4"/>
      <p:bldP build="whole" bldLvl="1" animBg="1" rev="0" advAuto="0" spid="762" grpId="7"/>
      <p:bldP build="whole" bldLvl="1" animBg="1" rev="0" advAuto="0" spid="769" grpId="2"/>
      <p:bldP build="whole" bldLvl="1" animBg="1" rev="0" advAuto="0" spid="771" grpId="5"/>
      <p:bldP build="whole" bldLvl="1" animBg="1" rev="0" advAuto="0" spid="763" grpId="3"/>
      <p:bldP build="whole" bldLvl="1" animBg="1" rev="0" advAuto="0" spid="760" grpId="1"/>
      <p:bldP build="whole" bldLvl="1" animBg="1" rev="0" advAuto="0" spid="765" grpId="6"/>
    </p:bldLst>
  </p:timing>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77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78" name="Tips pentru test"/>
          <p:cNvSpPr txBox="1"/>
          <p:nvPr/>
        </p:nvSpPr>
        <p:spPr>
          <a:xfrm>
            <a:off x="113347" y="5053584"/>
            <a:ext cx="22650328" cy="36088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400">
                <a:latin typeface="Canela Regular"/>
                <a:ea typeface="Canela Regular"/>
                <a:cs typeface="Canela Regular"/>
                <a:sym typeface="Canela Regular"/>
              </a:defRPr>
            </a:lvl1pPr>
          </a:lstStyle>
          <a:p>
            <a:pPr/>
            <a:r>
              <a:t>Tips pentru test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81" name="Tips pentru test"/>
          <p:cNvSpPr txBox="1"/>
          <p:nvPr/>
        </p:nvSpPr>
        <p:spPr>
          <a:xfrm>
            <a:off x="7796014" y="515139"/>
            <a:ext cx="737459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Tips pentru test</a:t>
            </a:r>
          </a:p>
        </p:txBody>
      </p:sp>
      <p:sp>
        <p:nvSpPr>
          <p:cNvPr id="782" name="În general, sunt două tipuri mari și late:"/>
          <p:cNvSpPr txBox="1"/>
          <p:nvPr>
            <p:ph type="body" sz="quarter" idx="1"/>
          </p:nvPr>
        </p:nvSpPr>
        <p:spPr>
          <a:xfrm>
            <a:off x="733761" y="5098575"/>
            <a:ext cx="21948579" cy="1424708"/>
          </a:xfrm>
          <a:prstGeom prst="rect">
            <a:avLst/>
          </a:prstGeom>
        </p:spPr>
        <p:txBody>
          <a:bodyPr/>
          <a:lstStyle/>
          <a:p>
            <a:pPr/>
            <a:r>
              <a:t>Faceți doar ce vă cere enunțul, nimic mai mult</a:t>
            </a:r>
          </a:p>
        </p:txBody>
      </p:sp>
      <p:sp>
        <p:nvSpPr>
          <p:cNvPr id="783" name="În general, sunt două tipuri mari și late:"/>
          <p:cNvSpPr txBox="1"/>
          <p:nvPr/>
        </p:nvSpPr>
        <p:spPr>
          <a:xfrm>
            <a:off x="733761" y="6431466"/>
            <a:ext cx="21948579" cy="14247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Dacă în enunț nu se specifică că se face split, nu trebuie să folosiți train_test_split</a:t>
            </a:r>
          </a:p>
        </p:txBody>
      </p:sp>
      <p:pic>
        <p:nvPicPr>
          <p:cNvPr id="784" name="Linie Linie" descr="Linie Linie"/>
          <p:cNvPicPr>
            <a:picLocks noChangeAspect="0"/>
          </p:cNvPicPr>
          <p:nvPr/>
        </p:nvPicPr>
        <p:blipFill>
          <a:blip r:embed="rId2">
            <a:extLst/>
          </a:blip>
          <a:stretch>
            <a:fillRect/>
          </a:stretch>
        </p:blipFill>
        <p:spPr>
          <a:xfrm>
            <a:off x="9146457" y="5925223"/>
            <a:ext cx="3907313" cy="101601"/>
          </a:xfrm>
          <a:prstGeom prst="rect">
            <a:avLst/>
          </a:prstGeom>
        </p:spPr>
      </p:pic>
      <p:pic>
        <p:nvPicPr>
          <p:cNvPr id="786" name="Linie Linie" descr="Linie Linie"/>
          <p:cNvPicPr>
            <a:picLocks noChangeAspect="0"/>
          </p:cNvPicPr>
          <p:nvPr/>
        </p:nvPicPr>
        <p:blipFill>
          <a:blip r:embed="rId3">
            <a:extLst/>
          </a:blip>
          <a:stretch>
            <a:fillRect/>
          </a:stretch>
        </p:blipFill>
        <p:spPr>
          <a:xfrm>
            <a:off x="13442069" y="7236190"/>
            <a:ext cx="2130783" cy="101601"/>
          </a:xfrm>
          <a:prstGeom prst="rect">
            <a:avLst/>
          </a:prstGeom>
        </p:spPr>
      </p:pic>
      <p:sp>
        <p:nvSpPr>
          <p:cNvPr id="788" name="În general, sunt două tipuri mari și late:"/>
          <p:cNvSpPr txBox="1"/>
          <p:nvPr/>
        </p:nvSpPr>
        <p:spPr>
          <a:xfrm>
            <a:off x="733761" y="7910951"/>
            <a:ext cx="21948579" cy="14247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Atenție la afișări</a:t>
            </a:r>
          </a:p>
        </p:txBody>
      </p:sp>
      <p:pic>
        <p:nvPicPr>
          <p:cNvPr id="789" name="Linie Linie" descr="Linie Linie"/>
          <p:cNvPicPr>
            <a:picLocks noChangeAspect="0"/>
          </p:cNvPicPr>
          <p:nvPr/>
        </p:nvPicPr>
        <p:blipFill>
          <a:blip r:embed="rId3">
            <a:extLst/>
          </a:blip>
          <a:stretch>
            <a:fillRect/>
          </a:stretch>
        </p:blipFill>
        <p:spPr>
          <a:xfrm>
            <a:off x="1152332" y="8749071"/>
            <a:ext cx="213078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782"/>
                                        </p:tgtEl>
                                        <p:attrNameLst>
                                          <p:attrName>style.visibility</p:attrName>
                                        </p:attrNameLst>
                                      </p:cBhvr>
                                      <p:to>
                                        <p:strVal val="visible"/>
                                      </p:to>
                                    </p:set>
                                    <p:anim calcmode="lin" valueType="num">
                                      <p:cBhvr>
                                        <p:cTn id="7" dur="1000" fill="hold"/>
                                        <p:tgtEl>
                                          <p:spTgt spid="782"/>
                                        </p:tgtEl>
                                        <p:attrNameLst>
                                          <p:attrName>ppt_x</p:attrName>
                                        </p:attrNameLst>
                                      </p:cBhvr>
                                      <p:tavLst>
                                        <p:tav tm="0">
                                          <p:val>
                                            <p:strVal val="0-#ppt_w/2"/>
                                          </p:val>
                                        </p:tav>
                                        <p:tav tm="100000">
                                          <p:val>
                                            <p:strVal val="#ppt_x"/>
                                          </p:val>
                                        </p:tav>
                                      </p:tavLst>
                                    </p:anim>
                                    <p:anim calcmode="lin" valueType="num">
                                      <p:cBhvr>
                                        <p:cTn id="8" dur="1000" fill="hold"/>
                                        <p:tgtEl>
                                          <p:spTgt spid="78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784"/>
                                        </p:tgtEl>
                                        <p:attrNameLst>
                                          <p:attrName>style.visibility</p:attrName>
                                        </p:attrNameLst>
                                      </p:cBhvr>
                                      <p:to>
                                        <p:strVal val="visible"/>
                                      </p:to>
                                    </p:set>
                                    <p:animEffect filter="dissolve" transition="in">
                                      <p:cBhvr>
                                        <p:cTn id="12" dur="2000"/>
                                        <p:tgtEl>
                                          <p:spTgt spid="78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783"/>
                                        </p:tgtEl>
                                        <p:attrNameLst>
                                          <p:attrName>style.visibility</p:attrName>
                                        </p:attrNameLst>
                                      </p:cBhvr>
                                      <p:to>
                                        <p:strVal val="visible"/>
                                      </p:to>
                                    </p:set>
                                    <p:anim calcmode="lin" valueType="num">
                                      <p:cBhvr>
                                        <p:cTn id="17" dur="1000" fill="hold"/>
                                        <p:tgtEl>
                                          <p:spTgt spid="783"/>
                                        </p:tgtEl>
                                        <p:attrNameLst>
                                          <p:attrName>ppt_x</p:attrName>
                                        </p:attrNameLst>
                                      </p:cBhvr>
                                      <p:tavLst>
                                        <p:tav tm="0">
                                          <p:val>
                                            <p:strVal val="0-#ppt_w/2"/>
                                          </p:val>
                                        </p:tav>
                                        <p:tav tm="100000">
                                          <p:val>
                                            <p:strVal val="#ppt_x"/>
                                          </p:val>
                                        </p:tav>
                                      </p:tavLst>
                                    </p:anim>
                                    <p:anim calcmode="lin" valueType="num">
                                      <p:cBhvr>
                                        <p:cTn id="18" dur="1000" fill="hold"/>
                                        <p:tgtEl>
                                          <p:spTgt spid="783"/>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786"/>
                                        </p:tgtEl>
                                        <p:attrNameLst>
                                          <p:attrName>style.visibility</p:attrName>
                                        </p:attrNameLst>
                                      </p:cBhvr>
                                      <p:to>
                                        <p:strVal val="visible"/>
                                      </p:to>
                                    </p:set>
                                    <p:animEffect filter="dissolve" transition="in">
                                      <p:cBhvr>
                                        <p:cTn id="22" dur="2000"/>
                                        <p:tgtEl>
                                          <p:spTgt spid="786"/>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788"/>
                                        </p:tgtEl>
                                        <p:attrNameLst>
                                          <p:attrName>style.visibility</p:attrName>
                                        </p:attrNameLst>
                                      </p:cBhvr>
                                      <p:to>
                                        <p:strVal val="visible"/>
                                      </p:to>
                                    </p:set>
                                    <p:anim calcmode="lin" valueType="num">
                                      <p:cBhvr>
                                        <p:cTn id="27" dur="1000" fill="hold"/>
                                        <p:tgtEl>
                                          <p:spTgt spid="788"/>
                                        </p:tgtEl>
                                        <p:attrNameLst>
                                          <p:attrName>ppt_x</p:attrName>
                                        </p:attrNameLst>
                                      </p:cBhvr>
                                      <p:tavLst>
                                        <p:tav tm="0">
                                          <p:val>
                                            <p:strVal val="0-#ppt_w/2"/>
                                          </p:val>
                                        </p:tav>
                                        <p:tav tm="100000">
                                          <p:val>
                                            <p:strVal val="#ppt_x"/>
                                          </p:val>
                                        </p:tav>
                                      </p:tavLst>
                                    </p:anim>
                                    <p:anim calcmode="lin" valueType="num">
                                      <p:cBhvr>
                                        <p:cTn id="28" dur="1000" fill="hold"/>
                                        <p:tgtEl>
                                          <p:spTgt spid="788"/>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ID="9" grpId="6" fill="hold">
                                  <p:stCondLst>
                                    <p:cond delay="0"/>
                                  </p:stCondLst>
                                  <p:iterate type="el" backwards="0">
                                    <p:tmAbs val="0"/>
                                  </p:iterate>
                                  <p:childTnLst>
                                    <p:set>
                                      <p:cBhvr>
                                        <p:cTn id="31" fill="hold"/>
                                        <p:tgtEl>
                                          <p:spTgt spid="789"/>
                                        </p:tgtEl>
                                        <p:attrNameLst>
                                          <p:attrName>style.visibility</p:attrName>
                                        </p:attrNameLst>
                                      </p:cBhvr>
                                      <p:to>
                                        <p:strVal val="visible"/>
                                      </p:to>
                                    </p:set>
                                    <p:animEffect filter="dissolve" transition="in">
                                      <p:cBhvr>
                                        <p:cTn id="32" dur="2000"/>
                                        <p:tgtEl>
                                          <p:spTgt spid="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88" grpId="5"/>
      <p:bldP build="whole" bldLvl="1" animBg="1" rev="0" advAuto="0" spid="782" grpId="1"/>
      <p:bldP build="whole" bldLvl="1" animBg="1" rev="0" advAuto="0" spid="789" grpId="6"/>
      <p:bldP build="whole" bldLvl="1" animBg="1" rev="0" advAuto="0" spid="784" grpId="2"/>
      <p:bldP build="whole" bldLvl="1" animBg="1" rev="0" advAuto="0" spid="783" grpId="3"/>
      <p:bldP build="whole" bldLvl="1" animBg="1" rev="0" advAuto="0" spid="786" grpId="4"/>
    </p:bldLst>
  </p:timing>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93" name="Tips pentru test"/>
          <p:cNvSpPr txBox="1"/>
          <p:nvPr/>
        </p:nvSpPr>
        <p:spPr>
          <a:xfrm>
            <a:off x="7796014" y="178033"/>
            <a:ext cx="737459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Tips pentru test</a:t>
            </a:r>
          </a:p>
        </p:txBody>
      </p:sp>
      <p:pic>
        <p:nvPicPr>
          <p:cNvPr id="794" name="Captură de ecran din 2024-11-04 la 15.31.35.png" descr="Captură de ecran din 2024-11-04 la 15.31.35.png"/>
          <p:cNvPicPr>
            <a:picLocks noChangeAspect="1"/>
          </p:cNvPicPr>
          <p:nvPr/>
        </p:nvPicPr>
        <p:blipFill>
          <a:blip r:embed="rId2">
            <a:extLst/>
          </a:blip>
          <a:stretch>
            <a:fillRect/>
          </a:stretch>
        </p:blipFill>
        <p:spPr>
          <a:xfrm>
            <a:off x="6148409" y="4106770"/>
            <a:ext cx="11772901" cy="5054601"/>
          </a:xfrm>
          <a:prstGeom prst="rect">
            <a:avLst/>
          </a:prstGeom>
          <a:ln w="12700">
            <a:miter lim="400000"/>
          </a:ln>
        </p:spPr>
      </p:pic>
      <p:sp>
        <p:nvSpPr>
          <p:cNvPr id="795" name="În general, sunt două tipuri mari și late:"/>
          <p:cNvSpPr txBox="1"/>
          <p:nvPr/>
        </p:nvSpPr>
        <p:spPr>
          <a:xfrm>
            <a:off x="351884" y="2421276"/>
            <a:ext cx="21948579" cy="14247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Atenție la afișări</a:t>
            </a:r>
          </a:p>
        </p:txBody>
      </p:sp>
      <p:pic>
        <p:nvPicPr>
          <p:cNvPr id="796" name="Linie Linie" descr="Linie Linie"/>
          <p:cNvPicPr>
            <a:picLocks noChangeAspect="0"/>
          </p:cNvPicPr>
          <p:nvPr/>
        </p:nvPicPr>
        <p:blipFill>
          <a:blip r:embed="rId3">
            <a:extLst/>
          </a:blip>
          <a:stretch>
            <a:fillRect/>
          </a:stretch>
        </p:blipFill>
        <p:spPr>
          <a:xfrm>
            <a:off x="845367" y="3240668"/>
            <a:ext cx="2130783" cy="101601"/>
          </a:xfrm>
          <a:prstGeom prst="rect">
            <a:avLst/>
          </a:prstGeom>
        </p:spPr>
      </p:pic>
      <p:pic>
        <p:nvPicPr>
          <p:cNvPr id="798" name="Linie Linie" descr="Linie Linie"/>
          <p:cNvPicPr>
            <a:picLocks noChangeAspect="0"/>
          </p:cNvPicPr>
          <p:nvPr/>
        </p:nvPicPr>
        <p:blipFill>
          <a:blip r:embed="rId4">
            <a:extLst/>
          </a:blip>
          <a:stretch>
            <a:fillRect/>
          </a:stretch>
        </p:blipFill>
        <p:spPr>
          <a:xfrm>
            <a:off x="6835585" y="7177668"/>
            <a:ext cx="10791419" cy="101601"/>
          </a:xfrm>
          <a:prstGeom prst="rect">
            <a:avLst/>
          </a:prstGeom>
        </p:spPr>
      </p:pic>
      <p:sp>
        <p:nvSpPr>
          <p:cNvPr id="800" name="În general, sunt două tipuri mari și late:"/>
          <p:cNvSpPr txBox="1"/>
          <p:nvPr/>
        </p:nvSpPr>
        <p:spPr>
          <a:xfrm>
            <a:off x="666165" y="9945880"/>
            <a:ext cx="21948579" cy="18732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Merge să afișăm dacă punem virgulă între variabile doar dacă este ultima linie de cod din celulă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03" name="Tips pentru test"/>
          <p:cNvSpPr txBox="1"/>
          <p:nvPr/>
        </p:nvSpPr>
        <p:spPr>
          <a:xfrm>
            <a:off x="7796014" y="178033"/>
            <a:ext cx="737459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Tips pentru test</a:t>
            </a:r>
          </a:p>
        </p:txBody>
      </p:sp>
      <p:sp>
        <p:nvSpPr>
          <p:cNvPr id="804" name="În general, sunt două tipuri mari și late:"/>
          <p:cNvSpPr txBox="1"/>
          <p:nvPr/>
        </p:nvSpPr>
        <p:spPr>
          <a:xfrm>
            <a:off x="509024" y="1859433"/>
            <a:ext cx="21948579" cy="14247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Atenție la afișări</a:t>
            </a:r>
          </a:p>
        </p:txBody>
      </p:sp>
      <p:pic>
        <p:nvPicPr>
          <p:cNvPr id="805" name="Linie Linie" descr="Linie Linie"/>
          <p:cNvPicPr>
            <a:picLocks noChangeAspect="0"/>
          </p:cNvPicPr>
          <p:nvPr/>
        </p:nvPicPr>
        <p:blipFill>
          <a:blip r:embed="rId2">
            <a:extLst/>
          </a:blip>
          <a:stretch>
            <a:fillRect/>
          </a:stretch>
        </p:blipFill>
        <p:spPr>
          <a:xfrm>
            <a:off x="1002507" y="2678825"/>
            <a:ext cx="2130783" cy="101601"/>
          </a:xfrm>
          <a:prstGeom prst="rect">
            <a:avLst/>
          </a:prstGeom>
        </p:spPr>
      </p:pic>
      <p:sp>
        <p:nvSpPr>
          <p:cNvPr id="807" name="În general, sunt două tipuri mari și late:"/>
          <p:cNvSpPr txBox="1"/>
          <p:nvPr/>
        </p:nvSpPr>
        <p:spPr>
          <a:xfrm>
            <a:off x="509024" y="9433601"/>
            <a:ext cx="21948579" cy="28290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Chestia asta e de fapt un „artificiu” în Colab / notebooks. De fapt, ce se intâmplă în ultima linie este să se creeze un tuple, iar Google Colab afișează ultima valoare returnată de celulă, iar acea valoare e dată de ultima linie de cod</a:t>
            </a:r>
          </a:p>
        </p:txBody>
      </p:sp>
      <p:pic>
        <p:nvPicPr>
          <p:cNvPr id="808" name="Captură de ecran din 2024-11-04 la 15.34.27.png" descr="Captură de ecran din 2024-11-04 la 15.34.27.png"/>
          <p:cNvPicPr>
            <a:picLocks noChangeAspect="1"/>
          </p:cNvPicPr>
          <p:nvPr/>
        </p:nvPicPr>
        <p:blipFill>
          <a:blip r:embed="rId3">
            <a:extLst/>
          </a:blip>
          <a:stretch>
            <a:fillRect/>
          </a:stretch>
        </p:blipFill>
        <p:spPr>
          <a:xfrm>
            <a:off x="5730213" y="2801461"/>
            <a:ext cx="11506201" cy="6413501"/>
          </a:xfrm>
          <a:prstGeom prst="rect">
            <a:avLst/>
          </a:prstGeom>
          <a:ln w="12700">
            <a:miter lim="400000"/>
          </a:ln>
        </p:spPr>
      </p:pic>
      <p:sp>
        <p:nvSpPr>
          <p:cNvPr id="809" name="În general, sunt două tipuri mari și late:"/>
          <p:cNvSpPr txBox="1"/>
          <p:nvPr/>
        </p:nvSpPr>
        <p:spPr>
          <a:xfrm>
            <a:off x="509024" y="11788397"/>
            <a:ext cx="21948579" cy="28290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Dacă rulați codul de mai sus ca un simplu fișier Python, nu se va afișa decât „Hello”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12" name="Tips pentru test"/>
          <p:cNvSpPr txBox="1"/>
          <p:nvPr/>
        </p:nvSpPr>
        <p:spPr>
          <a:xfrm>
            <a:off x="7796014" y="178033"/>
            <a:ext cx="737459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Tips pentru test</a:t>
            </a:r>
          </a:p>
        </p:txBody>
      </p:sp>
      <p:sp>
        <p:nvSpPr>
          <p:cNvPr id="813" name="În general, sunt două tipuri mari și late:"/>
          <p:cNvSpPr txBox="1"/>
          <p:nvPr/>
        </p:nvSpPr>
        <p:spPr>
          <a:xfrm>
            <a:off x="351884" y="2421276"/>
            <a:ext cx="21948579" cy="14247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Atenție la afișări</a:t>
            </a:r>
          </a:p>
        </p:txBody>
      </p:sp>
      <p:pic>
        <p:nvPicPr>
          <p:cNvPr id="814" name="Linie Linie" descr="Linie Linie"/>
          <p:cNvPicPr>
            <a:picLocks noChangeAspect="0"/>
          </p:cNvPicPr>
          <p:nvPr/>
        </p:nvPicPr>
        <p:blipFill>
          <a:blip r:embed="rId2">
            <a:extLst/>
          </a:blip>
          <a:stretch>
            <a:fillRect/>
          </a:stretch>
        </p:blipFill>
        <p:spPr>
          <a:xfrm>
            <a:off x="845367" y="3240668"/>
            <a:ext cx="2130783" cy="101601"/>
          </a:xfrm>
          <a:prstGeom prst="rect">
            <a:avLst/>
          </a:prstGeom>
        </p:spPr>
      </p:pic>
      <p:sp>
        <p:nvSpPr>
          <p:cNvPr id="816" name="În general, sunt două tipuri mari și late:"/>
          <p:cNvSpPr txBox="1"/>
          <p:nvPr/>
        </p:nvSpPr>
        <p:spPr>
          <a:xfrm>
            <a:off x="509024" y="10264258"/>
            <a:ext cx="21948579" cy="12708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Puteți afișa și cu print dacă doriți</a:t>
            </a:r>
          </a:p>
        </p:txBody>
      </p:sp>
      <p:pic>
        <p:nvPicPr>
          <p:cNvPr id="817" name="Captură de ecran din 2024-11-04 la 15.37.45.png" descr="Captură de ecran din 2024-11-04 la 15.37.45.png"/>
          <p:cNvPicPr>
            <a:picLocks noChangeAspect="1"/>
          </p:cNvPicPr>
          <p:nvPr/>
        </p:nvPicPr>
        <p:blipFill>
          <a:blip r:embed="rId3">
            <a:extLst/>
          </a:blip>
          <a:stretch>
            <a:fillRect/>
          </a:stretch>
        </p:blipFill>
        <p:spPr>
          <a:xfrm>
            <a:off x="5323813" y="3974386"/>
            <a:ext cx="12319001" cy="53340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20" name="Tips pentru test"/>
          <p:cNvSpPr txBox="1"/>
          <p:nvPr/>
        </p:nvSpPr>
        <p:spPr>
          <a:xfrm>
            <a:off x="7796014" y="178033"/>
            <a:ext cx="737459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Tips pentru test</a:t>
            </a:r>
          </a:p>
        </p:txBody>
      </p:sp>
      <p:sp>
        <p:nvSpPr>
          <p:cNvPr id="821" name="În general, sunt două tipuri mari și late:"/>
          <p:cNvSpPr txBox="1"/>
          <p:nvPr/>
        </p:nvSpPr>
        <p:spPr>
          <a:xfrm>
            <a:off x="876271" y="2383820"/>
            <a:ext cx="21948579" cy="1147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Ce intră la test:</a:t>
            </a:r>
          </a:p>
        </p:txBody>
      </p:sp>
      <p:sp>
        <p:nvSpPr>
          <p:cNvPr id="822" name="În general, sunt două tipuri mari și late:"/>
          <p:cNvSpPr txBox="1"/>
          <p:nvPr/>
        </p:nvSpPr>
        <p:spPr>
          <a:xfrm>
            <a:off x="1565114" y="3166304"/>
            <a:ext cx="21948579" cy="16634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latin typeface="Canela Text Regular"/>
                <a:ea typeface="Canela Text Regular"/>
                <a:cs typeface="Canela Text Regular"/>
                <a:sym typeface="Canela Text Regular"/>
              </a:defRPr>
            </a:lvl1pPr>
          </a:lstStyle>
          <a:p>
            <a:pPr/>
            <a:r>
              <a:t>Laboratorul 2: regresia liniară, gradient descent, regresia logistică, regresia softmax, regularized regression</a:t>
            </a:r>
          </a:p>
        </p:txBody>
      </p:sp>
      <p:sp>
        <p:nvSpPr>
          <p:cNvPr id="823" name="În general, sunt două tipuri mari și late:"/>
          <p:cNvSpPr txBox="1"/>
          <p:nvPr/>
        </p:nvSpPr>
        <p:spPr>
          <a:xfrm>
            <a:off x="1565114" y="4671228"/>
            <a:ext cx="21948579" cy="1147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Laboratorul 3: K-Nearest Neighbours și SVM</a:t>
            </a:r>
          </a:p>
        </p:txBody>
      </p:sp>
      <p:sp>
        <p:nvSpPr>
          <p:cNvPr id="824" name="În general, sunt două tipuri mari și late:"/>
          <p:cNvSpPr txBox="1"/>
          <p:nvPr/>
        </p:nvSpPr>
        <p:spPr>
          <a:xfrm>
            <a:off x="1565114" y="5509896"/>
            <a:ext cx="21948579" cy="1147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Laboratorul 4: Arbori de decizie, Voting, Bagging / Pasting, Boosting</a:t>
            </a:r>
          </a:p>
        </p:txBody>
      </p:sp>
      <p:sp>
        <p:nvSpPr>
          <p:cNvPr id="825" name="În general, sunt două tipuri mari și late:"/>
          <p:cNvSpPr txBox="1"/>
          <p:nvPr/>
        </p:nvSpPr>
        <p:spPr>
          <a:xfrm>
            <a:off x="1565114" y="6346635"/>
            <a:ext cx="21948579" cy="1147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Laboratorul 5: PCA, Locally Linear Embeddings, T-SNE</a:t>
            </a:r>
          </a:p>
        </p:txBody>
      </p:sp>
      <p:sp>
        <p:nvSpPr>
          <p:cNvPr id="826" name="În general, sunt două tipuri mari și late:"/>
          <p:cNvSpPr txBox="1"/>
          <p:nvPr/>
        </p:nvSpPr>
        <p:spPr>
          <a:xfrm>
            <a:off x="1565114" y="7337178"/>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Laboratorul 6: K-Means, Aglomerative Clustering, DBSCAN, evaluarea modelelor de clustering</a:t>
            </a:r>
          </a:p>
        </p:txBody>
      </p:sp>
      <p:sp>
        <p:nvSpPr>
          <p:cNvPr id="827" name="În general, sunt două tipuri mari și late:"/>
          <p:cNvSpPr txBox="1"/>
          <p:nvPr/>
        </p:nvSpPr>
        <p:spPr>
          <a:xfrm>
            <a:off x="792670" y="10234659"/>
            <a:ext cx="21948579" cy="1147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Problemele vor fi similare cu cele din exerciții și ce am discutat până acum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9" name="That’s it for today!…"/>
          <p:cNvSpPr txBox="1"/>
          <p:nvPr>
            <p:ph type="title"/>
          </p:nvPr>
        </p:nvSpPr>
        <p:spPr>
          <a:xfrm>
            <a:off x="1219200" y="5994400"/>
            <a:ext cx="21945600" cy="1727200"/>
          </a:xfrm>
          <a:prstGeom prst="rect">
            <a:avLst/>
          </a:prstGeom>
        </p:spPr>
        <p:txBody>
          <a:bodyPr/>
          <a:lstStyle/>
          <a:p>
            <a:pPr defTabSz="1389888">
              <a:defRPr spc="-99" sz="4700"/>
            </a:pPr>
            <a:r>
              <a:t>That’s it for today!</a:t>
            </a:r>
          </a:p>
          <a:p>
            <a:pPr defTabSz="1389888">
              <a:defRPr spc="-99" sz="4700"/>
            </a:pPr>
            <a:r>
              <a:t>Now let’s do some exercises.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1" name="That’s it for today!…"/>
          <p:cNvSpPr txBox="1"/>
          <p:nvPr>
            <p:ph type="title"/>
          </p:nvPr>
        </p:nvSpPr>
        <p:spPr>
          <a:xfrm>
            <a:off x="1219200" y="419213"/>
            <a:ext cx="21945600" cy="1727201"/>
          </a:xfrm>
          <a:prstGeom prst="rect">
            <a:avLst/>
          </a:prstGeom>
        </p:spPr>
        <p:txBody>
          <a:bodyPr/>
          <a:lstStyle/>
          <a:p>
            <a:pPr defTabSz="1389888">
              <a:defRPr spc="-99" sz="4700"/>
            </a:pPr>
            <a:r>
              <a:t>That’s it for today!</a:t>
            </a:r>
          </a:p>
          <a:p>
            <a:pPr defTabSz="1389888">
              <a:defRPr spc="-99" sz="4700"/>
            </a:pPr>
            <a:r>
              <a:t>Now let’s do some exercises.</a:t>
            </a:r>
          </a:p>
        </p:txBody>
      </p:sp>
      <p:pic>
        <p:nvPicPr>
          <p:cNvPr id="832" name="Captură de ecran din 2024-11-04 la 12.29.07.png" descr="Captură de ecran din 2024-11-04 la 12.29.07.png"/>
          <p:cNvPicPr>
            <a:picLocks noChangeAspect="1"/>
          </p:cNvPicPr>
          <p:nvPr/>
        </p:nvPicPr>
        <p:blipFill>
          <a:blip r:embed="rId2">
            <a:extLst/>
          </a:blip>
          <a:stretch>
            <a:fillRect/>
          </a:stretch>
        </p:blipFill>
        <p:spPr>
          <a:xfrm>
            <a:off x="7138187" y="2579826"/>
            <a:ext cx="10107626" cy="11219464"/>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