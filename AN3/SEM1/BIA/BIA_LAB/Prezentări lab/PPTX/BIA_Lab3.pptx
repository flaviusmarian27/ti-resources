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media1.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image" Target="../media/image28.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 Id="rId3" Type="http://schemas.openxmlformats.org/officeDocument/2006/relationships/image" Target="../media/image4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video" Target="../media/media1.mp4"/><Relationship Id="rId3" Type="http://schemas.microsoft.com/office/2007/relationships/media" Target="../media/media1.mp4"/><Relationship Id="rId4" Type="http://schemas.openxmlformats.org/officeDocument/2006/relationships/image" Target="../media/image45.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47.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 Id="rId3" Type="http://schemas.openxmlformats.org/officeDocument/2006/relationships/image" Target="../media/image54.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5.png"/><Relationship Id="rId3" Type="http://schemas.openxmlformats.org/officeDocument/2006/relationships/image" Target="../media/image56.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50.png"/><Relationship Id="rId4" Type="http://schemas.openxmlformats.org/officeDocument/2006/relationships/image" Target="../media/image52.png"/><Relationship Id="rId5" Type="http://schemas.openxmlformats.org/officeDocument/2006/relationships/image" Target="../media/image57.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8.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4.png"/><Relationship Id="rId3" Type="http://schemas.openxmlformats.org/officeDocument/2006/relationships/image" Target="../media/image65.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39.png"/><Relationship Id="rId6" Type="http://schemas.openxmlformats.org/officeDocument/2006/relationships/image" Target="../media/image72.png"/><Relationship Id="rId7" Type="http://schemas.openxmlformats.org/officeDocument/2006/relationships/image" Target="../media/image73.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7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73" name="Lab 2. Modele parametrice"/>
          <p:cNvSpPr txBox="1"/>
          <p:nvPr/>
        </p:nvSpPr>
        <p:spPr>
          <a:xfrm>
            <a:off x="1219200" y="7567579"/>
            <a:ext cx="21945600" cy="22505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3. Modele neparametrice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ipuri de modele în ML"/>
          <p:cNvSpPr txBox="1"/>
          <p:nvPr>
            <p:ph type="title"/>
          </p:nvPr>
        </p:nvSpPr>
        <p:spPr>
          <a:prstGeom prst="rect">
            <a:avLst/>
          </a:prstGeom>
        </p:spPr>
        <p:txBody>
          <a:bodyPr/>
          <a:lstStyle>
            <a:lvl1pPr>
              <a:defRPr spc="-100"/>
            </a:lvl1pPr>
          </a:lstStyle>
          <a:p>
            <a:pPr/>
            <a:r>
              <a:t>Tipuri de modele în ML</a:t>
            </a:r>
          </a:p>
        </p:txBody>
      </p:sp>
      <p:sp>
        <p:nvSpPr>
          <p:cNvPr id="176" name="În general, sunt două tipuri mari și late:"/>
          <p:cNvSpPr txBox="1"/>
          <p:nvPr>
            <p:ph type="body" idx="1"/>
          </p:nvPr>
        </p:nvSpPr>
        <p:spPr>
          <a:xfrm>
            <a:off x="1687402" y="4009347"/>
            <a:ext cx="21948579" cy="8483602"/>
          </a:xfrm>
          <a:prstGeom prst="rect">
            <a:avLst/>
          </a:prstGeom>
        </p:spPr>
        <p:txBody>
          <a:bodyPr/>
          <a:lstStyle/>
          <a:p>
            <a:pPr/>
            <a:r>
              <a:t>În general, sunt două tipuri mari și late:</a:t>
            </a:r>
          </a:p>
        </p:txBody>
      </p:sp>
      <p:sp>
        <p:nvSpPr>
          <p:cNvPr id="177" name="Supervizate"/>
          <p:cNvSpPr txBox="1"/>
          <p:nvPr/>
        </p:nvSpPr>
        <p:spPr>
          <a:xfrm>
            <a:off x="1706622" y="5854700"/>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78" name="Nesupervizate"/>
          <p:cNvSpPr txBox="1"/>
          <p:nvPr/>
        </p:nvSpPr>
        <p:spPr>
          <a:xfrm>
            <a:off x="14456370" y="5854700"/>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76"/>
                                        </p:tgtEl>
                                        <p:attrNameLst>
                                          <p:attrName>style.visibility</p:attrName>
                                        </p:attrNameLst>
                                      </p:cBhvr>
                                      <p:to>
                                        <p:strVal val="visible"/>
                                      </p:to>
                                    </p:set>
                                    <p:anim calcmode="lin" valueType="num">
                                      <p:cBhvr>
                                        <p:cTn id="7" dur="1000" fill="hold"/>
                                        <p:tgtEl>
                                          <p:spTgt spid="176"/>
                                        </p:tgtEl>
                                        <p:attrNameLst>
                                          <p:attrName>ppt_x</p:attrName>
                                        </p:attrNameLst>
                                      </p:cBhvr>
                                      <p:tavLst>
                                        <p:tav tm="0">
                                          <p:val>
                                            <p:strVal val="0-#ppt_w/2"/>
                                          </p:val>
                                        </p:tav>
                                        <p:tav tm="100000">
                                          <p:val>
                                            <p:strVal val="#ppt_x"/>
                                          </p:val>
                                        </p:tav>
                                      </p:tavLst>
                                    </p:anim>
                                    <p:anim calcmode="lin" valueType="num">
                                      <p:cBhvr>
                                        <p:cTn id="8" dur="1000" fill="hold"/>
                                        <p:tgtEl>
                                          <p:spTgt spid="17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177"/>
                                        </p:tgtEl>
                                        <p:attrNameLst>
                                          <p:attrName>style.visibility</p:attrName>
                                        </p:attrNameLst>
                                      </p:cBhvr>
                                      <p:to>
                                        <p:strVal val="visible"/>
                                      </p:to>
                                    </p:set>
                                    <p:anim calcmode="lin" valueType="num">
                                      <p:cBhvr>
                                        <p:cTn id="13" dur="1000" fill="hold"/>
                                        <p:tgtEl>
                                          <p:spTgt spid="177"/>
                                        </p:tgtEl>
                                        <p:attrNameLst>
                                          <p:attrName>ppt_x</p:attrName>
                                        </p:attrNameLst>
                                      </p:cBhvr>
                                      <p:tavLst>
                                        <p:tav tm="0">
                                          <p:val>
                                            <p:strVal val="0-#ppt_w/2"/>
                                          </p:val>
                                        </p:tav>
                                        <p:tav tm="100000">
                                          <p:val>
                                            <p:strVal val="#ppt_x"/>
                                          </p:val>
                                        </p:tav>
                                      </p:tavLst>
                                    </p:anim>
                                    <p:anim calcmode="lin" valueType="num">
                                      <p:cBhvr>
                                        <p:cTn id="14" dur="1000" fill="hold"/>
                                        <p:tgtEl>
                                          <p:spTgt spid="1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178"/>
                                        </p:tgtEl>
                                        <p:attrNameLst>
                                          <p:attrName>style.visibility</p:attrName>
                                        </p:attrNameLst>
                                      </p:cBhvr>
                                      <p:to>
                                        <p:strVal val="visible"/>
                                      </p:to>
                                    </p:set>
                                    <p:anim calcmode="lin" valueType="num">
                                      <p:cBhvr>
                                        <p:cTn id="19" dur="1250" fill="hold"/>
                                        <p:tgtEl>
                                          <p:spTgt spid="178"/>
                                        </p:tgtEl>
                                        <p:attrNameLst>
                                          <p:attrName>ppt_x</p:attrName>
                                        </p:attrNameLst>
                                      </p:cBhvr>
                                      <p:tavLst>
                                        <p:tav tm="0">
                                          <p:val>
                                            <p:strVal val="0-#ppt_w/2"/>
                                          </p:val>
                                        </p:tav>
                                        <p:tav tm="100000">
                                          <p:val>
                                            <p:strVal val="#ppt_x"/>
                                          </p:val>
                                        </p:tav>
                                      </p:tavLst>
                                    </p:anim>
                                    <p:anim calcmode="lin" valueType="num">
                                      <p:cBhvr>
                                        <p:cTn id="20" dur="1250" fill="hold"/>
                                        <p:tgtEl>
                                          <p:spTgt spid="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6" grpId="1"/>
      <p:bldP build="whole" bldLvl="1" animBg="1" rev="0" advAuto="0" spid="178" grpId="3"/>
      <p:bldP build="whole" bldLvl="1" animBg="1" rev="0" advAuto="0" spid="177" grpId="2"/>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ipuri de modele în ML"/>
          <p:cNvSpPr txBox="1"/>
          <p:nvPr>
            <p:ph type="title"/>
          </p:nvPr>
        </p:nvSpPr>
        <p:spPr>
          <a:prstGeom prst="rect">
            <a:avLst/>
          </a:prstGeom>
        </p:spPr>
        <p:txBody>
          <a:bodyPr/>
          <a:lstStyle>
            <a:lvl1pPr>
              <a:defRPr spc="-100"/>
            </a:lvl1pPr>
          </a:lstStyle>
          <a:p>
            <a:pPr/>
            <a:r>
              <a:t>Tipuri de modele în ML</a:t>
            </a:r>
          </a:p>
        </p:txBody>
      </p:sp>
      <p:sp>
        <p:nvSpPr>
          <p:cNvPr id="181" name="În general, sunt două tipuri mari și late:"/>
          <p:cNvSpPr txBox="1"/>
          <p:nvPr>
            <p:ph type="body" idx="1"/>
          </p:nvPr>
        </p:nvSpPr>
        <p:spPr>
          <a:xfrm>
            <a:off x="1687402" y="4009347"/>
            <a:ext cx="21948579" cy="8483602"/>
          </a:xfrm>
          <a:prstGeom prst="rect">
            <a:avLst/>
          </a:prstGeom>
        </p:spPr>
        <p:txBody>
          <a:bodyPr/>
          <a:lstStyle/>
          <a:p>
            <a:pPr/>
            <a:r>
              <a:t>În general, sunt două tipuri mari și late:</a:t>
            </a:r>
          </a:p>
        </p:txBody>
      </p:sp>
      <p:sp>
        <p:nvSpPr>
          <p:cNvPr id="182"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8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184" name="Supervizate"/>
          <p:cNvSpPr txBox="1"/>
          <p:nvPr/>
        </p:nvSpPr>
        <p:spPr>
          <a:xfrm>
            <a:off x="1706622" y="5854700"/>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sp>
        <p:nvSpPr>
          <p:cNvPr id="185" name="Nesupervizate"/>
          <p:cNvSpPr txBox="1"/>
          <p:nvPr/>
        </p:nvSpPr>
        <p:spPr>
          <a:xfrm>
            <a:off x="15729881" y="5854699"/>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Regresie</a:t>
            </a:r>
          </a:p>
        </p:txBody>
      </p:sp>
      <p:pic>
        <p:nvPicPr>
          <p:cNvPr id="186" name="Oval Oval" descr="Oval Oval"/>
          <p:cNvPicPr>
            <a:picLocks noChangeAspect="0"/>
          </p:cNvPicPr>
          <p:nvPr/>
        </p:nvPicPr>
        <p:blipFill>
          <a:blip r:embed="rId2">
            <a:extLst/>
          </a:blip>
          <a:stretch>
            <a:fillRect/>
          </a:stretch>
        </p:blipFill>
        <p:spPr>
          <a:xfrm>
            <a:off x="1280651" y="6003647"/>
            <a:ext cx="7430291" cy="2082802"/>
          </a:xfrm>
          <a:prstGeom prst="rect">
            <a:avLst/>
          </a:prstGeom>
        </p:spPr>
      </p:pic>
      <p:sp>
        <p:nvSpPr>
          <p:cNvPr id="188" name="Suprafața în metrii pătrați"/>
          <p:cNvSpPr txBox="1"/>
          <p:nvPr/>
        </p:nvSpPr>
        <p:spPr>
          <a:xfrm>
            <a:off x="1305156" y="8246147"/>
            <a:ext cx="9945117" cy="70713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200">
                <a:latin typeface="Canela Text Regular"/>
                <a:ea typeface="Canela Text Regular"/>
                <a:cs typeface="Canela Text Regular"/>
                <a:sym typeface="Canela Text Regular"/>
              </a:defRPr>
            </a:lvl1pPr>
          </a:lstStyle>
          <a:p>
            <a:pPr/>
            <a:r>
              <a:t>utilizate pentru a clasifica datele în categorii distincte</a:t>
            </a:r>
          </a:p>
        </p:txBody>
      </p:sp>
      <p:sp>
        <p:nvSpPr>
          <p:cNvPr id="189" name="Suprafața în metrii pătrați"/>
          <p:cNvSpPr txBox="1"/>
          <p:nvPr/>
        </p:nvSpPr>
        <p:spPr>
          <a:xfrm>
            <a:off x="1305156" y="9112982"/>
            <a:ext cx="8298385" cy="70713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200">
                <a:latin typeface="Canela Text Regular"/>
                <a:ea typeface="Canela Text Regular"/>
                <a:cs typeface="Canela Text Regular"/>
                <a:sym typeface="Canela Text Regular"/>
              </a:defRPr>
            </a:lvl1pPr>
          </a:lstStyle>
          <a:p>
            <a:pPr/>
            <a:r>
              <a:t>Exemple: regresia logistică, regresia softmax</a:t>
            </a:r>
          </a:p>
        </p:txBody>
      </p:sp>
      <p:pic>
        <p:nvPicPr>
          <p:cNvPr id="190" name="Oval Oval" descr="Oval Oval"/>
          <p:cNvPicPr>
            <a:picLocks noChangeAspect="0"/>
          </p:cNvPicPr>
          <p:nvPr/>
        </p:nvPicPr>
        <p:blipFill>
          <a:blip r:embed="rId2">
            <a:extLst/>
          </a:blip>
          <a:stretch>
            <a:fillRect/>
          </a:stretch>
        </p:blipFill>
        <p:spPr>
          <a:xfrm>
            <a:off x="14386231" y="6003647"/>
            <a:ext cx="7430292" cy="2082802"/>
          </a:xfrm>
          <a:prstGeom prst="rect">
            <a:avLst/>
          </a:prstGeom>
        </p:spPr>
      </p:pic>
      <p:sp>
        <p:nvSpPr>
          <p:cNvPr id="192" name="Suprafața în metrii pătrați"/>
          <p:cNvSpPr txBox="1"/>
          <p:nvPr/>
        </p:nvSpPr>
        <p:spPr>
          <a:xfrm>
            <a:off x="13525531" y="8246147"/>
            <a:ext cx="9349334" cy="70713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200">
                <a:latin typeface="Canela Text Regular"/>
                <a:ea typeface="Canela Text Regular"/>
                <a:cs typeface="Canela Text Regular"/>
                <a:sym typeface="Canela Text Regular"/>
              </a:defRPr>
            </a:lvl1pPr>
          </a:lstStyle>
          <a:p>
            <a:pPr/>
            <a:r>
              <a:t>utilizate pentru a prezice valori numerice continue</a:t>
            </a:r>
          </a:p>
        </p:txBody>
      </p:sp>
      <p:sp>
        <p:nvSpPr>
          <p:cNvPr id="193" name="Suprafața în metrii pătrați"/>
          <p:cNvSpPr txBox="1"/>
          <p:nvPr/>
        </p:nvSpPr>
        <p:spPr>
          <a:xfrm>
            <a:off x="13575518" y="8969555"/>
            <a:ext cx="9051718" cy="1256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atin typeface="Canela Text Regular"/>
                <a:ea typeface="Canela Text Regular"/>
                <a:cs typeface="Canela Text Regular"/>
                <a:sym typeface="Canela Text Regular"/>
              </a:defRPr>
            </a:lvl1pPr>
          </a:lstStyle>
          <a:p>
            <a:pPr/>
            <a:r>
              <a:t>Exemple: regresia liniară, regresia polinomială, regresia ridge, regresia lasso, etc. </a:t>
            </a:r>
          </a:p>
        </p:txBody>
      </p:sp>
      <p:grpSp>
        <p:nvGrpSpPr>
          <p:cNvPr id="196" name="Atenție! Regresia logistică și regresia softmax sunt tot modele de clasificare, chiar dacă conțin cuvântul regresie."/>
          <p:cNvGrpSpPr/>
          <p:nvPr/>
        </p:nvGrpSpPr>
        <p:grpSpPr>
          <a:xfrm>
            <a:off x="977621" y="10585205"/>
            <a:ext cx="21076764" cy="1892352"/>
            <a:chOff x="0" y="0"/>
            <a:chExt cx="21076763" cy="1892350"/>
          </a:xfrm>
        </p:grpSpPr>
        <p:sp>
          <p:nvSpPr>
            <p:cNvPr id="195" name="Atenție! Regresia logistică și regresia softmax sunt tot modele de clasificare, chiar dacă conțin cuvântul regresie."/>
            <p:cNvSpPr txBox="1"/>
            <p:nvPr/>
          </p:nvSpPr>
          <p:spPr>
            <a:xfrm>
              <a:off x="50800" y="50799"/>
              <a:ext cx="20975164" cy="1790752"/>
            </a:xfrm>
            <a:prstGeom prst="rect">
              <a:avLst/>
            </a:prstGeom>
            <a:gradFill flip="none" rotWithShape="1">
              <a:gsLst>
                <a:gs pos="0">
                  <a:srgbClr val="FF0434"/>
                </a:gs>
                <a:gs pos="100000">
                  <a:schemeClr val="accent5">
                    <a:hueOff val="429659"/>
                    <a:satOff val="23107"/>
                    <a:lumOff val="33146"/>
                  </a:schemeClr>
                </a:gs>
              </a:gsLst>
              <a:lin ang="16200000" scaled="0"/>
            </a:gradFill>
            <a:ln>
              <a:noFill/>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a:solidFill>
                    <a:srgbClr val="FFFFFF"/>
                  </a:solidFill>
                </a:defRPr>
              </a:lvl1pPr>
            </a:lstStyle>
            <a:p>
              <a:pPr/>
              <a:r>
                <a:t>Atenție! Regresia logistică și regresia softmax sunt tot modele de clasificare, chiar dacă conțin cuvântul regresie.</a:t>
              </a:r>
            </a:p>
          </p:txBody>
        </p:sp>
        <p:pic>
          <p:nvPicPr>
            <p:cNvPr id="194" name="Atenție! Regresia logistică și regresia softmax sunt tot modele de clasificare, chiar dacă conțin cuvântul regresie. Atenție! Regresia logistică și regresia softmax sunt tot modele de clasificare, chiar dacă conțin cuvântul regresie." descr="Atenție! Regresia logistică și regresia softmax sunt tot modele de clasificare, chiar dacă conțin cuvântul regresie. Atenție! Regresia logistică și regresia softmax sunt tot modele de clasificare, chiar dacă conțin cuvântul regresie."/>
            <p:cNvPicPr>
              <a:picLocks noChangeAspect="0"/>
            </p:cNvPicPr>
            <p:nvPr/>
          </p:nvPicPr>
          <p:blipFill>
            <a:blip r:embed="rId3">
              <a:extLst/>
            </a:blip>
            <a:stretch>
              <a:fillRect/>
            </a:stretch>
          </p:blipFill>
          <p:spPr>
            <a:xfrm>
              <a:off x="0" y="0"/>
              <a:ext cx="21076764" cy="1892351"/>
            </a:xfrm>
            <a:prstGeom prst="rect">
              <a:avLst/>
            </a:prstGeom>
            <a:effectLst/>
          </p:spPr>
        </p:pic>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 presetID="2" grpId="1" fill="hold">
                                  <p:stCondLst>
                                    <p:cond delay="0"/>
                                  </p:stCondLst>
                                  <p:iterate type="el" backwards="0">
                                    <p:tmAbs val="0"/>
                                  </p:iterate>
                                  <p:childTnLst>
                                    <p:set>
                                      <p:cBhvr>
                                        <p:cTn id="6" fill="hold"/>
                                        <p:tgtEl>
                                          <p:spTgt spid="184"/>
                                        </p:tgtEl>
                                        <p:attrNameLst>
                                          <p:attrName>style.visibility</p:attrName>
                                        </p:attrNameLst>
                                      </p:cBhvr>
                                      <p:to>
                                        <p:strVal val="visible"/>
                                      </p:to>
                                    </p:set>
                                    <p:anim calcmode="lin" valueType="num">
                                      <p:cBhvr>
                                        <p:cTn id="7" dur="1000" fill="hold"/>
                                        <p:tgtEl>
                                          <p:spTgt spid="184"/>
                                        </p:tgtEl>
                                        <p:attrNameLst>
                                          <p:attrName>ppt_x</p:attrName>
                                        </p:attrNameLst>
                                      </p:cBhvr>
                                      <p:tavLst>
                                        <p:tav tm="0">
                                          <p:val>
                                            <p:strVal val="#ppt_x"/>
                                          </p:val>
                                        </p:tav>
                                        <p:tav tm="100000">
                                          <p:val>
                                            <p:strVal val="#ppt_x"/>
                                          </p:val>
                                        </p:tav>
                                      </p:tavLst>
                                    </p:anim>
                                    <p:anim calcmode="lin" valueType="num">
                                      <p:cBhvr>
                                        <p:cTn id="8" dur="1000" fill="hold"/>
                                        <p:tgtEl>
                                          <p:spTgt spid="184"/>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Class="entr" nodeType="afterEffect" presetSubtype="1" presetID="2" grpId="2" fill="hold">
                                  <p:stCondLst>
                                    <p:cond delay="0"/>
                                  </p:stCondLst>
                                  <p:iterate type="el" backwards="0">
                                    <p:tmAbs val="0"/>
                                  </p:iterate>
                                  <p:childTnLst>
                                    <p:set>
                                      <p:cBhvr>
                                        <p:cTn id="11" fill="hold"/>
                                        <p:tgtEl>
                                          <p:spTgt spid="185"/>
                                        </p:tgtEl>
                                        <p:attrNameLst>
                                          <p:attrName>style.visibility</p:attrName>
                                        </p:attrNameLst>
                                      </p:cBhvr>
                                      <p:to>
                                        <p:strVal val="visible"/>
                                      </p:to>
                                    </p:set>
                                    <p:anim calcmode="lin" valueType="num">
                                      <p:cBhvr>
                                        <p:cTn id="12" dur="1250" fill="hold"/>
                                        <p:tgtEl>
                                          <p:spTgt spid="185"/>
                                        </p:tgtEl>
                                        <p:attrNameLst>
                                          <p:attrName>ppt_x</p:attrName>
                                        </p:attrNameLst>
                                      </p:cBhvr>
                                      <p:tavLst>
                                        <p:tav tm="0">
                                          <p:val>
                                            <p:strVal val="#ppt_x"/>
                                          </p:val>
                                        </p:tav>
                                        <p:tav tm="100000">
                                          <p:val>
                                            <p:strVal val="#ppt_x"/>
                                          </p:val>
                                        </p:tav>
                                      </p:tavLst>
                                    </p:anim>
                                    <p:anim calcmode="lin" valueType="num">
                                      <p:cBhvr>
                                        <p:cTn id="13" dur="1250" fill="hold"/>
                                        <p:tgtEl>
                                          <p:spTgt spid="185"/>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186"/>
                                        </p:tgtEl>
                                        <p:attrNameLst>
                                          <p:attrName>style.visibility</p:attrName>
                                        </p:attrNameLst>
                                      </p:cBhvr>
                                      <p:to>
                                        <p:strVal val="visible"/>
                                      </p:to>
                                    </p:set>
                                    <p:animEffect filter="dissolve" transition="in">
                                      <p:cBhvr>
                                        <p:cTn id="18" dur="2000"/>
                                        <p:tgtEl>
                                          <p:spTgt spid="186"/>
                                        </p:tgtEl>
                                      </p:cBhvr>
                                    </p:animEffect>
                                  </p:childTnLst>
                                </p:cTn>
                              </p:par>
                            </p:childTnLst>
                          </p:cTn>
                        </p:par>
                        <p:par>
                          <p:cTn id="19" fill="hold">
                            <p:stCondLst>
                              <p:cond delay="2000"/>
                            </p:stCondLst>
                            <p:childTnLst>
                              <p:par>
                                <p:cTn id="20" presetClass="entr" nodeType="afterEffect" presetSubtype="8" presetID="2" grpId="4" fill="hold">
                                  <p:stCondLst>
                                    <p:cond delay="0"/>
                                  </p:stCondLst>
                                  <p:iterate type="el" backwards="0">
                                    <p:tmAbs val="0"/>
                                  </p:iterate>
                                  <p:childTnLst>
                                    <p:set>
                                      <p:cBhvr>
                                        <p:cTn id="21" fill="hold"/>
                                        <p:tgtEl>
                                          <p:spTgt spid="188"/>
                                        </p:tgtEl>
                                        <p:attrNameLst>
                                          <p:attrName>style.visibility</p:attrName>
                                        </p:attrNameLst>
                                      </p:cBhvr>
                                      <p:to>
                                        <p:strVal val="visible"/>
                                      </p:to>
                                    </p:set>
                                    <p:anim calcmode="lin" valueType="num">
                                      <p:cBhvr>
                                        <p:cTn id="22" dur="2000" fill="hold"/>
                                        <p:tgtEl>
                                          <p:spTgt spid="188"/>
                                        </p:tgtEl>
                                        <p:attrNameLst>
                                          <p:attrName>ppt_x</p:attrName>
                                        </p:attrNameLst>
                                      </p:cBhvr>
                                      <p:tavLst>
                                        <p:tav tm="0">
                                          <p:val>
                                            <p:strVal val="0-#ppt_w/2"/>
                                          </p:val>
                                        </p:tav>
                                        <p:tav tm="100000">
                                          <p:val>
                                            <p:strVal val="#ppt_x"/>
                                          </p:val>
                                        </p:tav>
                                      </p:tavLst>
                                    </p:anim>
                                    <p:anim calcmode="lin" valueType="num">
                                      <p:cBhvr>
                                        <p:cTn id="23" dur="2000" fill="hold"/>
                                        <p:tgtEl>
                                          <p:spTgt spid="188"/>
                                        </p:tgtEl>
                                        <p:attrNameLst>
                                          <p:attrName>ppt_y</p:attrName>
                                        </p:attrNameLst>
                                      </p:cBhvr>
                                      <p:tavLst>
                                        <p:tav tm="0">
                                          <p:val>
                                            <p:strVal val="#ppt_y"/>
                                          </p:val>
                                        </p:tav>
                                        <p:tav tm="100000">
                                          <p:val>
                                            <p:strVal val="#ppt_y"/>
                                          </p:val>
                                        </p:tav>
                                      </p:tavLst>
                                    </p:anim>
                                  </p:childTnLst>
                                </p:cTn>
                              </p:par>
                            </p:childTnLst>
                          </p:cTn>
                        </p:par>
                        <p:par>
                          <p:cTn id="24" fill="hold">
                            <p:stCondLst>
                              <p:cond delay="4000"/>
                            </p:stCondLst>
                            <p:childTnLst>
                              <p:par>
                                <p:cTn id="25" presetClass="entr" nodeType="afterEffect" presetSubtype="8" presetID="2" grpId="5" fill="hold">
                                  <p:stCondLst>
                                    <p:cond delay="0"/>
                                  </p:stCondLst>
                                  <p:iterate type="el" backwards="0">
                                    <p:tmAbs val="0"/>
                                  </p:iterate>
                                  <p:childTnLst>
                                    <p:set>
                                      <p:cBhvr>
                                        <p:cTn id="26" fill="hold"/>
                                        <p:tgtEl>
                                          <p:spTgt spid="189"/>
                                        </p:tgtEl>
                                        <p:attrNameLst>
                                          <p:attrName>style.visibility</p:attrName>
                                        </p:attrNameLst>
                                      </p:cBhvr>
                                      <p:to>
                                        <p:strVal val="visible"/>
                                      </p:to>
                                    </p:set>
                                    <p:anim calcmode="lin" valueType="num">
                                      <p:cBhvr>
                                        <p:cTn id="27" dur="2000" fill="hold"/>
                                        <p:tgtEl>
                                          <p:spTgt spid="189"/>
                                        </p:tgtEl>
                                        <p:attrNameLst>
                                          <p:attrName>ppt_x</p:attrName>
                                        </p:attrNameLst>
                                      </p:cBhvr>
                                      <p:tavLst>
                                        <p:tav tm="0">
                                          <p:val>
                                            <p:strVal val="0-#ppt_w/2"/>
                                          </p:val>
                                        </p:tav>
                                        <p:tav tm="100000">
                                          <p:val>
                                            <p:strVal val="#ppt_x"/>
                                          </p:val>
                                        </p:tav>
                                      </p:tavLst>
                                    </p:anim>
                                    <p:anim calcmode="lin" valueType="num">
                                      <p:cBhvr>
                                        <p:cTn id="28" dur="2000" fill="hold"/>
                                        <p:tgtEl>
                                          <p:spTgt spid="18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9" grpId="6" fill="hold">
                                  <p:stCondLst>
                                    <p:cond delay="0"/>
                                  </p:stCondLst>
                                  <p:iterate type="el" backwards="0">
                                    <p:tmAbs val="0"/>
                                  </p:iterate>
                                  <p:childTnLst>
                                    <p:set>
                                      <p:cBhvr>
                                        <p:cTn id="32" fill="hold"/>
                                        <p:tgtEl>
                                          <p:spTgt spid="190"/>
                                        </p:tgtEl>
                                        <p:attrNameLst>
                                          <p:attrName>style.visibility</p:attrName>
                                        </p:attrNameLst>
                                      </p:cBhvr>
                                      <p:to>
                                        <p:strVal val="visible"/>
                                      </p:to>
                                    </p:set>
                                    <p:animEffect filter="dissolve" transition="in">
                                      <p:cBhvr>
                                        <p:cTn id="33" dur="2000"/>
                                        <p:tgtEl>
                                          <p:spTgt spid="190"/>
                                        </p:tgtEl>
                                      </p:cBhvr>
                                    </p:animEffect>
                                  </p:childTnLst>
                                </p:cTn>
                              </p:par>
                            </p:childTnLst>
                          </p:cTn>
                        </p:par>
                        <p:par>
                          <p:cTn id="34" fill="hold">
                            <p:stCondLst>
                              <p:cond delay="2000"/>
                            </p:stCondLst>
                            <p:childTnLst>
                              <p:par>
                                <p:cTn id="35" presetClass="entr" nodeType="afterEffect" presetSubtype="8" presetID="2" grpId="7" fill="hold">
                                  <p:stCondLst>
                                    <p:cond delay="0"/>
                                  </p:stCondLst>
                                  <p:iterate type="el" backwards="0">
                                    <p:tmAbs val="0"/>
                                  </p:iterate>
                                  <p:childTnLst>
                                    <p:set>
                                      <p:cBhvr>
                                        <p:cTn id="36" fill="hold"/>
                                        <p:tgtEl>
                                          <p:spTgt spid="192"/>
                                        </p:tgtEl>
                                        <p:attrNameLst>
                                          <p:attrName>style.visibility</p:attrName>
                                        </p:attrNameLst>
                                      </p:cBhvr>
                                      <p:to>
                                        <p:strVal val="visible"/>
                                      </p:to>
                                    </p:set>
                                    <p:anim calcmode="lin" valueType="num">
                                      <p:cBhvr>
                                        <p:cTn id="37" dur="2000" fill="hold"/>
                                        <p:tgtEl>
                                          <p:spTgt spid="192"/>
                                        </p:tgtEl>
                                        <p:attrNameLst>
                                          <p:attrName>ppt_x</p:attrName>
                                        </p:attrNameLst>
                                      </p:cBhvr>
                                      <p:tavLst>
                                        <p:tav tm="0">
                                          <p:val>
                                            <p:strVal val="0-#ppt_w/2"/>
                                          </p:val>
                                        </p:tav>
                                        <p:tav tm="100000">
                                          <p:val>
                                            <p:strVal val="#ppt_x"/>
                                          </p:val>
                                        </p:tav>
                                      </p:tavLst>
                                    </p:anim>
                                    <p:anim calcmode="lin" valueType="num">
                                      <p:cBhvr>
                                        <p:cTn id="38" dur="2000" fill="hold"/>
                                        <p:tgtEl>
                                          <p:spTgt spid="192"/>
                                        </p:tgtEl>
                                        <p:attrNameLst>
                                          <p:attrName>ppt_y</p:attrName>
                                        </p:attrNameLst>
                                      </p:cBhvr>
                                      <p:tavLst>
                                        <p:tav tm="0">
                                          <p:val>
                                            <p:strVal val="#ppt_y"/>
                                          </p:val>
                                        </p:tav>
                                        <p:tav tm="100000">
                                          <p:val>
                                            <p:strVal val="#ppt_y"/>
                                          </p:val>
                                        </p:tav>
                                      </p:tavLst>
                                    </p:anim>
                                  </p:childTnLst>
                                </p:cTn>
                              </p:par>
                            </p:childTnLst>
                          </p:cTn>
                        </p:par>
                        <p:par>
                          <p:cTn id="39" fill="hold">
                            <p:stCondLst>
                              <p:cond delay="4000"/>
                            </p:stCondLst>
                            <p:childTnLst>
                              <p:par>
                                <p:cTn id="40" presetClass="entr" nodeType="afterEffect" presetSubtype="8" presetID="2" grpId="8" fill="hold">
                                  <p:stCondLst>
                                    <p:cond delay="0"/>
                                  </p:stCondLst>
                                  <p:iterate type="el" backwards="0">
                                    <p:tmAbs val="0"/>
                                  </p:iterate>
                                  <p:childTnLst>
                                    <p:set>
                                      <p:cBhvr>
                                        <p:cTn id="41" fill="hold"/>
                                        <p:tgtEl>
                                          <p:spTgt spid="193"/>
                                        </p:tgtEl>
                                        <p:attrNameLst>
                                          <p:attrName>style.visibility</p:attrName>
                                        </p:attrNameLst>
                                      </p:cBhvr>
                                      <p:to>
                                        <p:strVal val="visible"/>
                                      </p:to>
                                    </p:set>
                                    <p:anim calcmode="lin" valueType="num">
                                      <p:cBhvr>
                                        <p:cTn id="42" dur="2000" fill="hold"/>
                                        <p:tgtEl>
                                          <p:spTgt spid="193"/>
                                        </p:tgtEl>
                                        <p:attrNameLst>
                                          <p:attrName>ppt_x</p:attrName>
                                        </p:attrNameLst>
                                      </p:cBhvr>
                                      <p:tavLst>
                                        <p:tav tm="0">
                                          <p:val>
                                            <p:strVal val="0-#ppt_w/2"/>
                                          </p:val>
                                        </p:tav>
                                        <p:tav tm="100000">
                                          <p:val>
                                            <p:strVal val="#ppt_x"/>
                                          </p:val>
                                        </p:tav>
                                      </p:tavLst>
                                    </p:anim>
                                    <p:anim calcmode="lin" valueType="num">
                                      <p:cBhvr>
                                        <p:cTn id="43" dur="2000" fill="hold"/>
                                        <p:tgtEl>
                                          <p:spTgt spid="193"/>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Class="entr" nodeType="clickEffect" presetID="9" grpId="9" fill="hold">
                                  <p:stCondLst>
                                    <p:cond delay="0"/>
                                  </p:stCondLst>
                                  <p:iterate type="el" backwards="0">
                                    <p:tmAbs val="0"/>
                                  </p:iterate>
                                  <p:childTnLst>
                                    <p:set>
                                      <p:cBhvr>
                                        <p:cTn id="47" fill="hold"/>
                                        <p:tgtEl>
                                          <p:spTgt spid="196"/>
                                        </p:tgtEl>
                                        <p:attrNameLst>
                                          <p:attrName>style.visibility</p:attrName>
                                        </p:attrNameLst>
                                      </p:cBhvr>
                                      <p:to>
                                        <p:strVal val="visible"/>
                                      </p:to>
                                    </p:set>
                                    <p:animEffect filter="dissolve" transition="in">
                                      <p:cBhvr>
                                        <p:cTn id="48" dur="2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4" grpId="1"/>
      <p:bldP build="whole" bldLvl="1" animBg="1" rev="0" advAuto="0" spid="186" grpId="3"/>
      <p:bldP build="whole" bldLvl="1" animBg="1" rev="0" advAuto="0" spid="189" grpId="5"/>
      <p:bldP build="whole" bldLvl="1" animBg="1" rev="0" advAuto="0" spid="190" grpId="6"/>
      <p:bldP build="whole" bldLvl="1" animBg="1" rev="0" advAuto="0" spid="192" grpId="7"/>
      <p:bldP build="whole" bldLvl="1" animBg="1" rev="0" advAuto="0" spid="185" grpId="2"/>
      <p:bldP build="whole" bldLvl="1" animBg="1" rev="0" advAuto="0" spid="188" grpId="4"/>
      <p:bldP build="whole" bldLvl="1" animBg="1" rev="0" advAuto="0" spid="193" grpId="8"/>
      <p:bldP build="whole" bldLvl="1" animBg="1" rev="0" advAuto="0" spid="196" grpId="9"/>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În general, sunt două tipuri mari și late:"/>
          <p:cNvSpPr txBox="1"/>
          <p:nvPr>
            <p:ph type="body" idx="1"/>
          </p:nvPr>
        </p:nvSpPr>
        <p:spPr>
          <a:xfrm>
            <a:off x="1687402" y="4009347"/>
            <a:ext cx="21948579" cy="8483602"/>
          </a:xfrm>
          <a:prstGeom prst="rect">
            <a:avLst/>
          </a:prstGeom>
        </p:spPr>
        <p:txBody>
          <a:bodyPr/>
          <a:lstStyle/>
          <a:p>
            <a:pPr/>
            <a:r>
              <a:t>Haideți să ne reamintim setul de date Iris:</a:t>
            </a:r>
          </a:p>
        </p:txBody>
      </p:sp>
      <p:sp>
        <p:nvSpPr>
          <p:cNvPr id="19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0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01"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202" name="Tabelul 1"/>
          <p:cNvGraphicFramePr/>
          <p:nvPr/>
        </p:nvGraphicFramePr>
        <p:xfrm>
          <a:off x="2553046" y="5547979"/>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4.7</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6.0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03" name="Linie Linie" descr="Linie Linie"/>
          <p:cNvPicPr>
            <a:picLocks noChangeAspect="0"/>
          </p:cNvPicPr>
          <p:nvPr/>
        </p:nvPicPr>
        <p:blipFill>
          <a:blip r:embed="rId2">
            <a:extLst/>
          </a:blip>
          <a:stretch>
            <a:fillRect/>
          </a:stretch>
        </p:blipFill>
        <p:spPr>
          <a:xfrm>
            <a:off x="2703988" y="11562384"/>
            <a:ext cx="15110141" cy="101601"/>
          </a:xfrm>
          <a:prstGeom prst="rect">
            <a:avLst/>
          </a:prstGeom>
        </p:spPr>
      </p:pic>
      <p:sp>
        <p:nvSpPr>
          <p:cNvPr id="205" name="Caracteristici / Atribute / Features"/>
          <p:cNvSpPr txBox="1"/>
          <p:nvPr/>
        </p:nvSpPr>
        <p:spPr>
          <a:xfrm>
            <a:off x="6483129" y="11690949"/>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06" name="Linie Linie" descr="Linie Linie"/>
          <p:cNvPicPr>
            <a:picLocks noChangeAspect="0"/>
          </p:cNvPicPr>
          <p:nvPr/>
        </p:nvPicPr>
        <p:blipFill>
          <a:blip r:embed="rId3">
            <a:extLst/>
          </a:blip>
          <a:stretch>
            <a:fillRect/>
          </a:stretch>
        </p:blipFill>
        <p:spPr>
          <a:xfrm>
            <a:off x="17911213" y="11562384"/>
            <a:ext cx="4101237" cy="101601"/>
          </a:xfrm>
          <a:prstGeom prst="rect">
            <a:avLst/>
          </a:prstGeom>
        </p:spPr>
      </p:pic>
      <p:sp>
        <p:nvSpPr>
          <p:cNvPr id="208" name="Etichetă / Clasă"/>
          <p:cNvSpPr txBox="1"/>
          <p:nvPr/>
        </p:nvSpPr>
        <p:spPr>
          <a:xfrm>
            <a:off x="18145272" y="11690949"/>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98"/>
                                        </p:tgtEl>
                                        <p:attrNameLst>
                                          <p:attrName>style.visibility</p:attrName>
                                        </p:attrNameLst>
                                      </p:cBhvr>
                                      <p:to>
                                        <p:strVal val="visible"/>
                                      </p:to>
                                    </p:set>
                                    <p:anim calcmode="lin" valueType="num">
                                      <p:cBhvr>
                                        <p:cTn id="7" dur="1000" fill="hold"/>
                                        <p:tgtEl>
                                          <p:spTgt spid="198"/>
                                        </p:tgtEl>
                                        <p:attrNameLst>
                                          <p:attrName>ppt_x</p:attrName>
                                        </p:attrNameLst>
                                      </p:cBhvr>
                                      <p:tavLst>
                                        <p:tav tm="0">
                                          <p:val>
                                            <p:strVal val="0-#ppt_w/2"/>
                                          </p:val>
                                        </p:tav>
                                        <p:tav tm="100000">
                                          <p:val>
                                            <p:strVal val="#ppt_x"/>
                                          </p:val>
                                        </p:tav>
                                      </p:tavLst>
                                    </p:anim>
                                    <p:anim calcmode="lin" valueType="num">
                                      <p:cBhvr>
                                        <p:cTn id="8" dur="1000" fill="hold"/>
                                        <p:tgtEl>
                                          <p:spTgt spid="1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02"/>
                                        </p:tgtEl>
                                        <p:attrNameLst>
                                          <p:attrName>style.visibility</p:attrName>
                                        </p:attrNameLst>
                                      </p:cBhvr>
                                      <p:to>
                                        <p:strVal val="visible"/>
                                      </p:to>
                                    </p:set>
                                    <p:anim calcmode="lin" valueType="num">
                                      <p:cBhvr>
                                        <p:cTn id="13" dur="1000" fill="hold"/>
                                        <p:tgtEl>
                                          <p:spTgt spid="202"/>
                                        </p:tgtEl>
                                        <p:attrNameLst>
                                          <p:attrName>ppt_x</p:attrName>
                                        </p:attrNameLst>
                                      </p:cBhvr>
                                      <p:tavLst>
                                        <p:tav tm="0">
                                          <p:val>
                                            <p:strVal val="0-#ppt_w/2"/>
                                          </p:val>
                                        </p:tav>
                                        <p:tav tm="100000">
                                          <p:val>
                                            <p:strVal val="#ppt_x"/>
                                          </p:val>
                                        </p:tav>
                                      </p:tavLst>
                                    </p:anim>
                                    <p:anim calcmode="lin" valueType="num">
                                      <p:cBhvr>
                                        <p:cTn id="14" dur="10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ID="9" grpId="3" fill="hold">
                                  <p:stCondLst>
                                    <p:cond delay="0"/>
                                  </p:stCondLst>
                                  <p:iterate type="el" backwards="0">
                                    <p:tmAbs val="0"/>
                                  </p:iterate>
                                  <p:childTnLst>
                                    <p:set>
                                      <p:cBhvr>
                                        <p:cTn id="18" fill="hold"/>
                                        <p:tgtEl>
                                          <p:spTgt spid="203"/>
                                        </p:tgtEl>
                                        <p:attrNameLst>
                                          <p:attrName>style.visibility</p:attrName>
                                        </p:attrNameLst>
                                      </p:cBhvr>
                                      <p:to>
                                        <p:strVal val="visible"/>
                                      </p:to>
                                    </p:set>
                                    <p:animEffect filter="dissolve" transition="in">
                                      <p:cBhvr>
                                        <p:cTn id="19" dur="1000"/>
                                        <p:tgtEl>
                                          <p:spTgt spid="203"/>
                                        </p:tgtEl>
                                      </p:cBhvr>
                                    </p:animEffect>
                                  </p:childTnLst>
                                </p:cTn>
                              </p:par>
                            </p:childTnLst>
                          </p:cTn>
                        </p:par>
                        <p:par>
                          <p:cTn id="20" fill="hold">
                            <p:stCondLst>
                              <p:cond delay="1000"/>
                            </p:stCondLst>
                            <p:childTnLst>
                              <p:par>
                                <p:cTn id="21" presetClass="entr" nodeType="afterEffect" presetSubtype="8" presetID="2" grpId="4" fill="hold">
                                  <p:stCondLst>
                                    <p:cond delay="0"/>
                                  </p:stCondLst>
                                  <p:iterate type="el" backwards="0">
                                    <p:tmAbs val="0"/>
                                  </p:iterate>
                                  <p:childTnLst>
                                    <p:set>
                                      <p:cBhvr>
                                        <p:cTn id="22" fill="hold"/>
                                        <p:tgtEl>
                                          <p:spTgt spid="205"/>
                                        </p:tgtEl>
                                        <p:attrNameLst>
                                          <p:attrName>style.visibility</p:attrName>
                                        </p:attrNameLst>
                                      </p:cBhvr>
                                      <p:to>
                                        <p:strVal val="visible"/>
                                      </p:to>
                                    </p:set>
                                    <p:anim calcmode="lin" valueType="num">
                                      <p:cBhvr>
                                        <p:cTn id="23" dur="1000" fill="hold"/>
                                        <p:tgtEl>
                                          <p:spTgt spid="205"/>
                                        </p:tgtEl>
                                        <p:attrNameLst>
                                          <p:attrName>ppt_x</p:attrName>
                                        </p:attrNameLst>
                                      </p:cBhvr>
                                      <p:tavLst>
                                        <p:tav tm="0">
                                          <p:val>
                                            <p:strVal val="0-#ppt_w/2"/>
                                          </p:val>
                                        </p:tav>
                                        <p:tav tm="100000">
                                          <p:val>
                                            <p:strVal val="#ppt_x"/>
                                          </p:val>
                                        </p:tav>
                                      </p:tavLst>
                                    </p:anim>
                                    <p:anim calcmode="lin" valueType="num">
                                      <p:cBhvr>
                                        <p:cTn id="24" dur="1000" fill="hold"/>
                                        <p:tgtEl>
                                          <p:spTgt spid="20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ID="9" grpId="5" fill="hold">
                                  <p:stCondLst>
                                    <p:cond delay="0"/>
                                  </p:stCondLst>
                                  <p:iterate type="el" backwards="0">
                                    <p:tmAbs val="0"/>
                                  </p:iterate>
                                  <p:childTnLst>
                                    <p:set>
                                      <p:cBhvr>
                                        <p:cTn id="28" fill="hold"/>
                                        <p:tgtEl>
                                          <p:spTgt spid="206"/>
                                        </p:tgtEl>
                                        <p:attrNameLst>
                                          <p:attrName>style.visibility</p:attrName>
                                        </p:attrNameLst>
                                      </p:cBhvr>
                                      <p:to>
                                        <p:strVal val="visible"/>
                                      </p:to>
                                    </p:set>
                                    <p:animEffect filter="dissolve" transition="in">
                                      <p:cBhvr>
                                        <p:cTn id="29" dur="2000"/>
                                        <p:tgtEl>
                                          <p:spTgt spid="206"/>
                                        </p:tgtEl>
                                      </p:cBhvr>
                                    </p:animEffect>
                                  </p:childTnLst>
                                </p:cTn>
                              </p:par>
                            </p:childTnLst>
                          </p:cTn>
                        </p:par>
                        <p:par>
                          <p:cTn id="30" fill="hold">
                            <p:stCondLst>
                              <p:cond delay="2000"/>
                            </p:stCondLst>
                            <p:childTnLst>
                              <p:par>
                                <p:cTn id="31" presetClass="entr" nodeType="afterEffect" presetSubtype="8" presetID="2" grpId="6" fill="hold">
                                  <p:stCondLst>
                                    <p:cond delay="0"/>
                                  </p:stCondLst>
                                  <p:iterate type="el" backwards="0">
                                    <p:tmAbs val="0"/>
                                  </p:iterate>
                                  <p:childTnLst>
                                    <p:set>
                                      <p:cBhvr>
                                        <p:cTn id="32" fill="hold"/>
                                        <p:tgtEl>
                                          <p:spTgt spid="208"/>
                                        </p:tgtEl>
                                        <p:attrNameLst>
                                          <p:attrName>style.visibility</p:attrName>
                                        </p:attrNameLst>
                                      </p:cBhvr>
                                      <p:to>
                                        <p:strVal val="visible"/>
                                      </p:to>
                                    </p:set>
                                    <p:anim calcmode="lin" valueType="num">
                                      <p:cBhvr>
                                        <p:cTn id="33" dur="1000" fill="hold"/>
                                        <p:tgtEl>
                                          <p:spTgt spid="208"/>
                                        </p:tgtEl>
                                        <p:attrNameLst>
                                          <p:attrName>ppt_x</p:attrName>
                                        </p:attrNameLst>
                                      </p:cBhvr>
                                      <p:tavLst>
                                        <p:tav tm="0">
                                          <p:val>
                                            <p:strVal val="0-#ppt_w/2"/>
                                          </p:val>
                                        </p:tav>
                                        <p:tav tm="100000">
                                          <p:val>
                                            <p:strVal val="#ppt_x"/>
                                          </p:val>
                                        </p:tav>
                                      </p:tavLst>
                                    </p:anim>
                                    <p:anim calcmode="lin" valueType="num">
                                      <p:cBhvr>
                                        <p:cTn id="34" dur="1000" fill="hold"/>
                                        <p:tgtEl>
                                          <p:spTgt spid="2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2" grpId="2"/>
      <p:bldP build="whole" bldLvl="1" animBg="1" rev="0" advAuto="0" spid="205" grpId="4"/>
      <p:bldP build="whole" bldLvl="1" animBg="1" rev="0" advAuto="0" spid="198" grpId="1"/>
      <p:bldP build="whole" bldLvl="1" animBg="1" rev="0" advAuto="0" spid="203" grpId="3"/>
      <p:bldP build="whole" bldLvl="1" animBg="1" rev="0" advAuto="0" spid="206" grpId="5"/>
      <p:bldP build="whole" bldLvl="1" animBg="1" rev="0" advAuto="0" spid="208" grpId="6"/>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1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12"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213" name="Tabelul 1"/>
          <p:cNvGraphicFramePr/>
          <p:nvPr/>
        </p:nvGraphicFramePr>
        <p:xfrm>
          <a:off x="2553046" y="3319334"/>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4.7</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6.0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14" name="Linie Linie" descr="Linie Linie"/>
          <p:cNvPicPr>
            <a:picLocks noChangeAspect="0"/>
          </p:cNvPicPr>
          <p:nvPr/>
        </p:nvPicPr>
        <p:blipFill>
          <a:blip r:embed="rId2">
            <a:extLst/>
          </a:blip>
          <a:stretch>
            <a:fillRect/>
          </a:stretch>
        </p:blipFill>
        <p:spPr>
          <a:xfrm>
            <a:off x="2797628" y="9146457"/>
            <a:ext cx="15110142" cy="101601"/>
          </a:xfrm>
          <a:prstGeom prst="rect">
            <a:avLst/>
          </a:prstGeom>
        </p:spPr>
      </p:pic>
      <p:sp>
        <p:nvSpPr>
          <p:cNvPr id="216" name="Caracteristici / Atribute / Features"/>
          <p:cNvSpPr txBox="1"/>
          <p:nvPr/>
        </p:nvSpPr>
        <p:spPr>
          <a:xfrm>
            <a:off x="6277120"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17" name="Linie Linie" descr="Linie Linie"/>
          <p:cNvPicPr>
            <a:picLocks noChangeAspect="0"/>
          </p:cNvPicPr>
          <p:nvPr/>
        </p:nvPicPr>
        <p:blipFill>
          <a:blip r:embed="rId3">
            <a:extLst/>
          </a:blip>
          <a:stretch>
            <a:fillRect/>
          </a:stretch>
        </p:blipFill>
        <p:spPr>
          <a:xfrm>
            <a:off x="18023582" y="9146457"/>
            <a:ext cx="4101237" cy="101601"/>
          </a:xfrm>
          <a:prstGeom prst="rect">
            <a:avLst/>
          </a:prstGeom>
        </p:spPr>
      </p:pic>
      <p:pic>
        <p:nvPicPr>
          <p:cNvPr id="219" name="Oval Oval" descr="Oval Oval"/>
          <p:cNvPicPr>
            <a:picLocks noChangeAspect="0"/>
          </p:cNvPicPr>
          <p:nvPr/>
        </p:nvPicPr>
        <p:blipFill>
          <a:blip r:embed="rId4">
            <a:extLst/>
          </a:blip>
          <a:stretch>
            <a:fillRect/>
          </a:stretch>
        </p:blipFill>
        <p:spPr>
          <a:xfrm>
            <a:off x="17814909" y="8978393"/>
            <a:ext cx="4518582" cy="1340436"/>
          </a:xfrm>
          <a:prstGeom prst="rect">
            <a:avLst/>
          </a:prstGeom>
        </p:spPr>
      </p:pic>
      <p:sp>
        <p:nvSpPr>
          <p:cNvPr id="221" name="0 - Iris-Setosa"/>
          <p:cNvSpPr txBox="1"/>
          <p:nvPr/>
        </p:nvSpPr>
        <p:spPr>
          <a:xfrm>
            <a:off x="1735248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222" name="1 - Iris-Versicolor"/>
          <p:cNvSpPr txBox="1"/>
          <p:nvPr/>
        </p:nvSpPr>
        <p:spPr>
          <a:xfrm>
            <a:off x="17453443" y="11150982"/>
            <a:ext cx="384317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23" name="2 - Iris-Virginica"/>
          <p:cNvSpPr txBox="1"/>
          <p:nvPr/>
        </p:nvSpPr>
        <p:spPr>
          <a:xfrm>
            <a:off x="17389944" y="11764914"/>
            <a:ext cx="36330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
        <p:nvSpPr>
          <p:cNvPr id="224" name="Etichetă / Clasă"/>
          <p:cNvSpPr txBox="1"/>
          <p:nvPr/>
        </p:nvSpPr>
        <p:spPr>
          <a:xfrm>
            <a:off x="18066979" y="9167874"/>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19"/>
                                        </p:tgtEl>
                                        <p:attrNameLst>
                                          <p:attrName>style.visibility</p:attrName>
                                        </p:attrNameLst>
                                      </p:cBhvr>
                                      <p:to>
                                        <p:strVal val="visible"/>
                                      </p:to>
                                    </p:set>
                                    <p:animEffect filter="dissolve" transition="in">
                                      <p:cBhvr>
                                        <p:cTn id="7" dur="2000"/>
                                        <p:tgtEl>
                                          <p:spTgt spid="219"/>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221"/>
                                        </p:tgtEl>
                                        <p:attrNameLst>
                                          <p:attrName>style.visibility</p:attrName>
                                        </p:attrNameLst>
                                      </p:cBhvr>
                                      <p:to>
                                        <p:strVal val="visible"/>
                                      </p:to>
                                    </p:set>
                                    <p:anim calcmode="lin" valueType="num">
                                      <p:cBhvr>
                                        <p:cTn id="11" dur="1000" fill="hold"/>
                                        <p:tgtEl>
                                          <p:spTgt spid="221"/>
                                        </p:tgtEl>
                                        <p:attrNameLst>
                                          <p:attrName>ppt_x</p:attrName>
                                        </p:attrNameLst>
                                      </p:cBhvr>
                                      <p:tavLst>
                                        <p:tav tm="0">
                                          <p:val>
                                            <p:strVal val="0-#ppt_w/2"/>
                                          </p:val>
                                        </p:tav>
                                        <p:tav tm="100000">
                                          <p:val>
                                            <p:strVal val="#ppt_x"/>
                                          </p:val>
                                        </p:tav>
                                      </p:tavLst>
                                    </p:anim>
                                    <p:anim calcmode="lin" valueType="num">
                                      <p:cBhvr>
                                        <p:cTn id="12" dur="1000" fill="hold"/>
                                        <p:tgtEl>
                                          <p:spTgt spid="221"/>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ntr" nodeType="afterEffect" presetSubtype="8" presetID="2" grpId="3" fill="hold">
                                  <p:stCondLst>
                                    <p:cond delay="0"/>
                                  </p:stCondLst>
                                  <p:iterate type="el" backwards="0">
                                    <p:tmAbs val="0"/>
                                  </p:iterate>
                                  <p:childTnLst>
                                    <p:set>
                                      <p:cBhvr>
                                        <p:cTn id="15" fill="hold"/>
                                        <p:tgtEl>
                                          <p:spTgt spid="222"/>
                                        </p:tgtEl>
                                        <p:attrNameLst>
                                          <p:attrName>style.visibility</p:attrName>
                                        </p:attrNameLst>
                                      </p:cBhvr>
                                      <p:to>
                                        <p:strVal val="visible"/>
                                      </p:to>
                                    </p:set>
                                    <p:anim calcmode="lin" valueType="num">
                                      <p:cBhvr>
                                        <p:cTn id="16" dur="1000" fill="hold"/>
                                        <p:tgtEl>
                                          <p:spTgt spid="222"/>
                                        </p:tgtEl>
                                        <p:attrNameLst>
                                          <p:attrName>ppt_x</p:attrName>
                                        </p:attrNameLst>
                                      </p:cBhvr>
                                      <p:tavLst>
                                        <p:tav tm="0">
                                          <p:val>
                                            <p:strVal val="0-#ppt_w/2"/>
                                          </p:val>
                                        </p:tav>
                                        <p:tav tm="100000">
                                          <p:val>
                                            <p:strVal val="#ppt_x"/>
                                          </p:val>
                                        </p:tav>
                                      </p:tavLst>
                                    </p:anim>
                                    <p:anim calcmode="lin" valueType="num">
                                      <p:cBhvr>
                                        <p:cTn id="17" dur="1000" fill="hold"/>
                                        <p:tgtEl>
                                          <p:spTgt spid="222"/>
                                        </p:tgtEl>
                                        <p:attrNameLst>
                                          <p:attrName>ppt_y</p:attrName>
                                        </p:attrNameLst>
                                      </p:cBhvr>
                                      <p:tavLst>
                                        <p:tav tm="0">
                                          <p:val>
                                            <p:strVal val="#ppt_y"/>
                                          </p:val>
                                        </p:tav>
                                        <p:tav tm="100000">
                                          <p:val>
                                            <p:strVal val="#ppt_y"/>
                                          </p:val>
                                        </p:tav>
                                      </p:tavLst>
                                    </p:anim>
                                  </p:childTnLst>
                                </p:cTn>
                              </p:par>
                            </p:childTnLst>
                          </p:cTn>
                        </p:par>
                        <p:par>
                          <p:cTn id="18" fill="hold">
                            <p:stCondLst>
                              <p:cond delay="4000"/>
                            </p:stCondLst>
                            <p:childTnLst>
                              <p:par>
                                <p:cTn id="19" presetClass="entr" nodeType="afterEffect" presetSubtype="8" presetID="2" grpId="4" fill="hold">
                                  <p:stCondLst>
                                    <p:cond delay="0"/>
                                  </p:stCondLst>
                                  <p:iterate type="el" backwards="0">
                                    <p:tmAbs val="0"/>
                                  </p:iterate>
                                  <p:childTnLst>
                                    <p:set>
                                      <p:cBhvr>
                                        <p:cTn id="20" fill="hold"/>
                                        <p:tgtEl>
                                          <p:spTgt spid="223"/>
                                        </p:tgtEl>
                                        <p:attrNameLst>
                                          <p:attrName>style.visibility</p:attrName>
                                        </p:attrNameLst>
                                      </p:cBhvr>
                                      <p:to>
                                        <p:strVal val="visible"/>
                                      </p:to>
                                    </p:set>
                                    <p:anim calcmode="lin" valueType="num">
                                      <p:cBhvr>
                                        <p:cTn id="21" dur="1000" fill="hold"/>
                                        <p:tgtEl>
                                          <p:spTgt spid="223"/>
                                        </p:tgtEl>
                                        <p:attrNameLst>
                                          <p:attrName>ppt_x</p:attrName>
                                        </p:attrNameLst>
                                      </p:cBhvr>
                                      <p:tavLst>
                                        <p:tav tm="0">
                                          <p:val>
                                            <p:strVal val="0-#ppt_w/2"/>
                                          </p:val>
                                        </p:tav>
                                        <p:tav tm="100000">
                                          <p:val>
                                            <p:strVal val="#ppt_x"/>
                                          </p:val>
                                        </p:tav>
                                      </p:tavLst>
                                    </p:anim>
                                    <p:anim calcmode="lin" valueType="num">
                                      <p:cBhvr>
                                        <p:cTn id="22" dur="1000" fill="hold"/>
                                        <p:tgtEl>
                                          <p:spTgt spid="2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2" grpId="3"/>
      <p:bldP build="whole" bldLvl="1" animBg="1" rev="0" advAuto="0" spid="219" grpId="1"/>
      <p:bldP build="whole" bldLvl="1" animBg="1" rev="0" advAuto="0" spid="223" grpId="4"/>
      <p:bldP build="whole" bldLvl="1" animBg="1" rev="0" advAuto="0" spid="221"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28"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229" name="Tabelul 1"/>
          <p:cNvGraphicFramePr/>
          <p:nvPr/>
        </p:nvGraphicFramePr>
        <p:xfrm>
          <a:off x="6408627" y="3197503"/>
          <a:ext cx="15435027"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30" name="Linie Linie" descr="Linie Linie"/>
          <p:cNvPicPr>
            <a:picLocks noChangeAspect="0"/>
          </p:cNvPicPr>
          <p:nvPr/>
        </p:nvPicPr>
        <p:blipFill>
          <a:blip r:embed="rId2">
            <a:extLst/>
          </a:blip>
          <a:stretch>
            <a:fillRect/>
          </a:stretch>
        </p:blipFill>
        <p:spPr>
          <a:xfrm>
            <a:off x="6476230" y="9146457"/>
            <a:ext cx="7497546" cy="101601"/>
          </a:xfrm>
          <a:prstGeom prst="rect">
            <a:avLst/>
          </a:prstGeom>
        </p:spPr>
      </p:pic>
      <p:sp>
        <p:nvSpPr>
          <p:cNvPr id="232" name="Caracteristici / Atribute / Features"/>
          <p:cNvSpPr txBox="1"/>
          <p:nvPr/>
        </p:nvSpPr>
        <p:spPr>
          <a:xfrm>
            <a:off x="5383114"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33" name="Linie Linie" descr="Linie Linie"/>
          <p:cNvPicPr>
            <a:picLocks noChangeAspect="0"/>
          </p:cNvPicPr>
          <p:nvPr/>
        </p:nvPicPr>
        <p:blipFill>
          <a:blip r:embed="rId3">
            <a:extLst/>
          </a:blip>
          <a:stretch>
            <a:fillRect/>
          </a:stretch>
        </p:blipFill>
        <p:spPr>
          <a:xfrm>
            <a:off x="14352871" y="9146457"/>
            <a:ext cx="4101237" cy="101601"/>
          </a:xfrm>
          <a:prstGeom prst="rect">
            <a:avLst/>
          </a:prstGeom>
        </p:spPr>
      </p:pic>
      <p:sp>
        <p:nvSpPr>
          <p:cNvPr id="235" name="Etichetă / Clasă"/>
          <p:cNvSpPr txBox="1"/>
          <p:nvPr/>
        </p:nvSpPr>
        <p:spPr>
          <a:xfrm>
            <a:off x="14559550" y="9269685"/>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pic>
        <p:nvPicPr>
          <p:cNvPr id="236" name="Oval Oval" descr="Oval Oval"/>
          <p:cNvPicPr>
            <a:picLocks noChangeAspect="0"/>
          </p:cNvPicPr>
          <p:nvPr/>
        </p:nvPicPr>
        <p:blipFill>
          <a:blip r:embed="rId4">
            <a:extLst/>
          </a:blip>
          <a:stretch>
            <a:fillRect/>
          </a:stretch>
        </p:blipFill>
        <p:spPr>
          <a:xfrm>
            <a:off x="14359004" y="9222599"/>
            <a:ext cx="4415533" cy="1028386"/>
          </a:xfrm>
          <a:prstGeom prst="rect">
            <a:avLst/>
          </a:prstGeom>
        </p:spPr>
      </p:pic>
      <p:sp>
        <p:nvSpPr>
          <p:cNvPr id="238" name="0 - Iris-Setosa"/>
          <p:cNvSpPr txBox="1"/>
          <p:nvPr/>
        </p:nvSpPr>
        <p:spPr>
          <a:xfrm>
            <a:off x="1476800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239" name="1 - Iris-Versicolor"/>
          <p:cNvSpPr txBox="1"/>
          <p:nvPr/>
        </p:nvSpPr>
        <p:spPr>
          <a:xfrm>
            <a:off x="14868963" y="11150983"/>
            <a:ext cx="38431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40" name="2 - Iris-Virginica"/>
          <p:cNvSpPr txBox="1"/>
          <p:nvPr/>
        </p:nvSpPr>
        <p:spPr>
          <a:xfrm>
            <a:off x="14805465" y="11764914"/>
            <a:ext cx="363306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4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44"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sp>
        <p:nvSpPr>
          <p:cNvPr id="245" name="K-Nearest Neighbors"/>
          <p:cNvSpPr txBox="1"/>
          <p:nvPr/>
        </p:nvSpPr>
        <p:spPr>
          <a:xfrm>
            <a:off x="1538908" y="5053584"/>
            <a:ext cx="19988785" cy="36088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8400">
                <a:latin typeface="Canela Regular"/>
                <a:ea typeface="Canela Regular"/>
                <a:cs typeface="Canela Regular"/>
                <a:sym typeface="Canela Regular"/>
              </a:defRPr>
            </a:lvl1pPr>
          </a:lstStyle>
          <a:p>
            <a:pPr/>
            <a:r>
              <a:t>K-Nearest Neighbors</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4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49"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graphicFrame>
        <p:nvGraphicFramePr>
          <p:cNvPr id="250" name="Tabelul 1"/>
          <p:cNvGraphicFramePr/>
          <p:nvPr/>
        </p:nvGraphicFramePr>
        <p:xfrm>
          <a:off x="6408627" y="3197503"/>
          <a:ext cx="15435027"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51" name="Linie Linie" descr="Linie Linie"/>
          <p:cNvPicPr>
            <a:picLocks noChangeAspect="0"/>
          </p:cNvPicPr>
          <p:nvPr/>
        </p:nvPicPr>
        <p:blipFill>
          <a:blip r:embed="rId2">
            <a:extLst/>
          </a:blip>
          <a:stretch>
            <a:fillRect/>
          </a:stretch>
        </p:blipFill>
        <p:spPr>
          <a:xfrm>
            <a:off x="6476230" y="9146457"/>
            <a:ext cx="7497546" cy="101601"/>
          </a:xfrm>
          <a:prstGeom prst="rect">
            <a:avLst/>
          </a:prstGeom>
        </p:spPr>
      </p:pic>
      <p:sp>
        <p:nvSpPr>
          <p:cNvPr id="253" name="Caracteristici / Atribute / Features"/>
          <p:cNvSpPr txBox="1"/>
          <p:nvPr/>
        </p:nvSpPr>
        <p:spPr>
          <a:xfrm>
            <a:off x="5383114"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54" name="Linie Linie" descr="Linie Linie"/>
          <p:cNvPicPr>
            <a:picLocks noChangeAspect="0"/>
          </p:cNvPicPr>
          <p:nvPr/>
        </p:nvPicPr>
        <p:blipFill>
          <a:blip r:embed="rId3">
            <a:extLst/>
          </a:blip>
          <a:stretch>
            <a:fillRect/>
          </a:stretch>
        </p:blipFill>
        <p:spPr>
          <a:xfrm>
            <a:off x="14352871" y="9146457"/>
            <a:ext cx="4101237" cy="101601"/>
          </a:xfrm>
          <a:prstGeom prst="rect">
            <a:avLst/>
          </a:prstGeom>
        </p:spPr>
      </p:pic>
      <p:sp>
        <p:nvSpPr>
          <p:cNvPr id="256" name="Etichetă / Clasă"/>
          <p:cNvSpPr txBox="1"/>
          <p:nvPr/>
        </p:nvSpPr>
        <p:spPr>
          <a:xfrm>
            <a:off x="14559550" y="9167874"/>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pic>
        <p:nvPicPr>
          <p:cNvPr id="257" name="Oval Oval" descr="Oval Oval"/>
          <p:cNvPicPr>
            <a:picLocks noChangeAspect="0"/>
          </p:cNvPicPr>
          <p:nvPr/>
        </p:nvPicPr>
        <p:blipFill>
          <a:blip r:embed="rId4">
            <a:extLst/>
          </a:blip>
          <a:stretch>
            <a:fillRect/>
          </a:stretch>
        </p:blipFill>
        <p:spPr>
          <a:xfrm>
            <a:off x="13994844" y="9018387"/>
            <a:ext cx="5143853" cy="1233189"/>
          </a:xfrm>
          <a:prstGeom prst="rect">
            <a:avLst/>
          </a:prstGeom>
        </p:spPr>
      </p:pic>
      <p:sp>
        <p:nvSpPr>
          <p:cNvPr id="259" name="0 - Iris-Setosa"/>
          <p:cNvSpPr txBox="1"/>
          <p:nvPr/>
        </p:nvSpPr>
        <p:spPr>
          <a:xfrm>
            <a:off x="1476800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260" name="1 - Iris-Versicolor"/>
          <p:cNvSpPr txBox="1"/>
          <p:nvPr/>
        </p:nvSpPr>
        <p:spPr>
          <a:xfrm>
            <a:off x="14868963" y="11150983"/>
            <a:ext cx="38431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61" name="2 - Iris-Virginica"/>
          <p:cNvSpPr txBox="1"/>
          <p:nvPr/>
        </p:nvSpPr>
        <p:spPr>
          <a:xfrm>
            <a:off x="14805465" y="11764914"/>
            <a:ext cx="363306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6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65" name="Captură de ecran din 2024-10-13 la 20.40.55.png" descr="Captură de ecran din 2024-10-13 la 20.40.55.png"/>
          <p:cNvPicPr>
            <a:picLocks noChangeAspect="1"/>
          </p:cNvPicPr>
          <p:nvPr/>
        </p:nvPicPr>
        <p:blipFill>
          <a:blip r:embed="rId2">
            <a:extLst/>
          </a:blip>
          <a:stretch>
            <a:fillRect/>
          </a:stretch>
        </p:blipFill>
        <p:spPr>
          <a:xfrm>
            <a:off x="5349805" y="2702305"/>
            <a:ext cx="13684390" cy="10355094"/>
          </a:xfrm>
          <a:prstGeom prst="rect">
            <a:avLst/>
          </a:prstGeom>
          <a:ln w="12700">
            <a:miter lim="400000"/>
          </a:ln>
        </p:spPr>
      </p:pic>
      <p:sp>
        <p:nvSpPr>
          <p:cNvPr id="266"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6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70" name="Captură de ecran din 2024-10-13 la 20.40.55.png" descr="Captură de ecran din 2024-10-13 la 20.40.55.png"/>
          <p:cNvPicPr>
            <a:picLocks noChangeAspect="1"/>
          </p:cNvPicPr>
          <p:nvPr/>
        </p:nvPicPr>
        <p:blipFill>
          <a:blip r:embed="rId2">
            <a:extLst/>
          </a:blip>
          <a:stretch>
            <a:fillRect/>
          </a:stretch>
        </p:blipFill>
        <p:spPr>
          <a:xfrm>
            <a:off x="5349805" y="2702305"/>
            <a:ext cx="13684390" cy="10355094"/>
          </a:xfrm>
          <a:prstGeom prst="rect">
            <a:avLst/>
          </a:prstGeom>
          <a:ln w="12700">
            <a:miter lim="400000"/>
          </a:ln>
        </p:spPr>
      </p:pic>
      <p:pic>
        <p:nvPicPr>
          <p:cNvPr id="271" name="Captură de ecran din 2024-10-13 la 20.52.25.png" descr="Captură de ecran din 2024-10-13 la 20.52.25.png"/>
          <p:cNvPicPr>
            <a:picLocks noChangeAspect="1"/>
          </p:cNvPicPr>
          <p:nvPr/>
        </p:nvPicPr>
        <p:blipFill>
          <a:blip r:embed="rId3">
            <a:extLst/>
          </a:blip>
          <a:stretch>
            <a:fillRect/>
          </a:stretch>
        </p:blipFill>
        <p:spPr>
          <a:xfrm>
            <a:off x="5284663" y="2623620"/>
            <a:ext cx="14240288" cy="10512464"/>
          </a:xfrm>
          <a:prstGeom prst="rect">
            <a:avLst/>
          </a:prstGeom>
          <a:ln w="12700">
            <a:miter lim="400000"/>
          </a:ln>
        </p:spPr>
      </p:pic>
      <p:sp>
        <p:nvSpPr>
          <p:cNvPr id="272"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
        <p:nvSpPr>
          <p:cNvPr id="273" name="Oval"/>
          <p:cNvSpPr/>
          <p:nvPr/>
        </p:nvSpPr>
        <p:spPr>
          <a:xfrm>
            <a:off x="10414585" y="6129359"/>
            <a:ext cx="306893" cy="284507"/>
          </a:xfrm>
          <a:prstGeom prst="ellipse">
            <a:avLst/>
          </a:prstGeom>
          <a:solidFill>
            <a:srgbClr val="000000"/>
          </a:solidFill>
          <a:ln w="25400">
            <a:solidFill>
              <a:srgbClr val="000000"/>
            </a:solidFill>
          </a:ln>
        </p:spPr>
        <p:txBody>
          <a:bodyPr lIns="50800" tIns="50800" rIns="50800" bIns="50800" anchor="ctr"/>
          <a:lstStyle/>
          <a:p>
            <a:pP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73"/>
                                        </p:tgtEl>
                                        <p:attrNameLst>
                                          <p:attrName>style.visibility</p:attrName>
                                        </p:attrNameLst>
                                      </p:cBhvr>
                                      <p:to>
                                        <p:strVal val="visible"/>
                                      </p:to>
                                    </p:set>
                                    <p:animEffect filter="dissolve" transition="in">
                                      <p:cBhvr>
                                        <p:cTn id="7" dur="2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3"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7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77" name="Captură de ecran din 2024-10-13 la 20.40.55.png" descr="Captură de ecran din 2024-10-13 la 20.40.55.png"/>
          <p:cNvPicPr>
            <a:picLocks noChangeAspect="1"/>
          </p:cNvPicPr>
          <p:nvPr/>
        </p:nvPicPr>
        <p:blipFill>
          <a:blip r:embed="rId2">
            <a:extLst/>
          </a:blip>
          <a:stretch>
            <a:fillRect/>
          </a:stretch>
        </p:blipFill>
        <p:spPr>
          <a:xfrm>
            <a:off x="761418" y="2795946"/>
            <a:ext cx="13684390" cy="10355093"/>
          </a:xfrm>
          <a:prstGeom prst="rect">
            <a:avLst/>
          </a:prstGeom>
          <a:ln w="12700">
            <a:miter lim="400000"/>
          </a:ln>
        </p:spPr>
      </p:pic>
      <p:pic>
        <p:nvPicPr>
          <p:cNvPr id="278" name="Captură de ecran din 2024-10-13 la 20.52.25.png" descr="Captură de ecran din 2024-10-13 la 20.52.25.png"/>
          <p:cNvPicPr>
            <a:picLocks noChangeAspect="1"/>
          </p:cNvPicPr>
          <p:nvPr/>
        </p:nvPicPr>
        <p:blipFill>
          <a:blip r:embed="rId3">
            <a:extLst/>
          </a:blip>
          <a:stretch>
            <a:fillRect/>
          </a:stretch>
        </p:blipFill>
        <p:spPr>
          <a:xfrm>
            <a:off x="696276" y="2717260"/>
            <a:ext cx="14240288" cy="10512464"/>
          </a:xfrm>
          <a:prstGeom prst="rect">
            <a:avLst/>
          </a:prstGeom>
          <a:ln w="12700">
            <a:miter lim="400000"/>
          </a:ln>
        </p:spPr>
      </p:pic>
      <p:sp>
        <p:nvSpPr>
          <p:cNvPr id="279"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
        <p:nvSpPr>
          <p:cNvPr id="280" name="Oval"/>
          <p:cNvSpPr/>
          <p:nvPr/>
        </p:nvSpPr>
        <p:spPr>
          <a:xfrm>
            <a:off x="5826198" y="6223000"/>
            <a:ext cx="306893" cy="284507"/>
          </a:xfrm>
          <a:prstGeom prst="ellipse">
            <a:avLst/>
          </a:prstGeom>
          <a:solidFill>
            <a:srgbClr val="000000"/>
          </a:solidFill>
          <a:ln w="25400">
            <a:solidFill>
              <a:srgbClr val="000000"/>
            </a:solidFill>
          </a:ln>
        </p:spPr>
        <p:txBody>
          <a:bodyPr lIns="50800" tIns="50800" rIns="50800" bIns="50800" anchor="ctr"/>
          <a:lstStyle/>
          <a:p>
            <a:pPr/>
          </a:p>
        </p:txBody>
      </p:sp>
      <p:sp>
        <p:nvSpPr>
          <p:cNvPr id="281" name="- un algoritm simplu și intuitiv de clasificare care funcționează pe baza similarității între puncte de date."/>
          <p:cNvSpPr txBox="1"/>
          <p:nvPr/>
        </p:nvSpPr>
        <p:spPr>
          <a:xfrm>
            <a:off x="14994222" y="2531244"/>
            <a:ext cx="6568175" cy="40967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solidFill>
                  <a:srgbClr val="111111"/>
                </a:solidFill>
                <a:latin typeface="Canela Text Regular"/>
                <a:ea typeface="Canela Text Regular"/>
                <a:cs typeface="Canela Text Regular"/>
                <a:sym typeface="Canela Text Regular"/>
              </a:defRPr>
            </a:lvl1pPr>
          </a:lstStyle>
          <a:p>
            <a:pPr/>
            <a:r>
              <a:t> - un algoritm simplu și intuitiv de clasificare care funcționează pe baza similarității între puncte de date. </a:t>
            </a:r>
          </a:p>
        </p:txBody>
      </p:sp>
      <p:sp>
        <p:nvSpPr>
          <p:cNvPr id="282" name="- când avem un exemplu nou de floare (un punct nou de date), KNN caută în setul de date cele mai apropiate k flori, calculând distanța dintre floarea nouă și toate florile din setul de antrenament. În general, se folosește distanța Euclidiană pentru a mă"/>
          <p:cNvSpPr txBox="1"/>
          <p:nvPr/>
        </p:nvSpPr>
        <p:spPr>
          <a:xfrm>
            <a:off x="14898668" y="6748030"/>
            <a:ext cx="9424031" cy="5463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a:latin typeface="Canela Regular"/>
                <a:ea typeface="Canela Regular"/>
                <a:cs typeface="Canela Regular"/>
                <a:sym typeface="Canela Regular"/>
              </a:defRPr>
            </a:pPr>
            <a:r>
              <a:t>- când avem un exemplu nou de floare (un punct nou de date), KNN caută în setul de date cele mai apropiate </a:t>
            </a:r>
            <a:r>
              <a:rPr u="sng">
                <a:latin typeface="Canela Bold"/>
                <a:ea typeface="Canela Bold"/>
                <a:cs typeface="Canela Bold"/>
                <a:sym typeface="Canela Bold"/>
              </a:rPr>
              <a:t>k</a:t>
            </a:r>
            <a:r>
              <a:t> flori, calculând distanța dintre floarea nouă și toate florile din setul de antrenament. În general, se folosește distanța Euclidiană pentru a măsura această apropiere.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81"/>
                                        </p:tgtEl>
                                        <p:attrNameLst>
                                          <p:attrName>style.visibility</p:attrName>
                                        </p:attrNameLst>
                                      </p:cBhvr>
                                      <p:to>
                                        <p:strVal val="visible"/>
                                      </p:to>
                                    </p:set>
                                    <p:anim calcmode="lin" valueType="num">
                                      <p:cBhvr>
                                        <p:cTn id="7" dur="1000" fill="hold"/>
                                        <p:tgtEl>
                                          <p:spTgt spid="281"/>
                                        </p:tgtEl>
                                        <p:attrNameLst>
                                          <p:attrName>ppt_x</p:attrName>
                                        </p:attrNameLst>
                                      </p:cBhvr>
                                      <p:tavLst>
                                        <p:tav tm="0">
                                          <p:val>
                                            <p:strVal val="0-#ppt_w/2"/>
                                          </p:val>
                                        </p:tav>
                                        <p:tav tm="100000">
                                          <p:val>
                                            <p:strVal val="#ppt_x"/>
                                          </p:val>
                                        </p:tav>
                                      </p:tavLst>
                                    </p:anim>
                                    <p:anim calcmode="lin" valueType="num">
                                      <p:cBhvr>
                                        <p:cTn id="8" dur="1000" fill="hold"/>
                                        <p:tgtEl>
                                          <p:spTgt spid="28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282"/>
                                        </p:tgtEl>
                                        <p:attrNameLst>
                                          <p:attrName>style.visibility</p:attrName>
                                        </p:attrNameLst>
                                      </p:cBhvr>
                                      <p:to>
                                        <p:strVal val="visible"/>
                                      </p:to>
                                    </p:set>
                                    <p:anim calcmode="lin" valueType="num">
                                      <p:cBhvr>
                                        <p:cTn id="12" dur="1000" fill="hold"/>
                                        <p:tgtEl>
                                          <p:spTgt spid="282"/>
                                        </p:tgtEl>
                                        <p:attrNameLst>
                                          <p:attrName>ppt_x</p:attrName>
                                        </p:attrNameLst>
                                      </p:cBhvr>
                                      <p:tavLst>
                                        <p:tav tm="0">
                                          <p:val>
                                            <p:strVal val="0-#ppt_w/2"/>
                                          </p:val>
                                        </p:tav>
                                        <p:tav tm="100000">
                                          <p:val>
                                            <p:strVal val="#ppt_x"/>
                                          </p:val>
                                        </p:tav>
                                      </p:tavLst>
                                    </p:anim>
                                    <p:anim calcmode="lin" valueType="num">
                                      <p:cBhvr>
                                        <p:cTn id="13" dur="1000" fill="hold"/>
                                        <p:tgtEl>
                                          <p:spTgt spid="2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1" grpId="1"/>
      <p:bldP build="whole" bldLvl="1" animBg="1" rev="0" advAuto="0" spid="282"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8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86" name="Captură de ecran din 2024-10-13 la 20.40.55.png" descr="Captură de ecran din 2024-10-13 la 20.40.55.png"/>
          <p:cNvPicPr>
            <a:picLocks noChangeAspect="1"/>
          </p:cNvPicPr>
          <p:nvPr/>
        </p:nvPicPr>
        <p:blipFill>
          <a:blip r:embed="rId2">
            <a:extLst/>
          </a:blip>
          <a:stretch>
            <a:fillRect/>
          </a:stretch>
        </p:blipFill>
        <p:spPr>
          <a:xfrm>
            <a:off x="761418" y="2795946"/>
            <a:ext cx="13684390" cy="10355093"/>
          </a:xfrm>
          <a:prstGeom prst="rect">
            <a:avLst/>
          </a:prstGeom>
          <a:ln w="12700">
            <a:miter lim="400000"/>
          </a:ln>
        </p:spPr>
      </p:pic>
      <p:pic>
        <p:nvPicPr>
          <p:cNvPr id="287" name="Captură de ecran din 2024-10-13 la 20.52.25.png" descr="Captură de ecran din 2024-10-13 la 20.52.25.png"/>
          <p:cNvPicPr>
            <a:picLocks noChangeAspect="1"/>
          </p:cNvPicPr>
          <p:nvPr/>
        </p:nvPicPr>
        <p:blipFill>
          <a:blip r:embed="rId3">
            <a:extLst/>
          </a:blip>
          <a:stretch>
            <a:fillRect/>
          </a:stretch>
        </p:blipFill>
        <p:spPr>
          <a:xfrm>
            <a:off x="696276" y="2717260"/>
            <a:ext cx="14240288" cy="10512464"/>
          </a:xfrm>
          <a:prstGeom prst="rect">
            <a:avLst/>
          </a:prstGeom>
          <a:ln w="12700">
            <a:miter lim="400000"/>
          </a:ln>
        </p:spPr>
      </p:pic>
      <p:sp>
        <p:nvSpPr>
          <p:cNvPr id="288"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
        <p:nvSpPr>
          <p:cNvPr id="289" name="Oval"/>
          <p:cNvSpPr/>
          <p:nvPr/>
        </p:nvSpPr>
        <p:spPr>
          <a:xfrm>
            <a:off x="5826198" y="6223000"/>
            <a:ext cx="306893" cy="284507"/>
          </a:xfrm>
          <a:prstGeom prst="ellipse">
            <a:avLst/>
          </a:prstGeom>
          <a:solidFill>
            <a:srgbClr val="000000"/>
          </a:solidFill>
          <a:ln w="25400">
            <a:solidFill>
              <a:srgbClr val="000000"/>
            </a:solidFill>
          </a:ln>
        </p:spPr>
        <p:txBody>
          <a:bodyPr lIns="50800" tIns="50800" rIns="50800" bIns="50800" anchor="ctr"/>
          <a:lstStyle/>
          <a:p>
            <a:pPr/>
          </a:p>
        </p:txBody>
      </p:sp>
      <p:sp>
        <p:nvSpPr>
          <p:cNvPr id="290" name="Exemplu:"/>
          <p:cNvSpPr txBox="1"/>
          <p:nvPr/>
        </p:nvSpPr>
        <p:spPr>
          <a:xfrm>
            <a:off x="15116788" y="3019834"/>
            <a:ext cx="249478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Exemplu:</a:t>
            </a:r>
          </a:p>
        </p:txBody>
      </p:sp>
      <p:sp>
        <p:nvSpPr>
          <p:cNvPr id="291" name="La k = 1:"/>
          <p:cNvSpPr txBox="1"/>
          <p:nvPr/>
        </p:nvSpPr>
        <p:spPr>
          <a:xfrm>
            <a:off x="15135516" y="4218433"/>
            <a:ext cx="190469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La k = 1:</a:t>
            </a:r>
          </a:p>
        </p:txBody>
      </p:sp>
      <p:sp>
        <p:nvSpPr>
          <p:cNvPr id="292" name="Algoritmul va căuta floarea care este cea mai apropiată de punctul nou pe baza distanței Euclidiene."/>
          <p:cNvSpPr txBox="1"/>
          <p:nvPr/>
        </p:nvSpPr>
        <p:spPr>
          <a:xfrm>
            <a:off x="15147148" y="5143208"/>
            <a:ext cx="8932377" cy="24440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Algoritmul va căuta floarea care este cea mai apropiată de punctul nou pe baza distanței Euclidiene.</a:t>
            </a:r>
          </a:p>
        </p:txBody>
      </p:sp>
      <p:sp>
        <p:nvSpPr>
          <p:cNvPr id="293" name="Noua floare va fi clasificată exact ca specia vecinului său cel mai apropiat."/>
          <p:cNvSpPr txBox="1"/>
          <p:nvPr/>
        </p:nvSpPr>
        <p:spPr>
          <a:xfrm>
            <a:off x="15102155" y="7733504"/>
            <a:ext cx="8169386" cy="24440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Noua floare va fi clasificată exact ca specia vecinului său cel mai apropiat.</a:t>
            </a:r>
          </a:p>
        </p:txBody>
      </p:sp>
      <p:pic>
        <p:nvPicPr>
          <p:cNvPr id="294" name="Linie Linie" descr="Linie Linie"/>
          <p:cNvPicPr>
            <a:picLocks noChangeAspect="0"/>
          </p:cNvPicPr>
          <p:nvPr/>
        </p:nvPicPr>
        <p:blipFill>
          <a:blip r:embed="rId4">
            <a:extLst/>
          </a:blip>
          <a:stretch>
            <a:fillRect/>
          </a:stretch>
        </p:blipFill>
        <p:spPr>
          <a:xfrm rot="14325602">
            <a:off x="5475880" y="5795829"/>
            <a:ext cx="656196" cy="265194"/>
          </a:xfrm>
          <a:prstGeom prst="rect">
            <a:avLst/>
          </a:prstGeom>
        </p:spPr>
      </p:pic>
      <p:sp>
        <p:nvSpPr>
          <p:cNvPr id="296" name="Oval"/>
          <p:cNvSpPr/>
          <p:nvPr/>
        </p:nvSpPr>
        <p:spPr>
          <a:xfrm>
            <a:off x="5826198" y="6223000"/>
            <a:ext cx="306893" cy="284507"/>
          </a:xfrm>
          <a:prstGeom prst="ellipse">
            <a:avLst/>
          </a:prstGeom>
          <a:solidFill>
            <a:schemeClr val="accent4">
              <a:satOff val="-15884"/>
              <a:lumOff val="-10862"/>
            </a:schemeClr>
          </a:solidFill>
          <a:ln w="25400">
            <a:solidFill>
              <a:srgbClr val="000000"/>
            </a:solidFill>
          </a:ln>
        </p:spPr>
        <p:txBody>
          <a:bodyPr lIns="50800" tIns="50800" rIns="50800" bIns="50800" anchor="ctr"/>
          <a:lstStyle/>
          <a:p>
            <a:pP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94"/>
                                        </p:tgtEl>
                                        <p:attrNameLst>
                                          <p:attrName>style.visibility</p:attrName>
                                        </p:attrNameLst>
                                      </p:cBhvr>
                                      <p:to>
                                        <p:strVal val="visible"/>
                                      </p:to>
                                    </p:set>
                                    <p:animEffect filter="dissolve" transition="in">
                                      <p:cBhvr>
                                        <p:cTn id="7" dur="20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296"/>
                                        </p:tgtEl>
                                        <p:attrNameLst>
                                          <p:attrName>style.visibility</p:attrName>
                                        </p:attrNameLst>
                                      </p:cBhvr>
                                      <p:to>
                                        <p:strVal val="visible"/>
                                      </p:to>
                                    </p:set>
                                    <p:animEffect filter="dissolve" transition="in">
                                      <p:cBhvr>
                                        <p:cTn id="12" dur="2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4" grpId="1"/>
      <p:bldP build="whole" bldLvl="1" animBg="1" rev="0" advAuto="0" spid="296"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9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300" name="Captură de ecran din 2024-10-13 la 20.40.55.png" descr="Captură de ecran din 2024-10-13 la 20.40.55.png"/>
          <p:cNvPicPr>
            <a:picLocks noChangeAspect="1"/>
          </p:cNvPicPr>
          <p:nvPr/>
        </p:nvPicPr>
        <p:blipFill>
          <a:blip r:embed="rId2">
            <a:extLst/>
          </a:blip>
          <a:stretch>
            <a:fillRect/>
          </a:stretch>
        </p:blipFill>
        <p:spPr>
          <a:xfrm>
            <a:off x="761418" y="2795946"/>
            <a:ext cx="13684390" cy="10355093"/>
          </a:xfrm>
          <a:prstGeom prst="rect">
            <a:avLst/>
          </a:prstGeom>
          <a:ln w="12700">
            <a:miter lim="400000"/>
          </a:ln>
        </p:spPr>
      </p:pic>
      <p:pic>
        <p:nvPicPr>
          <p:cNvPr id="301" name="Captură de ecran din 2024-10-13 la 20.52.25.png" descr="Captură de ecran din 2024-10-13 la 20.52.25.png"/>
          <p:cNvPicPr>
            <a:picLocks noChangeAspect="1"/>
          </p:cNvPicPr>
          <p:nvPr/>
        </p:nvPicPr>
        <p:blipFill>
          <a:blip r:embed="rId3">
            <a:extLst/>
          </a:blip>
          <a:stretch>
            <a:fillRect/>
          </a:stretch>
        </p:blipFill>
        <p:spPr>
          <a:xfrm>
            <a:off x="696276" y="2717260"/>
            <a:ext cx="14240288" cy="10512464"/>
          </a:xfrm>
          <a:prstGeom prst="rect">
            <a:avLst/>
          </a:prstGeom>
          <a:ln w="12700">
            <a:miter lim="400000"/>
          </a:ln>
        </p:spPr>
      </p:pic>
      <p:sp>
        <p:nvSpPr>
          <p:cNvPr id="302"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
        <p:nvSpPr>
          <p:cNvPr id="303" name="Oval"/>
          <p:cNvSpPr/>
          <p:nvPr/>
        </p:nvSpPr>
        <p:spPr>
          <a:xfrm>
            <a:off x="5826198" y="6223000"/>
            <a:ext cx="306893" cy="284507"/>
          </a:xfrm>
          <a:prstGeom prst="ellipse">
            <a:avLst/>
          </a:prstGeom>
          <a:solidFill>
            <a:srgbClr val="000000"/>
          </a:solidFill>
          <a:ln w="25400">
            <a:solidFill>
              <a:srgbClr val="000000"/>
            </a:solidFill>
          </a:ln>
        </p:spPr>
        <p:txBody>
          <a:bodyPr lIns="50800" tIns="50800" rIns="50800" bIns="50800" anchor="ctr"/>
          <a:lstStyle/>
          <a:p>
            <a:pPr/>
          </a:p>
        </p:txBody>
      </p:sp>
      <p:sp>
        <p:nvSpPr>
          <p:cNvPr id="304" name="Exemplu:"/>
          <p:cNvSpPr txBox="1"/>
          <p:nvPr/>
        </p:nvSpPr>
        <p:spPr>
          <a:xfrm>
            <a:off x="15116788" y="3019834"/>
            <a:ext cx="249478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Exemplu:</a:t>
            </a:r>
          </a:p>
        </p:txBody>
      </p:sp>
      <p:sp>
        <p:nvSpPr>
          <p:cNvPr id="305" name="La k = 3:"/>
          <p:cNvSpPr txBox="1"/>
          <p:nvPr/>
        </p:nvSpPr>
        <p:spPr>
          <a:xfrm>
            <a:off x="15135516" y="4274617"/>
            <a:ext cx="202092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La k = 3:</a:t>
            </a:r>
          </a:p>
        </p:txBody>
      </p:sp>
      <p:sp>
        <p:nvSpPr>
          <p:cNvPr id="306" name="Algoritmul va căuta cele mai apropiate 3 flori față de punctul nou pe baza distanței Euclidiene."/>
          <p:cNvSpPr txBox="1"/>
          <p:nvPr/>
        </p:nvSpPr>
        <p:spPr>
          <a:xfrm>
            <a:off x="15076495" y="5143208"/>
            <a:ext cx="8932376" cy="24440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Algoritmul va căuta cele mai apropiate 3 flori față de punctul nou pe baza distanței Euclidiene.</a:t>
            </a:r>
          </a:p>
        </p:txBody>
      </p:sp>
      <p:sp>
        <p:nvSpPr>
          <p:cNvPr id="307" name="Floarea nouă va fi clasificată pe baza speciei majoritare dintre cei trei vecini. Asta înseamnă că fiecare dintre cei trei vecini “votează” pentru specia lor, iar specia care are cele mai multe voturi va fi eticheta finală."/>
          <p:cNvSpPr txBox="1"/>
          <p:nvPr/>
        </p:nvSpPr>
        <p:spPr>
          <a:xfrm>
            <a:off x="15064699" y="7515866"/>
            <a:ext cx="8169386" cy="5463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a:latin typeface="Canela Regular"/>
                <a:ea typeface="Canela Regular"/>
                <a:cs typeface="Canela Regular"/>
                <a:sym typeface="Canela Regular"/>
              </a:defRPr>
            </a:pPr>
            <a:r>
              <a:t>Floarea nouă va fi clasificată pe baza </a:t>
            </a:r>
            <a:r>
              <a:rPr>
                <a:latin typeface="Canela Bold"/>
                <a:ea typeface="Canela Bold"/>
                <a:cs typeface="Canela Bold"/>
                <a:sym typeface="Canela Bold"/>
              </a:rPr>
              <a:t>speciei majoritare</a:t>
            </a:r>
            <a:r>
              <a:t> dintre cei trei vecini. Asta înseamnă că fiecare dintre cei trei vecini “votează” pentru specia lor, iar specia care are cele mai multe voturi va fi eticheta finală.</a:t>
            </a:r>
          </a:p>
        </p:txBody>
      </p:sp>
      <p:pic>
        <p:nvPicPr>
          <p:cNvPr id="308" name="Linie Linie" descr="Linie Linie"/>
          <p:cNvPicPr>
            <a:picLocks noChangeAspect="0"/>
          </p:cNvPicPr>
          <p:nvPr/>
        </p:nvPicPr>
        <p:blipFill>
          <a:blip r:embed="rId4">
            <a:extLst/>
          </a:blip>
          <a:stretch>
            <a:fillRect/>
          </a:stretch>
        </p:blipFill>
        <p:spPr>
          <a:xfrm rot="14321288">
            <a:off x="5480101" y="5795821"/>
            <a:ext cx="654995" cy="218396"/>
          </a:xfrm>
          <a:prstGeom prst="rect">
            <a:avLst/>
          </a:prstGeom>
        </p:spPr>
      </p:pic>
      <p:pic>
        <p:nvPicPr>
          <p:cNvPr id="310" name="Linie Linie" descr="Linie Linie"/>
          <p:cNvPicPr>
            <a:picLocks noChangeAspect="0"/>
          </p:cNvPicPr>
          <p:nvPr/>
        </p:nvPicPr>
        <p:blipFill>
          <a:blip r:embed="rId5">
            <a:extLst/>
          </a:blip>
          <a:stretch>
            <a:fillRect/>
          </a:stretch>
        </p:blipFill>
        <p:spPr>
          <a:xfrm rot="10800000">
            <a:off x="4821694" y="6409579"/>
            <a:ext cx="929195" cy="218395"/>
          </a:xfrm>
          <a:prstGeom prst="rect">
            <a:avLst/>
          </a:prstGeom>
        </p:spPr>
      </p:pic>
      <p:pic>
        <p:nvPicPr>
          <p:cNvPr id="312" name="Linie Linie" descr="Linie Linie"/>
          <p:cNvPicPr>
            <a:picLocks noChangeAspect="0"/>
          </p:cNvPicPr>
          <p:nvPr/>
        </p:nvPicPr>
        <p:blipFill>
          <a:blip r:embed="rId6">
            <a:extLst/>
          </a:blip>
          <a:stretch>
            <a:fillRect/>
          </a:stretch>
        </p:blipFill>
        <p:spPr>
          <a:xfrm rot="1219907">
            <a:off x="6110523" y="6548781"/>
            <a:ext cx="988147" cy="265195"/>
          </a:xfrm>
          <a:prstGeom prst="rect">
            <a:avLst/>
          </a:prstGeom>
        </p:spPr>
      </p:pic>
      <p:pic>
        <p:nvPicPr>
          <p:cNvPr id="314" name="Linie Linie" descr="Linie Linie"/>
          <p:cNvPicPr>
            <a:picLocks noChangeAspect="0"/>
          </p:cNvPicPr>
          <p:nvPr/>
        </p:nvPicPr>
        <p:blipFill>
          <a:blip r:embed="rId7">
            <a:extLst/>
          </a:blip>
          <a:stretch>
            <a:fillRect/>
          </a:stretch>
        </p:blipFill>
        <p:spPr>
          <a:xfrm>
            <a:off x="16169499" y="9165186"/>
            <a:ext cx="4776480" cy="101601"/>
          </a:xfrm>
          <a:prstGeom prst="rect">
            <a:avLst/>
          </a:prstGeom>
        </p:spPr>
      </p:pic>
      <p:sp>
        <p:nvSpPr>
          <p:cNvPr id="316" name="Oval"/>
          <p:cNvSpPr/>
          <p:nvPr/>
        </p:nvSpPr>
        <p:spPr>
          <a:xfrm>
            <a:off x="5826198" y="6223000"/>
            <a:ext cx="306893" cy="284507"/>
          </a:xfrm>
          <a:prstGeom prst="ellipse">
            <a:avLst/>
          </a:prstGeom>
          <a:solidFill>
            <a:schemeClr val="accent4"/>
          </a:solidFill>
          <a:ln w="25400">
            <a:solidFill>
              <a:srgbClr val="000000"/>
            </a:solidFill>
          </a:ln>
        </p:spPr>
        <p:txBody>
          <a:bodyPr lIns="50800" tIns="50800" rIns="50800" bIns="50800" anchor="ctr"/>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08"/>
                                        </p:tgtEl>
                                        <p:attrNameLst>
                                          <p:attrName>style.visibility</p:attrName>
                                        </p:attrNameLst>
                                      </p:cBhvr>
                                      <p:to>
                                        <p:strVal val="visible"/>
                                      </p:to>
                                    </p:set>
                                    <p:animEffect filter="dissolve" transition="in">
                                      <p:cBhvr>
                                        <p:cTn id="7" dur="2000"/>
                                        <p:tgtEl>
                                          <p:spTgt spid="30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310"/>
                                        </p:tgtEl>
                                        <p:attrNameLst>
                                          <p:attrName>style.visibility</p:attrName>
                                        </p:attrNameLst>
                                      </p:cBhvr>
                                      <p:to>
                                        <p:strVal val="visible"/>
                                      </p:to>
                                    </p:set>
                                    <p:animEffect filter="dissolve" transition="in">
                                      <p:cBhvr>
                                        <p:cTn id="12" dur="20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312"/>
                                        </p:tgtEl>
                                        <p:attrNameLst>
                                          <p:attrName>style.visibility</p:attrName>
                                        </p:attrNameLst>
                                      </p:cBhvr>
                                      <p:to>
                                        <p:strVal val="visible"/>
                                      </p:to>
                                    </p:set>
                                    <p:animEffect filter="dissolve" transition="in">
                                      <p:cBhvr>
                                        <p:cTn id="17" dur="2000"/>
                                        <p:tgtEl>
                                          <p:spTgt spid="31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9" grpId="4" fill="hold">
                                  <p:stCondLst>
                                    <p:cond delay="0"/>
                                  </p:stCondLst>
                                  <p:iterate type="el" backwards="0">
                                    <p:tmAbs val="0"/>
                                  </p:iterate>
                                  <p:childTnLst>
                                    <p:set>
                                      <p:cBhvr>
                                        <p:cTn id="21" fill="hold"/>
                                        <p:tgtEl>
                                          <p:spTgt spid="314"/>
                                        </p:tgtEl>
                                        <p:attrNameLst>
                                          <p:attrName>style.visibility</p:attrName>
                                        </p:attrNameLst>
                                      </p:cBhvr>
                                      <p:to>
                                        <p:strVal val="visible"/>
                                      </p:to>
                                    </p:set>
                                    <p:animEffect filter="dissolve" transition="in">
                                      <p:cBhvr>
                                        <p:cTn id="22" dur="2000"/>
                                        <p:tgtEl>
                                          <p:spTgt spid="31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316"/>
                                        </p:tgtEl>
                                        <p:attrNameLst>
                                          <p:attrName>style.visibility</p:attrName>
                                        </p:attrNameLst>
                                      </p:cBhvr>
                                      <p:to>
                                        <p:strVal val="visible"/>
                                      </p:to>
                                    </p:set>
                                    <p:animEffect filter="dissolve" transition="in">
                                      <p:cBhvr>
                                        <p:cTn id="27" dur="2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2" grpId="3"/>
      <p:bldP build="whole" bldLvl="1" animBg="1" rev="0" advAuto="0" spid="310" grpId="2"/>
      <p:bldP build="whole" bldLvl="1" animBg="1" rev="0" advAuto="0" spid="314" grpId="4"/>
      <p:bldP build="whole" bldLvl="1" animBg="1" rev="0" advAuto="0" spid="308" grpId="1"/>
      <p:bldP build="whole" bldLvl="1" animBg="1" rev="0" advAuto="0" spid="316" grpId="5"/>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1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20"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pic>
        <p:nvPicPr>
          <p:cNvPr id="321" name="Captură de ecran din 2024-10-13 la 21.39.42.png" descr="Captură de ecran din 2024-10-13 la 21.39.42.png"/>
          <p:cNvPicPr>
            <a:picLocks noChangeAspect="1"/>
          </p:cNvPicPr>
          <p:nvPr/>
        </p:nvPicPr>
        <p:blipFill>
          <a:blip r:embed="rId2">
            <a:extLst/>
          </a:blip>
          <a:stretch>
            <a:fillRect/>
          </a:stretch>
        </p:blipFill>
        <p:spPr>
          <a:xfrm>
            <a:off x="2922646" y="2497978"/>
            <a:ext cx="18538708" cy="10681524"/>
          </a:xfrm>
          <a:prstGeom prst="rect">
            <a:avLst/>
          </a:prstGeom>
          <a:ln w="12700">
            <a:miter lim="400000"/>
          </a:ln>
        </p:spPr>
      </p:pic>
      <p:pic>
        <p:nvPicPr>
          <p:cNvPr id="322" name="Oval Oval" descr="Oval Oval"/>
          <p:cNvPicPr>
            <a:picLocks noChangeAspect="0"/>
          </p:cNvPicPr>
          <p:nvPr/>
        </p:nvPicPr>
        <p:blipFill>
          <a:blip r:embed="rId3">
            <a:extLst/>
          </a:blip>
          <a:stretch>
            <a:fillRect/>
          </a:stretch>
        </p:blipFill>
        <p:spPr>
          <a:xfrm>
            <a:off x="2572891" y="4169462"/>
            <a:ext cx="11162159" cy="1889038"/>
          </a:xfrm>
          <a:prstGeom prst="rect">
            <a:avLst/>
          </a:prstGeom>
        </p:spPr>
      </p:pic>
      <p:pic>
        <p:nvPicPr>
          <p:cNvPr id="324" name="Oval Oval" descr="Oval Oval"/>
          <p:cNvPicPr>
            <a:picLocks noChangeAspect="0"/>
          </p:cNvPicPr>
          <p:nvPr/>
        </p:nvPicPr>
        <p:blipFill>
          <a:blip r:embed="rId4">
            <a:extLst/>
          </a:blip>
          <a:stretch>
            <a:fillRect/>
          </a:stretch>
        </p:blipFill>
        <p:spPr>
          <a:xfrm>
            <a:off x="3580112" y="6206729"/>
            <a:ext cx="17360505" cy="1580098"/>
          </a:xfrm>
          <a:prstGeom prst="rect">
            <a:avLst/>
          </a:prstGeom>
        </p:spPr>
      </p:pic>
      <p:pic>
        <p:nvPicPr>
          <p:cNvPr id="326" name="Oval Oval" descr="Oval Oval"/>
          <p:cNvPicPr>
            <a:picLocks noChangeAspect="0"/>
          </p:cNvPicPr>
          <p:nvPr/>
        </p:nvPicPr>
        <p:blipFill>
          <a:blip r:embed="rId5">
            <a:extLst/>
          </a:blip>
          <a:stretch>
            <a:fillRect/>
          </a:stretch>
        </p:blipFill>
        <p:spPr>
          <a:xfrm>
            <a:off x="3263820" y="7381040"/>
            <a:ext cx="9780302" cy="207653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22"/>
                                        </p:tgtEl>
                                        <p:attrNameLst>
                                          <p:attrName>style.visibility</p:attrName>
                                        </p:attrNameLst>
                                      </p:cBhvr>
                                      <p:to>
                                        <p:strVal val="visible"/>
                                      </p:to>
                                    </p:set>
                                    <p:animEffect filter="dissolve" transition="in">
                                      <p:cBhvr>
                                        <p:cTn id="7" dur="2000"/>
                                        <p:tgtEl>
                                          <p:spTgt spid="322"/>
                                        </p:tgtEl>
                                      </p:cBhvr>
                                    </p:animEffect>
                                  </p:childTnLst>
                                </p:cTn>
                              </p:par>
                            </p:childTnLst>
                          </p:cTn>
                        </p:par>
                      </p:childTnLst>
                    </p:cTn>
                  </p:par>
                  <p:par>
                    <p:cTn id="8" fill="hold">
                      <p:stCondLst>
                        <p:cond delay="indefinite"/>
                      </p:stCondLst>
                      <p:childTnLst>
                        <p:par>
                          <p:cTn id="9" fill="hold">
                            <p:stCondLst>
                              <p:cond delay="0"/>
                            </p:stCondLst>
                            <p:childTnLst>
                              <p:par>
                                <p:cTn id="10" presetClass="exit" nodeType="clickEffect" presetID="9" grpId="2" fill="hold">
                                  <p:stCondLst>
                                    <p:cond delay="0"/>
                                  </p:stCondLst>
                                  <p:iterate type="el" backwards="0">
                                    <p:tmAbs val="0"/>
                                  </p:iterate>
                                  <p:childTnLst>
                                    <p:animEffect filter="dissolve" transition="out">
                                      <p:cBhvr>
                                        <p:cTn id="11" dur="2000" fill="hold"/>
                                        <p:tgtEl>
                                          <p:spTgt spid="322"/>
                                        </p:tgtEl>
                                      </p:cBhvr>
                                    </p:animEffect>
                                    <p:set>
                                      <p:cBhvr>
                                        <p:cTn id="12" fill="hold">
                                          <p:stCondLst>
                                            <p:cond delay="1999"/>
                                          </p:stCondLst>
                                        </p:cTn>
                                        <p:tgtEl>
                                          <p:spTgt spid="322"/>
                                        </p:tgtEl>
                                        <p:attrNameLst>
                                          <p:attrName>style.visibility</p:attrName>
                                        </p:attrNameLst>
                                      </p:cBhvr>
                                      <p:to>
                                        <p:strVal val="hidden"/>
                                      </p:to>
                                    </p:set>
                                  </p:childTnLst>
                                </p:cTn>
                              </p:par>
                            </p:childTnLst>
                          </p:cTn>
                        </p:par>
                        <p:par>
                          <p:cTn id="13" fill="hold">
                            <p:stCondLst>
                              <p:cond delay="2000"/>
                            </p:stCondLst>
                            <p:childTnLst>
                              <p:par>
                                <p:cTn id="14" presetClass="entr" nodeType="afterEffect" presetID="9" grpId="3" fill="hold">
                                  <p:stCondLst>
                                    <p:cond delay="0"/>
                                  </p:stCondLst>
                                  <p:iterate type="el" backwards="0">
                                    <p:tmAbs val="0"/>
                                  </p:iterate>
                                  <p:childTnLst>
                                    <p:set>
                                      <p:cBhvr>
                                        <p:cTn id="15" fill="hold"/>
                                        <p:tgtEl>
                                          <p:spTgt spid="324"/>
                                        </p:tgtEl>
                                        <p:attrNameLst>
                                          <p:attrName>style.visibility</p:attrName>
                                        </p:attrNameLst>
                                      </p:cBhvr>
                                      <p:to>
                                        <p:strVal val="visible"/>
                                      </p:to>
                                    </p:set>
                                    <p:animEffect filter="dissolve" transition="in">
                                      <p:cBhvr>
                                        <p:cTn id="16" dur="2000"/>
                                        <p:tgtEl>
                                          <p:spTgt spid="324"/>
                                        </p:tgtEl>
                                      </p:cBhvr>
                                    </p:animEffect>
                                  </p:childTnLst>
                                </p:cTn>
                              </p:par>
                            </p:childTnLst>
                          </p:cTn>
                        </p:par>
                      </p:childTnLst>
                    </p:cTn>
                  </p:par>
                  <p:par>
                    <p:cTn id="17" fill="hold">
                      <p:stCondLst>
                        <p:cond delay="indefinite"/>
                      </p:stCondLst>
                      <p:childTnLst>
                        <p:par>
                          <p:cTn id="18" fill="hold">
                            <p:stCondLst>
                              <p:cond delay="0"/>
                            </p:stCondLst>
                            <p:childTnLst>
                              <p:par>
                                <p:cTn id="19" presetClass="exit" nodeType="clickEffect" presetID="9" grpId="4" fill="hold">
                                  <p:stCondLst>
                                    <p:cond delay="0"/>
                                  </p:stCondLst>
                                  <p:iterate type="el" backwards="0">
                                    <p:tmAbs val="0"/>
                                  </p:iterate>
                                  <p:childTnLst>
                                    <p:animEffect filter="dissolve" transition="out">
                                      <p:cBhvr>
                                        <p:cTn id="20" dur="2000" fill="hold"/>
                                        <p:tgtEl>
                                          <p:spTgt spid="324"/>
                                        </p:tgtEl>
                                      </p:cBhvr>
                                    </p:animEffect>
                                    <p:set>
                                      <p:cBhvr>
                                        <p:cTn id="21" fill="hold">
                                          <p:stCondLst>
                                            <p:cond delay="1999"/>
                                          </p:stCondLst>
                                        </p:cTn>
                                        <p:tgtEl>
                                          <p:spTgt spid="324"/>
                                        </p:tgtEl>
                                        <p:attrNameLst>
                                          <p:attrName>style.visibility</p:attrName>
                                        </p:attrNameLst>
                                      </p:cBhvr>
                                      <p:to>
                                        <p:strVal val="hidden"/>
                                      </p:to>
                                    </p:set>
                                  </p:childTnLst>
                                </p:cTn>
                              </p:par>
                            </p:childTnLst>
                          </p:cTn>
                        </p:par>
                        <p:par>
                          <p:cTn id="22" fill="hold">
                            <p:stCondLst>
                              <p:cond delay="2000"/>
                            </p:stCondLst>
                            <p:childTnLst>
                              <p:par>
                                <p:cTn id="23" presetClass="entr" nodeType="afterEffect" presetID="9" grpId="5" fill="hold">
                                  <p:stCondLst>
                                    <p:cond delay="0"/>
                                  </p:stCondLst>
                                  <p:iterate type="el" backwards="0">
                                    <p:tmAbs val="0"/>
                                  </p:iterate>
                                  <p:childTnLst>
                                    <p:set>
                                      <p:cBhvr>
                                        <p:cTn id="24" fill="hold"/>
                                        <p:tgtEl>
                                          <p:spTgt spid="326"/>
                                        </p:tgtEl>
                                        <p:attrNameLst>
                                          <p:attrName>style.visibility</p:attrName>
                                        </p:attrNameLst>
                                      </p:cBhvr>
                                      <p:to>
                                        <p:strVal val="visible"/>
                                      </p:to>
                                    </p:set>
                                    <p:animEffect filter="dissolve" transition="in">
                                      <p:cBhvr>
                                        <p:cTn id="25" dur="2000"/>
                                        <p:tgtEl>
                                          <p:spTgt spid="326"/>
                                        </p:tgtEl>
                                      </p:cBhvr>
                                    </p:animEffect>
                                  </p:childTnLst>
                                </p:cTn>
                              </p:par>
                            </p:childTnLst>
                          </p:cTn>
                        </p:par>
                      </p:childTnLst>
                    </p:cTn>
                  </p:par>
                  <p:par>
                    <p:cTn id="26" fill="hold">
                      <p:stCondLst>
                        <p:cond delay="indefinite"/>
                      </p:stCondLst>
                      <p:childTnLst>
                        <p:par>
                          <p:cTn id="27" fill="hold">
                            <p:stCondLst>
                              <p:cond delay="0"/>
                            </p:stCondLst>
                            <p:childTnLst>
                              <p:par>
                                <p:cTn id="28" presetClass="exit" nodeType="clickEffect" presetID="9" grpId="6" fill="hold">
                                  <p:stCondLst>
                                    <p:cond delay="0"/>
                                  </p:stCondLst>
                                  <p:iterate type="el" backwards="0">
                                    <p:tmAbs val="0"/>
                                  </p:iterate>
                                  <p:childTnLst>
                                    <p:animEffect filter="dissolve" transition="out">
                                      <p:cBhvr>
                                        <p:cTn id="29" dur="2000" fill="hold"/>
                                        <p:tgtEl>
                                          <p:spTgt spid="326"/>
                                        </p:tgtEl>
                                      </p:cBhvr>
                                    </p:animEffect>
                                    <p:set>
                                      <p:cBhvr>
                                        <p:cTn id="30" fill="hold">
                                          <p:stCondLst>
                                            <p:cond delay="1999"/>
                                          </p:stCondLst>
                                        </p:cTn>
                                        <p:tgtEl>
                                          <p:spTgt spid="3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6" grpId="6"/>
      <p:bldP build="whole" bldLvl="1" animBg="1" rev="0" advAuto="0" spid="322" grpId="1"/>
      <p:bldP build="whole" bldLvl="1" animBg="1" rev="0" advAuto="0" spid="322" grpId="2"/>
      <p:bldP build="whole" bldLvl="1" animBg="1" rev="0" advAuto="0" spid="326" grpId="5"/>
      <p:bldP build="whole" bldLvl="1" animBg="1" rev="0" advAuto="0" spid="324" grpId="3"/>
      <p:bldP build="whole" bldLvl="1" animBg="1" rev="0" advAuto="0" spid="324" grpId="4"/>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30"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pic>
        <p:nvPicPr>
          <p:cNvPr id="331" name="Captură de ecran din 2024-10-13 la 21.47.56.png" descr="Captură de ecran din 2024-10-13 la 21.47.56.png"/>
          <p:cNvPicPr>
            <a:picLocks noChangeAspect="1"/>
          </p:cNvPicPr>
          <p:nvPr/>
        </p:nvPicPr>
        <p:blipFill>
          <a:blip r:embed="rId2">
            <a:extLst/>
          </a:blip>
          <a:stretch>
            <a:fillRect/>
          </a:stretch>
        </p:blipFill>
        <p:spPr>
          <a:xfrm>
            <a:off x="4906979" y="2203435"/>
            <a:ext cx="14570042" cy="1137225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34"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K-Nearest Neighbors</a:t>
            </a:r>
          </a:p>
        </p:txBody>
      </p:sp>
      <p:sp>
        <p:nvSpPr>
          <p:cNvPr id="335" name="În general, sunt două tipuri mari și late:"/>
          <p:cNvSpPr txBox="1"/>
          <p:nvPr>
            <p:ph type="body" sz="quarter" idx="1"/>
          </p:nvPr>
        </p:nvSpPr>
        <p:spPr>
          <a:xfrm>
            <a:off x="1687402" y="4009347"/>
            <a:ext cx="21948579" cy="1008818"/>
          </a:xfrm>
          <a:prstGeom prst="rect">
            <a:avLst/>
          </a:prstGeom>
        </p:spPr>
        <p:txBody>
          <a:bodyPr/>
          <a:lstStyle/>
          <a:p>
            <a:pPr/>
            <a:r>
              <a:t>Mai poartă și numele de model non-parametric</a:t>
            </a:r>
          </a:p>
        </p:txBody>
      </p:sp>
      <p:pic>
        <p:nvPicPr>
          <p:cNvPr id="336" name="Linie Linie" descr="Linie Linie"/>
          <p:cNvPicPr>
            <a:picLocks noChangeAspect="0"/>
          </p:cNvPicPr>
          <p:nvPr/>
        </p:nvPicPr>
        <p:blipFill>
          <a:blip r:embed="rId2">
            <a:extLst/>
          </a:blip>
          <a:stretch>
            <a:fillRect/>
          </a:stretch>
        </p:blipFill>
        <p:spPr>
          <a:xfrm>
            <a:off x="10139047" y="4764080"/>
            <a:ext cx="4105905" cy="101601"/>
          </a:xfrm>
          <a:prstGeom prst="rect">
            <a:avLst/>
          </a:prstGeom>
        </p:spPr>
      </p:pic>
      <p:sp>
        <p:nvSpPr>
          <p:cNvPr id="338" name="În general, sunt două tipuri mari și late:"/>
          <p:cNvSpPr txBox="1"/>
          <p:nvPr/>
        </p:nvSpPr>
        <p:spPr>
          <a:xfrm>
            <a:off x="1687402" y="5372403"/>
            <a:ext cx="21948579" cy="4352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07873" indent="-507873" defTabSz="2267654">
              <a:spcBef>
                <a:spcPts val="2200"/>
              </a:spcBef>
              <a:buSzPct val="150000"/>
              <a:buChar char="•"/>
              <a:defRPr sz="4092">
                <a:latin typeface="Canela Text Regular"/>
                <a:ea typeface="Canela Text Regular"/>
                <a:cs typeface="Canela Text Regular"/>
                <a:sym typeface="Canela Text Regular"/>
              </a:defRPr>
            </a:pPr>
            <a:r>
              <a:t>Spre deosebire de modelele parametrice, cum ar fi regresia liniară, care au un set fix de parametri ce definesc modelul, KNN memorează toate datele de antrenament și face predicții pe baza vecinilor celor mai apropiați de un punct nou.</a:t>
            </a:r>
          </a:p>
          <a:p>
            <a:pPr marL="507873" indent="-507873" defTabSz="2267654">
              <a:spcBef>
                <a:spcPts val="2200"/>
              </a:spcBef>
              <a:buSzPct val="150000"/>
              <a:buChar char="•"/>
              <a:defRPr sz="4092">
                <a:latin typeface="Canela Text Regular"/>
                <a:ea typeface="Canela Text Regular"/>
                <a:cs typeface="Canela Text Regular"/>
                <a:sym typeface="Canela Text Regular"/>
              </a:defRPr>
            </a:pPr>
            <a:r>
              <a:t>Practic, spunem că e model non-parametric pentru că nu face nicio presupunere explicită despre distribuția datelor sau despre o funcție fixă care leagă variabilele de intrare și ieșire.</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35"/>
                                        </p:tgtEl>
                                        <p:attrNameLst>
                                          <p:attrName>style.visibility</p:attrName>
                                        </p:attrNameLst>
                                      </p:cBhvr>
                                      <p:to>
                                        <p:strVal val="visible"/>
                                      </p:to>
                                    </p:set>
                                    <p:anim calcmode="lin" valueType="num">
                                      <p:cBhvr>
                                        <p:cTn id="7" dur="1000" fill="hold"/>
                                        <p:tgtEl>
                                          <p:spTgt spid="335"/>
                                        </p:tgtEl>
                                        <p:attrNameLst>
                                          <p:attrName>ppt_x</p:attrName>
                                        </p:attrNameLst>
                                      </p:cBhvr>
                                      <p:tavLst>
                                        <p:tav tm="0">
                                          <p:val>
                                            <p:strVal val="0-#ppt_w/2"/>
                                          </p:val>
                                        </p:tav>
                                        <p:tav tm="100000">
                                          <p:val>
                                            <p:strVal val="#ppt_x"/>
                                          </p:val>
                                        </p:tav>
                                      </p:tavLst>
                                    </p:anim>
                                    <p:anim calcmode="lin" valueType="num">
                                      <p:cBhvr>
                                        <p:cTn id="8" dur="1000" fill="hold"/>
                                        <p:tgtEl>
                                          <p:spTgt spid="33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36"/>
                                        </p:tgtEl>
                                        <p:attrNameLst>
                                          <p:attrName>style.visibility</p:attrName>
                                        </p:attrNameLst>
                                      </p:cBhvr>
                                      <p:to>
                                        <p:strVal val="visible"/>
                                      </p:to>
                                    </p:set>
                                    <p:animEffect filter="dissolve" transition="in">
                                      <p:cBhvr>
                                        <p:cTn id="12" dur="2000"/>
                                        <p:tgtEl>
                                          <p:spTgt spid="33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38"/>
                                        </p:tgtEl>
                                        <p:attrNameLst>
                                          <p:attrName>style.visibility</p:attrName>
                                        </p:attrNameLst>
                                      </p:cBhvr>
                                      <p:to>
                                        <p:strVal val="visible"/>
                                      </p:to>
                                    </p:set>
                                    <p:anim calcmode="lin" valueType="num">
                                      <p:cBhvr>
                                        <p:cTn id="17" dur="1000" fill="hold"/>
                                        <p:tgtEl>
                                          <p:spTgt spid="338"/>
                                        </p:tgtEl>
                                        <p:attrNameLst>
                                          <p:attrName>ppt_x</p:attrName>
                                        </p:attrNameLst>
                                      </p:cBhvr>
                                      <p:tavLst>
                                        <p:tav tm="0">
                                          <p:val>
                                            <p:strVal val="0-#ppt_w/2"/>
                                          </p:val>
                                        </p:tav>
                                        <p:tav tm="100000">
                                          <p:val>
                                            <p:strVal val="#ppt_x"/>
                                          </p:val>
                                        </p:tav>
                                      </p:tavLst>
                                    </p:anim>
                                    <p:anim calcmode="lin" valueType="num">
                                      <p:cBhvr>
                                        <p:cTn id="18" dur="1000" fill="hold"/>
                                        <p:tgtEl>
                                          <p:spTgt spid="3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8" grpId="3"/>
      <p:bldP build="whole" bldLvl="1" animBg="1" rev="0" advAuto="0" spid="335" grpId="1"/>
      <p:bldP build="whole" bldLvl="1" animBg="1" rev="0" advAuto="0" spid="336" grpId="2"/>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4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42" name="Supervizate"/>
          <p:cNvSpPr txBox="1"/>
          <p:nvPr/>
        </p:nvSpPr>
        <p:spPr>
          <a:xfrm>
            <a:off x="8996057" y="503826"/>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pic>
        <p:nvPicPr>
          <p:cNvPr id="343" name="Captură de ecran din 2024-10-13 la 22.32.16.png" descr="Captură de ecran din 2024-10-13 la 22.32.16.png"/>
          <p:cNvPicPr>
            <a:picLocks noChangeAspect="1"/>
          </p:cNvPicPr>
          <p:nvPr/>
        </p:nvPicPr>
        <p:blipFill>
          <a:blip r:embed="rId2">
            <a:extLst/>
          </a:blip>
          <a:stretch>
            <a:fillRect/>
          </a:stretch>
        </p:blipFill>
        <p:spPr>
          <a:xfrm>
            <a:off x="5203729" y="2853900"/>
            <a:ext cx="13976542" cy="1034215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4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347" name="Captură de ecran din 2024-10-13 la 22.32.16.png" descr="Captură de ecran din 2024-10-13 la 22.32.16.png"/>
          <p:cNvPicPr>
            <a:picLocks noChangeAspect="1"/>
          </p:cNvPicPr>
          <p:nvPr/>
        </p:nvPicPr>
        <p:blipFill>
          <a:blip r:embed="rId2">
            <a:extLst/>
          </a:blip>
          <a:stretch>
            <a:fillRect/>
          </a:stretch>
        </p:blipFill>
        <p:spPr>
          <a:xfrm>
            <a:off x="5203729" y="2853900"/>
            <a:ext cx="13976542" cy="10342154"/>
          </a:xfrm>
          <a:prstGeom prst="rect">
            <a:avLst/>
          </a:prstGeom>
          <a:ln w="12700">
            <a:miter lim="400000"/>
          </a:ln>
        </p:spPr>
      </p:pic>
      <p:pic>
        <p:nvPicPr>
          <p:cNvPr id="348" name="Captură de ecran din 2024-10-13 la 22.42.40.png" descr="Captură de ecran din 2024-10-13 la 22.42.40.png"/>
          <p:cNvPicPr>
            <a:picLocks noChangeAspect="1"/>
          </p:cNvPicPr>
          <p:nvPr/>
        </p:nvPicPr>
        <p:blipFill>
          <a:blip r:embed="rId3">
            <a:extLst/>
          </a:blip>
          <a:stretch>
            <a:fillRect/>
          </a:stretch>
        </p:blipFill>
        <p:spPr>
          <a:xfrm>
            <a:off x="4671741" y="2774803"/>
            <a:ext cx="14641029" cy="10827195"/>
          </a:xfrm>
          <a:prstGeom prst="rect">
            <a:avLst/>
          </a:prstGeom>
          <a:ln w="12700">
            <a:miter lim="400000"/>
          </a:ln>
        </p:spPr>
      </p:pic>
      <p:pic>
        <p:nvPicPr>
          <p:cNvPr id="349" name="Oval Oval" descr="Oval Oval"/>
          <p:cNvPicPr>
            <a:picLocks noChangeAspect="0"/>
          </p:cNvPicPr>
          <p:nvPr/>
        </p:nvPicPr>
        <p:blipFill>
          <a:blip r:embed="rId4">
            <a:extLst/>
          </a:blip>
          <a:stretch>
            <a:fillRect/>
          </a:stretch>
        </p:blipFill>
        <p:spPr>
          <a:xfrm>
            <a:off x="8022771" y="10947868"/>
            <a:ext cx="661250" cy="643911"/>
          </a:xfrm>
          <a:prstGeom prst="rect">
            <a:avLst/>
          </a:prstGeom>
        </p:spPr>
      </p:pic>
      <p:pic>
        <p:nvPicPr>
          <p:cNvPr id="351" name="Oval Oval" descr="Oval Oval"/>
          <p:cNvPicPr>
            <a:picLocks noChangeAspect="0"/>
          </p:cNvPicPr>
          <p:nvPr/>
        </p:nvPicPr>
        <p:blipFill>
          <a:blip r:embed="rId4">
            <a:extLst/>
          </a:blip>
          <a:stretch>
            <a:fillRect/>
          </a:stretch>
        </p:blipFill>
        <p:spPr>
          <a:xfrm>
            <a:off x="12288684" y="6392840"/>
            <a:ext cx="661249" cy="643911"/>
          </a:xfrm>
          <a:prstGeom prst="rect">
            <a:avLst/>
          </a:prstGeom>
        </p:spPr>
      </p:pic>
      <p:pic>
        <p:nvPicPr>
          <p:cNvPr id="353" name="Oval Oval" descr="Oval Oval"/>
          <p:cNvPicPr>
            <a:picLocks noChangeAspect="0"/>
          </p:cNvPicPr>
          <p:nvPr/>
        </p:nvPicPr>
        <p:blipFill>
          <a:blip r:embed="rId4">
            <a:extLst/>
          </a:blip>
          <a:stretch>
            <a:fillRect/>
          </a:stretch>
        </p:blipFill>
        <p:spPr>
          <a:xfrm>
            <a:off x="11861375" y="8209467"/>
            <a:ext cx="661250" cy="643911"/>
          </a:xfrm>
          <a:prstGeom prst="rect">
            <a:avLst/>
          </a:prstGeom>
        </p:spPr>
      </p:pic>
      <p:pic>
        <p:nvPicPr>
          <p:cNvPr id="355" name="Oval Oval" descr="Oval Oval"/>
          <p:cNvPicPr>
            <a:picLocks noChangeAspect="0"/>
          </p:cNvPicPr>
          <p:nvPr/>
        </p:nvPicPr>
        <p:blipFill>
          <a:blip r:embed="rId4">
            <a:extLst/>
          </a:blip>
          <a:stretch>
            <a:fillRect/>
          </a:stretch>
        </p:blipFill>
        <p:spPr>
          <a:xfrm>
            <a:off x="9704204" y="10587937"/>
            <a:ext cx="661250" cy="643911"/>
          </a:xfrm>
          <a:prstGeom prst="rect">
            <a:avLst/>
          </a:prstGeom>
        </p:spPr>
      </p:pic>
      <p:sp>
        <p:nvSpPr>
          <p:cNvPr id="357" name="Supervizate"/>
          <p:cNvSpPr txBox="1"/>
          <p:nvPr/>
        </p:nvSpPr>
        <p:spPr>
          <a:xfrm>
            <a:off x="8996057" y="503826"/>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49"/>
                                        </p:tgtEl>
                                        <p:attrNameLst>
                                          <p:attrName>style.visibility</p:attrName>
                                        </p:attrNameLst>
                                      </p:cBhvr>
                                      <p:to>
                                        <p:strVal val="visible"/>
                                      </p:to>
                                    </p:set>
                                    <p:animEffect filter="dissolve" transition="in">
                                      <p:cBhvr>
                                        <p:cTn id="7" dur="2000"/>
                                        <p:tgtEl>
                                          <p:spTgt spid="349"/>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351"/>
                                        </p:tgtEl>
                                        <p:attrNameLst>
                                          <p:attrName>style.visibility</p:attrName>
                                        </p:attrNameLst>
                                      </p:cBhvr>
                                      <p:to>
                                        <p:strVal val="visible"/>
                                      </p:to>
                                    </p:set>
                                    <p:animEffect filter="dissolve" transition="in">
                                      <p:cBhvr>
                                        <p:cTn id="11" dur="2000"/>
                                        <p:tgtEl>
                                          <p:spTgt spid="351"/>
                                        </p:tgtEl>
                                      </p:cBhvr>
                                    </p:animEffect>
                                  </p:childTnLst>
                                </p:cTn>
                              </p:par>
                            </p:childTnLst>
                          </p:cTn>
                        </p:par>
                        <p:par>
                          <p:cTn id="12" fill="hold">
                            <p:stCondLst>
                              <p:cond delay="4000"/>
                            </p:stCondLst>
                            <p:childTnLst>
                              <p:par>
                                <p:cTn id="13" presetClass="entr" nodeType="afterEffect" presetID="9" grpId="3" fill="hold">
                                  <p:stCondLst>
                                    <p:cond delay="0"/>
                                  </p:stCondLst>
                                  <p:iterate type="el" backwards="0">
                                    <p:tmAbs val="0"/>
                                  </p:iterate>
                                  <p:childTnLst>
                                    <p:set>
                                      <p:cBhvr>
                                        <p:cTn id="14" fill="hold"/>
                                        <p:tgtEl>
                                          <p:spTgt spid="353"/>
                                        </p:tgtEl>
                                        <p:attrNameLst>
                                          <p:attrName>style.visibility</p:attrName>
                                        </p:attrNameLst>
                                      </p:cBhvr>
                                      <p:to>
                                        <p:strVal val="visible"/>
                                      </p:to>
                                    </p:set>
                                    <p:animEffect filter="dissolve" transition="in">
                                      <p:cBhvr>
                                        <p:cTn id="15" dur="2000"/>
                                        <p:tgtEl>
                                          <p:spTgt spid="353"/>
                                        </p:tgtEl>
                                      </p:cBhvr>
                                    </p:animEffect>
                                  </p:childTnLst>
                                </p:cTn>
                              </p:par>
                            </p:childTnLst>
                          </p:cTn>
                        </p:par>
                        <p:par>
                          <p:cTn id="16" fill="hold">
                            <p:stCondLst>
                              <p:cond delay="6000"/>
                            </p:stCondLst>
                            <p:childTnLst>
                              <p:par>
                                <p:cTn id="17" presetClass="entr" nodeType="afterEffect" presetID="9" grpId="4" fill="hold">
                                  <p:stCondLst>
                                    <p:cond delay="0"/>
                                  </p:stCondLst>
                                  <p:iterate type="el" backwards="0">
                                    <p:tmAbs val="0"/>
                                  </p:iterate>
                                  <p:childTnLst>
                                    <p:set>
                                      <p:cBhvr>
                                        <p:cTn id="18" fill="hold"/>
                                        <p:tgtEl>
                                          <p:spTgt spid="355"/>
                                        </p:tgtEl>
                                        <p:attrNameLst>
                                          <p:attrName>style.visibility</p:attrName>
                                        </p:attrNameLst>
                                      </p:cBhvr>
                                      <p:to>
                                        <p:strVal val="visible"/>
                                      </p:to>
                                    </p:set>
                                    <p:animEffect filter="dissolve" transition="in">
                                      <p:cBhvr>
                                        <p:cTn id="19" dur="20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9" grpId="1"/>
      <p:bldP build="whole" bldLvl="1" animBg="1" rev="0" advAuto="0" spid="355" grpId="4"/>
      <p:bldP build="whole" bldLvl="1" animBg="1" rev="0" advAuto="0" spid="351" grpId="2"/>
      <p:bldP build="whole" bldLvl="1" animBg="1" rev="0" advAuto="0" spid="353" grpId="3"/>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6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61"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Hard-Margin SVM</a:t>
            </a:r>
          </a:p>
        </p:txBody>
      </p:sp>
      <p:pic>
        <p:nvPicPr>
          <p:cNvPr id="362" name="Captură de ecran din 2024-10-13 la 22.53.00.png" descr="Captură de ecran din 2024-10-13 la 22.53.00.png"/>
          <p:cNvPicPr>
            <a:picLocks noChangeAspect="1"/>
          </p:cNvPicPr>
          <p:nvPr/>
        </p:nvPicPr>
        <p:blipFill>
          <a:blip r:embed="rId2">
            <a:extLst/>
          </a:blip>
          <a:stretch>
            <a:fillRect/>
          </a:stretch>
        </p:blipFill>
        <p:spPr>
          <a:xfrm>
            <a:off x="5301694" y="2899799"/>
            <a:ext cx="13780612" cy="1021666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6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66"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Hard-Margin SVM</a:t>
            </a:r>
          </a:p>
        </p:txBody>
      </p:sp>
      <p:pic>
        <p:nvPicPr>
          <p:cNvPr id="367" name="Captură de ecran din 2024-10-13 la 22.53.00.png" descr="Captură de ecran din 2024-10-13 la 22.53.00.png"/>
          <p:cNvPicPr>
            <a:picLocks noChangeAspect="1"/>
          </p:cNvPicPr>
          <p:nvPr/>
        </p:nvPicPr>
        <p:blipFill>
          <a:blip r:embed="rId2">
            <a:extLst/>
          </a:blip>
          <a:stretch>
            <a:fillRect/>
          </a:stretch>
        </p:blipFill>
        <p:spPr>
          <a:xfrm>
            <a:off x="526026" y="3932680"/>
            <a:ext cx="10619140" cy="7872811"/>
          </a:xfrm>
          <a:prstGeom prst="rect">
            <a:avLst/>
          </a:prstGeom>
          <a:ln w="12700">
            <a:miter lim="400000"/>
          </a:ln>
        </p:spPr>
      </p:pic>
      <p:sp>
        <p:nvSpPr>
          <p:cNvPr id="368" name="- SVM încearcă să găsească un hyperplan optim care separă clasele de date, astfel încât să maximizeze marginea (distanta) dintre punctele de date ale diferitelor clase."/>
          <p:cNvSpPr txBox="1"/>
          <p:nvPr/>
        </p:nvSpPr>
        <p:spPr>
          <a:xfrm>
            <a:off x="11675953" y="3305856"/>
            <a:ext cx="10887783" cy="32966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solidFill>
                  <a:srgbClr val="111111"/>
                </a:solidFill>
                <a:latin typeface="Canela Text Regular"/>
                <a:ea typeface="Canela Text Regular"/>
                <a:cs typeface="Canela Text Regular"/>
                <a:sym typeface="Canela Text Regular"/>
              </a:defRPr>
            </a:lvl1pPr>
          </a:lstStyle>
          <a:p>
            <a:pPr/>
            <a:r>
              <a:t> - SVM încearcă să găsească un hyperplan optim care separă clasele de date, astfel încât să maximizeze marginea (distanta) dintre punctele de date ale diferitelor clase. </a:t>
            </a:r>
          </a:p>
        </p:txBody>
      </p:sp>
      <p:sp>
        <p:nvSpPr>
          <p:cNvPr id="369" name="- SVM caută să găsească nu doar orice linie de separare, ci cea care maximizează distanța dintre cele mai apropiate puncte ale claselor (numite support vectors). Cu cât aceste puncte sunt mai departe de linia de separare, cu atât modelul este considerat "/>
          <p:cNvSpPr txBox="1"/>
          <p:nvPr/>
        </p:nvSpPr>
        <p:spPr>
          <a:xfrm>
            <a:off x="11789802" y="6560749"/>
            <a:ext cx="9424031" cy="5463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 SVM caută să găsească nu doar orice linie de separare, ci cea care maximizează distanța dintre cele mai apropiate puncte ale claselor (numite support vectors). Cu cât aceste puncte sunt mai departe de linia de separare, cu atât modelul este considerat mai bun.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68"/>
                                        </p:tgtEl>
                                        <p:attrNameLst>
                                          <p:attrName>style.visibility</p:attrName>
                                        </p:attrNameLst>
                                      </p:cBhvr>
                                      <p:to>
                                        <p:strVal val="visible"/>
                                      </p:to>
                                    </p:set>
                                    <p:anim calcmode="lin" valueType="num">
                                      <p:cBhvr>
                                        <p:cTn id="7" dur="1000" fill="hold"/>
                                        <p:tgtEl>
                                          <p:spTgt spid="368"/>
                                        </p:tgtEl>
                                        <p:attrNameLst>
                                          <p:attrName>ppt_x</p:attrName>
                                        </p:attrNameLst>
                                      </p:cBhvr>
                                      <p:tavLst>
                                        <p:tav tm="0">
                                          <p:val>
                                            <p:strVal val="0-#ppt_w/2"/>
                                          </p:val>
                                        </p:tav>
                                        <p:tav tm="100000">
                                          <p:val>
                                            <p:strVal val="#ppt_x"/>
                                          </p:val>
                                        </p:tav>
                                      </p:tavLst>
                                    </p:anim>
                                    <p:anim calcmode="lin" valueType="num">
                                      <p:cBhvr>
                                        <p:cTn id="8" dur="1000" fill="hold"/>
                                        <p:tgtEl>
                                          <p:spTgt spid="36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369"/>
                                        </p:tgtEl>
                                        <p:attrNameLst>
                                          <p:attrName>style.visibility</p:attrName>
                                        </p:attrNameLst>
                                      </p:cBhvr>
                                      <p:to>
                                        <p:strVal val="visible"/>
                                      </p:to>
                                    </p:set>
                                    <p:anim calcmode="lin" valueType="num">
                                      <p:cBhvr>
                                        <p:cTn id="12" dur="1000" fill="hold"/>
                                        <p:tgtEl>
                                          <p:spTgt spid="369"/>
                                        </p:tgtEl>
                                        <p:attrNameLst>
                                          <p:attrName>ppt_x</p:attrName>
                                        </p:attrNameLst>
                                      </p:cBhvr>
                                      <p:tavLst>
                                        <p:tav tm="0">
                                          <p:val>
                                            <p:strVal val="0-#ppt_w/2"/>
                                          </p:val>
                                        </p:tav>
                                        <p:tav tm="100000">
                                          <p:val>
                                            <p:strVal val="#ppt_x"/>
                                          </p:val>
                                        </p:tav>
                                      </p:tavLst>
                                    </p:anim>
                                    <p:anim calcmode="lin" valueType="num">
                                      <p:cBhvr>
                                        <p:cTn id="13" dur="1000" fill="hold"/>
                                        <p:tgtEl>
                                          <p:spTgt spid="3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8" grpId="1"/>
      <p:bldP build="whole" bldLvl="1" animBg="1" rev="0" advAuto="0" spid="369" grpId="2"/>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73"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Hard-Margin SVM</a:t>
            </a:r>
          </a:p>
        </p:txBody>
      </p:sp>
      <p:pic>
        <p:nvPicPr>
          <p:cNvPr id="374" name="Captură de ecran din 2024-10-13 la 22.53.00.png" descr="Captură de ecran din 2024-10-13 la 22.53.00.png"/>
          <p:cNvPicPr>
            <a:picLocks noChangeAspect="1"/>
          </p:cNvPicPr>
          <p:nvPr/>
        </p:nvPicPr>
        <p:blipFill>
          <a:blip r:embed="rId2">
            <a:extLst/>
          </a:blip>
          <a:stretch>
            <a:fillRect/>
          </a:stretch>
        </p:blipFill>
        <p:spPr>
          <a:xfrm>
            <a:off x="526026" y="3932680"/>
            <a:ext cx="10619140" cy="7872811"/>
          </a:xfrm>
          <a:prstGeom prst="rect">
            <a:avLst/>
          </a:prstGeom>
          <a:ln w="12700">
            <a:miter lim="400000"/>
          </a:ln>
        </p:spPr>
      </p:pic>
      <p:sp>
        <p:nvSpPr>
          <p:cNvPr id="375" name="- După ce a fost găsit hyperplanul optim, noi puncte de date (flori) pot fi clasificate pe baza poziției lor față de acest hyperplan."/>
          <p:cNvSpPr txBox="1"/>
          <p:nvPr/>
        </p:nvSpPr>
        <p:spPr>
          <a:xfrm>
            <a:off x="11451215" y="3705906"/>
            <a:ext cx="10887784" cy="2496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solidFill>
                  <a:srgbClr val="111111"/>
                </a:solidFill>
                <a:latin typeface="Canela Text Regular"/>
                <a:ea typeface="Canela Text Regular"/>
                <a:cs typeface="Canela Text Regular"/>
                <a:sym typeface="Canela Text Regular"/>
              </a:defRPr>
            </a:lvl1pPr>
          </a:lstStyle>
          <a:p>
            <a:pPr/>
            <a:r>
              <a:t> - După ce a fost găsit hyperplanul optim, noi puncte de date (flori) pot fi clasificate pe baza poziției lor față de acest hyperplan.</a:t>
            </a:r>
          </a:p>
        </p:txBody>
      </p:sp>
      <p:sp>
        <p:nvSpPr>
          <p:cNvPr id="376" name="Dacă se află de partea stângă a liniei, va fi clasificat ca Iris-setosa. Dacă se află pe partea dreaptă a liniei, va fi clasificat ca Iris-versicolor."/>
          <p:cNvSpPr txBox="1"/>
          <p:nvPr/>
        </p:nvSpPr>
        <p:spPr>
          <a:xfrm>
            <a:off x="11490152" y="6513287"/>
            <a:ext cx="9424031" cy="31990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defRPr>
                <a:latin typeface="Canela Regular"/>
                <a:ea typeface="Canela Regular"/>
                <a:cs typeface="Canela Regular"/>
                <a:sym typeface="Canela Regular"/>
              </a:defRPr>
            </a:lvl1pPr>
          </a:lstStyle>
          <a:p>
            <a:pPr/>
            <a:r>
              <a:t>Dacă se află de partea stângă a liniei, va fi clasificat ca Iris-setosa. Dacă se află pe partea dreaptă a liniei, va fi clasificat ca Iris-versicolor.</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75"/>
                                        </p:tgtEl>
                                        <p:attrNameLst>
                                          <p:attrName>style.visibility</p:attrName>
                                        </p:attrNameLst>
                                      </p:cBhvr>
                                      <p:to>
                                        <p:strVal val="visible"/>
                                      </p:to>
                                    </p:set>
                                    <p:anim calcmode="lin" valueType="num">
                                      <p:cBhvr>
                                        <p:cTn id="7" dur="1000" fill="hold"/>
                                        <p:tgtEl>
                                          <p:spTgt spid="375"/>
                                        </p:tgtEl>
                                        <p:attrNameLst>
                                          <p:attrName>ppt_x</p:attrName>
                                        </p:attrNameLst>
                                      </p:cBhvr>
                                      <p:tavLst>
                                        <p:tav tm="0">
                                          <p:val>
                                            <p:strVal val="0-#ppt_w/2"/>
                                          </p:val>
                                        </p:tav>
                                        <p:tav tm="100000">
                                          <p:val>
                                            <p:strVal val="#ppt_x"/>
                                          </p:val>
                                        </p:tav>
                                      </p:tavLst>
                                    </p:anim>
                                    <p:anim calcmode="lin" valueType="num">
                                      <p:cBhvr>
                                        <p:cTn id="8" dur="1000" fill="hold"/>
                                        <p:tgtEl>
                                          <p:spTgt spid="37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376"/>
                                        </p:tgtEl>
                                        <p:attrNameLst>
                                          <p:attrName>style.visibility</p:attrName>
                                        </p:attrNameLst>
                                      </p:cBhvr>
                                      <p:to>
                                        <p:strVal val="visible"/>
                                      </p:to>
                                    </p:set>
                                    <p:anim calcmode="lin" valueType="num">
                                      <p:cBhvr>
                                        <p:cTn id="12" dur="1000" fill="hold"/>
                                        <p:tgtEl>
                                          <p:spTgt spid="376"/>
                                        </p:tgtEl>
                                        <p:attrNameLst>
                                          <p:attrName>ppt_x</p:attrName>
                                        </p:attrNameLst>
                                      </p:cBhvr>
                                      <p:tavLst>
                                        <p:tav tm="0">
                                          <p:val>
                                            <p:strVal val="0-#ppt_w/2"/>
                                          </p:val>
                                        </p:tav>
                                        <p:tav tm="100000">
                                          <p:val>
                                            <p:strVal val="#ppt_x"/>
                                          </p:val>
                                        </p:tav>
                                      </p:tavLst>
                                    </p:anim>
                                    <p:anim calcmode="lin" valueType="num">
                                      <p:cBhvr>
                                        <p:cTn id="13" dur="1000" fill="hold"/>
                                        <p:tgtEl>
                                          <p:spTgt spid="3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5" grpId="1"/>
      <p:bldP build="whole" bldLvl="1" animBg="1" rev="0" advAuto="0" spid="376" grpId="2"/>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7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80"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Hard-Margin SVM</a:t>
            </a:r>
          </a:p>
        </p:txBody>
      </p:sp>
      <p:pic>
        <p:nvPicPr>
          <p:cNvPr id="381" name="Captură de ecran din 2024-10-13 la 23.41.52.png" descr="Captură de ecran din 2024-10-13 la 23.41.52.png"/>
          <p:cNvPicPr>
            <a:picLocks noChangeAspect="1"/>
          </p:cNvPicPr>
          <p:nvPr/>
        </p:nvPicPr>
        <p:blipFill>
          <a:blip r:embed="rId2">
            <a:extLst/>
          </a:blip>
          <a:stretch>
            <a:fillRect/>
          </a:stretch>
        </p:blipFill>
        <p:spPr>
          <a:xfrm>
            <a:off x="3418786" y="2593462"/>
            <a:ext cx="17546428" cy="10092623"/>
          </a:xfrm>
          <a:prstGeom prst="rect">
            <a:avLst/>
          </a:prstGeom>
          <a:ln w="12700">
            <a:miter lim="400000"/>
          </a:ln>
        </p:spPr>
      </p:pic>
      <p:sp>
        <p:nvSpPr>
          <p:cNvPr id="382" name="clf = SVC(kernel='linear', C=float('inf'))"/>
          <p:cNvSpPr txBox="1"/>
          <p:nvPr/>
        </p:nvSpPr>
        <p:spPr>
          <a:xfrm>
            <a:off x="4348125" y="8213689"/>
            <a:ext cx="5037070" cy="43494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300">
                <a:solidFill>
                  <a:srgbClr val="FFFFFF"/>
                </a:solidFill>
                <a:latin typeface="Arial"/>
                <a:ea typeface="Arial"/>
                <a:cs typeface="Arial"/>
                <a:sym typeface="Arial"/>
              </a:defRPr>
            </a:lvl1pPr>
          </a:lstStyle>
          <a:p>
            <a:pPr/>
            <a:r>
              <a:t>clf = SVC(kernel='linear', C=float('inf'))</a:t>
            </a:r>
          </a:p>
        </p:txBody>
      </p:sp>
      <p:pic>
        <p:nvPicPr>
          <p:cNvPr id="383" name="Oval Oval" descr="Oval Oval"/>
          <p:cNvPicPr>
            <a:picLocks noChangeAspect="0"/>
          </p:cNvPicPr>
          <p:nvPr/>
        </p:nvPicPr>
        <p:blipFill>
          <a:blip r:embed="rId3">
            <a:extLst/>
          </a:blip>
          <a:stretch>
            <a:fillRect/>
          </a:stretch>
        </p:blipFill>
        <p:spPr>
          <a:xfrm>
            <a:off x="3846402" y="5385619"/>
            <a:ext cx="5553585" cy="1673665"/>
          </a:xfrm>
          <a:prstGeom prst="rect">
            <a:avLst/>
          </a:prstGeom>
        </p:spPr>
      </p:pic>
      <p:pic>
        <p:nvPicPr>
          <p:cNvPr id="385" name="Oval Oval" descr="Oval Oval"/>
          <p:cNvPicPr>
            <a:picLocks noChangeAspect="0"/>
          </p:cNvPicPr>
          <p:nvPr/>
        </p:nvPicPr>
        <p:blipFill>
          <a:blip r:embed="rId4">
            <a:extLst/>
          </a:blip>
          <a:stretch>
            <a:fillRect/>
          </a:stretch>
        </p:blipFill>
        <p:spPr>
          <a:xfrm>
            <a:off x="4089868" y="7994862"/>
            <a:ext cx="5553584" cy="8725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83"/>
                                        </p:tgtEl>
                                        <p:attrNameLst>
                                          <p:attrName>style.visibility</p:attrName>
                                        </p:attrNameLst>
                                      </p:cBhvr>
                                      <p:to>
                                        <p:strVal val="visible"/>
                                      </p:to>
                                    </p:set>
                                    <p:animEffect filter="dissolve" transition="in">
                                      <p:cBhvr>
                                        <p:cTn id="7" dur="2000"/>
                                        <p:tgtEl>
                                          <p:spTgt spid="383"/>
                                        </p:tgtEl>
                                      </p:cBhvr>
                                    </p:animEffect>
                                  </p:childTnLst>
                                </p:cTn>
                              </p:par>
                            </p:childTnLst>
                          </p:cTn>
                        </p:par>
                      </p:childTnLst>
                    </p:cTn>
                  </p:par>
                  <p:par>
                    <p:cTn id="8" fill="hold">
                      <p:stCondLst>
                        <p:cond delay="indefinite"/>
                      </p:stCondLst>
                      <p:childTnLst>
                        <p:par>
                          <p:cTn id="9" fill="hold">
                            <p:stCondLst>
                              <p:cond delay="0"/>
                            </p:stCondLst>
                            <p:childTnLst>
                              <p:par>
                                <p:cTn id="10" presetClass="exit" nodeType="clickEffect" presetID="9" grpId="2" fill="hold">
                                  <p:stCondLst>
                                    <p:cond delay="0"/>
                                  </p:stCondLst>
                                  <p:iterate type="el" backwards="0">
                                    <p:tmAbs val="0"/>
                                  </p:iterate>
                                  <p:childTnLst>
                                    <p:animEffect filter="dissolve" transition="out">
                                      <p:cBhvr>
                                        <p:cTn id="11" dur="2000" fill="hold"/>
                                        <p:tgtEl>
                                          <p:spTgt spid="383"/>
                                        </p:tgtEl>
                                      </p:cBhvr>
                                    </p:animEffect>
                                    <p:set>
                                      <p:cBhvr>
                                        <p:cTn id="12" fill="hold">
                                          <p:stCondLst>
                                            <p:cond delay="1999"/>
                                          </p:stCondLst>
                                        </p:cTn>
                                        <p:tgtEl>
                                          <p:spTgt spid="38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385"/>
                                        </p:tgtEl>
                                        <p:attrNameLst>
                                          <p:attrName>style.visibility</p:attrName>
                                        </p:attrNameLst>
                                      </p:cBhvr>
                                      <p:to>
                                        <p:strVal val="visible"/>
                                      </p:to>
                                    </p:set>
                                    <p:animEffect filter="dissolve" transition="in">
                                      <p:cBhvr>
                                        <p:cTn id="17" dur="2000"/>
                                        <p:tgtEl>
                                          <p:spTgt spid="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3" grpId="1"/>
      <p:bldP build="whole" bldLvl="1" animBg="1" rev="0" advAuto="0" spid="383" grpId="2"/>
      <p:bldP build="whole" bldLvl="1" animBg="1" rev="0" advAuto="0" spid="385" grpId="3"/>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8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90" name="Supervizate"/>
          <p:cNvSpPr txBox="1"/>
          <p:nvPr/>
        </p:nvSpPr>
        <p:spPr>
          <a:xfrm>
            <a:off x="6158863" y="404624"/>
            <a:ext cx="13976541"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Hard-Margin SVM</a:t>
            </a:r>
          </a:p>
        </p:txBody>
      </p:sp>
      <p:sp>
        <p:nvSpPr>
          <p:cNvPr id="391" name="clf = SVC(kernel='linear', C=float('inf'))"/>
          <p:cNvSpPr txBox="1"/>
          <p:nvPr/>
        </p:nvSpPr>
        <p:spPr>
          <a:xfrm>
            <a:off x="4816328" y="4084494"/>
            <a:ext cx="19436645" cy="10148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6400">
                <a:latin typeface="Arial"/>
                <a:ea typeface="Arial"/>
                <a:cs typeface="Arial"/>
                <a:sym typeface="Arial"/>
              </a:defRPr>
            </a:lvl1pPr>
          </a:lstStyle>
          <a:p>
            <a:pPr/>
            <a:r>
              <a:t>clf = SVC(kernel='linear', C=float('inf'))</a:t>
            </a:r>
          </a:p>
        </p:txBody>
      </p:sp>
      <p:pic>
        <p:nvPicPr>
          <p:cNvPr id="392" name="Oval Oval" descr="Oval Oval"/>
          <p:cNvPicPr>
            <a:picLocks noChangeAspect="0"/>
          </p:cNvPicPr>
          <p:nvPr/>
        </p:nvPicPr>
        <p:blipFill>
          <a:blip r:embed="rId2">
            <a:extLst/>
          </a:blip>
          <a:stretch>
            <a:fillRect/>
          </a:stretch>
        </p:blipFill>
        <p:spPr>
          <a:xfrm>
            <a:off x="8434789" y="3724121"/>
            <a:ext cx="5322208" cy="1735556"/>
          </a:xfrm>
          <a:prstGeom prst="rect">
            <a:avLst/>
          </a:prstGeom>
        </p:spPr>
      </p:pic>
      <p:pic>
        <p:nvPicPr>
          <p:cNvPr id="394" name="Linie Linie" descr="Linie Linie"/>
          <p:cNvPicPr>
            <a:picLocks noChangeAspect="0"/>
          </p:cNvPicPr>
          <p:nvPr/>
        </p:nvPicPr>
        <p:blipFill>
          <a:blip r:embed="rId3">
            <a:extLst/>
          </a:blip>
          <a:stretch>
            <a:fillRect/>
          </a:stretch>
        </p:blipFill>
        <p:spPr>
          <a:xfrm rot="18480582">
            <a:off x="9706710" y="6131500"/>
            <a:ext cx="1380012" cy="405592"/>
          </a:xfrm>
          <a:prstGeom prst="rect">
            <a:avLst/>
          </a:prstGeom>
        </p:spPr>
      </p:pic>
      <p:sp>
        <p:nvSpPr>
          <p:cNvPr id="396" name="Obligatoriu pentru separare liniară"/>
          <p:cNvSpPr txBox="1"/>
          <p:nvPr/>
        </p:nvSpPr>
        <p:spPr>
          <a:xfrm>
            <a:off x="3917378" y="6978582"/>
            <a:ext cx="802299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Obligatoriu pentru separare liniară</a:t>
            </a:r>
          </a:p>
        </p:txBody>
      </p:sp>
      <p:pic>
        <p:nvPicPr>
          <p:cNvPr id="397" name="Oval Oval" descr="Oval Oval"/>
          <p:cNvPicPr>
            <a:picLocks noChangeAspect="0"/>
          </p:cNvPicPr>
          <p:nvPr/>
        </p:nvPicPr>
        <p:blipFill>
          <a:blip r:embed="rId4">
            <a:extLst/>
          </a:blip>
          <a:stretch>
            <a:fillRect/>
          </a:stretch>
        </p:blipFill>
        <p:spPr>
          <a:xfrm>
            <a:off x="13805661" y="3413973"/>
            <a:ext cx="4502121" cy="2355851"/>
          </a:xfrm>
          <a:prstGeom prst="rect">
            <a:avLst/>
          </a:prstGeom>
        </p:spPr>
      </p:pic>
      <p:pic>
        <p:nvPicPr>
          <p:cNvPr id="399" name="Linie Linie" descr="Linie Linie"/>
          <p:cNvPicPr>
            <a:picLocks noChangeAspect="0"/>
          </p:cNvPicPr>
          <p:nvPr/>
        </p:nvPicPr>
        <p:blipFill>
          <a:blip r:embed="rId5">
            <a:extLst/>
          </a:blip>
          <a:stretch>
            <a:fillRect/>
          </a:stretch>
        </p:blipFill>
        <p:spPr>
          <a:xfrm rot="16200000">
            <a:off x="15447531" y="6271743"/>
            <a:ext cx="1390182" cy="405592"/>
          </a:xfrm>
          <a:prstGeom prst="rect">
            <a:avLst/>
          </a:prstGeom>
        </p:spPr>
      </p:pic>
      <p:sp>
        <p:nvSpPr>
          <p:cNvPr id="401" name="Trebuie să fie infinit pentru hard-margin SVM"/>
          <p:cNvSpPr txBox="1"/>
          <p:nvPr/>
        </p:nvSpPr>
        <p:spPr>
          <a:xfrm>
            <a:off x="12415844" y="7629969"/>
            <a:ext cx="104800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Trebuie să fie infinit pentru hard-margin SVM</a:t>
            </a:r>
          </a:p>
        </p:txBody>
      </p:sp>
      <p:sp>
        <p:nvSpPr>
          <p:cNvPr id="402" name="Hard-Margin SVM: Folosit când datele sunt perfect separabile liniar."/>
          <p:cNvSpPr txBox="1"/>
          <p:nvPr/>
        </p:nvSpPr>
        <p:spPr>
          <a:xfrm>
            <a:off x="1613821" y="10302577"/>
            <a:ext cx="1695765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Hard-Margin SVM: Folosit când datele sunt perfect separabile liniar.</a:t>
            </a:r>
          </a:p>
        </p:txBody>
      </p:sp>
      <p:pic>
        <p:nvPicPr>
          <p:cNvPr id="403" name="Linie Linie" descr="Linie Linie"/>
          <p:cNvPicPr>
            <a:picLocks noChangeAspect="0"/>
          </p:cNvPicPr>
          <p:nvPr/>
        </p:nvPicPr>
        <p:blipFill>
          <a:blip r:embed="rId6">
            <a:extLst/>
          </a:blip>
          <a:stretch>
            <a:fillRect/>
          </a:stretch>
        </p:blipFill>
        <p:spPr>
          <a:xfrm>
            <a:off x="12348964" y="11203033"/>
            <a:ext cx="665160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92"/>
                                        </p:tgtEl>
                                        <p:attrNameLst>
                                          <p:attrName>style.visibility</p:attrName>
                                        </p:attrNameLst>
                                      </p:cBhvr>
                                      <p:to>
                                        <p:strVal val="visible"/>
                                      </p:to>
                                    </p:set>
                                    <p:animEffect filter="dissolve" transition="in">
                                      <p:cBhvr>
                                        <p:cTn id="7" dur="2000"/>
                                        <p:tgtEl>
                                          <p:spTgt spid="392"/>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394"/>
                                        </p:tgtEl>
                                        <p:attrNameLst>
                                          <p:attrName>style.visibility</p:attrName>
                                        </p:attrNameLst>
                                      </p:cBhvr>
                                      <p:to>
                                        <p:strVal val="visible"/>
                                      </p:to>
                                    </p:set>
                                    <p:animEffect filter="dissolve" transition="in">
                                      <p:cBhvr>
                                        <p:cTn id="11" dur="2000"/>
                                        <p:tgtEl>
                                          <p:spTgt spid="394"/>
                                        </p:tgtEl>
                                      </p:cBhvr>
                                    </p:animEffect>
                                  </p:childTnLst>
                                </p:cTn>
                              </p:par>
                            </p:childTnLst>
                          </p:cTn>
                        </p:par>
                        <p:par>
                          <p:cTn id="12" fill="hold">
                            <p:stCondLst>
                              <p:cond delay="4000"/>
                            </p:stCondLst>
                            <p:childTnLst>
                              <p:par>
                                <p:cTn id="13" presetClass="entr" nodeType="afterEffect" presetSubtype="8" presetID="2" grpId="3" fill="hold">
                                  <p:stCondLst>
                                    <p:cond delay="0"/>
                                  </p:stCondLst>
                                  <p:iterate type="el" backwards="0">
                                    <p:tmAbs val="0"/>
                                  </p:iterate>
                                  <p:childTnLst>
                                    <p:set>
                                      <p:cBhvr>
                                        <p:cTn id="14" fill="hold"/>
                                        <p:tgtEl>
                                          <p:spTgt spid="396"/>
                                        </p:tgtEl>
                                        <p:attrNameLst>
                                          <p:attrName>style.visibility</p:attrName>
                                        </p:attrNameLst>
                                      </p:cBhvr>
                                      <p:to>
                                        <p:strVal val="visible"/>
                                      </p:to>
                                    </p:set>
                                    <p:anim calcmode="lin" valueType="num">
                                      <p:cBhvr>
                                        <p:cTn id="15" dur="1000" fill="hold"/>
                                        <p:tgtEl>
                                          <p:spTgt spid="396"/>
                                        </p:tgtEl>
                                        <p:attrNameLst>
                                          <p:attrName>ppt_x</p:attrName>
                                        </p:attrNameLst>
                                      </p:cBhvr>
                                      <p:tavLst>
                                        <p:tav tm="0">
                                          <p:val>
                                            <p:strVal val="0-#ppt_w/2"/>
                                          </p:val>
                                        </p:tav>
                                        <p:tav tm="100000">
                                          <p:val>
                                            <p:strVal val="#ppt_x"/>
                                          </p:val>
                                        </p:tav>
                                      </p:tavLst>
                                    </p:anim>
                                    <p:anim calcmode="lin" valueType="num">
                                      <p:cBhvr>
                                        <p:cTn id="16" dur="1000" fill="hold"/>
                                        <p:tgtEl>
                                          <p:spTgt spid="39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Class="entr" nodeType="clickEffect" presetID="9" grpId="4" fill="hold">
                                  <p:stCondLst>
                                    <p:cond delay="0"/>
                                  </p:stCondLst>
                                  <p:iterate type="el" backwards="0">
                                    <p:tmAbs val="0"/>
                                  </p:iterate>
                                  <p:childTnLst>
                                    <p:set>
                                      <p:cBhvr>
                                        <p:cTn id="20" fill="hold"/>
                                        <p:tgtEl>
                                          <p:spTgt spid="397"/>
                                        </p:tgtEl>
                                        <p:attrNameLst>
                                          <p:attrName>style.visibility</p:attrName>
                                        </p:attrNameLst>
                                      </p:cBhvr>
                                      <p:to>
                                        <p:strVal val="visible"/>
                                      </p:to>
                                    </p:set>
                                    <p:animEffect filter="dissolve" transition="in">
                                      <p:cBhvr>
                                        <p:cTn id="21" dur="2000"/>
                                        <p:tgtEl>
                                          <p:spTgt spid="397"/>
                                        </p:tgtEl>
                                      </p:cBhvr>
                                    </p:animEffect>
                                  </p:childTnLst>
                                </p:cTn>
                              </p:par>
                            </p:childTnLst>
                          </p:cTn>
                        </p:par>
                        <p:par>
                          <p:cTn id="22" fill="hold">
                            <p:stCondLst>
                              <p:cond delay="2000"/>
                            </p:stCondLst>
                            <p:childTnLst>
                              <p:par>
                                <p:cTn id="23" presetClass="entr" nodeType="afterEffect" presetID="9" grpId="5" fill="hold">
                                  <p:stCondLst>
                                    <p:cond delay="0"/>
                                  </p:stCondLst>
                                  <p:iterate type="el" backwards="0">
                                    <p:tmAbs val="0"/>
                                  </p:iterate>
                                  <p:childTnLst>
                                    <p:set>
                                      <p:cBhvr>
                                        <p:cTn id="24" fill="hold"/>
                                        <p:tgtEl>
                                          <p:spTgt spid="399"/>
                                        </p:tgtEl>
                                        <p:attrNameLst>
                                          <p:attrName>style.visibility</p:attrName>
                                        </p:attrNameLst>
                                      </p:cBhvr>
                                      <p:to>
                                        <p:strVal val="visible"/>
                                      </p:to>
                                    </p:set>
                                    <p:animEffect filter="dissolve" transition="in">
                                      <p:cBhvr>
                                        <p:cTn id="25" dur="2000"/>
                                        <p:tgtEl>
                                          <p:spTgt spid="399"/>
                                        </p:tgtEl>
                                      </p:cBhvr>
                                    </p:animEffect>
                                  </p:childTnLst>
                                </p:cTn>
                              </p:par>
                            </p:childTnLst>
                          </p:cTn>
                        </p:par>
                        <p:par>
                          <p:cTn id="26" fill="hold">
                            <p:stCondLst>
                              <p:cond delay="4000"/>
                            </p:stCondLst>
                            <p:childTnLst>
                              <p:par>
                                <p:cTn id="27" presetClass="entr" nodeType="afterEffect" presetSubtype="8" presetID="2" grpId="6" fill="hold">
                                  <p:stCondLst>
                                    <p:cond delay="0"/>
                                  </p:stCondLst>
                                  <p:iterate type="el" backwards="0">
                                    <p:tmAbs val="0"/>
                                  </p:iterate>
                                  <p:childTnLst>
                                    <p:set>
                                      <p:cBhvr>
                                        <p:cTn id="28" fill="hold"/>
                                        <p:tgtEl>
                                          <p:spTgt spid="401"/>
                                        </p:tgtEl>
                                        <p:attrNameLst>
                                          <p:attrName>style.visibility</p:attrName>
                                        </p:attrNameLst>
                                      </p:cBhvr>
                                      <p:to>
                                        <p:strVal val="visible"/>
                                      </p:to>
                                    </p:set>
                                    <p:anim calcmode="lin" valueType="num">
                                      <p:cBhvr>
                                        <p:cTn id="29" dur="1000" fill="hold"/>
                                        <p:tgtEl>
                                          <p:spTgt spid="401"/>
                                        </p:tgtEl>
                                        <p:attrNameLst>
                                          <p:attrName>ppt_x</p:attrName>
                                        </p:attrNameLst>
                                      </p:cBhvr>
                                      <p:tavLst>
                                        <p:tav tm="0">
                                          <p:val>
                                            <p:strVal val="0-#ppt_w/2"/>
                                          </p:val>
                                        </p:tav>
                                        <p:tav tm="100000">
                                          <p:val>
                                            <p:strVal val="#ppt_x"/>
                                          </p:val>
                                        </p:tav>
                                      </p:tavLst>
                                    </p:anim>
                                    <p:anim calcmode="lin" valueType="num">
                                      <p:cBhvr>
                                        <p:cTn id="30" dur="1000" fill="hold"/>
                                        <p:tgtEl>
                                          <p:spTgt spid="40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 grpId="7" fill="hold">
                                  <p:stCondLst>
                                    <p:cond delay="0"/>
                                  </p:stCondLst>
                                  <p:iterate type="el" backwards="0">
                                    <p:tmAbs val="0"/>
                                  </p:iterate>
                                  <p:childTnLst>
                                    <p:set>
                                      <p:cBhvr>
                                        <p:cTn id="34" fill="hold"/>
                                        <p:tgtEl>
                                          <p:spTgt spid="402"/>
                                        </p:tgtEl>
                                        <p:attrNameLst>
                                          <p:attrName>style.visibility</p:attrName>
                                        </p:attrNameLst>
                                      </p:cBhvr>
                                      <p:to>
                                        <p:strVal val="visible"/>
                                      </p:to>
                                    </p:set>
                                    <p:anim calcmode="lin" valueType="num">
                                      <p:cBhvr>
                                        <p:cTn id="35" dur="1000" fill="hold"/>
                                        <p:tgtEl>
                                          <p:spTgt spid="402"/>
                                        </p:tgtEl>
                                        <p:attrNameLst>
                                          <p:attrName>ppt_x</p:attrName>
                                        </p:attrNameLst>
                                      </p:cBhvr>
                                      <p:tavLst>
                                        <p:tav tm="0">
                                          <p:val>
                                            <p:strVal val="0-#ppt_w/2"/>
                                          </p:val>
                                        </p:tav>
                                        <p:tav tm="100000">
                                          <p:val>
                                            <p:strVal val="#ppt_x"/>
                                          </p:val>
                                        </p:tav>
                                      </p:tavLst>
                                    </p:anim>
                                    <p:anim calcmode="lin" valueType="num">
                                      <p:cBhvr>
                                        <p:cTn id="36" dur="1000" fill="hold"/>
                                        <p:tgtEl>
                                          <p:spTgt spid="402"/>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Class="entr" nodeType="afterEffect" presetID="9" grpId="8" fill="hold">
                                  <p:stCondLst>
                                    <p:cond delay="0"/>
                                  </p:stCondLst>
                                  <p:iterate type="el" backwards="0">
                                    <p:tmAbs val="0"/>
                                  </p:iterate>
                                  <p:childTnLst>
                                    <p:set>
                                      <p:cBhvr>
                                        <p:cTn id="39" fill="hold"/>
                                        <p:tgtEl>
                                          <p:spTgt spid="403"/>
                                        </p:tgtEl>
                                        <p:attrNameLst>
                                          <p:attrName>style.visibility</p:attrName>
                                        </p:attrNameLst>
                                      </p:cBhvr>
                                      <p:to>
                                        <p:strVal val="visible"/>
                                      </p:to>
                                    </p:set>
                                    <p:animEffect filter="dissolve" transition="in">
                                      <p:cBhvr>
                                        <p:cTn id="40" dur="20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1" grpId="6"/>
      <p:bldP build="whole" bldLvl="1" animBg="1" rev="0" advAuto="0" spid="394" grpId="2"/>
      <p:bldP build="whole" bldLvl="1" animBg="1" rev="0" advAuto="0" spid="392" grpId="1"/>
      <p:bldP build="whole" bldLvl="1" animBg="1" rev="0" advAuto="0" spid="402" grpId="7"/>
      <p:bldP build="whole" bldLvl="1" animBg="1" rev="0" advAuto="0" spid="397" grpId="4"/>
      <p:bldP build="whole" bldLvl="1" animBg="1" rev="0" advAuto="0" spid="403" grpId="8"/>
      <p:bldP build="whole" bldLvl="1" animBg="1" rev="0" advAuto="0" spid="396" grpId="3"/>
      <p:bldP build="whole" bldLvl="1" animBg="1" rev="0" advAuto="0" spid="399" grpId="5"/>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0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08" name="Supervizate"/>
          <p:cNvSpPr txBox="1"/>
          <p:nvPr/>
        </p:nvSpPr>
        <p:spPr>
          <a:xfrm>
            <a:off x="540430" y="5706628"/>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Dar dacă datele nu sunt perfect separabile liniar?</a:t>
            </a:r>
          </a:p>
        </p:txBody>
      </p:sp>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1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12" name="Supervizate"/>
          <p:cNvSpPr txBox="1"/>
          <p:nvPr/>
        </p:nvSpPr>
        <p:spPr>
          <a:xfrm>
            <a:off x="821351" y="612582"/>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Dar dacă datele nu sunt perfect separabile liniar?</a:t>
            </a:r>
          </a:p>
        </p:txBody>
      </p:sp>
      <p:pic>
        <p:nvPicPr>
          <p:cNvPr id="413" name="Captură de ecran din 2024-10-14 la 00.02.20.png" descr="Captură de ecran din 2024-10-14 la 00.02.20.png"/>
          <p:cNvPicPr>
            <a:picLocks noChangeAspect="1"/>
          </p:cNvPicPr>
          <p:nvPr/>
        </p:nvPicPr>
        <p:blipFill>
          <a:blip r:embed="rId2">
            <a:extLst/>
          </a:blip>
          <a:stretch>
            <a:fillRect/>
          </a:stretch>
        </p:blipFill>
        <p:spPr>
          <a:xfrm>
            <a:off x="3114060" y="2675134"/>
            <a:ext cx="16879175" cy="9798579"/>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1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17" name="Supervizate"/>
          <p:cNvSpPr txBox="1"/>
          <p:nvPr/>
        </p:nvSpPr>
        <p:spPr>
          <a:xfrm>
            <a:off x="821351" y="612582"/>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Dar dacă datele nu sunt perfect separabile liniar?</a:t>
            </a:r>
          </a:p>
        </p:txBody>
      </p:sp>
      <p:pic>
        <p:nvPicPr>
          <p:cNvPr id="418" name="Captură de ecran din 2024-10-14 la 00.02.20.png" descr="Captură de ecran din 2024-10-14 la 00.02.20.png"/>
          <p:cNvPicPr>
            <a:picLocks noChangeAspect="1"/>
          </p:cNvPicPr>
          <p:nvPr/>
        </p:nvPicPr>
        <p:blipFill>
          <a:blip r:embed="rId2">
            <a:extLst/>
          </a:blip>
          <a:stretch>
            <a:fillRect/>
          </a:stretch>
        </p:blipFill>
        <p:spPr>
          <a:xfrm>
            <a:off x="716862" y="3948646"/>
            <a:ext cx="12264293" cy="7119580"/>
          </a:xfrm>
          <a:prstGeom prst="rect">
            <a:avLst/>
          </a:prstGeom>
          <a:ln w="12700">
            <a:miter lim="400000"/>
          </a:ln>
        </p:spPr>
      </p:pic>
      <p:sp>
        <p:nvSpPr>
          <p:cNvPr id="419" name="Hard"/>
          <p:cNvSpPr txBox="1"/>
          <p:nvPr/>
        </p:nvSpPr>
        <p:spPr>
          <a:xfrm>
            <a:off x="13880734" y="5978875"/>
            <a:ext cx="142356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a:t>
            </a:r>
          </a:p>
        </p:txBody>
      </p:sp>
      <p:pic>
        <p:nvPicPr>
          <p:cNvPr id="420" name="Linie Linie" descr="Linie Linie"/>
          <p:cNvPicPr>
            <a:picLocks noChangeAspect="0"/>
          </p:cNvPicPr>
          <p:nvPr/>
        </p:nvPicPr>
        <p:blipFill>
          <a:blip r:embed="rId3">
            <a:extLst/>
          </a:blip>
          <a:stretch>
            <a:fillRect/>
          </a:stretch>
        </p:blipFill>
        <p:spPr>
          <a:xfrm>
            <a:off x="15663840" y="6335743"/>
            <a:ext cx="1887697" cy="405591"/>
          </a:xfrm>
          <a:prstGeom prst="rect">
            <a:avLst/>
          </a:prstGeom>
        </p:spPr>
      </p:pic>
      <p:sp>
        <p:nvSpPr>
          <p:cNvPr id="422" name="Soft"/>
          <p:cNvSpPr txBox="1"/>
          <p:nvPr/>
        </p:nvSpPr>
        <p:spPr>
          <a:xfrm>
            <a:off x="17856167" y="5978875"/>
            <a:ext cx="118328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Soft</a:t>
            </a:r>
          </a:p>
        </p:txBody>
      </p:sp>
      <p:sp>
        <p:nvSpPr>
          <p:cNvPr id="423" name="Găsirea unei linii good enough"/>
          <p:cNvSpPr txBox="1"/>
          <p:nvPr/>
        </p:nvSpPr>
        <p:spPr>
          <a:xfrm>
            <a:off x="13749636" y="7177474"/>
            <a:ext cx="772068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Găsirea unei linii good enough</a:t>
            </a:r>
          </a:p>
        </p:txBody>
      </p:sp>
      <p:pic>
        <p:nvPicPr>
          <p:cNvPr id="424" name="Linie Linie" descr="Linie Linie"/>
          <p:cNvPicPr>
            <a:picLocks noChangeAspect="0"/>
          </p:cNvPicPr>
          <p:nvPr/>
        </p:nvPicPr>
        <p:blipFill>
          <a:blip r:embed="rId4">
            <a:extLst/>
          </a:blip>
          <a:stretch>
            <a:fillRect/>
          </a:stretch>
        </p:blipFill>
        <p:spPr>
          <a:xfrm>
            <a:off x="18004854" y="8078955"/>
            <a:ext cx="370671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19"/>
                                        </p:tgtEl>
                                        <p:attrNameLst>
                                          <p:attrName>style.visibility</p:attrName>
                                        </p:attrNameLst>
                                      </p:cBhvr>
                                      <p:to>
                                        <p:strVal val="visible"/>
                                      </p:to>
                                    </p:set>
                                    <p:anim calcmode="lin" valueType="num">
                                      <p:cBhvr>
                                        <p:cTn id="7" dur="1000" fill="hold"/>
                                        <p:tgtEl>
                                          <p:spTgt spid="419"/>
                                        </p:tgtEl>
                                        <p:attrNameLst>
                                          <p:attrName>ppt_x</p:attrName>
                                        </p:attrNameLst>
                                      </p:cBhvr>
                                      <p:tavLst>
                                        <p:tav tm="0">
                                          <p:val>
                                            <p:strVal val="0-#ppt_w/2"/>
                                          </p:val>
                                        </p:tav>
                                        <p:tav tm="100000">
                                          <p:val>
                                            <p:strVal val="#ppt_x"/>
                                          </p:val>
                                        </p:tav>
                                      </p:tavLst>
                                    </p:anim>
                                    <p:anim calcmode="lin" valueType="num">
                                      <p:cBhvr>
                                        <p:cTn id="8" dur="1000" fill="hold"/>
                                        <p:tgtEl>
                                          <p:spTgt spid="4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20"/>
                                        </p:tgtEl>
                                        <p:attrNameLst>
                                          <p:attrName>style.visibility</p:attrName>
                                        </p:attrNameLst>
                                      </p:cBhvr>
                                      <p:to>
                                        <p:strVal val="visible"/>
                                      </p:to>
                                    </p:set>
                                    <p:animEffect filter="dissolve" transition="in">
                                      <p:cBhvr>
                                        <p:cTn id="12" dur="2000"/>
                                        <p:tgtEl>
                                          <p:spTgt spid="420"/>
                                        </p:tgtEl>
                                      </p:cBhvr>
                                    </p:animEffect>
                                  </p:childTnLst>
                                </p:cTn>
                              </p:par>
                            </p:childTnLst>
                          </p:cTn>
                        </p:par>
                        <p:par>
                          <p:cTn id="13" fill="hold">
                            <p:stCondLst>
                              <p:cond delay="3000"/>
                            </p:stCondLst>
                            <p:childTnLst>
                              <p:par>
                                <p:cTn id="14" presetClass="entr" nodeType="afterEffect" presetID="10" grpId="3" fill="hold">
                                  <p:stCondLst>
                                    <p:cond delay="0"/>
                                  </p:stCondLst>
                                  <p:iterate type="el" backwards="0">
                                    <p:tmAbs val="0"/>
                                  </p:iterate>
                                  <p:childTnLst>
                                    <p:set>
                                      <p:cBhvr>
                                        <p:cTn id="15" fill="hold"/>
                                        <p:tgtEl>
                                          <p:spTgt spid="422"/>
                                        </p:tgtEl>
                                        <p:attrNameLst>
                                          <p:attrName>style.visibility</p:attrName>
                                        </p:attrNameLst>
                                      </p:cBhvr>
                                      <p:to>
                                        <p:strVal val="visible"/>
                                      </p:to>
                                    </p:set>
                                    <p:animEffect filter="fade" transition="in">
                                      <p:cBhvr>
                                        <p:cTn id="16" dur="1000"/>
                                        <p:tgtEl>
                                          <p:spTgt spid="422"/>
                                        </p:tgtEl>
                                      </p:cBhvr>
                                    </p:animEffect>
                                  </p:childTnLst>
                                </p:cTn>
                              </p:par>
                            </p:childTnLst>
                          </p:cTn>
                        </p:par>
                        <p:par>
                          <p:cTn id="17" fill="hold">
                            <p:stCondLst>
                              <p:cond delay="4000"/>
                            </p:stCondLst>
                            <p:childTnLst>
                              <p:par>
                                <p:cTn id="18" presetClass="entr" nodeType="afterEffect" presetSubtype="8" presetID="2" grpId="4" fill="hold">
                                  <p:stCondLst>
                                    <p:cond delay="0"/>
                                  </p:stCondLst>
                                  <p:iterate type="el" backwards="0">
                                    <p:tmAbs val="0"/>
                                  </p:iterate>
                                  <p:childTnLst>
                                    <p:set>
                                      <p:cBhvr>
                                        <p:cTn id="19" fill="hold"/>
                                        <p:tgtEl>
                                          <p:spTgt spid="423"/>
                                        </p:tgtEl>
                                        <p:attrNameLst>
                                          <p:attrName>style.visibility</p:attrName>
                                        </p:attrNameLst>
                                      </p:cBhvr>
                                      <p:to>
                                        <p:strVal val="visible"/>
                                      </p:to>
                                    </p:set>
                                    <p:anim calcmode="lin" valueType="num">
                                      <p:cBhvr>
                                        <p:cTn id="20" dur="1000" fill="hold"/>
                                        <p:tgtEl>
                                          <p:spTgt spid="423"/>
                                        </p:tgtEl>
                                        <p:attrNameLst>
                                          <p:attrName>ppt_x</p:attrName>
                                        </p:attrNameLst>
                                      </p:cBhvr>
                                      <p:tavLst>
                                        <p:tav tm="0">
                                          <p:val>
                                            <p:strVal val="0-#ppt_w/2"/>
                                          </p:val>
                                        </p:tav>
                                        <p:tav tm="100000">
                                          <p:val>
                                            <p:strVal val="#ppt_x"/>
                                          </p:val>
                                        </p:tav>
                                      </p:tavLst>
                                    </p:anim>
                                    <p:anim calcmode="lin" valueType="num">
                                      <p:cBhvr>
                                        <p:cTn id="21" dur="1000" fill="hold"/>
                                        <p:tgtEl>
                                          <p:spTgt spid="423"/>
                                        </p:tgtEl>
                                        <p:attrNameLst>
                                          <p:attrName>ppt_y</p:attrName>
                                        </p:attrNameLst>
                                      </p:cBhvr>
                                      <p:tavLst>
                                        <p:tav tm="0">
                                          <p:val>
                                            <p:strVal val="#ppt_y"/>
                                          </p:val>
                                        </p:tav>
                                        <p:tav tm="100000">
                                          <p:val>
                                            <p:strVal val="#ppt_y"/>
                                          </p:val>
                                        </p:tav>
                                      </p:tavLst>
                                    </p:anim>
                                  </p:childTnLst>
                                </p:cTn>
                              </p:par>
                            </p:childTnLst>
                          </p:cTn>
                        </p:par>
                        <p:par>
                          <p:cTn id="22" fill="hold">
                            <p:stCondLst>
                              <p:cond delay="5000"/>
                            </p:stCondLst>
                            <p:childTnLst>
                              <p:par>
                                <p:cTn id="23" presetClass="entr" nodeType="afterEffect" presetID="9" grpId="5" fill="hold">
                                  <p:stCondLst>
                                    <p:cond delay="0"/>
                                  </p:stCondLst>
                                  <p:iterate type="el" backwards="0">
                                    <p:tmAbs val="0"/>
                                  </p:iterate>
                                  <p:childTnLst>
                                    <p:set>
                                      <p:cBhvr>
                                        <p:cTn id="24" fill="hold"/>
                                        <p:tgtEl>
                                          <p:spTgt spid="424"/>
                                        </p:tgtEl>
                                        <p:attrNameLst>
                                          <p:attrName>style.visibility</p:attrName>
                                        </p:attrNameLst>
                                      </p:cBhvr>
                                      <p:to>
                                        <p:strVal val="visible"/>
                                      </p:to>
                                    </p:set>
                                    <p:animEffect filter="dissolve" transition="in">
                                      <p:cBhvr>
                                        <p:cTn id="25" dur="20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3" grpId="4"/>
      <p:bldP build="whole" bldLvl="1" animBg="1" rev="0" advAuto="0" spid="419" grpId="1"/>
      <p:bldP build="whole" bldLvl="1" animBg="1" rev="0" advAuto="0" spid="424" grpId="5"/>
      <p:bldP build="whole" bldLvl="1" animBg="1" rev="0" advAuto="0" spid="422" grpId="3"/>
      <p:bldP build="whole" bldLvl="1" animBg="1" rev="0" advAuto="0" spid="420" grpId="2"/>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2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29" name="Supervizate"/>
          <p:cNvSpPr txBox="1"/>
          <p:nvPr/>
        </p:nvSpPr>
        <p:spPr>
          <a:xfrm>
            <a:off x="7001628" y="668767"/>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Soft-Margin SVM</a:t>
            </a:r>
          </a:p>
        </p:txBody>
      </p:sp>
      <p:pic>
        <p:nvPicPr>
          <p:cNvPr id="430" name="Captură de ecran din 2024-10-14 la 00.08.16.png" descr="Captură de ecran din 2024-10-14 la 00.08.16.png"/>
          <p:cNvPicPr>
            <a:picLocks noChangeAspect="1"/>
          </p:cNvPicPr>
          <p:nvPr/>
        </p:nvPicPr>
        <p:blipFill>
          <a:blip r:embed="rId2">
            <a:extLst/>
          </a:blip>
          <a:srcRect l="0" t="0" r="0" b="0"/>
          <a:stretch>
            <a:fillRect/>
          </a:stretch>
        </p:blipFill>
        <p:spPr>
          <a:xfrm>
            <a:off x="2089652" y="3547279"/>
            <a:ext cx="18331885" cy="8517410"/>
          </a:xfrm>
          <a:prstGeom prst="rect">
            <a:avLst/>
          </a:prstGeom>
          <a:ln w="12700">
            <a:miter lim="400000"/>
          </a:ln>
        </p:spPr>
      </p:pic>
      <p:sp>
        <p:nvSpPr>
          <p:cNvPr id="431" name="clf = SVC(kernel='linear', C=0.5)"/>
          <p:cNvSpPr txBox="1"/>
          <p:nvPr/>
        </p:nvSpPr>
        <p:spPr>
          <a:xfrm>
            <a:off x="3430447" y="8438426"/>
            <a:ext cx="4276441" cy="43494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300">
                <a:solidFill>
                  <a:srgbClr val="FFFFFF"/>
                </a:solidFill>
                <a:latin typeface="Arial"/>
                <a:ea typeface="Arial"/>
                <a:cs typeface="Arial"/>
                <a:sym typeface="Arial"/>
              </a:defRPr>
            </a:lvl1pPr>
          </a:lstStyle>
          <a:p>
            <a:pPr/>
            <a:r>
              <a:t>clf = SVC(kernel='linear', C=0.5)</a:t>
            </a:r>
          </a:p>
        </p:txBody>
      </p:sp>
      <p:pic>
        <p:nvPicPr>
          <p:cNvPr id="432" name="Oval Oval" descr="Oval Oval"/>
          <p:cNvPicPr>
            <a:picLocks noChangeAspect="0"/>
          </p:cNvPicPr>
          <p:nvPr/>
        </p:nvPicPr>
        <p:blipFill>
          <a:blip r:embed="rId3">
            <a:extLst/>
          </a:blip>
          <a:stretch>
            <a:fillRect/>
          </a:stretch>
        </p:blipFill>
        <p:spPr>
          <a:xfrm>
            <a:off x="2791876" y="8219600"/>
            <a:ext cx="5553584" cy="87259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32"/>
                                        </p:tgtEl>
                                        <p:attrNameLst>
                                          <p:attrName>style.visibility</p:attrName>
                                        </p:attrNameLst>
                                      </p:cBhvr>
                                      <p:to>
                                        <p:strVal val="visible"/>
                                      </p:to>
                                    </p:set>
                                    <p:animEffect filter="dissolve" transition="in">
                                      <p:cBhvr>
                                        <p:cTn id="7" dur="20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2"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3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37" name="clf = SVC(kernel='linear', C=0.5)"/>
          <p:cNvSpPr txBox="1"/>
          <p:nvPr/>
        </p:nvSpPr>
        <p:spPr>
          <a:xfrm>
            <a:off x="4624901" y="3424354"/>
            <a:ext cx="15134197" cy="128631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300">
                <a:latin typeface="Arial"/>
                <a:ea typeface="Arial"/>
                <a:cs typeface="Arial"/>
                <a:sym typeface="Arial"/>
              </a:defRPr>
            </a:lvl1pPr>
          </a:lstStyle>
          <a:p>
            <a:pPr/>
            <a:r>
              <a:t>clf = SVC(kernel='linear', C=0.5)</a:t>
            </a:r>
          </a:p>
        </p:txBody>
      </p:sp>
      <p:sp>
        <p:nvSpPr>
          <p:cNvPr id="438" name="Supervizate"/>
          <p:cNvSpPr txBox="1"/>
          <p:nvPr/>
        </p:nvSpPr>
        <p:spPr>
          <a:xfrm>
            <a:off x="7001628" y="668767"/>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Soft-Margin SVM</a:t>
            </a:r>
          </a:p>
        </p:txBody>
      </p:sp>
      <p:pic>
        <p:nvPicPr>
          <p:cNvPr id="439" name="Oval Oval" descr="Oval Oval"/>
          <p:cNvPicPr>
            <a:picLocks noChangeAspect="0"/>
          </p:cNvPicPr>
          <p:nvPr/>
        </p:nvPicPr>
        <p:blipFill>
          <a:blip r:embed="rId2">
            <a:extLst/>
          </a:blip>
          <a:stretch>
            <a:fillRect/>
          </a:stretch>
        </p:blipFill>
        <p:spPr>
          <a:xfrm>
            <a:off x="16338052" y="2967425"/>
            <a:ext cx="3255093" cy="2200173"/>
          </a:xfrm>
          <a:prstGeom prst="rect">
            <a:avLst/>
          </a:prstGeom>
        </p:spPr>
      </p:pic>
      <p:pic>
        <p:nvPicPr>
          <p:cNvPr id="441" name="Linie Linie" descr="Linie Linie"/>
          <p:cNvPicPr>
            <a:picLocks noChangeAspect="0"/>
          </p:cNvPicPr>
          <p:nvPr/>
        </p:nvPicPr>
        <p:blipFill>
          <a:blip r:embed="rId3">
            <a:extLst/>
          </a:blip>
          <a:stretch>
            <a:fillRect/>
          </a:stretch>
        </p:blipFill>
        <p:spPr>
          <a:xfrm rot="18900000">
            <a:off x="15139097" y="5588177"/>
            <a:ext cx="1897652" cy="405592"/>
          </a:xfrm>
          <a:prstGeom prst="rect">
            <a:avLst/>
          </a:prstGeom>
        </p:spPr>
      </p:pic>
      <p:sp>
        <p:nvSpPr>
          <p:cNvPr id="443" name="Cât timp C nu e infinit, clasa SVC va reprezenta Soft-Margin SVM"/>
          <p:cNvSpPr txBox="1"/>
          <p:nvPr/>
        </p:nvSpPr>
        <p:spPr>
          <a:xfrm>
            <a:off x="6501857" y="6578174"/>
            <a:ext cx="1501414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Cât timp C nu e infinit, clasa SVC va reprezenta Soft-Margin SVM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39"/>
                                        </p:tgtEl>
                                        <p:attrNameLst>
                                          <p:attrName>style.visibility</p:attrName>
                                        </p:attrNameLst>
                                      </p:cBhvr>
                                      <p:to>
                                        <p:strVal val="visible"/>
                                      </p:to>
                                    </p:set>
                                    <p:animEffect filter="dissolve" transition="in">
                                      <p:cBhvr>
                                        <p:cTn id="7" dur="2000"/>
                                        <p:tgtEl>
                                          <p:spTgt spid="439"/>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41"/>
                                        </p:tgtEl>
                                        <p:attrNameLst>
                                          <p:attrName>style.visibility</p:attrName>
                                        </p:attrNameLst>
                                      </p:cBhvr>
                                      <p:to>
                                        <p:strVal val="visible"/>
                                      </p:to>
                                    </p:set>
                                    <p:animEffect filter="dissolve" transition="in">
                                      <p:cBhvr>
                                        <p:cTn id="11" dur="2000"/>
                                        <p:tgtEl>
                                          <p:spTgt spid="441"/>
                                        </p:tgtEl>
                                      </p:cBhvr>
                                    </p:animEffect>
                                  </p:childTnLst>
                                </p:cTn>
                              </p:par>
                            </p:childTnLst>
                          </p:cTn>
                        </p:par>
                        <p:par>
                          <p:cTn id="12" fill="hold">
                            <p:stCondLst>
                              <p:cond delay="4000"/>
                            </p:stCondLst>
                            <p:childTnLst>
                              <p:par>
                                <p:cTn id="13" presetClass="entr" nodeType="afterEffect" presetSubtype="8" presetID="2" grpId="3" fill="hold">
                                  <p:stCondLst>
                                    <p:cond delay="0"/>
                                  </p:stCondLst>
                                  <p:iterate type="el" backwards="0">
                                    <p:tmAbs val="0"/>
                                  </p:iterate>
                                  <p:childTnLst>
                                    <p:set>
                                      <p:cBhvr>
                                        <p:cTn id="14" fill="hold"/>
                                        <p:tgtEl>
                                          <p:spTgt spid="443"/>
                                        </p:tgtEl>
                                        <p:attrNameLst>
                                          <p:attrName>style.visibility</p:attrName>
                                        </p:attrNameLst>
                                      </p:cBhvr>
                                      <p:to>
                                        <p:strVal val="visible"/>
                                      </p:to>
                                    </p:set>
                                    <p:anim calcmode="lin" valueType="num">
                                      <p:cBhvr>
                                        <p:cTn id="15" dur="1000" fill="hold"/>
                                        <p:tgtEl>
                                          <p:spTgt spid="443"/>
                                        </p:tgtEl>
                                        <p:attrNameLst>
                                          <p:attrName>ppt_x</p:attrName>
                                        </p:attrNameLst>
                                      </p:cBhvr>
                                      <p:tavLst>
                                        <p:tav tm="0">
                                          <p:val>
                                            <p:strVal val="0-#ppt_w/2"/>
                                          </p:val>
                                        </p:tav>
                                        <p:tav tm="100000">
                                          <p:val>
                                            <p:strVal val="#ppt_x"/>
                                          </p:val>
                                        </p:tav>
                                      </p:tavLst>
                                    </p:anim>
                                    <p:anim calcmode="lin" valueType="num">
                                      <p:cBhvr>
                                        <p:cTn id="16" dur="1000" fill="hold"/>
                                        <p:tgtEl>
                                          <p:spTgt spid="4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3" grpId="3"/>
      <p:bldP build="whole" bldLvl="1" animBg="1" rev="0" advAuto="0" spid="439" grpId="1"/>
      <p:bldP build="whole" bldLvl="1" animBg="1" rev="0" advAuto="0" spid="441" grpId="2"/>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4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47" name="Supervizate"/>
          <p:cNvSpPr txBox="1"/>
          <p:nvPr/>
        </p:nvSpPr>
        <p:spPr>
          <a:xfrm>
            <a:off x="7638384" y="256748"/>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Soft-Margin SVM</a:t>
            </a:r>
          </a:p>
        </p:txBody>
      </p:sp>
      <p:pic>
        <p:nvPicPr>
          <p:cNvPr id="448" name="Captură de ecran din 2024-10-14 la 00.14.20.png" descr="Captură de ecran din 2024-10-14 la 00.14.20.png"/>
          <p:cNvPicPr>
            <a:picLocks noChangeAspect="1"/>
          </p:cNvPicPr>
          <p:nvPr/>
        </p:nvPicPr>
        <p:blipFill>
          <a:blip r:embed="rId2">
            <a:extLst/>
          </a:blip>
          <a:stretch>
            <a:fillRect/>
          </a:stretch>
        </p:blipFill>
        <p:spPr>
          <a:xfrm>
            <a:off x="656127" y="3517006"/>
            <a:ext cx="12635980" cy="8381398"/>
          </a:xfrm>
          <a:prstGeom prst="rect">
            <a:avLst/>
          </a:prstGeom>
          <a:ln w="12700">
            <a:miter lim="400000"/>
          </a:ln>
        </p:spPr>
      </p:pic>
      <p:sp>
        <p:nvSpPr>
          <p:cNvPr id="449" name="Cu un  C  mic, modelul devine mai permisiv și permite ca mai multe puncte să cadă pe partea greșită a marginii."/>
          <p:cNvSpPr txBox="1"/>
          <p:nvPr/>
        </p:nvSpPr>
        <p:spPr>
          <a:xfrm>
            <a:off x="13825791" y="3950425"/>
            <a:ext cx="9484285" cy="24440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Cu un  C  mic, modelul devine mai permisiv și permite ca mai multe puncte să cadă pe partea greșită a marginii.</a:t>
            </a:r>
          </a:p>
        </p:txBody>
      </p:sp>
      <p:sp>
        <p:nvSpPr>
          <p:cNvPr id="450" name="Cu un  C  mare, modelul penalizează mai mult greșelile, așa că va încerca să corecteze fiecare eroare chiar dacă asta înseamnă o margine mai îngustă."/>
          <p:cNvSpPr txBox="1"/>
          <p:nvPr/>
        </p:nvSpPr>
        <p:spPr>
          <a:xfrm>
            <a:off x="13825791" y="8157494"/>
            <a:ext cx="9484285" cy="31990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Cu un  C  mare, modelul penalizează mai mult greșelile, așa că va încerca să corecteze fiecare eroare chiar dacă asta înseamnă o margine mai îngustă.</a:t>
            </a:r>
          </a:p>
        </p:txBody>
      </p:sp>
      <p:pic>
        <p:nvPicPr>
          <p:cNvPr id="451" name="Linie Linie" descr="Linie Linie"/>
          <p:cNvPicPr>
            <a:picLocks noChangeAspect="0"/>
          </p:cNvPicPr>
          <p:nvPr/>
        </p:nvPicPr>
        <p:blipFill>
          <a:blip r:embed="rId3">
            <a:extLst/>
          </a:blip>
          <a:stretch>
            <a:fillRect/>
          </a:stretch>
        </p:blipFill>
        <p:spPr>
          <a:xfrm>
            <a:off x="13831822" y="5121669"/>
            <a:ext cx="2212684" cy="101601"/>
          </a:xfrm>
          <a:prstGeom prst="rect">
            <a:avLst/>
          </a:prstGeom>
        </p:spPr>
      </p:pic>
      <p:pic>
        <p:nvPicPr>
          <p:cNvPr id="453" name="Linie Linie" descr="Linie Linie"/>
          <p:cNvPicPr>
            <a:picLocks noChangeAspect="0"/>
          </p:cNvPicPr>
          <p:nvPr/>
        </p:nvPicPr>
        <p:blipFill>
          <a:blip r:embed="rId4">
            <a:extLst/>
          </a:blip>
          <a:stretch>
            <a:fillRect/>
          </a:stretch>
        </p:blipFill>
        <p:spPr>
          <a:xfrm>
            <a:off x="19602842" y="9122995"/>
            <a:ext cx="3643741"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451"/>
                                        </p:tgtEl>
                                        <p:attrNameLst>
                                          <p:attrName>style.visibility</p:attrName>
                                        </p:attrNameLst>
                                      </p:cBhvr>
                                      <p:to>
                                        <p:strVal val="visible"/>
                                      </p:to>
                                    </p:set>
                                    <p:animEffect filter="dissolve" transition="in">
                                      <p:cBhvr>
                                        <p:cTn id="7" dur="2000"/>
                                        <p:tgtEl>
                                          <p:spTgt spid="451"/>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53"/>
                                        </p:tgtEl>
                                        <p:attrNameLst>
                                          <p:attrName>style.visibility</p:attrName>
                                        </p:attrNameLst>
                                      </p:cBhvr>
                                      <p:to>
                                        <p:strVal val="visible"/>
                                      </p:to>
                                    </p:set>
                                    <p:animEffect filter="dissolve" transition="in">
                                      <p:cBhvr>
                                        <p:cTn id="11" dur="2000"/>
                                        <p:tgtEl>
                                          <p:spTgt spid="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3" grpId="2"/>
      <p:bldP build="whole" bldLvl="1" animBg="1" rev="0" advAuto="0" spid="451"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5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58"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pic>
        <p:nvPicPr>
          <p:cNvPr id="459" name="Captură de ecran din 2024-10-14 la 00.21.30.png" descr="Captură de ecran din 2024-10-14 la 00.21.30.png"/>
          <p:cNvPicPr>
            <a:picLocks noChangeAspect="1"/>
          </p:cNvPicPr>
          <p:nvPr/>
        </p:nvPicPr>
        <p:blipFill>
          <a:blip r:embed="rId2">
            <a:extLst/>
          </a:blip>
          <a:stretch>
            <a:fillRect/>
          </a:stretch>
        </p:blipFill>
        <p:spPr>
          <a:xfrm>
            <a:off x="4712664" y="2365067"/>
            <a:ext cx="14958672" cy="1093371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cover dir="d"/>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6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63"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pic>
        <p:nvPicPr>
          <p:cNvPr id="464" name="Captură de ecran din 2024-10-14 la 00.21.30.png" descr="Captură de ecran din 2024-10-14 la 00.21.30.png"/>
          <p:cNvPicPr>
            <a:picLocks noChangeAspect="1"/>
          </p:cNvPicPr>
          <p:nvPr/>
        </p:nvPicPr>
        <p:blipFill>
          <a:blip r:embed="rId2">
            <a:extLst/>
          </a:blip>
          <a:stretch>
            <a:fillRect/>
          </a:stretch>
        </p:blipFill>
        <p:spPr>
          <a:xfrm>
            <a:off x="367742" y="3782156"/>
            <a:ext cx="10305109" cy="7532291"/>
          </a:xfrm>
          <a:prstGeom prst="rect">
            <a:avLst/>
          </a:prstGeom>
          <a:ln w="12700">
            <a:miter lim="400000"/>
          </a:ln>
        </p:spPr>
      </p:pic>
      <p:sp>
        <p:nvSpPr>
          <p:cNvPr id="465" name="SVM poate funcționa și pe date non-liniare dacă acestea sunt transpuse într-un spațiu mai mare."/>
          <p:cNvSpPr txBox="1"/>
          <p:nvPr/>
        </p:nvSpPr>
        <p:spPr>
          <a:xfrm>
            <a:off x="11481706" y="6013424"/>
            <a:ext cx="12375581"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SVM poate funcționa și pe date non-liniare dacă acestea sunt transpuse într-un spațiu mai mare.</a:t>
            </a:r>
          </a:p>
        </p:txBody>
      </p:sp>
      <p:pic>
        <p:nvPicPr>
          <p:cNvPr id="466" name="Linie Linie" descr="Linie Linie"/>
          <p:cNvPicPr>
            <a:picLocks noChangeAspect="0"/>
          </p:cNvPicPr>
          <p:nvPr/>
        </p:nvPicPr>
        <p:blipFill>
          <a:blip r:embed="rId3">
            <a:extLst/>
          </a:blip>
          <a:stretch>
            <a:fillRect/>
          </a:stretch>
        </p:blipFill>
        <p:spPr>
          <a:xfrm>
            <a:off x="15045813" y="7180006"/>
            <a:ext cx="912519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65"/>
                                        </p:tgtEl>
                                        <p:attrNameLst>
                                          <p:attrName>style.visibility</p:attrName>
                                        </p:attrNameLst>
                                      </p:cBhvr>
                                      <p:to>
                                        <p:strVal val="visible"/>
                                      </p:to>
                                    </p:set>
                                    <p:anim calcmode="lin" valueType="num">
                                      <p:cBhvr>
                                        <p:cTn id="7" dur="1000" fill="hold"/>
                                        <p:tgtEl>
                                          <p:spTgt spid="465"/>
                                        </p:tgtEl>
                                        <p:attrNameLst>
                                          <p:attrName>ppt_x</p:attrName>
                                        </p:attrNameLst>
                                      </p:cBhvr>
                                      <p:tavLst>
                                        <p:tav tm="0">
                                          <p:val>
                                            <p:strVal val="0-#ppt_w/2"/>
                                          </p:val>
                                        </p:tav>
                                        <p:tav tm="100000">
                                          <p:val>
                                            <p:strVal val="#ppt_x"/>
                                          </p:val>
                                        </p:tav>
                                      </p:tavLst>
                                    </p:anim>
                                    <p:anim calcmode="lin" valueType="num">
                                      <p:cBhvr>
                                        <p:cTn id="8" dur="1000" fill="hold"/>
                                        <p:tgtEl>
                                          <p:spTgt spid="46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66"/>
                                        </p:tgtEl>
                                        <p:attrNameLst>
                                          <p:attrName>style.visibility</p:attrName>
                                        </p:attrNameLst>
                                      </p:cBhvr>
                                      <p:to>
                                        <p:strVal val="visible"/>
                                      </p:to>
                                    </p:set>
                                    <p:animEffect filter="dissolve" transition="in">
                                      <p:cBhvr>
                                        <p:cTn id="12" dur="2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5" grpId="1"/>
      <p:bldP build="whole" bldLvl="1" animBg="1" rev="0" advAuto="0" spid="466" grpId="2"/>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7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1"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pic>
        <p:nvPicPr>
          <p:cNvPr id="472" name="SVM with polynomial kernel visualization (HD).mp4" descr="SVM with polynomial kernel visualization (HD).mp4"/>
          <p:cNvPicPr>
            <a:picLocks noChangeAspect="0"/>
          </p:cNvPicPr>
          <p:nvPr>
            <a:videoFile r:link="rId2"/>
            <p:extLst>
              <p:ext uri="{DAA4B4D4-6D71-4841-9C94-3DE7FCFB9230}">
                <p14:media xmlns:p14="http://schemas.microsoft.com/office/powerpoint/2010/main" r:embed="rId3"/>
              </p:ext>
            </p:extLst>
          </p:nvPr>
        </p:nvPicPr>
        <p:blipFill>
          <a:blip r:embed="rId4">
            <a:extLst/>
          </a:blip>
          <a:stretch>
            <a:fillRect/>
          </a:stretch>
        </p:blipFill>
        <p:spPr>
          <a:xfrm>
            <a:off x="3218555" y="2542926"/>
            <a:ext cx="17946890" cy="10095126"/>
          </a:xfrm>
          <a:prstGeom prst="rect">
            <a:avLst/>
          </a:prstGeom>
          <a:ln w="12700">
            <a:miter lim="400000"/>
          </a:ln>
          <a:effectLst>
            <a:reflection blurRad="0" stA="50000" stPos="0" endA="0" endPos="40000" dist="0" dir="5400000" fadeDir="5400000" sx="100000" sy="-100000" kx="0" ky="0" algn="bl" rotWithShape="0"/>
          </a:effectLst>
        </p:spPr>
      </p:pic>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47135" fill="hold"/>
                                        <p:tgtEl>
                                          <p:spTgt spid="472"/>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7" fill="hold" display="0">
                  <p:stCondLst>
                    <p:cond delay="indefinite"/>
                  </p:stCondLst>
                </p:cTn>
                <p:tgtEl>
                  <p:spTgt spid="472"/>
                </p:tgtEl>
              </p:cMediaNode>
            </p:video>
            <p:seq concurrent="1" prevAc="none" nextAc="seek">
              <p:cTn id="8" evtFilter="cancelBubble" nodeType="interactiveSeq" restart="whenNotActive" fill="hold">
                <p:stCondLst>
                  <p:cond delay="0" evt="onClick">
                    <p:tgtEl>
                      <p:spTgt spid="472"/>
                    </p:tgtEl>
                  </p:cond>
                </p:stCondLst>
                <p:endSync delay="0" evt="end">
                  <p:rtn val="all"/>
                </p:endSync>
                <p:childTnLst>
                  <p:par>
                    <p:cTn id="9" fill="hold">
                      <p:stCondLst>
                        <p:cond delay="0"/>
                      </p:stCondLst>
                      <p:childTnLst>
                        <p:par>
                          <p:cTn id="10" fill="hold">
                            <p:stCondLst>
                              <p:cond delay="0"/>
                            </p:stCondLst>
                            <p:childTnLst>
                              <p:par>
                                <p:cTn id="11" presetClass="mediacall" nodeType="clickEffect" presetSubtype="0" presetID="2" fill="hold">
                                  <p:stCondLst>
                                    <p:cond delay="0"/>
                                  </p:stCondLst>
                                  <p:childTnLst>
                                    <p:cmd type="call" cmd="togglePause">
                                      <p:cBhvr>
                                        <p:cTn id="12" dur="1" fill="hold"/>
                                        <p:tgtEl>
                                          <p:spTgt spid="472"/>
                                        </p:tgtEl>
                                      </p:cBhvr>
                                    </p:cmd>
                                  </p:childTnLst>
                                </p:cTn>
                              </p:par>
                            </p:childTnLst>
                          </p:cTn>
                        </p:par>
                      </p:childTnLst>
                    </p:cTn>
                  </p:par>
                </p:childTnLst>
              </p:cTn>
              <p:nextCondLst>
                <p:cond delay="0" evt="onClick">
                  <p:tgtEl>
                    <p:spTgt spid="472"/>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7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6"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pic>
        <p:nvPicPr>
          <p:cNvPr id="477" name="Captură de ecran din 2024-10-14 la 00.40.17.png" descr="Captură de ecran din 2024-10-14 la 00.40.17.png"/>
          <p:cNvPicPr>
            <a:picLocks noChangeAspect="1"/>
          </p:cNvPicPr>
          <p:nvPr/>
        </p:nvPicPr>
        <p:blipFill>
          <a:blip r:embed="rId2">
            <a:extLst/>
          </a:blip>
          <a:stretch>
            <a:fillRect/>
          </a:stretch>
        </p:blipFill>
        <p:spPr>
          <a:xfrm>
            <a:off x="4788913" y="2314794"/>
            <a:ext cx="14806174" cy="10231029"/>
          </a:xfrm>
          <a:prstGeom prst="rect">
            <a:avLst/>
          </a:prstGeom>
          <a:ln w="12700">
            <a:miter lim="400000"/>
          </a:ln>
        </p:spPr>
      </p:pic>
      <p:sp>
        <p:nvSpPr>
          <p:cNvPr id="478" name="svm_pipeline = Pipeline([…"/>
          <p:cNvSpPr txBox="1"/>
          <p:nvPr/>
        </p:nvSpPr>
        <p:spPr>
          <a:xfrm>
            <a:off x="5802498" y="7153935"/>
            <a:ext cx="7000083" cy="175134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0000"/>
              </a:lnSpc>
              <a:defRPr sz="2000">
                <a:solidFill>
                  <a:srgbClr val="FFFFFF"/>
                </a:solidFill>
                <a:latin typeface="Arial"/>
                <a:ea typeface="Arial"/>
                <a:cs typeface="Arial"/>
                <a:sym typeface="Arial"/>
              </a:defRPr>
            </a:pPr>
            <a:r>
              <a:t>svm_pipeline = Pipeline([</a:t>
            </a:r>
          </a:p>
          <a:p>
            <a:pPr>
              <a:lnSpc>
                <a:spcPct val="10000"/>
              </a:lnSpc>
              <a:defRPr sz="2000">
                <a:solidFill>
                  <a:srgbClr val="FFFFFF"/>
                </a:solidFill>
                <a:latin typeface="Arial"/>
                <a:ea typeface="Arial"/>
                <a:cs typeface="Arial"/>
                <a:sym typeface="Arial"/>
              </a:defRPr>
            </a:pPr>
            <a:r>
              <a:t>    ('scaler', StandardScaler()), </a:t>
            </a:r>
          </a:p>
          <a:p>
            <a:pPr>
              <a:lnSpc>
                <a:spcPct val="10000"/>
              </a:lnSpc>
              <a:defRPr sz="2000">
                <a:solidFill>
                  <a:srgbClr val="FFFFFF"/>
                </a:solidFill>
                <a:latin typeface="Arial"/>
                <a:ea typeface="Arial"/>
                <a:cs typeface="Arial"/>
                <a:sym typeface="Arial"/>
              </a:defRPr>
            </a:pPr>
            <a:r>
              <a:t>    ('svm_clf', SVC(kernel='poly', degree=3, coef0=1, C=1.0))  </a:t>
            </a:r>
          </a:p>
          <a:p>
            <a:pPr>
              <a:lnSpc>
                <a:spcPct val="10000"/>
              </a:lnSpc>
              <a:defRPr sz="2000">
                <a:solidFill>
                  <a:srgbClr val="FFFFFF"/>
                </a:solidFill>
                <a:latin typeface="Arial"/>
                <a:ea typeface="Arial"/>
                <a:cs typeface="Arial"/>
                <a:sym typeface="Arial"/>
              </a:defRPr>
            </a:pPr>
            <a:r>
              <a:t>])</a:t>
            </a:r>
          </a:p>
        </p:txBody>
      </p:sp>
      <p:pic>
        <p:nvPicPr>
          <p:cNvPr id="479" name="Oval Oval" descr="Oval Oval"/>
          <p:cNvPicPr>
            <a:picLocks noChangeAspect="0"/>
          </p:cNvPicPr>
          <p:nvPr/>
        </p:nvPicPr>
        <p:blipFill>
          <a:blip r:embed="rId3">
            <a:extLst/>
          </a:blip>
          <a:stretch>
            <a:fillRect/>
          </a:stretch>
        </p:blipFill>
        <p:spPr>
          <a:xfrm>
            <a:off x="4970089" y="6752771"/>
            <a:ext cx="7839676" cy="182754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79"/>
                                        </p:tgtEl>
                                        <p:attrNameLst>
                                          <p:attrName>style.visibility</p:attrName>
                                        </p:attrNameLst>
                                      </p:cBhvr>
                                      <p:to>
                                        <p:strVal val="visible"/>
                                      </p:to>
                                    </p:set>
                                    <p:animEffect filter="dissolve" transition="in">
                                      <p:cBhvr>
                                        <p:cTn id="7" dur="20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79"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2"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8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84"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sp>
        <p:nvSpPr>
          <p:cNvPr id="485" name="svm_pipeline = Pipeline([…"/>
          <p:cNvSpPr txBox="1"/>
          <p:nvPr/>
        </p:nvSpPr>
        <p:spPr>
          <a:xfrm>
            <a:off x="4116968" y="2964433"/>
            <a:ext cx="17328754" cy="383770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60000"/>
              </a:lnSpc>
              <a:defRPr sz="5000">
                <a:latin typeface="Arial"/>
                <a:ea typeface="Arial"/>
                <a:cs typeface="Arial"/>
                <a:sym typeface="Arial"/>
              </a:defRPr>
            </a:pPr>
            <a:r>
              <a:t>svm_pipeline = Pipeline([</a:t>
            </a:r>
          </a:p>
          <a:p>
            <a:pPr>
              <a:lnSpc>
                <a:spcPct val="60000"/>
              </a:lnSpc>
              <a:defRPr sz="5000">
                <a:latin typeface="Arial"/>
                <a:ea typeface="Arial"/>
                <a:cs typeface="Arial"/>
                <a:sym typeface="Arial"/>
              </a:defRPr>
            </a:pPr>
            <a:r>
              <a:t>    ('scaler', StandardScaler()), </a:t>
            </a:r>
          </a:p>
          <a:p>
            <a:pPr>
              <a:lnSpc>
                <a:spcPct val="60000"/>
              </a:lnSpc>
              <a:defRPr sz="5000">
                <a:latin typeface="Arial"/>
                <a:ea typeface="Arial"/>
                <a:cs typeface="Arial"/>
                <a:sym typeface="Arial"/>
              </a:defRPr>
            </a:pPr>
            <a:r>
              <a:t>    ('svm_clf', SVC(kernel='poly', degree=3, coef0=1, C=1.0))  </a:t>
            </a:r>
          </a:p>
          <a:p>
            <a:pPr>
              <a:lnSpc>
                <a:spcPct val="60000"/>
              </a:lnSpc>
              <a:defRPr sz="5000">
                <a:latin typeface="Arial"/>
                <a:ea typeface="Arial"/>
                <a:cs typeface="Arial"/>
                <a:sym typeface="Arial"/>
              </a:defRPr>
            </a:pPr>
            <a:r>
              <a:t>])</a:t>
            </a:r>
          </a:p>
        </p:txBody>
      </p:sp>
      <p:pic>
        <p:nvPicPr>
          <p:cNvPr id="486" name="Linie Linie" descr="Linie Linie"/>
          <p:cNvPicPr>
            <a:picLocks noChangeAspect="0"/>
          </p:cNvPicPr>
          <p:nvPr/>
        </p:nvPicPr>
        <p:blipFill>
          <a:blip r:embed="rId2">
            <a:extLst/>
          </a:blip>
          <a:stretch>
            <a:fillRect/>
          </a:stretch>
        </p:blipFill>
        <p:spPr>
          <a:xfrm>
            <a:off x="8547158" y="3677849"/>
            <a:ext cx="2242202" cy="101601"/>
          </a:xfrm>
          <a:prstGeom prst="rect">
            <a:avLst/>
          </a:prstGeom>
        </p:spPr>
      </p:pic>
      <p:sp>
        <p:nvSpPr>
          <p:cNvPr id="488" name="Pipeline este folosit atunci când vrem să legăm mai multe acțiuni pe setul nostru de date unul după altul."/>
          <p:cNvSpPr txBox="1"/>
          <p:nvPr/>
        </p:nvSpPr>
        <p:spPr>
          <a:xfrm>
            <a:off x="471576" y="7495852"/>
            <a:ext cx="2344084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Pipeline este folosit atunci când vrem să legăm mai multe acțiuni pe setul nostru de date unul după altul.</a:t>
            </a:r>
          </a:p>
        </p:txBody>
      </p:sp>
      <p:pic>
        <p:nvPicPr>
          <p:cNvPr id="489" name="Linie Linie" descr="Linie Linie"/>
          <p:cNvPicPr>
            <a:picLocks noChangeAspect="0"/>
          </p:cNvPicPr>
          <p:nvPr/>
        </p:nvPicPr>
        <p:blipFill>
          <a:blip r:embed="rId3">
            <a:extLst/>
          </a:blip>
          <a:stretch>
            <a:fillRect/>
          </a:stretch>
        </p:blipFill>
        <p:spPr>
          <a:xfrm>
            <a:off x="8884264" y="8066113"/>
            <a:ext cx="7368745" cy="101601"/>
          </a:xfrm>
          <a:prstGeom prst="rect">
            <a:avLst/>
          </a:prstGeom>
        </p:spPr>
      </p:pic>
      <p:pic>
        <p:nvPicPr>
          <p:cNvPr id="491" name="Linie Linie" descr="Linie Linie"/>
          <p:cNvPicPr>
            <a:picLocks noChangeAspect="0"/>
          </p:cNvPicPr>
          <p:nvPr/>
        </p:nvPicPr>
        <p:blipFill>
          <a:blip r:embed="rId4">
            <a:extLst/>
          </a:blip>
          <a:stretch>
            <a:fillRect/>
          </a:stretch>
        </p:blipFill>
        <p:spPr>
          <a:xfrm>
            <a:off x="7329831" y="4408246"/>
            <a:ext cx="4676856" cy="101601"/>
          </a:xfrm>
          <a:prstGeom prst="rect">
            <a:avLst/>
          </a:prstGeom>
        </p:spPr>
      </p:pic>
      <p:sp>
        <p:nvSpPr>
          <p:cNvPr id="493" name="este necesară când folosim SVM pe date non-liniare."/>
          <p:cNvSpPr txBox="1"/>
          <p:nvPr/>
        </p:nvSpPr>
        <p:spPr>
          <a:xfrm>
            <a:off x="1613991" y="9044067"/>
            <a:ext cx="1285270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         este necesară când folosim SVM pe date non-liniare.</a:t>
            </a:r>
          </a:p>
        </p:txBody>
      </p:sp>
      <p:pic>
        <p:nvPicPr>
          <p:cNvPr id="494" name="Linie Linie" descr="Linie Linie"/>
          <p:cNvPicPr>
            <a:picLocks noChangeAspect="0"/>
          </p:cNvPicPr>
          <p:nvPr/>
        </p:nvPicPr>
        <p:blipFill>
          <a:blip r:embed="rId5">
            <a:extLst/>
          </a:blip>
          <a:stretch>
            <a:fillRect/>
          </a:stretch>
        </p:blipFill>
        <p:spPr>
          <a:xfrm>
            <a:off x="2756075" y="9777873"/>
            <a:ext cx="3337899" cy="101601"/>
          </a:xfrm>
          <a:prstGeom prst="rect">
            <a:avLst/>
          </a:prstGeom>
        </p:spPr>
      </p:pic>
      <p:pic>
        <p:nvPicPr>
          <p:cNvPr id="496" name="Linie Linie" descr="Linie Linie"/>
          <p:cNvPicPr>
            <a:picLocks noChangeAspect="0"/>
          </p:cNvPicPr>
          <p:nvPr/>
        </p:nvPicPr>
        <p:blipFill>
          <a:blip r:embed="rId6">
            <a:extLst/>
          </a:blip>
          <a:stretch>
            <a:fillRect/>
          </a:stretch>
        </p:blipFill>
        <p:spPr>
          <a:xfrm>
            <a:off x="9221370" y="5277592"/>
            <a:ext cx="6694532" cy="101601"/>
          </a:xfrm>
          <a:prstGeom prst="rect">
            <a:avLst/>
          </a:prstGeom>
        </p:spPr>
      </p:pic>
      <p:sp>
        <p:nvSpPr>
          <p:cNvPr id="498" name="Kernelul polinomial mapează implicit spațiul de intrare original într-un spațiu de dimensiuni superioare, unde clasele pot fi mai ușor separate."/>
          <p:cNvSpPr txBox="1"/>
          <p:nvPr/>
        </p:nvSpPr>
        <p:spPr>
          <a:xfrm>
            <a:off x="579848" y="10664108"/>
            <a:ext cx="23625811" cy="16891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Kernelul polinomial mapează implicit spațiul de intrare original într-un spațiu de dimensiuni superioare, unde clasele pot fi mai ușor separate. </a:t>
            </a:r>
          </a:p>
        </p:txBody>
      </p:sp>
      <p:sp>
        <p:nvSpPr>
          <p:cNvPr id="499" name="Scalarea"/>
          <p:cNvSpPr txBox="1"/>
          <p:nvPr/>
        </p:nvSpPr>
        <p:spPr>
          <a:xfrm>
            <a:off x="552710" y="9044067"/>
            <a:ext cx="205669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Scalarea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86"/>
                                        </p:tgtEl>
                                        <p:attrNameLst>
                                          <p:attrName>style.visibility</p:attrName>
                                        </p:attrNameLst>
                                      </p:cBhvr>
                                      <p:to>
                                        <p:strVal val="visible"/>
                                      </p:to>
                                    </p:set>
                                    <p:animEffect filter="dissolve" transition="in">
                                      <p:cBhvr>
                                        <p:cTn id="7" dur="2000"/>
                                        <p:tgtEl>
                                          <p:spTgt spid="486"/>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488"/>
                                        </p:tgtEl>
                                        <p:attrNameLst>
                                          <p:attrName>style.visibility</p:attrName>
                                        </p:attrNameLst>
                                      </p:cBhvr>
                                      <p:to>
                                        <p:strVal val="visible"/>
                                      </p:to>
                                    </p:set>
                                    <p:anim calcmode="lin" valueType="num">
                                      <p:cBhvr>
                                        <p:cTn id="11" dur="1000" fill="hold"/>
                                        <p:tgtEl>
                                          <p:spTgt spid="488"/>
                                        </p:tgtEl>
                                        <p:attrNameLst>
                                          <p:attrName>ppt_x</p:attrName>
                                        </p:attrNameLst>
                                      </p:cBhvr>
                                      <p:tavLst>
                                        <p:tav tm="0">
                                          <p:val>
                                            <p:strVal val="0-#ppt_w/2"/>
                                          </p:val>
                                        </p:tav>
                                        <p:tav tm="100000">
                                          <p:val>
                                            <p:strVal val="#ppt_x"/>
                                          </p:val>
                                        </p:tav>
                                      </p:tavLst>
                                    </p:anim>
                                    <p:anim calcmode="lin" valueType="num">
                                      <p:cBhvr>
                                        <p:cTn id="12" dur="1000" fill="hold"/>
                                        <p:tgtEl>
                                          <p:spTgt spid="488"/>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489"/>
                                        </p:tgtEl>
                                        <p:attrNameLst>
                                          <p:attrName>style.visibility</p:attrName>
                                        </p:attrNameLst>
                                      </p:cBhvr>
                                      <p:to>
                                        <p:strVal val="visible"/>
                                      </p:to>
                                    </p:set>
                                    <p:animEffect filter="dissolve" transition="in">
                                      <p:cBhvr>
                                        <p:cTn id="16" dur="2000"/>
                                        <p:tgtEl>
                                          <p:spTgt spid="48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9" grpId="4" fill="hold">
                                  <p:stCondLst>
                                    <p:cond delay="0"/>
                                  </p:stCondLst>
                                  <p:iterate type="el" backwards="0">
                                    <p:tmAbs val="0"/>
                                  </p:iterate>
                                  <p:childTnLst>
                                    <p:set>
                                      <p:cBhvr>
                                        <p:cTn id="20" fill="hold"/>
                                        <p:tgtEl>
                                          <p:spTgt spid="491"/>
                                        </p:tgtEl>
                                        <p:attrNameLst>
                                          <p:attrName>style.visibility</p:attrName>
                                        </p:attrNameLst>
                                      </p:cBhvr>
                                      <p:to>
                                        <p:strVal val="visible"/>
                                      </p:to>
                                    </p:set>
                                    <p:animEffect filter="dissolve" transition="in">
                                      <p:cBhvr>
                                        <p:cTn id="21" dur="2000"/>
                                        <p:tgtEl>
                                          <p:spTgt spid="491"/>
                                        </p:tgtEl>
                                      </p:cBhvr>
                                    </p:animEffect>
                                  </p:childTnLst>
                                </p:cTn>
                              </p:par>
                            </p:childTnLst>
                          </p:cTn>
                        </p:par>
                        <p:par>
                          <p:cTn id="22" fill="hold">
                            <p:stCondLst>
                              <p:cond delay="2000"/>
                            </p:stCondLst>
                            <p:childTnLst>
                              <p:par>
                                <p:cTn id="23" presetClass="entr" nodeType="afterEffect" presetSubtype="8" presetID="2" grpId="5" fill="hold">
                                  <p:stCondLst>
                                    <p:cond delay="0"/>
                                  </p:stCondLst>
                                  <p:iterate type="el" backwards="0">
                                    <p:tmAbs val="0"/>
                                  </p:iterate>
                                  <p:childTnLst>
                                    <p:set>
                                      <p:cBhvr>
                                        <p:cTn id="24" fill="hold"/>
                                        <p:tgtEl>
                                          <p:spTgt spid="499"/>
                                        </p:tgtEl>
                                        <p:attrNameLst>
                                          <p:attrName>style.visibility</p:attrName>
                                        </p:attrNameLst>
                                      </p:cBhvr>
                                      <p:to>
                                        <p:strVal val="visible"/>
                                      </p:to>
                                    </p:set>
                                    <p:anim calcmode="lin" valueType="num">
                                      <p:cBhvr>
                                        <p:cTn id="25" dur="1000" fill="hold"/>
                                        <p:tgtEl>
                                          <p:spTgt spid="499"/>
                                        </p:tgtEl>
                                        <p:attrNameLst>
                                          <p:attrName>ppt_x</p:attrName>
                                        </p:attrNameLst>
                                      </p:cBhvr>
                                      <p:tavLst>
                                        <p:tav tm="0">
                                          <p:val>
                                            <p:strVal val="0-#ppt_w/2"/>
                                          </p:val>
                                        </p:tav>
                                        <p:tav tm="100000">
                                          <p:val>
                                            <p:strVal val="#ppt_x"/>
                                          </p:val>
                                        </p:tav>
                                      </p:tavLst>
                                    </p:anim>
                                    <p:anim calcmode="lin" valueType="num">
                                      <p:cBhvr>
                                        <p:cTn id="26" dur="1000" fill="hold"/>
                                        <p:tgtEl>
                                          <p:spTgt spid="499"/>
                                        </p:tgtEl>
                                        <p:attrNameLst>
                                          <p:attrName>ppt_y</p:attrName>
                                        </p:attrNameLst>
                                      </p:cBhvr>
                                      <p:tavLst>
                                        <p:tav tm="0">
                                          <p:val>
                                            <p:strVal val="#ppt_y"/>
                                          </p:val>
                                        </p:tav>
                                        <p:tav tm="100000">
                                          <p:val>
                                            <p:strVal val="#ppt_y"/>
                                          </p:val>
                                        </p:tav>
                                      </p:tavLst>
                                    </p:anim>
                                  </p:childTnLst>
                                </p:cTn>
                              </p:par>
                            </p:childTnLst>
                          </p:cTn>
                        </p:par>
                        <p:par>
                          <p:cTn id="27" fill="hold">
                            <p:stCondLst>
                              <p:cond delay="3000"/>
                            </p:stCondLst>
                            <p:childTnLst>
                              <p:par>
                                <p:cTn id="28" presetClass="entr" nodeType="afterEffect" presetSubtype="8" presetID="2" grpId="6" fill="hold">
                                  <p:stCondLst>
                                    <p:cond delay="0"/>
                                  </p:stCondLst>
                                  <p:iterate type="el" backwards="0">
                                    <p:tmAbs val="0"/>
                                  </p:iterate>
                                  <p:childTnLst>
                                    <p:set>
                                      <p:cBhvr>
                                        <p:cTn id="29" fill="hold"/>
                                        <p:tgtEl>
                                          <p:spTgt spid="493"/>
                                        </p:tgtEl>
                                        <p:attrNameLst>
                                          <p:attrName>style.visibility</p:attrName>
                                        </p:attrNameLst>
                                      </p:cBhvr>
                                      <p:to>
                                        <p:strVal val="visible"/>
                                      </p:to>
                                    </p:set>
                                    <p:anim calcmode="lin" valueType="num">
                                      <p:cBhvr>
                                        <p:cTn id="30" dur="1000" fill="hold"/>
                                        <p:tgtEl>
                                          <p:spTgt spid="493"/>
                                        </p:tgtEl>
                                        <p:attrNameLst>
                                          <p:attrName>ppt_x</p:attrName>
                                        </p:attrNameLst>
                                      </p:cBhvr>
                                      <p:tavLst>
                                        <p:tav tm="0">
                                          <p:val>
                                            <p:strVal val="0-#ppt_w/2"/>
                                          </p:val>
                                        </p:tav>
                                        <p:tav tm="100000">
                                          <p:val>
                                            <p:strVal val="#ppt_x"/>
                                          </p:val>
                                        </p:tav>
                                      </p:tavLst>
                                    </p:anim>
                                    <p:anim calcmode="lin" valueType="num">
                                      <p:cBhvr>
                                        <p:cTn id="31" dur="1000" fill="hold"/>
                                        <p:tgtEl>
                                          <p:spTgt spid="49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Class="entr" nodeType="clickEffect" presetID="9" grpId="7" fill="hold">
                                  <p:stCondLst>
                                    <p:cond delay="0"/>
                                  </p:stCondLst>
                                  <p:iterate type="el" backwards="0">
                                    <p:tmAbs val="0"/>
                                  </p:iterate>
                                  <p:childTnLst>
                                    <p:set>
                                      <p:cBhvr>
                                        <p:cTn id="35" fill="hold"/>
                                        <p:tgtEl>
                                          <p:spTgt spid="494"/>
                                        </p:tgtEl>
                                        <p:attrNameLst>
                                          <p:attrName>style.visibility</p:attrName>
                                        </p:attrNameLst>
                                      </p:cBhvr>
                                      <p:to>
                                        <p:strVal val="visible"/>
                                      </p:to>
                                    </p:set>
                                    <p:animEffect filter="dissolve" transition="in">
                                      <p:cBhvr>
                                        <p:cTn id="36" dur="2000"/>
                                        <p:tgtEl>
                                          <p:spTgt spid="494"/>
                                        </p:tgtEl>
                                      </p:cBhvr>
                                    </p:animEffect>
                                  </p:childTnLst>
                                </p:cTn>
                              </p:par>
                            </p:childTnLst>
                          </p:cTn>
                        </p:par>
                        <p:par>
                          <p:cTn id="37" fill="hold">
                            <p:stCondLst>
                              <p:cond delay="2000"/>
                            </p:stCondLst>
                            <p:childTnLst>
                              <p:par>
                                <p:cTn id="38" presetClass="entr" nodeType="afterEffect" presetID="9" grpId="8" fill="hold">
                                  <p:stCondLst>
                                    <p:cond delay="0"/>
                                  </p:stCondLst>
                                  <p:iterate type="el" backwards="0">
                                    <p:tmAbs val="0"/>
                                  </p:iterate>
                                  <p:childTnLst>
                                    <p:set>
                                      <p:cBhvr>
                                        <p:cTn id="39" fill="hold"/>
                                        <p:tgtEl>
                                          <p:spTgt spid="496"/>
                                        </p:tgtEl>
                                        <p:attrNameLst>
                                          <p:attrName>style.visibility</p:attrName>
                                        </p:attrNameLst>
                                      </p:cBhvr>
                                      <p:to>
                                        <p:strVal val="visible"/>
                                      </p:to>
                                    </p:set>
                                    <p:animEffect filter="dissolve" transition="in">
                                      <p:cBhvr>
                                        <p:cTn id="40" dur="2000"/>
                                        <p:tgtEl>
                                          <p:spTgt spid="496"/>
                                        </p:tgtEl>
                                      </p:cBhvr>
                                    </p:animEffect>
                                  </p:childTnLst>
                                </p:cTn>
                              </p:par>
                            </p:childTnLst>
                          </p:cTn>
                        </p:par>
                        <p:par>
                          <p:cTn id="41" fill="hold">
                            <p:stCondLst>
                              <p:cond delay="4000"/>
                            </p:stCondLst>
                            <p:childTnLst>
                              <p:par>
                                <p:cTn id="42" presetClass="entr" nodeType="afterEffect" presetSubtype="8" presetID="2" grpId="9" fill="hold">
                                  <p:stCondLst>
                                    <p:cond delay="0"/>
                                  </p:stCondLst>
                                  <p:iterate type="el" backwards="0">
                                    <p:tmAbs val="0"/>
                                  </p:iterate>
                                  <p:childTnLst>
                                    <p:set>
                                      <p:cBhvr>
                                        <p:cTn id="43" fill="hold"/>
                                        <p:tgtEl>
                                          <p:spTgt spid="498"/>
                                        </p:tgtEl>
                                        <p:attrNameLst>
                                          <p:attrName>style.visibility</p:attrName>
                                        </p:attrNameLst>
                                      </p:cBhvr>
                                      <p:to>
                                        <p:strVal val="visible"/>
                                      </p:to>
                                    </p:set>
                                    <p:anim calcmode="lin" valueType="num">
                                      <p:cBhvr>
                                        <p:cTn id="44" dur="1000" fill="hold"/>
                                        <p:tgtEl>
                                          <p:spTgt spid="498"/>
                                        </p:tgtEl>
                                        <p:attrNameLst>
                                          <p:attrName>ppt_x</p:attrName>
                                        </p:attrNameLst>
                                      </p:cBhvr>
                                      <p:tavLst>
                                        <p:tav tm="0">
                                          <p:val>
                                            <p:strVal val="0-#ppt_w/2"/>
                                          </p:val>
                                        </p:tav>
                                        <p:tav tm="100000">
                                          <p:val>
                                            <p:strVal val="#ppt_x"/>
                                          </p:val>
                                        </p:tav>
                                      </p:tavLst>
                                    </p:anim>
                                    <p:anim calcmode="lin" valueType="num">
                                      <p:cBhvr>
                                        <p:cTn id="45" dur="1000" fill="hold"/>
                                        <p:tgtEl>
                                          <p:spTgt spid="4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8" grpId="9"/>
      <p:bldP build="whole" bldLvl="1" animBg="1" rev="0" advAuto="0" spid="494" grpId="7"/>
      <p:bldP build="whole" bldLvl="1" animBg="1" rev="0" advAuto="0" spid="486" grpId="1"/>
      <p:bldP build="whole" bldLvl="1" animBg="1" rev="0" advAuto="0" spid="493" grpId="6"/>
      <p:bldP build="whole" bldLvl="1" animBg="1" rev="0" advAuto="0" spid="491" grpId="4"/>
      <p:bldP build="whole" bldLvl="1" animBg="1" rev="0" advAuto="0" spid="489" grpId="3"/>
      <p:bldP build="whole" bldLvl="1" animBg="1" rev="0" advAuto="0" spid="488" grpId="2"/>
      <p:bldP build="whole" bldLvl="1" animBg="1" rev="0" advAuto="0" spid="496" grpId="8"/>
      <p:bldP build="whole" bldLvl="1" animBg="1" rev="0" advAuto="0" spid="499" grpId="5"/>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50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03" name="Scalarea"/>
          <p:cNvSpPr txBox="1"/>
          <p:nvPr/>
        </p:nvSpPr>
        <p:spPr>
          <a:xfrm>
            <a:off x="7164009" y="739215"/>
            <a:ext cx="2939594" cy="132537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400">
                <a:latin typeface="Canela Regular"/>
                <a:ea typeface="Canela Regular"/>
                <a:cs typeface="Canela Regular"/>
                <a:sym typeface="Canela Regular"/>
              </a:defRPr>
            </a:lvl1pPr>
          </a:lstStyle>
          <a:p>
            <a:pPr/>
            <a:r>
              <a:t>Scalarea</a:t>
            </a:r>
          </a:p>
        </p:txBody>
      </p:sp>
      <p:sp>
        <p:nvSpPr>
          <p:cNvPr id="504" name="Presupunem că avem două caracteristici:"/>
          <p:cNvSpPr txBox="1"/>
          <p:nvPr/>
        </p:nvSpPr>
        <p:spPr>
          <a:xfrm>
            <a:off x="1564028" y="2926193"/>
            <a:ext cx="9371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Presupunem că avem două caracteristici:</a:t>
            </a:r>
          </a:p>
        </p:txBody>
      </p:sp>
      <p:sp>
        <p:nvSpPr>
          <p:cNvPr id="505" name="- numărul de cuvinte dintr-un mail (poate varia de la 10 la 1000)"/>
          <p:cNvSpPr txBox="1"/>
          <p:nvPr/>
        </p:nvSpPr>
        <p:spPr>
          <a:xfrm>
            <a:off x="2125872" y="3937511"/>
            <a:ext cx="1461348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 numărul de cuvinte dintr-un mail (poate varia de la 10 la 1000) </a:t>
            </a:r>
          </a:p>
        </p:txBody>
      </p:sp>
      <p:sp>
        <p:nvSpPr>
          <p:cNvPr id="506" name="- numărul de link-uri dintr-un mail (poate varia de la 0 la 5)"/>
          <p:cNvSpPr txBox="1"/>
          <p:nvPr/>
        </p:nvSpPr>
        <p:spPr>
          <a:xfrm>
            <a:off x="2177959" y="4948829"/>
            <a:ext cx="133109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 numărul de link-uri dintr-un mail (poate varia de la 0 la 5) </a:t>
            </a:r>
          </a:p>
        </p:txBody>
      </p:sp>
      <p:sp>
        <p:nvSpPr>
          <p:cNvPr id="507" name="(Și importanța la SVM)"/>
          <p:cNvSpPr txBox="1"/>
          <p:nvPr/>
        </p:nvSpPr>
        <p:spPr>
          <a:xfrm>
            <a:off x="10459881" y="739215"/>
            <a:ext cx="7763562" cy="132537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400">
                <a:latin typeface="Canela Regular"/>
                <a:ea typeface="Canela Regular"/>
                <a:cs typeface="Canela Regular"/>
                <a:sym typeface="Canela Regular"/>
              </a:defRPr>
            </a:lvl1pPr>
          </a:lstStyle>
          <a:p>
            <a:pPr/>
            <a:r>
              <a:t>(Și importanța la SVM)</a:t>
            </a:r>
          </a:p>
        </p:txBody>
      </p:sp>
      <p:sp>
        <p:nvSpPr>
          <p:cNvPr id="508" name="Dacă nu scanăm datele, caracteristica „număr de cuvinte” va domina caracteristica „număr de link-uri”"/>
          <p:cNvSpPr txBox="1"/>
          <p:nvPr/>
        </p:nvSpPr>
        <p:spPr>
          <a:xfrm>
            <a:off x="866992" y="6709272"/>
            <a:ext cx="2310612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Dacă nu scanăm datele, caracteristica „număr de cuvinte” va domina caracteristica „număr de link-uri”</a:t>
            </a:r>
          </a:p>
        </p:txBody>
      </p:sp>
      <p:pic>
        <p:nvPicPr>
          <p:cNvPr id="509" name="Linie Linie" descr="Linie Linie"/>
          <p:cNvPicPr>
            <a:picLocks noChangeAspect="0"/>
          </p:cNvPicPr>
          <p:nvPr/>
        </p:nvPicPr>
        <p:blipFill>
          <a:blip r:embed="rId2">
            <a:extLst/>
          </a:blip>
          <a:stretch>
            <a:fillRect/>
          </a:stretch>
        </p:blipFill>
        <p:spPr>
          <a:xfrm>
            <a:off x="15176909" y="7125578"/>
            <a:ext cx="2570712" cy="101601"/>
          </a:xfrm>
          <a:prstGeom prst="rect">
            <a:avLst/>
          </a:prstGeom>
        </p:spPr>
      </p:pic>
      <p:sp>
        <p:nvSpPr>
          <p:cNvPr id="511" name="SVM, fiind un algoritm bazat pe distanțe, va putea considera că caracteristica „număr de cuvinte” este mai importantă decât „număr de link-uri” doar pentru că are scala diferită, nu neapărat pentru că are o influență reală asupra clasificării."/>
          <p:cNvSpPr txBox="1"/>
          <p:nvPr/>
        </p:nvSpPr>
        <p:spPr>
          <a:xfrm>
            <a:off x="922576" y="7995698"/>
            <a:ext cx="22140535" cy="24440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SVM, fiind un algoritm bazat pe distanțe, va putea considera că caracteristica „număr de cuvinte” este mai importantă decât „număr de link-uri” doar pentru că are scala diferită, nu neapărat pentru că are o influență reală asupra clasificării.</a:t>
            </a:r>
          </a:p>
        </p:txBody>
      </p:sp>
      <p:pic>
        <p:nvPicPr>
          <p:cNvPr id="512" name="Linie Linie" descr="Linie Linie"/>
          <p:cNvPicPr>
            <a:picLocks noChangeAspect="0"/>
          </p:cNvPicPr>
          <p:nvPr/>
        </p:nvPicPr>
        <p:blipFill>
          <a:blip r:embed="rId3">
            <a:extLst/>
          </a:blip>
          <a:stretch>
            <a:fillRect/>
          </a:stretch>
        </p:blipFill>
        <p:spPr>
          <a:xfrm>
            <a:off x="14839804" y="9541738"/>
            <a:ext cx="736190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32" presetID="23" grpId="1" fill="hold">
                                  <p:stCondLst>
                                    <p:cond delay="0"/>
                                  </p:stCondLst>
                                  <p:iterate type="el" backwards="0">
                                    <p:tmAbs val="0"/>
                                  </p:iterate>
                                  <p:childTnLst>
                                    <p:set>
                                      <p:cBhvr>
                                        <p:cTn id="6" fill="hold"/>
                                        <p:tgtEl>
                                          <p:spTgt spid="507"/>
                                        </p:tgtEl>
                                        <p:attrNameLst>
                                          <p:attrName>style.visibility</p:attrName>
                                        </p:attrNameLst>
                                      </p:cBhvr>
                                      <p:to>
                                        <p:strVal val="visible"/>
                                      </p:to>
                                    </p:set>
                                    <p:anim calcmode="lin" valueType="num">
                                      <p:cBhvr>
                                        <p:cTn id="7" dur="1500" fill="hold"/>
                                        <p:tgtEl>
                                          <p:spTgt spid="507"/>
                                        </p:tgtEl>
                                        <p:attrNameLst>
                                          <p:attrName>ppt_w</p:attrName>
                                        </p:attrNameLst>
                                      </p:cBhvr>
                                      <p:tavLst>
                                        <p:tav tm="0">
                                          <p:val>
                                            <p:strVal val="4*#ppt_w"/>
                                          </p:val>
                                        </p:tav>
                                        <p:tav tm="100000">
                                          <p:val>
                                            <p:strVal val="#ppt_w"/>
                                          </p:val>
                                        </p:tav>
                                      </p:tavLst>
                                    </p:anim>
                                    <p:anim calcmode="lin" valueType="num">
                                      <p:cBhvr>
                                        <p:cTn id="8" dur="1500" fill="hold"/>
                                        <p:tgtEl>
                                          <p:spTgt spid="507"/>
                                        </p:tgtEl>
                                        <p:attrNameLst>
                                          <p:attrName>ppt_h</p:attrName>
                                        </p:attrNameLst>
                                      </p:cBhvr>
                                      <p:tavLst>
                                        <p:tav tm="0">
                                          <p:val>
                                            <p:strVal val="4*#ppt_h"/>
                                          </p:val>
                                        </p:tav>
                                        <p:tav tm="100000">
                                          <p:val>
                                            <p:strVal val="#ppt_h"/>
                                          </p:val>
                                        </p:tav>
                                      </p:tavLst>
                                    </p:anim>
                                  </p:childTnLst>
                                </p:cTn>
                              </p:par>
                            </p:childTnLst>
                          </p:cTn>
                        </p:par>
                        <p:par>
                          <p:cTn id="9" fill="hold">
                            <p:stCondLst>
                              <p:cond delay="1500"/>
                            </p:stCondLst>
                            <p:childTnLst>
                              <p:par>
                                <p:cTn id="10" presetClass="entr" nodeType="afterEffect" presetSubtype="8" presetID="2" grpId="2" fill="hold">
                                  <p:stCondLst>
                                    <p:cond delay="0"/>
                                  </p:stCondLst>
                                  <p:iterate type="el" backwards="0">
                                    <p:tmAbs val="0"/>
                                  </p:iterate>
                                  <p:childTnLst>
                                    <p:set>
                                      <p:cBhvr>
                                        <p:cTn id="11" fill="hold"/>
                                        <p:tgtEl>
                                          <p:spTgt spid="504"/>
                                        </p:tgtEl>
                                        <p:attrNameLst>
                                          <p:attrName>style.visibility</p:attrName>
                                        </p:attrNameLst>
                                      </p:cBhvr>
                                      <p:to>
                                        <p:strVal val="visible"/>
                                      </p:to>
                                    </p:set>
                                    <p:anim calcmode="lin" valueType="num">
                                      <p:cBhvr>
                                        <p:cTn id="12" dur="1000" fill="hold"/>
                                        <p:tgtEl>
                                          <p:spTgt spid="504"/>
                                        </p:tgtEl>
                                        <p:attrNameLst>
                                          <p:attrName>ppt_x</p:attrName>
                                        </p:attrNameLst>
                                      </p:cBhvr>
                                      <p:tavLst>
                                        <p:tav tm="0">
                                          <p:val>
                                            <p:strVal val="0-#ppt_w/2"/>
                                          </p:val>
                                        </p:tav>
                                        <p:tav tm="100000">
                                          <p:val>
                                            <p:strVal val="#ppt_x"/>
                                          </p:val>
                                        </p:tav>
                                      </p:tavLst>
                                    </p:anim>
                                    <p:anim calcmode="lin" valueType="num">
                                      <p:cBhvr>
                                        <p:cTn id="13" dur="1000" fill="hold"/>
                                        <p:tgtEl>
                                          <p:spTgt spid="504"/>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Class="entr" nodeType="afterEffect" presetSubtype="8" presetID="2" grpId="3" fill="hold">
                                  <p:stCondLst>
                                    <p:cond delay="0"/>
                                  </p:stCondLst>
                                  <p:iterate type="el" backwards="0">
                                    <p:tmAbs val="0"/>
                                  </p:iterate>
                                  <p:childTnLst>
                                    <p:set>
                                      <p:cBhvr>
                                        <p:cTn id="16" fill="hold"/>
                                        <p:tgtEl>
                                          <p:spTgt spid="505"/>
                                        </p:tgtEl>
                                        <p:attrNameLst>
                                          <p:attrName>style.visibility</p:attrName>
                                        </p:attrNameLst>
                                      </p:cBhvr>
                                      <p:to>
                                        <p:strVal val="visible"/>
                                      </p:to>
                                    </p:set>
                                    <p:anim calcmode="lin" valueType="num">
                                      <p:cBhvr>
                                        <p:cTn id="17" dur="1000" fill="hold"/>
                                        <p:tgtEl>
                                          <p:spTgt spid="505"/>
                                        </p:tgtEl>
                                        <p:attrNameLst>
                                          <p:attrName>ppt_x</p:attrName>
                                        </p:attrNameLst>
                                      </p:cBhvr>
                                      <p:tavLst>
                                        <p:tav tm="0">
                                          <p:val>
                                            <p:strVal val="0-#ppt_w/2"/>
                                          </p:val>
                                        </p:tav>
                                        <p:tav tm="100000">
                                          <p:val>
                                            <p:strVal val="#ppt_x"/>
                                          </p:val>
                                        </p:tav>
                                      </p:tavLst>
                                    </p:anim>
                                    <p:anim calcmode="lin" valueType="num">
                                      <p:cBhvr>
                                        <p:cTn id="18" dur="1000" fill="hold"/>
                                        <p:tgtEl>
                                          <p:spTgt spid="505"/>
                                        </p:tgtEl>
                                        <p:attrNameLst>
                                          <p:attrName>ppt_y</p:attrName>
                                        </p:attrNameLst>
                                      </p:cBhvr>
                                      <p:tavLst>
                                        <p:tav tm="0">
                                          <p:val>
                                            <p:strVal val="#ppt_y"/>
                                          </p:val>
                                        </p:tav>
                                        <p:tav tm="100000">
                                          <p:val>
                                            <p:strVal val="#ppt_y"/>
                                          </p:val>
                                        </p:tav>
                                      </p:tavLst>
                                    </p:anim>
                                  </p:childTnLst>
                                </p:cTn>
                              </p:par>
                            </p:childTnLst>
                          </p:cTn>
                        </p:par>
                        <p:par>
                          <p:cTn id="19" fill="hold">
                            <p:stCondLst>
                              <p:cond delay="3500"/>
                            </p:stCondLst>
                            <p:childTnLst>
                              <p:par>
                                <p:cTn id="20" presetClass="entr" nodeType="afterEffect" presetSubtype="8" presetID="2" grpId="4" fill="hold">
                                  <p:stCondLst>
                                    <p:cond delay="0"/>
                                  </p:stCondLst>
                                  <p:iterate type="el" backwards="0">
                                    <p:tmAbs val="0"/>
                                  </p:iterate>
                                  <p:childTnLst>
                                    <p:set>
                                      <p:cBhvr>
                                        <p:cTn id="21" fill="hold"/>
                                        <p:tgtEl>
                                          <p:spTgt spid="506"/>
                                        </p:tgtEl>
                                        <p:attrNameLst>
                                          <p:attrName>style.visibility</p:attrName>
                                        </p:attrNameLst>
                                      </p:cBhvr>
                                      <p:to>
                                        <p:strVal val="visible"/>
                                      </p:to>
                                    </p:set>
                                    <p:anim calcmode="lin" valueType="num">
                                      <p:cBhvr>
                                        <p:cTn id="22" dur="1000" fill="hold"/>
                                        <p:tgtEl>
                                          <p:spTgt spid="506"/>
                                        </p:tgtEl>
                                        <p:attrNameLst>
                                          <p:attrName>ppt_x</p:attrName>
                                        </p:attrNameLst>
                                      </p:cBhvr>
                                      <p:tavLst>
                                        <p:tav tm="0">
                                          <p:val>
                                            <p:strVal val="0-#ppt_w/2"/>
                                          </p:val>
                                        </p:tav>
                                        <p:tav tm="100000">
                                          <p:val>
                                            <p:strVal val="#ppt_x"/>
                                          </p:val>
                                        </p:tav>
                                      </p:tavLst>
                                    </p:anim>
                                    <p:anim calcmode="lin" valueType="num">
                                      <p:cBhvr>
                                        <p:cTn id="23" dur="1000" fill="hold"/>
                                        <p:tgtEl>
                                          <p:spTgt spid="50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5" fill="hold">
                                  <p:stCondLst>
                                    <p:cond delay="0"/>
                                  </p:stCondLst>
                                  <p:iterate type="el" backwards="0">
                                    <p:tmAbs val="0"/>
                                  </p:iterate>
                                  <p:childTnLst>
                                    <p:set>
                                      <p:cBhvr>
                                        <p:cTn id="27" fill="hold"/>
                                        <p:tgtEl>
                                          <p:spTgt spid="508"/>
                                        </p:tgtEl>
                                        <p:attrNameLst>
                                          <p:attrName>style.visibility</p:attrName>
                                        </p:attrNameLst>
                                      </p:cBhvr>
                                      <p:to>
                                        <p:strVal val="visible"/>
                                      </p:to>
                                    </p:set>
                                    <p:anim calcmode="lin" valueType="num">
                                      <p:cBhvr>
                                        <p:cTn id="28" dur="1000" fill="hold"/>
                                        <p:tgtEl>
                                          <p:spTgt spid="508"/>
                                        </p:tgtEl>
                                        <p:attrNameLst>
                                          <p:attrName>ppt_x</p:attrName>
                                        </p:attrNameLst>
                                      </p:cBhvr>
                                      <p:tavLst>
                                        <p:tav tm="0">
                                          <p:val>
                                            <p:strVal val="0-#ppt_w/2"/>
                                          </p:val>
                                        </p:tav>
                                        <p:tav tm="100000">
                                          <p:val>
                                            <p:strVal val="#ppt_x"/>
                                          </p:val>
                                        </p:tav>
                                      </p:tavLst>
                                    </p:anim>
                                    <p:anim calcmode="lin" valueType="num">
                                      <p:cBhvr>
                                        <p:cTn id="29" dur="1000" fill="hold"/>
                                        <p:tgtEl>
                                          <p:spTgt spid="508"/>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Class="entr" nodeType="afterEffect" presetID="9" grpId="6" fill="hold">
                                  <p:stCondLst>
                                    <p:cond delay="0"/>
                                  </p:stCondLst>
                                  <p:iterate type="el" backwards="0">
                                    <p:tmAbs val="0"/>
                                  </p:iterate>
                                  <p:childTnLst>
                                    <p:set>
                                      <p:cBhvr>
                                        <p:cTn id="32" fill="hold"/>
                                        <p:tgtEl>
                                          <p:spTgt spid="509"/>
                                        </p:tgtEl>
                                        <p:attrNameLst>
                                          <p:attrName>style.visibility</p:attrName>
                                        </p:attrNameLst>
                                      </p:cBhvr>
                                      <p:to>
                                        <p:strVal val="visible"/>
                                      </p:to>
                                    </p:set>
                                    <p:animEffect filter="dissolve" transition="in">
                                      <p:cBhvr>
                                        <p:cTn id="33" dur="2000"/>
                                        <p:tgtEl>
                                          <p:spTgt spid="509"/>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8" presetID="2" grpId="7" fill="hold">
                                  <p:stCondLst>
                                    <p:cond delay="0"/>
                                  </p:stCondLst>
                                  <p:iterate type="el" backwards="0">
                                    <p:tmAbs val="0"/>
                                  </p:iterate>
                                  <p:childTnLst>
                                    <p:set>
                                      <p:cBhvr>
                                        <p:cTn id="37" fill="hold"/>
                                        <p:tgtEl>
                                          <p:spTgt spid="511"/>
                                        </p:tgtEl>
                                        <p:attrNameLst>
                                          <p:attrName>style.visibility</p:attrName>
                                        </p:attrNameLst>
                                      </p:cBhvr>
                                      <p:to>
                                        <p:strVal val="visible"/>
                                      </p:to>
                                    </p:set>
                                    <p:anim calcmode="lin" valueType="num">
                                      <p:cBhvr>
                                        <p:cTn id="38" dur="1000" fill="hold"/>
                                        <p:tgtEl>
                                          <p:spTgt spid="511"/>
                                        </p:tgtEl>
                                        <p:attrNameLst>
                                          <p:attrName>ppt_x</p:attrName>
                                        </p:attrNameLst>
                                      </p:cBhvr>
                                      <p:tavLst>
                                        <p:tav tm="0">
                                          <p:val>
                                            <p:strVal val="0-#ppt_w/2"/>
                                          </p:val>
                                        </p:tav>
                                        <p:tav tm="100000">
                                          <p:val>
                                            <p:strVal val="#ppt_x"/>
                                          </p:val>
                                        </p:tav>
                                      </p:tavLst>
                                    </p:anim>
                                    <p:anim calcmode="lin" valueType="num">
                                      <p:cBhvr>
                                        <p:cTn id="39" dur="1000" fill="hold"/>
                                        <p:tgtEl>
                                          <p:spTgt spid="511"/>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Class="entr" nodeType="afterEffect" presetID="9" grpId="8" fill="hold">
                                  <p:stCondLst>
                                    <p:cond delay="0"/>
                                  </p:stCondLst>
                                  <p:iterate type="el" backwards="0">
                                    <p:tmAbs val="0"/>
                                  </p:iterate>
                                  <p:childTnLst>
                                    <p:set>
                                      <p:cBhvr>
                                        <p:cTn id="42" fill="hold"/>
                                        <p:tgtEl>
                                          <p:spTgt spid="512"/>
                                        </p:tgtEl>
                                        <p:attrNameLst>
                                          <p:attrName>style.visibility</p:attrName>
                                        </p:attrNameLst>
                                      </p:cBhvr>
                                      <p:to>
                                        <p:strVal val="visible"/>
                                      </p:to>
                                    </p:set>
                                    <p:animEffect filter="dissolve" transition="in">
                                      <p:cBhvr>
                                        <p:cTn id="43" dur="2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9" grpId="6"/>
      <p:bldP build="whole" bldLvl="1" animBg="1" rev="0" advAuto="0" spid="511" grpId="7"/>
      <p:bldP build="whole" bldLvl="1" animBg="1" rev="0" advAuto="0" spid="504" grpId="2"/>
      <p:bldP build="whole" bldLvl="1" animBg="1" rev="0" advAuto="0" spid="506" grpId="4"/>
      <p:bldP build="whole" bldLvl="1" animBg="1" rev="0" advAuto="0" spid="508" grpId="5"/>
      <p:bldP build="whole" bldLvl="1" animBg="1" rev="0" advAuto="0" spid="505" grpId="3"/>
      <p:bldP build="whole" bldLvl="1" animBg="1" rev="0" advAuto="0" spid="512" grpId="8"/>
      <p:bldP build="whole" bldLvl="1" animBg="1" rev="0" advAuto="0" spid="507"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51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17" name="Scalarea"/>
          <p:cNvSpPr txBox="1"/>
          <p:nvPr/>
        </p:nvSpPr>
        <p:spPr>
          <a:xfrm>
            <a:off x="7164009" y="739215"/>
            <a:ext cx="2939594" cy="132537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400">
                <a:latin typeface="Canela Regular"/>
                <a:ea typeface="Canela Regular"/>
                <a:cs typeface="Canela Regular"/>
                <a:sym typeface="Canela Regular"/>
              </a:defRPr>
            </a:lvl1pPr>
          </a:lstStyle>
          <a:p>
            <a:pPr/>
            <a:r>
              <a:t>Scalarea</a:t>
            </a:r>
          </a:p>
        </p:txBody>
      </p:sp>
      <p:sp>
        <p:nvSpPr>
          <p:cNvPr id="518" name="- numărul de cuvinte dintr-un mail (poate varia de la 10 la 1000)"/>
          <p:cNvSpPr txBox="1"/>
          <p:nvPr/>
        </p:nvSpPr>
        <p:spPr>
          <a:xfrm>
            <a:off x="1414203" y="3581677"/>
            <a:ext cx="1461348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 numărul de cuvinte dintr-un mail (poate varia de la 10 la 1000) </a:t>
            </a:r>
          </a:p>
        </p:txBody>
      </p:sp>
      <p:sp>
        <p:nvSpPr>
          <p:cNvPr id="519" name="- numărul de link-uri dintr-un mail (poate varia de la 0 la 5)"/>
          <p:cNvSpPr txBox="1"/>
          <p:nvPr/>
        </p:nvSpPr>
        <p:spPr>
          <a:xfrm>
            <a:off x="1559932" y="4724092"/>
            <a:ext cx="1331092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 numărul de link-uri dintr-un mail (poate varia de la 0 la 5) </a:t>
            </a:r>
          </a:p>
        </p:txBody>
      </p:sp>
      <p:sp>
        <p:nvSpPr>
          <p:cNvPr id="520" name="(Și importanța la SVM)"/>
          <p:cNvSpPr txBox="1"/>
          <p:nvPr/>
        </p:nvSpPr>
        <p:spPr>
          <a:xfrm>
            <a:off x="10459881" y="739215"/>
            <a:ext cx="7763562" cy="132537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400">
                <a:latin typeface="Canela Regular"/>
                <a:ea typeface="Canela Regular"/>
                <a:cs typeface="Canela Regular"/>
                <a:sym typeface="Canela Regular"/>
              </a:defRPr>
            </a:lvl1pPr>
          </a:lstStyle>
          <a:p>
            <a:pPr/>
            <a:r>
              <a:t>(Și importanța la SVM)</a:t>
            </a:r>
          </a:p>
        </p:txBody>
      </p:sp>
      <p:pic>
        <p:nvPicPr>
          <p:cNvPr id="521" name="Oval Oval" descr="Oval Oval"/>
          <p:cNvPicPr>
            <a:picLocks noChangeAspect="0"/>
          </p:cNvPicPr>
          <p:nvPr/>
        </p:nvPicPr>
        <p:blipFill>
          <a:blip r:embed="rId2">
            <a:extLst/>
          </a:blip>
          <a:stretch>
            <a:fillRect/>
          </a:stretch>
        </p:blipFill>
        <p:spPr>
          <a:xfrm>
            <a:off x="550255" y="3119517"/>
            <a:ext cx="17365334" cy="3055741"/>
          </a:xfrm>
          <a:prstGeom prst="rect">
            <a:avLst/>
          </a:prstGeom>
        </p:spPr>
      </p:pic>
      <p:sp>
        <p:nvSpPr>
          <p:cNvPr id="523" name="Scalarea (StandardScaler() în Scikit-Learn) va face ca toate caracteristicile să fie între 0 și 1, rezolvând această problemă."/>
          <p:cNvSpPr txBox="1"/>
          <p:nvPr/>
        </p:nvSpPr>
        <p:spPr>
          <a:xfrm>
            <a:off x="327973" y="7455489"/>
            <a:ext cx="22675292"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Scalarea (StandardScaler() în Scikit-Learn) va face ca toate caracteristicile să fie între 0 și 1, rezolvând această problemă.</a:t>
            </a:r>
          </a:p>
        </p:txBody>
      </p:sp>
      <p:pic>
        <p:nvPicPr>
          <p:cNvPr id="524" name="Linie Linie" descr="Linie Linie"/>
          <p:cNvPicPr>
            <a:picLocks noChangeAspect="0"/>
          </p:cNvPicPr>
          <p:nvPr/>
        </p:nvPicPr>
        <p:blipFill>
          <a:blip r:embed="rId3">
            <a:extLst/>
          </a:blip>
          <a:stretch>
            <a:fillRect/>
          </a:stretch>
        </p:blipFill>
        <p:spPr>
          <a:xfrm>
            <a:off x="194421" y="8955642"/>
            <a:ext cx="3228182"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21"/>
                                        </p:tgtEl>
                                        <p:attrNameLst>
                                          <p:attrName>style.visibility</p:attrName>
                                        </p:attrNameLst>
                                      </p:cBhvr>
                                      <p:to>
                                        <p:strVal val="visible"/>
                                      </p:to>
                                    </p:set>
                                    <p:animEffect filter="dissolve" transition="in">
                                      <p:cBhvr>
                                        <p:cTn id="7" dur="2000"/>
                                        <p:tgtEl>
                                          <p:spTgt spid="52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523"/>
                                        </p:tgtEl>
                                        <p:attrNameLst>
                                          <p:attrName>style.visibility</p:attrName>
                                        </p:attrNameLst>
                                      </p:cBhvr>
                                      <p:to>
                                        <p:strVal val="visible"/>
                                      </p:to>
                                    </p:set>
                                    <p:anim calcmode="lin" valueType="num">
                                      <p:cBhvr>
                                        <p:cTn id="12" dur="1000" fill="hold"/>
                                        <p:tgtEl>
                                          <p:spTgt spid="523"/>
                                        </p:tgtEl>
                                        <p:attrNameLst>
                                          <p:attrName>ppt_x</p:attrName>
                                        </p:attrNameLst>
                                      </p:cBhvr>
                                      <p:tavLst>
                                        <p:tav tm="0">
                                          <p:val>
                                            <p:strVal val="0-#ppt_w/2"/>
                                          </p:val>
                                        </p:tav>
                                        <p:tav tm="100000">
                                          <p:val>
                                            <p:strVal val="#ppt_x"/>
                                          </p:val>
                                        </p:tav>
                                      </p:tavLst>
                                    </p:anim>
                                    <p:anim calcmode="lin" valueType="num">
                                      <p:cBhvr>
                                        <p:cTn id="13" dur="1000" fill="hold"/>
                                        <p:tgtEl>
                                          <p:spTgt spid="52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Class="entr" nodeType="afterEffect" presetID="9" grpId="3" fill="hold">
                                  <p:stCondLst>
                                    <p:cond delay="0"/>
                                  </p:stCondLst>
                                  <p:iterate type="el" backwards="0">
                                    <p:tmAbs val="0"/>
                                  </p:iterate>
                                  <p:childTnLst>
                                    <p:set>
                                      <p:cBhvr>
                                        <p:cTn id="16" fill="hold"/>
                                        <p:tgtEl>
                                          <p:spTgt spid="524"/>
                                        </p:tgtEl>
                                        <p:attrNameLst>
                                          <p:attrName>style.visibility</p:attrName>
                                        </p:attrNameLst>
                                      </p:cBhvr>
                                      <p:to>
                                        <p:strVal val="visible"/>
                                      </p:to>
                                    </p:set>
                                    <p:animEffect filter="dissolve" transition="in">
                                      <p:cBhvr>
                                        <p:cTn id="17" dur="20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3" grpId="2"/>
      <p:bldP build="whole" bldLvl="1" animBg="1" rev="0" advAuto="0" spid="521" grpId="1"/>
      <p:bldP build="whole" bldLvl="1" animBg="1" rev="0" advAuto="0" spid="524" grpId="3"/>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28"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sp>
        <p:nvSpPr>
          <p:cNvPr id="529" name="svm_pipeline = Pipeline([…"/>
          <p:cNvSpPr txBox="1"/>
          <p:nvPr/>
        </p:nvSpPr>
        <p:spPr>
          <a:xfrm>
            <a:off x="4116968" y="2964433"/>
            <a:ext cx="17328754" cy="383770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60000"/>
              </a:lnSpc>
              <a:defRPr sz="5000">
                <a:latin typeface="Arial"/>
                <a:ea typeface="Arial"/>
                <a:cs typeface="Arial"/>
                <a:sym typeface="Arial"/>
              </a:defRPr>
            </a:pPr>
            <a:r>
              <a:t>svm_pipeline = Pipeline([</a:t>
            </a:r>
          </a:p>
          <a:p>
            <a:pPr>
              <a:lnSpc>
                <a:spcPct val="60000"/>
              </a:lnSpc>
              <a:defRPr sz="5000">
                <a:latin typeface="Arial"/>
                <a:ea typeface="Arial"/>
                <a:cs typeface="Arial"/>
                <a:sym typeface="Arial"/>
              </a:defRPr>
            </a:pPr>
            <a:r>
              <a:t>    ('scaler', StandardScaler()), </a:t>
            </a:r>
          </a:p>
          <a:p>
            <a:pPr>
              <a:lnSpc>
                <a:spcPct val="60000"/>
              </a:lnSpc>
              <a:defRPr sz="5000">
                <a:latin typeface="Arial"/>
                <a:ea typeface="Arial"/>
                <a:cs typeface="Arial"/>
                <a:sym typeface="Arial"/>
              </a:defRPr>
            </a:pPr>
            <a:r>
              <a:t>    ('svm_clf', SVC(kernel='poly', degree=3, coef0=1, C=1.0))  </a:t>
            </a:r>
          </a:p>
          <a:p>
            <a:pPr>
              <a:lnSpc>
                <a:spcPct val="60000"/>
              </a:lnSpc>
              <a:defRPr sz="5000">
                <a:latin typeface="Arial"/>
                <a:ea typeface="Arial"/>
                <a:cs typeface="Arial"/>
                <a:sym typeface="Arial"/>
              </a:defRPr>
            </a:pPr>
            <a:r>
              <a:t>])</a:t>
            </a:r>
          </a:p>
        </p:txBody>
      </p:sp>
      <p:pic>
        <p:nvPicPr>
          <p:cNvPr id="530" name="Linie Linie" descr="Linie Linie"/>
          <p:cNvPicPr>
            <a:picLocks noChangeAspect="0"/>
          </p:cNvPicPr>
          <p:nvPr/>
        </p:nvPicPr>
        <p:blipFill>
          <a:blip r:embed="rId2">
            <a:extLst/>
          </a:blip>
          <a:stretch>
            <a:fillRect/>
          </a:stretch>
        </p:blipFill>
        <p:spPr>
          <a:xfrm>
            <a:off x="8547158" y="3677849"/>
            <a:ext cx="2242202" cy="101601"/>
          </a:xfrm>
          <a:prstGeom prst="rect">
            <a:avLst/>
          </a:prstGeom>
        </p:spPr>
      </p:pic>
      <p:pic>
        <p:nvPicPr>
          <p:cNvPr id="532" name="Linie Linie" descr="Linie Linie"/>
          <p:cNvPicPr>
            <a:picLocks noChangeAspect="0"/>
          </p:cNvPicPr>
          <p:nvPr/>
        </p:nvPicPr>
        <p:blipFill>
          <a:blip r:embed="rId3">
            <a:extLst/>
          </a:blip>
          <a:stretch>
            <a:fillRect/>
          </a:stretch>
        </p:blipFill>
        <p:spPr>
          <a:xfrm>
            <a:off x="7329831" y="4408246"/>
            <a:ext cx="4676856" cy="101601"/>
          </a:xfrm>
          <a:prstGeom prst="rect">
            <a:avLst/>
          </a:prstGeom>
        </p:spPr>
      </p:pic>
      <p:pic>
        <p:nvPicPr>
          <p:cNvPr id="534" name="Linie Linie" descr="Linie Linie"/>
          <p:cNvPicPr>
            <a:picLocks noChangeAspect="0"/>
          </p:cNvPicPr>
          <p:nvPr/>
        </p:nvPicPr>
        <p:blipFill>
          <a:blip r:embed="rId4">
            <a:extLst/>
          </a:blip>
          <a:stretch>
            <a:fillRect/>
          </a:stretch>
        </p:blipFill>
        <p:spPr>
          <a:xfrm>
            <a:off x="9221370" y="5277592"/>
            <a:ext cx="6694532" cy="101601"/>
          </a:xfrm>
          <a:prstGeom prst="rect">
            <a:avLst/>
          </a:prstGeom>
        </p:spPr>
      </p:pic>
      <p:sp>
        <p:nvSpPr>
          <p:cNvPr id="536" name="În acest caz, vom folosi svm_pipeline la fel cum am folosit pentru SVM obișnuit, doar că acum va face și scalare înainte să îi dea modelului „să mânânce” datele."/>
          <p:cNvSpPr txBox="1"/>
          <p:nvPr/>
        </p:nvSpPr>
        <p:spPr>
          <a:xfrm>
            <a:off x="440342" y="7605314"/>
            <a:ext cx="23369880"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În acest caz, vom folosi svm_pipeline la fel cum am folosit pentru SVM obișnuit, doar că acum va face și scalare înainte să îi dea modelului „să mânânce” datele.</a:t>
            </a:r>
          </a:p>
        </p:txBody>
      </p:sp>
      <p:sp>
        <p:nvSpPr>
          <p:cNvPr id="537" name="clf = SVC(kernel='linear', C=0.5)"/>
          <p:cNvSpPr txBox="1"/>
          <p:nvPr/>
        </p:nvSpPr>
        <p:spPr>
          <a:xfrm>
            <a:off x="5673676" y="9540817"/>
            <a:ext cx="12057832" cy="103938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600">
                <a:latin typeface="Arial"/>
                <a:ea typeface="Arial"/>
                <a:cs typeface="Arial"/>
                <a:sym typeface="Arial"/>
              </a:defRPr>
            </a:lvl1pPr>
          </a:lstStyle>
          <a:p>
            <a:pPr/>
            <a:r>
              <a:t>clf = SVC(kernel='linear', C=0.5)</a:t>
            </a:r>
          </a:p>
        </p:txBody>
      </p:sp>
      <p:pic>
        <p:nvPicPr>
          <p:cNvPr id="538" name="Linie Linie" descr="Linie Linie"/>
          <p:cNvPicPr>
            <a:picLocks noChangeAspect="0"/>
          </p:cNvPicPr>
          <p:nvPr/>
        </p:nvPicPr>
        <p:blipFill>
          <a:blip r:embed="rId5">
            <a:extLst/>
          </a:blip>
          <a:stretch>
            <a:fillRect/>
          </a:stretch>
        </p:blipFill>
        <p:spPr>
          <a:xfrm rot="20282411">
            <a:off x="4719687" y="11075715"/>
            <a:ext cx="3397273" cy="405592"/>
          </a:xfrm>
          <a:prstGeom prst="rect">
            <a:avLst/>
          </a:prstGeom>
        </p:spPr>
      </p:pic>
      <p:sp>
        <p:nvSpPr>
          <p:cNvPr id="540" name="Aici doar SVM obișnuit, fără scalare la început"/>
          <p:cNvSpPr txBox="1"/>
          <p:nvPr/>
        </p:nvSpPr>
        <p:spPr>
          <a:xfrm>
            <a:off x="946001" y="12066389"/>
            <a:ext cx="105292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Aici doar SVM obișnuit, fără scalare la început</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36"/>
                                        </p:tgtEl>
                                        <p:attrNameLst>
                                          <p:attrName>style.visibility</p:attrName>
                                        </p:attrNameLst>
                                      </p:cBhvr>
                                      <p:to>
                                        <p:strVal val="visible"/>
                                      </p:to>
                                    </p:set>
                                    <p:anim calcmode="lin" valueType="num">
                                      <p:cBhvr>
                                        <p:cTn id="7" dur="1000" fill="hold"/>
                                        <p:tgtEl>
                                          <p:spTgt spid="536"/>
                                        </p:tgtEl>
                                        <p:attrNameLst>
                                          <p:attrName>ppt_x</p:attrName>
                                        </p:attrNameLst>
                                      </p:cBhvr>
                                      <p:tavLst>
                                        <p:tav tm="0">
                                          <p:val>
                                            <p:strVal val="0-#ppt_w/2"/>
                                          </p:val>
                                        </p:tav>
                                        <p:tav tm="100000">
                                          <p:val>
                                            <p:strVal val="#ppt_x"/>
                                          </p:val>
                                        </p:tav>
                                      </p:tavLst>
                                    </p:anim>
                                    <p:anim calcmode="lin" valueType="num">
                                      <p:cBhvr>
                                        <p:cTn id="8" dur="1000" fill="hold"/>
                                        <p:tgtEl>
                                          <p:spTgt spid="53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537"/>
                                        </p:tgtEl>
                                        <p:attrNameLst>
                                          <p:attrName>style.visibility</p:attrName>
                                        </p:attrNameLst>
                                      </p:cBhvr>
                                      <p:to>
                                        <p:strVal val="visible"/>
                                      </p:to>
                                    </p:set>
                                    <p:anim calcmode="lin" valueType="num">
                                      <p:cBhvr>
                                        <p:cTn id="12" dur="1000" fill="hold"/>
                                        <p:tgtEl>
                                          <p:spTgt spid="537"/>
                                        </p:tgtEl>
                                        <p:attrNameLst>
                                          <p:attrName>ppt_x</p:attrName>
                                        </p:attrNameLst>
                                      </p:cBhvr>
                                      <p:tavLst>
                                        <p:tav tm="0">
                                          <p:val>
                                            <p:strVal val="0-#ppt_w/2"/>
                                          </p:val>
                                        </p:tav>
                                        <p:tav tm="100000">
                                          <p:val>
                                            <p:strVal val="#ppt_x"/>
                                          </p:val>
                                        </p:tav>
                                      </p:tavLst>
                                    </p:anim>
                                    <p:anim calcmode="lin" valueType="num">
                                      <p:cBhvr>
                                        <p:cTn id="13" dur="1000" fill="hold"/>
                                        <p:tgtEl>
                                          <p:spTgt spid="537"/>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Class="entr" nodeType="afterEffect" presetID="9" grpId="3" fill="hold">
                                  <p:stCondLst>
                                    <p:cond delay="0"/>
                                  </p:stCondLst>
                                  <p:iterate type="el" backwards="0">
                                    <p:tmAbs val="0"/>
                                  </p:iterate>
                                  <p:childTnLst>
                                    <p:set>
                                      <p:cBhvr>
                                        <p:cTn id="16" fill="hold"/>
                                        <p:tgtEl>
                                          <p:spTgt spid="538"/>
                                        </p:tgtEl>
                                        <p:attrNameLst>
                                          <p:attrName>style.visibility</p:attrName>
                                        </p:attrNameLst>
                                      </p:cBhvr>
                                      <p:to>
                                        <p:strVal val="visible"/>
                                      </p:to>
                                    </p:set>
                                    <p:animEffect filter="dissolve" transition="in">
                                      <p:cBhvr>
                                        <p:cTn id="17" dur="2000"/>
                                        <p:tgtEl>
                                          <p:spTgt spid="538"/>
                                        </p:tgtEl>
                                      </p:cBhvr>
                                    </p:animEffect>
                                  </p:childTnLst>
                                </p:cTn>
                              </p:par>
                            </p:childTnLst>
                          </p:cTn>
                        </p:par>
                        <p:par>
                          <p:cTn id="18" fill="hold">
                            <p:stCondLst>
                              <p:cond delay="4000"/>
                            </p:stCondLst>
                            <p:childTnLst>
                              <p:par>
                                <p:cTn id="19" presetClass="entr" nodeType="afterEffect" presetSubtype="8" presetID="2" grpId="4" fill="hold">
                                  <p:stCondLst>
                                    <p:cond delay="0"/>
                                  </p:stCondLst>
                                  <p:iterate type="el" backwards="0">
                                    <p:tmAbs val="0"/>
                                  </p:iterate>
                                  <p:childTnLst>
                                    <p:set>
                                      <p:cBhvr>
                                        <p:cTn id="20" fill="hold"/>
                                        <p:tgtEl>
                                          <p:spTgt spid="540"/>
                                        </p:tgtEl>
                                        <p:attrNameLst>
                                          <p:attrName>style.visibility</p:attrName>
                                        </p:attrNameLst>
                                      </p:cBhvr>
                                      <p:to>
                                        <p:strVal val="visible"/>
                                      </p:to>
                                    </p:set>
                                    <p:anim calcmode="lin" valueType="num">
                                      <p:cBhvr>
                                        <p:cTn id="21" dur="1000" fill="hold"/>
                                        <p:tgtEl>
                                          <p:spTgt spid="540"/>
                                        </p:tgtEl>
                                        <p:attrNameLst>
                                          <p:attrName>ppt_x</p:attrName>
                                        </p:attrNameLst>
                                      </p:cBhvr>
                                      <p:tavLst>
                                        <p:tav tm="0">
                                          <p:val>
                                            <p:strVal val="0-#ppt_w/2"/>
                                          </p:val>
                                        </p:tav>
                                        <p:tav tm="100000">
                                          <p:val>
                                            <p:strVal val="#ppt_x"/>
                                          </p:val>
                                        </p:tav>
                                      </p:tavLst>
                                    </p:anim>
                                    <p:anim calcmode="lin" valueType="num">
                                      <p:cBhvr>
                                        <p:cTn id="22" dur="1000" fill="hold"/>
                                        <p:tgtEl>
                                          <p:spTgt spid="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7" grpId="2"/>
      <p:bldP build="whole" bldLvl="1" animBg="1" rev="0" advAuto="0" spid="536" grpId="1"/>
      <p:bldP build="whole" bldLvl="1" animBg="1" rev="0" advAuto="0" spid="538" grpId="3"/>
      <p:bldP build="whole" bldLvl="1" animBg="1" rev="0" advAuto="0" spid="540" grpId="4"/>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43" name="Supervizate"/>
          <p:cNvSpPr txBox="1"/>
          <p:nvPr/>
        </p:nvSpPr>
        <p:spPr>
          <a:xfrm>
            <a:off x="7713296"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SVM Non-Liniare</a:t>
            </a:r>
          </a:p>
        </p:txBody>
      </p:sp>
      <p:pic>
        <p:nvPicPr>
          <p:cNvPr id="544" name="Captură de ecran din 2024-10-14 la 00.55.57.png" descr="Captură de ecran din 2024-10-14 la 00.55.57.png"/>
          <p:cNvPicPr>
            <a:picLocks noChangeAspect="1"/>
          </p:cNvPicPr>
          <p:nvPr/>
        </p:nvPicPr>
        <p:blipFill>
          <a:blip r:embed="rId2">
            <a:extLst/>
          </a:blip>
          <a:stretch>
            <a:fillRect/>
          </a:stretch>
        </p:blipFill>
        <p:spPr>
          <a:xfrm>
            <a:off x="2852094" y="2194363"/>
            <a:ext cx="18679812" cy="10876138"/>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47" name="Supervizate"/>
          <p:cNvSpPr txBox="1"/>
          <p:nvPr/>
        </p:nvSpPr>
        <p:spPr>
          <a:xfrm>
            <a:off x="7732024"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Regresia SVM</a:t>
            </a:r>
          </a:p>
        </p:txBody>
      </p:sp>
      <p:sp>
        <p:nvSpPr>
          <p:cNvPr id="548" name="În general, sunt două tipuri mari și late:"/>
          <p:cNvSpPr txBox="1"/>
          <p:nvPr>
            <p:ph type="body" sz="quarter" idx="1"/>
          </p:nvPr>
        </p:nvSpPr>
        <p:spPr>
          <a:xfrm>
            <a:off x="1086614" y="3653513"/>
            <a:ext cx="22353574" cy="1732265"/>
          </a:xfrm>
          <a:prstGeom prst="rect">
            <a:avLst/>
          </a:prstGeom>
        </p:spPr>
        <p:txBody>
          <a:bodyPr/>
          <a:lstStyle>
            <a:lvl1pPr marL="382270" indent="-382270" defTabSz="1706836">
              <a:spcBef>
                <a:spcPts val="1600"/>
              </a:spcBef>
              <a:defRPr sz="4480"/>
            </a:lvl1pPr>
          </a:lstStyle>
          <a:p>
            <a:pPr/>
            <a:r>
              <a:t>Spre deosebire de SVM-ul clasic folosit pentru clasificare, unde separăm clase, în regresie SVM încercăm să prezicem o valoare continuă.</a:t>
            </a:r>
          </a:p>
        </p:txBody>
      </p:sp>
      <p:pic>
        <p:nvPicPr>
          <p:cNvPr id="549" name="Linie Linie" descr="Linie Linie"/>
          <p:cNvPicPr>
            <a:picLocks noChangeAspect="0"/>
          </p:cNvPicPr>
          <p:nvPr/>
        </p:nvPicPr>
        <p:blipFill>
          <a:blip r:embed="rId2">
            <a:extLst/>
          </a:blip>
          <a:stretch>
            <a:fillRect/>
          </a:stretch>
        </p:blipFill>
        <p:spPr>
          <a:xfrm>
            <a:off x="14839804" y="5194826"/>
            <a:ext cx="5767809" cy="101601"/>
          </a:xfrm>
          <a:prstGeom prst="rect">
            <a:avLst/>
          </a:prstGeom>
        </p:spPr>
      </p:pic>
      <p:sp>
        <p:nvSpPr>
          <p:cNvPr id="551" name="În general, sunt două tipuri mari și late:"/>
          <p:cNvSpPr txBox="1"/>
          <p:nvPr/>
        </p:nvSpPr>
        <p:spPr>
          <a:xfrm>
            <a:off x="1015213" y="5991868"/>
            <a:ext cx="22353574" cy="173226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387731" indent="-387731" defTabSz="1731219">
              <a:spcBef>
                <a:spcPts val="1700"/>
              </a:spcBef>
              <a:buSzPct val="150000"/>
              <a:buChar char="•"/>
              <a:defRPr sz="4544">
                <a:latin typeface="Canela Text Regular"/>
                <a:ea typeface="Canela Text Regular"/>
                <a:cs typeface="Canela Text Regular"/>
                <a:sym typeface="Canela Text Regular"/>
              </a:defRPr>
            </a:lvl1pPr>
          </a:lstStyle>
          <a:p>
            <a:pPr/>
            <a:r>
              <a:t>Regresia liniară caută o linie care minimizează eroarea totală pentru toate punctele.</a:t>
            </a:r>
          </a:p>
        </p:txBody>
      </p:sp>
      <p:pic>
        <p:nvPicPr>
          <p:cNvPr id="552" name="Linie Linie" descr="Linie Linie"/>
          <p:cNvPicPr>
            <a:picLocks noChangeAspect="0"/>
          </p:cNvPicPr>
          <p:nvPr/>
        </p:nvPicPr>
        <p:blipFill>
          <a:blip r:embed="rId3">
            <a:extLst/>
          </a:blip>
          <a:stretch>
            <a:fillRect/>
          </a:stretch>
        </p:blipFill>
        <p:spPr>
          <a:xfrm>
            <a:off x="12607061" y="6807200"/>
            <a:ext cx="8987284" cy="101600"/>
          </a:xfrm>
          <a:prstGeom prst="rect">
            <a:avLst/>
          </a:prstGeom>
        </p:spPr>
      </p:pic>
      <p:pic>
        <p:nvPicPr>
          <p:cNvPr id="554" name="Linie Linie" descr="Linie Linie"/>
          <p:cNvPicPr>
            <a:picLocks noChangeAspect="0"/>
          </p:cNvPicPr>
          <p:nvPr/>
        </p:nvPicPr>
        <p:blipFill>
          <a:blip r:embed="rId4">
            <a:extLst/>
          </a:blip>
          <a:stretch>
            <a:fillRect/>
          </a:stretch>
        </p:blipFill>
        <p:spPr>
          <a:xfrm>
            <a:off x="1684476" y="7664596"/>
            <a:ext cx="7301799" cy="101601"/>
          </a:xfrm>
          <a:prstGeom prst="rect">
            <a:avLst/>
          </a:prstGeom>
        </p:spPr>
      </p:pic>
      <p:sp>
        <p:nvSpPr>
          <p:cNvPr id="556" name="În general, sunt două tipuri mari și late:"/>
          <p:cNvSpPr txBox="1"/>
          <p:nvPr/>
        </p:nvSpPr>
        <p:spPr>
          <a:xfrm>
            <a:off x="1015213" y="8554959"/>
            <a:ext cx="22353574" cy="36420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25958" indent="-425958" defTabSz="1901903">
              <a:spcBef>
                <a:spcPts val="1800"/>
              </a:spcBef>
              <a:buSzPct val="150000"/>
              <a:buChar char="•"/>
              <a:defRPr sz="4992">
                <a:latin typeface="Canela Text Regular"/>
                <a:ea typeface="Canela Text Regular"/>
                <a:cs typeface="Canela Text Regular"/>
                <a:sym typeface="Canela Text Regular"/>
              </a:defRPr>
            </a:lvl1pPr>
          </a:lstStyle>
          <a:p>
            <a:pPr/>
            <a:r>
              <a:t>Regresia SVM adaugă o bandă de toleranță în jurul liniei de predicție. Această bandă permite ca punctele care se află în interiorul ei să nu fie penalizate (nu contribuie la eroare). Penalizăm doar punctele care sunt în afara benzii, făcând modelul mai flexibil și robust.</a:t>
            </a:r>
          </a:p>
        </p:txBody>
      </p:sp>
      <p:pic>
        <p:nvPicPr>
          <p:cNvPr id="557" name="Linie Linie" descr="Linie Linie"/>
          <p:cNvPicPr>
            <a:picLocks noChangeAspect="0"/>
          </p:cNvPicPr>
          <p:nvPr/>
        </p:nvPicPr>
        <p:blipFill>
          <a:blip r:embed="rId5">
            <a:extLst/>
          </a:blip>
          <a:stretch>
            <a:fillRect/>
          </a:stretch>
        </p:blipFill>
        <p:spPr>
          <a:xfrm>
            <a:off x="13730747" y="10734250"/>
            <a:ext cx="9088885" cy="101601"/>
          </a:xfrm>
          <a:prstGeom prst="rect">
            <a:avLst/>
          </a:prstGeom>
        </p:spPr>
      </p:pic>
      <p:pic>
        <p:nvPicPr>
          <p:cNvPr id="559" name="Linie Linie" descr="Linie Linie"/>
          <p:cNvPicPr>
            <a:picLocks noChangeAspect="0"/>
          </p:cNvPicPr>
          <p:nvPr/>
        </p:nvPicPr>
        <p:blipFill>
          <a:blip r:embed="rId6">
            <a:extLst/>
          </a:blip>
          <a:stretch>
            <a:fillRect/>
          </a:stretch>
        </p:blipFill>
        <p:spPr>
          <a:xfrm>
            <a:off x="1366098" y="11498006"/>
            <a:ext cx="625151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48"/>
                                        </p:tgtEl>
                                        <p:attrNameLst>
                                          <p:attrName>style.visibility</p:attrName>
                                        </p:attrNameLst>
                                      </p:cBhvr>
                                      <p:to>
                                        <p:strVal val="visible"/>
                                      </p:to>
                                    </p:set>
                                    <p:anim calcmode="lin" valueType="num">
                                      <p:cBhvr>
                                        <p:cTn id="7" dur="1000" fill="hold"/>
                                        <p:tgtEl>
                                          <p:spTgt spid="548"/>
                                        </p:tgtEl>
                                        <p:attrNameLst>
                                          <p:attrName>ppt_x</p:attrName>
                                        </p:attrNameLst>
                                      </p:cBhvr>
                                      <p:tavLst>
                                        <p:tav tm="0">
                                          <p:val>
                                            <p:strVal val="0-#ppt_w/2"/>
                                          </p:val>
                                        </p:tav>
                                        <p:tav tm="100000">
                                          <p:val>
                                            <p:strVal val="#ppt_x"/>
                                          </p:val>
                                        </p:tav>
                                      </p:tavLst>
                                    </p:anim>
                                    <p:anim calcmode="lin" valueType="num">
                                      <p:cBhvr>
                                        <p:cTn id="8" dur="1000" fill="hold"/>
                                        <p:tgtEl>
                                          <p:spTgt spid="54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49"/>
                                        </p:tgtEl>
                                        <p:attrNameLst>
                                          <p:attrName>style.visibility</p:attrName>
                                        </p:attrNameLst>
                                      </p:cBhvr>
                                      <p:to>
                                        <p:strVal val="visible"/>
                                      </p:to>
                                    </p:set>
                                    <p:animEffect filter="dissolve" transition="in">
                                      <p:cBhvr>
                                        <p:cTn id="12" dur="2000"/>
                                        <p:tgtEl>
                                          <p:spTgt spid="54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551"/>
                                        </p:tgtEl>
                                        <p:attrNameLst>
                                          <p:attrName>style.visibility</p:attrName>
                                        </p:attrNameLst>
                                      </p:cBhvr>
                                      <p:to>
                                        <p:strVal val="visible"/>
                                      </p:to>
                                    </p:set>
                                    <p:anim calcmode="lin" valueType="num">
                                      <p:cBhvr>
                                        <p:cTn id="17" dur="1000" fill="hold"/>
                                        <p:tgtEl>
                                          <p:spTgt spid="551"/>
                                        </p:tgtEl>
                                        <p:attrNameLst>
                                          <p:attrName>ppt_x</p:attrName>
                                        </p:attrNameLst>
                                      </p:cBhvr>
                                      <p:tavLst>
                                        <p:tav tm="0">
                                          <p:val>
                                            <p:strVal val="0-#ppt_w/2"/>
                                          </p:val>
                                        </p:tav>
                                        <p:tav tm="100000">
                                          <p:val>
                                            <p:strVal val="#ppt_x"/>
                                          </p:val>
                                        </p:tav>
                                      </p:tavLst>
                                    </p:anim>
                                    <p:anim calcmode="lin" valueType="num">
                                      <p:cBhvr>
                                        <p:cTn id="18" dur="1000" fill="hold"/>
                                        <p:tgtEl>
                                          <p:spTgt spid="55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552"/>
                                        </p:tgtEl>
                                        <p:attrNameLst>
                                          <p:attrName>style.visibility</p:attrName>
                                        </p:attrNameLst>
                                      </p:cBhvr>
                                      <p:to>
                                        <p:strVal val="visible"/>
                                      </p:to>
                                    </p:set>
                                    <p:animEffect filter="dissolve" transition="in">
                                      <p:cBhvr>
                                        <p:cTn id="22" dur="2000"/>
                                        <p:tgtEl>
                                          <p:spTgt spid="552"/>
                                        </p:tgtEl>
                                      </p:cBhvr>
                                    </p:animEffect>
                                  </p:childTnLst>
                                </p:cTn>
                              </p:par>
                            </p:childTnLst>
                          </p:cTn>
                        </p:par>
                        <p:par>
                          <p:cTn id="23" fill="hold">
                            <p:stCondLst>
                              <p:cond delay="3000"/>
                            </p:stCondLst>
                            <p:childTnLst>
                              <p:par>
                                <p:cTn id="24" presetClass="entr" nodeType="afterEffect" presetID="9" grpId="5" fill="hold">
                                  <p:stCondLst>
                                    <p:cond delay="0"/>
                                  </p:stCondLst>
                                  <p:iterate type="el" backwards="0">
                                    <p:tmAbs val="0"/>
                                  </p:iterate>
                                  <p:childTnLst>
                                    <p:set>
                                      <p:cBhvr>
                                        <p:cTn id="25" fill="hold"/>
                                        <p:tgtEl>
                                          <p:spTgt spid="554"/>
                                        </p:tgtEl>
                                        <p:attrNameLst>
                                          <p:attrName>style.visibility</p:attrName>
                                        </p:attrNameLst>
                                      </p:cBhvr>
                                      <p:to>
                                        <p:strVal val="visible"/>
                                      </p:to>
                                    </p:set>
                                    <p:animEffect filter="dissolve" transition="in">
                                      <p:cBhvr>
                                        <p:cTn id="26" dur="2000"/>
                                        <p:tgtEl>
                                          <p:spTgt spid="5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556"/>
                                        </p:tgtEl>
                                        <p:attrNameLst>
                                          <p:attrName>style.visibility</p:attrName>
                                        </p:attrNameLst>
                                      </p:cBhvr>
                                      <p:to>
                                        <p:strVal val="visible"/>
                                      </p:to>
                                    </p:set>
                                    <p:anim calcmode="lin" valueType="num">
                                      <p:cBhvr>
                                        <p:cTn id="31" dur="1000" fill="hold"/>
                                        <p:tgtEl>
                                          <p:spTgt spid="556"/>
                                        </p:tgtEl>
                                        <p:attrNameLst>
                                          <p:attrName>ppt_x</p:attrName>
                                        </p:attrNameLst>
                                      </p:cBhvr>
                                      <p:tavLst>
                                        <p:tav tm="0">
                                          <p:val>
                                            <p:strVal val="0-#ppt_w/2"/>
                                          </p:val>
                                        </p:tav>
                                        <p:tav tm="100000">
                                          <p:val>
                                            <p:strVal val="#ppt_x"/>
                                          </p:val>
                                        </p:tav>
                                      </p:tavLst>
                                    </p:anim>
                                    <p:anim calcmode="lin" valueType="num">
                                      <p:cBhvr>
                                        <p:cTn id="32" dur="1000" fill="hold"/>
                                        <p:tgtEl>
                                          <p:spTgt spid="556"/>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ID="9" grpId="7" fill="hold">
                                  <p:stCondLst>
                                    <p:cond delay="0"/>
                                  </p:stCondLst>
                                  <p:iterate type="el" backwards="0">
                                    <p:tmAbs val="0"/>
                                  </p:iterate>
                                  <p:childTnLst>
                                    <p:set>
                                      <p:cBhvr>
                                        <p:cTn id="35" fill="hold"/>
                                        <p:tgtEl>
                                          <p:spTgt spid="557"/>
                                        </p:tgtEl>
                                        <p:attrNameLst>
                                          <p:attrName>style.visibility</p:attrName>
                                        </p:attrNameLst>
                                      </p:cBhvr>
                                      <p:to>
                                        <p:strVal val="visible"/>
                                      </p:to>
                                    </p:set>
                                    <p:animEffect filter="dissolve" transition="in">
                                      <p:cBhvr>
                                        <p:cTn id="36" dur="2000"/>
                                        <p:tgtEl>
                                          <p:spTgt spid="557"/>
                                        </p:tgtEl>
                                      </p:cBhvr>
                                    </p:animEffect>
                                  </p:childTnLst>
                                </p:cTn>
                              </p:par>
                            </p:childTnLst>
                          </p:cTn>
                        </p:par>
                        <p:par>
                          <p:cTn id="37" fill="hold">
                            <p:stCondLst>
                              <p:cond delay="3000"/>
                            </p:stCondLst>
                            <p:childTnLst>
                              <p:par>
                                <p:cTn id="38" presetClass="entr" nodeType="afterEffect" presetID="9" grpId="8" fill="hold">
                                  <p:stCondLst>
                                    <p:cond delay="0"/>
                                  </p:stCondLst>
                                  <p:iterate type="el" backwards="0">
                                    <p:tmAbs val="0"/>
                                  </p:iterate>
                                  <p:childTnLst>
                                    <p:set>
                                      <p:cBhvr>
                                        <p:cTn id="39" fill="hold"/>
                                        <p:tgtEl>
                                          <p:spTgt spid="559"/>
                                        </p:tgtEl>
                                        <p:attrNameLst>
                                          <p:attrName>style.visibility</p:attrName>
                                        </p:attrNameLst>
                                      </p:cBhvr>
                                      <p:to>
                                        <p:strVal val="visible"/>
                                      </p:to>
                                    </p:set>
                                    <p:animEffect filter="dissolve" transition="in">
                                      <p:cBhvr>
                                        <p:cTn id="40" dur="20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8" grpId="1"/>
      <p:bldP build="whole" bldLvl="1" animBg="1" rev="0" advAuto="0" spid="549" grpId="2"/>
      <p:bldP build="whole" bldLvl="1" animBg="1" rev="0" advAuto="0" spid="554" grpId="5"/>
      <p:bldP build="whole" bldLvl="1" animBg="1" rev="0" advAuto="0" spid="557" grpId="7"/>
      <p:bldP build="whole" bldLvl="1" animBg="1" rev="0" advAuto="0" spid="552" grpId="4"/>
      <p:bldP build="whole" bldLvl="1" animBg="1" rev="0" advAuto="0" spid="551" grpId="3"/>
      <p:bldP build="whole" bldLvl="1" animBg="1" rev="0" advAuto="0" spid="559" grpId="8"/>
      <p:bldP build="whole" bldLvl="1" animBg="1" rev="0" advAuto="0" spid="556" grpId="6"/>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63" name="Supervizate"/>
          <p:cNvSpPr txBox="1"/>
          <p:nvPr/>
        </p:nvSpPr>
        <p:spPr>
          <a:xfrm>
            <a:off x="7732024"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Regresia SVM</a:t>
            </a:r>
          </a:p>
        </p:txBody>
      </p:sp>
      <p:pic>
        <p:nvPicPr>
          <p:cNvPr id="564" name="Captură de ecran din 2024-10-14 la 14.38.02.png" descr="Captură de ecran din 2024-10-14 la 14.38.02.png"/>
          <p:cNvPicPr>
            <a:picLocks noChangeAspect="1"/>
          </p:cNvPicPr>
          <p:nvPr/>
        </p:nvPicPr>
        <p:blipFill>
          <a:blip r:embed="rId2">
            <a:extLst/>
          </a:blip>
          <a:stretch>
            <a:fillRect/>
          </a:stretch>
        </p:blipFill>
        <p:spPr>
          <a:xfrm>
            <a:off x="4377817" y="2509727"/>
            <a:ext cx="15628366" cy="7434466"/>
          </a:xfrm>
          <a:prstGeom prst="rect">
            <a:avLst/>
          </a:prstGeom>
          <a:ln w="12700">
            <a:miter lim="400000"/>
          </a:ln>
        </p:spPr>
      </p:pic>
      <p:sp>
        <p:nvSpPr>
          <p:cNvPr id="565" name="Regresia SVM este ca o regresie liniară, dar adaugă acea bandă de toleranță (ε) pentru a face modelul mai flexibil."/>
          <p:cNvSpPr txBox="1"/>
          <p:nvPr/>
        </p:nvSpPr>
        <p:spPr>
          <a:xfrm>
            <a:off x="908545" y="10461405"/>
            <a:ext cx="23928078" cy="170730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Regresia SVM este ca o regresie liniară, dar adaugă acea bandă de toleranță (ε) pentru a face modelul mai flexibil.</a:t>
            </a:r>
          </a:p>
        </p:txBody>
      </p:sp>
      <p:pic>
        <p:nvPicPr>
          <p:cNvPr id="566" name="Linie Linie" descr="Linie Linie"/>
          <p:cNvPicPr>
            <a:picLocks noChangeAspect="0"/>
          </p:cNvPicPr>
          <p:nvPr/>
        </p:nvPicPr>
        <p:blipFill>
          <a:blip r:embed="rId3">
            <a:extLst/>
          </a:blip>
          <a:stretch>
            <a:fillRect/>
          </a:stretch>
        </p:blipFill>
        <p:spPr>
          <a:xfrm>
            <a:off x="10850715" y="11431287"/>
            <a:ext cx="911749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65"/>
                                        </p:tgtEl>
                                        <p:attrNameLst>
                                          <p:attrName>style.visibility</p:attrName>
                                        </p:attrNameLst>
                                      </p:cBhvr>
                                      <p:to>
                                        <p:strVal val="visible"/>
                                      </p:to>
                                    </p:set>
                                    <p:anim calcmode="lin" valueType="num">
                                      <p:cBhvr>
                                        <p:cTn id="7" dur="1000" fill="hold"/>
                                        <p:tgtEl>
                                          <p:spTgt spid="565"/>
                                        </p:tgtEl>
                                        <p:attrNameLst>
                                          <p:attrName>ppt_x</p:attrName>
                                        </p:attrNameLst>
                                      </p:cBhvr>
                                      <p:tavLst>
                                        <p:tav tm="0">
                                          <p:val>
                                            <p:strVal val="0-#ppt_w/2"/>
                                          </p:val>
                                        </p:tav>
                                        <p:tav tm="100000">
                                          <p:val>
                                            <p:strVal val="#ppt_x"/>
                                          </p:val>
                                        </p:tav>
                                      </p:tavLst>
                                    </p:anim>
                                    <p:anim calcmode="lin" valueType="num">
                                      <p:cBhvr>
                                        <p:cTn id="8" dur="1000" fill="hold"/>
                                        <p:tgtEl>
                                          <p:spTgt spid="56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66"/>
                                        </p:tgtEl>
                                        <p:attrNameLst>
                                          <p:attrName>style.visibility</p:attrName>
                                        </p:attrNameLst>
                                      </p:cBhvr>
                                      <p:to>
                                        <p:strVal val="visible"/>
                                      </p:to>
                                    </p:set>
                                    <p:animEffect filter="dissolve" transition="in">
                                      <p:cBhvr>
                                        <p:cTn id="12" dur="10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6" grpId="2"/>
      <p:bldP build="whole" bldLvl="1" animBg="1" rev="0" advAuto="0" spid="565" grpId="1"/>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70" name="Supervizate"/>
          <p:cNvSpPr txBox="1"/>
          <p:nvPr/>
        </p:nvSpPr>
        <p:spPr>
          <a:xfrm>
            <a:off x="7732024" y="350389"/>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Regresia SVM</a:t>
            </a:r>
          </a:p>
        </p:txBody>
      </p:sp>
      <p:pic>
        <p:nvPicPr>
          <p:cNvPr id="571" name="Captură de ecran din 2024-10-14 la 14.51.25.png" descr="Captură de ecran din 2024-10-14 la 14.51.25.png"/>
          <p:cNvPicPr>
            <a:picLocks noChangeAspect="1"/>
          </p:cNvPicPr>
          <p:nvPr/>
        </p:nvPicPr>
        <p:blipFill>
          <a:blip r:embed="rId2">
            <a:extLst/>
          </a:blip>
          <a:stretch>
            <a:fillRect/>
          </a:stretch>
        </p:blipFill>
        <p:spPr>
          <a:xfrm>
            <a:off x="5259740" y="3425985"/>
            <a:ext cx="13864520" cy="6405018"/>
          </a:xfrm>
          <a:prstGeom prst="rect">
            <a:avLst/>
          </a:prstGeom>
          <a:ln w="12700">
            <a:miter lim="400000"/>
          </a:ln>
        </p:spPr>
      </p:pic>
      <p:pic>
        <p:nvPicPr>
          <p:cNvPr id="572" name="Linie Linie" descr="Linie Linie"/>
          <p:cNvPicPr>
            <a:picLocks noChangeAspect="0"/>
          </p:cNvPicPr>
          <p:nvPr/>
        </p:nvPicPr>
        <p:blipFill>
          <a:blip r:embed="rId3">
            <a:extLst/>
          </a:blip>
          <a:stretch>
            <a:fillRect/>
          </a:stretch>
        </p:blipFill>
        <p:spPr>
          <a:xfrm>
            <a:off x="11599840" y="4052411"/>
            <a:ext cx="3140122" cy="101601"/>
          </a:xfrm>
          <a:prstGeom prst="rect">
            <a:avLst/>
          </a:prstGeom>
        </p:spPr>
      </p:pic>
      <p:pic>
        <p:nvPicPr>
          <p:cNvPr id="574" name="Linie Linie" descr="Linie Linie"/>
          <p:cNvPicPr>
            <a:picLocks noChangeAspect="0"/>
          </p:cNvPicPr>
          <p:nvPr/>
        </p:nvPicPr>
        <p:blipFill>
          <a:blip r:embed="rId3">
            <a:extLst/>
          </a:blip>
          <a:stretch>
            <a:fillRect/>
          </a:stretch>
        </p:blipFill>
        <p:spPr>
          <a:xfrm>
            <a:off x="10940260" y="8692886"/>
            <a:ext cx="3140121" cy="101601"/>
          </a:xfrm>
          <a:prstGeom prst="rect">
            <a:avLst/>
          </a:prstGeom>
        </p:spPr>
      </p:pic>
      <p:pic>
        <p:nvPicPr>
          <p:cNvPr id="576" name="Linie Linie" descr="Linie Linie"/>
          <p:cNvPicPr>
            <a:picLocks noChangeAspect="0"/>
          </p:cNvPicPr>
          <p:nvPr/>
        </p:nvPicPr>
        <p:blipFill>
          <a:blip r:embed="rId4">
            <a:extLst/>
          </a:blip>
          <a:stretch>
            <a:fillRect/>
          </a:stretch>
        </p:blipFill>
        <p:spPr>
          <a:xfrm rot="17455789">
            <a:off x="10861235" y="9735597"/>
            <a:ext cx="2124335" cy="405591"/>
          </a:xfrm>
          <a:prstGeom prst="rect">
            <a:avLst/>
          </a:prstGeom>
        </p:spPr>
      </p:pic>
      <p:sp>
        <p:nvSpPr>
          <p:cNvPr id="578" name="Coeficient de toleranță"/>
          <p:cNvSpPr txBox="1"/>
          <p:nvPr/>
        </p:nvSpPr>
        <p:spPr>
          <a:xfrm>
            <a:off x="8600392" y="10866912"/>
            <a:ext cx="542848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Coeficient de toleranță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72"/>
                                        </p:tgtEl>
                                        <p:attrNameLst>
                                          <p:attrName>style.visibility</p:attrName>
                                        </p:attrNameLst>
                                      </p:cBhvr>
                                      <p:to>
                                        <p:strVal val="visible"/>
                                      </p:to>
                                    </p:set>
                                    <p:animEffect filter="dissolve" transition="in">
                                      <p:cBhvr>
                                        <p:cTn id="7" dur="2000"/>
                                        <p:tgtEl>
                                          <p:spTgt spid="57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574"/>
                                        </p:tgtEl>
                                        <p:attrNameLst>
                                          <p:attrName>style.visibility</p:attrName>
                                        </p:attrNameLst>
                                      </p:cBhvr>
                                      <p:to>
                                        <p:strVal val="visible"/>
                                      </p:to>
                                    </p:set>
                                    <p:animEffect filter="dissolve" transition="in">
                                      <p:cBhvr>
                                        <p:cTn id="12" dur="2000"/>
                                        <p:tgtEl>
                                          <p:spTgt spid="574"/>
                                        </p:tgtEl>
                                      </p:cBhvr>
                                    </p:animEffect>
                                  </p:childTnLst>
                                </p:cTn>
                              </p:par>
                            </p:childTnLst>
                          </p:cTn>
                        </p:par>
                        <p:par>
                          <p:cTn id="13" fill="hold">
                            <p:stCondLst>
                              <p:cond delay="2000"/>
                            </p:stCondLst>
                            <p:childTnLst>
                              <p:par>
                                <p:cTn id="14" presetClass="entr" nodeType="afterEffect" presetID="9" grpId="3" fill="hold">
                                  <p:stCondLst>
                                    <p:cond delay="0"/>
                                  </p:stCondLst>
                                  <p:iterate type="el" backwards="0">
                                    <p:tmAbs val="0"/>
                                  </p:iterate>
                                  <p:childTnLst>
                                    <p:set>
                                      <p:cBhvr>
                                        <p:cTn id="15" fill="hold"/>
                                        <p:tgtEl>
                                          <p:spTgt spid="576"/>
                                        </p:tgtEl>
                                        <p:attrNameLst>
                                          <p:attrName>style.visibility</p:attrName>
                                        </p:attrNameLst>
                                      </p:cBhvr>
                                      <p:to>
                                        <p:strVal val="visible"/>
                                      </p:to>
                                    </p:set>
                                    <p:animEffect filter="dissolve" transition="in">
                                      <p:cBhvr>
                                        <p:cTn id="16" dur="2000"/>
                                        <p:tgtEl>
                                          <p:spTgt spid="576"/>
                                        </p:tgtEl>
                                      </p:cBhvr>
                                    </p:animEffect>
                                  </p:childTnLst>
                                </p:cTn>
                              </p:par>
                            </p:childTnLst>
                          </p:cTn>
                        </p:par>
                        <p:par>
                          <p:cTn id="17" fill="hold">
                            <p:stCondLst>
                              <p:cond delay="4000"/>
                            </p:stCondLst>
                            <p:childTnLst>
                              <p:par>
                                <p:cTn id="18" presetClass="entr" nodeType="afterEffect" presetSubtype="8" presetID="2" grpId="4" fill="hold">
                                  <p:stCondLst>
                                    <p:cond delay="0"/>
                                  </p:stCondLst>
                                  <p:iterate type="el" backwards="0">
                                    <p:tmAbs val="0"/>
                                  </p:iterate>
                                  <p:childTnLst>
                                    <p:set>
                                      <p:cBhvr>
                                        <p:cTn id="19" fill="hold"/>
                                        <p:tgtEl>
                                          <p:spTgt spid="578"/>
                                        </p:tgtEl>
                                        <p:attrNameLst>
                                          <p:attrName>style.visibility</p:attrName>
                                        </p:attrNameLst>
                                      </p:cBhvr>
                                      <p:to>
                                        <p:strVal val="visible"/>
                                      </p:to>
                                    </p:set>
                                    <p:anim calcmode="lin" valueType="num">
                                      <p:cBhvr>
                                        <p:cTn id="20" dur="1000" fill="hold"/>
                                        <p:tgtEl>
                                          <p:spTgt spid="578"/>
                                        </p:tgtEl>
                                        <p:attrNameLst>
                                          <p:attrName>ppt_x</p:attrName>
                                        </p:attrNameLst>
                                      </p:cBhvr>
                                      <p:tavLst>
                                        <p:tav tm="0">
                                          <p:val>
                                            <p:strVal val="0-#ppt_w/2"/>
                                          </p:val>
                                        </p:tav>
                                        <p:tav tm="100000">
                                          <p:val>
                                            <p:strVal val="#ppt_x"/>
                                          </p:val>
                                        </p:tav>
                                      </p:tavLst>
                                    </p:anim>
                                    <p:anim calcmode="lin" valueType="num">
                                      <p:cBhvr>
                                        <p:cTn id="21" dur="1000" fill="hold"/>
                                        <p:tgtEl>
                                          <p:spTgt spid="5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74" grpId="2"/>
      <p:bldP build="whole" bldLvl="1" animBg="1" rev="0" advAuto="0" spid="576" grpId="3"/>
      <p:bldP build="whole" bldLvl="1" animBg="1" rev="0" advAuto="0" spid="578" grpId="4"/>
      <p:bldP build="whole" bldLvl="1" animBg="1" rev="0" advAuto="0" spid="572" grpId="1"/>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81" name="Supervizate"/>
          <p:cNvSpPr txBox="1"/>
          <p:nvPr/>
        </p:nvSpPr>
        <p:spPr>
          <a:xfrm>
            <a:off x="5484651" y="387845"/>
            <a:ext cx="29248439" cy="1628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000">
                <a:latin typeface="Canela Text Regular"/>
                <a:ea typeface="Canela Text Regular"/>
                <a:cs typeface="Canela Text Regular"/>
                <a:sym typeface="Canela Text Regular"/>
              </a:defRPr>
            </a:lvl1pPr>
          </a:lstStyle>
          <a:p>
            <a:pPr/>
            <a:r>
              <a:t>Regresia SVM non-liniară</a:t>
            </a:r>
          </a:p>
        </p:txBody>
      </p:sp>
      <p:pic>
        <p:nvPicPr>
          <p:cNvPr id="582" name="Captură de ecran din 2024-10-14 la 15.03.19.png" descr="Captură de ecran din 2024-10-14 la 15.03.19.png"/>
          <p:cNvPicPr>
            <a:picLocks noChangeAspect="1"/>
          </p:cNvPicPr>
          <p:nvPr/>
        </p:nvPicPr>
        <p:blipFill>
          <a:blip r:embed="rId2">
            <a:extLst/>
          </a:blip>
          <a:stretch>
            <a:fillRect/>
          </a:stretch>
        </p:blipFill>
        <p:spPr>
          <a:xfrm>
            <a:off x="3219961" y="3803767"/>
            <a:ext cx="17606972" cy="5276449"/>
          </a:xfrm>
          <a:prstGeom prst="rect">
            <a:avLst/>
          </a:prstGeom>
          <a:ln w="12700">
            <a:miter lim="400000"/>
          </a:ln>
        </p:spPr>
      </p:pic>
      <p:pic>
        <p:nvPicPr>
          <p:cNvPr id="583" name="Linie Linie" descr="Linie Linie"/>
          <p:cNvPicPr>
            <a:picLocks noChangeAspect="0"/>
          </p:cNvPicPr>
          <p:nvPr/>
        </p:nvPicPr>
        <p:blipFill>
          <a:blip r:embed="rId3">
            <a:extLst/>
          </a:blip>
          <a:stretch>
            <a:fillRect/>
          </a:stretch>
        </p:blipFill>
        <p:spPr>
          <a:xfrm>
            <a:off x="9389923" y="4520614"/>
            <a:ext cx="1371601" cy="101601"/>
          </a:xfrm>
          <a:prstGeom prst="rect">
            <a:avLst/>
          </a:prstGeom>
        </p:spPr>
      </p:pic>
      <p:pic>
        <p:nvPicPr>
          <p:cNvPr id="585" name="Oval Oval" descr="Oval Oval"/>
          <p:cNvPicPr>
            <a:picLocks noChangeAspect="0"/>
          </p:cNvPicPr>
          <p:nvPr/>
        </p:nvPicPr>
        <p:blipFill>
          <a:blip r:embed="rId4">
            <a:extLst/>
          </a:blip>
          <a:stretch>
            <a:fillRect/>
          </a:stretch>
        </p:blipFill>
        <p:spPr>
          <a:xfrm>
            <a:off x="14764891" y="7445711"/>
            <a:ext cx="1855020" cy="1239919"/>
          </a:xfrm>
          <a:prstGeom prst="rect">
            <a:avLst/>
          </a:prstGeom>
        </p:spPr>
      </p:pic>
      <p:pic>
        <p:nvPicPr>
          <p:cNvPr id="587" name="Linie Linie" descr="Linie Linie"/>
          <p:cNvPicPr>
            <a:picLocks noChangeAspect="0"/>
          </p:cNvPicPr>
          <p:nvPr/>
        </p:nvPicPr>
        <p:blipFill>
          <a:blip r:embed="rId5">
            <a:extLst/>
          </a:blip>
          <a:stretch>
            <a:fillRect/>
          </a:stretch>
        </p:blipFill>
        <p:spPr>
          <a:xfrm rot="18900000">
            <a:off x="13491022" y="9258887"/>
            <a:ext cx="1897652" cy="405591"/>
          </a:xfrm>
          <a:prstGeom prst="rect">
            <a:avLst/>
          </a:prstGeom>
        </p:spPr>
      </p:pic>
      <p:sp>
        <p:nvSpPr>
          <p:cNvPr id="589" name="Parametru de regularizare"/>
          <p:cNvSpPr txBox="1"/>
          <p:nvPr/>
        </p:nvSpPr>
        <p:spPr>
          <a:xfrm>
            <a:off x="9467291" y="10181543"/>
            <a:ext cx="60051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Parametru de regularizare</a:t>
            </a:r>
          </a:p>
        </p:txBody>
      </p:sp>
      <p:pic>
        <p:nvPicPr>
          <p:cNvPr id="590" name="Oval Oval" descr="Oval Oval"/>
          <p:cNvPicPr>
            <a:picLocks noChangeAspect="0"/>
          </p:cNvPicPr>
          <p:nvPr/>
        </p:nvPicPr>
        <p:blipFill>
          <a:blip r:embed="rId6">
            <a:extLst/>
          </a:blip>
          <a:stretch>
            <a:fillRect/>
          </a:stretch>
        </p:blipFill>
        <p:spPr>
          <a:xfrm>
            <a:off x="16596149" y="7445711"/>
            <a:ext cx="3435351" cy="1239919"/>
          </a:xfrm>
          <a:prstGeom prst="rect">
            <a:avLst/>
          </a:prstGeom>
        </p:spPr>
      </p:pic>
      <p:pic>
        <p:nvPicPr>
          <p:cNvPr id="592" name="Linie Linie" descr="Linie Linie"/>
          <p:cNvPicPr>
            <a:picLocks noChangeAspect="0"/>
          </p:cNvPicPr>
          <p:nvPr/>
        </p:nvPicPr>
        <p:blipFill>
          <a:blip r:embed="rId7">
            <a:extLst/>
          </a:blip>
          <a:stretch>
            <a:fillRect/>
          </a:stretch>
        </p:blipFill>
        <p:spPr>
          <a:xfrm rot="16200000">
            <a:off x="17633695" y="9252739"/>
            <a:ext cx="1360257" cy="405592"/>
          </a:xfrm>
          <a:prstGeom prst="rect">
            <a:avLst/>
          </a:prstGeom>
        </p:spPr>
      </p:pic>
      <p:sp>
        <p:nvSpPr>
          <p:cNvPr id="594" name="Coeficient de toleranță"/>
          <p:cNvSpPr txBox="1"/>
          <p:nvPr/>
        </p:nvSpPr>
        <p:spPr>
          <a:xfrm>
            <a:off x="16818292" y="10181543"/>
            <a:ext cx="542848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Coeficient de toleranță</a:t>
            </a:r>
          </a:p>
        </p:txBody>
      </p:sp>
      <p:sp>
        <p:nvSpPr>
          <p:cNvPr id="595" name="C mare = risc de overfitting.…"/>
          <p:cNvSpPr txBox="1"/>
          <p:nvPr/>
        </p:nvSpPr>
        <p:spPr>
          <a:xfrm>
            <a:off x="2937296" y="11373702"/>
            <a:ext cx="17748810" cy="168107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165100" indent="-165100" defTabSz="12700">
              <a:lnSpc>
                <a:spcPct val="135000"/>
              </a:lnSpc>
              <a:spcBef>
                <a:spcPts val="1200"/>
              </a:spcBef>
              <a:tabLst>
                <a:tab pos="63500" algn="r"/>
                <a:tab pos="165100" algn="l"/>
              </a:tabLst>
              <a:defRPr sz="3200">
                <a:solidFill>
                  <a:srgbClr val="111111"/>
                </a:solidFill>
                <a:latin typeface="Canela-Regular"/>
                <a:ea typeface="Canela-Regular"/>
                <a:cs typeface="Canela-Regular"/>
                <a:sym typeface="Canela-Regular"/>
              </a:defRPr>
            </a:pPr>
            <a:r>
              <a:t>	C mare = risc de overfitting.</a:t>
            </a:r>
          </a:p>
          <a:p>
            <a:pPr marL="165100" indent="-165100" defTabSz="12700">
              <a:lnSpc>
                <a:spcPct val="135000"/>
              </a:lnSpc>
              <a:spcBef>
                <a:spcPts val="1200"/>
              </a:spcBef>
              <a:tabLst>
                <a:tab pos="63500" algn="r"/>
                <a:tab pos="165100" algn="l"/>
              </a:tabLst>
              <a:defRPr sz="3200">
                <a:solidFill>
                  <a:srgbClr val="111111"/>
                </a:solidFill>
                <a:latin typeface="Canela-Regular"/>
                <a:ea typeface="Canela-Regular"/>
                <a:cs typeface="Canela-Regular"/>
                <a:sym typeface="Canela-Regular"/>
              </a:defRPr>
            </a:pPr>
            <a:r>
              <a:t>	Epsilon mare = model mai simplu, risc mai mic de overfitting, dar și posibil underfitting dacă este prea mare.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83"/>
                                        </p:tgtEl>
                                        <p:attrNameLst>
                                          <p:attrName>style.visibility</p:attrName>
                                        </p:attrNameLst>
                                      </p:cBhvr>
                                      <p:to>
                                        <p:strVal val="visible"/>
                                      </p:to>
                                    </p:set>
                                    <p:animEffect filter="dissolve" transition="in">
                                      <p:cBhvr>
                                        <p:cTn id="7" dur="2000"/>
                                        <p:tgtEl>
                                          <p:spTgt spid="58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585"/>
                                        </p:tgtEl>
                                        <p:attrNameLst>
                                          <p:attrName>style.visibility</p:attrName>
                                        </p:attrNameLst>
                                      </p:cBhvr>
                                      <p:to>
                                        <p:strVal val="visible"/>
                                      </p:to>
                                    </p:set>
                                    <p:animEffect filter="dissolve" transition="in">
                                      <p:cBhvr>
                                        <p:cTn id="12" dur="2000"/>
                                        <p:tgtEl>
                                          <p:spTgt spid="585"/>
                                        </p:tgtEl>
                                      </p:cBhvr>
                                    </p:animEffect>
                                  </p:childTnLst>
                                </p:cTn>
                              </p:par>
                            </p:childTnLst>
                          </p:cTn>
                        </p:par>
                        <p:par>
                          <p:cTn id="13" fill="hold">
                            <p:stCondLst>
                              <p:cond delay="2000"/>
                            </p:stCondLst>
                            <p:childTnLst>
                              <p:par>
                                <p:cTn id="14" presetClass="entr" nodeType="afterEffect" presetID="9" grpId="3" fill="hold">
                                  <p:stCondLst>
                                    <p:cond delay="0"/>
                                  </p:stCondLst>
                                  <p:iterate type="el" backwards="0">
                                    <p:tmAbs val="0"/>
                                  </p:iterate>
                                  <p:childTnLst>
                                    <p:set>
                                      <p:cBhvr>
                                        <p:cTn id="15" fill="hold"/>
                                        <p:tgtEl>
                                          <p:spTgt spid="587"/>
                                        </p:tgtEl>
                                        <p:attrNameLst>
                                          <p:attrName>style.visibility</p:attrName>
                                        </p:attrNameLst>
                                      </p:cBhvr>
                                      <p:to>
                                        <p:strVal val="visible"/>
                                      </p:to>
                                    </p:set>
                                    <p:animEffect filter="dissolve" transition="in">
                                      <p:cBhvr>
                                        <p:cTn id="16" dur="2000"/>
                                        <p:tgtEl>
                                          <p:spTgt spid="587"/>
                                        </p:tgtEl>
                                      </p:cBhvr>
                                    </p:animEffect>
                                  </p:childTnLst>
                                </p:cTn>
                              </p:par>
                            </p:childTnLst>
                          </p:cTn>
                        </p:par>
                        <p:par>
                          <p:cTn id="17" fill="hold">
                            <p:stCondLst>
                              <p:cond delay="4000"/>
                            </p:stCondLst>
                            <p:childTnLst>
                              <p:par>
                                <p:cTn id="18" presetClass="entr" nodeType="afterEffect" presetSubtype="8" presetID="2" grpId="4" fill="hold">
                                  <p:stCondLst>
                                    <p:cond delay="0"/>
                                  </p:stCondLst>
                                  <p:iterate type="el" backwards="0">
                                    <p:tmAbs val="0"/>
                                  </p:iterate>
                                  <p:childTnLst>
                                    <p:set>
                                      <p:cBhvr>
                                        <p:cTn id="19" fill="hold"/>
                                        <p:tgtEl>
                                          <p:spTgt spid="589"/>
                                        </p:tgtEl>
                                        <p:attrNameLst>
                                          <p:attrName>style.visibility</p:attrName>
                                        </p:attrNameLst>
                                      </p:cBhvr>
                                      <p:to>
                                        <p:strVal val="visible"/>
                                      </p:to>
                                    </p:set>
                                    <p:anim calcmode="lin" valueType="num">
                                      <p:cBhvr>
                                        <p:cTn id="20" dur="1000" fill="hold"/>
                                        <p:tgtEl>
                                          <p:spTgt spid="589"/>
                                        </p:tgtEl>
                                        <p:attrNameLst>
                                          <p:attrName>ppt_x</p:attrName>
                                        </p:attrNameLst>
                                      </p:cBhvr>
                                      <p:tavLst>
                                        <p:tav tm="0">
                                          <p:val>
                                            <p:strVal val="0-#ppt_w/2"/>
                                          </p:val>
                                        </p:tav>
                                        <p:tav tm="100000">
                                          <p:val>
                                            <p:strVal val="#ppt_x"/>
                                          </p:val>
                                        </p:tav>
                                      </p:tavLst>
                                    </p:anim>
                                    <p:anim calcmode="lin" valueType="num">
                                      <p:cBhvr>
                                        <p:cTn id="21" dur="1000" fill="hold"/>
                                        <p:tgtEl>
                                          <p:spTgt spid="58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Class="entr" nodeType="clickEffect" presetID="9" grpId="5" fill="hold">
                                  <p:stCondLst>
                                    <p:cond delay="0"/>
                                  </p:stCondLst>
                                  <p:iterate type="el" backwards="0">
                                    <p:tmAbs val="0"/>
                                  </p:iterate>
                                  <p:childTnLst>
                                    <p:set>
                                      <p:cBhvr>
                                        <p:cTn id="25" fill="hold"/>
                                        <p:tgtEl>
                                          <p:spTgt spid="590"/>
                                        </p:tgtEl>
                                        <p:attrNameLst>
                                          <p:attrName>style.visibility</p:attrName>
                                        </p:attrNameLst>
                                      </p:cBhvr>
                                      <p:to>
                                        <p:strVal val="visible"/>
                                      </p:to>
                                    </p:set>
                                    <p:animEffect filter="dissolve" transition="in">
                                      <p:cBhvr>
                                        <p:cTn id="26" dur="2000"/>
                                        <p:tgtEl>
                                          <p:spTgt spid="590"/>
                                        </p:tgtEl>
                                      </p:cBhvr>
                                    </p:animEffect>
                                  </p:childTnLst>
                                </p:cTn>
                              </p:par>
                            </p:childTnLst>
                          </p:cTn>
                        </p:par>
                        <p:par>
                          <p:cTn id="27" fill="hold">
                            <p:stCondLst>
                              <p:cond delay="2000"/>
                            </p:stCondLst>
                            <p:childTnLst>
                              <p:par>
                                <p:cTn id="28" presetClass="entr" nodeType="afterEffect" presetID="9" grpId="6" fill="hold">
                                  <p:stCondLst>
                                    <p:cond delay="0"/>
                                  </p:stCondLst>
                                  <p:iterate type="el" backwards="0">
                                    <p:tmAbs val="0"/>
                                  </p:iterate>
                                  <p:childTnLst>
                                    <p:set>
                                      <p:cBhvr>
                                        <p:cTn id="29" fill="hold"/>
                                        <p:tgtEl>
                                          <p:spTgt spid="592"/>
                                        </p:tgtEl>
                                        <p:attrNameLst>
                                          <p:attrName>style.visibility</p:attrName>
                                        </p:attrNameLst>
                                      </p:cBhvr>
                                      <p:to>
                                        <p:strVal val="visible"/>
                                      </p:to>
                                    </p:set>
                                    <p:animEffect filter="dissolve" transition="in">
                                      <p:cBhvr>
                                        <p:cTn id="30" dur="2000"/>
                                        <p:tgtEl>
                                          <p:spTgt spid="592"/>
                                        </p:tgtEl>
                                      </p:cBhvr>
                                    </p:animEffect>
                                  </p:childTnLst>
                                </p:cTn>
                              </p:par>
                            </p:childTnLst>
                          </p:cTn>
                        </p:par>
                        <p:par>
                          <p:cTn id="31" fill="hold">
                            <p:stCondLst>
                              <p:cond delay="4000"/>
                            </p:stCondLst>
                            <p:childTnLst>
                              <p:par>
                                <p:cTn id="32" presetClass="entr" nodeType="afterEffect" presetSubtype="8" presetID="2" grpId="7" fill="hold">
                                  <p:stCondLst>
                                    <p:cond delay="0"/>
                                  </p:stCondLst>
                                  <p:iterate type="el" backwards="0">
                                    <p:tmAbs val="0"/>
                                  </p:iterate>
                                  <p:childTnLst>
                                    <p:set>
                                      <p:cBhvr>
                                        <p:cTn id="33" fill="hold"/>
                                        <p:tgtEl>
                                          <p:spTgt spid="594"/>
                                        </p:tgtEl>
                                        <p:attrNameLst>
                                          <p:attrName>style.visibility</p:attrName>
                                        </p:attrNameLst>
                                      </p:cBhvr>
                                      <p:to>
                                        <p:strVal val="visible"/>
                                      </p:to>
                                    </p:set>
                                    <p:anim calcmode="lin" valueType="num">
                                      <p:cBhvr>
                                        <p:cTn id="34" dur="1000" fill="hold"/>
                                        <p:tgtEl>
                                          <p:spTgt spid="594"/>
                                        </p:tgtEl>
                                        <p:attrNameLst>
                                          <p:attrName>ppt_x</p:attrName>
                                        </p:attrNameLst>
                                      </p:cBhvr>
                                      <p:tavLst>
                                        <p:tav tm="0">
                                          <p:val>
                                            <p:strVal val="0-#ppt_w/2"/>
                                          </p:val>
                                        </p:tav>
                                        <p:tav tm="100000">
                                          <p:val>
                                            <p:strVal val="#ppt_x"/>
                                          </p:val>
                                        </p:tav>
                                      </p:tavLst>
                                    </p:anim>
                                    <p:anim calcmode="lin" valueType="num">
                                      <p:cBhvr>
                                        <p:cTn id="35" dur="1000" fill="hold"/>
                                        <p:tgtEl>
                                          <p:spTgt spid="594"/>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8" presetID="2" grpId="8" fill="hold">
                                  <p:stCondLst>
                                    <p:cond delay="0"/>
                                  </p:stCondLst>
                                  <p:iterate type="el" backwards="0">
                                    <p:tmAbs val="0"/>
                                  </p:iterate>
                                  <p:childTnLst>
                                    <p:set>
                                      <p:cBhvr>
                                        <p:cTn id="39" fill="hold"/>
                                        <p:tgtEl>
                                          <p:spTgt spid="595"/>
                                        </p:tgtEl>
                                        <p:attrNameLst>
                                          <p:attrName>style.visibility</p:attrName>
                                        </p:attrNameLst>
                                      </p:cBhvr>
                                      <p:to>
                                        <p:strVal val="visible"/>
                                      </p:to>
                                    </p:set>
                                    <p:anim calcmode="lin" valueType="num">
                                      <p:cBhvr>
                                        <p:cTn id="40" dur="1000" fill="hold"/>
                                        <p:tgtEl>
                                          <p:spTgt spid="595"/>
                                        </p:tgtEl>
                                        <p:attrNameLst>
                                          <p:attrName>ppt_x</p:attrName>
                                        </p:attrNameLst>
                                      </p:cBhvr>
                                      <p:tavLst>
                                        <p:tav tm="0">
                                          <p:val>
                                            <p:strVal val="0-#ppt_w/2"/>
                                          </p:val>
                                        </p:tav>
                                        <p:tav tm="100000">
                                          <p:val>
                                            <p:strVal val="#ppt_x"/>
                                          </p:val>
                                        </p:tav>
                                      </p:tavLst>
                                    </p:anim>
                                    <p:anim calcmode="lin" valueType="num">
                                      <p:cBhvr>
                                        <p:cTn id="41" dur="1000" fill="hold"/>
                                        <p:tgtEl>
                                          <p:spTgt spid="5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7" grpId="3"/>
      <p:bldP build="whole" bldLvl="1" animBg="1" rev="0" advAuto="0" spid="594" grpId="7"/>
      <p:bldP build="whole" bldLvl="1" animBg="1" rev="0" advAuto="0" spid="585" grpId="2"/>
      <p:bldP build="whole" bldLvl="1" animBg="1" rev="0" advAuto="0" spid="589" grpId="4"/>
      <p:bldP build="whole" bldLvl="1" animBg="1" rev="0" advAuto="0" spid="592" grpId="6"/>
      <p:bldP build="whole" bldLvl="1" animBg="1" rev="0" advAuto="0" spid="595" grpId="8"/>
      <p:bldP build="whole" bldLvl="1" animBg="1" rev="0" advAuto="0" spid="590" grpId="5"/>
      <p:bldP build="whole" bldLvl="1" animBg="1" rev="0" advAuto="0" spid="583" grpId="1"/>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7" name="That’s it for today!…"/>
          <p:cNvSpPr txBox="1"/>
          <p:nvPr>
            <p:ph type="title"/>
          </p:nvPr>
        </p:nvSpPr>
        <p:spPr>
          <a:xfrm>
            <a:off x="1219200" y="5994400"/>
            <a:ext cx="21945600" cy="1727200"/>
          </a:xfrm>
          <a:prstGeom prst="rect">
            <a:avLst/>
          </a:prstGeom>
        </p:spPr>
        <p:txBody>
          <a:bodyPr/>
          <a:lstStyle/>
          <a:p>
            <a:pPr defTabSz="1389888">
              <a:defRPr spc="-99" sz="4700"/>
            </a:pPr>
            <a:r>
              <a:t>That’s it for today!</a:t>
            </a:r>
          </a:p>
          <a:p>
            <a:pPr defTabSz="1389888">
              <a:defRPr spc="-99" sz="4700"/>
            </a:pPr>
            <a:r>
              <a:t>Now let’s do some exercises.</a:t>
            </a:r>
          </a:p>
        </p:txBody>
      </p:sp>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That’s it for today!…"/>
          <p:cNvSpPr txBox="1"/>
          <p:nvPr>
            <p:ph type="title"/>
          </p:nvPr>
        </p:nvSpPr>
        <p:spPr>
          <a:xfrm>
            <a:off x="1219200" y="816024"/>
            <a:ext cx="21945600" cy="1727201"/>
          </a:xfrm>
          <a:prstGeom prst="rect">
            <a:avLst/>
          </a:prstGeom>
        </p:spPr>
        <p:txBody>
          <a:bodyPr/>
          <a:lstStyle/>
          <a:p>
            <a:pPr defTabSz="1389888">
              <a:defRPr spc="-99" sz="4700"/>
            </a:pPr>
            <a:r>
              <a:t>That’s it for today!</a:t>
            </a:r>
          </a:p>
          <a:p>
            <a:pPr defTabSz="1389888">
              <a:defRPr spc="-99" sz="4700"/>
            </a:pPr>
            <a:r>
              <a:t>Now let’s do some exercises.</a:t>
            </a:r>
          </a:p>
        </p:txBody>
      </p:sp>
      <p:pic>
        <p:nvPicPr>
          <p:cNvPr id="600" name="Captură de ecran din 2024-11-09 la 15.07.42.png" descr="Captură de ecran din 2024-11-09 la 15.07.42.png"/>
          <p:cNvPicPr>
            <a:picLocks noChangeAspect="1"/>
          </p:cNvPicPr>
          <p:nvPr/>
        </p:nvPicPr>
        <p:blipFill>
          <a:blip r:embed="rId2">
            <a:extLst/>
          </a:blip>
          <a:stretch>
            <a:fillRect/>
          </a:stretch>
        </p:blipFill>
        <p:spPr>
          <a:xfrm>
            <a:off x="5389734" y="2645857"/>
            <a:ext cx="13604532" cy="10590478"/>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