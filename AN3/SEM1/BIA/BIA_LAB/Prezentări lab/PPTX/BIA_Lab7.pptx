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1pPr>
    <a:lvl2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2pPr>
    <a:lvl3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3pPr>
    <a:lvl4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4pPr>
    <a:lvl5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5pPr>
    <a:lvl6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6pPr>
    <a:lvl7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7pPr>
    <a:lvl8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8pPr>
    <a:lvl9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5EE"/>
          </a:solidFill>
        </a:fill>
      </a:tcStyle>
    </a:wholeTbl>
    <a:band2H>
      <a:tcTxStyle b="def" i="def"/>
      <a:tcStyle>
        <a:tcBdr/>
        <a:fill>
          <a:solidFill>
            <a:srgbClr val="E8EBF7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E5CD"/>
          </a:solidFill>
        </a:fill>
      </a:tcStyle>
    </a:wholeTbl>
    <a:band2H>
      <a:tcTxStyle b="def" i="def"/>
      <a:tcStyle>
        <a:tcBdr/>
        <a:fill>
          <a:solidFill>
            <a:srgbClr val="E8F2E7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8D3E5"/>
          </a:solidFill>
        </a:fill>
      </a:tcStyle>
    </a:wholeTbl>
    <a:band2H>
      <a:tcTxStyle b="def" i="def"/>
      <a:tcStyle>
        <a:tcBdr/>
        <a:fill>
          <a:solidFill>
            <a:srgbClr val="ECEAF3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Shape 17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ivel corp unu…"/>
          <p:cNvSpPr txBox="1"/>
          <p:nvPr>
            <p:ph type="body" sz="quarter" idx="1" hasCustomPrompt="1"/>
          </p:nvPr>
        </p:nvSpPr>
        <p:spPr>
          <a:xfrm>
            <a:off x="1219200" y="11986162"/>
            <a:ext cx="21945599" cy="605792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06029" indent="-359929" algn="ctr" defTabSz="808990">
              <a:lnSpc>
                <a:spcPct val="100000"/>
              </a:lnSpc>
              <a:spcBef>
                <a:spcPts val="0"/>
              </a:spcBef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52129" indent="-359929" algn="ctr" defTabSz="808990">
              <a:lnSpc>
                <a:spcPct val="100000"/>
              </a:lnSpc>
              <a:spcBef>
                <a:spcPts val="0"/>
              </a:spcBef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98229" indent="-359929" algn="ctr" defTabSz="808990">
              <a:lnSpc>
                <a:spcPct val="100000"/>
              </a:lnSpc>
              <a:spcBef>
                <a:spcPts val="0"/>
              </a:spcBef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544329" indent="-359929" algn="ctr" defTabSz="808990">
              <a:lnSpc>
                <a:spcPct val="100000"/>
              </a:lnSpc>
              <a:spcBef>
                <a:spcPts val="0"/>
              </a:spcBef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Autor și dată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Titlu prezentar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Titlu prezentare</a:t>
            </a:r>
          </a:p>
        </p:txBody>
      </p:sp>
      <p:sp>
        <p:nvSpPr>
          <p:cNvPr id="13" name="Nivel corp unu…"/>
          <p:cNvSpPr txBox="1"/>
          <p:nvPr>
            <p:ph type="body" sz="quarter" idx="21" hasCustomPrompt="1"/>
          </p:nvPr>
        </p:nvSpPr>
        <p:spPr>
          <a:xfrm>
            <a:off x="1219200" y="7567579"/>
            <a:ext cx="21945600" cy="2250594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Subtitlu prezentare</a:t>
            </a:r>
          </a:p>
        </p:txBody>
      </p:sp>
      <p:sp>
        <p:nvSpPr>
          <p:cNvPr id="14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 și poz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jă și mare la apu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lu prezentar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Titlu prezentare</a:t>
            </a:r>
          </a:p>
        </p:txBody>
      </p:sp>
      <p:sp>
        <p:nvSpPr>
          <p:cNvPr id="23" name="Nivel corp unu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prezentare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or și dată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pc="-100" sz="2900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Autor și dată</a:t>
            </a:r>
          </a:p>
        </p:txBody>
      </p:sp>
      <p:sp>
        <p:nvSpPr>
          <p:cNvPr id="25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 și poză (alt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u diapozitiv"/>
          <p:cNvSpPr txBox="1"/>
          <p:nvPr>
            <p:ph type="title" hasCustomPrompt="1"/>
          </p:nvPr>
        </p:nvSpPr>
        <p:spPr>
          <a:xfrm>
            <a:off x="1215494" y="4585101"/>
            <a:ext cx="9757339" cy="2540002"/>
          </a:xfrm>
          <a:prstGeom prst="rect">
            <a:avLst/>
          </a:prstGeom>
        </p:spPr>
        <p:txBody>
          <a:bodyPr anchor="b"/>
          <a:lstStyle/>
          <a:p>
            <a:pPr/>
            <a:r>
              <a:t>Titlu diapozitiv</a:t>
            </a:r>
          </a:p>
        </p:txBody>
      </p:sp>
      <p:sp>
        <p:nvSpPr>
          <p:cNvPr id="33" name="Mare pe fundalul cerului la apus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Nivel corp unu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 și marcat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u diapozitiv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43" name="Nivel corp unu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marcator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ubtitlu diapozitiv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100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Subtitlu diapozitiv</a:t>
            </a:r>
          </a:p>
        </p:txBody>
      </p:sp>
      <p:sp>
        <p:nvSpPr>
          <p:cNvPr id="45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rcat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Nivel corp unu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3"/>
          <a:lstStyle/>
          <a:p>
            <a:pPr/>
            <a:r>
              <a:t>Text marcator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, marcatori și poz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u diapozitiv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61" name="Mare pe fundalul cerului la apus"/>
          <p:cNvSpPr/>
          <p:nvPr>
            <p:ph type="pic" idx="21"/>
          </p:nvPr>
        </p:nvSpPr>
        <p:spPr>
          <a:xfrm>
            <a:off x="12192644" y="718588"/>
            <a:ext cx="10972801" cy="12329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Nivel corp unu…"/>
          <p:cNvSpPr txBox="1"/>
          <p:nvPr>
            <p:ph type="body" sz="quarter" idx="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Nivel corp unu…"/>
          <p:cNvSpPr txBox="1"/>
          <p:nvPr>
            <p:ph type="body" sz="half" idx="22" hasCustomPrompt="1"/>
          </p:nvPr>
        </p:nvSpPr>
        <p:spPr>
          <a:xfrm>
            <a:off x="1219199" y="4023221"/>
            <a:ext cx="9757571" cy="8384679"/>
          </a:xfrm>
          <a:prstGeom prst="rect">
            <a:avLst/>
          </a:prstGeom>
        </p:spPr>
        <p:txBody>
          <a:bodyPr/>
          <a:lstStyle/>
          <a:p>
            <a:pPr/>
            <a:r>
              <a:t>Text marcator diapozitiv</a:t>
            </a:r>
          </a:p>
        </p:txBody>
      </p:sp>
      <p:sp>
        <p:nvSpPr>
          <p:cNvPr id="64" name="Număr diapozitiv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, marcatori și video live m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u diapozitiv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72" name="Nivel corp unu…"/>
          <p:cNvSpPr txBox="1"/>
          <p:nvPr>
            <p:ph type="body" sz="quarter" idx="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Nivel corp unu…"/>
          <p:cNvSpPr txBox="1"/>
          <p:nvPr>
            <p:ph type="body" sz="half" idx="21" hasCustomPrompt="1"/>
          </p:nvPr>
        </p:nvSpPr>
        <p:spPr>
          <a:xfrm>
            <a:off x="1219199" y="4023221"/>
            <a:ext cx="9757571" cy="8384679"/>
          </a:xfrm>
          <a:prstGeom prst="rect">
            <a:avLst/>
          </a:prstGeom>
        </p:spPr>
        <p:txBody>
          <a:bodyPr/>
          <a:lstStyle/>
          <a:p>
            <a:pPr/>
            <a:r>
              <a:t>Text marcator diapozitiv</a:t>
            </a:r>
          </a:p>
        </p:txBody>
      </p:sp>
      <p:sp>
        <p:nvSpPr>
          <p:cNvPr id="74" name="Număr diapozitiv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, marcatori și video live m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u diapozitiv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82" name="Nivel corp unu…"/>
          <p:cNvSpPr txBox="1"/>
          <p:nvPr>
            <p:ph type="body" sz="quarter" idx="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Nivel corp unu…"/>
          <p:cNvSpPr txBox="1"/>
          <p:nvPr>
            <p:ph type="body" sz="half" idx="21" hasCustomPrompt="1"/>
          </p:nvPr>
        </p:nvSpPr>
        <p:spPr>
          <a:xfrm>
            <a:off x="1219199" y="4023221"/>
            <a:ext cx="9757571" cy="8384679"/>
          </a:xfrm>
          <a:prstGeom prst="rect">
            <a:avLst/>
          </a:prstGeom>
        </p:spPr>
        <p:txBody>
          <a:bodyPr/>
          <a:lstStyle/>
          <a:p>
            <a:pPr/>
            <a:r>
              <a:t>Text marcator diapozitiv</a:t>
            </a:r>
          </a:p>
        </p:txBody>
      </p:sp>
      <p:sp>
        <p:nvSpPr>
          <p:cNvPr id="84" name="Număr diapozitiv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u secțiune"/>
          <p:cNvSpPr txBox="1"/>
          <p:nvPr>
            <p:ph type="title" hasCustomPrompt="1"/>
          </p:nvPr>
        </p:nvSpPr>
        <p:spPr>
          <a:xfrm>
            <a:off x="1219200" y="3242269"/>
            <a:ext cx="21945600" cy="6604002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Titlu secțiune</a:t>
            </a:r>
          </a:p>
        </p:txBody>
      </p:sp>
      <p:sp>
        <p:nvSpPr>
          <p:cNvPr id="92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u diapozitiv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100" name="Nivel corp unu…"/>
          <p:cNvSpPr txBox="1"/>
          <p:nvPr>
            <p:ph type="body" sz="quarter" idx="1" hasCustomPrompt="1"/>
          </p:nvPr>
        </p:nvSpPr>
        <p:spPr>
          <a:xfrm>
            <a:off x="1219200" y="2384648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u agendă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Titlu agendă</a:t>
            </a:r>
          </a:p>
        </p:txBody>
      </p:sp>
      <p:sp>
        <p:nvSpPr>
          <p:cNvPr id="109" name="Nivel corp unu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Subiecte agendă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Subtitlu agendă"/>
          <p:cNvSpPr txBox="1"/>
          <p:nvPr>
            <p:ph type="body" sz="quarter" idx="21" hasCustomPrompt="1"/>
          </p:nvPr>
        </p:nvSpPr>
        <p:spPr>
          <a:xfrm>
            <a:off x="1219200" y="2387114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100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Subtitlu agendă</a:t>
            </a:r>
          </a:p>
        </p:txBody>
      </p:sp>
      <p:sp>
        <p:nvSpPr>
          <p:cNvPr id="111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cl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Nivel corp unu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Declarație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taliu (ma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Nivel corp unu…"/>
          <p:cNvSpPr txBox="1"/>
          <p:nvPr>
            <p:ph type="body" sz="quarter" idx="1" hasCustomPrompt="1"/>
          </p:nvPr>
        </p:nvSpPr>
        <p:spPr>
          <a:xfrm>
            <a:off x="1219200" y="8462239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Informații factuale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Nivel corp unu…"/>
          <p:cNvSpPr txBox="1"/>
          <p:nvPr>
            <p:ph type="body" sz="half" idx="21" hasCustomPrompt="1"/>
          </p:nvPr>
        </p:nvSpPr>
        <p:spPr>
          <a:xfrm>
            <a:off x="1219200" y="4214483"/>
            <a:ext cx="21945600" cy="4269709"/>
          </a:xfrm>
          <a:prstGeom prst="rect">
            <a:avLst/>
          </a:prstGeom>
        </p:spPr>
        <p:txBody>
          <a:bodyPr anchor="b"/>
          <a:lstStyle/>
          <a:p>
            <a:pPr lvl="4" marL="0" indent="1097280" algn="ctr" defTabSz="975360">
              <a:lnSpc>
                <a:spcPct val="80000"/>
              </a:lnSpc>
              <a:spcBef>
                <a:spcPts val="0"/>
              </a:spcBef>
              <a:buSzTx/>
              <a:buNone/>
              <a:defRPr sz="8960">
                <a:latin typeface="Canela Bold"/>
                <a:ea typeface="Canela Bold"/>
                <a:cs typeface="Canela Bold"/>
                <a:sym typeface="Canela Bold"/>
              </a:defRPr>
            </a:pPr>
            <a:r>
              <a:t>100%
</a:t>
            </a:r>
          </a:p>
        </p:txBody>
      </p:sp>
      <p:sp>
        <p:nvSpPr>
          <p:cNvPr id="128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Nivel corp unu…"/>
          <p:cNvSpPr txBox="1"/>
          <p:nvPr>
            <p:ph type="body" sz="quarter" idx="1" hasCustomPrompt="1"/>
          </p:nvPr>
        </p:nvSpPr>
        <p:spPr>
          <a:xfrm>
            <a:off x="1219200" y="11100052"/>
            <a:ext cx="21945602" cy="832614"/>
          </a:xfrm>
          <a:prstGeom prst="rect">
            <a:avLst/>
          </a:prstGeom>
        </p:spPr>
        <p:txBody>
          <a:bodyPr anchor="ctr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Atribuire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Nivel corp unu…"/>
          <p:cNvSpPr txBox="1"/>
          <p:nvPr>
            <p:ph type="body" sz="half" idx="2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/>
          <a:p>
            <a:pPr lvl="4" marL="0" indent="2304287" algn="ctr" defTabSz="2048255">
              <a:lnSpc>
                <a:spcPct val="80000"/>
              </a:lnSpc>
              <a:spcBef>
                <a:spcPts val="0"/>
              </a:spcBef>
              <a:buSzTx/>
              <a:buNone/>
              <a:defRPr sz="7056">
                <a:latin typeface="Canela Bold"/>
                <a:ea typeface="Canela Bold"/>
                <a:cs typeface="Canela Bold"/>
                <a:sym typeface="Canela Bold"/>
              </a:defRPr>
            </a:pPr>
            <a:r>
              <a:t>“Citat important”
</a:t>
            </a:r>
          </a:p>
        </p:txBody>
      </p:sp>
      <p:sp>
        <p:nvSpPr>
          <p:cNvPr id="137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oză - 3 exempl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Mare pe fundalul cerului la apus 2"/>
          <p:cNvSpPr/>
          <p:nvPr>
            <p:ph type="pic" sz="quarter" idx="21"/>
          </p:nvPr>
        </p:nvSpPr>
        <p:spPr>
          <a:xfrm>
            <a:off x="15744825" y="5581751"/>
            <a:ext cx="7365408" cy="82804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Mare pe fundalul cerului la apus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Plajă și mare la apus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oz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jă și mare la apus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ără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 și marcat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itlu diapozitiv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170" name="Nivel corp unu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defTabSz="2438338"/>
            <a:lvl2pPr defTabSz="2438338"/>
            <a:lvl3pPr defTabSz="2438338"/>
            <a:lvl4pPr defTabSz="2438338"/>
            <a:lvl5pPr defTabSz="2438338"/>
          </a:lstStyle>
          <a:p>
            <a:pPr/>
            <a:r>
              <a:t>Text marcator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1" name="Subtitlu diapozitiv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Subtitlu diapozitiv</a:t>
            </a:r>
          </a:p>
        </p:txBody>
      </p:sp>
      <p:sp>
        <p:nvSpPr>
          <p:cNvPr id="172" name="Număr diapozitiv"/>
          <p:cNvSpPr txBox="1"/>
          <p:nvPr>
            <p:ph type="sldNum" sz="quarter" idx="2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diapozitiv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Titlu diapozitiv</a:t>
            </a:r>
          </a:p>
        </p:txBody>
      </p:sp>
      <p:sp>
        <p:nvSpPr>
          <p:cNvPr id="3" name="Nivel corp unu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 marcator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ăr diapozitiv"/>
          <p:cNvSpPr txBox="1"/>
          <p:nvPr>
            <p:ph type="sldNum" sz="quarter" idx="2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1pPr>
      <a:lvl2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2pPr>
      <a:lvl3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3pPr>
      <a:lvl4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4pPr>
      <a:lvl5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5pPr>
      <a:lvl6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6pPr>
      <a:lvl7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7pPr>
      <a:lvl8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8pPr>
      <a:lvl9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9pPr>
    </p:titleStyle>
    <p:bodyStyle>
      <a:lvl1pPr marL="5461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8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5.png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7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gif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0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0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0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3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4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Efrem Dragoș-Sebastian-Mihaly"/>
          <p:cNvSpPr txBox="1"/>
          <p:nvPr>
            <p:ph type="body" sz="quarter" idx="1"/>
          </p:nvPr>
        </p:nvSpPr>
        <p:spPr>
          <a:xfrm>
            <a:off x="1219199" y="11986162"/>
            <a:ext cx="21945600" cy="605792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Efrem Dragoș-Sebastian-Mihaly</a:t>
            </a:r>
          </a:p>
        </p:txBody>
      </p:sp>
      <p:sp>
        <p:nvSpPr>
          <p:cNvPr id="182" name="Bazele Inteligenței Artificia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Bazele Inteligenței Artificiale</a:t>
            </a:r>
          </a:p>
        </p:txBody>
      </p:sp>
      <p:sp>
        <p:nvSpPr>
          <p:cNvPr id="183" name="Lab 2. Modele parametrice"/>
          <p:cNvSpPr txBox="1"/>
          <p:nvPr/>
        </p:nvSpPr>
        <p:spPr>
          <a:xfrm>
            <a:off x="1219200" y="7567579"/>
            <a:ext cx="21945600" cy="225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pc="-100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Lab 7. Manipularea datelor în PyTorch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e este PyTorch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Ce este PyTorch?</a:t>
            </a:r>
          </a:p>
        </p:txBody>
      </p:sp>
      <p:sp>
        <p:nvSpPr>
          <p:cNvPr id="186" name="Un framework open-source pentru machine learning și deep learning"/>
          <p:cNvSpPr txBox="1"/>
          <p:nvPr>
            <p:ph type="body" sz="quarter" idx="1"/>
          </p:nvPr>
        </p:nvSpPr>
        <p:spPr>
          <a:xfrm>
            <a:off x="1687402" y="3554281"/>
            <a:ext cx="21948578" cy="1206975"/>
          </a:xfrm>
          <a:prstGeom prst="rect">
            <a:avLst/>
          </a:prstGeom>
        </p:spPr>
        <p:txBody>
          <a:bodyPr/>
          <a:lstStyle/>
          <a:p>
            <a:pPr/>
            <a:r>
              <a:t>Un framework open-source pentru machine learning și deep learning</a:t>
            </a:r>
          </a:p>
        </p:txBody>
      </p:sp>
      <p:sp>
        <p:nvSpPr>
          <p:cNvPr id="187" name="Dezvoltat de Facebook AI (acum Meta AI)"/>
          <p:cNvSpPr txBox="1"/>
          <p:nvPr/>
        </p:nvSpPr>
        <p:spPr>
          <a:xfrm>
            <a:off x="1687402" y="4843035"/>
            <a:ext cx="21948578" cy="1206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 Dezvoltat de Facebook AI (acum Meta AI)</a:t>
            </a:r>
          </a:p>
        </p:txBody>
      </p:sp>
      <p:sp>
        <p:nvSpPr>
          <p:cNvPr id="188" name="Foarte popular pentru cercetare și dezvoltare rapidă a modelelor de inteligență artificială"/>
          <p:cNvSpPr txBox="1"/>
          <p:nvPr/>
        </p:nvSpPr>
        <p:spPr>
          <a:xfrm>
            <a:off x="1687402" y="6131789"/>
            <a:ext cx="21948578" cy="2182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Foarte popular pentru cercetare și dezvoltare rapidă a modelelor de inteligență artificială</a:t>
            </a:r>
          </a:p>
        </p:txBody>
      </p:sp>
      <p:sp>
        <p:nvSpPr>
          <p:cNvPr id="189" name="Ușor de utilizat și învățat, mai ales pentru cei care sunt deja familiari cu Python"/>
          <p:cNvSpPr txBox="1"/>
          <p:nvPr/>
        </p:nvSpPr>
        <p:spPr>
          <a:xfrm>
            <a:off x="1687402" y="7992961"/>
            <a:ext cx="21948578" cy="1206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Ușor de utilizat și învățat, mai ales pentru cei care sunt deja familiari cu Python</a:t>
            </a:r>
          </a:p>
        </p:txBody>
      </p:sp>
      <p:sp>
        <p:nvSpPr>
          <p:cNvPr id="190" name="Comunitate activă, multe tutoriale și resurse online."/>
          <p:cNvSpPr txBox="1"/>
          <p:nvPr/>
        </p:nvSpPr>
        <p:spPr>
          <a:xfrm>
            <a:off x="1687402" y="9400860"/>
            <a:ext cx="21948578" cy="1206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Comunitate activă, multe tutoriale și resurse online.</a:t>
            </a:r>
          </a:p>
        </p:txBody>
      </p:sp>
      <p:pic>
        <p:nvPicPr>
          <p:cNvPr id="191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68501" y="4465304"/>
            <a:ext cx="6069895" cy="101601"/>
          </a:xfrm>
          <a:prstGeom prst="rect">
            <a:avLst/>
          </a:prstGeom>
        </p:spPr>
      </p:pic>
      <p:pic>
        <p:nvPicPr>
          <p:cNvPr id="193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83327" y="4465304"/>
            <a:ext cx="8430477" cy="101601"/>
          </a:xfrm>
          <a:prstGeom prst="rect">
            <a:avLst/>
          </a:prstGeom>
        </p:spPr>
      </p:pic>
      <p:pic>
        <p:nvPicPr>
          <p:cNvPr id="195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285367" y="8807001"/>
            <a:ext cx="6338808" cy="101601"/>
          </a:xfrm>
          <a:prstGeom prst="rect">
            <a:avLst/>
          </a:prstGeom>
        </p:spPr>
      </p:pic>
      <p:pic>
        <p:nvPicPr>
          <p:cNvPr id="197" name="Linie Linie" descr="Linie Lini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981990" y="10280639"/>
            <a:ext cx="5213956" cy="10160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2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Class="entr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9" dur="2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1" grpId="1"/>
      <p:bldP build="whole" bldLvl="1" animBg="1" rev="0" advAuto="0" spid="197" grpId="4"/>
      <p:bldP build="whole" bldLvl="1" animBg="1" rev="0" advAuto="0" spid="195" grpId="2"/>
      <p:bldP build="whole" bldLvl="1" animBg="1" rev="0" advAuto="0" spid="193" grpId="3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e este PyTorch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Ce este PyTorch?</a:t>
            </a:r>
          </a:p>
        </p:txBody>
      </p:sp>
      <p:sp>
        <p:nvSpPr>
          <p:cNvPr id="201" name="PyTorch are la bază conceptul de tensor"/>
          <p:cNvSpPr txBox="1"/>
          <p:nvPr>
            <p:ph type="body" sz="quarter" idx="1"/>
          </p:nvPr>
        </p:nvSpPr>
        <p:spPr>
          <a:xfrm>
            <a:off x="1668441" y="4407531"/>
            <a:ext cx="21948578" cy="1206975"/>
          </a:xfrm>
          <a:prstGeom prst="rect">
            <a:avLst/>
          </a:prstGeom>
        </p:spPr>
        <p:txBody>
          <a:bodyPr/>
          <a:lstStyle/>
          <a:p>
            <a:pPr/>
            <a:r>
              <a:t>PyTorch are la bază conceptul de tensor</a:t>
            </a:r>
          </a:p>
        </p:txBody>
      </p:sp>
      <p:sp>
        <p:nvSpPr>
          <p:cNvPr id="202" name="Conceptul de tensor există și în fizică și matematică, însă definiția lui diferă față de definiția pe care o folosim în machine learning"/>
          <p:cNvSpPr txBox="1"/>
          <p:nvPr/>
        </p:nvSpPr>
        <p:spPr>
          <a:xfrm>
            <a:off x="1668441" y="5729082"/>
            <a:ext cx="21948578" cy="2056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Conceptul de tensor există și în fizică și matematică, însă definiția lui diferă față de definiția pe care o folosim în machine learning</a:t>
            </a:r>
          </a:p>
        </p:txBody>
      </p:sp>
      <p:sp>
        <p:nvSpPr>
          <p:cNvPr id="203" name="Deci, nu vă îngrijorați dacă găsiți diverse explicații pentru conceptul de tensor, noi ne vom focaliza doar pe cel folosit în machine learning"/>
          <p:cNvSpPr txBox="1"/>
          <p:nvPr/>
        </p:nvSpPr>
        <p:spPr>
          <a:xfrm>
            <a:off x="1668441" y="7733233"/>
            <a:ext cx="21948578" cy="2056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Deci, nu vă îngrijorați dacă găsiți diverse explicații pentru conceptul de tensor, noi ne vom focaliza doar pe cel folosit în machine learning</a:t>
            </a:r>
          </a:p>
        </p:txBody>
      </p:sp>
      <p:pic>
        <p:nvPicPr>
          <p:cNvPr id="204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814641" y="5223748"/>
            <a:ext cx="1817592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advClick="1" p14:dur="2000">
        <p15:prstTrans prst="peelOff" invX="1"/>
      </p:transition>
    </mc:Choice>
    <mc:Choice xmlns:p14="http://schemas.microsoft.com/office/powerpoint/2010/main" Requires="p14">
      <p:transition spd="slow" advClick="1" p14:dur="2000">
        <p:peelOff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onceptul de tensor"/>
          <p:cNvSpPr txBox="1"/>
          <p:nvPr>
            <p:ph type="title"/>
          </p:nvPr>
        </p:nvSpPr>
        <p:spPr>
          <a:xfrm>
            <a:off x="953744" y="561604"/>
            <a:ext cx="21945601" cy="1727201"/>
          </a:xfrm>
          <a:prstGeom prst="rect">
            <a:avLst/>
          </a:prstGeom>
        </p:spPr>
        <p:txBody>
          <a:bodyPr/>
          <a:lstStyle/>
          <a:p>
            <a:pPr/>
            <a:r>
              <a:t>Conceptul de tensor</a:t>
            </a:r>
          </a:p>
        </p:txBody>
      </p:sp>
      <p:sp>
        <p:nvSpPr>
          <p:cNvPr id="208" name="Structuri de date multi-dimensionale care stochează informații numerice"/>
          <p:cNvSpPr txBox="1"/>
          <p:nvPr>
            <p:ph type="body" sz="quarter" idx="1"/>
          </p:nvPr>
        </p:nvSpPr>
        <p:spPr>
          <a:xfrm>
            <a:off x="1535713" y="3084278"/>
            <a:ext cx="21948578" cy="1206975"/>
          </a:xfrm>
          <a:prstGeom prst="rect">
            <a:avLst/>
          </a:prstGeom>
        </p:spPr>
        <p:txBody>
          <a:bodyPr/>
          <a:lstStyle/>
          <a:p>
            <a:pPr/>
            <a:r>
              <a:t>Structuri de date multi-dimensionale care stochează informații numerice</a:t>
            </a:r>
          </a:p>
        </p:txBody>
      </p:sp>
      <p:sp>
        <p:nvSpPr>
          <p:cNvPr id="209" name="Generalizare a scalarilor (un singur număr), vectorilor (listă de numere) și matricelor (tablouri de numere) la dimensiuni mai mari"/>
          <p:cNvSpPr txBox="1"/>
          <p:nvPr/>
        </p:nvSpPr>
        <p:spPr>
          <a:xfrm>
            <a:off x="1535713" y="4324836"/>
            <a:ext cx="21948578" cy="2056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Generalizare a scalarilor (un singur număr), vectorilor (listă de numere) și matricelor (tablouri de numere) la dimensiuni mai mari</a:t>
            </a:r>
          </a:p>
        </p:txBody>
      </p:sp>
      <p:sp>
        <p:nvSpPr>
          <p:cNvPr id="210" name="Tipuri de tensori:"/>
          <p:cNvSpPr txBox="1"/>
          <p:nvPr/>
        </p:nvSpPr>
        <p:spPr>
          <a:xfrm>
            <a:off x="1535713" y="6248538"/>
            <a:ext cx="21948578" cy="1218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Tipuri de tensori:</a:t>
            </a:r>
          </a:p>
        </p:txBody>
      </p:sp>
      <p:sp>
        <p:nvSpPr>
          <p:cNvPr id="211" name="Scalar: Tensor de dimensiune 0 (ex: 5 sau 3.14)"/>
          <p:cNvSpPr txBox="1"/>
          <p:nvPr/>
        </p:nvSpPr>
        <p:spPr>
          <a:xfrm>
            <a:off x="2326353" y="7399439"/>
            <a:ext cx="21948577" cy="1218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Scalar: Tensor de dimensiune 0 (ex: 5 sau 3.14)</a:t>
            </a:r>
          </a:p>
        </p:txBody>
      </p:sp>
      <p:sp>
        <p:nvSpPr>
          <p:cNvPr id="212" name="Vector: Tensor de dimensiune 1 (ex: [1, 2, 3])"/>
          <p:cNvSpPr txBox="1"/>
          <p:nvPr/>
        </p:nvSpPr>
        <p:spPr>
          <a:xfrm>
            <a:off x="2326353" y="8417611"/>
            <a:ext cx="21948577" cy="1218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Vector: Tensor de dimensiune 1 (ex: [1, 2, 3])</a:t>
            </a:r>
          </a:p>
        </p:txBody>
      </p:sp>
      <p:sp>
        <p:nvSpPr>
          <p:cNvPr id="213" name="Matrice: Tensor de dimensiune 2 (ex: [ [1, 2, 3], [4, 5, 6]])"/>
          <p:cNvSpPr txBox="1"/>
          <p:nvPr/>
        </p:nvSpPr>
        <p:spPr>
          <a:xfrm>
            <a:off x="2326353" y="9424747"/>
            <a:ext cx="21948577" cy="1218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Matrice: Tensor de dimensiune 2 (ex: [ [1, 2, 3], [4, 5, 6]])</a:t>
            </a:r>
          </a:p>
        </p:txBody>
      </p:sp>
      <p:sp>
        <p:nvSpPr>
          <p:cNvPr id="214" name="Tensor 3D+: Mai multe dimensiuni, ca un “cub” sau colecție de matrici (ex: o imagine RGB de dimensiunea: height × width × channels) unde channels = 3"/>
          <p:cNvSpPr txBox="1"/>
          <p:nvPr/>
        </p:nvSpPr>
        <p:spPr>
          <a:xfrm>
            <a:off x="2326353" y="10453957"/>
            <a:ext cx="21948577" cy="2056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Tensor 3D+: Mai multe dimensiuni, ca un “cub” sau colecție de matrici (ex: o imagine RGB de dimensiunea: height × width × channels) unde channels = 3</a:t>
            </a:r>
          </a:p>
        </p:txBody>
      </p:sp>
      <p:pic>
        <p:nvPicPr>
          <p:cNvPr id="215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3562" y="5097638"/>
            <a:ext cx="3240000" cy="101601"/>
          </a:xfrm>
          <a:prstGeom prst="rect">
            <a:avLst/>
          </a:prstGeom>
        </p:spPr>
      </p:pic>
      <p:pic>
        <p:nvPicPr>
          <p:cNvPr id="217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59937" y="5938703"/>
            <a:ext cx="4907619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14:prism dir="r" isContent="1" isInverted="0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8" dur="2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Class="entr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2" dur="2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8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8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8" presetID="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8" presetID="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8" presetID="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1" grpId="6"/>
      <p:bldP build="whole" bldLvl="1" animBg="1" rev="0" advAuto="0" spid="214" grpId="9"/>
      <p:bldP build="whole" bldLvl="1" animBg="1" rev="0" advAuto="0" spid="209" grpId="2"/>
      <p:bldP build="whole" bldLvl="1" animBg="1" rev="0" advAuto="0" spid="217" grpId="4"/>
      <p:bldP build="whole" bldLvl="1" animBg="1" rev="0" advAuto="0" spid="210" grpId="5"/>
      <p:bldP build="whole" bldLvl="1" animBg="1" rev="0" advAuto="0" spid="212" grpId="7"/>
      <p:bldP build="whole" bldLvl="1" animBg="1" rev="0" advAuto="0" spid="215" grpId="3"/>
      <p:bldP build="whole" bldLvl="1" animBg="1" rev="0" advAuto="0" spid="208" grpId="1"/>
      <p:bldP build="whole" bldLvl="1" animBg="1" rev="0" advAuto="0" spid="213" grpId="8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onceptul de tensor"/>
          <p:cNvSpPr txBox="1"/>
          <p:nvPr>
            <p:ph type="title"/>
          </p:nvPr>
        </p:nvSpPr>
        <p:spPr>
          <a:xfrm>
            <a:off x="915822" y="11731"/>
            <a:ext cx="21945601" cy="1727201"/>
          </a:xfrm>
          <a:prstGeom prst="rect">
            <a:avLst/>
          </a:prstGeom>
        </p:spPr>
        <p:txBody>
          <a:bodyPr/>
          <a:lstStyle/>
          <a:p>
            <a:pPr/>
            <a:r>
              <a:t>Conceptul de tensor</a:t>
            </a:r>
          </a:p>
        </p:txBody>
      </p:sp>
      <p:pic>
        <p:nvPicPr>
          <p:cNvPr id="221" name="Captură de ecran din 2024-11-16 la 22.00.47.png" descr="Captură de ecran din 2024-11-16 la 22.00.4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84896" y="6259949"/>
            <a:ext cx="19007452" cy="6879198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Totuși, tensorii reprezintă mai mult decât o simplă generalizare a scalarilor, vectorilor și matricelor"/>
          <p:cNvSpPr txBox="1"/>
          <p:nvPr>
            <p:ph type="body" sz="quarter" idx="1"/>
          </p:nvPr>
        </p:nvSpPr>
        <p:spPr>
          <a:xfrm>
            <a:off x="1478830" y="1924654"/>
            <a:ext cx="21948578" cy="1727201"/>
          </a:xfrm>
          <a:prstGeom prst="rect">
            <a:avLst/>
          </a:prstGeom>
        </p:spPr>
        <p:txBody>
          <a:bodyPr/>
          <a:lstStyle/>
          <a:p>
            <a:pPr/>
            <a:r>
              <a:t>Totuși, tensorii reprezintă mai mult decât o simplă generalizare a scalarilor, vectorilor și matricelor</a:t>
            </a:r>
          </a:p>
        </p:txBody>
      </p:sp>
      <p:sp>
        <p:nvSpPr>
          <p:cNvPr id="223" name="În Numpy, există ndarrays, care prezintă și el o modalitate de a crea structuri multi-dimensionale la fel ca tensorii. Atunci, de ce să folosim tensori?"/>
          <p:cNvSpPr txBox="1"/>
          <p:nvPr/>
        </p:nvSpPr>
        <p:spPr>
          <a:xfrm>
            <a:off x="1478830" y="3625427"/>
            <a:ext cx="21948578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Numpy, există ndarrays, care prezintă și el o modalitate de a crea structuri multi-dimensionale la fel ca tensorii. Atunci, de ce să folosim tensori?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14:switch dir="l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Class="entr" nodeType="after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Class="entr" nodeType="afterEffect" presetSubtype="32" presetID="4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1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3" grpId="2"/>
      <p:bldP build="whole" bldLvl="1" animBg="1" rev="0" advAuto="0" spid="221" grpId="3"/>
      <p:bldP build="whole" bldLvl="1" animBg="1" rev="0" advAuto="0" spid="22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onceptul de tensor"/>
          <p:cNvSpPr txBox="1"/>
          <p:nvPr>
            <p:ph type="title"/>
          </p:nvPr>
        </p:nvSpPr>
        <p:spPr>
          <a:xfrm>
            <a:off x="915822" y="11731"/>
            <a:ext cx="21945601" cy="1727201"/>
          </a:xfrm>
          <a:prstGeom prst="rect">
            <a:avLst/>
          </a:prstGeom>
        </p:spPr>
        <p:txBody>
          <a:bodyPr/>
          <a:lstStyle/>
          <a:p>
            <a:pPr/>
            <a:r>
              <a:t>Conceptul de tensor</a:t>
            </a:r>
          </a:p>
        </p:txBody>
      </p:sp>
      <p:sp>
        <p:nvSpPr>
          <p:cNvPr id="226" name="Tensorii au un avantaj enorm când vine vorba de:"/>
          <p:cNvSpPr txBox="1"/>
          <p:nvPr>
            <p:ph type="body" sz="quarter" idx="1"/>
          </p:nvPr>
        </p:nvSpPr>
        <p:spPr>
          <a:xfrm>
            <a:off x="1535713" y="3460505"/>
            <a:ext cx="21948578" cy="1166885"/>
          </a:xfrm>
          <a:prstGeom prst="rect">
            <a:avLst/>
          </a:prstGeom>
        </p:spPr>
        <p:txBody>
          <a:bodyPr/>
          <a:lstStyle/>
          <a:p>
            <a:pPr/>
            <a:r>
              <a:t>Tensorii au un avantaj enorm când vine vorba de:</a:t>
            </a:r>
          </a:p>
        </p:txBody>
      </p:sp>
      <p:sp>
        <p:nvSpPr>
          <p:cNvPr id="227" name="Accelerare hardware"/>
          <p:cNvSpPr txBox="1"/>
          <p:nvPr/>
        </p:nvSpPr>
        <p:spPr>
          <a:xfrm>
            <a:off x="8316012" y="7608050"/>
            <a:ext cx="750674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400"/>
            </a:lvl1pPr>
          </a:lstStyle>
          <a:p>
            <a:pPr/>
            <a:r>
              <a:t>Accelerare hardware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mph" nodeType="afterEffect" presetSubtype="0" presetID="6" grpId="3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1000" fill="hold"/>
                                        <p:tgtEl>
                                          <p:spTgt spid="227"/>
                                        </p:tgtEl>
                                      </p:cBhvr>
                                      <p:by x="215254" y="215254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7" grpId="3"/>
      <p:bldP build="whole" bldLvl="1" animBg="1" rev="0" advAuto="0" spid="227" grpId="2"/>
      <p:bldP build="whole" bldLvl="1" animBg="1" rev="0" advAuto="0" spid="22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e CPU, toate operațiile se efectuează secvențial"/>
          <p:cNvSpPr txBox="1"/>
          <p:nvPr>
            <p:ph type="body" sz="quarter" idx="1"/>
          </p:nvPr>
        </p:nvSpPr>
        <p:spPr>
          <a:xfrm>
            <a:off x="1009139" y="6419774"/>
            <a:ext cx="21948577" cy="1166885"/>
          </a:xfrm>
          <a:prstGeom prst="rect">
            <a:avLst/>
          </a:prstGeom>
        </p:spPr>
        <p:txBody>
          <a:bodyPr/>
          <a:lstStyle/>
          <a:p>
            <a:pPr/>
            <a:r>
              <a:t>Pe CPU, toate operațiile se efectuează secvențial</a:t>
            </a:r>
          </a:p>
        </p:txBody>
      </p:sp>
      <p:sp>
        <p:nvSpPr>
          <p:cNvPr id="230" name="Accelerare hardware"/>
          <p:cNvSpPr txBox="1"/>
          <p:nvPr/>
        </p:nvSpPr>
        <p:spPr>
          <a:xfrm>
            <a:off x="8702592" y="863886"/>
            <a:ext cx="8875714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Accelerare hardware</a:t>
            </a:r>
          </a:p>
        </p:txBody>
      </p:sp>
      <p:sp>
        <p:nvSpPr>
          <p:cNvPr id="231" name="E destul de încet, mai ales când în ML lucrăm cu o tonă de operații pe matrice și matricele sunt de obicei foarte mari"/>
          <p:cNvSpPr txBox="1"/>
          <p:nvPr/>
        </p:nvSpPr>
        <p:spPr>
          <a:xfrm>
            <a:off x="1009139" y="7551797"/>
            <a:ext cx="21948577" cy="184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E destul de încet, mai ales când în ML lucrăm cu o tonă de operații pe matrice și matricele sunt de obicei foarte mari</a:t>
            </a:r>
          </a:p>
        </p:txBody>
      </p:sp>
      <p:sp>
        <p:nvSpPr>
          <p:cNvPr id="232" name="Chiar dacă are mai multe nuclee, numărul acestora este limitat (de obicei 4-16 nuclee)"/>
          <p:cNvSpPr txBox="1"/>
          <p:nvPr/>
        </p:nvSpPr>
        <p:spPr>
          <a:xfrm>
            <a:off x="1009139" y="9473849"/>
            <a:ext cx="21948577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Chiar dacă are mai multe nuclee, numărul acestora este limitat (de obicei 4-16 nuclee)</a:t>
            </a:r>
          </a:p>
        </p:txBody>
      </p:sp>
      <p:sp>
        <p:nvSpPr>
          <p:cNvPr id="233" name="De ce nu ne place să facem operații pe CPU?"/>
          <p:cNvSpPr txBox="1"/>
          <p:nvPr/>
        </p:nvSpPr>
        <p:spPr>
          <a:xfrm>
            <a:off x="1009139" y="5243198"/>
            <a:ext cx="21948577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De ce nu ne place să facem operații pe CPU?</a:t>
            </a:r>
          </a:p>
        </p:txBody>
      </p:sp>
      <p:sp>
        <p:nvSpPr>
          <p:cNvPr id="234" name="Un dezavantaj al NumPy este că funcționează doar pe CPU"/>
          <p:cNvSpPr txBox="1"/>
          <p:nvPr/>
        </p:nvSpPr>
        <p:spPr>
          <a:xfrm>
            <a:off x="1009139" y="4124144"/>
            <a:ext cx="21948577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Un dezavantaj al NumPy este că funcționează doar pe CPU </a:t>
            </a:r>
          </a:p>
        </p:txBody>
      </p:sp>
      <p:pic>
        <p:nvPicPr>
          <p:cNvPr id="235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59172" y="7209098"/>
            <a:ext cx="2701661" cy="101601"/>
          </a:xfrm>
          <a:prstGeom prst="rect">
            <a:avLst/>
          </a:prstGeom>
        </p:spPr>
      </p:pic>
      <p:pic>
        <p:nvPicPr>
          <p:cNvPr id="237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381774" y="10275072"/>
            <a:ext cx="1960664" cy="101601"/>
          </a:xfrm>
          <a:prstGeom prst="rect">
            <a:avLst/>
          </a:prstGeom>
        </p:spPr>
      </p:pic>
      <p:pic>
        <p:nvPicPr>
          <p:cNvPr id="239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702520" y="9137405"/>
            <a:ext cx="3021494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2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7" grpId="3"/>
      <p:bldP build="whole" bldLvl="1" animBg="1" rev="0" advAuto="0" spid="235" grpId="1"/>
      <p:bldP build="whole" bldLvl="1" animBg="1" rev="0" advAuto="0" spid="239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Accelerare hardware"/>
          <p:cNvSpPr txBox="1"/>
          <p:nvPr/>
        </p:nvSpPr>
        <p:spPr>
          <a:xfrm>
            <a:off x="8702592" y="863886"/>
            <a:ext cx="8875714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Accelerare hardware</a:t>
            </a:r>
          </a:p>
        </p:txBody>
      </p:sp>
      <p:sp>
        <p:nvSpPr>
          <p:cNvPr id="243" name="Soluție: Folosim GPU-uri"/>
          <p:cNvSpPr txBox="1"/>
          <p:nvPr/>
        </p:nvSpPr>
        <p:spPr>
          <a:xfrm>
            <a:off x="1045588" y="4835841"/>
            <a:ext cx="21948578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 sz="6400"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Soluție: Folosim GPU-uri</a:t>
            </a:r>
          </a:p>
        </p:txBody>
      </p:sp>
      <p:sp>
        <p:nvSpPr>
          <p:cNvPr id="244" name="GPU-urile sunt optimizate pentru paralelizare masivă"/>
          <p:cNvSpPr txBox="1"/>
          <p:nvPr/>
        </p:nvSpPr>
        <p:spPr>
          <a:xfrm>
            <a:off x="2025838" y="5771734"/>
            <a:ext cx="21948578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 sz="6400"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GPU-urile sunt optimizate pentru paralelizare masivă</a:t>
            </a:r>
          </a:p>
        </p:txBody>
      </p:sp>
      <p:sp>
        <p:nvSpPr>
          <p:cNvPr id="245" name="Au mii de nuclee care pot lucra în același timp"/>
          <p:cNvSpPr txBox="1"/>
          <p:nvPr/>
        </p:nvSpPr>
        <p:spPr>
          <a:xfrm>
            <a:off x="2025838" y="6714063"/>
            <a:ext cx="21948578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 sz="6400"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Au mii de nuclee care pot lucra în același timp</a:t>
            </a:r>
          </a:p>
        </p:txBody>
      </p:sp>
      <p:sp>
        <p:nvSpPr>
          <p:cNvPr id="246" name="Fiecare nucleu GPU procesează bucăți mici ale tensorilor, în paralel"/>
          <p:cNvSpPr txBox="1"/>
          <p:nvPr/>
        </p:nvSpPr>
        <p:spPr>
          <a:xfrm>
            <a:off x="2025838" y="7713274"/>
            <a:ext cx="21948578" cy="1166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480568" indent="-480568" defTabSz="2145738">
              <a:spcBef>
                <a:spcPts val="2100"/>
              </a:spcBef>
              <a:buSzPct val="150000"/>
              <a:buChar char="•"/>
              <a:defRPr sz="5632"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Fiecare nucleu GPU procesează bucăți mici ale tensorilor, în paralel</a:t>
            </a:r>
          </a:p>
        </p:txBody>
      </p:sp>
      <p:pic>
        <p:nvPicPr>
          <p:cNvPr id="247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48752" y="5843897"/>
            <a:ext cx="5481443" cy="101601"/>
          </a:xfrm>
          <a:prstGeom prst="rect">
            <a:avLst/>
          </a:prstGeom>
        </p:spPr>
      </p:pic>
      <p:pic>
        <p:nvPicPr>
          <p:cNvPr id="249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27751" y="6843110"/>
            <a:ext cx="6562431" cy="101601"/>
          </a:xfrm>
          <a:prstGeom prst="rect">
            <a:avLst/>
          </a:prstGeom>
        </p:spPr>
      </p:pic>
      <p:pic>
        <p:nvPicPr>
          <p:cNvPr id="251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631607" y="7713274"/>
            <a:ext cx="3889358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2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7" grpId="1"/>
      <p:bldP build="whole" bldLvl="1" animBg="1" rev="0" advAuto="0" spid="251" grpId="3"/>
      <p:bldP build="whole" bldLvl="1" animBg="1" rev="0" advAuto="0" spid="249" grpId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Haideți să vedem un exemplu concret pe adunarea a două matrice:"/>
          <p:cNvSpPr txBox="1"/>
          <p:nvPr>
            <p:ph type="body" sz="quarter" idx="1"/>
          </p:nvPr>
        </p:nvSpPr>
        <p:spPr>
          <a:xfrm>
            <a:off x="1080647" y="2702060"/>
            <a:ext cx="21948577" cy="1166885"/>
          </a:xfrm>
          <a:prstGeom prst="rect">
            <a:avLst/>
          </a:prstGeom>
        </p:spPr>
        <p:txBody>
          <a:bodyPr/>
          <a:lstStyle/>
          <a:p>
            <a:pPr/>
            <a:r>
              <a:t>Haideți să vedem un exemplu concret pe adunarea a două matrice:</a:t>
            </a:r>
          </a:p>
        </p:txBody>
      </p:sp>
      <p:sp>
        <p:nvSpPr>
          <p:cNvPr id="255" name="Accelerare hardware"/>
          <p:cNvSpPr txBox="1"/>
          <p:nvPr/>
        </p:nvSpPr>
        <p:spPr>
          <a:xfrm>
            <a:off x="8702592" y="863886"/>
            <a:ext cx="8875714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Accelerare hardware</a:t>
            </a:r>
          </a:p>
        </p:txBody>
      </p:sp>
      <p:sp>
        <p:nvSpPr>
          <p:cNvPr id="256" name="Ecuație"/>
          <p:cNvSpPr txBox="1"/>
          <p:nvPr/>
        </p:nvSpPr>
        <p:spPr>
          <a:xfrm>
            <a:off x="6089908" y="4530082"/>
            <a:ext cx="11369894" cy="137464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m>
                        <m:mPr>
                          <m:ctrl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m>
                        <m:mPr>
                          <m:ctrl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m>
                        <m:mPr>
                          <m:ctrl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</m:oMath>
              </m:oMathPara>
            </a14:m>
            <a:endParaRPr sz="4400"/>
          </a:p>
        </p:txBody>
      </p:sp>
      <p:sp>
        <p:nvSpPr>
          <p:cNvPr id="257" name="Ecuație"/>
          <p:cNvSpPr txBox="1"/>
          <p:nvPr/>
        </p:nvSpPr>
        <p:spPr>
          <a:xfrm>
            <a:off x="6816815" y="8393889"/>
            <a:ext cx="8454604" cy="199949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m>
                        <m:mPr>
                          <m:ctrlPr>
                            <a:rPr xmlns:a="http://schemas.openxmlformats.org/drawingml/2006/main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r>
                              <a:rPr xmlns:a="http://schemas.openxmlformats.org/drawingml/2006/main" sz="6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r>
                              <a:rPr xmlns:a="http://schemas.openxmlformats.org/drawingml/2006/main" sz="6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r>
                              <a:rPr xmlns:a="http://schemas.openxmlformats.org/drawingml/2006/main" sz="6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xmlns:a="http://schemas.openxmlformats.org/drawingml/2006/main" sz="6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</m:oMath>
              </m:oMathPara>
            </a14:m>
            <a:endParaRPr sz="6400"/>
          </a:p>
        </p:txBody>
      </p:sp>
      <p:sp>
        <p:nvSpPr>
          <p:cNvPr id="258" name="Ecuație"/>
          <p:cNvSpPr txBox="1"/>
          <p:nvPr/>
        </p:nvSpPr>
        <p:spPr>
          <a:xfrm>
            <a:off x="8053647" y="6565868"/>
            <a:ext cx="8002576" cy="4027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  <m:sty m:val="b"/>
                    </m:rP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Adunare de matrice: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</m:oMath>
              </m:oMathPara>
            </a14:m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Accelerare hardware"/>
          <p:cNvSpPr txBox="1"/>
          <p:nvPr/>
        </p:nvSpPr>
        <p:spPr>
          <a:xfrm>
            <a:off x="8702592" y="863886"/>
            <a:ext cx="8875714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Accelerare hardware</a:t>
            </a:r>
          </a:p>
        </p:txBody>
      </p:sp>
      <p:sp>
        <p:nvSpPr>
          <p:cNvPr id="261" name="Ecuație"/>
          <p:cNvSpPr txBox="1"/>
          <p:nvPr/>
        </p:nvSpPr>
        <p:spPr>
          <a:xfrm>
            <a:off x="7271882" y="3160620"/>
            <a:ext cx="8454604" cy="199948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m>
                        <m:mPr>
                          <m:ctrlPr>
                            <a:rPr xmlns:a="http://schemas.openxmlformats.org/drawingml/2006/main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r>
                              <a:rPr xmlns:a="http://schemas.openxmlformats.org/drawingml/2006/main" sz="6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r>
                              <a:rPr xmlns:a="http://schemas.openxmlformats.org/drawingml/2006/main" sz="6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r>
                              <a:rPr xmlns:a="http://schemas.openxmlformats.org/drawingml/2006/main" sz="6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xmlns:a="http://schemas.openxmlformats.org/drawingml/2006/main" sz="6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</m:oMath>
              </m:oMathPara>
            </a14:m>
            <a:endParaRPr sz="6400"/>
          </a:p>
        </p:txBody>
      </p:sp>
      <p:sp>
        <p:nvSpPr>
          <p:cNvPr id="262" name="Pe CPU:"/>
          <p:cNvSpPr txBox="1"/>
          <p:nvPr/>
        </p:nvSpPr>
        <p:spPr>
          <a:xfrm>
            <a:off x="524895" y="5847656"/>
            <a:ext cx="21948578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 CPU:</a:t>
            </a:r>
          </a:p>
        </p:txBody>
      </p:sp>
      <p:sp>
        <p:nvSpPr>
          <p:cNvPr id="263" name="CPU calculează fiecare operație secvențial"/>
          <p:cNvSpPr txBox="1"/>
          <p:nvPr/>
        </p:nvSpPr>
        <p:spPr>
          <a:xfrm>
            <a:off x="1217711" y="6877774"/>
            <a:ext cx="21948578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CPU calculează fiecare operație secvențial</a:t>
            </a:r>
          </a:p>
        </p:txBody>
      </p:sp>
      <p:sp>
        <p:nvSpPr>
          <p:cNvPr id="264" name="Prima dată calculează C[0][0] = a11+b11"/>
          <p:cNvSpPr txBox="1"/>
          <p:nvPr/>
        </p:nvSpPr>
        <p:spPr>
          <a:xfrm>
            <a:off x="1217711" y="8009714"/>
            <a:ext cx="21948578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Prima dată calculează C[0][0] = a11+b11</a:t>
            </a:r>
          </a:p>
        </p:txBody>
      </p:sp>
      <p:sp>
        <p:nvSpPr>
          <p:cNvPr id="265" name="Abia după ce acel rezultat a fost obținut, calculează C[0][1] = a12+b12"/>
          <p:cNvSpPr txBox="1"/>
          <p:nvPr/>
        </p:nvSpPr>
        <p:spPr>
          <a:xfrm>
            <a:off x="1217711" y="9046847"/>
            <a:ext cx="21948578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Abia după ce acel rezultat a fost obținut, calculează C[0][1] = a12+b12</a:t>
            </a:r>
          </a:p>
        </p:txBody>
      </p:sp>
      <p:sp>
        <p:nvSpPr>
          <p:cNvPr id="266" name="CPU-ul își poate folosi nucleele pentru a realiza aceste operații în paralel, dar ele fiind reduse (4-16) puterea lor scade pe măsură ce dimensiunea matricei crește (de exemplu dacă avem o matrice 10,000 x 10,000, operația pe CPU devine lentă până și cu "/>
          <p:cNvSpPr txBox="1"/>
          <p:nvPr/>
        </p:nvSpPr>
        <p:spPr>
          <a:xfrm>
            <a:off x="1217711" y="10065021"/>
            <a:ext cx="21948578" cy="266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CPU-ul își poate folosi nucleele pentru a realiza aceste operații în paralel, dar ele fiind reduse (4-16) puterea lor scade pe măsură ce dimensiunea matricei crește (de exemplu dacă avem o matrice 10,000 x 10,000, operația pe CPU devine lentă până și cu 16 nuclee)</a:t>
            </a:r>
          </a:p>
        </p:txBody>
      </p:sp>
      <p:pic>
        <p:nvPicPr>
          <p:cNvPr id="267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88777" y="7702088"/>
            <a:ext cx="2701661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Class="entr" nodeType="after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7" dur="2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8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8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Subtype="8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67" grpId="3"/>
      <p:bldP build="whole" bldLvl="1" animBg="1" rev="0" advAuto="0" spid="263" grpId="2"/>
      <p:bldP build="whole" bldLvl="1" animBg="1" rev="0" advAuto="0" spid="265" grpId="5"/>
      <p:bldP build="whole" bldLvl="1" animBg="1" rev="0" advAuto="0" spid="262" grpId="1"/>
      <p:bldP build="whole" bldLvl="1" animBg="1" rev="0" advAuto="0" spid="264" grpId="4"/>
      <p:bldP build="whole" bldLvl="1" animBg="1" rev="0" advAuto="0" spid="266" grpId="6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Accelerare hardware"/>
          <p:cNvSpPr txBox="1"/>
          <p:nvPr/>
        </p:nvSpPr>
        <p:spPr>
          <a:xfrm>
            <a:off x="8702592" y="863886"/>
            <a:ext cx="8875714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Accelerare hardware</a:t>
            </a:r>
          </a:p>
        </p:txBody>
      </p:sp>
      <p:sp>
        <p:nvSpPr>
          <p:cNvPr id="271" name="Ecuație"/>
          <p:cNvSpPr txBox="1"/>
          <p:nvPr/>
        </p:nvSpPr>
        <p:spPr>
          <a:xfrm>
            <a:off x="7252921" y="2743476"/>
            <a:ext cx="8454604" cy="199948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m>
                        <m:mPr>
                          <m:ctrlPr>
                            <a:rPr xmlns:a="http://schemas.openxmlformats.org/drawingml/2006/main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r>
                              <a:rPr xmlns:a="http://schemas.openxmlformats.org/drawingml/2006/main" sz="6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r>
                              <a:rPr xmlns:a="http://schemas.openxmlformats.org/drawingml/2006/main" sz="6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r>
                              <a:rPr xmlns:a="http://schemas.openxmlformats.org/drawingml/2006/main" sz="6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xmlns:a="http://schemas.openxmlformats.org/drawingml/2006/main" sz="6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6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</m:oMath>
              </m:oMathPara>
            </a14:m>
            <a:endParaRPr sz="6400"/>
          </a:p>
        </p:txBody>
      </p:sp>
      <p:sp>
        <p:nvSpPr>
          <p:cNvPr id="272" name="Pe GPU:"/>
          <p:cNvSpPr txBox="1"/>
          <p:nvPr/>
        </p:nvSpPr>
        <p:spPr>
          <a:xfrm>
            <a:off x="505934" y="5120118"/>
            <a:ext cx="21948578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 GPU:</a:t>
            </a:r>
          </a:p>
        </p:txBody>
      </p:sp>
      <p:sp>
        <p:nvSpPr>
          <p:cNvPr id="273" name="GPU-ul împarte matricele în bucăți mici (fiecare element este o “sarcină”)"/>
          <p:cNvSpPr txBox="1"/>
          <p:nvPr/>
        </p:nvSpPr>
        <p:spPr>
          <a:xfrm>
            <a:off x="1198750" y="6233096"/>
            <a:ext cx="21948578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GPU-ul împarte matricele în bucăți mici (fiecare element este o “sarcină”)</a:t>
            </a:r>
          </a:p>
        </p:txBody>
      </p:sp>
      <p:sp>
        <p:nvSpPr>
          <p:cNvPr id="274" name="Fiecare nucleu GPU procesează un element în paralel:"/>
          <p:cNvSpPr txBox="1"/>
          <p:nvPr/>
        </p:nvSpPr>
        <p:spPr>
          <a:xfrm>
            <a:off x="1198750" y="7365036"/>
            <a:ext cx="21948578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Fiecare nucleu GPU procesează un element în paralel:</a:t>
            </a:r>
          </a:p>
        </p:txBody>
      </p:sp>
      <p:sp>
        <p:nvSpPr>
          <p:cNvPr id="275" name="Nucleul 1 calculează c11=a11+b11, nucleul 2 calculeaza c12=a12+b12, nucleul 3 calculeaza c21=a21+b21, nucleul 4 calculeaza c22=a22+b22"/>
          <p:cNvSpPr txBox="1"/>
          <p:nvPr/>
        </p:nvSpPr>
        <p:spPr>
          <a:xfrm>
            <a:off x="1198750" y="8402170"/>
            <a:ext cx="21948578" cy="184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Nucleul 1 calculează c11=a11+b11, nucleul 2 calculeaza c12=a12+b12, nucleul 3 calculeaza c21=a21+b21, nucleul 4 calculeaza c22=a22+b22</a:t>
            </a:r>
          </a:p>
        </p:txBody>
      </p:sp>
      <p:sp>
        <p:nvSpPr>
          <p:cNvPr id="276" name="GPU poate avea mii de nuclee, deci chiar și pentru matrice mari (ex. 10,000 x 10,000), operația este rapidă"/>
          <p:cNvSpPr txBox="1"/>
          <p:nvPr/>
        </p:nvSpPr>
        <p:spPr>
          <a:xfrm>
            <a:off x="1198750" y="10010875"/>
            <a:ext cx="21948578" cy="1849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GPU poate avea mii de nuclee, deci chiar și pentru matrice mari (ex. 10,000 x 10,000), operația este rapidă</a:t>
            </a:r>
          </a:p>
        </p:txBody>
      </p:sp>
      <p:pic>
        <p:nvPicPr>
          <p:cNvPr id="277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845915" y="7057410"/>
            <a:ext cx="2947308" cy="101601"/>
          </a:xfrm>
          <a:prstGeom prst="rect">
            <a:avLst/>
          </a:prstGeom>
        </p:spPr>
      </p:pic>
      <p:pic>
        <p:nvPicPr>
          <p:cNvPr id="279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676061" y="8200348"/>
            <a:ext cx="2701662" cy="101601"/>
          </a:xfrm>
          <a:prstGeom prst="rect">
            <a:avLst/>
          </a:prstGeom>
        </p:spPr>
      </p:pic>
      <p:pic>
        <p:nvPicPr>
          <p:cNvPr id="281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129536" y="11592155"/>
            <a:ext cx="2013735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Class="entr" nodeType="after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Class="entr" nodeType="afterEffect" presetSubtype="8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Class="entr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2" dur="2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Class="entr" nodeType="afterEffect" presetID="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6" dur="2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8" presetID="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Class="entr" nodeType="afterEffect" presetID="9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42" dur="2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81" grpId="8"/>
      <p:bldP build="whole" bldLvl="1" animBg="1" rev="0" advAuto="0" spid="274" grpId="3"/>
      <p:bldP build="whole" bldLvl="1" animBg="1" rev="0" advAuto="0" spid="276" grpId="7"/>
      <p:bldP build="whole" bldLvl="1" animBg="1" rev="0" advAuto="0" spid="275" grpId="6"/>
      <p:bldP build="whole" bldLvl="1" animBg="1" rev="0" advAuto="0" spid="277" grpId="4"/>
      <p:bldP build="whole" bldLvl="1" animBg="1" rev="0" advAuto="0" spid="273" grpId="2"/>
      <p:bldP build="whole" bldLvl="1" animBg="1" rev="0" advAuto="0" spid="272" grpId="1"/>
      <p:bldP build="whole" bldLvl="1" animBg="1" rev="0" advAuto="0" spid="279" grpId="5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Accelerare hardware"/>
          <p:cNvSpPr txBox="1"/>
          <p:nvPr/>
        </p:nvSpPr>
        <p:spPr>
          <a:xfrm>
            <a:off x="8702592" y="863886"/>
            <a:ext cx="8875714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Accelerare hardware</a:t>
            </a:r>
          </a:p>
        </p:txBody>
      </p:sp>
      <p:sp>
        <p:nvSpPr>
          <p:cNvPr id="285" name="De ce CPU-urile au puține nuclee pe când GPU-urile pot avea mii de nuclee?"/>
          <p:cNvSpPr txBox="1"/>
          <p:nvPr/>
        </p:nvSpPr>
        <p:spPr>
          <a:xfrm>
            <a:off x="762644" y="2260616"/>
            <a:ext cx="21948578" cy="118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De ce CPU-urile au puține nuclee pe când GPU-urile pot avea mii de nuclee?</a:t>
            </a:r>
          </a:p>
        </p:txBody>
      </p:sp>
      <p:sp>
        <p:nvSpPr>
          <p:cNvPr id="286" name="CPU-ul:"/>
          <p:cNvSpPr txBox="1"/>
          <p:nvPr/>
        </p:nvSpPr>
        <p:spPr>
          <a:xfrm>
            <a:off x="686800" y="3503186"/>
            <a:ext cx="21948577" cy="1184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CPU-ul:</a:t>
            </a:r>
          </a:p>
        </p:txBody>
      </p:sp>
      <p:sp>
        <p:nvSpPr>
          <p:cNvPr id="287" name="Este proiectat să fie un „generalist”, să execute o gamă largă de sarcini diverse, inclusiv cele complexe care necesită decizii și ramificații logice"/>
          <p:cNvSpPr txBox="1"/>
          <p:nvPr/>
        </p:nvSpPr>
        <p:spPr>
          <a:xfrm>
            <a:off x="1459869" y="4426553"/>
            <a:ext cx="21948577" cy="1807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Este proiectat să fie un „generalist”, să execute o gamă largă de sarcini diverse, inclusiv cele complexe care necesită decizii și ramificații logice</a:t>
            </a:r>
          </a:p>
        </p:txBody>
      </p:sp>
      <p:sp>
        <p:nvSpPr>
          <p:cNvPr id="288" name="Focusul este pe performanța per nucleu și capacitatea de a gestiona câteva fire de execuție în același timp"/>
          <p:cNvSpPr txBox="1"/>
          <p:nvPr/>
        </p:nvSpPr>
        <p:spPr>
          <a:xfrm>
            <a:off x="1459869" y="5977371"/>
            <a:ext cx="21948577" cy="194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Focusul este pe performanța per nucleu și capacitatea de a gestiona câteva fire de execuție în același timp</a:t>
            </a:r>
          </a:p>
        </p:txBody>
      </p:sp>
      <p:sp>
        <p:nvSpPr>
          <p:cNvPr id="289" name="GPU-ul:"/>
          <p:cNvSpPr txBox="1"/>
          <p:nvPr/>
        </p:nvSpPr>
        <p:spPr>
          <a:xfrm>
            <a:off x="686800" y="7877476"/>
            <a:ext cx="21948577" cy="118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GPU-ul:</a:t>
            </a:r>
          </a:p>
        </p:txBody>
      </p:sp>
      <p:sp>
        <p:nvSpPr>
          <p:cNvPr id="290" name="Este un „specialist”, proiectat pentru a procesa volume mari de date în paralel, mai ales operații repetate și simple, cum ar fi cele matematice (de exemplu, înmulțirea matricilor pentru grafica 3D sau machine learning)"/>
          <p:cNvSpPr txBox="1"/>
          <p:nvPr/>
        </p:nvSpPr>
        <p:spPr>
          <a:xfrm>
            <a:off x="1459869" y="8565617"/>
            <a:ext cx="21948577" cy="2583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Este un „specialist”, proiectat pentru a procesa volume mari de date în paralel, mai ales operații repetate și simple, cum ar fi cele matematice (de exemplu, înmulțirea matricilor pentru grafica 3D sau machine learning)</a:t>
            </a:r>
          </a:p>
        </p:txBody>
      </p:sp>
      <p:sp>
        <p:nvSpPr>
          <p:cNvPr id="291" name="Focusul este pe paralelism masiv, ceea ce înseamnă că are mii de nuclee mai simple, dar eficiente pentru calcule repetitive"/>
          <p:cNvSpPr txBox="1"/>
          <p:nvPr/>
        </p:nvSpPr>
        <p:spPr>
          <a:xfrm>
            <a:off x="1459869" y="11049947"/>
            <a:ext cx="21948577" cy="1949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Focusul este pe paralelism masiv, ceea ce înseamnă că are mii de nuclee mai simple, dar eficiente pentru calcule repetitive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cover dir="d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Accelerare hardware"/>
          <p:cNvSpPr txBox="1"/>
          <p:nvPr/>
        </p:nvSpPr>
        <p:spPr>
          <a:xfrm>
            <a:off x="8702592" y="863886"/>
            <a:ext cx="8875714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Accelerare hardware</a:t>
            </a:r>
          </a:p>
        </p:txBody>
      </p:sp>
      <p:sp>
        <p:nvSpPr>
          <p:cNvPr id="294" name="De ce CPU-urile au puține nuclee pe când GPU-urile pot avea mii de nuclee?"/>
          <p:cNvSpPr txBox="1"/>
          <p:nvPr/>
        </p:nvSpPr>
        <p:spPr>
          <a:xfrm>
            <a:off x="762644" y="2260616"/>
            <a:ext cx="21948578" cy="118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De ce CPU-urile au puține nuclee pe când GPU-urile pot avea mii de nuclee?</a:t>
            </a:r>
          </a:p>
        </p:txBody>
      </p:sp>
      <p:sp>
        <p:nvSpPr>
          <p:cNvPr id="295" name="GPU-urile au mii de nuclee pentru că fiecare nucleu este mic, simplu și dedicat unei părți a unei probleme masive și a căror operații se pot realiza independent"/>
          <p:cNvSpPr txBox="1"/>
          <p:nvPr/>
        </p:nvSpPr>
        <p:spPr>
          <a:xfrm>
            <a:off x="762644" y="5535162"/>
            <a:ext cx="21948578" cy="1855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GPU-urile au mii de nuclee pentru că fiecare nucleu este mic, simplu și dedicat unei părți a unei probleme masive și a căror operații se pot realiza independent</a:t>
            </a:r>
          </a:p>
        </p:txBody>
      </p:sp>
      <p:sp>
        <p:nvSpPr>
          <p:cNvPr id="296" name="CPU-urile au mai puține nuclee pentru că fiecare este mare, puternic și proiectat pentru sarcini complexe și diverse"/>
          <p:cNvSpPr txBox="1"/>
          <p:nvPr/>
        </p:nvSpPr>
        <p:spPr>
          <a:xfrm>
            <a:off x="762644" y="7550873"/>
            <a:ext cx="21948578" cy="1855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CPU-urile au mai puține nuclee pentru că fiecare este mare, puternic și proiectat pentru sarcini complexe și diverse</a:t>
            </a:r>
          </a:p>
        </p:txBody>
      </p:sp>
      <p:sp>
        <p:nvSpPr>
          <p:cNvPr id="297" name="Răspuns:"/>
          <p:cNvSpPr txBox="1"/>
          <p:nvPr/>
        </p:nvSpPr>
        <p:spPr>
          <a:xfrm>
            <a:off x="959181" y="4007960"/>
            <a:ext cx="280216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Răspuns: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circl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Accelerare hardware"/>
          <p:cNvSpPr txBox="1"/>
          <p:nvPr/>
        </p:nvSpPr>
        <p:spPr>
          <a:xfrm>
            <a:off x="8702592" y="863886"/>
            <a:ext cx="8875714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Accelerare hardware</a:t>
            </a:r>
          </a:p>
        </p:txBody>
      </p:sp>
      <p:sp>
        <p:nvSpPr>
          <p:cNvPr id="300" name="Ce alte operații des folosite pe matrice sunt paralelizabile GPU?"/>
          <p:cNvSpPr txBox="1"/>
          <p:nvPr/>
        </p:nvSpPr>
        <p:spPr>
          <a:xfrm>
            <a:off x="736371" y="2810489"/>
            <a:ext cx="21948578" cy="1184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Ce alte operații des folosite pe matrice sunt paralelizabile GPU?</a:t>
            </a:r>
          </a:p>
        </p:txBody>
      </p:sp>
      <p:sp>
        <p:nvSpPr>
          <p:cNvPr id="301" name="Înmulțirea"/>
          <p:cNvSpPr txBox="1"/>
          <p:nvPr/>
        </p:nvSpPr>
        <p:spPr>
          <a:xfrm>
            <a:off x="1699051" y="3961389"/>
            <a:ext cx="21948578" cy="118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Înmulțirea</a:t>
            </a:r>
          </a:p>
        </p:txBody>
      </p:sp>
      <p:sp>
        <p:nvSpPr>
          <p:cNvPr id="302" name="Convoluția"/>
          <p:cNvSpPr txBox="1"/>
          <p:nvPr/>
        </p:nvSpPr>
        <p:spPr>
          <a:xfrm>
            <a:off x="1699051" y="5033390"/>
            <a:ext cx="21948578" cy="1184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Convoluția</a:t>
            </a:r>
          </a:p>
        </p:txBody>
      </p:sp>
      <p:sp>
        <p:nvSpPr>
          <p:cNvPr id="303" name="Ecuație"/>
          <p:cNvSpPr txBox="1"/>
          <p:nvPr/>
        </p:nvSpPr>
        <p:spPr>
          <a:xfrm>
            <a:off x="6025713" y="6456860"/>
            <a:ext cx="11369894" cy="137464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m>
                        <m:mPr>
                          <m:ctrl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m>
                        <m:mPr>
                          <m:ctrl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m>
                        <m:mPr>
                          <m:ctrl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</m:oMath>
              </m:oMathPara>
            </a14:m>
            <a:endParaRPr sz="4400"/>
          </a:p>
        </p:txBody>
      </p:sp>
      <p:sp>
        <p:nvSpPr>
          <p:cNvPr id="304" name="Ecuație"/>
          <p:cNvSpPr txBox="1"/>
          <p:nvPr/>
        </p:nvSpPr>
        <p:spPr>
          <a:xfrm>
            <a:off x="7733959" y="8336160"/>
            <a:ext cx="7953402" cy="56410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  <m:sty m:val="b"/>
                    </m:rP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Înmulțire de matrice: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</m:oMath>
              </m:oMathPara>
            </a14:m>
            <a:endParaRPr sz="4400"/>
          </a:p>
        </p:txBody>
      </p:sp>
      <p:sp>
        <p:nvSpPr>
          <p:cNvPr id="305" name="c11 = a11*b11+a12*b21"/>
          <p:cNvSpPr txBox="1"/>
          <p:nvPr/>
        </p:nvSpPr>
        <p:spPr>
          <a:xfrm>
            <a:off x="2508652" y="9210131"/>
            <a:ext cx="21948577" cy="118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c11 = a11*b11+a12*b21</a:t>
            </a:r>
          </a:p>
        </p:txBody>
      </p:sp>
      <p:sp>
        <p:nvSpPr>
          <p:cNvPr id="306" name="c12 = a11*b12+a12*b22"/>
          <p:cNvSpPr txBox="1"/>
          <p:nvPr/>
        </p:nvSpPr>
        <p:spPr>
          <a:xfrm>
            <a:off x="2508652" y="10293605"/>
            <a:ext cx="21948577" cy="1184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c12 = a11*b12+a12*b22</a:t>
            </a:r>
          </a:p>
        </p:txBody>
      </p:sp>
      <p:sp>
        <p:nvSpPr>
          <p:cNvPr id="307" name="c21 = a21*b11+a22*b21"/>
          <p:cNvSpPr txBox="1"/>
          <p:nvPr/>
        </p:nvSpPr>
        <p:spPr>
          <a:xfrm>
            <a:off x="2508652" y="11292816"/>
            <a:ext cx="21948577" cy="118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c21 = a21*b11+a22*b21</a:t>
            </a:r>
          </a:p>
        </p:txBody>
      </p:sp>
      <p:sp>
        <p:nvSpPr>
          <p:cNvPr id="308" name="c22 = a21*b12+a22*b22"/>
          <p:cNvSpPr txBox="1"/>
          <p:nvPr/>
        </p:nvSpPr>
        <p:spPr>
          <a:xfrm>
            <a:off x="2508652" y="12197215"/>
            <a:ext cx="21948577" cy="118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c22 = a21*b12+a22*b22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Accelerare hardware"/>
          <p:cNvSpPr txBox="1"/>
          <p:nvPr/>
        </p:nvSpPr>
        <p:spPr>
          <a:xfrm>
            <a:off x="8702592" y="863886"/>
            <a:ext cx="8875714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Accelerare hardware</a:t>
            </a:r>
          </a:p>
        </p:txBody>
      </p:sp>
      <p:sp>
        <p:nvSpPr>
          <p:cNvPr id="311" name="Ecuație"/>
          <p:cNvSpPr txBox="1"/>
          <p:nvPr/>
        </p:nvSpPr>
        <p:spPr>
          <a:xfrm>
            <a:off x="5551685" y="2968014"/>
            <a:ext cx="11369894" cy="137464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m>
                        <m:mPr>
                          <m:ctrl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m>
                        <m:mPr>
                          <m:ctrl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m>
                        <m:mPr>
                          <m:ctrl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</m:oMath>
              </m:oMathPara>
            </a14:m>
            <a:endParaRPr sz="4400"/>
          </a:p>
        </p:txBody>
      </p:sp>
      <p:sp>
        <p:nvSpPr>
          <p:cNvPr id="312" name="Ecuație"/>
          <p:cNvSpPr txBox="1"/>
          <p:nvPr/>
        </p:nvSpPr>
        <p:spPr>
          <a:xfrm>
            <a:off x="7259932" y="4847314"/>
            <a:ext cx="7953401" cy="56410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  <m:sty m:val="b"/>
                    </m:rP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Înmulțire de matrice: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</m:oMath>
              </m:oMathPara>
            </a14:m>
            <a:endParaRPr sz="4400"/>
          </a:p>
        </p:txBody>
      </p:sp>
      <p:sp>
        <p:nvSpPr>
          <p:cNvPr id="313" name="c11 = a11*b11+a12*b21"/>
          <p:cNvSpPr txBox="1"/>
          <p:nvPr/>
        </p:nvSpPr>
        <p:spPr>
          <a:xfrm>
            <a:off x="1807090" y="5269754"/>
            <a:ext cx="21948578" cy="118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c11 = a11*b11+a12*b21</a:t>
            </a:r>
          </a:p>
        </p:txBody>
      </p:sp>
      <p:sp>
        <p:nvSpPr>
          <p:cNvPr id="314" name="c12 = a11*b12+a12*b22"/>
          <p:cNvSpPr txBox="1"/>
          <p:nvPr/>
        </p:nvSpPr>
        <p:spPr>
          <a:xfrm>
            <a:off x="1807090" y="6353228"/>
            <a:ext cx="21948578" cy="1184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c12 = a11*b12+a12*b22</a:t>
            </a:r>
          </a:p>
        </p:txBody>
      </p:sp>
      <p:sp>
        <p:nvSpPr>
          <p:cNvPr id="315" name="c21 = a21*b11+a22*b21"/>
          <p:cNvSpPr txBox="1"/>
          <p:nvPr/>
        </p:nvSpPr>
        <p:spPr>
          <a:xfrm>
            <a:off x="1807090" y="7352439"/>
            <a:ext cx="21948578" cy="118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c21 = a21*b11+a22*b21</a:t>
            </a:r>
          </a:p>
        </p:txBody>
      </p:sp>
      <p:sp>
        <p:nvSpPr>
          <p:cNvPr id="316" name="c22 = a21*b12+a22*b22"/>
          <p:cNvSpPr txBox="1"/>
          <p:nvPr/>
        </p:nvSpPr>
        <p:spPr>
          <a:xfrm>
            <a:off x="1807090" y="8256838"/>
            <a:ext cx="21948578" cy="118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c22 = a21*b12+a22*b22</a:t>
            </a:r>
          </a:p>
        </p:txBody>
      </p:sp>
      <p:sp>
        <p:nvSpPr>
          <p:cNvPr id="317" name="Pentru un CPU, fiecare element al matricei rezultate e calculat pas cu pas, mai întâi c11, după c12, după c21 și la final c22"/>
          <p:cNvSpPr txBox="1"/>
          <p:nvPr/>
        </p:nvSpPr>
        <p:spPr>
          <a:xfrm>
            <a:off x="796423" y="9299209"/>
            <a:ext cx="21948578" cy="1834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Pentru un CPU, fiecare element al matricei rezultate e calculat pas cu pas, mai întâi c11, după c12, după c21 și la final c22</a:t>
            </a:r>
          </a:p>
        </p:txBody>
      </p:sp>
      <p:sp>
        <p:nvSpPr>
          <p:cNvPr id="318" name="GPU-ul aloca un nucleu separat pentru fiecare element din c, deci c11,c12,c21 și c22 vor fi calculați în același timp"/>
          <p:cNvSpPr txBox="1"/>
          <p:nvPr/>
        </p:nvSpPr>
        <p:spPr>
          <a:xfrm>
            <a:off x="796423" y="10999982"/>
            <a:ext cx="21948578" cy="1834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GPU-ul aloca un nucleu separat pentru fiecare element din c, deci c11,c12,c21 și c22 vor fi calculați în același timp</a:t>
            </a:r>
          </a:p>
        </p:txBody>
      </p:sp>
      <p:pic>
        <p:nvPicPr>
          <p:cNvPr id="319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72652" y="12580366"/>
            <a:ext cx="3549986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19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Accelerare hardware"/>
          <p:cNvSpPr txBox="1"/>
          <p:nvPr/>
        </p:nvSpPr>
        <p:spPr>
          <a:xfrm>
            <a:off x="8702592" y="863886"/>
            <a:ext cx="8875714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Accelerare hardware</a:t>
            </a:r>
          </a:p>
        </p:txBody>
      </p:sp>
      <p:sp>
        <p:nvSpPr>
          <p:cNvPr id="323" name="Convoluția e o altă operație utilă care poate fi paralelizabilă pe un GPU"/>
          <p:cNvSpPr txBox="1"/>
          <p:nvPr/>
        </p:nvSpPr>
        <p:spPr>
          <a:xfrm>
            <a:off x="667839" y="3075944"/>
            <a:ext cx="21948577" cy="118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Convoluția e o altă operație utilă care poate fi paralelizabilă pe un GPU</a:t>
            </a:r>
          </a:p>
        </p:txBody>
      </p:sp>
      <p:sp>
        <p:nvSpPr>
          <p:cNvPr id="324" name="Vom vorbi despre ea mai în detaliu laboratoarele viitoare, dar vă dau doar un mic teaser"/>
          <p:cNvSpPr txBox="1"/>
          <p:nvPr/>
        </p:nvSpPr>
        <p:spPr>
          <a:xfrm>
            <a:off x="667839" y="4283728"/>
            <a:ext cx="22899226" cy="1371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Vom vorbi despre ea mai în detaliu laboratoarele viitoare, dar vă dau doar un mic teaser</a:t>
            </a:r>
          </a:p>
        </p:txBody>
      </p:sp>
      <p:sp>
        <p:nvSpPr>
          <p:cNvPr id="325" name="Convoluția presupune aplicarea unei matrici filtru (numit kernel) K asupra unei matrici de intrare"/>
          <p:cNvSpPr txBox="1"/>
          <p:nvPr/>
        </p:nvSpPr>
        <p:spPr>
          <a:xfrm>
            <a:off x="667839" y="5541736"/>
            <a:ext cx="23419917" cy="1926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Convoluția presupune aplicarea unei matrici filtru (numit kernel) K asupra unei matrici de intrare</a:t>
            </a:r>
          </a:p>
        </p:txBody>
      </p:sp>
      <p:pic>
        <p:nvPicPr>
          <p:cNvPr id="326" name="54273conventionalConvolution.gif" descr="54273conventionalConvolution.gif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94750" y="8052308"/>
            <a:ext cx="6794500" cy="3797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14:flip dir="l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Conceptul de tensor"/>
          <p:cNvSpPr txBox="1"/>
          <p:nvPr>
            <p:ph type="title"/>
          </p:nvPr>
        </p:nvSpPr>
        <p:spPr>
          <a:xfrm>
            <a:off x="915822" y="11731"/>
            <a:ext cx="21945601" cy="1727201"/>
          </a:xfrm>
          <a:prstGeom prst="rect">
            <a:avLst/>
          </a:prstGeom>
        </p:spPr>
        <p:txBody>
          <a:bodyPr/>
          <a:lstStyle/>
          <a:p>
            <a:pPr/>
            <a:r>
              <a:t>Conceptul de tensor</a:t>
            </a:r>
          </a:p>
        </p:txBody>
      </p:sp>
      <p:sp>
        <p:nvSpPr>
          <p:cNvPr id="329" name="Încă un avantaj enorm al tensorilor în PyTorch:"/>
          <p:cNvSpPr txBox="1"/>
          <p:nvPr>
            <p:ph type="body" sz="quarter" idx="1"/>
          </p:nvPr>
        </p:nvSpPr>
        <p:spPr>
          <a:xfrm>
            <a:off x="1535713" y="3460505"/>
            <a:ext cx="21948578" cy="1166885"/>
          </a:xfrm>
          <a:prstGeom prst="rect">
            <a:avLst/>
          </a:prstGeom>
        </p:spPr>
        <p:txBody>
          <a:bodyPr/>
          <a:lstStyle/>
          <a:p>
            <a:pPr/>
            <a:r>
              <a:t>Încă un avantaj enorm al tensorilor în PyTorch:</a:t>
            </a:r>
          </a:p>
        </p:txBody>
      </p:sp>
      <p:sp>
        <p:nvSpPr>
          <p:cNvPr id="330" name="Automatic Differentiation"/>
          <p:cNvSpPr txBox="1"/>
          <p:nvPr/>
        </p:nvSpPr>
        <p:spPr>
          <a:xfrm>
            <a:off x="7045705" y="6894719"/>
            <a:ext cx="10978357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Automatic Differentiation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advClick="1" p14:dur="2000">
        <p15:prstTrans prst="peelOff" invX="1"/>
      </p:transition>
    </mc:Choice>
    <mc:Choice xmlns:p14="http://schemas.microsoft.com/office/powerpoint/2010/main" Requires="p14">
      <p:transition spd="slow" advClick="1" p14:dur="2000">
        <p:peelOff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mph" nodeType="afterEffect" presetSubtype="0" presetID="6" grpId="3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1000" fill="hold"/>
                                        <p:tgtEl>
                                          <p:spTgt spid="330"/>
                                        </p:tgtEl>
                                      </p:cBhvr>
                                      <p:by x="181034" y="181034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30" grpId="3"/>
      <p:bldP build="whole" bldLvl="1" animBg="1" rev="0" advAuto="0" spid="329" grpId="1"/>
      <p:bldP build="whole" bldLvl="1" animBg="1" rev="0" advAuto="0" spid="330" grpId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resupune calculul derivatelor parțiale ale unei funcții și obținerea valorii numerice"/>
          <p:cNvSpPr txBox="1"/>
          <p:nvPr>
            <p:ph type="body" sz="quarter" idx="1"/>
          </p:nvPr>
        </p:nvSpPr>
        <p:spPr>
          <a:xfrm>
            <a:off x="1535713" y="3460505"/>
            <a:ext cx="21948578" cy="1166885"/>
          </a:xfrm>
          <a:prstGeom prst="rect">
            <a:avLst/>
          </a:prstGeom>
        </p:spPr>
        <p:txBody>
          <a:bodyPr/>
          <a:lstStyle/>
          <a:p>
            <a:pPr/>
            <a:r>
              <a:t>Presupune calculul derivatelor parțiale ale unei funcții și obținerea valorii numerice</a:t>
            </a:r>
          </a:p>
        </p:txBody>
      </p:sp>
      <p:sp>
        <p:nvSpPr>
          <p:cNvPr id="333" name="Automatic Differentiation"/>
          <p:cNvSpPr txBox="1"/>
          <p:nvPr/>
        </p:nvSpPr>
        <p:spPr>
          <a:xfrm>
            <a:off x="7349083" y="580666"/>
            <a:ext cx="10978358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Automatic Differentiation</a:t>
            </a:r>
          </a:p>
        </p:txBody>
      </p:sp>
      <p:sp>
        <p:nvSpPr>
          <p:cNvPr id="334" name="De exemplu, fie următoarea funcție:"/>
          <p:cNvSpPr txBox="1"/>
          <p:nvPr/>
        </p:nvSpPr>
        <p:spPr>
          <a:xfrm>
            <a:off x="1535713" y="4516599"/>
            <a:ext cx="21948578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De exemplu, fie următoarea funcție:  </a:t>
            </a:r>
            <a14:m>
              <m:oMath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⋅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335" name="Să zicem că vrem să calculăm derivata parțială în funcție de x în punctul x = 2"/>
          <p:cNvSpPr txBox="1"/>
          <p:nvPr/>
        </p:nvSpPr>
        <p:spPr>
          <a:xfrm>
            <a:off x="1535713" y="5895033"/>
            <a:ext cx="21948578" cy="1166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Să zicem că vrem să calculăm derivata parțială în funcție de x în punctul x = 2</a:t>
            </a:r>
          </a:p>
        </p:txBody>
      </p:sp>
      <p:sp>
        <p:nvSpPr>
          <p:cNvPr id="336" name="De asemenea, să zicem că vrem să calculăm derivata parțială în funcție de y în punctul y = 5"/>
          <p:cNvSpPr txBox="1"/>
          <p:nvPr/>
        </p:nvSpPr>
        <p:spPr>
          <a:xfrm>
            <a:off x="1535713" y="7008012"/>
            <a:ext cx="21948578" cy="1927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De asemenea, să zicem că vrem să calculăm derivata parțială în funcție de y în punctul y = 5</a:t>
            </a:r>
          </a:p>
        </p:txBody>
      </p:sp>
      <p:pic>
        <p:nvPicPr>
          <p:cNvPr id="337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02002" y="4332057"/>
            <a:ext cx="7077878" cy="101601"/>
          </a:xfrm>
          <a:prstGeom prst="rect">
            <a:avLst/>
          </a:prstGeom>
        </p:spPr>
      </p:pic>
      <p:pic>
        <p:nvPicPr>
          <p:cNvPr id="339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629853" y="4332057"/>
            <a:ext cx="4287557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37" grpId="1"/>
      <p:bldP build="whole" bldLvl="1" animBg="1" rev="0" advAuto="0" spid="339" grpId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Automatic Differentiation"/>
          <p:cNvSpPr txBox="1"/>
          <p:nvPr/>
        </p:nvSpPr>
        <p:spPr>
          <a:xfrm>
            <a:off x="7349083" y="580666"/>
            <a:ext cx="10978358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Automatic Differentiation</a:t>
            </a:r>
          </a:p>
        </p:txBody>
      </p:sp>
      <p:sp>
        <p:nvSpPr>
          <p:cNvPr id="343" name="De exemplu, fie următoarea funcție:"/>
          <p:cNvSpPr txBox="1"/>
          <p:nvPr/>
        </p:nvSpPr>
        <p:spPr>
          <a:xfrm>
            <a:off x="1497791" y="2222304"/>
            <a:ext cx="21948578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De exemplu, fie următoarea funcție:  </a:t>
            </a:r>
            <a14:m>
              <m:oMath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⋅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344" name="Să zicem că vrem să calculăm derivata parțială în funcție de x în punctul x = 2"/>
          <p:cNvSpPr txBox="1"/>
          <p:nvPr/>
        </p:nvSpPr>
        <p:spPr>
          <a:xfrm>
            <a:off x="1497791" y="3600738"/>
            <a:ext cx="21948578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Să zicem că vrem să calculăm derivata parțială în funcție de x în punctul x = 2</a:t>
            </a:r>
          </a:p>
        </p:txBody>
      </p:sp>
      <p:sp>
        <p:nvSpPr>
          <p:cNvPr id="345" name="De asemenea, să zicem că vrem să calculăm derivata parțială în funcție de y în punctul y = 5"/>
          <p:cNvSpPr txBox="1"/>
          <p:nvPr/>
        </p:nvSpPr>
        <p:spPr>
          <a:xfrm>
            <a:off x="1497791" y="4713716"/>
            <a:ext cx="21948578" cy="1927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De asemenea, să zicem că vrem să calculăm derivata parțială în funcție de y în punctul y = 5</a:t>
            </a:r>
          </a:p>
        </p:txBody>
      </p:sp>
      <p:pic>
        <p:nvPicPr>
          <p:cNvPr id="346" name="Captură de ecran din 2024-11-17 la 22.28.12.png" descr="Captură de ecran din 2024-11-17 la 22.28.1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02273" y="6610658"/>
            <a:ext cx="9939614" cy="62122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Automatic Differentiation"/>
          <p:cNvSpPr txBox="1"/>
          <p:nvPr/>
        </p:nvSpPr>
        <p:spPr>
          <a:xfrm>
            <a:off x="7349083" y="580666"/>
            <a:ext cx="10978358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Automatic Differentiation</a:t>
            </a:r>
          </a:p>
        </p:txBody>
      </p:sp>
      <p:pic>
        <p:nvPicPr>
          <p:cNvPr id="349" name="Captură de ecran din 2024-11-17 la 22.28.12.png" descr="Captură de ecran din 2024-11-17 la 22.28.1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22193" y="2116873"/>
            <a:ext cx="9939614" cy="6212259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Ecuație"/>
          <p:cNvSpPr txBox="1"/>
          <p:nvPr/>
        </p:nvSpPr>
        <p:spPr>
          <a:xfrm>
            <a:off x="2185764" y="8989367"/>
            <a:ext cx="6739688" cy="11980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f>
                    <m:f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den>
                  </m:f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den>
                  </m:f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</m:oMath>
              </m:oMathPara>
            </a14:m>
            <a:endParaRPr sz="4400"/>
          </a:p>
        </p:txBody>
      </p:sp>
      <p:sp>
        <p:nvSpPr>
          <p:cNvPr id="351" name="Ecuație"/>
          <p:cNvSpPr txBox="1"/>
          <p:nvPr/>
        </p:nvSpPr>
        <p:spPr>
          <a:xfrm>
            <a:off x="14941163" y="8934884"/>
            <a:ext cx="7243545" cy="130703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f>
                    <m:f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den>
                  </m:f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den>
                  </m:f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</m:oMath>
              </m:oMathPara>
            </a14:m>
            <a:endParaRPr sz="4400"/>
          </a:p>
        </p:txBody>
      </p:sp>
      <p:sp>
        <p:nvSpPr>
          <p:cNvPr id="352" name="Ecuație"/>
          <p:cNvSpPr txBox="1"/>
          <p:nvPr/>
        </p:nvSpPr>
        <p:spPr>
          <a:xfrm>
            <a:off x="2143799" y="10986937"/>
            <a:ext cx="4182017" cy="171415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f>
                    <m:f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den>
                  </m:f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4</m:t>
                  </m:r>
                </m:oMath>
              </m:oMathPara>
            </a14:m>
            <a:endParaRPr sz="4400"/>
          </a:p>
        </p:txBody>
      </p:sp>
      <p:sp>
        <p:nvSpPr>
          <p:cNvPr id="353" name="Ecuație"/>
          <p:cNvSpPr txBox="1"/>
          <p:nvPr/>
        </p:nvSpPr>
        <p:spPr>
          <a:xfrm>
            <a:off x="14823813" y="10702520"/>
            <a:ext cx="5481323" cy="179151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f>
                    <m:f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den>
                  </m:f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5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10</m:t>
                  </m:r>
                </m:oMath>
              </m:oMathPara>
            </a14:m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Automatic Differentiation"/>
          <p:cNvSpPr txBox="1"/>
          <p:nvPr/>
        </p:nvSpPr>
        <p:spPr>
          <a:xfrm>
            <a:off x="7349083" y="580666"/>
            <a:ext cx="10978358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Automatic Differentiation</a:t>
            </a:r>
          </a:p>
        </p:txBody>
      </p:sp>
      <p:sp>
        <p:nvSpPr>
          <p:cNvPr id="356" name="Totuși, în ce caz e util să obținem derivata parțială a unei funcții în raport cu niște variabile?"/>
          <p:cNvSpPr txBox="1"/>
          <p:nvPr>
            <p:ph type="body" sz="quarter" idx="1"/>
          </p:nvPr>
        </p:nvSpPr>
        <p:spPr>
          <a:xfrm>
            <a:off x="1217711" y="1912107"/>
            <a:ext cx="21948578" cy="1993249"/>
          </a:xfrm>
          <a:prstGeom prst="rect">
            <a:avLst/>
          </a:prstGeom>
        </p:spPr>
        <p:txBody>
          <a:bodyPr/>
          <a:lstStyle/>
          <a:p>
            <a:pPr/>
            <a:r>
              <a:t>Totuși, în ce caz e util să obținem derivata parțială a unei funcții în raport cu niște variabile?</a:t>
            </a:r>
          </a:p>
        </p:txBody>
      </p:sp>
      <p:sp>
        <p:nvSpPr>
          <p:cNvPr id="357" name="Ecuație"/>
          <p:cNvSpPr txBox="1"/>
          <p:nvPr/>
        </p:nvSpPr>
        <p:spPr>
          <a:xfrm>
            <a:off x="7937219" y="6478258"/>
            <a:ext cx="8657925" cy="218027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</m:rP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Eroare</m:t>
                  </m:r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den>
                  </m:f>
                  <m:limUpp>
                    <m:e>
                      <m:limLow>
                        <m:e>
                          <m:r>
                            <a:rPr xmlns:a="http://schemas.openxmlformats.org/drawingml/2006/main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sSup>
                    <m:e>
                      <m:d>
                        <m:dPr>
                          <m:ctrlPr>
                            <a:rPr xmlns:a="http://schemas.openxmlformats.org/drawingml/2006/main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xmlns:a="http://schemas.openxmlformats.org/drawingml/2006/main" sz="6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xmlns:a="http://schemas.openxmlformats.org/drawingml/2006/main" sz="6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xmlns:a="http://schemas.openxmlformats.org/drawingml/2006/main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sSub>
                            <m:e>
                              <m:limUpp>
                                <m:e>
                                  <m:r>
                                    <a:rPr xmlns:a="http://schemas.openxmlformats.org/drawingml/2006/main" sz="6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lim>
                                  <m:r>
                                    <a:rPr xmlns:a="http://schemas.openxmlformats.org/drawingml/2006/main" sz="6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̂</m:t>
                                  </m:r>
                                </m:lim>
                              </m:limUpp>
                            </m:e>
                            <m:sub>
                              <m:r>
                                <a:rPr xmlns:a="http://schemas.openxmlformats.org/drawingml/2006/main" sz="6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e>
                    <m:sup>
                      <m: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oMath>
              </m:oMathPara>
            </a14:m>
            <a:endParaRPr sz="6400"/>
          </a:p>
        </p:txBody>
      </p:sp>
      <p:sp>
        <p:nvSpPr>
          <p:cNvPr id="358" name="Ecuație"/>
          <p:cNvSpPr txBox="1"/>
          <p:nvPr/>
        </p:nvSpPr>
        <p:spPr>
          <a:xfrm>
            <a:off x="6711719" y="9403247"/>
            <a:ext cx="10994764" cy="173451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nou</m:t>
                      </m:r>
                    </m:sub>
                  </m:sSub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vechi</m:t>
                      </m:r>
                    </m:sub>
                  </m:sSub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α</m:t>
                  </m:r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f>
                    <m:fPr>
                      <m:ctrlP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den>
                  </m:f>
                  <m:r>
                    <m:rPr>
                      <m:nor/>
                    </m:rP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Eroare</m:t>
                  </m:r>
                </m:oMath>
              </m:oMathPara>
            </a14:m>
            <a:endParaRPr sz="6400"/>
          </a:p>
        </p:txBody>
      </p:sp>
      <p:sp>
        <p:nvSpPr>
          <p:cNvPr id="359" name="Ecuație"/>
          <p:cNvSpPr txBox="1"/>
          <p:nvPr/>
        </p:nvSpPr>
        <p:spPr>
          <a:xfrm>
            <a:off x="6986851" y="11749127"/>
            <a:ext cx="10438889" cy="173451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nou</m:t>
                      </m:r>
                    </m:sub>
                  </m:sSub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vechi</m:t>
                      </m:r>
                    </m:sub>
                  </m:sSub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α</m:t>
                  </m:r>
                  <m: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f>
                    <m:fPr>
                      <m:ctrlP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den>
                  </m:f>
                  <m:r>
                    <m:rPr>
                      <m:nor/>
                    </m:rPr>
                    <a:rPr xmlns:a="http://schemas.openxmlformats.org/drawingml/2006/main" sz="6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Eroare</m:t>
                  </m:r>
                </m:oMath>
              </m:oMathPara>
            </a14:m>
            <a:endParaRPr sz="6400"/>
          </a:p>
        </p:txBody>
      </p:sp>
      <p:pic>
        <p:nvPicPr>
          <p:cNvPr id="360" name="Oval Oval" descr="Oval Oval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68366" y="6404802"/>
            <a:ext cx="3127712" cy="2082801"/>
          </a:xfrm>
          <a:prstGeom prst="rect">
            <a:avLst/>
          </a:prstGeom>
        </p:spPr>
      </p:pic>
      <p:pic>
        <p:nvPicPr>
          <p:cNvPr id="362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11872267">
            <a:off x="7000103" y="5755799"/>
            <a:ext cx="2648363" cy="405591"/>
          </a:xfrm>
          <a:prstGeom prst="rect">
            <a:avLst/>
          </a:prstGeom>
        </p:spPr>
      </p:pic>
      <p:sp>
        <p:nvSpPr>
          <p:cNvPr id="364" name="Funcția de cost"/>
          <p:cNvSpPr txBox="1"/>
          <p:nvPr/>
        </p:nvSpPr>
        <p:spPr>
          <a:xfrm>
            <a:off x="2948345" y="5399346"/>
            <a:ext cx="3842544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Funcția de cost</a:t>
            </a:r>
          </a:p>
        </p:txBody>
      </p:sp>
      <p:pic>
        <p:nvPicPr>
          <p:cNvPr id="365" name="Oval Oval" descr="Oval Oval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69632" y="8902036"/>
            <a:ext cx="4312412" cy="2736940"/>
          </a:xfrm>
          <a:prstGeom prst="rect">
            <a:avLst/>
          </a:prstGeom>
        </p:spPr>
      </p:pic>
      <p:pic>
        <p:nvPicPr>
          <p:cNvPr id="367" name="Oval Oval" descr="Oval Oval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69632" y="11444962"/>
            <a:ext cx="4312412" cy="2736940"/>
          </a:xfrm>
          <a:prstGeom prst="rect">
            <a:avLst/>
          </a:prstGeom>
        </p:spPr>
      </p:pic>
      <p:pic>
        <p:nvPicPr>
          <p:cNvPr id="369" name="Linie Linie" descr="Linie Lini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1563054">
            <a:off x="18092567" y="10706373"/>
            <a:ext cx="2202648" cy="405591"/>
          </a:xfrm>
          <a:prstGeom prst="rect">
            <a:avLst/>
          </a:prstGeom>
        </p:spPr>
      </p:pic>
      <p:pic>
        <p:nvPicPr>
          <p:cNvPr id="371" name="Linie Linie" descr="Linie Lini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rot="19801767">
            <a:off x="18173935" y="12601664"/>
            <a:ext cx="2040744" cy="405592"/>
          </a:xfrm>
          <a:prstGeom prst="rect">
            <a:avLst/>
          </a:prstGeom>
        </p:spPr>
      </p:pic>
      <p:sp>
        <p:nvSpPr>
          <p:cNvPr id="373" name="Derivata funcției…"/>
          <p:cNvSpPr txBox="1"/>
          <p:nvPr/>
        </p:nvSpPr>
        <p:spPr>
          <a:xfrm>
            <a:off x="20115362" y="11167431"/>
            <a:ext cx="4615534" cy="1813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2438338">
              <a:defRPr sz="2700"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Derivata funcției </a:t>
            </a:r>
          </a:p>
          <a:p>
            <a:pPr defTabSz="2438338">
              <a:defRPr sz="2700"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de cost în raport cu parametri</a:t>
            </a:r>
          </a:p>
        </p:txBody>
      </p:sp>
      <p:pic>
        <p:nvPicPr>
          <p:cNvPr id="374" name="Oval Oval" descr="Oval Oval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218107" y="9267205"/>
            <a:ext cx="2840866" cy="2006601"/>
          </a:xfrm>
          <a:prstGeom prst="rect">
            <a:avLst/>
          </a:prstGeom>
        </p:spPr>
      </p:pic>
      <p:pic>
        <p:nvPicPr>
          <p:cNvPr id="376" name="Oval Oval" descr="Oval Oval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513660" y="11749127"/>
            <a:ext cx="2840865" cy="2006601"/>
          </a:xfrm>
          <a:prstGeom prst="rect">
            <a:avLst/>
          </a:prstGeom>
        </p:spPr>
      </p:pic>
      <p:pic>
        <p:nvPicPr>
          <p:cNvPr id="378" name="Linie Linie" descr="Linie Linie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 rot="11750882">
            <a:off x="3981856" y="9524099"/>
            <a:ext cx="2203016" cy="405591"/>
          </a:xfrm>
          <a:prstGeom prst="rect">
            <a:avLst/>
          </a:prstGeom>
        </p:spPr>
      </p:pic>
      <p:pic>
        <p:nvPicPr>
          <p:cNvPr id="380" name="Linie Linie" descr="Linie Linie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 rot="12849036">
            <a:off x="3546136" y="11125622"/>
            <a:ext cx="3080387" cy="405592"/>
          </a:xfrm>
          <a:prstGeom prst="rect">
            <a:avLst/>
          </a:prstGeom>
        </p:spPr>
      </p:pic>
      <p:sp>
        <p:nvSpPr>
          <p:cNvPr id="382" name="Parametri…"/>
          <p:cNvSpPr txBox="1"/>
          <p:nvPr/>
        </p:nvSpPr>
        <p:spPr>
          <a:xfrm>
            <a:off x="1136130" y="9150365"/>
            <a:ext cx="2373189" cy="224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2438338">
              <a:defRPr sz="3800"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Parametri </a:t>
            </a:r>
          </a:p>
          <a:p>
            <a:pPr defTabSz="2438338">
              <a:defRPr sz="3800"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modelului</a:t>
            </a:r>
          </a:p>
        </p:txBody>
      </p:sp>
      <p:pic>
        <p:nvPicPr>
          <p:cNvPr id="383" name="Cerc Cerc" descr="Cerc Cerc"/>
          <p:cNvPicPr>
            <a:picLocks noChangeAspect="0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3511536" y="6773102"/>
            <a:ext cx="1346201" cy="1346201"/>
          </a:xfrm>
          <a:prstGeom prst="rect">
            <a:avLst/>
          </a:prstGeom>
        </p:spPr>
      </p:pic>
      <p:pic>
        <p:nvPicPr>
          <p:cNvPr id="385" name="Linie Linie" descr="Linie Linie"/>
          <p:cNvPicPr>
            <a:picLocks noChangeAspect="0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 rot="19952439">
            <a:off x="13876241" y="5960910"/>
            <a:ext cx="1611427" cy="405591"/>
          </a:xfrm>
          <a:prstGeom prst="rect">
            <a:avLst/>
          </a:prstGeom>
        </p:spPr>
      </p:pic>
      <p:sp>
        <p:nvSpPr>
          <p:cNvPr id="387" name="model(X)"/>
          <p:cNvSpPr txBox="1"/>
          <p:nvPr/>
        </p:nvSpPr>
        <p:spPr>
          <a:xfrm>
            <a:off x="15131648" y="5030777"/>
            <a:ext cx="2474740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model(X)</a:t>
            </a:r>
          </a:p>
        </p:txBody>
      </p:sp>
      <p:sp>
        <p:nvSpPr>
          <p:cNvPr id="388" name="Haideți să revedem gradient descent"/>
          <p:cNvSpPr txBox="1"/>
          <p:nvPr/>
        </p:nvSpPr>
        <p:spPr>
          <a:xfrm>
            <a:off x="1217711" y="3740292"/>
            <a:ext cx="21948578" cy="1050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Haideți să revedem gradient descent</a:t>
            </a:r>
          </a:p>
        </p:txBody>
      </p:sp>
      <p:pic>
        <p:nvPicPr>
          <p:cNvPr id="389" name="Linie Linie" descr="Linie Linie"/>
          <p:cNvPicPr>
            <a:picLocks noChangeAspect="0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 rot="8100000">
            <a:off x="17243425" y="8220432"/>
            <a:ext cx="2003278" cy="405592"/>
          </a:xfrm>
          <a:prstGeom prst="rect">
            <a:avLst/>
          </a:prstGeom>
        </p:spPr>
      </p:pic>
      <p:pic>
        <p:nvPicPr>
          <p:cNvPr id="391" name="Linie Linie" descr="Linie Linie"/>
          <p:cNvPicPr>
            <a:picLocks noChangeAspect="0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 rot="6555196">
            <a:off x="16731399" y="10093514"/>
            <a:ext cx="3800785" cy="405592"/>
          </a:xfrm>
          <a:prstGeom prst="rect">
            <a:avLst/>
          </a:prstGeom>
        </p:spPr>
      </p:pic>
      <p:sp>
        <p:nvSpPr>
          <p:cNvPr id="393" name="Aici calculăm…"/>
          <p:cNvSpPr txBox="1"/>
          <p:nvPr/>
        </p:nvSpPr>
        <p:spPr>
          <a:xfrm>
            <a:off x="19187041" y="6650619"/>
            <a:ext cx="4103663" cy="161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Aici calculăm </a:t>
            </a:r>
          </a:p>
          <a:p>
            <a:pPr/>
            <a:r>
              <a:t>gradienți!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32" presetID="4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19" dur="5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"/>
                            </p:stCondLst>
                            <p:childTnLst>
                              <p:par>
                                <p:cTn id="21" presetClass="entr" nodeType="afterEffect" presetSubtype="32" presetID="4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23" dur="5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Class="entr" nodeType="afterEffect" presetSubtype="32" presetID="4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27" dur="5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"/>
                            </p:stCondLst>
                            <p:childTnLst>
                              <p:par>
                                <p:cTn id="29" presetClass="entr" nodeType="afterEffect" presetSubtype="32" presetID="4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31" dur="5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"/>
                            </p:stCondLst>
                            <p:childTnLst>
                              <p:par>
                                <p:cTn id="33" presetClass="entr" nodeType="afterEffect" presetSubtype="32" presetID="4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35" dur="5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"/>
                            </p:stCondLst>
                            <p:childTnLst>
                              <p:par>
                                <p:cTn id="37" presetClass="entr" nodeType="afterEffect" presetSubtype="32" presetID="4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39" dur="5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"/>
                            </p:stCondLst>
                            <p:childTnLst>
                              <p:par>
                                <p:cTn id="41" presetClass="entr" nodeType="afterEffect" presetSubtype="32" presetID="4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43" dur="5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"/>
                            </p:stCondLst>
                            <p:childTnLst>
                              <p:par>
                                <p:cTn id="45" presetClass="entr" nodeType="afterEffect" presetSubtype="32" presetID="4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47" dur="5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"/>
                            </p:stCondLst>
                            <p:childTnLst>
                              <p:par>
                                <p:cTn id="49" presetClass="entr" nodeType="afterEffect" presetSubtype="32" presetID="4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51" dur="5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"/>
                            </p:stCondLst>
                            <p:childTnLst>
                              <p:par>
                                <p:cTn id="53" presetClass="entr" nodeType="afterEffect" presetSubtype="32" presetID="4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55" dur="5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Class="entr" nodeType="afterEffect" presetSubtype="32" presetID="4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59" dur="5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"/>
                            </p:stCondLst>
                            <p:childTnLst>
                              <p:par>
                                <p:cTn id="61" presetClass="entr" nodeType="afterEffect" presetSubtype="32" presetID="4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63" dur="5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"/>
                            </p:stCondLst>
                            <p:childTnLst>
                              <p:par>
                                <p:cTn id="65" presetClass="entr" nodeType="afterEffect" presetSubtype="32" presetID="4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67" dur="5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"/>
                            </p:stCondLst>
                            <p:childTnLst>
                              <p:par>
                                <p:cTn id="69" presetClass="entr" nodeType="afterEffect" presetSubtype="32" presetID="4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71" dur="5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"/>
                            </p:stCondLst>
                            <p:childTnLst>
                              <p:par>
                                <p:cTn id="73" presetClass="entr" nodeType="afterEffect" presetSubtype="32" presetID="4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75" dur="5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"/>
                            </p:stCondLst>
                            <p:childTnLst>
                              <p:par>
                                <p:cTn id="77" presetClass="entr" nodeType="afterEffect" presetSubtype="32" presetID="4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79" dur="5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"/>
                            </p:stCondLst>
                            <p:childTnLst>
                              <p:par>
                                <p:cTn id="81" presetClass="entr" nodeType="afterEffect" presetSubtype="32" presetID="4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83" dur="5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50"/>
                            </p:stCondLst>
                            <p:childTnLst>
                              <p:par>
                                <p:cTn id="85" presetClass="entr" nodeType="afterEffect" presetSubtype="32" presetID="4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87" dur="5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00"/>
                            </p:stCondLst>
                            <p:childTnLst>
                              <p:par>
                                <p:cTn id="89" presetClass="entr" nodeType="afterEffect" presetSubtype="32" presetID="4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91" dur="5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Class="entr" nodeType="clickEffect" presetID="9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96" dur="2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Class="entr" nodeType="afterEffect" presetID="9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00" dur="2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000"/>
                            </p:stCondLst>
                            <p:childTnLst>
                              <p:par>
                                <p:cTn id="102" presetClass="entr" nodeType="afterEffect" presetSubtype="8" presetID="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60" grpId="7"/>
      <p:bldP build="whole" bldLvl="1" animBg="1" rev="0" advAuto="0" spid="389" grpId="23"/>
      <p:bldP build="whole" bldLvl="1" animBg="1" rev="0" advAuto="0" spid="364" grpId="4"/>
      <p:bldP build="whole" bldLvl="1" animBg="1" rev="0" advAuto="0" spid="378" grpId="13"/>
      <p:bldP build="whole" bldLvl="1" animBg="1" rev="0" advAuto="0" spid="380" grpId="16"/>
      <p:bldP build="whole" bldLvl="1" animBg="1" rev="0" advAuto="0" spid="356" grpId="1"/>
      <p:bldP build="whole" bldLvl="1" animBg="1" rev="0" advAuto="0" spid="365" grpId="10"/>
      <p:bldP build="whole" bldLvl="1" animBg="1" rev="0" advAuto="0" spid="382" grpId="14"/>
      <p:bldP build="whole" bldLvl="1" animBg="1" rev="0" advAuto="0" spid="359" grpId="18"/>
      <p:bldP build="whole" bldLvl="1" animBg="1" rev="0" advAuto="0" spid="387" grpId="3"/>
      <p:bldP build="whole" bldLvl="1" animBg="1" rev="0" advAuto="0" spid="383" grpId="9"/>
      <p:bldP build="whole" bldLvl="1" animBg="1" rev="0" advAuto="0" spid="374" grpId="11"/>
      <p:bldP build="whole" bldLvl="1" animBg="1" rev="0" advAuto="0" spid="358" grpId="12"/>
      <p:bldP build="whole" bldLvl="1" animBg="1" rev="0" advAuto="0" spid="371" grpId="21"/>
      <p:bldP build="whole" bldLvl="1" animBg="1" rev="0" advAuto="0" spid="388" grpId="2"/>
      <p:bldP build="whole" bldLvl="1" animBg="1" rev="0" advAuto="0" spid="362" grpId="5"/>
      <p:bldP build="whole" bldLvl="1" animBg="1" rev="0" advAuto="0" spid="391" grpId="22"/>
      <p:bldP build="whole" bldLvl="1" animBg="1" rev="0" advAuto="0" spid="373" grpId="20"/>
      <p:bldP build="whole" bldLvl="1" animBg="1" rev="0" advAuto="0" spid="393" grpId="24"/>
      <p:bldP build="whole" bldLvl="1" animBg="1" rev="0" advAuto="0" spid="376" grpId="19"/>
      <p:bldP build="whole" bldLvl="1" animBg="1" rev="0" advAuto="0" spid="357" grpId="8"/>
      <p:bldP build="whole" bldLvl="1" animBg="1" rev="0" advAuto="0" spid="385" grpId="6"/>
      <p:bldP build="whole" bldLvl="1" animBg="1" rev="0" advAuto="0" spid="369" grpId="15"/>
      <p:bldP build="whole" bldLvl="1" animBg="1" rev="0" advAuto="0" spid="367" grpId="17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Automatic Differentiation"/>
          <p:cNvSpPr txBox="1"/>
          <p:nvPr/>
        </p:nvSpPr>
        <p:spPr>
          <a:xfrm>
            <a:off x="7349083" y="580666"/>
            <a:ext cx="10978358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Automatic Differentiation</a:t>
            </a:r>
          </a:p>
        </p:txBody>
      </p:sp>
      <p:sp>
        <p:nvSpPr>
          <p:cNvPr id="396" name="În Gradient Descent, avem nevoie de derivata funcției de cost în raport cu fiecare dintre parametri"/>
          <p:cNvSpPr txBox="1"/>
          <p:nvPr>
            <p:ph type="body" sz="quarter" idx="1"/>
          </p:nvPr>
        </p:nvSpPr>
        <p:spPr>
          <a:xfrm>
            <a:off x="971217" y="2898085"/>
            <a:ext cx="21948577" cy="1993249"/>
          </a:xfrm>
          <a:prstGeom prst="rect">
            <a:avLst/>
          </a:prstGeom>
        </p:spPr>
        <p:txBody>
          <a:bodyPr/>
          <a:lstStyle/>
          <a:p>
            <a:pPr/>
            <a:r>
              <a:t>În Gradient Descent, avem nevoie de derivata funcției de cost în raport cu fiecare dintre parametri</a:t>
            </a:r>
          </a:p>
        </p:txBody>
      </p:sp>
      <p:sp>
        <p:nvSpPr>
          <p:cNvPr id="397" name="Folosim aceste derivate pentru a actualiza parametri modelului astfel încât să minimizăm funcția de cost"/>
          <p:cNvSpPr txBox="1"/>
          <p:nvPr/>
        </p:nvSpPr>
        <p:spPr>
          <a:xfrm>
            <a:off x="971217" y="4655741"/>
            <a:ext cx="21948577" cy="1993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Folosim aceste derivate pentru a actualiza parametri modelului astfel încât să minimizăm funcția de cost</a:t>
            </a:r>
          </a:p>
        </p:txBody>
      </p:sp>
      <p:pic>
        <p:nvPicPr>
          <p:cNvPr id="398" name="Captură de ecran din 2024-11-17 la 22.28.12.png" descr="Captură de ecran din 2024-11-17 la 22.28.1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005334" y="6496891"/>
            <a:ext cx="9939615" cy="6212260"/>
          </a:xfrm>
          <a:prstGeom prst="rect">
            <a:avLst/>
          </a:prstGeom>
          <a:ln w="12700">
            <a:miter lim="400000"/>
          </a:ln>
        </p:spPr>
      </p:pic>
      <p:sp>
        <p:nvSpPr>
          <p:cNvPr id="399" name="Dacă f era funcția noastră de cost, iar x și y erau parametri modelului nostru, astfel am fi obținut gradienții necesari pentru minimizarea funcției de cost"/>
          <p:cNvSpPr txBox="1"/>
          <p:nvPr/>
        </p:nvSpPr>
        <p:spPr>
          <a:xfrm>
            <a:off x="1009139" y="6568257"/>
            <a:ext cx="11068154" cy="3365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Dacă f era funcția noastră de cost, iar x și y erau parametri modelului nostru, astfel am fi obținut gradienții necesari pentru minimizarea funcției de cost</a:t>
            </a:r>
          </a:p>
        </p:txBody>
      </p:sp>
      <p:sp>
        <p:nvSpPr>
          <p:cNvPr id="400" name="Funcția backward() reprezintă, de fapt, o implementare a backpropagation dar care se ocupă de mai multe lucruri behind the scenes"/>
          <p:cNvSpPr txBox="1"/>
          <p:nvPr/>
        </p:nvSpPr>
        <p:spPr>
          <a:xfrm>
            <a:off x="1009139" y="9846469"/>
            <a:ext cx="11068154" cy="3527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Funcția backward() reprezintă, de fapt, o implementare a backpropagation dar care se ocupă de mai multe lucruri behind the scenes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r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Automatic Differentiation"/>
          <p:cNvSpPr txBox="1"/>
          <p:nvPr/>
        </p:nvSpPr>
        <p:spPr>
          <a:xfrm>
            <a:off x="7349083" y="580666"/>
            <a:ext cx="10978358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Automatic Differentiation</a:t>
            </a:r>
          </a:p>
        </p:txBody>
      </p:sp>
      <p:pic>
        <p:nvPicPr>
          <p:cNvPr id="403" name="Captură de ecran din 2024-11-17 la 22.31.29.png" descr="Captură de ecran din 2024-11-17 la 22.31.2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97232" y="2107548"/>
            <a:ext cx="6789536" cy="6915269"/>
          </a:xfrm>
          <a:prstGeom prst="rect">
            <a:avLst/>
          </a:prstGeom>
          <a:ln w="12700">
            <a:miter lim="400000"/>
          </a:ln>
        </p:spPr>
      </p:pic>
      <p:sp>
        <p:nvSpPr>
          <p:cNvPr id="404" name="În PyTorch, gradienții se acumulează la fiecare apel de backward()"/>
          <p:cNvSpPr txBox="1"/>
          <p:nvPr/>
        </p:nvSpPr>
        <p:spPr>
          <a:xfrm>
            <a:off x="492852" y="9776335"/>
            <a:ext cx="21948577" cy="1028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PyTorch, gradienții se acumulează la fiecare apel de backward()</a:t>
            </a:r>
          </a:p>
        </p:txBody>
      </p:sp>
      <p:sp>
        <p:nvSpPr>
          <p:cNvPr id="405" name="Dacă vrem ca acest lucru să nu se întâmple, trebuie să îi resetăm"/>
          <p:cNvSpPr txBox="1"/>
          <p:nvPr/>
        </p:nvSpPr>
        <p:spPr>
          <a:xfrm>
            <a:off x="492852" y="11041002"/>
            <a:ext cx="21948577" cy="1028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Dacă vrem ca acest lucru să nu se întâmple, trebuie să îi resetăm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14:warp dir="in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Automatic Differentiation"/>
          <p:cNvSpPr txBox="1"/>
          <p:nvPr/>
        </p:nvSpPr>
        <p:spPr>
          <a:xfrm>
            <a:off x="7349083" y="580666"/>
            <a:ext cx="10978358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Automatic Differentiation</a:t>
            </a:r>
          </a:p>
        </p:txBody>
      </p:sp>
      <p:pic>
        <p:nvPicPr>
          <p:cNvPr id="408" name="Captură de ecran din 2024-11-17 la 22.37.17.png" descr="Captură de ecran din 2024-11-17 la 22.37.1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869224" y="2164107"/>
            <a:ext cx="6645551" cy="8061586"/>
          </a:xfrm>
          <a:prstGeom prst="rect">
            <a:avLst/>
          </a:prstGeom>
          <a:ln w="12700">
            <a:miter lim="400000"/>
          </a:ln>
        </p:spPr>
      </p:pic>
      <p:sp>
        <p:nvSpPr>
          <p:cNvPr id="409" name="Resetarea unui gradient se face cu .grad.zero_()"/>
          <p:cNvSpPr txBox="1"/>
          <p:nvPr/>
        </p:nvSpPr>
        <p:spPr>
          <a:xfrm>
            <a:off x="492852" y="11041002"/>
            <a:ext cx="21948577" cy="1028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Resetarea unui gradient se face cu .grad.zero_()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De ce ar fi util acumularea gradienților?"/>
          <p:cNvSpPr txBox="1"/>
          <p:nvPr>
            <p:ph type="body" sz="quarter" idx="1"/>
          </p:nvPr>
        </p:nvSpPr>
        <p:spPr>
          <a:xfrm>
            <a:off x="872074" y="2436604"/>
            <a:ext cx="21948578" cy="1166885"/>
          </a:xfrm>
          <a:prstGeom prst="rect">
            <a:avLst/>
          </a:prstGeom>
        </p:spPr>
        <p:txBody>
          <a:bodyPr/>
          <a:lstStyle/>
          <a:p>
            <a:pPr/>
            <a:r>
              <a:t>De ce ar fi util acumularea gradienților?</a:t>
            </a:r>
          </a:p>
        </p:txBody>
      </p:sp>
      <p:sp>
        <p:nvSpPr>
          <p:cNvPr id="412" name="Automatic Differentiation"/>
          <p:cNvSpPr txBox="1"/>
          <p:nvPr/>
        </p:nvSpPr>
        <p:spPr>
          <a:xfrm>
            <a:off x="7349083" y="580666"/>
            <a:ext cx="10978358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Automatic Differentiation</a:t>
            </a:r>
          </a:p>
        </p:txBody>
      </p:sp>
      <p:sp>
        <p:nvSpPr>
          <p:cNvPr id="413" name="Să ne reamintim puțin mini-batch gradient descent"/>
          <p:cNvSpPr txBox="1"/>
          <p:nvPr/>
        </p:nvSpPr>
        <p:spPr>
          <a:xfrm>
            <a:off x="872074" y="3454777"/>
            <a:ext cx="21948578" cy="1166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Să ne reamintim puțin mini-batch gradient descent</a:t>
            </a:r>
          </a:p>
        </p:txBody>
      </p:sp>
      <p:sp>
        <p:nvSpPr>
          <p:cNvPr id="414" name="Acolo, actualizarea parametrilor se realiza iterativ, la fiecare batch, în funcție de un subset din date"/>
          <p:cNvSpPr txBox="1"/>
          <p:nvPr/>
        </p:nvSpPr>
        <p:spPr>
          <a:xfrm>
            <a:off x="872074" y="4585768"/>
            <a:ext cx="21948578" cy="179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Acolo, actualizarea parametrilor se realiza iterativ, la fiecare batch, în funcție de un subset din date</a:t>
            </a:r>
          </a:p>
        </p:txBody>
      </p:sp>
      <p:sp>
        <p:nvSpPr>
          <p:cNvPr id="415" name="Dacă batch-ul este prea mic, poate exista zgomot în actualizarea parametrilor (cine știe, avem un outlier sau datele sunt prea complexe)"/>
          <p:cNvSpPr txBox="1"/>
          <p:nvPr/>
        </p:nvSpPr>
        <p:spPr>
          <a:xfrm>
            <a:off x="872074" y="6416272"/>
            <a:ext cx="21948578" cy="179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Dacă batch-ul este prea mic, poate exista zgomot în actualizarea parametrilor (cine știe, avem un outlier sau datele sunt prea complexe)</a:t>
            </a:r>
          </a:p>
        </p:txBody>
      </p:sp>
      <p:sp>
        <p:nvSpPr>
          <p:cNvPr id="416" name="Dacă batch-ul este mare, actualizarea parametrilor este mai precisă, pentru că modelul învață din mai multe date în același timp și zgomotele se pot reduce"/>
          <p:cNvSpPr txBox="1"/>
          <p:nvPr/>
        </p:nvSpPr>
        <p:spPr>
          <a:xfrm>
            <a:off x="872074" y="8439384"/>
            <a:ext cx="21948578" cy="179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Dacă batch-ul este mare, actualizarea parametrilor este mai precisă, pentru că modelul învață din mai multe date în același timp și zgomotele se pot reduce</a:t>
            </a:r>
          </a:p>
        </p:txBody>
      </p:sp>
      <p:sp>
        <p:nvSpPr>
          <p:cNvPr id="417" name="Există o metodă prin care putem face uz de precizia obținută având batch-uri mai mari chiar dacă avem batch-uri mici (din cauza limitărilor de memorie)"/>
          <p:cNvSpPr txBox="1"/>
          <p:nvPr/>
        </p:nvSpPr>
        <p:spPr>
          <a:xfrm>
            <a:off x="872074" y="10462496"/>
            <a:ext cx="21948578" cy="179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Există o metodă prin care putem face uz de precizia obținută având batch-uri mai mari chiar dacă avem batch-uri mici (din cauza limitărilor de memorie)</a:t>
            </a:r>
          </a:p>
        </p:txBody>
      </p:sp>
      <p:pic>
        <p:nvPicPr>
          <p:cNvPr id="418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92920" y="4282390"/>
            <a:ext cx="7458164" cy="101601"/>
          </a:xfrm>
          <a:prstGeom prst="rect">
            <a:avLst/>
          </a:prstGeom>
        </p:spPr>
      </p:pic>
      <p:pic>
        <p:nvPicPr>
          <p:cNvPr id="420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53061" y="7263612"/>
            <a:ext cx="12263108" cy="101601"/>
          </a:xfrm>
          <a:prstGeom prst="rect">
            <a:avLst/>
          </a:prstGeom>
        </p:spPr>
      </p:pic>
      <p:pic>
        <p:nvPicPr>
          <p:cNvPr id="422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463346" y="9286724"/>
            <a:ext cx="3302708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2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20" grpId="2"/>
      <p:bldP build="whole" bldLvl="1" animBg="1" rev="0" advAuto="0" spid="418" grpId="1"/>
      <p:bldP build="whole" bldLvl="1" animBg="1" rev="0" advAuto="0" spid="422" grpId="3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Automatic Differentiation"/>
          <p:cNvSpPr txBox="1"/>
          <p:nvPr/>
        </p:nvSpPr>
        <p:spPr>
          <a:xfrm>
            <a:off x="7349083" y="580666"/>
            <a:ext cx="10978358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/>
            </a:lvl1pPr>
          </a:lstStyle>
          <a:p>
            <a:pPr/>
            <a:r>
              <a:t>Automatic Differentiation</a:t>
            </a:r>
          </a:p>
        </p:txBody>
      </p:sp>
      <p:sp>
        <p:nvSpPr>
          <p:cNvPr id="426" name="Există o metodă prin care putem face uz de precizia obținută având batch-uri mai mari chiar dacă avem batch-uri mici (din cauza limitărilor de memorie)"/>
          <p:cNvSpPr txBox="1"/>
          <p:nvPr/>
        </p:nvSpPr>
        <p:spPr>
          <a:xfrm>
            <a:off x="638813" y="2517787"/>
            <a:ext cx="21948578" cy="179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Există o metodă prin care putem face uz de precizia obținută având batch-uri mai mari chiar dacă avem batch-uri mici (din cauza limitărilor de memorie)</a:t>
            </a:r>
          </a:p>
        </p:txBody>
      </p:sp>
      <p:sp>
        <p:nvSpPr>
          <p:cNvPr id="427" name="Metoda presupune acumularea gradienților pe parcursul mai multor batch-uri mici, practic însumarea acestora, și actualizarea parametrilor abia după ce s-au procesat un număr suficient de mare de batch-uri"/>
          <p:cNvSpPr txBox="1"/>
          <p:nvPr/>
        </p:nvSpPr>
        <p:spPr>
          <a:xfrm>
            <a:off x="638813" y="4521937"/>
            <a:ext cx="21948578" cy="2837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Metoda presupune acumularea gradienților pe parcursul mai multor batch-uri mici, practic însumarea acestora, și actualizarea parametrilor abia după ce s-au procesat un număr suficient de mare de batch-uri</a:t>
            </a:r>
          </a:p>
        </p:txBody>
      </p:sp>
      <p:sp>
        <p:nvSpPr>
          <p:cNvPr id="428" name="Practic, astfel încercăm să simulăm efectul obținut din batch-uri mai mari, având batch-uri mai mici"/>
          <p:cNvSpPr txBox="1"/>
          <p:nvPr/>
        </p:nvSpPr>
        <p:spPr>
          <a:xfrm>
            <a:off x="638813" y="7057000"/>
            <a:ext cx="21948578" cy="2012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Practic, astfel încercăm să simulăm efectul obținut din batch-uri mai mari, având batch-uri mai mici</a:t>
            </a:r>
          </a:p>
        </p:txBody>
      </p:sp>
      <p:sp>
        <p:nvSpPr>
          <p:cNvPr id="429" name="Lucrul acesta duce la o antrenare mai stabilă și permitere obținerea unei performanțe foarte bune atunci cand resursele de memorie sunt limitate"/>
          <p:cNvSpPr txBox="1"/>
          <p:nvPr/>
        </p:nvSpPr>
        <p:spPr>
          <a:xfrm>
            <a:off x="600438" y="8985306"/>
            <a:ext cx="22879746" cy="2012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Lucrul acesta duce la o antrenare mai stabilă și permitere obținerea unei performanțe foarte bune atunci cand resursele de memorie sunt limitate</a:t>
            </a:r>
          </a:p>
        </p:txBody>
      </p:sp>
      <p:pic>
        <p:nvPicPr>
          <p:cNvPr id="430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9955" y="5320704"/>
            <a:ext cx="9685834" cy="101601"/>
          </a:xfrm>
          <a:prstGeom prst="rect">
            <a:avLst/>
          </a:prstGeom>
        </p:spPr>
      </p:pic>
      <p:pic>
        <p:nvPicPr>
          <p:cNvPr id="432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06145" y="6807200"/>
            <a:ext cx="4298263" cy="101600"/>
          </a:xfrm>
          <a:prstGeom prst="rect">
            <a:avLst/>
          </a:prstGeom>
        </p:spPr>
      </p:pic>
      <p:pic>
        <p:nvPicPr>
          <p:cNvPr id="434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215259" y="7847080"/>
            <a:ext cx="3107403" cy="101601"/>
          </a:xfrm>
          <a:prstGeom prst="rect">
            <a:avLst/>
          </a:prstGeom>
        </p:spPr>
      </p:pic>
      <p:pic>
        <p:nvPicPr>
          <p:cNvPr id="436" name="Linie Linie" descr="Linie Lini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590338" y="9743192"/>
            <a:ext cx="2045527" cy="101601"/>
          </a:xfrm>
          <a:prstGeom prst="rect">
            <a:avLst/>
          </a:prstGeom>
        </p:spPr>
      </p:pic>
      <p:pic>
        <p:nvPicPr>
          <p:cNvPr id="438" name="Linie Linie" descr="Linie Lini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793175" y="10518800"/>
            <a:ext cx="10333143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2" dur="2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6" dur="2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Class="entr" nodeType="afterEffect" presetID="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6" dur="2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Class="entr" nodeType="afterEffect" presetID="9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6" dur="2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Class="entr" nodeType="afterEffect" presetID="9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40" dur="2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32" grpId="3"/>
      <p:bldP build="whole" bldLvl="1" animBg="1" rev="0" advAuto="0" spid="430" grpId="2"/>
      <p:bldP build="whole" bldLvl="1" animBg="1" rev="0" advAuto="0" spid="428" grpId="4"/>
      <p:bldP build="whole" bldLvl="1" animBg="1" rev="0" advAuto="0" spid="438" grpId="8"/>
      <p:bldP build="whole" bldLvl="1" animBg="1" rev="0" advAuto="0" spid="427" grpId="1"/>
      <p:bldP build="whole" bldLvl="1" animBg="1" rev="0" advAuto="0" spid="434" grpId="5"/>
      <p:bldP build="whole" bldLvl="1" animBg="1" rev="0" advAuto="0" spid="436" grpId="7"/>
      <p:bldP build="whole" bldLvl="1" animBg="1" rev="0" advAuto="0" spid="429" grpId="6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hat’s it for today!…"/>
          <p:cNvSpPr txBox="1"/>
          <p:nvPr>
            <p:ph type="title"/>
          </p:nvPr>
        </p:nvSpPr>
        <p:spPr>
          <a:xfrm>
            <a:off x="1219200" y="5994400"/>
            <a:ext cx="21945600" cy="1727200"/>
          </a:xfrm>
          <a:prstGeom prst="rect">
            <a:avLst/>
          </a:prstGeom>
        </p:spPr>
        <p:txBody>
          <a:bodyPr/>
          <a:lstStyle/>
          <a:p>
            <a:pPr defTabSz="1389888">
              <a:defRPr spc="-99" sz="4700"/>
            </a:pPr>
            <a:r>
              <a:t>That’s it for today!</a:t>
            </a:r>
          </a:p>
          <a:p>
            <a:pPr defTabSz="1389888">
              <a:defRPr spc="-99" sz="4700"/>
            </a:pPr>
            <a:r>
              <a:t>Now let’s do some exercises.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That’s it for today!…"/>
          <p:cNvSpPr txBox="1"/>
          <p:nvPr>
            <p:ph type="title"/>
          </p:nvPr>
        </p:nvSpPr>
        <p:spPr>
          <a:xfrm>
            <a:off x="1219200" y="419213"/>
            <a:ext cx="21945600" cy="1727201"/>
          </a:xfrm>
          <a:prstGeom prst="rect">
            <a:avLst/>
          </a:prstGeom>
        </p:spPr>
        <p:txBody>
          <a:bodyPr/>
          <a:lstStyle/>
          <a:p>
            <a:pPr defTabSz="1389888">
              <a:defRPr spc="-99" sz="4700"/>
            </a:pPr>
            <a:r>
              <a:t>That’s it for today!</a:t>
            </a:r>
          </a:p>
          <a:p>
            <a:pPr defTabSz="1389888">
              <a:defRPr spc="-99" sz="4700"/>
            </a:pPr>
            <a:r>
              <a:t>Now let’s do some exercises.</a:t>
            </a:r>
          </a:p>
        </p:txBody>
      </p:sp>
      <p:pic>
        <p:nvPicPr>
          <p:cNvPr id="444" name="Captură de ecran din 2024-11-17 la 23.01.39.png" descr="Captură de ecran din 2024-11-17 la 23.01.3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35193" y="2560649"/>
            <a:ext cx="9913613" cy="104503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