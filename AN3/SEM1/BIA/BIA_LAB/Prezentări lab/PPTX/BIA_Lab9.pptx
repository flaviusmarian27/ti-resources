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1pPr>
    <a:lvl2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2pPr>
    <a:lvl3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3pPr>
    <a:lvl4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4pPr>
    <a:lvl5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5pPr>
    <a:lvl6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6pPr>
    <a:lvl7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7pPr>
    <a:lvl8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8pPr>
    <a:lvl9pPr marL="0" marR="0" indent="0" algn="l" defTabSz="2438337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Bold"/>
        <a:ea typeface="Canela Bold"/>
        <a:cs typeface="Canela Bold"/>
        <a:sym typeface="Canela Bold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5EE"/>
          </a:solidFill>
        </a:fill>
      </a:tcStyle>
    </a:wholeTbl>
    <a:band2H>
      <a:tcTxStyle b="def" i="def"/>
      <a:tcStyle>
        <a:tcBdr/>
        <a:fill>
          <a:solidFill>
            <a:srgbClr val="E8EBF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EE5CD"/>
          </a:solidFill>
        </a:fill>
      </a:tcStyle>
    </a:wholeTbl>
    <a:band2H>
      <a:tcTxStyle b="def" i="def"/>
      <a:tcStyle>
        <a:tcBdr/>
        <a:fill>
          <a:solidFill>
            <a:srgbClr val="E8F2E7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8D3E5"/>
          </a:solidFill>
        </a:fill>
      </a:tcStyle>
    </a:wholeTbl>
    <a:band2H>
      <a:tcTxStyle b="def" i="def"/>
      <a:tcStyle>
        <a:tcBdr/>
        <a:fill>
          <a:solidFill>
            <a:srgbClr val="ECEAF3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nela Bold"/>
          <a:ea typeface="Canela Bold"/>
          <a:cs typeface="Canela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ivel corp unu…"/>
          <p:cNvSpPr txBox="1"/>
          <p:nvPr>
            <p:ph type="body" sz="quarter" idx="1" hasCustomPrompt="1"/>
          </p:nvPr>
        </p:nvSpPr>
        <p:spPr>
          <a:xfrm>
            <a:off x="1219200" y="11986162"/>
            <a:ext cx="21945599" cy="605792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  <a:lvl2pPr marL="9060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2pPr>
            <a:lvl3pPr marL="14521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3pPr>
            <a:lvl4pPr marL="19982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4pPr>
            <a:lvl5pPr marL="2544329" indent="-359929" algn="ctr" defTabSz="808990">
              <a:lnSpc>
                <a:spcPct val="100000"/>
              </a:lnSpc>
              <a:spcBef>
                <a:spcPts val="0"/>
              </a:spcBef>
              <a:defRPr spc="-29" sz="2900">
                <a:latin typeface="Avenir Next Medium"/>
                <a:ea typeface="Avenir Next Medium"/>
                <a:cs typeface="Avenir Next Medium"/>
                <a:sym typeface="Avenir Next Medium"/>
              </a:defRPr>
            </a:lvl5pPr>
          </a:lstStyle>
          <a:p>
            <a:pPr/>
            <a:r>
              <a:t>Autor și dată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Titlu prezentar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Titlu prezentare</a:t>
            </a:r>
          </a:p>
        </p:txBody>
      </p:sp>
      <p:sp>
        <p:nvSpPr>
          <p:cNvPr id="13" name="Nivel corp unu…"/>
          <p:cNvSpPr txBox="1"/>
          <p:nvPr>
            <p:ph type="body" sz="quarter" idx="21" hasCustomPrompt="1"/>
          </p:nvPr>
        </p:nvSpPr>
        <p:spPr>
          <a:xfrm>
            <a:off x="1219200" y="7567579"/>
            <a:ext cx="21945600" cy="225059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100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prezentare</a:t>
            </a:r>
          </a:p>
        </p:txBody>
      </p:sp>
      <p:sp>
        <p:nvSpPr>
          <p:cNvPr id="14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jă și mare la apu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Titlu prezentar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Titlu prezentare</a:t>
            </a:r>
          </a:p>
        </p:txBody>
      </p:sp>
      <p:sp>
        <p:nvSpPr>
          <p:cNvPr id="23" name="Nivel corp unu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8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prezentare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 și dată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100" sz="290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Autor și dată</a:t>
            </a:r>
          </a:p>
        </p:txBody>
      </p:sp>
      <p:sp>
        <p:nvSpPr>
          <p:cNvPr id="2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poză (alt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u diapozitiv"/>
          <p:cNvSpPr txBox="1"/>
          <p:nvPr>
            <p:ph type="title" hasCustomPrompt="1"/>
          </p:nvPr>
        </p:nvSpPr>
        <p:spPr>
          <a:xfrm>
            <a:off x="1215494" y="4585101"/>
            <a:ext cx="9757339" cy="2540002"/>
          </a:xfrm>
          <a:prstGeom prst="rect">
            <a:avLst/>
          </a:prstGeom>
        </p:spPr>
        <p:txBody>
          <a:bodyPr anchor="b"/>
          <a:lstStyle/>
          <a:p>
            <a:pPr/>
            <a:r>
              <a:t>Titlu diapozitiv</a:t>
            </a:r>
          </a:p>
        </p:txBody>
      </p:sp>
      <p:sp>
        <p:nvSpPr>
          <p:cNvPr id="33" name="Mare pe fundalul cerului la apus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Nivel corp unu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43" name="Nivel corp unu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ubtitlu diapozitiv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100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diapozitiv</a:t>
            </a:r>
          </a:p>
        </p:txBody>
      </p:sp>
      <p:sp>
        <p:nvSpPr>
          <p:cNvPr id="45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3"/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61" name="Mare pe fundalul cerului la apus"/>
          <p:cNvSpPr/>
          <p:nvPr>
            <p:ph type="pic" idx="21"/>
          </p:nvPr>
        </p:nvSpPr>
        <p:spPr>
          <a:xfrm>
            <a:off x="12192644" y="718588"/>
            <a:ext cx="10972801" cy="12329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Nivel corp unu…"/>
          <p:cNvSpPr txBox="1"/>
          <p:nvPr>
            <p:ph type="body" sz="half" idx="22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6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video live m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7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Nivel corp unu…"/>
          <p:cNvSpPr txBox="1"/>
          <p:nvPr>
            <p:ph type="body" sz="half" idx="21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7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, marcatori și video live m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u diapozitiv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82" name="Nivel corp unu…"/>
          <p:cNvSpPr txBox="1"/>
          <p:nvPr>
            <p:ph type="body" sz="quarter" idx="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Nivel corp unu…"/>
          <p:cNvSpPr txBox="1"/>
          <p:nvPr>
            <p:ph type="body" sz="half" idx="21" hasCustomPrompt="1"/>
          </p:nvPr>
        </p:nvSpPr>
        <p:spPr>
          <a:xfrm>
            <a:off x="1219199" y="4023221"/>
            <a:ext cx="9757571" cy="8384679"/>
          </a:xfrm>
          <a:prstGeom prst="rect">
            <a:avLst/>
          </a:prstGeom>
        </p:spPr>
        <p:txBody>
          <a:bodyPr/>
          <a:lstStyle/>
          <a:p>
            <a:pPr/>
            <a:r>
              <a:t>Text marcator diapozitiv</a:t>
            </a:r>
          </a:p>
        </p:txBody>
      </p:sp>
      <p:sp>
        <p:nvSpPr>
          <p:cNvPr id="84" name="Număr diapozitiv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u secțiune"/>
          <p:cNvSpPr txBox="1"/>
          <p:nvPr>
            <p:ph type="title" hasCustomPrompt="1"/>
          </p:nvPr>
        </p:nvSpPr>
        <p:spPr>
          <a:xfrm>
            <a:off x="1219200" y="3242269"/>
            <a:ext cx="21945600" cy="6604002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Titlu secțiune</a:t>
            </a:r>
          </a:p>
        </p:txBody>
      </p:sp>
      <p:sp>
        <p:nvSpPr>
          <p:cNvPr id="92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100" name="Nivel corp unu…"/>
          <p:cNvSpPr txBox="1"/>
          <p:nvPr>
            <p:ph type="body" sz="quarter" idx="1" hasCustomPrompt="1"/>
          </p:nvPr>
        </p:nvSpPr>
        <p:spPr>
          <a:xfrm>
            <a:off x="1219200" y="2384648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Subtitlu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1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u agendă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agendă</a:t>
            </a:r>
          </a:p>
        </p:txBody>
      </p:sp>
      <p:sp>
        <p:nvSpPr>
          <p:cNvPr id="109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Subiecte agendă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Subtitlu agendă"/>
          <p:cNvSpPr txBox="1"/>
          <p:nvPr>
            <p:ph type="body" sz="quarter" idx="21" hasCustomPrompt="1"/>
          </p:nvPr>
        </p:nvSpPr>
        <p:spPr>
          <a:xfrm>
            <a:off x="1219200" y="2387114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100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agendă</a:t>
            </a:r>
          </a:p>
        </p:txBody>
      </p:sp>
      <p:sp>
        <p:nvSpPr>
          <p:cNvPr id="111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cl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Nivel corp unu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Declarație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taliu (mar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Nivel corp unu…"/>
          <p:cNvSpPr txBox="1"/>
          <p:nvPr>
            <p:ph type="body" sz="quarter" idx="1" hasCustomPrompt="1"/>
          </p:nvPr>
        </p:nvSpPr>
        <p:spPr>
          <a:xfrm>
            <a:off x="1219200" y="8462239"/>
            <a:ext cx="21945602" cy="832614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Informații factuale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Nivel corp unu…"/>
          <p:cNvSpPr txBox="1"/>
          <p:nvPr>
            <p:ph type="body" sz="half" idx="21" hasCustomPrompt="1"/>
          </p:nvPr>
        </p:nvSpPr>
        <p:spPr>
          <a:xfrm>
            <a:off x="1219200" y="4214483"/>
            <a:ext cx="21945600" cy="4269709"/>
          </a:xfrm>
          <a:prstGeom prst="rect">
            <a:avLst/>
          </a:prstGeom>
        </p:spPr>
        <p:txBody>
          <a:bodyPr anchor="b"/>
          <a:lstStyle/>
          <a:p>
            <a:pPr lvl="4" marL="0" indent="1097280" algn="ctr" defTabSz="975360">
              <a:lnSpc>
                <a:spcPct val="80000"/>
              </a:lnSpc>
              <a:spcBef>
                <a:spcPts val="0"/>
              </a:spcBef>
              <a:buSzTx/>
              <a:buNone/>
              <a:defRPr sz="8960">
                <a:latin typeface="Canela Bold"/>
                <a:ea typeface="Canela Bold"/>
                <a:cs typeface="Canela Bold"/>
                <a:sym typeface="Canela Bold"/>
              </a:defRPr>
            </a:pPr>
            <a:r>
              <a:t>100%
</a:t>
            </a:r>
          </a:p>
        </p:txBody>
      </p:sp>
      <p:sp>
        <p:nvSpPr>
          <p:cNvPr id="128" name="Număr diapozitiv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Nivel corp unu…"/>
          <p:cNvSpPr txBox="1"/>
          <p:nvPr>
            <p:ph type="body" sz="quarter" idx="1" hasCustomPrompt="1"/>
          </p:nvPr>
        </p:nvSpPr>
        <p:spPr>
          <a:xfrm>
            <a:off x="1219200" y="11100052"/>
            <a:ext cx="21945602" cy="832614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10673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16134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21595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2705677" indent="-521277" algn="ctr" defTabSz="792479">
              <a:lnSpc>
                <a:spcPct val="100000"/>
              </a:lnSpc>
              <a:spcBef>
                <a:spcPts val="0"/>
              </a:spcBef>
              <a:defRPr spc="-42" sz="42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Atribuire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Nivel corp unu…"/>
          <p:cNvSpPr txBox="1"/>
          <p:nvPr>
            <p:ph type="body" sz="half" idx="2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/>
          <a:p>
            <a:pPr lvl="4" marL="0" indent="1700783" algn="ctr" defTabSz="1511808">
              <a:lnSpc>
                <a:spcPct val="80000"/>
              </a:lnSpc>
              <a:spcBef>
                <a:spcPts val="0"/>
              </a:spcBef>
              <a:buSzTx/>
              <a:buNone/>
              <a:defRPr sz="5208">
                <a:latin typeface="Canela Bold"/>
                <a:ea typeface="Canela Bold"/>
                <a:cs typeface="Canela Bold"/>
                <a:sym typeface="Canela Bold"/>
              </a:defRPr>
            </a:pPr>
            <a:r>
              <a:t>“Citat important”
</a:t>
            </a:r>
          </a:p>
        </p:txBody>
      </p:sp>
      <p:sp>
        <p:nvSpPr>
          <p:cNvPr id="137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ză - 3 exempl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are pe fundalul cerului la apus 2"/>
          <p:cNvSpPr/>
          <p:nvPr>
            <p:ph type="pic" sz="quarter" idx="21"/>
          </p:nvPr>
        </p:nvSpPr>
        <p:spPr>
          <a:xfrm>
            <a:off x="15744825" y="5581751"/>
            <a:ext cx="7365408" cy="82804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Mare pe fundalul cerului la apus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Plajă și mare la apus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z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jă și mare la apus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ără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Număr diapozitiv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u și marca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itlu diapozitiv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Titlu diapozitiv</a:t>
            </a:r>
          </a:p>
        </p:txBody>
      </p:sp>
      <p:sp>
        <p:nvSpPr>
          <p:cNvPr id="170" name="Nivel corp unu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defTabSz="2438338"/>
            <a:lvl2pPr defTabSz="2438338"/>
            <a:lvl3pPr defTabSz="2438338"/>
            <a:lvl4pPr defTabSz="2438338"/>
            <a:lvl5pPr defTabSz="2438338"/>
          </a:lstStyle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71" name="Subtitlu diapozitiv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Subtitlu diapozitiv</a:t>
            </a:r>
          </a:p>
        </p:txBody>
      </p:sp>
      <p:sp>
        <p:nvSpPr>
          <p:cNvPr id="172" name="Număr diapozitiv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diapozitiv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Titlu diapozitiv</a:t>
            </a:r>
          </a:p>
        </p:txBody>
      </p:sp>
      <p:sp>
        <p:nvSpPr>
          <p:cNvPr id="3" name="Nivel corp unu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marcator diapozitiv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Număr diapozitiv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1pPr>
      <a:lvl2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2pPr>
      <a:lvl3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3pPr>
      <a:lvl4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4pPr>
      <a:lvl5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5pPr>
      <a:lvl6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6pPr>
      <a:lvl7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7pPr>
      <a:lvl8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8pPr>
      <a:lvl9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Canela Bold"/>
          <a:ea typeface="Canela Bold"/>
          <a:cs typeface="Canela Bold"/>
          <a:sym typeface="Canela Bold"/>
        </a:defRPr>
      </a:lvl9pPr>
    </p:titleStyle>
    <p:bodyStyle>
      <a:lvl1pPr marL="5461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7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gif"/><Relationship Id="rId3" Type="http://schemas.openxmlformats.org/officeDocument/2006/relationships/image" Target="../media/image1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tif"/><Relationship Id="rId3" Type="http://schemas.openxmlformats.org/officeDocument/2006/relationships/image" Target="../media/image1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tif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tif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tif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tif"/><Relationship Id="rId3" Type="http://schemas.openxmlformats.org/officeDocument/2006/relationships/image" Target="../media/image27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tif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0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tif"/><Relationship Id="rId3" Type="http://schemas.openxmlformats.org/officeDocument/2006/relationships/image" Target="../media/image3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9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0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1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5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Efrem Dragoș-Sebastian-Mihaly"/>
          <p:cNvSpPr txBox="1"/>
          <p:nvPr>
            <p:ph type="body" sz="quarter" idx="1"/>
          </p:nvPr>
        </p:nvSpPr>
        <p:spPr>
          <a:xfrm>
            <a:off x="1219199" y="11986162"/>
            <a:ext cx="21945600" cy="605792"/>
          </a:xfrm>
          <a:prstGeom prst="rect">
            <a:avLst/>
          </a:prstGeom>
        </p:spPr>
        <p:txBody>
          <a:bodyPr/>
          <a:lstStyle>
            <a:lvl1pPr>
              <a:defRPr spc="-100"/>
            </a:lvl1pPr>
          </a:lstStyle>
          <a:p>
            <a:pPr/>
            <a:r>
              <a:t>Efrem Dragoș-Sebastian-Mihaly</a:t>
            </a:r>
          </a:p>
        </p:txBody>
      </p:sp>
      <p:sp>
        <p:nvSpPr>
          <p:cNvPr id="182" name="Bazele Inteligenței Artifici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Bazele Inteligenței Artificiale</a:t>
            </a:r>
          </a:p>
        </p:txBody>
      </p:sp>
      <p:sp>
        <p:nvSpPr>
          <p:cNvPr id="183" name="Lab 2. Modele parametrice"/>
          <p:cNvSpPr txBox="1"/>
          <p:nvPr/>
        </p:nvSpPr>
        <p:spPr>
          <a:xfrm>
            <a:off x="1219200" y="7567579"/>
            <a:ext cx="21945600" cy="1430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pc="-100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Lab 9. Rețele neuronale convoluționale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rocesarea informațiilor vizuale în creierul uman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>
            <a:lvl1pPr defTabSz="2340863">
              <a:defRPr spc="-80" sz="8064"/>
            </a:lvl1pPr>
          </a:lstStyle>
          <a:p>
            <a:pPr/>
            <a:r>
              <a:t>Procesarea informațiilor vizuale în creierul uman</a:t>
            </a:r>
          </a:p>
        </p:txBody>
      </p:sp>
      <p:pic>
        <p:nvPicPr>
          <p:cNvPr id="186" name="Captură de ecran din 2024-12-01 la 13.18.28.png" descr="Captură de ecran din 2024-12-01 la 13.18.2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7478" y="3903067"/>
            <a:ext cx="20289044" cy="75241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Cercetătorii au descoperit că oamenii percep informațiile vizuale într-un mod ierarhic"/>
          <p:cNvSpPr txBox="1"/>
          <p:nvPr>
            <p:ph type="body" sz="quarter" idx="1"/>
          </p:nvPr>
        </p:nvSpPr>
        <p:spPr>
          <a:xfrm>
            <a:off x="1050181" y="2790047"/>
            <a:ext cx="21948577" cy="2346268"/>
          </a:xfrm>
          <a:prstGeom prst="rect">
            <a:avLst/>
          </a:prstGeom>
        </p:spPr>
        <p:txBody>
          <a:bodyPr/>
          <a:lstStyle/>
          <a:p>
            <a:pPr/>
            <a:r>
              <a:t>Cercetătorii au descoperit că oamenii percep informațiile vizuale într-un mod ierarhic</a:t>
            </a:r>
          </a:p>
        </p:txBody>
      </p:sp>
      <p:pic>
        <p:nvPicPr>
          <p:cNvPr id="189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04357" y="4382237"/>
            <a:ext cx="2263884" cy="101601"/>
          </a:xfrm>
          <a:prstGeom prst="rect">
            <a:avLst/>
          </a:prstGeom>
        </p:spPr>
      </p:pic>
      <p:pic>
        <p:nvPicPr>
          <p:cNvPr id="191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5691" y="7093587"/>
            <a:ext cx="3708219" cy="101601"/>
          </a:xfrm>
          <a:prstGeom prst="rect">
            <a:avLst/>
          </a:prstGeom>
        </p:spPr>
      </p:pic>
      <p:sp>
        <p:nvSpPr>
          <p:cNvPr id="193" name="Asta inseamnă că nu există un anumit loc în creier care procesează toate informațiile dintr-o dată, ci mai degrabă există anumite părți din creier care procesează datele rând pe rând"/>
          <p:cNvSpPr txBox="1"/>
          <p:nvPr/>
        </p:nvSpPr>
        <p:spPr>
          <a:xfrm>
            <a:off x="1050181" y="4727173"/>
            <a:ext cx="21948577" cy="2742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Asta inseamnă că nu există un anumit loc în creier care procesează toate informațiile dintr-o dată, ci mai degrabă există anumite părți din creier care procesează datele rând pe rând</a:t>
            </a:r>
          </a:p>
        </p:txBody>
      </p:sp>
      <p:sp>
        <p:nvSpPr>
          <p:cNvPr id="194" name="Procesarea informațiilor vizuale în creierul uman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>
            <a:lvl1pPr defTabSz="2340863">
              <a:defRPr spc="-80" sz="8064"/>
            </a:lvl1pPr>
          </a:lstStyle>
          <a:p>
            <a:pPr/>
            <a:r>
              <a:t>Procesarea informațiilor vizuale în creierul uman</a:t>
            </a:r>
          </a:p>
        </p:txBody>
      </p:sp>
      <p:sp>
        <p:nvSpPr>
          <p:cNvPr id="195" name="Aceste zone din creier poartă numele de cortexuri"/>
          <p:cNvSpPr txBox="1"/>
          <p:nvPr/>
        </p:nvSpPr>
        <p:spPr>
          <a:xfrm>
            <a:off x="1050181" y="7267173"/>
            <a:ext cx="21948577" cy="1157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Aceste zone din creier poartă numele de cortexuri</a:t>
            </a:r>
          </a:p>
        </p:txBody>
      </p:sp>
      <p:sp>
        <p:nvSpPr>
          <p:cNvPr id="196" name="Mai întâi, lumina este detectată de retina din ochi, iar mai apoi retina transformă lumina în semnale electrice"/>
          <p:cNvSpPr txBox="1"/>
          <p:nvPr/>
        </p:nvSpPr>
        <p:spPr>
          <a:xfrm>
            <a:off x="1050181" y="8308573"/>
            <a:ext cx="21948577" cy="2150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întâi, lumina este detectată de retina din ochi, iar mai apoi retina transformă lumina în semnale electrice </a:t>
            </a:r>
          </a:p>
        </p:txBody>
      </p:sp>
      <p:sp>
        <p:nvSpPr>
          <p:cNvPr id="197" name="Semnalele electrice generate în retină sunt transmise către creier prin nervul optic, sunt filtrate iar mai apoi sunt transmise către cortexul vizual primar"/>
          <p:cNvSpPr txBox="1"/>
          <p:nvPr/>
        </p:nvSpPr>
        <p:spPr>
          <a:xfrm>
            <a:off x="1050181" y="10137373"/>
            <a:ext cx="21948577" cy="2150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Semnalele electrice generate în retină sunt transmise către creier prin nervul optic, sunt filtrate iar mai apoi sunt transmise către cortexul vizual primar</a:t>
            </a:r>
          </a:p>
        </p:txBody>
      </p:sp>
      <p:pic>
        <p:nvPicPr>
          <p:cNvPr id="198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010557" y="11748237"/>
            <a:ext cx="586819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8" grpId="3"/>
      <p:bldP build="whole" bldLvl="1" animBg="1" rev="0" advAuto="0" spid="191" grpId="2"/>
      <p:bldP build="whole" bldLvl="1" animBg="1" rev="0" advAuto="0" spid="18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ortexul vizual primar (V1) detectează caracteristicile de bază din informațiile vizuale, cum ar fi linii, margini sau schimbări de contrast"/>
          <p:cNvSpPr txBox="1"/>
          <p:nvPr>
            <p:ph type="body" sz="quarter" idx="1"/>
          </p:nvPr>
        </p:nvSpPr>
        <p:spPr>
          <a:xfrm>
            <a:off x="1050181" y="2790047"/>
            <a:ext cx="21948577" cy="1893731"/>
          </a:xfrm>
          <a:prstGeom prst="rect">
            <a:avLst/>
          </a:prstGeom>
        </p:spPr>
        <p:txBody>
          <a:bodyPr/>
          <a:lstStyle/>
          <a:p>
            <a:pPr/>
            <a:r>
              <a:t>Cortexul vizual primar (V1) detectează caracteristicile de bază din informațiile vizuale, cum ar fi linii, margini sau schimbări de contrast</a:t>
            </a:r>
          </a:p>
        </p:txBody>
      </p:sp>
      <p:pic>
        <p:nvPicPr>
          <p:cNvPr id="202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19481" y="4437815"/>
            <a:ext cx="12475761" cy="101601"/>
          </a:xfrm>
          <a:prstGeom prst="rect">
            <a:avLst/>
          </a:prstGeom>
        </p:spPr>
      </p:pic>
      <p:sp>
        <p:nvSpPr>
          <p:cNvPr id="204" name="Scopul nostru e să realizăm modele care simulează percepția vizuală a omului"/>
          <p:cNvSpPr txBox="1"/>
          <p:nvPr/>
        </p:nvSpPr>
        <p:spPr>
          <a:xfrm>
            <a:off x="1050181" y="11169803"/>
            <a:ext cx="21948577" cy="10218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Scopul nostru e să realizăm modele care simulează percepția vizuală a omului</a:t>
            </a:r>
          </a:p>
        </p:txBody>
      </p:sp>
      <p:sp>
        <p:nvSpPr>
          <p:cNvPr id="205" name="Mai este și cortexul vizual terciar (V3) și cel V4, care combină caracteristicile mai mult pentru a recunoaște obiecte pe baza formei"/>
          <p:cNvSpPr txBox="1"/>
          <p:nvPr/>
        </p:nvSpPr>
        <p:spPr>
          <a:xfrm>
            <a:off x="1050181" y="7413213"/>
            <a:ext cx="21948577" cy="2133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este și cortexul vizual terciar (V3) și cel V4, care combină caracteristicile mai mult pentru a recunoaște obiecte pe baza formei </a:t>
            </a:r>
          </a:p>
        </p:txBody>
      </p:sp>
      <p:pic>
        <p:nvPicPr>
          <p:cNvPr id="206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011838" y="9037782"/>
            <a:ext cx="11411253" cy="101601"/>
          </a:xfrm>
          <a:prstGeom prst="rect">
            <a:avLst/>
          </a:prstGeom>
        </p:spPr>
      </p:pic>
      <p:sp>
        <p:nvSpPr>
          <p:cNvPr id="208" name="Acest output este transmis către cortexul vizual secundar (V2) care combină informațiile detectate (linii, margini) pentru a identifica forme și contururi mai complexe și are un rol important în perceția culorilor și mișcării"/>
          <p:cNvSpPr txBox="1"/>
          <p:nvPr/>
        </p:nvSpPr>
        <p:spPr>
          <a:xfrm>
            <a:off x="1050181" y="4823992"/>
            <a:ext cx="21948577" cy="280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 output este transmis către cortexul vizual secundar (V2) care combină informațiile detectate (linii, margini) pentru a identifica forme și contururi mai complexe și are un rol important în perceția culorilor și mișcării</a:t>
            </a:r>
          </a:p>
        </p:txBody>
      </p:sp>
      <p:sp>
        <p:nvSpPr>
          <p:cNvPr id="209" name="Procesarea informațiilor vizuale în creierul uman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>
            <a:lvl1pPr defTabSz="2340863">
              <a:defRPr spc="-80" sz="8064"/>
            </a:lvl1pPr>
          </a:lstStyle>
          <a:p>
            <a:pPr/>
            <a:r>
              <a:t>Procesarea informațiilor vizuale în creierul uman</a:t>
            </a:r>
          </a:p>
        </p:txBody>
      </p:sp>
      <p:pic>
        <p:nvPicPr>
          <p:cNvPr id="210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934451" y="12047118"/>
            <a:ext cx="2784425" cy="101601"/>
          </a:xfrm>
          <a:prstGeom prst="rect">
            <a:avLst/>
          </a:prstGeom>
        </p:spPr>
      </p:pic>
      <p:sp>
        <p:nvSpPr>
          <p:cNvPr id="212" name="Cortexul vizual inferotemporal (IT) integrează informația vizuală pentru a detecta fețe, animale, obiecte cunoscute"/>
          <p:cNvSpPr txBox="1"/>
          <p:nvPr/>
        </p:nvSpPr>
        <p:spPr>
          <a:xfrm>
            <a:off x="1050181" y="9207727"/>
            <a:ext cx="21948577" cy="1893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Cortexul vizual inferotemporal (IT) integrează informația vizuală pentru a detecta fețe, animale, obiecte cunoscute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2" grpId="1"/>
      <p:bldP build="whole" bldLvl="1" animBg="1" rev="0" advAuto="0" spid="210" grpId="3"/>
      <p:bldP build="whole" bldLvl="1" animBg="1" rev="0" advAuto="0" spid="206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entru a simula percepția umană, avem nevoie de un mod prin care putem identifica ierarhic caracteristici vizuale"/>
          <p:cNvSpPr txBox="1"/>
          <p:nvPr>
            <p:ph type="body" sz="quarter" idx="1"/>
          </p:nvPr>
        </p:nvSpPr>
        <p:spPr>
          <a:xfrm>
            <a:off x="1050181" y="2790047"/>
            <a:ext cx="21948577" cy="1893731"/>
          </a:xfrm>
          <a:prstGeom prst="rect">
            <a:avLst/>
          </a:prstGeom>
        </p:spPr>
        <p:txBody>
          <a:bodyPr/>
          <a:lstStyle/>
          <a:p>
            <a:pPr/>
            <a:r>
              <a:t>Pentru a simula percepția umană, avem nevoie de un mod prin care putem identifica ierarhic caracteristici vizuale</a:t>
            </a:r>
          </a:p>
        </p:txBody>
      </p:sp>
      <p:pic>
        <p:nvPicPr>
          <p:cNvPr id="215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36681" y="4463215"/>
            <a:ext cx="2083012" cy="101601"/>
          </a:xfrm>
          <a:prstGeom prst="rect">
            <a:avLst/>
          </a:prstGeom>
        </p:spPr>
      </p:pic>
      <p:sp>
        <p:nvSpPr>
          <p:cNvPr id="217" name="Asta înseamnă să avem o ierarhie: de la un strat neuronal la altul, neuronii integrează caracteristicile de la stratul precedent pentru a identifica lucruri complexe"/>
          <p:cNvSpPr txBox="1"/>
          <p:nvPr/>
        </p:nvSpPr>
        <p:spPr>
          <a:xfrm>
            <a:off x="1050181" y="4823992"/>
            <a:ext cx="21948577" cy="280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Asta înseamnă să avem o ierarhie: de la un strat neuronal la altul, neuronii integrează caracteristicile de la stratul precedent pentru a identifica lucruri complexe</a:t>
            </a:r>
          </a:p>
        </p:txBody>
      </p:sp>
      <p:sp>
        <p:nvSpPr>
          <p:cNvPr id="218" name="Simularea percepției vizuale umane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Simularea percepției vizuale umane</a:t>
            </a:r>
          </a:p>
        </p:txBody>
      </p:sp>
      <p:sp>
        <p:nvSpPr>
          <p:cNvPr id="219" name="Pentru început, avem nevoie de un mod prin care, dintr-o imagine, putem filtra elemente de bază, sau „locale”"/>
          <p:cNvSpPr txBox="1"/>
          <p:nvPr/>
        </p:nvSpPr>
        <p:spPr>
          <a:xfrm>
            <a:off x="1050181" y="7363992"/>
            <a:ext cx="21948577" cy="2130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Pentru început, avem nevoie de un mod prin care, dintr-o imagine, putem filtra elemente de bază, sau „locale”</a:t>
            </a:r>
          </a:p>
        </p:txBody>
      </p:sp>
      <p:sp>
        <p:nvSpPr>
          <p:cNvPr id="220" name="Scopul e ca din mai multe informații locale, să putem extrage informații generale"/>
          <p:cNvSpPr txBox="1"/>
          <p:nvPr/>
        </p:nvSpPr>
        <p:spPr>
          <a:xfrm>
            <a:off x="1050181" y="9116592"/>
            <a:ext cx="21948577" cy="1284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Scopul e ca din mai multe informații locale, să putem extrage informații generale</a:t>
            </a:r>
          </a:p>
        </p:txBody>
      </p:sp>
      <p:sp>
        <p:nvSpPr>
          <p:cNvPr id="221" name="O operație ajutătoare în acest sens este operația de convoluție"/>
          <p:cNvSpPr txBox="1"/>
          <p:nvPr/>
        </p:nvSpPr>
        <p:spPr>
          <a:xfrm>
            <a:off x="1050181" y="10310392"/>
            <a:ext cx="21948577" cy="1436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 operație ajutătoare în acest sens este operația de convoluție</a:t>
            </a:r>
          </a:p>
        </p:txBody>
      </p:sp>
      <p:pic>
        <p:nvPicPr>
          <p:cNvPr id="222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0223697" y="8200348"/>
            <a:ext cx="1280082" cy="101601"/>
          </a:xfrm>
          <a:prstGeom prst="rect">
            <a:avLst/>
          </a:prstGeom>
        </p:spPr>
      </p:pic>
      <p:pic>
        <p:nvPicPr>
          <p:cNvPr id="224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584897" y="11215461"/>
            <a:ext cx="3033327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2" grpId="2"/>
      <p:bldP build="whole" bldLvl="1" animBg="1" rev="0" advAuto="0" spid="215" grpId="1"/>
      <p:bldP build="whole" bldLvl="1" animBg="1" rev="0" advAuto="0" spid="224" grpId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e este convoluți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sp>
        <p:nvSpPr>
          <p:cNvPr id="228" name="Convoluția reprezintă baza prin care putem extrage informații locale dintr-o imagine"/>
          <p:cNvSpPr txBox="1"/>
          <p:nvPr>
            <p:ph type="body" sz="quarter" idx="1"/>
          </p:nvPr>
        </p:nvSpPr>
        <p:spPr>
          <a:xfrm>
            <a:off x="1050181" y="2764647"/>
            <a:ext cx="21948577" cy="1871704"/>
          </a:xfrm>
          <a:prstGeom prst="rect">
            <a:avLst/>
          </a:prstGeom>
        </p:spPr>
        <p:txBody>
          <a:bodyPr/>
          <a:lstStyle/>
          <a:p>
            <a:pPr/>
            <a:r>
              <a:t>Convoluția reprezintă baza prin care putem extrage informații locale dintr-o imagine</a:t>
            </a:r>
          </a:p>
        </p:txBody>
      </p:sp>
      <p:sp>
        <p:nvSpPr>
          <p:cNvPr id="229" name="La început, imaginile au fost alb-negru"/>
          <p:cNvSpPr txBox="1"/>
          <p:nvPr/>
        </p:nvSpPr>
        <p:spPr>
          <a:xfrm>
            <a:off x="1050181" y="4327050"/>
            <a:ext cx="21948577" cy="110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La început, imaginile au fost alb-negru</a:t>
            </a:r>
          </a:p>
        </p:txBody>
      </p:sp>
      <p:sp>
        <p:nvSpPr>
          <p:cNvPr id="230" name="Aceste imagini au fost concepute ca fiind o matrice de valori, iar cu cât valoarea dintr-un punct era mai mare, cu atât acel punct era mai luminos"/>
          <p:cNvSpPr txBox="1"/>
          <p:nvPr/>
        </p:nvSpPr>
        <p:spPr>
          <a:xfrm>
            <a:off x="1050181" y="5220123"/>
            <a:ext cx="21948577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Aceste imagini au fost concepute ca fiind o matrice de valori, iar cu cât valoarea dintr-un punct era mai mare, cu atât acel punct era mai luminos</a:t>
            </a:r>
          </a:p>
        </p:txBody>
      </p:sp>
      <p:sp>
        <p:nvSpPr>
          <p:cNvPr id="231" name="Într-o astfel de imagine simplă, alb-negru, convoluția se uită peste valorile acelei matrice, „scanând”, iar mai apoi rezultă o nouă matrice cu informații extrase din cea originală"/>
          <p:cNvSpPr txBox="1"/>
          <p:nvPr/>
        </p:nvSpPr>
        <p:spPr>
          <a:xfrm>
            <a:off x="1050181" y="6843015"/>
            <a:ext cx="21948577" cy="2816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Într-o astfel de imagine simplă, alb-negru, convoluția se uită peste valorile acelei matrice, „scanând”, iar mai apoi rezultă o nouă matrice cu informații extrase din cea originală</a:t>
            </a:r>
          </a:p>
        </p:txBody>
      </p:sp>
      <p:pic>
        <p:nvPicPr>
          <p:cNvPr id="232" name="Captură de ecran din 2024-12-01 la 17.30.38.png" descr="Captură de ecran din 2024-12-01 la 17.30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87243" y="8726090"/>
            <a:ext cx="15944656" cy="49170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e este convoluți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sp>
        <p:nvSpPr>
          <p:cNvPr id="235" name="Putem observa că matricile noi obținute după procesul de convoluție evidențiază anumite aspecte (cum ar fi margini)"/>
          <p:cNvSpPr txBox="1"/>
          <p:nvPr>
            <p:ph type="body" sz="quarter" idx="1"/>
          </p:nvPr>
        </p:nvSpPr>
        <p:spPr>
          <a:xfrm>
            <a:off x="973981" y="7743047"/>
            <a:ext cx="21948577" cy="1871704"/>
          </a:xfrm>
          <a:prstGeom prst="rect">
            <a:avLst/>
          </a:prstGeom>
        </p:spPr>
        <p:txBody>
          <a:bodyPr/>
          <a:lstStyle/>
          <a:p>
            <a:pPr/>
            <a:r>
              <a:t>Putem observa că matricile noi obținute după procesul de convoluție evidențiază anumite aspecte (cum ar fi margini)</a:t>
            </a:r>
          </a:p>
        </p:txBody>
      </p:sp>
      <p:pic>
        <p:nvPicPr>
          <p:cNvPr id="236" name="Captură de ecran din 2024-12-01 la 17.30.38.png" descr="Captură de ecran din 2024-12-01 la 17.30.3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28243" y="2663968"/>
            <a:ext cx="15944656" cy="4917012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Asta reprezintă partea de identificare a caracteristicilor locale despre care vorbeam mai devreme"/>
          <p:cNvSpPr txBox="1"/>
          <p:nvPr/>
        </p:nvSpPr>
        <p:spPr>
          <a:xfrm>
            <a:off x="973981" y="9395818"/>
            <a:ext cx="21948577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Asta reprezintă partea de identificare a caracteristicilor locale despre care vorbeam mai devreme</a:t>
            </a:r>
          </a:p>
        </p:txBody>
      </p:sp>
      <p:sp>
        <p:nvSpPr>
          <p:cNvPr id="238" name="Și chiar dacă unele dintre acestea poate par inutile sau slabe, scopul nostru este să identificăm cât mai multe informații locale ca sa avem o intuiție globală"/>
          <p:cNvSpPr txBox="1"/>
          <p:nvPr/>
        </p:nvSpPr>
        <p:spPr>
          <a:xfrm>
            <a:off x="973981" y="11021418"/>
            <a:ext cx="21948577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Și chiar dacă unele dintre acestea poate par inutile sau slabe, scopul nostru este să identificăm cât mai multe informații locale ca sa avem o intuiție globală</a:t>
            </a:r>
          </a:p>
        </p:txBody>
      </p:sp>
      <p:pic>
        <p:nvPicPr>
          <p:cNvPr id="239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30715" y="9250398"/>
            <a:ext cx="2263884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Ce este convoluți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sp>
        <p:nvSpPr>
          <p:cNvPr id="243" name="Convoluția presupune aplicarea unui filtru (kernel) care se ocupă cu această parte de scanare"/>
          <p:cNvSpPr txBox="1"/>
          <p:nvPr/>
        </p:nvSpPr>
        <p:spPr>
          <a:xfrm>
            <a:off x="973981" y="9095821"/>
            <a:ext cx="21948577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Convoluția presupune aplicarea unui filtru (kernel) care se ocupă cu această parte de scanare</a:t>
            </a:r>
          </a:p>
        </p:txBody>
      </p:sp>
      <p:pic>
        <p:nvPicPr>
          <p:cNvPr id="244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67472" y="2582188"/>
            <a:ext cx="16561564" cy="6433225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Prima dată filtrul este așezat în stânga sus ca în imagine"/>
          <p:cNvSpPr txBox="1"/>
          <p:nvPr/>
        </p:nvSpPr>
        <p:spPr>
          <a:xfrm>
            <a:off x="973981" y="10848421"/>
            <a:ext cx="21948577" cy="1201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Prima dată filtrul este așezat în stânga sus ca în imagine</a:t>
            </a:r>
          </a:p>
        </p:txBody>
      </p:sp>
      <p:sp>
        <p:nvSpPr>
          <p:cNvPr id="246" name="Prima valoare rezultată în output este dată de produsul elementelor de pe pozițiile corespunzătoare și adunarea lor"/>
          <p:cNvSpPr txBox="1"/>
          <p:nvPr/>
        </p:nvSpPr>
        <p:spPr>
          <a:xfrm>
            <a:off x="973981" y="11864421"/>
            <a:ext cx="21948577" cy="2159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Prima valoare rezultată în output este dată de produsul elementelor de pe pozițiile corespunzătoare și adunarea lor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e este convoluți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sp>
        <p:nvSpPr>
          <p:cNvPr id="249" name="Mai sus, valoarea -29 se obține ca: (-8) * 0 + 6 * 3 + 9 * (-3) + 5 * (-3) + 5 * 1 + 7 * (-2) + 1 * (-2) + (-5) * 0 + 2 * 3 =-29"/>
          <p:cNvSpPr txBox="1"/>
          <p:nvPr/>
        </p:nvSpPr>
        <p:spPr>
          <a:xfrm>
            <a:off x="973980" y="10213421"/>
            <a:ext cx="21948578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sus, valoarea -29 se obține ca: (-8) * 0 + 6 * 3 + 9 * (-3) + 5 * (-3) + 5 * 1 + 7 * (-2) + 1 * (-2) + (-5) * 0 + 2 * 3 =-29 </a:t>
            </a:r>
          </a:p>
        </p:txBody>
      </p:sp>
      <p:pic>
        <p:nvPicPr>
          <p:cNvPr id="250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67472" y="2582188"/>
            <a:ext cx="16561564" cy="64332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e este convoluți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sp>
        <p:nvSpPr>
          <p:cNvPr id="253" name="Se continuă aplicarea filtrului ca mai sus, filtrul deplasându-se la dreapta și după în jos"/>
          <p:cNvSpPr txBox="1"/>
          <p:nvPr/>
        </p:nvSpPr>
        <p:spPr>
          <a:xfrm>
            <a:off x="973980" y="8968821"/>
            <a:ext cx="21948578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Se continuă aplicarea filtrului ca mai sus, filtrul deplasându-se la dreapta și după în jos</a:t>
            </a:r>
          </a:p>
        </p:txBody>
      </p:sp>
      <p:sp>
        <p:nvSpPr>
          <p:cNvPr id="254" name="De aceea spunem că filtrul scanează, deoarece se uită peste toate porțiunile din matricea care se potrivesc cu dimensiunile fitrului în stilul de mai sus"/>
          <p:cNvSpPr txBox="1"/>
          <p:nvPr/>
        </p:nvSpPr>
        <p:spPr>
          <a:xfrm>
            <a:off x="973980" y="10823021"/>
            <a:ext cx="21948578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aceea spunem că filtrul scanează, deoarece se uită peste toate porțiunile din matricea care se potrivesc cu dimensiunile fitrului în stilul de mai sus</a:t>
            </a:r>
          </a:p>
        </p:txBody>
      </p:sp>
      <p:pic>
        <p:nvPicPr>
          <p:cNvPr id="255" name="Conv2d_0p_1s_1inCh.gif" descr="Conv2d_0p_1s_1inCh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21100" y="2387600"/>
            <a:ext cx="15824200" cy="6146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50179" y="11708072"/>
            <a:ext cx="2987557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Ce este convoluți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pic>
        <p:nvPicPr>
          <p:cNvPr id="260" name="Captură de ecran din 2024-12-02 la 15.54.58.png" descr="Captură de ecran din 2024-12-02 la 15.54.5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71488" y="2492830"/>
            <a:ext cx="12041024" cy="9964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tride și Padd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Stride și Padding</a:t>
            </a:r>
          </a:p>
        </p:txBody>
      </p:sp>
      <p:sp>
        <p:nvSpPr>
          <p:cNvPr id="263" name="Stride-ul spune din câți în câți pixeli se obține celulele din matricea de ieșire"/>
          <p:cNvSpPr txBox="1"/>
          <p:nvPr/>
        </p:nvSpPr>
        <p:spPr>
          <a:xfrm>
            <a:off x="973980" y="8968821"/>
            <a:ext cx="21948578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Stride-ul spune din câți în câți pixeli se obține celulele din matricea de ieșire</a:t>
            </a:r>
          </a:p>
        </p:txBody>
      </p:sp>
      <p:sp>
        <p:nvSpPr>
          <p:cNvPr id="264" name="Exemplu:"/>
          <p:cNvSpPr txBox="1"/>
          <p:nvPr/>
        </p:nvSpPr>
        <p:spPr>
          <a:xfrm>
            <a:off x="973980" y="10043756"/>
            <a:ext cx="21948578" cy="1081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Exemplu:</a:t>
            </a:r>
          </a:p>
        </p:txBody>
      </p:sp>
      <p:pic>
        <p:nvPicPr>
          <p:cNvPr id="265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73686" y="3116931"/>
            <a:ext cx="15662028" cy="5262260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Stride = 1: Kernelul se deplasează câte un pixel pe rând și pe coloană"/>
          <p:cNvSpPr txBox="1"/>
          <p:nvPr/>
        </p:nvSpPr>
        <p:spPr>
          <a:xfrm>
            <a:off x="1880245" y="11012362"/>
            <a:ext cx="21948578" cy="1081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Stride = 1: Kernelul se deplasează câte un pixel pe rând și pe coloană</a:t>
            </a:r>
          </a:p>
        </p:txBody>
      </p:sp>
      <p:sp>
        <p:nvSpPr>
          <p:cNvPr id="267" name="Stride = 2 sau mai mare: Kernelul „sare” peste poziții, deplasându-se câte doi sau mai mulți pixeli pe rând și pe coloană"/>
          <p:cNvSpPr txBox="1"/>
          <p:nvPr/>
        </p:nvSpPr>
        <p:spPr>
          <a:xfrm>
            <a:off x="1880245" y="11704244"/>
            <a:ext cx="21948578" cy="2120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Stride = 2 sau mai mare: Kernelul „sare” peste poziții, deplasându-se câte doi sau mai mulți pixeli pe rând și pe coloană</a:t>
            </a:r>
          </a:p>
        </p:txBody>
      </p:sp>
      <p:pic>
        <p:nvPicPr>
          <p:cNvPr id="268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13657" y="9853872"/>
            <a:ext cx="5534351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tride și Padd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Stride și Padding</a:t>
            </a:r>
          </a:p>
        </p:txBody>
      </p:sp>
      <p:sp>
        <p:nvSpPr>
          <p:cNvPr id="272" name="Un stride mai mic analizează imaginea mai în detaliu"/>
          <p:cNvSpPr txBox="1"/>
          <p:nvPr/>
        </p:nvSpPr>
        <p:spPr>
          <a:xfrm>
            <a:off x="973980" y="8968821"/>
            <a:ext cx="21948578" cy="1081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Un stride mai mic analizează imaginea mai în detaliu</a:t>
            </a:r>
          </a:p>
        </p:txBody>
      </p:sp>
      <p:sp>
        <p:nvSpPr>
          <p:cNvPr id="273" name="Un stride mare sare peste detalii"/>
          <p:cNvSpPr txBox="1"/>
          <p:nvPr/>
        </p:nvSpPr>
        <p:spPr>
          <a:xfrm>
            <a:off x="973980" y="10043756"/>
            <a:ext cx="21948578" cy="1081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Un stride mare sare peste detalii</a:t>
            </a:r>
          </a:p>
        </p:txBody>
      </p:sp>
      <p:pic>
        <p:nvPicPr>
          <p:cNvPr id="274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60986" y="3104231"/>
            <a:ext cx="15662028" cy="5262260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Ieșirea reprezintă tot detalii locale, dar cu o granularitate mai mică (stride mare) sau mai mare (stride mic)"/>
          <p:cNvSpPr txBox="1"/>
          <p:nvPr/>
        </p:nvSpPr>
        <p:spPr>
          <a:xfrm>
            <a:off x="973980" y="11074703"/>
            <a:ext cx="21948578" cy="2223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Ieșirea reprezintă tot detalii locale, dar cu o granularitate mai mică (stride mare) sau mai mare (stride mic)</a:t>
            </a:r>
          </a:p>
        </p:txBody>
      </p:sp>
      <p:pic>
        <p:nvPicPr>
          <p:cNvPr id="276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38743" y="9868260"/>
            <a:ext cx="2663445" cy="101601"/>
          </a:xfrm>
          <a:prstGeom prst="rect">
            <a:avLst/>
          </a:prstGeom>
        </p:spPr>
      </p:pic>
      <p:pic>
        <p:nvPicPr>
          <p:cNvPr id="278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75998" y="10834548"/>
            <a:ext cx="1396164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8" grpId="2"/>
      <p:bldP build="whole" bldLvl="1" animBg="1" rev="0" advAuto="0" spid="27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tride și Padd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Stride și Padding</a:t>
            </a:r>
          </a:p>
        </p:txBody>
      </p:sp>
      <p:sp>
        <p:nvSpPr>
          <p:cNvPr id="282" name="Padding adaugă margini artificiale în jurul datelor de intrare"/>
          <p:cNvSpPr txBox="1"/>
          <p:nvPr/>
        </p:nvSpPr>
        <p:spPr>
          <a:xfrm>
            <a:off x="973980" y="9071919"/>
            <a:ext cx="21948578" cy="10811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Padding adaugă margini artificiale în jurul datelor de intrare</a:t>
            </a:r>
          </a:p>
        </p:txBody>
      </p:sp>
      <p:sp>
        <p:nvSpPr>
          <p:cNvPr id="283" name="În absența padding-ului, părțile din imagine aflate la margini sunt procesate mai puțin sau chiar pierdute…"/>
          <p:cNvSpPr txBox="1"/>
          <p:nvPr/>
        </p:nvSpPr>
        <p:spPr>
          <a:xfrm>
            <a:off x="973980" y="10246428"/>
            <a:ext cx="21948578" cy="3022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0638" indent="-540638" defTabSz="2413955">
              <a:spcBef>
                <a:spcPts val="2300"/>
              </a:spcBef>
              <a:buSzPct val="150000"/>
              <a:buChar char="•"/>
              <a:defRPr sz="4356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În absența padding-ului, părțile din imagine aflate la margini sunt procesate mai puțin sau chiar pierdute</a:t>
            </a:r>
          </a:p>
          <a:p>
            <a:pPr marL="540638" indent="-540638" defTabSz="2413955">
              <a:spcBef>
                <a:spcPts val="2300"/>
              </a:spcBef>
              <a:buSzPct val="150000"/>
              <a:buChar char="•"/>
              <a:defRPr sz="4356"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Padding asigură că toți pixelii contribuie în mod egal la obținerea informațiilor locale</a:t>
            </a:r>
          </a:p>
        </p:txBody>
      </p:sp>
      <p:pic>
        <p:nvPicPr>
          <p:cNvPr id="284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21180" y="2282922"/>
            <a:ext cx="6941639" cy="66956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36669" y="9875490"/>
            <a:ext cx="6694181" cy="101601"/>
          </a:xfrm>
          <a:prstGeom prst="rect">
            <a:avLst/>
          </a:prstGeom>
        </p:spPr>
      </p:pic>
      <p:pic>
        <p:nvPicPr>
          <p:cNvPr id="287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34797" y="12798295"/>
            <a:ext cx="3297577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5" grpId="1"/>
      <p:bldP build="whole" bldLvl="1" animBg="1" rev="0" advAuto="0" spid="287" grpId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tride și Padd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Stride și Padding</a:t>
            </a:r>
          </a:p>
        </p:txBody>
      </p:sp>
      <p:sp>
        <p:nvSpPr>
          <p:cNvPr id="291" name="Mai este folosit și pentru a nu reduce dimensiunea matricei de intrare în urma convoluției (păstrăm mai multă informație)…"/>
          <p:cNvSpPr txBox="1"/>
          <p:nvPr/>
        </p:nvSpPr>
        <p:spPr>
          <a:xfrm>
            <a:off x="253189" y="9435993"/>
            <a:ext cx="23877622" cy="3620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Mai este folosit și pentru a nu reduce dimensiunea matricei de intrare în urma convoluției (păstrăm mai multă informație)</a:t>
            </a:r>
          </a:p>
          <a:p>
            <a: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pPr>
            <a:r>
              <a:t>De exemplu, sus se aplică un filtru de 3x3 asupra unei imagini de 2x2, cu padding, rezultatul este tot o matrice 2x2</a:t>
            </a:r>
          </a:p>
        </p:txBody>
      </p:sp>
      <p:pic>
        <p:nvPicPr>
          <p:cNvPr id="292" name="film lipit.png" descr="film lipi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34922" y="2486770"/>
            <a:ext cx="7026694" cy="70266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tride și Padd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Stride și Padding</a:t>
            </a:r>
          </a:p>
        </p:txBody>
      </p:sp>
      <p:sp>
        <p:nvSpPr>
          <p:cNvPr id="295" name="Stride:"/>
          <p:cNvSpPr txBox="1"/>
          <p:nvPr/>
        </p:nvSpPr>
        <p:spPr>
          <a:xfrm>
            <a:off x="596065" y="2952511"/>
            <a:ext cx="23877623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Stride:</a:t>
            </a:r>
          </a:p>
        </p:txBody>
      </p:sp>
      <p:sp>
        <p:nvSpPr>
          <p:cNvPr id="296" name="Padding:"/>
          <p:cNvSpPr txBox="1"/>
          <p:nvPr/>
        </p:nvSpPr>
        <p:spPr>
          <a:xfrm>
            <a:off x="596065" y="7692757"/>
            <a:ext cx="23877623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Padding:</a:t>
            </a:r>
          </a:p>
        </p:txBody>
      </p:sp>
      <p:pic>
        <p:nvPicPr>
          <p:cNvPr id="297" name="Captură de ecran din 2024-12-02 la 15.57.25.png" descr="Captură de ecran din 2024-12-02 la 15.57.2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70584" y="4206936"/>
            <a:ext cx="12042832" cy="3260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8" name="Captură de ecran din 2024-12-02 la 15.57.48.png" descr="Captură de ecran din 2024-12-02 la 15.57.4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44521" y="9645170"/>
            <a:ext cx="12409652" cy="28315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e este convoluția?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sp>
        <p:nvSpPr>
          <p:cNvPr id="301" name="Imaginile din ziua de azi au de obicei 3 canale (unul pentru fiecare dintre culorile roșu, verde și albastru)"/>
          <p:cNvSpPr txBox="1"/>
          <p:nvPr>
            <p:ph type="body" sz="quarter" idx="1"/>
          </p:nvPr>
        </p:nvSpPr>
        <p:spPr>
          <a:xfrm>
            <a:off x="973981" y="3018647"/>
            <a:ext cx="21948577" cy="1871704"/>
          </a:xfrm>
          <a:prstGeom prst="rect">
            <a:avLst/>
          </a:prstGeom>
        </p:spPr>
        <p:txBody>
          <a:bodyPr/>
          <a:lstStyle/>
          <a:p>
            <a:pPr/>
            <a:r>
              <a:t>Imaginile din ziua de azi au de obicei 3 canale (unul pentru fiecare dintre culorile roșu, verde și albastru)</a:t>
            </a:r>
          </a:p>
        </p:txBody>
      </p:sp>
      <p:sp>
        <p:nvSpPr>
          <p:cNvPr id="302" name="Cele 3 canale vor fi reprezentate prin 3 matrici care ne ajută să reprezentăm orice culoare posibilă"/>
          <p:cNvSpPr txBox="1"/>
          <p:nvPr/>
        </p:nvSpPr>
        <p:spPr>
          <a:xfrm>
            <a:off x="903739" y="4957135"/>
            <a:ext cx="9216629" cy="2576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29717" indent="-529717" defTabSz="2365188">
              <a:spcBef>
                <a:spcPts val="2300"/>
              </a:spcBef>
              <a:buSzPct val="150000"/>
              <a:buChar char="•"/>
              <a:defRPr sz="4268"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Cele 3 canale vor fi reprezentate prin 3 matrici care ne ajută să reprezentăm orice culoare posibilă</a:t>
            </a:r>
          </a:p>
        </p:txBody>
      </p:sp>
      <p:pic>
        <p:nvPicPr>
          <p:cNvPr id="303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079567" y="4981477"/>
            <a:ext cx="13449301" cy="7543801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Valoarea finală dintr-o anumită celulă din matricea rezultată se obține ca suma rezultatelor intermediare corespunzătoare fiecărui filtru"/>
          <p:cNvSpPr txBox="1"/>
          <p:nvPr/>
        </p:nvSpPr>
        <p:spPr>
          <a:xfrm>
            <a:off x="938311" y="9063847"/>
            <a:ext cx="9708556" cy="43242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Valoarea finală dintr-o anumită celulă din matricea rezultată se obține ca suma rezultatelor intermediare corespunzătoare fiecărui filtru</a:t>
            </a:r>
          </a:p>
        </p:txBody>
      </p:sp>
      <p:sp>
        <p:nvSpPr>
          <p:cNvPr id="305" name="În acest caz, vom folosi un filtru cu 3 canale"/>
          <p:cNvSpPr txBox="1"/>
          <p:nvPr/>
        </p:nvSpPr>
        <p:spPr>
          <a:xfrm>
            <a:off x="938311" y="7387548"/>
            <a:ext cx="10405964" cy="172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acest caz, vom folosi un filtru cu 3 canale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Ce este convoluți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sp>
        <p:nvSpPr>
          <p:cNvPr id="308" name="Ideea de bază este că dacă avem o intrare cu N canale, vom avea un filtru cu N canale pentru a produce o singură matrice de ieșire"/>
          <p:cNvSpPr txBox="1"/>
          <p:nvPr>
            <p:ph type="body" sz="quarter" idx="1"/>
          </p:nvPr>
        </p:nvSpPr>
        <p:spPr>
          <a:xfrm>
            <a:off x="973981" y="3436230"/>
            <a:ext cx="21948577" cy="1871704"/>
          </a:xfrm>
          <a:prstGeom prst="rect">
            <a:avLst/>
          </a:prstGeom>
        </p:spPr>
        <p:txBody>
          <a:bodyPr/>
          <a:lstStyle/>
          <a:p>
            <a:pPr/>
            <a:r>
              <a:t>Ideea de bază este că dacă avem o intrare cu N canale, vom avea un filtru cu N canale pentru a produce o singură matrice de ieșire</a:t>
            </a:r>
          </a:p>
        </p:txBody>
      </p:sp>
      <p:sp>
        <p:nvSpPr>
          <p:cNvPr id="309" name="Rolul acelei matrici de ieșire este să captureze informație locală din toate canalele"/>
          <p:cNvSpPr txBox="1"/>
          <p:nvPr/>
        </p:nvSpPr>
        <p:spPr>
          <a:xfrm>
            <a:off x="973981" y="5468230"/>
            <a:ext cx="21948577" cy="1106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Rolul acelei matrici de ieșire este să captureze informație locală din toate canalele</a:t>
            </a:r>
          </a:p>
        </p:txBody>
      </p:sp>
      <p:sp>
        <p:nvSpPr>
          <p:cNvPr id="310" name="Oare dintr-un input, este de ajuns să ajungem la un singur feature map?"/>
          <p:cNvSpPr txBox="1"/>
          <p:nvPr/>
        </p:nvSpPr>
        <p:spPr>
          <a:xfrm>
            <a:off x="963711" y="8073247"/>
            <a:ext cx="20437377" cy="1445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Oare dintr-un input, este de ajuns să ajungem la un singur feature map?</a:t>
            </a:r>
          </a:p>
        </p:txBody>
      </p:sp>
      <p:sp>
        <p:nvSpPr>
          <p:cNvPr id="311" name="Această matrice de ieșire mai poartă numele de hartă de caracteristici (feature map)"/>
          <p:cNvSpPr txBox="1"/>
          <p:nvPr/>
        </p:nvSpPr>
        <p:spPr>
          <a:xfrm>
            <a:off x="993477" y="6734956"/>
            <a:ext cx="22061588" cy="1445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Această matrice de ieșire mai poartă numele de hartă de caracteristici (feature map)</a:t>
            </a:r>
          </a:p>
        </p:txBody>
      </p:sp>
      <p:sp>
        <p:nvSpPr>
          <p:cNvPr id="312" name="Dacă am avea mai multe feature maps, am captura mai multă informație locală"/>
          <p:cNvSpPr txBox="1"/>
          <p:nvPr/>
        </p:nvSpPr>
        <p:spPr>
          <a:xfrm>
            <a:off x="963711" y="9337790"/>
            <a:ext cx="20437377" cy="1445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am avea mai multe feature maps, am captura mai multă informație locală</a:t>
            </a:r>
          </a:p>
        </p:txBody>
      </p:sp>
      <p:sp>
        <p:nvSpPr>
          <p:cNvPr id="313" name="Aceste informații locale pot fi combinate cumva mai în colo să obținem informații globale"/>
          <p:cNvSpPr txBox="1"/>
          <p:nvPr/>
        </p:nvSpPr>
        <p:spPr>
          <a:xfrm>
            <a:off x="963711" y="10633190"/>
            <a:ext cx="22691528" cy="2191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Aceste informații locale pot fi combinate cumva mai în colo să obținem informații globale</a:t>
            </a:r>
          </a:p>
        </p:txBody>
      </p:sp>
      <p:pic>
        <p:nvPicPr>
          <p:cNvPr id="314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86838" y="6242264"/>
            <a:ext cx="8909269" cy="101601"/>
          </a:xfrm>
          <a:prstGeom prst="rect">
            <a:avLst/>
          </a:prstGeom>
        </p:spPr>
      </p:pic>
      <p:pic>
        <p:nvPicPr>
          <p:cNvPr id="316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629715" y="7592808"/>
            <a:ext cx="9151970" cy="101601"/>
          </a:xfrm>
          <a:prstGeom prst="rect">
            <a:avLst/>
          </a:prstGeom>
        </p:spPr>
      </p:pic>
      <p:pic>
        <p:nvPicPr>
          <p:cNvPr id="318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312925" y="10084229"/>
            <a:ext cx="638289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18" grpId="3"/>
      <p:bldP build="whole" bldLvl="1" animBg="1" rev="0" advAuto="0" spid="314" grpId="1"/>
      <p:bldP build="whole" bldLvl="1" animBg="1" rev="0" advAuto="0" spid="316" grpId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e este convoluția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Ce este convoluția?</a:t>
            </a:r>
          </a:p>
        </p:txBody>
      </p:sp>
      <p:sp>
        <p:nvSpPr>
          <p:cNvPr id="322" name="Rezolvăm problema aplicând mai multe filtre:"/>
          <p:cNvSpPr txBox="1"/>
          <p:nvPr>
            <p:ph type="body" sz="quarter" idx="1"/>
          </p:nvPr>
        </p:nvSpPr>
        <p:spPr>
          <a:xfrm>
            <a:off x="942810" y="2621330"/>
            <a:ext cx="21948578" cy="1871705"/>
          </a:xfrm>
          <a:prstGeom prst="rect">
            <a:avLst/>
          </a:prstGeom>
        </p:spPr>
        <p:txBody>
          <a:bodyPr/>
          <a:lstStyle/>
          <a:p>
            <a:pPr/>
            <a:r>
              <a:t>Rezolvăm problema aplicând mai multe filtre:</a:t>
            </a:r>
          </a:p>
        </p:txBody>
      </p:sp>
      <p:pic>
        <p:nvPicPr>
          <p:cNvPr id="323" name="Captură de ecran din 2024-12-01 la 18.33.24.png" descr="Captură de ecran din 2024-12-01 la 18.33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11596" y="3350802"/>
            <a:ext cx="10411005" cy="4212826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Spre exemplu, pentru o imagine RGB ca cea de mai sus, ca să obținem două feature maps, atunci aplicăm două filtre diferite, fiecare cu 3 canale"/>
          <p:cNvSpPr txBox="1"/>
          <p:nvPr/>
        </p:nvSpPr>
        <p:spPr>
          <a:xfrm>
            <a:off x="434810" y="7757948"/>
            <a:ext cx="21948578" cy="1871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Spre exemplu, pentru o imagine RGB ca cea de mai sus, ca să obținem două feature maps, atunci aplicăm două filtre diferite, fiecare cu 3 canale</a:t>
            </a:r>
          </a:p>
        </p:txBody>
      </p:sp>
      <p:sp>
        <p:nvSpPr>
          <p:cNvPr id="325" name="Astfel, obținem două feature maps, fiecare dintre ele capturând diferit informațiile locale din imagine"/>
          <p:cNvSpPr txBox="1"/>
          <p:nvPr/>
        </p:nvSpPr>
        <p:spPr>
          <a:xfrm>
            <a:off x="434810" y="9586748"/>
            <a:ext cx="21948578" cy="1871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Astfel, obținem două feature maps, fiecare dintre ele capturând diferit informațiile locale din imagine</a:t>
            </a:r>
          </a:p>
        </p:txBody>
      </p:sp>
      <p:sp>
        <p:nvSpPr>
          <p:cNvPr id="326" name="În cazul de mai sus, se mai spune și că se trece de la 3 canale la 2 canale, pentru că obținem 2 feature maps care poate fi considerat un singur feature map cu două canale"/>
          <p:cNvSpPr txBox="1"/>
          <p:nvPr/>
        </p:nvSpPr>
        <p:spPr>
          <a:xfrm>
            <a:off x="434810" y="11428131"/>
            <a:ext cx="22705561" cy="1871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cazul de mai sus, se mai spune și că se trece de la 3 canale la 2 canale, pentru că obținem 2 feature maps care poate fi considerat un singur feature map cu două canale</a:t>
            </a:r>
          </a:p>
        </p:txBody>
      </p:sp>
      <p:pic>
        <p:nvPicPr>
          <p:cNvPr id="327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43826" y="12313182"/>
            <a:ext cx="8527929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Operația de Pooling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Operația de Pooling</a:t>
            </a:r>
          </a:p>
        </p:txBody>
      </p:sp>
      <p:sp>
        <p:nvSpPr>
          <p:cNvPr id="331" name="Pooling-ul este o operație care „rezumă” datele dintr-o matrice de intrare"/>
          <p:cNvSpPr txBox="1"/>
          <p:nvPr>
            <p:ph type="body" sz="quarter" idx="1"/>
          </p:nvPr>
        </p:nvSpPr>
        <p:spPr>
          <a:xfrm>
            <a:off x="813302" y="3556448"/>
            <a:ext cx="21948577" cy="1118374"/>
          </a:xfrm>
          <a:prstGeom prst="rect">
            <a:avLst/>
          </a:prstGeom>
        </p:spPr>
        <p:txBody>
          <a:bodyPr/>
          <a:lstStyle/>
          <a:p>
            <a:pPr/>
            <a:r>
              <a:t>Pooling-ul este o operație care „rezumă” datele dintr-o matrice de intrare</a:t>
            </a:r>
          </a:p>
        </p:txBody>
      </p:sp>
      <p:sp>
        <p:nvSpPr>
          <p:cNvPr id="332" name="Sunt două tipuri des folosite: max pooling și average pooling"/>
          <p:cNvSpPr txBox="1"/>
          <p:nvPr/>
        </p:nvSpPr>
        <p:spPr>
          <a:xfrm>
            <a:off x="434810" y="11827474"/>
            <a:ext cx="22705561" cy="1118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Sunt două tipuri des folosite: max pooling și average pooling</a:t>
            </a:r>
          </a:p>
        </p:txBody>
      </p:sp>
      <p:pic>
        <p:nvPicPr>
          <p:cNvPr id="333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0635" y="4951553"/>
            <a:ext cx="8082729" cy="659919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09980" y="4351067"/>
            <a:ext cx="438108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Operația de Pooling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Operația de Pooling</a:t>
            </a:r>
          </a:p>
        </p:txBody>
      </p:sp>
      <p:sp>
        <p:nvSpPr>
          <p:cNvPr id="338" name="Max pooling: alege cea mai mare valoare dintr-o fereastră"/>
          <p:cNvSpPr txBox="1"/>
          <p:nvPr>
            <p:ph type="body" sz="quarter" idx="1"/>
          </p:nvPr>
        </p:nvSpPr>
        <p:spPr>
          <a:xfrm>
            <a:off x="252231" y="9790565"/>
            <a:ext cx="21948578" cy="1118374"/>
          </a:xfrm>
          <a:prstGeom prst="rect">
            <a:avLst/>
          </a:prstGeom>
        </p:spPr>
        <p:txBody>
          <a:bodyPr/>
          <a:lstStyle/>
          <a:p>
            <a:pPr/>
            <a:r>
              <a:t>Max pooling: alege cea mai mare valoare dintr-o fereastră</a:t>
            </a:r>
          </a:p>
        </p:txBody>
      </p:sp>
      <p:sp>
        <p:nvSpPr>
          <p:cNvPr id="339" name="Average pooling: calculează media valorilor dintr-o fereastră"/>
          <p:cNvSpPr txBox="1"/>
          <p:nvPr/>
        </p:nvSpPr>
        <p:spPr>
          <a:xfrm>
            <a:off x="247786" y="10705334"/>
            <a:ext cx="22705561" cy="1118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Average pooling: calculează media valorilor dintr-o fereastră</a:t>
            </a:r>
          </a:p>
        </p:txBody>
      </p:sp>
      <p:pic>
        <p:nvPicPr>
          <p:cNvPr id="340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50636" y="3018977"/>
            <a:ext cx="8082729" cy="6599190"/>
          </a:xfrm>
          <a:prstGeom prst="rect">
            <a:avLst/>
          </a:prstGeom>
          <a:ln w="12700">
            <a:miter lim="400000"/>
          </a:ln>
        </p:spPr>
      </p:pic>
      <p:sp>
        <p:nvSpPr>
          <p:cNvPr id="341" name="Prin pooling, se reduce sensibilitatea la mici modificări sau translații ale imaginii (se reduce impactul zgomotului)"/>
          <p:cNvSpPr txBox="1"/>
          <p:nvPr/>
        </p:nvSpPr>
        <p:spPr>
          <a:xfrm>
            <a:off x="247786" y="11642769"/>
            <a:ext cx="22705561" cy="1969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Prin pooling, se reduce sensibilitatea la mici modificări sau translații ale imaginii (se reduce impactul zgomotului)</a:t>
            </a:r>
          </a:p>
        </p:txBody>
      </p:sp>
      <p:pic>
        <p:nvPicPr>
          <p:cNvPr id="342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25363" y="10579668"/>
            <a:ext cx="9919654" cy="101601"/>
          </a:xfrm>
          <a:prstGeom prst="rect">
            <a:avLst/>
          </a:prstGeom>
        </p:spPr>
      </p:pic>
      <p:pic>
        <p:nvPicPr>
          <p:cNvPr id="344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79429" y="11642769"/>
            <a:ext cx="8625141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44" grpId="2"/>
      <p:bldP build="whole" bldLvl="1" animBg="1" rev="0" advAuto="0" spid="34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Operația de Pooling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Operația de Pooling</a:t>
            </a:r>
          </a:p>
        </p:txBody>
      </p:sp>
      <p:sp>
        <p:nvSpPr>
          <p:cNvPr id="348" name="Aplicarea pooling pe o imagine:"/>
          <p:cNvSpPr txBox="1"/>
          <p:nvPr>
            <p:ph type="body" sz="quarter" idx="1"/>
          </p:nvPr>
        </p:nvSpPr>
        <p:spPr>
          <a:xfrm>
            <a:off x="408084" y="3259221"/>
            <a:ext cx="21948578" cy="1118374"/>
          </a:xfrm>
          <a:prstGeom prst="rect">
            <a:avLst/>
          </a:prstGeom>
        </p:spPr>
        <p:txBody>
          <a:bodyPr/>
          <a:lstStyle/>
          <a:p>
            <a:pPr/>
            <a:r>
              <a:t>Aplicarea pooling pe o imagine:</a:t>
            </a:r>
          </a:p>
        </p:txBody>
      </p:sp>
      <p:pic>
        <p:nvPicPr>
          <p:cNvPr id="349" name="Captură de ecran din 2024-12-02 la 12.13.21.png" descr="Captură de ecran din 2024-12-02 la 12.13.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9565" y="4952566"/>
            <a:ext cx="22184870" cy="60606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Operația de Pooling"/>
          <p:cNvSpPr txBox="1"/>
          <p:nvPr>
            <p:ph type="title"/>
          </p:nvPr>
        </p:nvSpPr>
        <p:spPr>
          <a:xfrm>
            <a:off x="1219200" y="770025"/>
            <a:ext cx="21945600" cy="1727201"/>
          </a:xfrm>
          <a:prstGeom prst="rect">
            <a:avLst/>
          </a:prstGeom>
        </p:spPr>
        <p:txBody>
          <a:bodyPr/>
          <a:lstStyle/>
          <a:p>
            <a:pPr/>
            <a:r>
              <a:t>Operația de Pooling</a:t>
            </a:r>
          </a:p>
        </p:txBody>
      </p:sp>
      <p:sp>
        <p:nvSpPr>
          <p:cNvPr id="352" name="În pyTorch, MaxPool2d(k) primește dimensiunea „ferestrei” de scanare: mai sus e 3, deci fereastra va avea dimensiunea 3x3"/>
          <p:cNvSpPr txBox="1"/>
          <p:nvPr>
            <p:ph type="body" sz="quarter" idx="1"/>
          </p:nvPr>
        </p:nvSpPr>
        <p:spPr>
          <a:xfrm>
            <a:off x="13499729" y="2614085"/>
            <a:ext cx="10816661" cy="3442775"/>
          </a:xfrm>
          <a:prstGeom prst="rect">
            <a:avLst/>
          </a:prstGeom>
        </p:spPr>
        <p:txBody>
          <a:bodyPr/>
          <a:lstStyle/>
          <a:p>
            <a:pPr/>
            <a:r>
              <a:t>În pyTorch, MaxPool2d(k) primește dimensiunea „ferestrei” de scanare: mai sus e 3, deci fereastra va avea dimensiunea 3x3</a:t>
            </a:r>
          </a:p>
        </p:txBody>
      </p:sp>
      <p:pic>
        <p:nvPicPr>
          <p:cNvPr id="353" name="Captură de ecran din 2024-12-02 la 16.04.37.png" descr="Captură de ecran din 2024-12-02 la 16.04.3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9290" y="2728293"/>
            <a:ext cx="12897647" cy="5578744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Tot în PyTorch, default, stride = k dacă nu este specificat contrar, deci în cazul de mai sus stride = 3"/>
          <p:cNvSpPr txBox="1"/>
          <p:nvPr/>
        </p:nvSpPr>
        <p:spPr>
          <a:xfrm>
            <a:off x="13637197" y="5826973"/>
            <a:ext cx="10541727" cy="265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Tot în PyTorch, default, stride = k dacă nu este specificat contrar, deci în cazul de mai sus stride = 3</a:t>
            </a:r>
          </a:p>
        </p:txBody>
      </p:sp>
      <p:sp>
        <p:nvSpPr>
          <p:cNvPr id="355" name="Mai sus, ieșirea este 10, deoarece fereastra se aplică doar o dată (nu se poate deplasa mai în dreapta sau în jos, din cauza stride-ului mare)"/>
          <p:cNvSpPr txBox="1"/>
          <p:nvPr/>
        </p:nvSpPr>
        <p:spPr>
          <a:xfrm>
            <a:off x="454357" y="9071031"/>
            <a:ext cx="23074494" cy="2232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sus, ieșirea este 10, deoarece fereastra se aplică doar o dată (nu se poate deplasa mai în dreapta sau în jos, din cauza stride-ului mare)</a:t>
            </a:r>
          </a:p>
        </p:txBody>
      </p:sp>
      <p:pic>
        <p:nvPicPr>
          <p:cNvPr id="356" name="Dreptunghi Dreptunghi" descr="Dreptunghi Dreptunghi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65460" y="5611129"/>
            <a:ext cx="2625608" cy="1581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6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Un aspect important.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 aspect important..</a:t>
            </a:r>
          </a:p>
        </p:txBody>
      </p:sp>
      <p:sp>
        <p:nvSpPr>
          <p:cNvPr id="360" name="Tot ce am vorbit până acum este foarte esențial, dar lipsesc răspunsurile la unele întrebări"/>
          <p:cNvSpPr txBox="1"/>
          <p:nvPr>
            <p:ph type="body" sz="quarter" idx="1"/>
          </p:nvPr>
        </p:nvSpPr>
        <p:spPr>
          <a:xfrm>
            <a:off x="702057" y="2846600"/>
            <a:ext cx="22979886" cy="1138830"/>
          </a:xfrm>
          <a:prstGeom prst="rect">
            <a:avLst/>
          </a:prstGeom>
        </p:spPr>
        <p:txBody>
          <a:bodyPr/>
          <a:lstStyle>
            <a:lvl1pPr marL="535177" indent="-535177" defTabSz="2389572">
              <a:spcBef>
                <a:spcPts val="2300"/>
              </a:spcBef>
              <a:defRPr sz="4312"/>
            </a:lvl1pPr>
          </a:lstStyle>
          <a:p>
            <a:pPr/>
            <a:r>
              <a:t>Tot ce am vorbit până acum este foarte esențial, dar lipsesc răspunsurile la unele întrebări</a:t>
            </a:r>
          </a:p>
        </p:txBody>
      </p:sp>
      <p:sp>
        <p:nvSpPr>
          <p:cNvPr id="361" name="Avem operația de convoluție, dar cum știm ce filtru să aplicăm să extragem informații importante?"/>
          <p:cNvSpPr txBox="1"/>
          <p:nvPr/>
        </p:nvSpPr>
        <p:spPr>
          <a:xfrm>
            <a:off x="693445" y="3956082"/>
            <a:ext cx="21948578" cy="1948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Avem operația de convoluție, dar cum știm ce filtru să aplicăm să extragem informații importante?</a:t>
            </a:r>
          </a:p>
        </p:txBody>
      </p:sp>
      <p:sp>
        <p:nvSpPr>
          <p:cNvPr id="362" name="După ce aplicăm convoluția obținem informații locale, cum putem combina mai multe informații locale să obținem informații globale?"/>
          <p:cNvSpPr txBox="1"/>
          <p:nvPr/>
        </p:nvSpPr>
        <p:spPr>
          <a:xfrm>
            <a:off x="693445" y="5595465"/>
            <a:ext cx="21948578" cy="1948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După ce aplicăm convoluția obținem informații locale, cum putem combina mai multe informații locale să obținem informații globale?</a:t>
            </a:r>
          </a:p>
        </p:txBody>
      </p:sp>
      <p:sp>
        <p:nvSpPr>
          <p:cNvPr id="363" name="Mai exact, cum continuăm acel proces de imitare a structurii ierarhice ale creierului când vine vorba de percepția vizuală?"/>
          <p:cNvSpPr txBox="1"/>
          <p:nvPr/>
        </p:nvSpPr>
        <p:spPr>
          <a:xfrm>
            <a:off x="693445" y="7358312"/>
            <a:ext cx="21948578" cy="1948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exact, cum continuăm acel proces de imitare a structurii ierarhice ale creierului când vine vorba de percepția vizuală?</a:t>
            </a:r>
          </a:p>
        </p:txBody>
      </p:sp>
      <p:sp>
        <p:nvSpPr>
          <p:cNvPr id="364" name="Răspuns: Rețele neuronale convoluționale"/>
          <p:cNvSpPr txBox="1"/>
          <p:nvPr/>
        </p:nvSpPr>
        <p:spPr>
          <a:xfrm>
            <a:off x="2339962" y="10076006"/>
            <a:ext cx="19704076" cy="1665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200"/>
            </a:lvl1pPr>
          </a:lstStyle>
          <a:p>
            <a:pPr/>
            <a:r>
              <a:t>Răspuns: Rețele neuronale convoluționale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4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țele neuronale convoluțion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Rețele neuronale convoluționale</a:t>
            </a:r>
          </a:p>
        </p:txBody>
      </p:sp>
      <p:sp>
        <p:nvSpPr>
          <p:cNvPr id="367" name="Avem operația de convoluție, dar cum știm ce filtru să aplicăm?"/>
          <p:cNvSpPr txBox="1"/>
          <p:nvPr/>
        </p:nvSpPr>
        <p:spPr>
          <a:xfrm>
            <a:off x="693445" y="3339000"/>
            <a:ext cx="21948578" cy="113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Avem operația de convoluție, dar cum știm ce filtru să aplicăm?</a:t>
            </a:r>
          </a:p>
        </p:txBody>
      </p:sp>
      <p:sp>
        <p:nvSpPr>
          <p:cNvPr id="368" name="Răspuns: Facem un model care să învețe filtrul"/>
          <p:cNvSpPr txBox="1"/>
          <p:nvPr/>
        </p:nvSpPr>
        <p:spPr>
          <a:xfrm>
            <a:off x="649999" y="4230085"/>
            <a:ext cx="22035470" cy="1665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200"/>
            </a:lvl1pPr>
          </a:lstStyle>
          <a:p>
            <a:pPr/>
            <a:r>
              <a:t>Răspuns: Facem un model care să învețe filtrul</a:t>
            </a:r>
          </a:p>
        </p:txBody>
      </p:sp>
      <p:pic>
        <p:nvPicPr>
          <p:cNvPr id="369" name="Imagine" descr="Imagin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796" y="5646656"/>
            <a:ext cx="13410248" cy="5209117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Asta înseamnă să se învețe care sunt numerele necesare din filtru pentru a învăța informațiile locale din imagine"/>
          <p:cNvSpPr txBox="1"/>
          <p:nvPr/>
        </p:nvSpPr>
        <p:spPr>
          <a:xfrm>
            <a:off x="693445" y="11258646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Asta înseamnă să se învețe care sunt numerele necesare din filtru pentru a învăța informațiile locale din imagine</a:t>
            </a:r>
          </a:p>
        </p:txBody>
      </p:sp>
      <p:pic>
        <p:nvPicPr>
          <p:cNvPr id="371" name="Oval Oval" descr="Oval Oval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07470" y="7053667"/>
            <a:ext cx="3030461" cy="3047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32" presetID="4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3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7" dur="2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Class="entr" nodeType="afterEffect" presetSubtype="32" presetID="4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21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8" grpId="1"/>
      <p:bldP build="whole" bldLvl="1" animBg="1" rev="0" advAuto="0" spid="370" grpId="4"/>
      <p:bldP build="whole" bldLvl="1" animBg="1" rev="0" advAuto="0" spid="371" grpId="3"/>
      <p:bldP build="whole" bldLvl="1" animBg="1" rev="0" advAuto="0" spid="369" grpId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țele neuronale convoluțion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Rețele neuronale convoluționale</a:t>
            </a:r>
          </a:p>
        </p:txBody>
      </p:sp>
      <p:sp>
        <p:nvSpPr>
          <p:cNvPr id="375" name="După ce aplicăm convoluția obținem informații locale, cum putem combina mai multe informații locale să obținem informații globale?"/>
          <p:cNvSpPr txBox="1"/>
          <p:nvPr/>
        </p:nvSpPr>
        <p:spPr>
          <a:xfrm>
            <a:off x="693445" y="3339000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După ce aplicăm convoluția obținem informații locale, cum putem combina mai multe informații locale să obținem informații globale?</a:t>
            </a:r>
          </a:p>
        </p:txBody>
      </p:sp>
      <p:sp>
        <p:nvSpPr>
          <p:cNvPr id="376" name="Răspuns: Nu învățăm un singur filtru, învățam mai multe filtre"/>
          <p:cNvSpPr txBox="1"/>
          <p:nvPr/>
        </p:nvSpPr>
        <p:spPr>
          <a:xfrm>
            <a:off x="760706" y="5315826"/>
            <a:ext cx="22862587" cy="308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200"/>
            </a:lvl1pPr>
          </a:lstStyle>
          <a:p>
            <a:pPr/>
            <a:r>
              <a:t>Răspuns: Nu învățăm un singur filtru, învățam mai multe filtre</a:t>
            </a:r>
          </a:p>
        </p:txBody>
      </p:sp>
      <p:sp>
        <p:nvSpPr>
          <p:cNvPr id="377" name="Mai multe filtre = mai multe informații locale"/>
          <p:cNvSpPr txBox="1"/>
          <p:nvPr/>
        </p:nvSpPr>
        <p:spPr>
          <a:xfrm>
            <a:off x="760706" y="9041973"/>
            <a:ext cx="22862587" cy="1665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200"/>
            </a:lvl1pPr>
          </a:lstStyle>
          <a:p>
            <a:pPr/>
            <a:r>
              <a:t>Mai multe filtre = mai multe informații locale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76" grpId="1"/>
      <p:bldP build="whole" bldLvl="1" animBg="1" rev="0" advAuto="0" spid="377" grpId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țele neuronale convoluțion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Rețele neuronale convoluționale</a:t>
            </a:r>
          </a:p>
        </p:txBody>
      </p:sp>
      <p:sp>
        <p:nvSpPr>
          <p:cNvPr id="380" name="Mai exact, cum continuăm acel proces de imitare a structurii ierarhice ale creierului când vine vorba de percepția vizuală?"/>
          <p:cNvSpPr txBox="1"/>
          <p:nvPr/>
        </p:nvSpPr>
        <p:spPr>
          <a:xfrm>
            <a:off x="693445" y="3339000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Mai exact, cum continuăm acel proces de imitare a structurii ierarhice ale creierului când vine vorba de percepția vizuală?</a:t>
            </a:r>
          </a:p>
        </p:txBody>
      </p:sp>
      <p:sp>
        <p:nvSpPr>
          <p:cNvPr id="381" name="Răspuns: Folosim mai multe straturi convoluționale"/>
          <p:cNvSpPr txBox="1"/>
          <p:nvPr/>
        </p:nvSpPr>
        <p:spPr>
          <a:xfrm>
            <a:off x="168465" y="5463936"/>
            <a:ext cx="25471418" cy="1665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8200"/>
            </a:lvl1pPr>
          </a:lstStyle>
          <a:p>
            <a:pPr/>
            <a:r>
              <a:t>Răspuns: Folosim mai multe straturi convoluționale</a:t>
            </a:r>
          </a:p>
        </p:txBody>
      </p:sp>
      <p:sp>
        <p:nvSpPr>
          <p:cNvPr id="382" name="Fiecare strat va învăța un anumit număr de filtre (N), deci va da ca ieșire N feature maps"/>
          <p:cNvSpPr txBox="1"/>
          <p:nvPr/>
        </p:nvSpPr>
        <p:spPr>
          <a:xfrm>
            <a:off x="693445" y="7528666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Fiecare strat va învăța un anumit număr de filtre (N), deci va da ca ieșire N feature maps</a:t>
            </a:r>
          </a:p>
        </p:txBody>
      </p:sp>
      <p:sp>
        <p:nvSpPr>
          <p:cNvPr id="383" name="Stratul urmator va prelua cele N feature maps, și va aplica și el un anumit număr de filtre, și tot așa"/>
          <p:cNvSpPr txBox="1"/>
          <p:nvPr/>
        </p:nvSpPr>
        <p:spPr>
          <a:xfrm>
            <a:off x="693445" y="9141364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Stratul urmator va prelua cele N feature maps, și va aplica și el un anumit număr de filtre, și tot așa</a:t>
            </a:r>
          </a:p>
        </p:txBody>
      </p:sp>
      <p:sp>
        <p:nvSpPr>
          <p:cNvPr id="384" name="Practic, se folosesc informațiile locale de la stratul anterior pentru a învăța relații mai globale"/>
          <p:cNvSpPr txBox="1"/>
          <p:nvPr/>
        </p:nvSpPr>
        <p:spPr>
          <a:xfrm>
            <a:off x="693445" y="10826893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Practic, se folosesc informațiile locale de la stratul anterior pentru a învăța relații mai globale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Class="entr" nodeType="after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Class="entr" nodeType="after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3" grpId="3"/>
      <p:bldP build="whole" bldLvl="1" animBg="1" rev="0" advAuto="0" spid="382" grpId="2"/>
      <p:bldP build="whole" bldLvl="1" animBg="1" rev="0" advAuto="0" spid="381" grpId="1"/>
      <p:bldP build="whole" bldLvl="1" animBg="1" rev="0" advAuto="0" spid="384" grpId="4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țele neuronale convoluțion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Rețele neuronale convoluționale</a:t>
            </a:r>
          </a:p>
        </p:txBody>
      </p:sp>
      <p:sp>
        <p:nvSpPr>
          <p:cNvPr id="387" name="De exemplu, o rețea neuronală convoluțională clasică (LeNet) arată așa:"/>
          <p:cNvSpPr txBox="1"/>
          <p:nvPr/>
        </p:nvSpPr>
        <p:spPr>
          <a:xfrm>
            <a:off x="693445" y="2609094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exemplu, o rețea neuronală convoluțională clasică (LeNet) arată așa:</a:t>
            </a:r>
          </a:p>
        </p:txBody>
      </p:sp>
      <p:sp>
        <p:nvSpPr>
          <p:cNvPr id="388" name="Observăm că pe măsură ce înaintăm în straturi, scade rezoluția imaginii inițiale (prin convoluție), și crește numărul de canale (de informații locale extrase)"/>
          <p:cNvSpPr txBox="1"/>
          <p:nvPr/>
        </p:nvSpPr>
        <p:spPr>
          <a:xfrm>
            <a:off x="693445" y="8720452"/>
            <a:ext cx="21948578" cy="2024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Observăm că pe măsură ce înaintăm în straturi, scade rezoluția imaginii inițiale (prin convoluție), și crește numărul de canale (de informații locale extrase)</a:t>
            </a:r>
          </a:p>
        </p:txBody>
      </p:sp>
      <p:pic>
        <p:nvPicPr>
          <p:cNvPr id="389" name="Captură de ecran din 2024-12-02 la 12.52.01.png" descr="Captură de ecran din 2024-12-02 la 12.52.0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3255" y="3481155"/>
            <a:ext cx="10828178" cy="4234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390" name="Captură de ecran din 2024-12-02 la 12.52.48.png" descr="Captură de ecran din 2024-12-02 la 12.52.4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2876" y="3600822"/>
            <a:ext cx="8630104" cy="5205191"/>
          </a:xfrm>
          <a:prstGeom prst="rect">
            <a:avLst/>
          </a:prstGeom>
          <a:ln w="12700">
            <a:miter lim="400000"/>
          </a:ln>
        </p:spPr>
      </p:pic>
      <p:sp>
        <p:nvSpPr>
          <p:cNvPr id="391" name="La final de tot, avem un simplu MLP (mai poartă denumirea de fully connected network), care primește matricile final învățate (16 matrici de 5x5) și ia o decizie"/>
          <p:cNvSpPr txBox="1"/>
          <p:nvPr/>
        </p:nvSpPr>
        <p:spPr>
          <a:xfrm>
            <a:off x="693445" y="11238286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La final de tot, avem un simplu MLP (mai poartă denumirea de fully connected network), care primește matricile final învățate (16 matrici de 5x5) și ia o decizie</a:t>
            </a:r>
          </a:p>
        </p:txBody>
      </p:sp>
      <p:sp>
        <p:nvSpPr>
          <p:cNvPr id="392" name="Se folosește Average Pooling între straturile convoluționale pentru a elimina zgomot"/>
          <p:cNvSpPr txBox="1"/>
          <p:nvPr/>
        </p:nvSpPr>
        <p:spPr>
          <a:xfrm>
            <a:off x="693445" y="10310152"/>
            <a:ext cx="21948578" cy="1062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Se folosește Average Pooling între straturile convoluționale pentru a elimina zgomot</a:t>
            </a:r>
          </a:p>
        </p:txBody>
      </p:sp>
      <p:pic>
        <p:nvPicPr>
          <p:cNvPr id="393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14928" y="9507282"/>
            <a:ext cx="16702711" cy="101601"/>
          </a:xfrm>
          <a:prstGeom prst="rect">
            <a:avLst/>
          </a:prstGeom>
        </p:spPr>
      </p:pic>
      <p:pic>
        <p:nvPicPr>
          <p:cNvPr id="395" name="Linie Linie" descr="Linie Lini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933122" y="10310152"/>
            <a:ext cx="6956315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95" grpId="2"/>
      <p:bldP build="whole" bldLvl="1" animBg="1" rev="0" advAuto="0" spid="393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țele neuronale convoluțion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Rețele neuronale convoluționale</a:t>
            </a:r>
          </a:p>
        </p:txBody>
      </p:sp>
      <p:sp>
        <p:nvSpPr>
          <p:cNvPr id="399" name="De exemplu, o rețea neuronală convoluțională clasică (LeNet) arată așa:"/>
          <p:cNvSpPr txBox="1"/>
          <p:nvPr/>
        </p:nvSpPr>
        <p:spPr>
          <a:xfrm>
            <a:off x="693445" y="2609094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exemplu, o rețea neuronală convoluțională clasică (LeNet) arată așa:</a:t>
            </a:r>
          </a:p>
        </p:txBody>
      </p:sp>
      <p:sp>
        <p:nvSpPr>
          <p:cNvPr id="400" name="De asemenea, observăm folosirea funcției de activare Sigmoid după fiecare strat convoluțional"/>
          <p:cNvSpPr txBox="1"/>
          <p:nvPr/>
        </p:nvSpPr>
        <p:spPr>
          <a:xfrm>
            <a:off x="693445" y="8720452"/>
            <a:ext cx="21948578" cy="2024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De asemenea, observăm folosirea funcției de activare Sigmoid după fiecare strat convoluțional</a:t>
            </a:r>
          </a:p>
        </p:txBody>
      </p:sp>
      <p:pic>
        <p:nvPicPr>
          <p:cNvPr id="401" name="Captură de ecran din 2024-12-02 la 12.52.01.png" descr="Captură de ecran din 2024-12-02 la 12.52.0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4425" y="3493855"/>
            <a:ext cx="10828179" cy="4234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402" name="Captură de ecran din 2024-12-02 la 12.52.48.png" descr="Captură de ecran din 2024-12-02 la 12.52.4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2876" y="3600822"/>
            <a:ext cx="8630104" cy="5205191"/>
          </a:xfrm>
          <a:prstGeom prst="rect">
            <a:avLst/>
          </a:prstGeom>
          <a:ln w="12700">
            <a:miter lim="400000"/>
          </a:ln>
        </p:spPr>
      </p:pic>
      <p:sp>
        <p:nvSpPr>
          <p:cNvPr id="403" name="În acest caz, funcția de activare permite învățarea de filtre complexe, non-liniare, care pot captura detalii locale mai importante"/>
          <p:cNvSpPr txBox="1"/>
          <p:nvPr/>
        </p:nvSpPr>
        <p:spPr>
          <a:xfrm>
            <a:off x="693445" y="10216641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acest caz, funcția de activare permite învățarea de filtre complexe, non-liniare, care pot captura detalii locale mai importante</a:t>
            </a:r>
          </a:p>
        </p:txBody>
      </p:sp>
      <p:sp>
        <p:nvSpPr>
          <p:cNvPr id="404" name="Cu cât înaintăm mai adânc în straturi, cu atât modelul combină relații locale ca să învețe relații globale"/>
          <p:cNvSpPr txBox="1"/>
          <p:nvPr/>
        </p:nvSpPr>
        <p:spPr>
          <a:xfrm>
            <a:off x="693445" y="11736799"/>
            <a:ext cx="21948578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Cu cât înaintăm mai adânc în straturi, cu atât modelul combină relații locale ca să învețe relații globale</a:t>
            </a:r>
          </a:p>
        </p:txBody>
      </p:sp>
      <p:pic>
        <p:nvPicPr>
          <p:cNvPr id="405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03222" y="10953715"/>
            <a:ext cx="14529023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05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Structura clasică a unei rețele neuronale convoluționale"/>
          <p:cNvSpPr txBox="1"/>
          <p:nvPr>
            <p:ph type="title"/>
          </p:nvPr>
        </p:nvSpPr>
        <p:spPr>
          <a:xfrm>
            <a:off x="1001005" y="177784"/>
            <a:ext cx="21945601" cy="3328955"/>
          </a:xfrm>
          <a:prstGeom prst="rect">
            <a:avLst/>
          </a:prstGeom>
        </p:spPr>
        <p:txBody>
          <a:bodyPr/>
          <a:lstStyle/>
          <a:p>
            <a:pPr/>
            <a:r>
              <a:t>Structura clasică a unei rețele neuronale convoluționale</a:t>
            </a:r>
          </a:p>
        </p:txBody>
      </p:sp>
      <p:pic>
        <p:nvPicPr>
          <p:cNvPr id="409" name="Captură de ecran din 2024-12-02 la 13.03.00.png" descr="Captură de ecran din 2024-12-02 la 13.03.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8959" y="2888998"/>
            <a:ext cx="10345270" cy="10724300"/>
          </a:xfrm>
          <a:prstGeom prst="rect">
            <a:avLst/>
          </a:prstGeom>
          <a:ln w="12700">
            <a:miter lim="400000"/>
          </a:ln>
        </p:spPr>
      </p:pic>
      <p:sp>
        <p:nvSpPr>
          <p:cNvPr id="410" name="O rețea neuronală convoluțională clasică are următoarea structură:"/>
          <p:cNvSpPr txBox="1"/>
          <p:nvPr/>
        </p:nvSpPr>
        <p:spPr>
          <a:xfrm>
            <a:off x="11240670" y="3265601"/>
            <a:ext cx="13863829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 rețea neuronală convoluțională clasică are următoarea structură:</a:t>
            </a:r>
          </a:p>
        </p:txBody>
      </p:sp>
      <p:sp>
        <p:nvSpPr>
          <p:cNvPr id="411" name="Un strat convoluțional pentru a învăța N filtre"/>
          <p:cNvSpPr txBox="1"/>
          <p:nvPr/>
        </p:nvSpPr>
        <p:spPr>
          <a:xfrm>
            <a:off x="12115764" y="5013471"/>
            <a:ext cx="13863829" cy="1115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solidFill>
                  <a:schemeClr val="accent1"/>
                </a:solidFill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Un strat convoluțional pentru a învăța N filtre</a:t>
            </a:r>
          </a:p>
        </p:txBody>
      </p:sp>
      <p:sp>
        <p:nvSpPr>
          <p:cNvPr id="412" name="O funcție de activare pentru a învăța filtre complexe"/>
          <p:cNvSpPr txBox="1"/>
          <p:nvPr/>
        </p:nvSpPr>
        <p:spPr>
          <a:xfrm>
            <a:off x="12115764" y="5923305"/>
            <a:ext cx="12113641" cy="18693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solidFill>
                  <a:schemeClr val="accent2"/>
                </a:solidFill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 funcție de activare pentru a învăța filtre complexe</a:t>
            </a:r>
          </a:p>
        </p:txBody>
      </p:sp>
      <p:sp>
        <p:nvSpPr>
          <p:cNvPr id="413" name="O operație de pooling pentru filtrarea zgomotului"/>
          <p:cNvSpPr txBox="1"/>
          <p:nvPr/>
        </p:nvSpPr>
        <p:spPr>
          <a:xfrm>
            <a:off x="12115764" y="7420549"/>
            <a:ext cx="12113641" cy="1869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solidFill>
                  <a:schemeClr val="accent3"/>
                </a:solidFill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O operație de pooling pentru filtrarea zgomotului</a:t>
            </a:r>
          </a:p>
        </p:txBody>
      </p:sp>
      <p:pic>
        <p:nvPicPr>
          <p:cNvPr id="414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0800000">
            <a:off x="9409646" y="3515779"/>
            <a:ext cx="1003245" cy="457904"/>
          </a:xfrm>
          <a:prstGeom prst="rect">
            <a:avLst/>
          </a:prstGeom>
        </p:spPr>
      </p:pic>
      <p:pic>
        <p:nvPicPr>
          <p:cNvPr id="416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10800000">
            <a:off x="2710288" y="3767461"/>
            <a:ext cx="1003245" cy="457905"/>
          </a:xfrm>
          <a:prstGeom prst="rect">
            <a:avLst/>
          </a:prstGeom>
        </p:spPr>
      </p:pic>
      <p:pic>
        <p:nvPicPr>
          <p:cNvPr id="418" name="Linie Linie" descr="Linie Linie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10800000">
            <a:off x="10440593" y="4048844"/>
            <a:ext cx="1003245" cy="457904"/>
          </a:xfrm>
          <a:prstGeom prst="rect">
            <a:avLst/>
          </a:prstGeom>
        </p:spPr>
      </p:pic>
      <p:pic>
        <p:nvPicPr>
          <p:cNvPr id="420" name="Dreptunghi Dreptunghi" descr="Dreptunghi Dreptunghi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29544" y="3310613"/>
            <a:ext cx="10421471" cy="1371601"/>
          </a:xfrm>
          <a:prstGeom prst="rect">
            <a:avLst/>
          </a:prstGeom>
        </p:spPr>
      </p:pic>
      <p:sp>
        <p:nvSpPr>
          <p:cNvPr id="422" name="Acesta este un bloc fundamental"/>
          <p:cNvSpPr txBox="1"/>
          <p:nvPr/>
        </p:nvSpPr>
        <p:spPr>
          <a:xfrm>
            <a:off x="11461182" y="9346182"/>
            <a:ext cx="13863829" cy="1115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solidFill>
                  <a:schemeClr val="accent4"/>
                </a:solidFill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Acesta este un bloc fundamental</a:t>
            </a:r>
          </a:p>
        </p:txBody>
      </p:sp>
      <p:sp>
        <p:nvSpPr>
          <p:cNvPr id="423" name="După folosim mai multe astfel de blocuri"/>
          <p:cNvSpPr txBox="1"/>
          <p:nvPr/>
        </p:nvSpPr>
        <p:spPr>
          <a:xfrm>
            <a:off x="11461182" y="10374811"/>
            <a:ext cx="13863829" cy="111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solidFill>
                  <a:schemeClr val="accent4"/>
                </a:solidFill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După folosim mai multe astfel de blocuri</a:t>
            </a:r>
          </a:p>
        </p:txBody>
      </p:sp>
      <p:pic>
        <p:nvPicPr>
          <p:cNvPr id="424" name="Linie Linie" descr="Linie Linie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16200000">
            <a:off x="281543" y="5243679"/>
            <a:ext cx="1217540" cy="101601"/>
          </a:xfrm>
          <a:prstGeom prst="rect">
            <a:avLst/>
          </a:prstGeom>
        </p:spPr>
      </p:pic>
      <p:pic>
        <p:nvPicPr>
          <p:cNvPr id="426" name="Linie Linie" descr="Linie Linie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 rot="16200000">
            <a:off x="-32837" y="6807199"/>
            <a:ext cx="1846299" cy="101601"/>
          </a:xfrm>
          <a:prstGeom prst="rect">
            <a:avLst/>
          </a:prstGeom>
        </p:spPr>
      </p:pic>
      <p:pic>
        <p:nvPicPr>
          <p:cNvPr id="428" name="Linie Linie" descr="Linie Linie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rot="16200000">
            <a:off x="-38146" y="8520037"/>
            <a:ext cx="1856917" cy="101601"/>
          </a:xfrm>
          <a:prstGeom prst="rect">
            <a:avLst/>
          </a:prstGeom>
        </p:spPr>
      </p:pic>
      <p:pic>
        <p:nvPicPr>
          <p:cNvPr id="430" name="Linie Linie" descr="Linie Linie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 rot="16200000">
            <a:off x="-214908" y="12292846"/>
            <a:ext cx="2210442" cy="101601"/>
          </a:xfrm>
          <a:prstGeom prst="rect">
            <a:avLst/>
          </a:prstGeom>
        </p:spPr>
      </p:pic>
      <p:pic>
        <p:nvPicPr>
          <p:cNvPr id="432" name="Linie Linie" descr="Linie Linie"/>
          <p:cNvPicPr>
            <a:picLocks noChangeAspect="0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 rot="16200000">
            <a:off x="-121883" y="10383777"/>
            <a:ext cx="2024392" cy="101601"/>
          </a:xfrm>
          <a:prstGeom prst="rect">
            <a:avLst/>
          </a:prstGeom>
        </p:spPr>
      </p:pic>
      <p:sp>
        <p:nvSpPr>
          <p:cNvPr id="434" name="La final, se face flatten pentru a transmite valorile vizuale către un MLP pentru a lua decizii"/>
          <p:cNvSpPr txBox="1"/>
          <p:nvPr/>
        </p:nvSpPr>
        <p:spPr>
          <a:xfrm>
            <a:off x="11430011" y="11420497"/>
            <a:ext cx="12656943" cy="1846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35177" indent="-535177" defTabSz="2389572">
              <a:spcBef>
                <a:spcPts val="2300"/>
              </a:spcBef>
              <a:buSzPct val="150000"/>
              <a:buChar char="•"/>
              <a:defRPr sz="4312">
                <a:solidFill>
                  <a:schemeClr val="accent5"/>
                </a:solidFill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La final, se face flatten pentru a transmite valorile vizuale către un MLP pentru a lua decizii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8"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8" dur="2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8" dur="2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3" dur="2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Class="entr" nodeType="afterEffect" presetID="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7" dur="2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Class="entr" nodeType="afterEffect" presetID="9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1" dur="2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Class="entr" nodeType="afterEffect" presetID="9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5" dur="2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8000"/>
                            </p:stCondLst>
                            <p:childTnLst>
                              <p:par>
                                <p:cTn id="57" presetClass="entr" nodeType="afterEffect" presetID="9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9" dur="2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0"/>
                            </p:stCondLst>
                            <p:childTnLst>
                              <p:par>
                                <p:cTn id="61" presetClass="entr" nodeType="afterEffect" presetSubtype="8" presetID="2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Class="entr" nodeType="clickEffect" presetSubtype="8" presetID="2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entr" nodeType="clickEffect" presetID="9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5" dur="2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Class="entr" nodeType="afterEffect" presetSubtype="8" presetID="2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14" grpId="3"/>
      <p:bldP build="whole" bldLvl="1" animBg="1" rev="0" advAuto="0" spid="412" grpId="4"/>
      <p:bldP build="whole" bldLvl="1" animBg="1" rev="0" advAuto="0" spid="418" grpId="7"/>
      <p:bldP build="whole" bldLvl="1" animBg="1" rev="0" advAuto="0" spid="434" grpId="16"/>
      <p:bldP build="whole" bldLvl="1" animBg="1" rev="0" advAuto="0" spid="420" grpId="8"/>
      <p:bldP build="whole" bldLvl="1" animBg="1" rev="0" advAuto="0" spid="430" grpId="15"/>
      <p:bldP build="whole" bldLvl="1" animBg="1" rev="0" advAuto="0" spid="411" grpId="2"/>
      <p:bldP build="whole" bldLvl="1" animBg="1" rev="0" advAuto="0" spid="424" grpId="9"/>
      <p:bldP build="whole" bldLvl="1" animBg="1" rev="0" advAuto="0" spid="416" grpId="5"/>
      <p:bldP build="whole" bldLvl="1" animBg="1" rev="0" advAuto="0" spid="428" grpId="11"/>
      <p:bldP build="whole" bldLvl="1" animBg="1" rev="0" advAuto="0" spid="413" grpId="6"/>
      <p:bldP build="whole" bldLvl="1" animBg="1" rev="0" advAuto="0" spid="426" grpId="10"/>
      <p:bldP build="whole" bldLvl="1" animBg="1" rev="0" advAuto="0" spid="432" grpId="12"/>
      <p:bldP build="whole" bldLvl="1" animBg="1" rev="0" advAuto="0" spid="422" grpId="13"/>
      <p:bldP build="whole" bldLvl="1" animBg="1" rev="0" advAuto="0" spid="410" grpId="1"/>
      <p:bldP build="whole" bldLvl="1" animBg="1" rev="0" advAuto="0" spid="423" grpId="14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Batch Normaliz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Batch Normalization</a:t>
            </a:r>
          </a:p>
        </p:txBody>
      </p:sp>
      <p:sp>
        <p:nvSpPr>
          <p:cNvPr id="437" name="Pe măsură ce modelul își ajustează greutățile, distribuția valorilor de ieșire ale unui strat (adică valorile trimise ca intrare pentru următorul strat) se schimbă"/>
          <p:cNvSpPr txBox="1"/>
          <p:nvPr/>
        </p:nvSpPr>
        <p:spPr>
          <a:xfrm>
            <a:off x="662275" y="2796117"/>
            <a:ext cx="21948577" cy="2024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Pe măsură ce modelul își ajustează greutățile, distribuția valorilor de ieșire ale unui strat (adică valorile trimise ca intrare pentru următorul strat) se schimbă</a:t>
            </a:r>
          </a:p>
        </p:txBody>
      </p:sp>
      <p:sp>
        <p:nvSpPr>
          <p:cNvPr id="438" name="La începutul antrenării, un strat poate produce valori cu o anumită medie și dispersie"/>
          <p:cNvSpPr txBox="1"/>
          <p:nvPr/>
        </p:nvSpPr>
        <p:spPr>
          <a:xfrm>
            <a:off x="662275" y="4699841"/>
            <a:ext cx="21948577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La începutul antrenării, un strat poate produce valori cu o anumită medie și dispersie</a:t>
            </a:r>
          </a:p>
        </p:txBody>
      </p:sp>
      <p:sp>
        <p:nvSpPr>
          <p:cNvPr id="439" name="După câteva epoci de antrenare, ajustarea greutăților poate face ca aceste valori să devină mult mai mari sau mai mici"/>
          <p:cNvSpPr txBox="1"/>
          <p:nvPr/>
        </p:nvSpPr>
        <p:spPr>
          <a:xfrm>
            <a:off x="662275" y="6478882"/>
            <a:ext cx="21948577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După câteva epoci de antrenare, ajustarea greutăților poate face ca aceste valori să devină mult mai mari sau mai mici</a:t>
            </a:r>
          </a:p>
        </p:txBody>
      </p:sp>
      <p:sp>
        <p:nvSpPr>
          <p:cNvPr id="440" name="Această variație face ca următoarele straturi ale rețelei să fie nevoite să se „re-adapteze” constant la noile distribuții ale datelor, încetinind procesul de învățare"/>
          <p:cNvSpPr txBox="1"/>
          <p:nvPr/>
        </p:nvSpPr>
        <p:spPr>
          <a:xfrm>
            <a:off x="662275" y="8255605"/>
            <a:ext cx="22853742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Această variație face ca următoarele straturi ale rețelei să fie nevoite să se „re-adapteze” constant la noile distribuții ale datelor, încetinind procesul de învățare</a:t>
            </a:r>
          </a:p>
        </p:txBody>
      </p:sp>
      <p:sp>
        <p:nvSpPr>
          <p:cNvPr id="441" name="Batch Normalization ajută ca straturile unei rețele să învețe să dea ca ieșire date de o distribuție consistentă, practic să nu difere distribuțiile între epoci așa mult"/>
          <p:cNvSpPr txBox="1"/>
          <p:nvPr/>
        </p:nvSpPr>
        <p:spPr>
          <a:xfrm>
            <a:off x="662275" y="10161646"/>
            <a:ext cx="21948577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Batch Normalization ajută ca straturile unei rețele să învețe să dea ca ieșire date de o distribuție consistentă, practic să nu difere distribuțiile între epoci așa mult</a:t>
            </a:r>
          </a:p>
        </p:txBody>
      </p:sp>
      <p:pic>
        <p:nvPicPr>
          <p:cNvPr id="442" name="Linie Linie" descr="Linie Lini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824321" y="9217000"/>
            <a:ext cx="3803062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42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Batch Normaliz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Batch Normalization</a:t>
            </a:r>
          </a:p>
        </p:txBody>
      </p:sp>
      <p:sp>
        <p:nvSpPr>
          <p:cNvPr id="446" name="Batch Normalization ajută ca straturile unei rețele să învețe să dea ca ieșire date de o distribuție consistentă, practic să nu difere distribuțiile între epoci așa mult"/>
          <p:cNvSpPr txBox="1"/>
          <p:nvPr/>
        </p:nvSpPr>
        <p:spPr>
          <a:xfrm>
            <a:off x="459937" y="3085924"/>
            <a:ext cx="23464126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Batch Normalization ajută ca straturile unei rețele să învețe să dea ca ieșire date de o distribuție consistentă, practic să nu difere distribuțiile între epoci așa mult</a:t>
            </a:r>
          </a:p>
        </p:txBody>
      </p:sp>
      <p:pic>
        <p:nvPicPr>
          <p:cNvPr id="447" name="Captură de ecran din 2024-12-02 la 15.31.21.png" descr="Captură de ecran din 2024-12-02 la 15.31.2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36700" y="5395381"/>
            <a:ext cx="21310600" cy="6731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Batch Normaliz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Batch Normalization</a:t>
            </a:r>
          </a:p>
        </p:txBody>
      </p:sp>
      <p:sp>
        <p:nvSpPr>
          <p:cNvPr id="450" name="Batch Normalization ajută ca straturile unei rețele să învețe să dea ca ieșire date de o distribuție consistentă, practic să nu difere distribuțiile între epoci așa mult"/>
          <p:cNvSpPr txBox="1"/>
          <p:nvPr/>
        </p:nvSpPr>
        <p:spPr>
          <a:xfrm>
            <a:off x="459937" y="3085924"/>
            <a:ext cx="23464126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Batch Normalization ajută ca straturile unei rețele să învețe să dea ca ieșire date de o distribuție consistentă, practic să nu difere distribuțiile între epoci așa mult</a:t>
            </a:r>
          </a:p>
        </p:txBody>
      </p:sp>
      <p:pic>
        <p:nvPicPr>
          <p:cNvPr id="451" name="Captură de ecran din 2024-12-02 la 15.32.11.png" descr="Captură de ecran din 2024-12-02 la 15.32.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81472" y="5226779"/>
            <a:ext cx="16621056" cy="4739471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nn.BatchNorm2d(n), unde n este numărul de canale de ieșire din stratul convoluțional anterior, este folosit după un strat convoluțional"/>
          <p:cNvSpPr txBox="1"/>
          <p:nvPr/>
        </p:nvSpPr>
        <p:spPr>
          <a:xfrm>
            <a:off x="459937" y="10082714"/>
            <a:ext cx="23464126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nn.BatchNorm2d(n), unde n este numărul de canale de ieșire din stratul convoluțional anterior, este folosit după un strat convoluțional</a:t>
            </a:r>
          </a:p>
        </p:txBody>
      </p:sp>
      <p:sp>
        <p:nvSpPr>
          <p:cNvPr id="453" name="nn.BatchNorm1d(m), unde m este numărul de neuroni de ieșire din stratul liniar anterior, este folosit după un strat liniar"/>
          <p:cNvSpPr txBox="1"/>
          <p:nvPr/>
        </p:nvSpPr>
        <p:spPr>
          <a:xfrm>
            <a:off x="459937" y="11643560"/>
            <a:ext cx="23464126" cy="2024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nn.BatchNorm1d(m), unde m este numărul de neuroni de ieșire din stratul liniar anterior, este folosit după un strat liniar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Efectul straturilor asupra învățări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Efectul straturilor asupra învățării</a:t>
            </a:r>
          </a:p>
        </p:txBody>
      </p:sp>
      <p:sp>
        <p:nvSpPr>
          <p:cNvPr id="456" name="Cu cât avem mai multe straturi, cu atât se poate ca modelul să învețe mai greu"/>
          <p:cNvSpPr txBox="1"/>
          <p:nvPr/>
        </p:nvSpPr>
        <p:spPr>
          <a:xfrm>
            <a:off x="459937" y="3085924"/>
            <a:ext cx="23464126" cy="12630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Cu cât avem mai multe straturi, cu atât se poate ca modelul să învețe mai greu</a:t>
            </a:r>
          </a:p>
        </p:txBody>
      </p:sp>
      <p:sp>
        <p:nvSpPr>
          <p:cNvPr id="457" name="Asta pentru că există riscul să se uite informații din straturile anterioare"/>
          <p:cNvSpPr txBox="1"/>
          <p:nvPr/>
        </p:nvSpPr>
        <p:spPr>
          <a:xfrm>
            <a:off x="459937" y="4179211"/>
            <a:ext cx="23464126" cy="1263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Asta pentru că există riscul să se uite informații din straturile anterioare</a:t>
            </a:r>
          </a:p>
        </p:txBody>
      </p:sp>
      <p:pic>
        <p:nvPicPr>
          <p:cNvPr id="458" name="Captură de ecran din 2024-12-02 la 15.40.04.png" descr="Captură de ecran din 2024-12-02 la 15.40.0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703" y="5374576"/>
            <a:ext cx="4879607" cy="8568357"/>
          </a:xfrm>
          <a:prstGeom prst="rect">
            <a:avLst/>
          </a:prstGeom>
          <a:ln w="12700">
            <a:miter lim="400000"/>
          </a:ln>
        </p:spPr>
      </p:pic>
      <p:sp>
        <p:nvSpPr>
          <p:cNvPr id="459" name="Oval"/>
          <p:cNvSpPr/>
          <p:nvPr/>
        </p:nvSpPr>
        <p:spPr>
          <a:xfrm>
            <a:off x="7660677" y="7625676"/>
            <a:ext cx="670576" cy="743632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accent1"/>
            </a:solidFill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chemeClr val="accent5"/>
                </a:solidFill>
              </a:defRPr>
            </a:pPr>
          </a:p>
        </p:txBody>
      </p:sp>
      <p:pic>
        <p:nvPicPr>
          <p:cNvPr id="460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0800000">
            <a:off x="8505830" y="7794024"/>
            <a:ext cx="3227166" cy="405591"/>
          </a:xfrm>
          <a:prstGeom prst="rect">
            <a:avLst/>
          </a:prstGeom>
        </p:spPr>
      </p:pic>
      <p:sp>
        <p:nvSpPr>
          <p:cNvPr id="462" name="În acest punct, se poate să se fi uitat detalii importante din X"/>
          <p:cNvSpPr txBox="1"/>
          <p:nvPr/>
        </p:nvSpPr>
        <p:spPr>
          <a:xfrm>
            <a:off x="11949780" y="6371454"/>
            <a:ext cx="10238301" cy="1849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În acest punct, se poate să se fi uitat detalii importante din X</a:t>
            </a:r>
          </a:p>
        </p:txBody>
      </p:sp>
      <p:sp>
        <p:nvSpPr>
          <p:cNvPr id="463" name="Și oricum, acest strat se poate sau nu să fie util, și atunci doar adaugă complexitate în plus"/>
          <p:cNvSpPr txBox="1"/>
          <p:nvPr/>
        </p:nvSpPr>
        <p:spPr>
          <a:xfrm>
            <a:off x="11949780" y="8337518"/>
            <a:ext cx="10238301" cy="264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Și oricum, acest strat se poate sau nu să fie util, și atunci doar adaugă complexitate în plus</a:t>
            </a:r>
          </a:p>
        </p:txBody>
      </p:sp>
      <p:pic>
        <p:nvPicPr>
          <p:cNvPr id="464" name="Linie Linie" descr="Linie Linie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27141" y="5097162"/>
            <a:ext cx="11528763" cy="1016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2" dur="2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6" dur="2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Class="entr" nodeType="after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63" grpId="5"/>
      <p:bldP build="whole" bldLvl="1" animBg="1" rev="0" advAuto="0" spid="459" grpId="2"/>
      <p:bldP build="whole" bldLvl="1" animBg="1" rev="0" advAuto="0" spid="464" grpId="1"/>
      <p:bldP build="whole" bldLvl="1" animBg="1" rev="0" advAuto="0" spid="462" grpId="4"/>
      <p:bldP build="whole" bldLvl="1" animBg="1" rev="0" advAuto="0" spid="460" grpId="3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Conexiunile rezidua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Conexiunile reziduale</a:t>
            </a:r>
          </a:p>
        </p:txBody>
      </p:sp>
      <p:sp>
        <p:nvSpPr>
          <p:cNvPr id="468" name="Conexiunile reziduale rezolvă aceste probleme, oferind modelului opțiunea de a „sări peste” un strat dacă este necesar"/>
          <p:cNvSpPr txBox="1"/>
          <p:nvPr/>
        </p:nvSpPr>
        <p:spPr>
          <a:xfrm>
            <a:off x="459937" y="3373543"/>
            <a:ext cx="23464126" cy="1977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Conexiunile reziduale rezolvă aceste probleme, oferind modelului opțiunea de a „sări peste” un strat dacă este necesar</a:t>
            </a:r>
          </a:p>
        </p:txBody>
      </p:sp>
      <p:pic>
        <p:nvPicPr>
          <p:cNvPr id="469" name="Captură de ecran din 2024-12-02 la 15.43.27.png" descr="Captură de ecran din 2024-12-02 la 15.43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80189" y="5724420"/>
            <a:ext cx="9683142" cy="7525758"/>
          </a:xfrm>
          <a:prstGeom prst="rect">
            <a:avLst/>
          </a:prstGeom>
          <a:ln w="12700">
            <a:miter lim="400000"/>
          </a:ln>
        </p:spPr>
      </p:pic>
      <p:sp>
        <p:nvSpPr>
          <p:cNvPr id="470" name="Dacă stratul nu poate învăța nimic nou, conexiunea reziduală îi permite să lase ieșirea „aproape neschimbată”"/>
          <p:cNvSpPr txBox="1"/>
          <p:nvPr/>
        </p:nvSpPr>
        <p:spPr>
          <a:xfrm>
            <a:off x="11282831" y="5848895"/>
            <a:ext cx="10507634" cy="3469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stratul nu poate învăța nimic nou, conexiunea reziduală îi permite să lase ieșirea „aproape neschimbată”</a:t>
            </a:r>
          </a:p>
        </p:txBody>
      </p:sp>
      <p:sp>
        <p:nvSpPr>
          <p:cNvPr id="471" name="Dacă stratul poate învăța ceva util, adaugă această informație la ce știe deja despre X"/>
          <p:cNvSpPr txBox="1"/>
          <p:nvPr/>
        </p:nvSpPr>
        <p:spPr>
          <a:xfrm>
            <a:off x="11282831" y="8978969"/>
            <a:ext cx="10507634" cy="263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546100" indent="-546100" defTabSz="2438338">
              <a:buSzPct val="150000"/>
              <a:buChar char="•"/>
              <a:defRPr>
                <a:latin typeface="Canela Text Regular"/>
                <a:ea typeface="Canela Text Regular"/>
                <a:cs typeface="Canela Text Regular"/>
                <a:sym typeface="Canela Text Regular"/>
              </a:defRPr>
            </a:lvl1pPr>
          </a:lstStyle>
          <a:p>
            <a:pPr/>
            <a:r>
              <a:t>Dacă stratul poate învăța ceva util, adaugă această informație la ce știe deja despre 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Conexiunile reziduale (Arhitectura ResNe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Conexiunile reziduale (Arhitectura ResNet)</a:t>
            </a:r>
          </a:p>
        </p:txBody>
      </p:sp>
      <p:pic>
        <p:nvPicPr>
          <p:cNvPr id="474" name="Captură de ecran din 2024-12-02 la 15.48.19.png" descr="Captură de ecran din 2024-12-02 la 15.48.1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3956" y="2505151"/>
            <a:ext cx="12736088" cy="104945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75" name="Linie Linie" descr="Linie Linie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rot="10800000">
            <a:off x="8848706" y="11973113"/>
            <a:ext cx="2095919" cy="405592"/>
          </a:xfrm>
          <a:prstGeom prst="rect">
            <a:avLst/>
          </a:prstGeom>
        </p:spPr>
      </p:pic>
      <p:sp>
        <p:nvSpPr>
          <p:cNvPr id="477" name="Aici se adaugă X la ce a fost deja procesat, deci e o conexiune reziduală"/>
          <p:cNvSpPr txBox="1"/>
          <p:nvPr/>
        </p:nvSpPr>
        <p:spPr>
          <a:xfrm>
            <a:off x="11246742" y="11331333"/>
            <a:ext cx="9659921" cy="1689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Aici se adaugă X la ce a fost deja procesat, deci e o conexiune reziduală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hat’s it for today!…"/>
          <p:cNvSpPr txBox="1"/>
          <p:nvPr>
            <p:ph type="title"/>
          </p:nvPr>
        </p:nvSpPr>
        <p:spPr>
          <a:xfrm>
            <a:off x="1219200" y="5994400"/>
            <a:ext cx="21945600" cy="1727200"/>
          </a:xfrm>
          <a:prstGeom prst="rect">
            <a:avLst/>
          </a:prstGeom>
        </p:spPr>
        <p:txBody>
          <a:bodyPr/>
          <a:lstStyle>
            <a:lvl1pPr defTabSz="1389888">
              <a:defRPr spc="-99" sz="4700"/>
            </a:lvl1pPr>
          </a:lstStyle>
          <a:p>
            <a:pPr/>
            <a:r>
              <a:t>That’s it for today!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hat’s it for today!…"/>
          <p:cNvSpPr txBox="1"/>
          <p:nvPr>
            <p:ph type="title"/>
          </p:nvPr>
        </p:nvSpPr>
        <p:spPr>
          <a:xfrm>
            <a:off x="1219200" y="419213"/>
            <a:ext cx="21945600" cy="1727201"/>
          </a:xfrm>
          <a:prstGeom prst="rect">
            <a:avLst/>
          </a:prstGeom>
        </p:spPr>
        <p:txBody>
          <a:bodyPr/>
          <a:lstStyle>
            <a:lvl1pPr defTabSz="1389888">
              <a:defRPr spc="-99" sz="4700"/>
            </a:lvl1pPr>
          </a:lstStyle>
          <a:p>
            <a:pPr/>
            <a:r>
              <a:t>That’s it for today!</a:t>
            </a:r>
          </a:p>
        </p:txBody>
      </p:sp>
      <p:pic>
        <p:nvPicPr>
          <p:cNvPr id="482" name="Captură de ecran din 2024-12-02 la 17.24.44.png" descr="Captură de ecran din 2024-12-02 la 17.24.4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43125" y="1877596"/>
            <a:ext cx="8897749" cy="114519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7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Bold"/>
            <a:ea typeface="Canela Bold"/>
            <a:cs typeface="Canela Bold"/>
            <a:sym typeface="Canela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