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1pPr>
    <a:lvl2pPr marL="0" marR="0" indent="0" algn="l" defTabSz="2438337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2pPr>
    <a:lvl3pPr marL="0" marR="0" indent="0" algn="l" defTabSz="2438337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3pPr>
    <a:lvl4pPr marL="0" marR="0" indent="0" algn="l" defTabSz="2438337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4pPr>
    <a:lvl5pPr marL="0" marR="0" indent="0" algn="l" defTabSz="2438337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5pPr>
    <a:lvl6pPr marL="0" marR="0" indent="0" algn="l" defTabSz="2438337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6pPr>
    <a:lvl7pPr marL="0" marR="0" indent="0" algn="l" defTabSz="2438337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7pPr>
    <a:lvl8pPr marL="0" marR="0" indent="0" algn="l" defTabSz="2438337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8pPr>
    <a:lvl9pPr marL="0" marR="0" indent="0" algn="l" defTabSz="2438337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5EE"/>
          </a:solidFill>
        </a:fill>
      </a:tcStyle>
    </a:wholeTbl>
    <a:band2H>
      <a:tcTxStyle b="def" i="def"/>
      <a:tcStyle>
        <a:tcBdr/>
        <a:fill>
          <a:solidFill>
            <a:srgbClr val="E8EBF7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EE5CD"/>
          </a:solidFill>
        </a:fill>
      </a:tcStyle>
    </a:wholeTbl>
    <a:band2H>
      <a:tcTxStyle b="def" i="def"/>
      <a:tcStyle>
        <a:tcBdr/>
        <a:fill>
          <a:solidFill>
            <a:srgbClr val="E8F2E7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8D3E5"/>
          </a:solidFill>
        </a:fill>
      </a:tcStyle>
    </a:wholeTbl>
    <a:band2H>
      <a:tcTxStyle b="def" i="def"/>
      <a:tcStyle>
        <a:tcBdr/>
        <a:fill>
          <a:solidFill>
            <a:srgbClr val="ECEAF3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9" name="Shape 17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ivel corp unu…"/>
          <p:cNvSpPr txBox="1"/>
          <p:nvPr>
            <p:ph type="body" sz="quarter" idx="1" hasCustomPrompt="1"/>
          </p:nvPr>
        </p:nvSpPr>
        <p:spPr>
          <a:xfrm>
            <a:off x="1219200" y="11986162"/>
            <a:ext cx="21945599" cy="605792"/>
          </a:xfrm>
          <a:prstGeom prst="rect">
            <a:avLst/>
          </a:prstGeom>
        </p:spPr>
        <p:txBody>
          <a:bodyPr/>
          <a:lstStyle>
            <a:lvl1pPr marL="0" indent="0" algn="ctr" defTabSz="808990">
              <a:lnSpc>
                <a:spcPct val="100000"/>
              </a:lnSpc>
              <a:spcBef>
                <a:spcPts val="0"/>
              </a:spcBef>
              <a:buSzTx/>
              <a:buNone/>
              <a:defRPr spc="-29" sz="290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906029" indent="-359929" algn="ctr" defTabSz="808990">
              <a:lnSpc>
                <a:spcPct val="100000"/>
              </a:lnSpc>
              <a:spcBef>
                <a:spcPts val="0"/>
              </a:spcBef>
              <a:defRPr spc="-29" sz="2900"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1452129" indent="-359929" algn="ctr" defTabSz="808990">
              <a:lnSpc>
                <a:spcPct val="100000"/>
              </a:lnSpc>
              <a:spcBef>
                <a:spcPts val="0"/>
              </a:spcBef>
              <a:defRPr spc="-29" sz="2900"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1998229" indent="-359929" algn="ctr" defTabSz="808990">
              <a:lnSpc>
                <a:spcPct val="100000"/>
              </a:lnSpc>
              <a:spcBef>
                <a:spcPts val="0"/>
              </a:spcBef>
              <a:defRPr spc="-29" sz="2900"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2544329" indent="-359929" algn="ctr" defTabSz="808990">
              <a:lnSpc>
                <a:spcPct val="100000"/>
              </a:lnSpc>
              <a:spcBef>
                <a:spcPts val="0"/>
              </a:spcBef>
              <a:defRPr spc="-29" sz="2900"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pPr/>
            <a:r>
              <a:t>Autor și dată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Titlu prezentar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/>
            </a:lvl1pPr>
          </a:lstStyle>
          <a:p>
            <a:pPr/>
            <a:r>
              <a:t>Titlu prezentare</a:t>
            </a:r>
          </a:p>
        </p:txBody>
      </p:sp>
      <p:sp>
        <p:nvSpPr>
          <p:cNvPr id="13" name="Nivel corp unu…"/>
          <p:cNvSpPr txBox="1"/>
          <p:nvPr>
            <p:ph type="body" sz="quarter" idx="21" hasCustomPrompt="1"/>
          </p:nvPr>
        </p:nvSpPr>
        <p:spPr>
          <a:xfrm>
            <a:off x="1219200" y="7567579"/>
            <a:ext cx="21945600" cy="2250594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100" sz="6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Subtitlu prezentare</a:t>
            </a:r>
          </a:p>
        </p:txBody>
      </p:sp>
      <p:sp>
        <p:nvSpPr>
          <p:cNvPr id="14" name="Număr diapozitiv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u și poz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jă și mare la apus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Titlu prezentar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>
                <a:solidFill>
                  <a:srgbClr val="FFFFFF"/>
                </a:solidFill>
              </a:defRPr>
            </a:lvl1pPr>
          </a:lstStyle>
          <a:p>
            <a:pPr/>
            <a:r>
              <a:t>Titlu prezentare</a:t>
            </a:r>
          </a:p>
        </p:txBody>
      </p:sp>
      <p:sp>
        <p:nvSpPr>
          <p:cNvPr id="23" name="Nivel corp unu…"/>
          <p:cNvSpPr txBox="1"/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8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8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8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8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8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Subtitlu prezentare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or și dată"/>
          <p:cNvSpPr txBox="1"/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808990">
              <a:lnSpc>
                <a:spcPct val="100000"/>
              </a:lnSpc>
              <a:spcBef>
                <a:spcPts val="0"/>
              </a:spcBef>
              <a:buSzTx/>
              <a:buNone/>
              <a:defRPr spc="-100" sz="2900">
                <a:solidFill>
                  <a:srgbClr val="FFFFFF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Autor și dată</a:t>
            </a:r>
          </a:p>
        </p:txBody>
      </p:sp>
      <p:sp>
        <p:nvSpPr>
          <p:cNvPr id="25" name="Număr diapozitiv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u și poză (alt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u diapozitiv"/>
          <p:cNvSpPr txBox="1"/>
          <p:nvPr>
            <p:ph type="title" hasCustomPrompt="1"/>
          </p:nvPr>
        </p:nvSpPr>
        <p:spPr>
          <a:xfrm>
            <a:off x="1215494" y="4585101"/>
            <a:ext cx="9757339" cy="2540002"/>
          </a:xfrm>
          <a:prstGeom prst="rect">
            <a:avLst/>
          </a:prstGeom>
        </p:spPr>
        <p:txBody>
          <a:bodyPr anchor="b"/>
          <a:lstStyle/>
          <a:p>
            <a:pPr/>
            <a:r>
              <a:t>Titlu diapozitiv</a:t>
            </a:r>
          </a:p>
        </p:txBody>
      </p:sp>
      <p:sp>
        <p:nvSpPr>
          <p:cNvPr id="33" name="Mare pe fundalul cerului la apus"/>
          <p:cNvSpPr/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" name="Nivel corp unu…"/>
          <p:cNvSpPr txBox="1"/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Subtitlu diapozitiv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Număr diapozitiv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u și marcato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u diapozitiv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Titlu diapozitiv</a:t>
            </a:r>
          </a:p>
        </p:txBody>
      </p:sp>
      <p:sp>
        <p:nvSpPr>
          <p:cNvPr id="43" name="Nivel corp unu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 marcator diapozitiv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Subtitlu diapozitiv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100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Subtitlu diapozitiv</a:t>
            </a:r>
          </a:p>
        </p:txBody>
      </p:sp>
      <p:sp>
        <p:nvSpPr>
          <p:cNvPr id="45" name="Număr diapozitiv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rcato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Nivel corp unu…"/>
          <p:cNvSpPr txBox="1"/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3"/>
          <a:lstStyle/>
          <a:p>
            <a:pPr/>
            <a:r>
              <a:t>Text marcator diapozitiv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Număr diapozitiv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u, marcatori și poz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u diapozitiv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Titlu diapozitiv</a:t>
            </a:r>
          </a:p>
        </p:txBody>
      </p:sp>
      <p:sp>
        <p:nvSpPr>
          <p:cNvPr id="61" name="Mare pe fundalul cerului la apus"/>
          <p:cNvSpPr/>
          <p:nvPr>
            <p:ph type="pic" idx="21"/>
          </p:nvPr>
        </p:nvSpPr>
        <p:spPr>
          <a:xfrm>
            <a:off x="12192644" y="718588"/>
            <a:ext cx="10972801" cy="12329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2" name="Nivel corp unu…"/>
          <p:cNvSpPr txBox="1"/>
          <p:nvPr>
            <p:ph type="body" sz="quarter" idx="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10673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16134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21595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27056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Subtitlu diapozitiv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Nivel corp unu…"/>
          <p:cNvSpPr txBox="1"/>
          <p:nvPr>
            <p:ph type="body" sz="half" idx="22" hasCustomPrompt="1"/>
          </p:nvPr>
        </p:nvSpPr>
        <p:spPr>
          <a:xfrm>
            <a:off x="1219199" y="4023221"/>
            <a:ext cx="9757571" cy="8384679"/>
          </a:xfrm>
          <a:prstGeom prst="rect">
            <a:avLst/>
          </a:prstGeom>
        </p:spPr>
        <p:txBody>
          <a:bodyPr/>
          <a:lstStyle/>
          <a:p>
            <a:pPr/>
            <a:r>
              <a:t>Text marcator diapozitiv</a:t>
            </a:r>
          </a:p>
        </p:txBody>
      </p:sp>
      <p:sp>
        <p:nvSpPr>
          <p:cNvPr id="64" name="Număr diapozitiv"/>
          <p:cNvSpPr txBox="1"/>
          <p:nvPr>
            <p:ph type="sldNum" sz="quarter" idx="2"/>
          </p:nvPr>
        </p:nvSpPr>
        <p:spPr>
          <a:xfrm>
            <a:off x="11993880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u, marcatori și video live m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u diapozitiv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Titlu diapozitiv</a:t>
            </a:r>
          </a:p>
        </p:txBody>
      </p:sp>
      <p:sp>
        <p:nvSpPr>
          <p:cNvPr id="72" name="Nivel corp unu…"/>
          <p:cNvSpPr txBox="1"/>
          <p:nvPr>
            <p:ph type="body" sz="quarter" idx="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10673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16134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21595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27056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Subtitlu diapozitiv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Nivel corp unu…"/>
          <p:cNvSpPr txBox="1"/>
          <p:nvPr>
            <p:ph type="body" sz="half" idx="21" hasCustomPrompt="1"/>
          </p:nvPr>
        </p:nvSpPr>
        <p:spPr>
          <a:xfrm>
            <a:off x="1219199" y="4023221"/>
            <a:ext cx="9757571" cy="8384679"/>
          </a:xfrm>
          <a:prstGeom prst="rect">
            <a:avLst/>
          </a:prstGeom>
        </p:spPr>
        <p:txBody>
          <a:bodyPr/>
          <a:lstStyle/>
          <a:p>
            <a:pPr/>
            <a:r>
              <a:t>Text marcator diapozitiv</a:t>
            </a:r>
          </a:p>
        </p:txBody>
      </p:sp>
      <p:sp>
        <p:nvSpPr>
          <p:cNvPr id="74" name="Număr diapozitiv"/>
          <p:cNvSpPr txBox="1"/>
          <p:nvPr>
            <p:ph type="sldNum" sz="quarter" idx="2"/>
          </p:nvPr>
        </p:nvSpPr>
        <p:spPr>
          <a:xfrm>
            <a:off x="11993880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u, marcatori și video live m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lu diapozitiv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Titlu diapozitiv</a:t>
            </a:r>
          </a:p>
        </p:txBody>
      </p:sp>
      <p:sp>
        <p:nvSpPr>
          <p:cNvPr id="82" name="Nivel corp unu…"/>
          <p:cNvSpPr txBox="1"/>
          <p:nvPr>
            <p:ph type="body" sz="quarter" idx="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10673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16134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21595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27056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Subtitlu diapozitiv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Nivel corp unu…"/>
          <p:cNvSpPr txBox="1"/>
          <p:nvPr>
            <p:ph type="body" sz="half" idx="21" hasCustomPrompt="1"/>
          </p:nvPr>
        </p:nvSpPr>
        <p:spPr>
          <a:xfrm>
            <a:off x="1219199" y="4023221"/>
            <a:ext cx="9757571" cy="8384679"/>
          </a:xfrm>
          <a:prstGeom prst="rect">
            <a:avLst/>
          </a:prstGeom>
        </p:spPr>
        <p:txBody>
          <a:bodyPr/>
          <a:lstStyle/>
          <a:p>
            <a:pPr/>
            <a:r>
              <a:t>Text marcator diapozitiv</a:t>
            </a:r>
          </a:p>
        </p:txBody>
      </p:sp>
      <p:sp>
        <p:nvSpPr>
          <p:cNvPr id="84" name="Număr diapozitiv"/>
          <p:cNvSpPr txBox="1"/>
          <p:nvPr>
            <p:ph type="sldNum" sz="quarter" idx="2"/>
          </p:nvPr>
        </p:nvSpPr>
        <p:spPr>
          <a:xfrm>
            <a:off x="11993880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u secțiune"/>
          <p:cNvSpPr txBox="1"/>
          <p:nvPr>
            <p:ph type="title" hasCustomPrompt="1"/>
          </p:nvPr>
        </p:nvSpPr>
        <p:spPr>
          <a:xfrm>
            <a:off x="1219200" y="3242269"/>
            <a:ext cx="21945600" cy="6604002"/>
          </a:xfrm>
          <a:prstGeom prst="rect">
            <a:avLst/>
          </a:prstGeom>
        </p:spPr>
        <p:txBody>
          <a:bodyPr anchor="ctr"/>
          <a:lstStyle>
            <a:lvl1pPr>
              <a:defRPr spc="0" sz="12800"/>
            </a:lvl1pPr>
          </a:lstStyle>
          <a:p>
            <a:pPr/>
            <a:r>
              <a:t>Titlu secțiune</a:t>
            </a:r>
          </a:p>
        </p:txBody>
      </p:sp>
      <p:sp>
        <p:nvSpPr>
          <p:cNvPr id="92" name="Număr diapozitiv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lu diapozitiv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Titlu diapozitiv</a:t>
            </a:r>
          </a:p>
        </p:txBody>
      </p:sp>
      <p:sp>
        <p:nvSpPr>
          <p:cNvPr id="100" name="Nivel corp unu…"/>
          <p:cNvSpPr txBox="1"/>
          <p:nvPr>
            <p:ph type="body" sz="quarter" idx="1" hasCustomPrompt="1"/>
          </p:nvPr>
        </p:nvSpPr>
        <p:spPr>
          <a:xfrm>
            <a:off x="1219200" y="2384648"/>
            <a:ext cx="21945602" cy="832614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10673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16134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21595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27056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Subtitlu diapozitiv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1" name="Număr diapozitiv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u agendă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Titlu agendă</a:t>
            </a:r>
          </a:p>
        </p:txBody>
      </p:sp>
      <p:sp>
        <p:nvSpPr>
          <p:cNvPr id="109" name="Nivel corp unu…"/>
          <p:cNvSpPr txBox="1"/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pPr/>
            <a:r>
              <a:t>Subiecte agendă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Subtitlu agendă"/>
          <p:cNvSpPr txBox="1"/>
          <p:nvPr>
            <p:ph type="body" sz="quarter" idx="21" hasCustomPrompt="1"/>
          </p:nvPr>
        </p:nvSpPr>
        <p:spPr>
          <a:xfrm>
            <a:off x="1219200" y="2387114"/>
            <a:ext cx="21945602" cy="832614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100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Subtitlu agendă</a:t>
            </a:r>
          </a:p>
        </p:txBody>
      </p:sp>
      <p:sp>
        <p:nvSpPr>
          <p:cNvPr id="111" name="Număr diapozitiv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cl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Nivel corp unu…"/>
          <p:cNvSpPr txBox="1"/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pPr/>
            <a:r>
              <a:t>Declarație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Număr diapozitiv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taliu (mar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Nivel corp unu…"/>
          <p:cNvSpPr txBox="1"/>
          <p:nvPr>
            <p:ph type="body" sz="quarter" idx="1" hasCustomPrompt="1"/>
          </p:nvPr>
        </p:nvSpPr>
        <p:spPr>
          <a:xfrm>
            <a:off x="1219200" y="8462239"/>
            <a:ext cx="21945602" cy="832614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10673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16134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21595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27056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Informații factuale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Nivel corp unu…"/>
          <p:cNvSpPr txBox="1"/>
          <p:nvPr>
            <p:ph type="body" sz="half" idx="21" hasCustomPrompt="1"/>
          </p:nvPr>
        </p:nvSpPr>
        <p:spPr>
          <a:xfrm>
            <a:off x="1219200" y="4214483"/>
            <a:ext cx="21945600" cy="4269709"/>
          </a:xfrm>
          <a:prstGeom prst="rect">
            <a:avLst/>
          </a:prstGeom>
        </p:spPr>
        <p:txBody>
          <a:bodyPr anchor="b"/>
          <a:lstStyle/>
          <a:p>
            <a:pPr lvl="4" marL="0" indent="1097280" algn="ctr" defTabSz="975360">
              <a:lnSpc>
                <a:spcPct val="80000"/>
              </a:lnSpc>
              <a:spcBef>
                <a:spcPts val="0"/>
              </a:spcBef>
              <a:buSzTx/>
              <a:buNone/>
              <a:defRPr sz="8960">
                <a:latin typeface="Canela Bold"/>
                <a:ea typeface="Canela Bold"/>
                <a:cs typeface="Canela Bold"/>
                <a:sym typeface="Canela Bold"/>
              </a:defRPr>
            </a:pPr>
            <a:r>
              <a:t>100%
</a:t>
            </a:r>
          </a:p>
        </p:txBody>
      </p:sp>
      <p:sp>
        <p:nvSpPr>
          <p:cNvPr id="128" name="Număr diapozitiv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Nivel corp unu…"/>
          <p:cNvSpPr txBox="1"/>
          <p:nvPr>
            <p:ph type="body" sz="quarter" idx="1" hasCustomPrompt="1"/>
          </p:nvPr>
        </p:nvSpPr>
        <p:spPr>
          <a:xfrm>
            <a:off x="1219200" y="11100052"/>
            <a:ext cx="21945602" cy="832614"/>
          </a:xfrm>
          <a:prstGeom prst="rect">
            <a:avLst/>
          </a:prstGeom>
        </p:spPr>
        <p:txBody>
          <a:bodyPr anchor="ctr"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10673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16134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21595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27056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Atribuire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Nivel corp unu…"/>
          <p:cNvSpPr txBox="1"/>
          <p:nvPr>
            <p:ph type="body" sz="half" idx="2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/>
          <a:p>
            <a:pPr lvl="4" marL="0" indent="1700783" algn="ctr" defTabSz="1511808">
              <a:lnSpc>
                <a:spcPct val="80000"/>
              </a:lnSpc>
              <a:spcBef>
                <a:spcPts val="0"/>
              </a:spcBef>
              <a:buSzTx/>
              <a:buNone/>
              <a:defRPr sz="5208">
                <a:latin typeface="Canela Bold"/>
                <a:ea typeface="Canela Bold"/>
                <a:cs typeface="Canela Bold"/>
                <a:sym typeface="Canela Bold"/>
              </a:defRPr>
            </a:pPr>
            <a:r>
              <a:t>“Citat important”
</a:t>
            </a:r>
          </a:p>
        </p:txBody>
      </p:sp>
      <p:sp>
        <p:nvSpPr>
          <p:cNvPr id="137" name="Număr diapozitiv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oză - 3 exempl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Mare pe fundalul cerului la apus 2"/>
          <p:cNvSpPr/>
          <p:nvPr>
            <p:ph type="pic" sz="quarter" idx="21"/>
          </p:nvPr>
        </p:nvSpPr>
        <p:spPr>
          <a:xfrm>
            <a:off x="15744825" y="5581751"/>
            <a:ext cx="7365408" cy="82804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Mare pe fundalul cerului la apus 1"/>
          <p:cNvSpPr/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Plajă și mare la apus"/>
          <p:cNvSpPr/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Număr diapozitiv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oz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jă și mare la apus"/>
          <p:cNvSpPr/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Număr diapozitiv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ără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Număr diapozitiv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u și marcato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itlu diapozitiv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Titlu diapozitiv</a:t>
            </a:r>
          </a:p>
        </p:txBody>
      </p:sp>
      <p:sp>
        <p:nvSpPr>
          <p:cNvPr id="170" name="Nivel corp unu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defTabSz="2438338"/>
            <a:lvl2pPr defTabSz="2438338"/>
            <a:lvl3pPr defTabSz="2438338"/>
            <a:lvl4pPr defTabSz="2438338"/>
            <a:lvl5pPr defTabSz="2438338"/>
          </a:lstStyle>
          <a:p>
            <a:pPr/>
            <a:r>
              <a:t>Text marcator diapozitiv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71" name="Subtitlu diapozitiv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Subtitlu diapozitiv</a:t>
            </a:r>
          </a:p>
        </p:txBody>
      </p:sp>
      <p:sp>
        <p:nvSpPr>
          <p:cNvPr id="172" name="Număr diapozitiv"/>
          <p:cNvSpPr txBox="1"/>
          <p:nvPr>
            <p:ph type="sldNum" sz="quarter" idx="2"/>
          </p:nvPr>
        </p:nvSpPr>
        <p:spPr>
          <a:xfrm>
            <a:off x="11987530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diapozitiv"/>
          <p:cNvSpPr txBox="1"/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Titlu diapozitiv</a:t>
            </a:r>
          </a:p>
        </p:txBody>
      </p:sp>
      <p:sp>
        <p:nvSpPr>
          <p:cNvPr id="3" name="Nivel corp unu…"/>
          <p:cNvSpPr txBox="1"/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Text marcator diapozitiv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Număr diapozitiv"/>
          <p:cNvSpPr txBox="1"/>
          <p:nvPr>
            <p:ph type="sldNum" sz="quarter" idx="2"/>
          </p:nvPr>
        </p:nvSpPr>
        <p:spPr>
          <a:xfrm>
            <a:off x="11987530" y="12684760"/>
            <a:ext cx="408941" cy="444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ransition xmlns:p14="http://schemas.microsoft.com/office/powerpoint/2010/main" spd="med" advClick="1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1pPr>
      <a:lvl2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2pPr>
      <a:lvl3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3pPr>
      <a:lvl4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4pPr>
      <a:lvl5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5pPr>
      <a:lvl6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6pPr>
      <a:lvl7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7pPr>
      <a:lvl8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8pPr>
      <a:lvl9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9pPr>
    </p:titleStyle>
    <p:bodyStyle>
      <a:lvl1pPr marL="5461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6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9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0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1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2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7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0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2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4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2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5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2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2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6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4.png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6.png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6.png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7.png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42.png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43.png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Efrem Dragoș-Sebastian-Mihaly"/>
          <p:cNvSpPr txBox="1"/>
          <p:nvPr>
            <p:ph type="body" sz="quarter" idx="1"/>
          </p:nvPr>
        </p:nvSpPr>
        <p:spPr>
          <a:xfrm>
            <a:off x="1219199" y="11986162"/>
            <a:ext cx="21945600" cy="605792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Efrem Dragoș-Sebastian-Mihaly</a:t>
            </a:r>
          </a:p>
        </p:txBody>
      </p:sp>
      <p:sp>
        <p:nvSpPr>
          <p:cNvPr id="182" name="Bazele Inteligenței Artificia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Bazele Inteligenței Artificiale</a:t>
            </a:r>
          </a:p>
        </p:txBody>
      </p:sp>
      <p:sp>
        <p:nvSpPr>
          <p:cNvPr id="183" name="Lab 2. Modele parametrice"/>
          <p:cNvSpPr txBox="1"/>
          <p:nvPr/>
        </p:nvSpPr>
        <p:spPr>
          <a:xfrm>
            <a:off x="1219200" y="7567579"/>
            <a:ext cx="21945600" cy="1430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pc="-100" sz="6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Lab 8. Rețele neuronale artificiale și perceptroni multistrat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um procesează neuronii biologici informație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4016">
              <a:defRPr spc="-83" sz="8316"/>
            </a:lvl1pPr>
          </a:lstStyle>
          <a:p>
            <a:pPr/>
            <a:r>
              <a:t>Cum procesează neuronii biologici informație?</a:t>
            </a:r>
          </a:p>
        </p:txBody>
      </p:sp>
      <p:pic>
        <p:nvPicPr>
          <p:cNvPr id="186" name="Captură de ecran din 2024-11-23 la 22.15.34.png" descr="Captură de ecran din 2024-11-23 la 22.15.3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30871" y="2588731"/>
            <a:ext cx="17722258" cy="107255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Dendritele (Intrările):"/>
          <p:cNvSpPr txBox="1"/>
          <p:nvPr>
            <p:ph type="body" sz="quarter" idx="1"/>
          </p:nvPr>
        </p:nvSpPr>
        <p:spPr>
          <a:xfrm>
            <a:off x="1050181" y="2790047"/>
            <a:ext cx="21948577" cy="2346268"/>
          </a:xfrm>
          <a:prstGeom prst="rect">
            <a:avLst/>
          </a:prstGeom>
        </p:spPr>
        <p:txBody>
          <a:bodyPr/>
          <a:lstStyle/>
          <a:p>
            <a:pPr/>
            <a:r>
              <a:t>Dendritele (Intrările):</a:t>
            </a:r>
          </a:p>
        </p:txBody>
      </p:sp>
      <p:sp>
        <p:nvSpPr>
          <p:cNvPr id="189" name="Sunt extensii ramificate care primesc semnale de la alți neuroni sau stimuli externi"/>
          <p:cNvSpPr txBox="1"/>
          <p:nvPr/>
        </p:nvSpPr>
        <p:spPr>
          <a:xfrm>
            <a:off x="1827586" y="3731180"/>
            <a:ext cx="21948578" cy="2188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Sunt extensii ramificate care primesc semnale de la alți neuroni sau stimuli externi </a:t>
            </a:r>
            <a14:m>
              <m:oMath>
                <m:r>
                  <a:rPr xmlns:a="http://schemas.openxmlformats.org/drawingml/2006/main" sz="5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sSub>
                  <m:e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xmlns:a="http://schemas.openxmlformats.org/drawingml/2006/main" sz="5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sSub>
                  <m:e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xmlns:a="http://schemas.openxmlformats.org/drawingml/2006/main" sz="5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5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5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5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sSub>
                  <m:e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sub>
                </m:sSub>
                <m:r>
                  <a:rPr xmlns:a="http://schemas.openxmlformats.org/drawingml/2006/main" sz="5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</p:txBody>
      </p:sp>
      <p:sp>
        <p:nvSpPr>
          <p:cNvPr id="190" name="Fiecare semnal de intrare vine sub formă de impuls electric sau chimic (mai slab sau mai puternic), care este colectat de dendrite și transmis către corpul celular"/>
          <p:cNvSpPr txBox="1"/>
          <p:nvPr/>
        </p:nvSpPr>
        <p:spPr>
          <a:xfrm>
            <a:off x="1675897" y="5582821"/>
            <a:ext cx="21948578" cy="1881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Fiecare semnal de intrare vine sub formă de impuls electric sau chimic (mai slab sau mai puternic), care este colectat de dendrite și transmis către corpul celular</a:t>
            </a:r>
          </a:p>
        </p:txBody>
      </p:sp>
      <p:pic>
        <p:nvPicPr>
          <p:cNvPr id="191" name="Linie Linie" descr="Linie Lini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289957" y="6437590"/>
            <a:ext cx="6768757" cy="101601"/>
          </a:xfrm>
          <a:prstGeom prst="rect">
            <a:avLst/>
          </a:prstGeom>
        </p:spPr>
      </p:pic>
      <p:pic>
        <p:nvPicPr>
          <p:cNvPr id="193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944491" y="10379360"/>
            <a:ext cx="6272897" cy="101601"/>
          </a:xfrm>
          <a:prstGeom prst="rect">
            <a:avLst/>
          </a:prstGeom>
        </p:spPr>
      </p:pic>
      <p:sp>
        <p:nvSpPr>
          <p:cNvPr id="195" name="Cum procesează neuronii biologici informație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4016">
              <a:defRPr spc="-83" sz="8316"/>
            </a:lvl1pPr>
          </a:lstStyle>
          <a:p>
            <a:pPr/>
            <a:r>
              <a:t>Cum procesează neuronii biologici informație?</a:t>
            </a:r>
          </a:p>
        </p:txBody>
      </p:sp>
      <p:sp>
        <p:nvSpPr>
          <p:cNvPr id="196" name="Corpul celular (Procesatorul):"/>
          <p:cNvSpPr txBox="1"/>
          <p:nvPr/>
        </p:nvSpPr>
        <p:spPr>
          <a:xfrm>
            <a:off x="1050181" y="7840465"/>
            <a:ext cx="21948577" cy="12376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Corpul celular (Procesatorul):</a:t>
            </a:r>
          </a:p>
        </p:txBody>
      </p:sp>
      <p:sp>
        <p:nvSpPr>
          <p:cNvPr id="197" name="Aici se integrează toate semnalele primite din dendrite"/>
          <p:cNvSpPr txBox="1"/>
          <p:nvPr/>
        </p:nvSpPr>
        <p:spPr>
          <a:xfrm>
            <a:off x="2182120" y="8683714"/>
            <a:ext cx="21948577" cy="1021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Aici se integrează toate semnalele primite din dendrite</a:t>
            </a:r>
          </a:p>
        </p:txBody>
      </p:sp>
      <p:sp>
        <p:nvSpPr>
          <p:cNvPr id="198" name="Decide dacă semnalele colectate sunt suficient de puternice pentru a fi transmise mai departe (adică, dacă depășesc un anumit “prag”)"/>
          <p:cNvSpPr txBox="1"/>
          <p:nvPr/>
        </p:nvSpPr>
        <p:spPr>
          <a:xfrm>
            <a:off x="2182120" y="9523128"/>
            <a:ext cx="21948577" cy="1881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Decide dacă semnalele colectate sunt suficient de puternice pentru a fi transmise mai departe (adică, dacă depășesc un anumit “prag”)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2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93" grpId="2"/>
      <p:bldP build="whole" bldLvl="1" animBg="1" rev="0" advAuto="0" spid="191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Axonul:"/>
          <p:cNvSpPr txBox="1"/>
          <p:nvPr>
            <p:ph type="body" sz="quarter" idx="1"/>
          </p:nvPr>
        </p:nvSpPr>
        <p:spPr>
          <a:xfrm>
            <a:off x="1050181" y="2790047"/>
            <a:ext cx="21948577" cy="2346268"/>
          </a:xfrm>
          <a:prstGeom prst="rect">
            <a:avLst/>
          </a:prstGeom>
        </p:spPr>
        <p:txBody>
          <a:bodyPr/>
          <a:lstStyle/>
          <a:p>
            <a:pPr/>
            <a:r>
              <a:t>Axonul:</a:t>
            </a:r>
          </a:p>
        </p:txBody>
      </p:sp>
      <p:sp>
        <p:nvSpPr>
          <p:cNvPr id="201" name="Este un “cablu” lung care transmite semnalul de la corpul celular către alte celule (neuroni, mușchi etc.)"/>
          <p:cNvSpPr txBox="1"/>
          <p:nvPr/>
        </p:nvSpPr>
        <p:spPr>
          <a:xfrm>
            <a:off x="1827586" y="3731180"/>
            <a:ext cx="21948578" cy="1881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Este un “cablu” lung care transmite semnalul de la corpul celular către alte celule (neuroni, mușchi etc.)</a:t>
            </a:r>
          </a:p>
        </p:txBody>
      </p:sp>
      <p:sp>
        <p:nvSpPr>
          <p:cNvPr id="202" name="Este învelit într-un strat protector numit teaca de mielină. Aceasta accelerează transmiterea semnalelor"/>
          <p:cNvSpPr txBox="1"/>
          <p:nvPr/>
        </p:nvSpPr>
        <p:spPr>
          <a:xfrm>
            <a:off x="1675897" y="5582821"/>
            <a:ext cx="21948578" cy="1881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Este învelit într-un strat protector numit teaca de mielină. Aceasta accelerează transmiterea semnalelor</a:t>
            </a:r>
          </a:p>
        </p:txBody>
      </p:sp>
      <p:pic>
        <p:nvPicPr>
          <p:cNvPr id="203" name="Linie Linie" descr="Linie Lini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75681" y="4488615"/>
            <a:ext cx="5028518" cy="101601"/>
          </a:xfrm>
          <a:prstGeom prst="rect">
            <a:avLst/>
          </a:prstGeom>
        </p:spPr>
      </p:pic>
      <p:sp>
        <p:nvSpPr>
          <p:cNvPr id="205" name="Cum procesează neuronii biologici informație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4016">
              <a:defRPr spc="-83" sz="8316"/>
            </a:lvl1pPr>
          </a:lstStyle>
          <a:p>
            <a:pPr/>
            <a:r>
              <a:t>Cum procesează neuronii biologici informație?</a:t>
            </a:r>
          </a:p>
        </p:txBody>
      </p:sp>
      <p:sp>
        <p:nvSpPr>
          <p:cNvPr id="206" name="Ieșiri:"/>
          <p:cNvSpPr txBox="1"/>
          <p:nvPr/>
        </p:nvSpPr>
        <p:spPr>
          <a:xfrm>
            <a:off x="1050181" y="7623127"/>
            <a:ext cx="21948577" cy="12376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Ieșiri:</a:t>
            </a:r>
          </a:p>
        </p:txBody>
      </p:sp>
      <p:sp>
        <p:nvSpPr>
          <p:cNvPr id="207" name="La capătul axonului, semnalul ajunge la alte celule prin sinapse (conexiuni neuronale)"/>
          <p:cNvSpPr txBox="1"/>
          <p:nvPr/>
        </p:nvSpPr>
        <p:spPr>
          <a:xfrm>
            <a:off x="2182120" y="8683714"/>
            <a:ext cx="21948577" cy="1021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0638" indent="-540638" defTabSz="2413955">
              <a:spcBef>
                <a:spcPts val="2300"/>
              </a:spcBef>
              <a:buSzPct val="150000"/>
              <a:buChar char="•"/>
              <a:defRPr sz="4356"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La capătul axonului, semnalul ajunge la alte celule prin sinapse (conexiuni neuronale)</a:t>
            </a:r>
          </a:p>
        </p:txBody>
      </p:sp>
      <p:sp>
        <p:nvSpPr>
          <p:cNvPr id="208" name="Semnalul poate fi transmis la diferiți neuroni simultan"/>
          <p:cNvSpPr txBox="1"/>
          <p:nvPr/>
        </p:nvSpPr>
        <p:spPr>
          <a:xfrm>
            <a:off x="2182120" y="9597613"/>
            <a:ext cx="21948577" cy="1021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Semnalul poate fi transmis la diferiți neuroni simultan</a:t>
            </a:r>
          </a:p>
        </p:txBody>
      </p:sp>
      <p:pic>
        <p:nvPicPr>
          <p:cNvPr id="209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297518" y="9469662"/>
            <a:ext cx="2429662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2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03" grpId="1"/>
      <p:bldP build="whole" bldLvl="1" animBg="1" rev="0" advAuto="0" spid="209" grpId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Aproximarea rețelelor neuronale biologi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Aproximarea rețelelor neuronale biologice</a:t>
            </a:r>
          </a:p>
        </p:txBody>
      </p:sp>
      <p:pic>
        <p:nvPicPr>
          <p:cNvPr id="213" name="Captură de ecran din 2024-11-23 la 22.32.36.png" descr="Captură de ecran din 2024-11-23 la 22.32.3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21829" y="3664969"/>
            <a:ext cx="20940342" cy="63860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Intrări ponderate:"/>
          <p:cNvSpPr txBox="1"/>
          <p:nvPr>
            <p:ph type="body" sz="quarter" idx="1"/>
          </p:nvPr>
        </p:nvSpPr>
        <p:spPr>
          <a:xfrm>
            <a:off x="1031219" y="3150308"/>
            <a:ext cx="21948578" cy="2346268"/>
          </a:xfrm>
          <a:prstGeom prst="rect">
            <a:avLst/>
          </a:prstGeom>
        </p:spPr>
        <p:txBody>
          <a:bodyPr/>
          <a:lstStyle/>
          <a:p>
            <a:pPr/>
            <a:r>
              <a:t>Intrări ponderate:</a:t>
            </a:r>
          </a:p>
        </p:txBody>
      </p:sp>
      <p:sp>
        <p:nvSpPr>
          <p:cNvPr id="216" name="Fiecare intrare   este înmulțit cu o pondere   care reflectă importanța acestuia pentru neuron"/>
          <p:cNvSpPr txBox="1"/>
          <p:nvPr/>
        </p:nvSpPr>
        <p:spPr>
          <a:xfrm>
            <a:off x="1808625" y="4091441"/>
            <a:ext cx="21948578" cy="1881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540638" indent="-540638" defTabSz="2413955">
              <a:spcBef>
                <a:spcPts val="2300"/>
              </a:spcBef>
              <a:buSzPct val="150000"/>
              <a:buChar char="•"/>
              <a:defRPr sz="4356"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Fiecare intrare </a:t>
            </a:r>
            <a14:m>
              <m:oMath>
                <m:sSub>
                  <m:e>
                    <m:r>
                      <a:rPr xmlns:a="http://schemas.openxmlformats.org/drawingml/2006/main" sz="5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xmlns:a="http://schemas.openxmlformats.org/drawingml/2006/main" sz="5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sub>
                </m:sSub>
              </m:oMath>
            </a14:m>
            <a:r>
              <a:t> este înmulțit cu o pondere </a:t>
            </a:r>
            <a14:m>
              <m:oMath>
                <m:sSub>
                  <m:e>
                    <m:r>
                      <a:rPr xmlns:a="http://schemas.openxmlformats.org/drawingml/2006/main" sz="5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w</m:t>
                    </m:r>
                  </m:e>
                  <m:sub>
                    <m:r>
                      <a:rPr xmlns:a="http://schemas.openxmlformats.org/drawingml/2006/main" sz="5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xmlns:a="http://schemas.openxmlformats.org/drawingml/2006/main" sz="5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j</m:t>
                    </m:r>
                  </m:sub>
                </m:sSub>
              </m:oMath>
            </a14:m>
            <a:r>
              <a:t> care reflectă importanța acestuia pentru neuron</a:t>
            </a:r>
            <a:endParaRPr sz="4400"/>
          </a:p>
        </p:txBody>
      </p:sp>
      <p:sp>
        <p:nvSpPr>
          <p:cNvPr id="217" name="Aceasta imită modul în care conexiunile sinaptice dintr-un neuron biologic sunt mai slabe sau mai puternice"/>
          <p:cNvSpPr txBox="1"/>
          <p:nvPr/>
        </p:nvSpPr>
        <p:spPr>
          <a:xfrm>
            <a:off x="1656936" y="5943082"/>
            <a:ext cx="21948578" cy="1881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Aceasta imită modul în care conexiunile sinaptice dintr-un neuron biologic sunt mai slabe sau mai puternice</a:t>
            </a:r>
          </a:p>
        </p:txBody>
      </p:sp>
      <p:pic>
        <p:nvPicPr>
          <p:cNvPr id="218" name="Linie Linie" descr="Linie Lini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999106" y="4981604"/>
            <a:ext cx="3456320" cy="101601"/>
          </a:xfrm>
          <a:prstGeom prst="rect">
            <a:avLst/>
          </a:prstGeom>
        </p:spPr>
      </p:pic>
      <p:sp>
        <p:nvSpPr>
          <p:cNvPr id="220" name="Funcția de transfer ( ):"/>
          <p:cNvSpPr txBox="1"/>
          <p:nvPr/>
        </p:nvSpPr>
        <p:spPr>
          <a:xfrm>
            <a:off x="1031219" y="7983388"/>
            <a:ext cx="21948578" cy="12376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Funcția de transfer (</a:t>
            </a: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∑</m:t>
                </m:r>
              </m:oMath>
            </a14:m>
            <a:r>
              <a:t>):</a:t>
            </a:r>
            <a:endParaRPr sz="1800"/>
          </a:p>
        </p:txBody>
      </p:sp>
      <p:sp>
        <p:nvSpPr>
          <p:cNvPr id="221" name="Toate semnalele ponderate se adună într-un proces matematic (sumă ponderată)"/>
          <p:cNvSpPr txBox="1"/>
          <p:nvPr/>
        </p:nvSpPr>
        <p:spPr>
          <a:xfrm>
            <a:off x="2163159" y="9043975"/>
            <a:ext cx="21948577" cy="1021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Toate semnalele ponderate se adună într-un proces matematic (sumă ponderată)</a:t>
            </a:r>
          </a:p>
        </p:txBody>
      </p:sp>
      <p:sp>
        <p:nvSpPr>
          <p:cNvPr id="222" name="În biologie, acest proces corespunde acumulării semnalelor în corpul celular"/>
          <p:cNvSpPr txBox="1"/>
          <p:nvPr/>
        </p:nvSpPr>
        <p:spPr>
          <a:xfrm>
            <a:off x="2163159" y="9957874"/>
            <a:ext cx="21948577" cy="1021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În biologie, acest proces corespunde acumulării semnalelor în corpul celular</a:t>
            </a:r>
          </a:p>
        </p:txBody>
      </p:sp>
      <p:pic>
        <p:nvPicPr>
          <p:cNvPr id="223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922617" y="10796940"/>
            <a:ext cx="10111038" cy="101601"/>
          </a:xfrm>
          <a:prstGeom prst="rect">
            <a:avLst/>
          </a:prstGeom>
        </p:spPr>
      </p:pic>
      <p:sp>
        <p:nvSpPr>
          <p:cNvPr id="225" name="Aproximarea rețelelor neuronale biologi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Aproximarea rețelelor neuronale biologice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2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23" grpId="2"/>
      <p:bldP build="whole" bldLvl="1" animBg="1" rev="0" advAuto="0" spid="218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Funcția de activare ( ):"/>
          <p:cNvSpPr txBox="1"/>
          <p:nvPr>
            <p:ph type="body" sz="quarter" idx="1"/>
          </p:nvPr>
        </p:nvSpPr>
        <p:spPr>
          <a:xfrm>
            <a:off x="1031219" y="3150308"/>
            <a:ext cx="21948578" cy="1182888"/>
          </a:xfrm>
          <a:prstGeom prst="rect">
            <a:avLst/>
          </a:prstGeom>
        </p:spPr>
        <p:txBody>
          <a:bodyPr/>
          <a:lstStyle/>
          <a:p>
            <a:pPr/>
            <a:r>
              <a:t>Funcția de activare (</a:t>
            </a:r>
            <a14:m>
              <m:oMath>
                <m:r>
                  <a:rPr xmlns:a="http://schemas.openxmlformats.org/drawingml/2006/main" sz="5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ϕ</m:t>
                </m:r>
              </m:oMath>
            </a14:m>
            <a:r>
              <a:t>):</a:t>
            </a:r>
          </a:p>
        </p:txBody>
      </p:sp>
      <p:sp>
        <p:nvSpPr>
          <p:cNvPr id="228" name="După ce semnalul total este calculat, neuronul decide dacă să se “activeze” sau nu, aplicând o funcție de activare"/>
          <p:cNvSpPr txBox="1"/>
          <p:nvPr/>
        </p:nvSpPr>
        <p:spPr>
          <a:xfrm>
            <a:off x="1808625" y="4091441"/>
            <a:ext cx="21948578" cy="1881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După ce semnalul total este calculat, neuronul decide dacă să se “activeze” sau nu, aplicând o funcție de activare</a:t>
            </a:r>
          </a:p>
        </p:txBody>
      </p:sp>
      <p:sp>
        <p:nvSpPr>
          <p:cNvPr id="229" name="În biologie, aceasta reflectă decizia corpului celular de a genera sau nu un impuls"/>
          <p:cNvSpPr txBox="1"/>
          <p:nvPr/>
        </p:nvSpPr>
        <p:spPr>
          <a:xfrm>
            <a:off x="1808625" y="5800416"/>
            <a:ext cx="21948578" cy="1182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În biologie, aceasta reflectă decizia corpului celular de a genera sau nu un impuls</a:t>
            </a:r>
          </a:p>
        </p:txBody>
      </p:sp>
      <p:pic>
        <p:nvPicPr>
          <p:cNvPr id="230" name="Linie Linie" descr="Linie Lini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9302" y="5671337"/>
            <a:ext cx="5019857" cy="101601"/>
          </a:xfrm>
          <a:prstGeom prst="rect">
            <a:avLst/>
          </a:prstGeom>
        </p:spPr>
      </p:pic>
      <p:sp>
        <p:nvSpPr>
          <p:cNvPr id="232" name="Ieșiri:"/>
          <p:cNvSpPr txBox="1"/>
          <p:nvPr/>
        </p:nvSpPr>
        <p:spPr>
          <a:xfrm>
            <a:off x="1031219" y="7466163"/>
            <a:ext cx="21948578" cy="12376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Ieșiri:</a:t>
            </a:r>
          </a:p>
        </p:txBody>
      </p:sp>
      <p:sp>
        <p:nvSpPr>
          <p:cNvPr id="233" name="Rezultatul final al neuronului (activat sau nu) este transmis următoarelor noduri din rețea."/>
          <p:cNvSpPr txBox="1"/>
          <p:nvPr/>
        </p:nvSpPr>
        <p:spPr>
          <a:xfrm>
            <a:off x="2163159" y="8450524"/>
            <a:ext cx="21948577" cy="1881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Rezultatul final al neuronului (activat sau nu) este transmis următoarelor noduri din rețea.</a:t>
            </a:r>
          </a:p>
        </p:txBody>
      </p:sp>
      <p:sp>
        <p:nvSpPr>
          <p:cNvPr id="234" name="În biologie, aceasta este echivalentă cu impulsurile care călătoresc pe axon spre următorii neuroni."/>
          <p:cNvSpPr txBox="1"/>
          <p:nvPr/>
        </p:nvSpPr>
        <p:spPr>
          <a:xfrm>
            <a:off x="2163159" y="10196577"/>
            <a:ext cx="21948577" cy="172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În biologie, aceasta este echivalentă cu impulsurile care călătoresc pe axon spre următorii neuroni.</a:t>
            </a:r>
          </a:p>
        </p:txBody>
      </p:sp>
      <p:sp>
        <p:nvSpPr>
          <p:cNvPr id="235" name="Aproximarea rețelelor neuronale biologi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Aproximarea rețelelor neuronale biologice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30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Neuronul artificial primește mai multe valori de intrare  , fiecare ponderată cu o valoare"/>
          <p:cNvSpPr txBox="1"/>
          <p:nvPr/>
        </p:nvSpPr>
        <p:spPr>
          <a:xfrm>
            <a:off x="1220831" y="2696147"/>
            <a:ext cx="21948577" cy="228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Neuronul artificial primește mai multe valori de intrare </a:t>
            </a:r>
            <a14:m>
              <m:oMath>
                <m:sSub>
                  <m:e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xmlns:a="http://schemas.openxmlformats.org/drawingml/2006/main" sz="5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sSub>
                  <m:e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xmlns:a="http://schemas.openxmlformats.org/drawingml/2006/main" sz="5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5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5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5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sSub>
                  <m:e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sub>
                </m:sSub>
              </m:oMath>
            </a14:m>
            <a:r>
              <a:t>, fiecare ponderată cu o valoare </a:t>
            </a:r>
            <a14:m>
              <m:oMath>
                <m:sSub>
                  <m:e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w</m:t>
                    </m:r>
                  </m:e>
                  <m:sub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xmlns:a="http://schemas.openxmlformats.org/drawingml/2006/main" sz="5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sSub>
                  <m:e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w</m:t>
                    </m:r>
                  </m:e>
                  <m:sub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xmlns:a="http://schemas.openxmlformats.org/drawingml/2006/main" sz="5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5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5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5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sSub>
                  <m:e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w</m:t>
                    </m:r>
                  </m:e>
                  <m:sub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sub>
                </m:sSub>
              </m:oMath>
            </a14:m>
          </a:p>
        </p:txBody>
      </p:sp>
      <p:sp>
        <p:nvSpPr>
          <p:cNvPr id="238" name="Toate acestea sunt adunate într-un singur număr   unde b este numit bias"/>
          <p:cNvSpPr txBox="1"/>
          <p:nvPr/>
        </p:nvSpPr>
        <p:spPr>
          <a:xfrm>
            <a:off x="1217711" y="4781531"/>
            <a:ext cx="21948578" cy="13323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518794" indent="-518794" defTabSz="2316421">
              <a:spcBef>
                <a:spcPts val="2200"/>
              </a:spcBef>
              <a:buSzPct val="150000"/>
              <a:buChar char="•"/>
              <a:defRPr sz="4180"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Toate acestea sunt adunate într-un singur număr </a:t>
            </a:r>
            <a14:m>
              <m:oMath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∑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sSub>
                  <m:e>
                    <m:r>
                      <a:rPr xmlns:a="http://schemas.openxmlformats.org/drawingml/2006/main" sz="4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xmlns:a="http://schemas.openxmlformats.org/drawingml/2006/main" sz="4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sub>
                </m:sSub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⋅</m:t>
                </m:r>
                <m:sSub>
                  <m:e>
                    <m:r>
                      <a:rPr xmlns:a="http://schemas.openxmlformats.org/drawingml/2006/main" sz="4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w</m:t>
                    </m:r>
                  </m:e>
                  <m:sub>
                    <m:r>
                      <a:rPr xmlns:a="http://schemas.openxmlformats.org/drawingml/2006/main" sz="4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sub>
                </m:sSub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4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b</m:t>
                </m:r>
              </m:oMath>
            </a14:m>
            <a:r>
              <a:t> unde b este numit bias</a:t>
            </a:r>
            <a:endParaRPr sz="4400"/>
          </a:p>
        </p:txBody>
      </p:sp>
      <p:sp>
        <p:nvSpPr>
          <p:cNvPr id="239" name="Acest număr prezintă o relație liniară între variabile care poate sau nu să fie utilă:"/>
          <p:cNvSpPr txBox="1"/>
          <p:nvPr/>
        </p:nvSpPr>
        <p:spPr>
          <a:xfrm>
            <a:off x="1217711" y="5982906"/>
            <a:ext cx="21948578" cy="1161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Acest număr prezintă o relație liniară între variabile care poate sau nu să fie utilă:</a:t>
            </a:r>
          </a:p>
        </p:txBody>
      </p:sp>
      <p:sp>
        <p:nvSpPr>
          <p:cNvPr id="240" name="Funcția de activa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Funcția de activare</a:t>
            </a:r>
          </a:p>
        </p:txBody>
      </p:sp>
      <p:sp>
        <p:nvSpPr>
          <p:cNvPr id="241" name="În prelucrarea imaginilor, obiectele pot avea poziții, dimensiuni și forme diferite, adică o relație non-liniară"/>
          <p:cNvSpPr txBox="1"/>
          <p:nvPr/>
        </p:nvSpPr>
        <p:spPr>
          <a:xfrm>
            <a:off x="2257964" y="7109859"/>
            <a:ext cx="21948578" cy="172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În prelucrarea imaginilor, obiectele pot avea poziții, dimensiuni și forme diferite, adică o relație non-liniară</a:t>
            </a:r>
          </a:p>
        </p:txBody>
      </p:sp>
      <p:sp>
        <p:nvSpPr>
          <p:cNvPr id="242" name="În clasificare, frontierele de separare dintre clase nu sunt întotdeauna drepte, ele pot fi curbe sau forme complexe"/>
          <p:cNvSpPr txBox="1"/>
          <p:nvPr/>
        </p:nvSpPr>
        <p:spPr>
          <a:xfrm>
            <a:off x="2257964" y="8770011"/>
            <a:ext cx="21948578" cy="1985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În clasificare, frontierele de separare dintre clase nu sunt întotdeauna drepte, ele pot fi curbe sau forme complexe</a:t>
            </a:r>
          </a:p>
        </p:txBody>
      </p:sp>
      <p:sp>
        <p:nvSpPr>
          <p:cNvPr id="243" name="Modele precum cele de prognoză meteo sau piețe financiare implică relații non-liniare între variabile"/>
          <p:cNvSpPr txBox="1"/>
          <p:nvPr/>
        </p:nvSpPr>
        <p:spPr>
          <a:xfrm>
            <a:off x="2257964" y="10625539"/>
            <a:ext cx="21948578" cy="1985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Modele precum cele de prognoză meteo sau piețe financiare implică relații non-liniare între variabile</a:t>
            </a:r>
          </a:p>
        </p:txBody>
      </p:sp>
      <p:pic>
        <p:nvPicPr>
          <p:cNvPr id="244" name="Linie Linie" descr="Linie Lini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777102" y="6807200"/>
            <a:ext cx="14035483" cy="101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44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copul funcției de activare este să facă semnalul non-liniar (dacă e nevoie) sau să “taie” valorile care nu contează"/>
          <p:cNvSpPr txBox="1"/>
          <p:nvPr/>
        </p:nvSpPr>
        <p:spPr>
          <a:xfrm>
            <a:off x="1220831" y="2696147"/>
            <a:ext cx="21948577" cy="1891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Scopul funcției de activare este să facă semnalul non-liniar (dacă e nevoie) sau să “taie” valorile care nu contează</a:t>
            </a:r>
          </a:p>
        </p:txBody>
      </p:sp>
      <p:sp>
        <p:nvSpPr>
          <p:cNvPr id="248" name="Funcția de activa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Funcția de activare</a:t>
            </a:r>
          </a:p>
        </p:txBody>
      </p:sp>
      <p:sp>
        <p:nvSpPr>
          <p:cNvPr id="249" name="Spre exemplu, haideți să vedem funcția de activare ReLU:"/>
          <p:cNvSpPr txBox="1"/>
          <p:nvPr/>
        </p:nvSpPr>
        <p:spPr>
          <a:xfrm>
            <a:off x="1217711" y="4586531"/>
            <a:ext cx="21948578" cy="1149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Spre exemplu, haideți să vedem funcția de activare ReLU:</a:t>
            </a:r>
          </a:p>
        </p:txBody>
      </p:sp>
      <p:pic>
        <p:nvPicPr>
          <p:cNvPr id="250" name="Captură de ecran din 2024-11-24 la 00.19.24.png" descr="Captură de ecran din 2024-11-24 la 00.19.2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43316" y="6142063"/>
            <a:ext cx="8586717" cy="6769793"/>
          </a:xfrm>
          <a:prstGeom prst="rect">
            <a:avLst/>
          </a:prstGeom>
          <a:ln w="12700">
            <a:miter lim="400000"/>
          </a:ln>
        </p:spPr>
      </p:pic>
      <p:sp>
        <p:nvSpPr>
          <p:cNvPr id="251" name="Ecuație"/>
          <p:cNvSpPr txBox="1"/>
          <p:nvPr/>
        </p:nvSpPr>
        <p:spPr>
          <a:xfrm>
            <a:off x="13902312" y="8232879"/>
            <a:ext cx="5718636" cy="137464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U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{</m:t>
                  </m:r>
                  <m:m>
                    <m:mPr>
                      <m:ctrl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aseJc m:val="center"/>
                      <m:plcHide m:val="on"/>
                      <m:mcs>
                        <m:mc>
                          <m:mcPr>
                            <m:count m:val="2"/>
                            <m:mcJc m:val="center"/>
                          </m:mcPr>
                        </m:mc>
                      </m:mcs>
                    </m:mPr>
                    <m:mr>
                      <m:e>
                        <m:r>
                          <a:rPr xmlns:a="http://schemas.openxmlformats.org/drawingml/2006/main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xmlns:a="http://schemas.openxmlformats.org/drawingml/2006/main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e>
                      <m:e>
                        <m:r>
                          <m:rPr>
                            <m:nor/>
                          </m:rPr>
                          <a:rPr xmlns:a="http://schemas.openxmlformats.org/drawingml/2006/main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if</m:t>
                        </m:r>
                        <m:r>
                          <a:rPr xmlns:a="http://schemas.openxmlformats.org/drawingml/2006/main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xmlns:a="http://schemas.openxmlformats.org/drawingml/2006/main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xmlns:a="http://schemas.openxmlformats.org/drawingml/2006/main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mr>
                    <m:mr>
                      <m:e>
                        <m:r>
                          <a:rPr xmlns:a="http://schemas.openxmlformats.org/drawingml/2006/main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0,</m:t>
                        </m:r>
                      </m:e>
                      <m:e>
                        <m:r>
                          <m:rPr>
                            <m:nor/>
                          </m:rPr>
                          <a:rPr xmlns:a="http://schemas.openxmlformats.org/drawingml/2006/main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if</m:t>
                        </m:r>
                        <m:r>
                          <a:rPr xmlns:a="http://schemas.openxmlformats.org/drawingml/2006/main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xmlns:a="http://schemas.openxmlformats.org/drawingml/2006/main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xmlns:a="http://schemas.openxmlformats.org/drawingml/2006/main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mr>
                  </m:m>
                </m:oMath>
              </m:oMathPara>
            </a14:m>
            <a:endParaRPr sz="4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În rețelele neuronale, intrările negative pot fi interpretate ca semnale mai puțin relevante pentru activarea unui neuron"/>
          <p:cNvSpPr txBox="1"/>
          <p:nvPr/>
        </p:nvSpPr>
        <p:spPr>
          <a:xfrm>
            <a:off x="1217711" y="9415319"/>
            <a:ext cx="21948578" cy="1891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În rețelele neuronale, intrările negative pot fi interpretate ca semnale mai puțin relevante pentru activarea unui neuron</a:t>
            </a:r>
          </a:p>
        </p:txBody>
      </p:sp>
      <p:sp>
        <p:nvSpPr>
          <p:cNvPr id="254" name="Funcția de activa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Funcția de activare</a:t>
            </a:r>
          </a:p>
        </p:txBody>
      </p:sp>
      <p:sp>
        <p:nvSpPr>
          <p:cNvPr id="255" name="ReLU filtrează aceste semnale, păstrând doar valorile pozitive, considerate mai importante pentru propagarea informației în rețea"/>
          <p:cNvSpPr txBox="1"/>
          <p:nvPr/>
        </p:nvSpPr>
        <p:spPr>
          <a:xfrm>
            <a:off x="1217711" y="11336690"/>
            <a:ext cx="21948578" cy="172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ReLU filtrează aceste semnale, păstrând doar valorile pozitive, considerate mai importante pentru propagarea informației în rețea</a:t>
            </a:r>
          </a:p>
        </p:txBody>
      </p:sp>
      <p:pic>
        <p:nvPicPr>
          <p:cNvPr id="256" name="Captură de ecran din 2024-11-24 la 00.19.24.png" descr="Captură de ecran din 2024-11-24 la 00.19.2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92423" y="2804905"/>
            <a:ext cx="8586718" cy="6769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257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37681" y="10985755"/>
            <a:ext cx="2655288" cy="101601"/>
          </a:xfrm>
          <a:prstGeom prst="rect">
            <a:avLst/>
          </a:prstGeom>
        </p:spPr>
      </p:pic>
      <p:pic>
        <p:nvPicPr>
          <p:cNvPr id="259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8864817" y="10310088"/>
            <a:ext cx="3007550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2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57" grpId="1"/>
      <p:bldP build="whole" bldLvl="1" animBg="1" rev="0" advAuto="0" spid="259" grpId="2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ombinația dintre partea constantă (x &lt; 0, y = 0) și partea liniară (x &gt;= 0, y = x) face ca ReLU să fie o funcție non-liniară deoarece nu este liniară pe întregul domeniu"/>
          <p:cNvSpPr txBox="1"/>
          <p:nvPr/>
        </p:nvSpPr>
        <p:spPr>
          <a:xfrm>
            <a:off x="1353558" y="9415319"/>
            <a:ext cx="21948578" cy="1891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Combinația dintre partea constantă (x &lt; 0, y = 0) și partea liniară (x &gt;= 0, y = x) face ca ReLU să fie o funcție non-liniară deoarece nu este liniară pe întregul domeniu</a:t>
            </a:r>
          </a:p>
        </p:txBody>
      </p:sp>
      <p:sp>
        <p:nvSpPr>
          <p:cNvPr id="263" name="Funcția de activa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Funcția de activare</a:t>
            </a:r>
          </a:p>
        </p:txBody>
      </p:sp>
      <p:sp>
        <p:nvSpPr>
          <p:cNvPr id="264" name="Astfel, reusim să modelăm funcții mai complexe"/>
          <p:cNvSpPr txBox="1"/>
          <p:nvPr/>
        </p:nvSpPr>
        <p:spPr>
          <a:xfrm>
            <a:off x="1217711" y="11336690"/>
            <a:ext cx="21948578" cy="11876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Astfel, reusim să modelăm funcții mai complexe</a:t>
            </a:r>
          </a:p>
        </p:txBody>
      </p:sp>
      <p:pic>
        <p:nvPicPr>
          <p:cNvPr id="265" name="Captură de ecran din 2024-11-24 la 00.19.24.png" descr="Captură de ecran din 2024-11-24 la 00.19.2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92423" y="2804905"/>
            <a:ext cx="8586718" cy="6769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266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946502" y="10956666"/>
            <a:ext cx="5314605" cy="101601"/>
          </a:xfrm>
          <a:prstGeom prst="rect">
            <a:avLst/>
          </a:prstGeom>
        </p:spPr>
      </p:pic>
      <p:pic>
        <p:nvPicPr>
          <p:cNvPr id="268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340989" y="12140118"/>
            <a:ext cx="2528354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2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66" grpId="1"/>
      <p:bldP build="whole" bldLvl="1" animBg="1" rev="0" advAuto="0" spid="268" grpId="2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Bias-ul poate fi comparat cu pragul de activare al neuronului biologic"/>
          <p:cNvSpPr txBox="1"/>
          <p:nvPr/>
        </p:nvSpPr>
        <p:spPr>
          <a:xfrm>
            <a:off x="1217711" y="9415319"/>
            <a:ext cx="21948578" cy="1116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Bias-ul poate fi comparat cu pragul de activare al neuronului biologic</a:t>
            </a:r>
          </a:p>
        </p:txBody>
      </p:sp>
      <p:sp>
        <p:nvSpPr>
          <p:cNvPr id="272" name="Rolul bias-ului în funcția de activa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Rolul bias-ului în funcția de activare</a:t>
            </a:r>
          </a:p>
        </p:txBody>
      </p:sp>
      <p:sp>
        <p:nvSpPr>
          <p:cNvPr id="273" name="Este acel nivel minim de stimulare necesar pentru ca un neuron să se activeze și să trimită un semnal mai departe"/>
          <p:cNvSpPr txBox="1"/>
          <p:nvPr/>
        </p:nvSpPr>
        <p:spPr>
          <a:xfrm>
            <a:off x="1217711" y="10464478"/>
            <a:ext cx="21948578" cy="185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Este acel nivel minim de stimulare necesar pentru ca un neuron să se activeze și să trimită un semnal mai departe</a:t>
            </a:r>
          </a:p>
        </p:txBody>
      </p:sp>
      <p:pic>
        <p:nvPicPr>
          <p:cNvPr id="274" name="Captură de ecran din 2024-11-24 la 00.19.24.png" descr="Captură de ecran din 2024-11-24 la 00.19.2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68874" y="3003867"/>
            <a:ext cx="7495514" cy="590948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5" name="Captură de ecran din 2024-11-24 la 00.24.20.png" descr="Captură de ecran din 2024-11-24 la 00.24.20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572424" y="3003867"/>
            <a:ext cx="7321486" cy="590948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" name="Captură de ecran din 2024-11-24 la 00.25.10.png" descr="Captură de ecran din 2024-11-24 la 00.25.10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76986" y="2730436"/>
            <a:ext cx="7783851" cy="6182917"/>
          </a:xfrm>
          <a:prstGeom prst="rect">
            <a:avLst/>
          </a:prstGeom>
          <a:ln w="12700">
            <a:miter lim="400000"/>
          </a:ln>
        </p:spPr>
      </p:pic>
      <p:pic>
        <p:nvPicPr>
          <p:cNvPr id="277" name="Linie Linie" descr="Linie Linie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843902" y="10248433"/>
            <a:ext cx="10619552" cy="101601"/>
          </a:xfrm>
          <a:prstGeom prst="rect">
            <a:avLst/>
          </a:prstGeom>
        </p:spPr>
      </p:pic>
      <p:pic>
        <p:nvPicPr>
          <p:cNvPr id="279" name="Linie Linie" descr="Linie Linie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036644" y="11342197"/>
            <a:ext cx="6404485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2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79" grpId="2"/>
      <p:bldP build="whole" bldLvl="1" animBg="1" rev="0" advAuto="0" spid="277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ractic, bias-ul este “offset-ul” care determină cât de ușor sau greu se activează un neuron"/>
          <p:cNvSpPr txBox="1"/>
          <p:nvPr/>
        </p:nvSpPr>
        <p:spPr>
          <a:xfrm>
            <a:off x="1217711" y="9415319"/>
            <a:ext cx="21948578" cy="1116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13333" indent="-513333" defTabSz="2292038">
              <a:spcBef>
                <a:spcPts val="2200"/>
              </a:spcBef>
              <a:buSzPct val="150000"/>
              <a:buChar char="•"/>
              <a:defRPr sz="4136"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Practic, bias-ul este “offset-ul” care determină cât de ușor sau greu se activează un neuron</a:t>
            </a:r>
          </a:p>
        </p:txBody>
      </p:sp>
      <p:sp>
        <p:nvSpPr>
          <p:cNvPr id="283" name="Rolul bias-ului în funcția de activa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Rolul bias-ului în funcția de activare</a:t>
            </a:r>
          </a:p>
        </p:txBody>
      </p:sp>
      <p:sp>
        <p:nvSpPr>
          <p:cNvPr id="284" name="Fără bias, pragul implicit este 0, deoarece intrările ponderate sunt pur și simplu comparate cu 0 de către funcția de activare"/>
          <p:cNvSpPr txBox="1"/>
          <p:nvPr/>
        </p:nvSpPr>
        <p:spPr>
          <a:xfrm>
            <a:off x="1217711" y="10464478"/>
            <a:ext cx="21948578" cy="185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Fără bias, pragul implicit este 0, deoarece intrările ponderate sunt pur și simplu comparate cu 0 de către funcția de activare</a:t>
            </a:r>
          </a:p>
        </p:txBody>
      </p:sp>
      <p:pic>
        <p:nvPicPr>
          <p:cNvPr id="285" name="Captură de ecran din 2024-11-24 la 00.19.24.png" descr="Captură de ecran din 2024-11-24 la 00.19.2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68873" y="3003867"/>
            <a:ext cx="7495515" cy="5909486"/>
          </a:xfrm>
          <a:prstGeom prst="rect">
            <a:avLst/>
          </a:prstGeom>
          <a:ln w="12700">
            <a:miter lim="400000"/>
          </a:ln>
        </p:spPr>
      </p:pic>
      <p:pic>
        <p:nvPicPr>
          <p:cNvPr id="286" name="Captură de ecran din 2024-11-24 la 00.24.20.png" descr="Captură de ecran din 2024-11-24 la 00.24.20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572424" y="3003867"/>
            <a:ext cx="7321486" cy="5909486"/>
          </a:xfrm>
          <a:prstGeom prst="rect">
            <a:avLst/>
          </a:prstGeom>
          <a:ln w="12700">
            <a:miter lim="400000"/>
          </a:ln>
        </p:spPr>
      </p:pic>
      <p:pic>
        <p:nvPicPr>
          <p:cNvPr id="287" name="Captură de ecran din 2024-11-24 la 00.25.10.png" descr="Captură de ecran din 2024-11-24 la 00.25.10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76986" y="2730436"/>
            <a:ext cx="7783851" cy="618291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8" name="Linie Linie" descr="Linie Linie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2589787" y="10185548"/>
            <a:ext cx="10582522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88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Deci, fără bias, rețeaua pierde flexibilitatea de a adapta pragul în funcție de date sau de context"/>
          <p:cNvSpPr txBox="1"/>
          <p:nvPr/>
        </p:nvSpPr>
        <p:spPr>
          <a:xfrm>
            <a:off x="1084983" y="9415319"/>
            <a:ext cx="21948578" cy="1852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Deci, fără bias, rețeaua pierde flexibilitatea de a adapta pragul în funcție de date sau de context</a:t>
            </a:r>
          </a:p>
        </p:txBody>
      </p:sp>
      <p:sp>
        <p:nvSpPr>
          <p:cNvPr id="292" name="Rolul bias-ului în funcția de activa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Rolul bias-ului în funcția de activare</a:t>
            </a:r>
          </a:p>
        </p:txBody>
      </p:sp>
      <p:pic>
        <p:nvPicPr>
          <p:cNvPr id="293" name="Captură de ecran din 2024-11-24 la 00.19.24.png" descr="Captură de ecran din 2024-11-24 la 00.19.2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68873" y="3003867"/>
            <a:ext cx="7495515" cy="5909486"/>
          </a:xfrm>
          <a:prstGeom prst="rect">
            <a:avLst/>
          </a:prstGeom>
          <a:ln w="12700">
            <a:miter lim="400000"/>
          </a:ln>
        </p:spPr>
      </p:pic>
      <p:pic>
        <p:nvPicPr>
          <p:cNvPr id="294" name="Captură de ecran din 2024-11-24 la 00.24.20.png" descr="Captură de ecran din 2024-11-24 la 00.24.20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572424" y="3003867"/>
            <a:ext cx="7321486" cy="5909486"/>
          </a:xfrm>
          <a:prstGeom prst="rect">
            <a:avLst/>
          </a:prstGeom>
          <a:ln w="12700">
            <a:miter lim="400000"/>
          </a:ln>
        </p:spPr>
      </p:pic>
      <p:pic>
        <p:nvPicPr>
          <p:cNvPr id="295" name="Captură de ecran din 2024-11-24 la 00.25.10.png" descr="Captură de ecran din 2024-11-24 la 00.25.10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76986" y="2730436"/>
            <a:ext cx="7783851" cy="6182917"/>
          </a:xfrm>
          <a:prstGeom prst="rect">
            <a:avLst/>
          </a:prstGeom>
          <a:ln w="12700">
            <a:miter lim="400000"/>
          </a:ln>
        </p:spPr>
      </p:pic>
      <p:sp>
        <p:nvSpPr>
          <p:cNvPr id="296" name="De aceea, bias-ul este foarte important și își are rolul esențial de adaptabilitate a pragului din funcția de activare"/>
          <p:cNvSpPr txBox="1"/>
          <p:nvPr/>
        </p:nvSpPr>
        <p:spPr>
          <a:xfrm>
            <a:off x="1084983" y="11116092"/>
            <a:ext cx="21948578" cy="1852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De aceea, bias-ul este foarte important și își are rolul esențial de adaptabilitate a pragului din funcția de activare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Alte exemple de funcții de activa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Alte exemple de funcții de activare</a:t>
            </a:r>
          </a:p>
        </p:txBody>
      </p:sp>
      <p:pic>
        <p:nvPicPr>
          <p:cNvPr id="299" name="Captură de ecran din 2024-11-24 la 00.34.07.png" descr="Captură de ecran din 2024-11-24 la 00.34.0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98385" y="2909786"/>
            <a:ext cx="8987230" cy="96967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Regresia liniară reprezintă baza unui neuron artificial"/>
          <p:cNvSpPr txBox="1"/>
          <p:nvPr/>
        </p:nvSpPr>
        <p:spPr>
          <a:xfrm>
            <a:off x="1220831" y="2696147"/>
            <a:ext cx="21948577" cy="1161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Regresia liniară reprezintă baza unui neuron artificial</a:t>
            </a:r>
          </a:p>
        </p:txBody>
      </p:sp>
      <p:sp>
        <p:nvSpPr>
          <p:cNvPr id="302" name="Regresia liniară ia următoara formă generală:"/>
          <p:cNvSpPr txBox="1"/>
          <p:nvPr/>
        </p:nvSpPr>
        <p:spPr>
          <a:xfrm>
            <a:off x="1217711" y="3814514"/>
            <a:ext cx="21948578" cy="13323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Regresia liniară ia următoara formă generală:</a:t>
            </a:r>
          </a:p>
        </p:txBody>
      </p:sp>
      <p:sp>
        <p:nvSpPr>
          <p:cNvPr id="303" name="Reprezentarea unui neuron artificia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Reprezentarea unui neuron artificial</a:t>
            </a:r>
          </a:p>
        </p:txBody>
      </p:sp>
      <p:sp>
        <p:nvSpPr>
          <p:cNvPr id="304" name="Tot ce lipsește acestei reprezentări este o funcție de activare"/>
          <p:cNvSpPr txBox="1"/>
          <p:nvPr/>
        </p:nvSpPr>
        <p:spPr>
          <a:xfrm>
            <a:off x="1350439" y="10517856"/>
            <a:ext cx="21948577" cy="13323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Tot ce lipsește acestei reprezentări este o funcție de activare</a:t>
            </a:r>
          </a:p>
        </p:txBody>
      </p:sp>
      <p:sp>
        <p:nvSpPr>
          <p:cNvPr id="305" name="Ecuație"/>
          <p:cNvSpPr txBox="1"/>
          <p:nvPr/>
        </p:nvSpPr>
        <p:spPr>
          <a:xfrm>
            <a:off x="8388291" y="5543635"/>
            <a:ext cx="7607418" cy="44893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⋅</m:t>
                  </m:r>
                  <m:sSub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b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⋅</m:t>
                  </m:r>
                  <m:sSub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b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</m:sSub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⋅</m:t>
                  </m:r>
                  <m:sSub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</m:sSub>
                </m:oMath>
              </m:oMathPara>
            </a14:m>
            <a:endParaRPr sz="4400"/>
          </a:p>
        </p:txBody>
      </p:sp>
      <p:pic>
        <p:nvPicPr>
          <p:cNvPr id="306" name="Captură de ecran din 2024-11-24 la 10.38.40.png" descr="Captură de ecran din 2024-11-24 la 10.38.4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94127" y="6217716"/>
            <a:ext cx="7061201" cy="3683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7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355874" y="3519348"/>
            <a:ext cx="7061201" cy="101601"/>
          </a:xfrm>
          <a:prstGeom prst="rect">
            <a:avLst/>
          </a:prstGeom>
        </p:spPr>
      </p:pic>
      <p:pic>
        <p:nvPicPr>
          <p:cNvPr id="309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923452" y="11361833"/>
            <a:ext cx="5074058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2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09" grpId="2"/>
      <p:bldP build="whole" bldLvl="1" animBg="1" rev="0" advAuto="0" spid="307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Reprezentarea unui neuron artificia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Reprezentarea unui neuron artificial</a:t>
            </a:r>
          </a:p>
        </p:txBody>
      </p:sp>
      <p:sp>
        <p:nvSpPr>
          <p:cNvPr id="313" name="Tot ce lipsește acestei reprezentări este o funcție de activare"/>
          <p:cNvSpPr txBox="1"/>
          <p:nvPr/>
        </p:nvSpPr>
        <p:spPr>
          <a:xfrm>
            <a:off x="1537442" y="7876177"/>
            <a:ext cx="21948577" cy="1138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Tot ce lipsește acestei reprezentări este o funcție de activare</a:t>
            </a:r>
          </a:p>
        </p:txBody>
      </p:sp>
      <p:sp>
        <p:nvSpPr>
          <p:cNvPr id="314" name="Ecuație"/>
          <p:cNvSpPr txBox="1"/>
          <p:nvPr/>
        </p:nvSpPr>
        <p:spPr>
          <a:xfrm>
            <a:off x="8350368" y="2851156"/>
            <a:ext cx="7607419" cy="44893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⋅</m:t>
                  </m:r>
                  <m:sSub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b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⋅</m:t>
                  </m:r>
                  <m:sSub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b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</m:sSub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⋅</m:t>
                  </m:r>
                  <m:sSub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</m:sSub>
                </m:oMath>
              </m:oMathPara>
            </a14:m>
            <a:endParaRPr sz="4400"/>
          </a:p>
        </p:txBody>
      </p:sp>
      <p:pic>
        <p:nvPicPr>
          <p:cNvPr id="315" name="Captură de ecran din 2024-11-24 la 10.38.40.png" descr="Captură de ecran din 2024-11-24 la 10.38.4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56205" y="3525237"/>
            <a:ext cx="7061201" cy="3683001"/>
          </a:xfrm>
          <a:prstGeom prst="rect">
            <a:avLst/>
          </a:prstGeom>
          <a:ln w="12700">
            <a:miter lim="400000"/>
          </a:ln>
        </p:spPr>
      </p:pic>
      <p:sp>
        <p:nvSpPr>
          <p:cNvPr id="316" name="Prezența funcției de activare transformă regresia liniară într-un neuron artificial"/>
          <p:cNvSpPr txBox="1"/>
          <p:nvPr/>
        </p:nvSpPr>
        <p:spPr>
          <a:xfrm>
            <a:off x="1537442" y="9065000"/>
            <a:ext cx="21948577" cy="1138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Prezența funcției de activare transformă regresia liniară într-un neuron artificial</a:t>
            </a:r>
          </a:p>
        </p:txBody>
      </p:sp>
      <p:sp>
        <p:nvSpPr>
          <p:cNvPr id="317" name="Ecuație"/>
          <p:cNvSpPr txBox="1"/>
          <p:nvPr/>
        </p:nvSpPr>
        <p:spPr>
          <a:xfrm>
            <a:off x="8388954" y="10828059"/>
            <a:ext cx="8245553" cy="5210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σ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⋅</m:t>
                  </m:r>
                  <m:sSub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b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⋅</m:t>
                  </m:r>
                  <m:sSub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b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</m:sSub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⋅</m:t>
                  </m:r>
                  <m:sSub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</m:sSub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sz="4400"/>
          </a:p>
        </p:txBody>
      </p:sp>
      <p:sp>
        <p:nvSpPr>
          <p:cNvPr id="318" name="Aici,   reprezintă o funcție de activare (poate fi ReLU, poate fi oricare alta de pe slide-urile trecute)"/>
          <p:cNvSpPr txBox="1"/>
          <p:nvPr/>
        </p:nvSpPr>
        <p:spPr>
          <a:xfrm>
            <a:off x="1537442" y="11694868"/>
            <a:ext cx="21948577" cy="172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507873" indent="-507873" defTabSz="2267655">
              <a:spcBef>
                <a:spcPts val="2200"/>
              </a:spcBef>
              <a:buSzPct val="150000"/>
              <a:buChar char="•"/>
              <a:defRPr sz="4092"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Aici, </a:t>
            </a:r>
            <a14:m>
              <m:oMath>
                <m:r>
                  <a:rPr xmlns:a="http://schemas.openxmlformats.org/drawingml/2006/main" sz="4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σ</m:t>
                </m:r>
              </m:oMath>
            </a14:m>
            <a:r>
              <a:t> reprezintă o funcție de activare (poate fi ReLU, poate fi oricare alta de pe slide-urile trecute)</a:t>
            </a:r>
            <a:endParaRPr sz="4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prezentarea unui neuron artificia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Reprezentarea unui neuron artificial</a:t>
            </a:r>
          </a:p>
        </p:txBody>
      </p:sp>
      <p:sp>
        <p:nvSpPr>
          <p:cNvPr id="321" name="În PyTorch:"/>
          <p:cNvSpPr txBox="1"/>
          <p:nvPr/>
        </p:nvSpPr>
        <p:spPr>
          <a:xfrm>
            <a:off x="1537442" y="4027070"/>
            <a:ext cx="21948577" cy="1138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În PyTorch:</a:t>
            </a:r>
          </a:p>
        </p:txBody>
      </p:sp>
      <p:sp>
        <p:nvSpPr>
          <p:cNvPr id="322" name="Ecuație"/>
          <p:cNvSpPr txBox="1"/>
          <p:nvPr/>
        </p:nvSpPr>
        <p:spPr>
          <a:xfrm>
            <a:off x="8350368" y="2851156"/>
            <a:ext cx="7607419" cy="44893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⋅</m:t>
                  </m:r>
                  <m:sSub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b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⋅</m:t>
                  </m:r>
                  <m:sSub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b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</m:sSub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⋅</m:t>
                  </m:r>
                  <m:sSub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</m:sSub>
                </m:oMath>
              </m:oMathPara>
            </a14:m>
            <a:endParaRPr sz="4400"/>
          </a:p>
        </p:txBody>
      </p:sp>
      <p:pic>
        <p:nvPicPr>
          <p:cNvPr id="323" name="Captură de ecran din 2024-11-25 la 02.38.08.png" descr="Captură de ecran din 2024-11-25 la 02.3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24376" y="5247892"/>
            <a:ext cx="11935247" cy="2908842"/>
          </a:xfrm>
          <a:prstGeom prst="rect">
            <a:avLst/>
          </a:prstGeom>
          <a:ln w="12700">
            <a:miter lim="400000"/>
          </a:ln>
        </p:spPr>
      </p:pic>
      <p:sp>
        <p:nvSpPr>
          <p:cNvPr id="324" name="nn.Linear(n,m) reprezintă un neuron artificial cu 2 intrări și o ieșire"/>
          <p:cNvSpPr txBox="1"/>
          <p:nvPr/>
        </p:nvSpPr>
        <p:spPr>
          <a:xfrm>
            <a:off x="1537442" y="8951233"/>
            <a:ext cx="21948577" cy="1138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nn.Linear(n,m) reprezintă un neuron artificial cu 2 intrări și o ieșire</a:t>
            </a:r>
          </a:p>
        </p:txBody>
      </p:sp>
      <p:sp>
        <p:nvSpPr>
          <p:cNvPr id="325" name="nn.Sequential() este folosit pentru a lega mai multe operații unul după altul"/>
          <p:cNvSpPr txBox="1"/>
          <p:nvPr/>
        </p:nvSpPr>
        <p:spPr>
          <a:xfrm>
            <a:off x="1537442" y="10104535"/>
            <a:ext cx="21948577" cy="1138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nn.Sequential() este folosit pentru a lega mai multe operații unul după altul</a:t>
            </a:r>
          </a:p>
        </p:txBody>
      </p:sp>
      <p:pic>
        <p:nvPicPr>
          <p:cNvPr id="326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32986" y="10884254"/>
            <a:ext cx="10210244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26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Reprezentarea unui neuron artificia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Reprezentarea unui neuron artificial</a:t>
            </a:r>
          </a:p>
        </p:txBody>
      </p:sp>
      <p:sp>
        <p:nvSpPr>
          <p:cNvPr id="330" name="nn.Sequential() este folosit pentru a lega mai multe operații unul după altul"/>
          <p:cNvSpPr txBox="1"/>
          <p:nvPr/>
        </p:nvSpPr>
        <p:spPr>
          <a:xfrm>
            <a:off x="1613286" y="2842425"/>
            <a:ext cx="21948578" cy="1138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nn.Sequential() este folosit pentru a lega mai multe operații unul după altul</a:t>
            </a:r>
          </a:p>
        </p:txBody>
      </p:sp>
      <p:sp>
        <p:nvSpPr>
          <p:cNvPr id="331" name="Spre exemplu, nn.Linear() primește ca intrare un tensor de dimensiunea 1 (vector) ca intrare"/>
          <p:cNvSpPr txBox="1"/>
          <p:nvPr/>
        </p:nvSpPr>
        <p:spPr>
          <a:xfrm>
            <a:off x="1613286" y="4334626"/>
            <a:ext cx="21948578" cy="19742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Spre exemplu, nn.Linear() primește ca intrare un tensor de dimensiunea 1 (vector) ca intrare</a:t>
            </a:r>
          </a:p>
        </p:txBody>
      </p:sp>
      <p:sp>
        <p:nvSpPr>
          <p:cNvPr id="332" name="O operație utilă pe care o realizăm adesea e cea de flatten, unde luăm un tablou multidimensional / tensor de n-dimensiuni și îl transformăm într-un tensor de dimensiunea 1"/>
          <p:cNvSpPr txBox="1"/>
          <p:nvPr/>
        </p:nvSpPr>
        <p:spPr>
          <a:xfrm>
            <a:off x="1613286" y="6243972"/>
            <a:ext cx="21948578" cy="2769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O operație utilă pe care o realizăm adesea e cea de flatten, unde luăm un tablou multidimensional / tensor de n-dimensiuni și îl transformăm într-un tensor de dimensiunea 1</a:t>
            </a:r>
          </a:p>
        </p:txBody>
      </p:sp>
      <p:pic>
        <p:nvPicPr>
          <p:cNvPr id="333" name="Captură de ecran din 2024-11-25 la 03.01.37.png" descr="Captură de ecran din 2024-11-25 la 03.01.3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69782" y="9398968"/>
            <a:ext cx="16635587" cy="1403628"/>
          </a:xfrm>
          <a:prstGeom prst="rect">
            <a:avLst/>
          </a:prstGeom>
          <a:ln w="12700">
            <a:miter lim="400000"/>
          </a:ln>
        </p:spPr>
      </p:pic>
      <p:sp>
        <p:nvSpPr>
          <p:cNvPr id="334" name="În acest caz, nn.Flatten se ocupă fix de operația descrisă mai sus"/>
          <p:cNvSpPr txBox="1"/>
          <p:nvPr/>
        </p:nvSpPr>
        <p:spPr>
          <a:xfrm>
            <a:off x="1613286" y="11187673"/>
            <a:ext cx="21948578" cy="1138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În acest caz, nn.Flatten se ocupă fix de operația descrisă mai sus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Învățarea se face cu un cos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Învățarea se face cu un cost</a:t>
            </a:r>
          </a:p>
        </p:txBody>
      </p:sp>
      <p:sp>
        <p:nvSpPr>
          <p:cNvPr id="337" name="Pentru ca un neuron artificial să învețe, este nevoie de o funcție de cost"/>
          <p:cNvSpPr txBox="1"/>
          <p:nvPr/>
        </p:nvSpPr>
        <p:spPr>
          <a:xfrm>
            <a:off x="1556403" y="3014193"/>
            <a:ext cx="21948578" cy="1138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Pentru ca un neuron artificial să învețe, este nevoie de o funcție de cost</a:t>
            </a:r>
          </a:p>
        </p:txBody>
      </p:sp>
      <p:sp>
        <p:nvSpPr>
          <p:cNvPr id="338" name="Funcția de cost ajută la reglarea ponderilor neuronului astfel încât să se potrivească mai bine cu datele de antrenare"/>
          <p:cNvSpPr txBox="1"/>
          <p:nvPr/>
        </p:nvSpPr>
        <p:spPr>
          <a:xfrm>
            <a:off x="1556403" y="4506394"/>
            <a:ext cx="21948578" cy="1974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Funcția de cost ajută la reglarea ponderilor neuronului astfel încât să se potrivească mai bine cu datele de antrenare</a:t>
            </a:r>
          </a:p>
        </p:txBody>
      </p:sp>
      <p:sp>
        <p:nvSpPr>
          <p:cNvPr id="339" name="Pentru regresia liniară, o funcție de cost folosită des este eroarea medie pătratică"/>
          <p:cNvSpPr txBox="1"/>
          <p:nvPr/>
        </p:nvSpPr>
        <p:spPr>
          <a:xfrm>
            <a:off x="1556403" y="9828741"/>
            <a:ext cx="21948578" cy="1138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Pentru regresia liniară, o funcție de cost folosită des este eroarea medie pătratică</a:t>
            </a:r>
          </a:p>
        </p:txBody>
      </p:sp>
      <p:pic>
        <p:nvPicPr>
          <p:cNvPr id="340" name="Captură de ecran din 2024-11-25 la 03.28.27.png" descr="Captură de ecran din 2024-11-25 la 03.28.2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91787" y="6834292"/>
            <a:ext cx="7286659" cy="1974218"/>
          </a:xfrm>
          <a:prstGeom prst="rect">
            <a:avLst/>
          </a:prstGeom>
          <a:ln w="12700">
            <a:miter lim="400000"/>
          </a:ln>
        </p:spPr>
      </p:pic>
      <p:pic>
        <p:nvPicPr>
          <p:cNvPr id="341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984991" y="3758118"/>
            <a:ext cx="4060803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8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8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Class="entr" nodeType="afterEffect" presetID="9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4" dur="2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37" grpId="1"/>
      <p:bldP build="whole" bldLvl="1" animBg="1" rev="0" advAuto="0" spid="339" grpId="3"/>
      <p:bldP build="whole" bldLvl="1" animBg="1" rev="0" advAuto="0" spid="338" grpId="2"/>
      <p:bldP build="whole" bldLvl="1" animBg="1" rev="0" advAuto="0" spid="341" grpId="4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Suprafața în metrii pătrați"/>
          <p:cNvSpPr txBox="1"/>
          <p:nvPr/>
        </p:nvSpPr>
        <p:spPr>
          <a:xfrm>
            <a:off x="3626977" y="3629892"/>
            <a:ext cx="6688024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Suprafața în metrii pătrați</a:t>
            </a:r>
          </a:p>
        </p:txBody>
      </p:sp>
      <p:sp>
        <p:nvSpPr>
          <p:cNvPr id="345" name="prețul unui apartament"/>
          <p:cNvSpPr txBox="1"/>
          <p:nvPr/>
        </p:nvSpPr>
        <p:spPr>
          <a:xfrm>
            <a:off x="14437004" y="3629892"/>
            <a:ext cx="5959349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prețul unui apartament</a:t>
            </a:r>
          </a:p>
        </p:txBody>
      </p:sp>
      <p:sp>
        <p:nvSpPr>
          <p:cNvPr id="346" name="50…"/>
          <p:cNvSpPr txBox="1"/>
          <p:nvPr/>
        </p:nvSpPr>
        <p:spPr>
          <a:xfrm>
            <a:off x="6219632" y="4280652"/>
            <a:ext cx="958648" cy="8352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50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60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70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80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90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100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110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120</a:t>
            </a:r>
          </a:p>
        </p:txBody>
      </p:sp>
      <p:sp>
        <p:nvSpPr>
          <p:cNvPr id="347" name="35000…"/>
          <p:cNvSpPr txBox="1"/>
          <p:nvPr/>
        </p:nvSpPr>
        <p:spPr>
          <a:xfrm>
            <a:off x="17152753" y="4520020"/>
            <a:ext cx="1747114" cy="8352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35000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40000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48000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55000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62000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7o000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75000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85000</a:t>
            </a:r>
          </a:p>
        </p:txBody>
      </p:sp>
      <p:sp>
        <p:nvSpPr>
          <p:cNvPr id="348" name="Învățarea se face cu un cos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Învățarea se face cu un cost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uprafața în metrii pătrați"/>
          <p:cNvSpPr txBox="1"/>
          <p:nvPr/>
        </p:nvSpPr>
        <p:spPr>
          <a:xfrm>
            <a:off x="368478" y="4348097"/>
            <a:ext cx="6688024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Suprafața în metrii pătrați</a:t>
            </a:r>
          </a:p>
        </p:txBody>
      </p:sp>
      <p:sp>
        <p:nvSpPr>
          <p:cNvPr id="351" name="prețul unui apartament"/>
          <p:cNvSpPr txBox="1"/>
          <p:nvPr/>
        </p:nvSpPr>
        <p:spPr>
          <a:xfrm>
            <a:off x="8667986" y="4348097"/>
            <a:ext cx="5959349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prețul unui apartament</a:t>
            </a:r>
          </a:p>
        </p:txBody>
      </p:sp>
      <p:sp>
        <p:nvSpPr>
          <p:cNvPr id="352" name="50…"/>
          <p:cNvSpPr txBox="1"/>
          <p:nvPr/>
        </p:nvSpPr>
        <p:spPr>
          <a:xfrm>
            <a:off x="2961133" y="4998856"/>
            <a:ext cx="958648" cy="8352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50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60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70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80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90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100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110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120</a:t>
            </a:r>
          </a:p>
        </p:txBody>
      </p:sp>
      <p:sp>
        <p:nvSpPr>
          <p:cNvPr id="353" name="35000…"/>
          <p:cNvSpPr txBox="1"/>
          <p:nvPr/>
        </p:nvSpPr>
        <p:spPr>
          <a:xfrm>
            <a:off x="10926917" y="5216394"/>
            <a:ext cx="1747115" cy="8352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35000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40000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48000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55000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62000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7o000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75000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85000</a:t>
            </a:r>
          </a:p>
        </p:txBody>
      </p:sp>
      <p:sp>
        <p:nvSpPr>
          <p:cNvPr id="354" name="prețul unui apartament (prezis)"/>
          <p:cNvSpPr txBox="1"/>
          <p:nvPr/>
        </p:nvSpPr>
        <p:spPr>
          <a:xfrm>
            <a:off x="15584303" y="4348097"/>
            <a:ext cx="7986675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prețul unui apartament (prezis)</a:t>
            </a:r>
          </a:p>
        </p:txBody>
      </p:sp>
      <p:sp>
        <p:nvSpPr>
          <p:cNvPr id="355" name="36850…"/>
          <p:cNvSpPr txBox="1"/>
          <p:nvPr/>
        </p:nvSpPr>
        <p:spPr>
          <a:xfrm>
            <a:off x="18704083" y="5216394"/>
            <a:ext cx="1678382" cy="8352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36850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40050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49128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54998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61999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69988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77000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85002</a:t>
            </a:r>
          </a:p>
        </p:txBody>
      </p:sp>
      <p:sp>
        <p:nvSpPr>
          <p:cNvPr id="356" name="Învățarea se face cu un cos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Învățarea se face cu un cost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55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rețul unui apartament"/>
          <p:cNvSpPr txBox="1"/>
          <p:nvPr/>
        </p:nvSpPr>
        <p:spPr>
          <a:xfrm>
            <a:off x="4740504" y="3640807"/>
            <a:ext cx="5959349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prețul unui apartament</a:t>
            </a:r>
          </a:p>
        </p:txBody>
      </p:sp>
      <p:sp>
        <p:nvSpPr>
          <p:cNvPr id="359" name="35000…"/>
          <p:cNvSpPr txBox="1"/>
          <p:nvPr/>
        </p:nvSpPr>
        <p:spPr>
          <a:xfrm>
            <a:off x="6999435" y="4509105"/>
            <a:ext cx="1747115" cy="8352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35000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40000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48000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55000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62000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7o000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75000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85000</a:t>
            </a:r>
          </a:p>
        </p:txBody>
      </p:sp>
      <p:sp>
        <p:nvSpPr>
          <p:cNvPr id="360" name="prețul unui apartament (prezis)"/>
          <p:cNvSpPr txBox="1"/>
          <p:nvPr/>
        </p:nvSpPr>
        <p:spPr>
          <a:xfrm>
            <a:off x="11656821" y="3640807"/>
            <a:ext cx="7986675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prețul unui apartament (prezis)</a:t>
            </a:r>
          </a:p>
        </p:txBody>
      </p:sp>
      <p:sp>
        <p:nvSpPr>
          <p:cNvPr id="361" name="36850…"/>
          <p:cNvSpPr txBox="1"/>
          <p:nvPr/>
        </p:nvSpPr>
        <p:spPr>
          <a:xfrm>
            <a:off x="14776600" y="4509105"/>
            <a:ext cx="1678382" cy="8352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36850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40050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49128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54998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61999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69988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77000</a:t>
            </a:r>
          </a:p>
          <a:p>
            <a: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85002</a:t>
            </a:r>
          </a:p>
        </p:txBody>
      </p:sp>
      <p:sp>
        <p:nvSpPr>
          <p:cNvPr id="362" name="-"/>
          <p:cNvSpPr txBox="1"/>
          <p:nvPr/>
        </p:nvSpPr>
        <p:spPr>
          <a:xfrm>
            <a:off x="11030381" y="4557123"/>
            <a:ext cx="295911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-</a:t>
            </a:r>
          </a:p>
        </p:txBody>
      </p:sp>
      <p:sp>
        <p:nvSpPr>
          <p:cNvPr id="363" name="-"/>
          <p:cNvSpPr txBox="1"/>
          <p:nvPr/>
        </p:nvSpPr>
        <p:spPr>
          <a:xfrm>
            <a:off x="11030381" y="5622839"/>
            <a:ext cx="295911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-</a:t>
            </a:r>
          </a:p>
        </p:txBody>
      </p:sp>
      <p:sp>
        <p:nvSpPr>
          <p:cNvPr id="364" name="-"/>
          <p:cNvSpPr txBox="1"/>
          <p:nvPr/>
        </p:nvSpPr>
        <p:spPr>
          <a:xfrm>
            <a:off x="11030381" y="6688555"/>
            <a:ext cx="295911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-</a:t>
            </a:r>
          </a:p>
        </p:txBody>
      </p:sp>
      <p:sp>
        <p:nvSpPr>
          <p:cNvPr id="365" name="-"/>
          <p:cNvSpPr txBox="1"/>
          <p:nvPr/>
        </p:nvSpPr>
        <p:spPr>
          <a:xfrm>
            <a:off x="11030381" y="7754271"/>
            <a:ext cx="295911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-</a:t>
            </a:r>
          </a:p>
        </p:txBody>
      </p:sp>
      <p:sp>
        <p:nvSpPr>
          <p:cNvPr id="366" name="-"/>
          <p:cNvSpPr txBox="1"/>
          <p:nvPr/>
        </p:nvSpPr>
        <p:spPr>
          <a:xfrm>
            <a:off x="11030381" y="8819986"/>
            <a:ext cx="295911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-</a:t>
            </a:r>
          </a:p>
        </p:txBody>
      </p:sp>
      <p:sp>
        <p:nvSpPr>
          <p:cNvPr id="367" name="-"/>
          <p:cNvSpPr txBox="1"/>
          <p:nvPr/>
        </p:nvSpPr>
        <p:spPr>
          <a:xfrm>
            <a:off x="11030381" y="9885703"/>
            <a:ext cx="295911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-</a:t>
            </a:r>
          </a:p>
        </p:txBody>
      </p:sp>
      <p:sp>
        <p:nvSpPr>
          <p:cNvPr id="368" name="-"/>
          <p:cNvSpPr txBox="1"/>
          <p:nvPr/>
        </p:nvSpPr>
        <p:spPr>
          <a:xfrm>
            <a:off x="11030381" y="10951418"/>
            <a:ext cx="295911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-</a:t>
            </a:r>
          </a:p>
        </p:txBody>
      </p:sp>
      <p:sp>
        <p:nvSpPr>
          <p:cNvPr id="369" name="-"/>
          <p:cNvSpPr txBox="1"/>
          <p:nvPr/>
        </p:nvSpPr>
        <p:spPr>
          <a:xfrm>
            <a:off x="11030381" y="12017134"/>
            <a:ext cx="295911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-</a:t>
            </a:r>
          </a:p>
        </p:txBody>
      </p:sp>
      <p:sp>
        <p:nvSpPr>
          <p:cNvPr id="370" name="("/>
          <p:cNvSpPr txBox="1"/>
          <p:nvPr/>
        </p:nvSpPr>
        <p:spPr>
          <a:xfrm>
            <a:off x="6558402" y="4557123"/>
            <a:ext cx="300940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(</a:t>
            </a:r>
          </a:p>
        </p:txBody>
      </p:sp>
      <p:sp>
        <p:nvSpPr>
          <p:cNvPr id="371" name=")"/>
          <p:cNvSpPr txBox="1"/>
          <p:nvPr/>
        </p:nvSpPr>
        <p:spPr>
          <a:xfrm>
            <a:off x="16644139" y="4557123"/>
            <a:ext cx="300940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)</a:t>
            </a:r>
          </a:p>
        </p:txBody>
      </p:sp>
      <p:sp>
        <p:nvSpPr>
          <p:cNvPr id="372" name="2"/>
          <p:cNvSpPr txBox="1"/>
          <p:nvPr/>
        </p:nvSpPr>
        <p:spPr>
          <a:xfrm>
            <a:off x="16818784" y="4229664"/>
            <a:ext cx="379172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73" name="("/>
          <p:cNvSpPr txBox="1"/>
          <p:nvPr/>
        </p:nvSpPr>
        <p:spPr>
          <a:xfrm>
            <a:off x="6558402" y="5578902"/>
            <a:ext cx="300940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(</a:t>
            </a:r>
          </a:p>
        </p:txBody>
      </p:sp>
      <p:sp>
        <p:nvSpPr>
          <p:cNvPr id="374" name="("/>
          <p:cNvSpPr txBox="1"/>
          <p:nvPr/>
        </p:nvSpPr>
        <p:spPr>
          <a:xfrm>
            <a:off x="6558402" y="6845353"/>
            <a:ext cx="300940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(</a:t>
            </a:r>
          </a:p>
        </p:txBody>
      </p:sp>
      <p:sp>
        <p:nvSpPr>
          <p:cNvPr id="375" name="("/>
          <p:cNvSpPr txBox="1"/>
          <p:nvPr/>
        </p:nvSpPr>
        <p:spPr>
          <a:xfrm>
            <a:off x="6558402" y="7754271"/>
            <a:ext cx="300940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(</a:t>
            </a:r>
          </a:p>
        </p:txBody>
      </p:sp>
      <p:sp>
        <p:nvSpPr>
          <p:cNvPr id="376" name="("/>
          <p:cNvSpPr txBox="1"/>
          <p:nvPr/>
        </p:nvSpPr>
        <p:spPr>
          <a:xfrm>
            <a:off x="6558402" y="8819986"/>
            <a:ext cx="300940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(</a:t>
            </a:r>
          </a:p>
        </p:txBody>
      </p:sp>
      <p:sp>
        <p:nvSpPr>
          <p:cNvPr id="377" name="("/>
          <p:cNvSpPr txBox="1"/>
          <p:nvPr/>
        </p:nvSpPr>
        <p:spPr>
          <a:xfrm>
            <a:off x="6558402" y="9929640"/>
            <a:ext cx="300940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(</a:t>
            </a:r>
          </a:p>
        </p:txBody>
      </p:sp>
      <p:sp>
        <p:nvSpPr>
          <p:cNvPr id="378" name="("/>
          <p:cNvSpPr txBox="1"/>
          <p:nvPr/>
        </p:nvSpPr>
        <p:spPr>
          <a:xfrm>
            <a:off x="6558402" y="11039293"/>
            <a:ext cx="300940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(</a:t>
            </a:r>
          </a:p>
        </p:txBody>
      </p:sp>
      <p:sp>
        <p:nvSpPr>
          <p:cNvPr id="379" name="("/>
          <p:cNvSpPr txBox="1"/>
          <p:nvPr/>
        </p:nvSpPr>
        <p:spPr>
          <a:xfrm>
            <a:off x="6558402" y="12017134"/>
            <a:ext cx="300940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(</a:t>
            </a:r>
          </a:p>
        </p:txBody>
      </p:sp>
      <p:sp>
        <p:nvSpPr>
          <p:cNvPr id="380" name=")"/>
          <p:cNvSpPr txBox="1"/>
          <p:nvPr/>
        </p:nvSpPr>
        <p:spPr>
          <a:xfrm>
            <a:off x="16731460" y="5742631"/>
            <a:ext cx="300941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)</a:t>
            </a:r>
          </a:p>
        </p:txBody>
      </p:sp>
      <p:sp>
        <p:nvSpPr>
          <p:cNvPr id="381" name="2"/>
          <p:cNvSpPr txBox="1"/>
          <p:nvPr/>
        </p:nvSpPr>
        <p:spPr>
          <a:xfrm>
            <a:off x="16906106" y="5415172"/>
            <a:ext cx="379172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82" name=")"/>
          <p:cNvSpPr txBox="1"/>
          <p:nvPr/>
        </p:nvSpPr>
        <p:spPr>
          <a:xfrm>
            <a:off x="16731460" y="6554623"/>
            <a:ext cx="300941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)</a:t>
            </a:r>
          </a:p>
        </p:txBody>
      </p:sp>
      <p:sp>
        <p:nvSpPr>
          <p:cNvPr id="383" name="2"/>
          <p:cNvSpPr txBox="1"/>
          <p:nvPr/>
        </p:nvSpPr>
        <p:spPr>
          <a:xfrm>
            <a:off x="16906106" y="6227164"/>
            <a:ext cx="379172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84" name=")"/>
          <p:cNvSpPr txBox="1"/>
          <p:nvPr/>
        </p:nvSpPr>
        <p:spPr>
          <a:xfrm>
            <a:off x="16731460" y="7579788"/>
            <a:ext cx="300941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)</a:t>
            </a:r>
          </a:p>
        </p:txBody>
      </p:sp>
      <p:sp>
        <p:nvSpPr>
          <p:cNvPr id="385" name="2"/>
          <p:cNvSpPr txBox="1"/>
          <p:nvPr/>
        </p:nvSpPr>
        <p:spPr>
          <a:xfrm>
            <a:off x="16906106" y="7252329"/>
            <a:ext cx="379172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86" name=")"/>
          <p:cNvSpPr txBox="1"/>
          <p:nvPr/>
        </p:nvSpPr>
        <p:spPr>
          <a:xfrm>
            <a:off x="16605022" y="8879582"/>
            <a:ext cx="300940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)</a:t>
            </a:r>
          </a:p>
        </p:txBody>
      </p:sp>
      <p:sp>
        <p:nvSpPr>
          <p:cNvPr id="387" name="2"/>
          <p:cNvSpPr txBox="1"/>
          <p:nvPr/>
        </p:nvSpPr>
        <p:spPr>
          <a:xfrm>
            <a:off x="16779667" y="8552123"/>
            <a:ext cx="379172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88" name=")"/>
          <p:cNvSpPr txBox="1"/>
          <p:nvPr/>
        </p:nvSpPr>
        <p:spPr>
          <a:xfrm>
            <a:off x="16517700" y="9851916"/>
            <a:ext cx="300940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)</a:t>
            </a:r>
          </a:p>
        </p:txBody>
      </p:sp>
      <p:sp>
        <p:nvSpPr>
          <p:cNvPr id="389" name="2"/>
          <p:cNvSpPr txBox="1"/>
          <p:nvPr/>
        </p:nvSpPr>
        <p:spPr>
          <a:xfrm>
            <a:off x="16692345" y="9524457"/>
            <a:ext cx="379172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90" name=")"/>
          <p:cNvSpPr txBox="1"/>
          <p:nvPr/>
        </p:nvSpPr>
        <p:spPr>
          <a:xfrm>
            <a:off x="16478584" y="10877082"/>
            <a:ext cx="300941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)</a:t>
            </a:r>
          </a:p>
        </p:txBody>
      </p:sp>
      <p:sp>
        <p:nvSpPr>
          <p:cNvPr id="391" name="2"/>
          <p:cNvSpPr txBox="1"/>
          <p:nvPr/>
        </p:nvSpPr>
        <p:spPr>
          <a:xfrm>
            <a:off x="16653230" y="10549623"/>
            <a:ext cx="379172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92" name=")"/>
          <p:cNvSpPr txBox="1"/>
          <p:nvPr/>
        </p:nvSpPr>
        <p:spPr>
          <a:xfrm>
            <a:off x="16565906" y="11902247"/>
            <a:ext cx="300940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)</a:t>
            </a:r>
          </a:p>
        </p:txBody>
      </p:sp>
      <p:sp>
        <p:nvSpPr>
          <p:cNvPr id="393" name="2"/>
          <p:cNvSpPr txBox="1"/>
          <p:nvPr/>
        </p:nvSpPr>
        <p:spPr>
          <a:xfrm>
            <a:off x="16740551" y="11574788"/>
            <a:ext cx="379173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94" name="+"/>
          <p:cNvSpPr txBox="1"/>
          <p:nvPr/>
        </p:nvSpPr>
        <p:spPr>
          <a:xfrm>
            <a:off x="17561757" y="4557123"/>
            <a:ext cx="419406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395" name="+"/>
          <p:cNvSpPr txBox="1"/>
          <p:nvPr/>
        </p:nvSpPr>
        <p:spPr>
          <a:xfrm>
            <a:off x="17561757" y="5578902"/>
            <a:ext cx="419406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396" name="+"/>
          <p:cNvSpPr txBox="1"/>
          <p:nvPr/>
        </p:nvSpPr>
        <p:spPr>
          <a:xfrm>
            <a:off x="17561757" y="6600680"/>
            <a:ext cx="419406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397" name="+"/>
          <p:cNvSpPr txBox="1"/>
          <p:nvPr/>
        </p:nvSpPr>
        <p:spPr>
          <a:xfrm>
            <a:off x="17489368" y="7579788"/>
            <a:ext cx="419405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398" name="+"/>
          <p:cNvSpPr txBox="1"/>
          <p:nvPr/>
        </p:nvSpPr>
        <p:spPr>
          <a:xfrm>
            <a:off x="17489368" y="8644545"/>
            <a:ext cx="419405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399" name="+"/>
          <p:cNvSpPr txBox="1"/>
          <p:nvPr/>
        </p:nvSpPr>
        <p:spPr>
          <a:xfrm>
            <a:off x="17489368" y="9710261"/>
            <a:ext cx="419405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400" name="+"/>
          <p:cNvSpPr txBox="1"/>
          <p:nvPr/>
        </p:nvSpPr>
        <p:spPr>
          <a:xfrm>
            <a:off x="17561757" y="10694291"/>
            <a:ext cx="419406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401" name="["/>
          <p:cNvSpPr txBox="1"/>
          <p:nvPr/>
        </p:nvSpPr>
        <p:spPr>
          <a:xfrm>
            <a:off x="6103957" y="4557123"/>
            <a:ext cx="314351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[</a:t>
            </a:r>
          </a:p>
        </p:txBody>
      </p:sp>
      <p:sp>
        <p:nvSpPr>
          <p:cNvPr id="402" name="]"/>
          <p:cNvSpPr txBox="1"/>
          <p:nvPr/>
        </p:nvSpPr>
        <p:spPr>
          <a:xfrm>
            <a:off x="17396203" y="11710188"/>
            <a:ext cx="314351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]</a:t>
            </a:r>
          </a:p>
        </p:txBody>
      </p:sp>
      <p:sp>
        <p:nvSpPr>
          <p:cNvPr id="403" name="Ecuație"/>
          <p:cNvSpPr txBox="1"/>
          <p:nvPr/>
        </p:nvSpPr>
        <p:spPr>
          <a:xfrm>
            <a:off x="5661939" y="4599561"/>
            <a:ext cx="391161" cy="119862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f>
                    <m:fPr>
                      <m:ctrl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den>
                  </m:f>
                </m:oMath>
              </m:oMathPara>
            </a14:m>
            <a:endParaRPr sz="4400"/>
          </a:p>
        </p:txBody>
      </p:sp>
      <p:sp>
        <p:nvSpPr>
          <p:cNvPr id="404" name="= cost"/>
          <p:cNvSpPr txBox="1"/>
          <p:nvPr/>
        </p:nvSpPr>
        <p:spPr>
          <a:xfrm>
            <a:off x="17987033" y="11841693"/>
            <a:ext cx="1642619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= cost</a:t>
            </a:r>
          </a:p>
        </p:txBody>
      </p:sp>
      <p:sp>
        <p:nvSpPr>
          <p:cNvPr id="405" name="Eroarea medie pătratică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Eroarea medie pătratică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8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Class="entr" nodeType="afterEffect" presetSubtype="8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Class="entr" nodeType="afterEffect" presetSubtype="8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Class="entr" nodeType="afterEffect" presetSubtype="8" presetID="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Class="entr" nodeType="afterEffect" presetSubtype="8" presetID="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Class="entr" nodeType="afterEffect" presetSubtype="8" presetID="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000"/>
                            </p:stCondLst>
                            <p:childTnLst>
                              <p:par>
                                <p:cTn id="40" presetClass="entr" nodeType="afterEffect" presetSubtype="8" presetID="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000"/>
                            </p:stCondLst>
                            <p:childTnLst>
                              <p:par>
                                <p:cTn id="45" presetClass="entr" nodeType="afterEffect" presetSubtype="8" presetID="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Class="entr" nodeType="clickEffect" presetSubtype="8" presetID="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Class="entr" nodeType="afterEffect" presetSubtype="8" presetID="2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Class="entr" nodeType="afterEffect" presetSubtype="8" presetID="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000"/>
                            </p:stCondLst>
                            <p:childTnLst>
                              <p:par>
                                <p:cTn id="66" presetClass="entr" nodeType="afterEffect" presetSubtype="8" presetID="2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000"/>
                            </p:stCondLst>
                            <p:childTnLst>
                              <p:par>
                                <p:cTn id="71" presetClass="entr" nodeType="afterEffect" presetSubtype="8" presetID="2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0"/>
                            </p:stCondLst>
                            <p:childTnLst>
                              <p:par>
                                <p:cTn id="76" presetClass="entr" nodeType="afterEffect" presetSubtype="8" presetID="2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000"/>
                            </p:stCondLst>
                            <p:childTnLst>
                              <p:par>
                                <p:cTn id="81" presetClass="entr" nodeType="afterEffect" presetSubtype="8" presetID="2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000"/>
                            </p:stCondLst>
                            <p:childTnLst>
                              <p:par>
                                <p:cTn id="86" presetClass="entr" nodeType="afterEffect" presetSubtype="8" presetID="2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8000"/>
                            </p:stCondLst>
                            <p:childTnLst>
                              <p:par>
                                <p:cTn id="91" presetClass="entr" nodeType="afterEffect" presetSubtype="8" presetID="2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9000"/>
                            </p:stCondLst>
                            <p:childTnLst>
                              <p:par>
                                <p:cTn id="96" presetClass="entr" nodeType="afterEffect" presetSubtype="8" presetID="2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1" presetClass="entr" nodeType="afterEffect" presetSubtype="8" presetID="2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1000"/>
                            </p:stCondLst>
                            <p:childTnLst>
                              <p:par>
                                <p:cTn id="106" presetClass="entr" nodeType="afterEffect" presetSubtype="8" presetID="2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7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2000"/>
                            </p:stCondLst>
                            <p:childTnLst>
                              <p:par>
                                <p:cTn id="111" presetClass="entr" nodeType="afterEffect" presetSubtype="8" presetID="2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2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3000"/>
                            </p:stCondLst>
                            <p:childTnLst>
                              <p:par>
                                <p:cTn id="116" presetClass="entr" nodeType="afterEffect" presetSubtype="8" presetID="2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7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4000"/>
                            </p:stCondLst>
                            <p:childTnLst>
                              <p:par>
                                <p:cTn id="121" presetClass="entr" nodeType="afterEffect" presetSubtype="8" presetID="2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5000"/>
                            </p:stCondLst>
                            <p:childTnLst>
                              <p:par>
                                <p:cTn id="126" presetClass="entr" nodeType="afterEffect" presetSubtype="8" presetID="2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7" fill="hold"/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6000"/>
                            </p:stCondLst>
                            <p:childTnLst>
                              <p:par>
                                <p:cTn id="131" presetClass="entr" nodeType="afterEffect" presetSubtype="8" presetID="2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2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7000"/>
                            </p:stCondLst>
                            <p:childTnLst>
                              <p:par>
                                <p:cTn id="136" presetClass="entr" nodeType="afterEffect" presetSubtype="8" presetID="2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7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8000"/>
                            </p:stCondLst>
                            <p:childTnLst>
                              <p:par>
                                <p:cTn id="141" presetClass="entr" nodeType="afterEffect" presetSubtype="8" presetID="2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2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9000"/>
                            </p:stCondLst>
                            <p:childTnLst>
                              <p:par>
                                <p:cTn id="146" presetClass="entr" nodeType="afterEffect" presetSubtype="8" presetID="2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7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20000"/>
                            </p:stCondLst>
                            <p:childTnLst>
                              <p:par>
                                <p:cTn id="151" presetClass="entr" nodeType="afterEffect" presetSubtype="8" presetID="2" grpId="3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2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21000"/>
                            </p:stCondLst>
                            <p:childTnLst>
                              <p:par>
                                <p:cTn id="156" presetClass="entr" nodeType="afterEffect" presetSubtype="8" presetID="2" grpId="3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7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2000"/>
                            </p:stCondLst>
                            <p:childTnLst>
                              <p:par>
                                <p:cTn id="161" presetClass="entr" nodeType="afterEffect" presetSubtype="8" presetID="2" grpId="3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2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23000"/>
                            </p:stCondLst>
                            <p:childTnLst>
                              <p:par>
                                <p:cTn id="166" presetClass="entr" nodeType="afterEffect" presetSubtype="8" presetID="2" grpId="3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7" fill="hold"/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Class="entr" nodeType="clickEffect" presetSubtype="8" presetID="2" grpId="3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3" fill="hold"/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7" presetClass="entr" nodeType="afterEffect" presetSubtype="8" presetID="2" grpId="3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8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2000"/>
                            </p:stCondLst>
                            <p:childTnLst>
                              <p:par>
                                <p:cTn id="182" presetClass="entr" nodeType="afterEffect" presetSubtype="8" presetID="2" grpId="3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3" fill="hold"/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3000"/>
                            </p:stCondLst>
                            <p:childTnLst>
                              <p:par>
                                <p:cTn id="187" presetClass="entr" nodeType="afterEffect" presetSubtype="8" presetID="2" grpId="3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8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4000"/>
                            </p:stCondLst>
                            <p:childTnLst>
                              <p:par>
                                <p:cTn id="192" presetClass="entr" nodeType="afterEffect" presetSubtype="8" presetID="2" grpId="3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3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5000"/>
                            </p:stCondLst>
                            <p:childTnLst>
                              <p:par>
                                <p:cTn id="197" presetClass="entr" nodeType="afterEffect" presetSubtype="8" presetID="2" grpId="3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8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6000"/>
                            </p:stCondLst>
                            <p:childTnLst>
                              <p:par>
                                <p:cTn id="202" presetClass="entr" nodeType="afterEffect" presetSubtype="8" presetID="2" grpId="4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3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Class="entr" nodeType="clickEffect" presetSubtype="8" presetID="2" grpId="4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9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1000"/>
                            </p:stCondLst>
                            <p:childTnLst>
                              <p:par>
                                <p:cTn id="213" presetClass="entr" nodeType="afterEffect" presetSubtype="8" presetID="2" grpId="4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4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2000"/>
                            </p:stCondLst>
                            <p:childTnLst>
                              <p:par>
                                <p:cTn id="218" presetClass="entr" nodeType="afterEffect" presetSubtype="8" presetID="2" grpId="4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9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23" presetClass="entr" nodeType="afterEffect" presetSubtype="8" presetID="2" grpId="4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4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62" grpId="2"/>
      <p:bldP build="whole" bldLvl="1" animBg="1" rev="0" advAuto="0" spid="379" grpId="19"/>
      <p:bldP build="whole" bldLvl="1" animBg="1" rev="0" advAuto="0" spid="373" grpId="13"/>
      <p:bldP build="whole" bldLvl="1" animBg="1" rev="0" advAuto="0" spid="375" grpId="15"/>
      <p:bldP build="whole" bldLvl="1" animBg="1" rev="0" advAuto="0" spid="365" grpId="5"/>
      <p:bldP build="whole" bldLvl="1" animBg="1" rev="0" advAuto="0" spid="385" grpId="25"/>
      <p:bldP build="whole" bldLvl="1" animBg="1" rev="0" advAuto="0" spid="367" grpId="7"/>
      <p:bldP build="whole" bldLvl="1" animBg="1" rev="0" advAuto="0" spid="404" grpId="44"/>
      <p:bldP build="whole" bldLvl="1" animBg="1" rev="0" advAuto="0" spid="382" grpId="22"/>
      <p:bldP build="whole" bldLvl="1" animBg="1" rev="0" advAuto="0" spid="361" grpId="1"/>
      <p:bldP build="whole" bldLvl="1" animBg="1" rev="0" advAuto="0" spid="374" grpId="14"/>
      <p:bldP build="whole" bldLvl="1" animBg="1" rev="0" advAuto="0" spid="368" grpId="8"/>
      <p:bldP build="whole" bldLvl="1" animBg="1" rev="0" advAuto="0" spid="384" grpId="24"/>
      <p:bldP build="whole" bldLvl="1" animBg="1" rev="0" advAuto="0" spid="401" grpId="41"/>
      <p:bldP build="whole" bldLvl="1" animBg="1" rev="0" advAuto="0" spid="376" grpId="16"/>
      <p:bldP build="whole" bldLvl="1" animBg="1" rev="0" advAuto="0" spid="369" grpId="9"/>
      <p:bldP build="whole" bldLvl="1" animBg="1" rev="0" advAuto="0" spid="402" grpId="42"/>
      <p:bldP build="whole" bldLvl="1" animBg="1" rev="0" advAuto="0" spid="392" grpId="32"/>
      <p:bldP build="whole" bldLvl="1" animBg="1" rev="0" advAuto="0" spid="393" grpId="33"/>
      <p:bldP build="whole" bldLvl="1" animBg="1" rev="0" advAuto="0" spid="388" grpId="28"/>
      <p:bldP build="whole" bldLvl="1" animBg="1" rev="0" advAuto="0" spid="400" grpId="40"/>
      <p:bldP build="whole" bldLvl="1" animBg="1" rev="0" advAuto="0" spid="371" grpId="11"/>
      <p:bldP build="whole" bldLvl="1" animBg="1" rev="0" advAuto="0" spid="370" grpId="10"/>
      <p:bldP build="whole" bldLvl="1" animBg="1" rev="0" advAuto="0" spid="363" grpId="3"/>
      <p:bldP build="whole" bldLvl="1" animBg="1" rev="0" advAuto="0" spid="398" grpId="38"/>
      <p:bldP build="whole" bldLvl="1" animBg="1" rev="0" advAuto="0" spid="399" grpId="39"/>
      <p:bldP build="whole" bldLvl="1" animBg="1" rev="0" advAuto="0" spid="396" grpId="36"/>
      <p:bldP build="whole" bldLvl="1" animBg="1" rev="0" advAuto="0" spid="380" grpId="20"/>
      <p:bldP build="whole" bldLvl="1" animBg="1" rev="0" advAuto="0" spid="372" grpId="12"/>
      <p:bldP build="whole" bldLvl="1" animBg="1" rev="0" advAuto="0" spid="378" grpId="18"/>
      <p:bldP build="whole" bldLvl="1" animBg="1" rev="0" advAuto="0" spid="395" grpId="35"/>
      <p:bldP build="whole" bldLvl="1" animBg="1" rev="0" advAuto="0" spid="364" grpId="4"/>
      <p:bldP build="whole" bldLvl="1" animBg="1" rev="0" advAuto="0" spid="389" grpId="29"/>
      <p:bldP build="whole" bldLvl="1" animBg="1" rev="0" advAuto="0" spid="381" grpId="21"/>
      <p:bldP build="whole" bldLvl="1" animBg="1" rev="0" advAuto="0" spid="377" grpId="17"/>
      <p:bldP build="whole" bldLvl="1" animBg="1" rev="0" advAuto="0" spid="386" grpId="26"/>
      <p:bldP build="whole" bldLvl="1" animBg="1" rev="0" advAuto="0" spid="390" grpId="30"/>
      <p:bldP build="whole" bldLvl="1" animBg="1" rev="0" advAuto="0" spid="397" grpId="37"/>
      <p:bldP build="whole" bldLvl="1" animBg="1" rev="0" advAuto="0" spid="391" grpId="31"/>
      <p:bldP build="whole" bldLvl="1" animBg="1" rev="0" advAuto="0" spid="366" grpId="6"/>
      <p:bldP build="whole" bldLvl="1" animBg="1" rev="0" advAuto="0" spid="387" grpId="27"/>
      <p:bldP build="whole" bldLvl="1" animBg="1" rev="0" advAuto="0" spid="403" grpId="43"/>
      <p:bldP build="whole" bldLvl="1" animBg="1" rev="0" advAuto="0" spid="383" grpId="23"/>
      <p:bldP build="whole" bldLvl="1" animBg="1" rev="0" advAuto="0" spid="394" grpId="34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Neuroni artificiali pentru clasifica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Neuroni artificiali pentru clasificare</a:t>
            </a:r>
          </a:p>
        </p:txBody>
      </p:sp>
      <p:sp>
        <p:nvSpPr>
          <p:cNvPr id="408" name="Pentru clasificare, se folosesc adesea funcțiile de activare sigmoid și softmax pentru transformarea ieșirii regresiei liniare în probabilități"/>
          <p:cNvSpPr txBox="1"/>
          <p:nvPr/>
        </p:nvSpPr>
        <p:spPr>
          <a:xfrm>
            <a:off x="1220831" y="2696147"/>
            <a:ext cx="21948577" cy="1891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Pentru clasificare, se folosesc adesea funcțiile de activare sigmoid și softmax pentru transformarea ieșirii regresiei liniare în probabilități</a:t>
            </a:r>
          </a:p>
        </p:txBody>
      </p:sp>
      <p:sp>
        <p:nvSpPr>
          <p:cNvPr id="409" name="În cazul funcției de activare sigmoid, regresia liniară se transformă în regresia logistică"/>
          <p:cNvSpPr txBox="1"/>
          <p:nvPr/>
        </p:nvSpPr>
        <p:spPr>
          <a:xfrm>
            <a:off x="1217711" y="4406681"/>
            <a:ext cx="21948578" cy="13323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29717" indent="-529717" defTabSz="2365188">
              <a:spcBef>
                <a:spcPts val="2300"/>
              </a:spcBef>
              <a:buSzPct val="150000"/>
              <a:buChar char="•"/>
              <a:defRPr sz="4268"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În cazul funcției de activare sigmoid, regresia liniară se transformă în regresia logistică</a:t>
            </a:r>
          </a:p>
        </p:txBody>
      </p:sp>
      <p:sp>
        <p:nvSpPr>
          <p:cNvPr id="410" name="În cazul funcției de activare softmax, regresia liniară se transformă în regresia softmax"/>
          <p:cNvSpPr txBox="1"/>
          <p:nvPr/>
        </p:nvSpPr>
        <p:spPr>
          <a:xfrm>
            <a:off x="1217711" y="6092567"/>
            <a:ext cx="21948578" cy="13323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29717" indent="-529717" defTabSz="2365188">
              <a:spcBef>
                <a:spcPts val="2300"/>
              </a:spcBef>
              <a:buSzPct val="150000"/>
              <a:buChar char="•"/>
              <a:defRPr sz="4268"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În cazul funcției de activare softmax, regresia liniară se transformă în regresia softmax</a:t>
            </a:r>
          </a:p>
        </p:txBody>
      </p:sp>
      <p:sp>
        <p:nvSpPr>
          <p:cNvPr id="411" name="În acest caz, pentru clasificare, folosim des funcția de cost cross-entropy:"/>
          <p:cNvSpPr txBox="1"/>
          <p:nvPr/>
        </p:nvSpPr>
        <p:spPr>
          <a:xfrm>
            <a:off x="1217711" y="7525504"/>
            <a:ext cx="21948578" cy="13323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În acest caz, pentru clasificare, folosim des funcția de cost cross-entropy:</a:t>
            </a:r>
          </a:p>
        </p:txBody>
      </p:sp>
      <p:pic>
        <p:nvPicPr>
          <p:cNvPr id="412" name="Captură de ecran din 2024-11-25 la 04.48.23.png" descr="Captură de ecran din 2024-11-25 la 04.48.2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38513" y="9272768"/>
            <a:ext cx="9906975" cy="21552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3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221479" y="3590915"/>
            <a:ext cx="4848406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13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Neuroni artificiali pentru clasifica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Neuroni artificiali pentru clasificare</a:t>
            </a:r>
          </a:p>
        </p:txBody>
      </p:sp>
      <p:sp>
        <p:nvSpPr>
          <p:cNvPr id="417" name="Mai sus, dacă m = 1 avem regresia logistică și dacă m &gt; 1 avem regresia softmax"/>
          <p:cNvSpPr txBox="1"/>
          <p:nvPr/>
        </p:nvSpPr>
        <p:spPr>
          <a:xfrm>
            <a:off x="1486286" y="6044759"/>
            <a:ext cx="21948578" cy="1118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Mai sus, dacă m = 1 avem regresia logistică și dacă m &gt; 1 avem regresia softmax</a:t>
            </a:r>
          </a:p>
        </p:txBody>
      </p:sp>
      <p:pic>
        <p:nvPicPr>
          <p:cNvPr id="418" name="Captură de ecran din 2024-11-25 la 04.48.23.png" descr="Captură de ecran din 2024-11-25 la 04.48.2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38513" y="3281053"/>
            <a:ext cx="9906975" cy="2155203"/>
          </a:xfrm>
          <a:prstGeom prst="rect">
            <a:avLst/>
          </a:prstGeom>
          <a:ln w="12700">
            <a:miter lim="400000"/>
          </a:ln>
        </p:spPr>
      </p:pic>
      <p:sp>
        <p:nvSpPr>
          <p:cNvPr id="419" name="În regresia logistică, modelul realizează clasificare binară și dă ca ieșire o singură valoare. O valoare mai mare înseamnă că clasa „True” are șanse mai mari să se întâmple, iar o valoare mai mică inseamnă că clasa „False” are șanse mai mari să se intâm"/>
          <p:cNvSpPr txBox="1"/>
          <p:nvPr/>
        </p:nvSpPr>
        <p:spPr>
          <a:xfrm>
            <a:off x="1486286" y="7006048"/>
            <a:ext cx="21948578" cy="3431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În regresia logistică, modelul realizează clasificare binară și dă ca ieșire o singură valoare. O valoare mai mare înseamnă că clasa „True” are șanse mai mari să se întâmple, iar o valoare mai mică inseamnă că clasa „False” are șanse mai mari să se intâmple</a:t>
            </a:r>
          </a:p>
        </p:txBody>
      </p:sp>
      <p:sp>
        <p:nvSpPr>
          <p:cNvPr id="420" name="În regresia softmax, modelul dă ca ieșire M probabilități, care însumate dau valoarea 1. E practic o distribuție de probabilități care spune care clasă e mai predominantă decât alta"/>
          <p:cNvSpPr txBox="1"/>
          <p:nvPr/>
        </p:nvSpPr>
        <p:spPr>
          <a:xfrm>
            <a:off x="1486286" y="10185789"/>
            <a:ext cx="21948578" cy="2989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În regresia softmax, modelul dă ca ieșire M probabilități, care însumate dau valoarea 1. E practic o distribuție de probabilități care spune care clasă e mai predominantă decât alta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8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8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19" grpId="2"/>
      <p:bldP build="whole" bldLvl="1" animBg="1" rev="0" advAuto="0" spid="417" grpId="1"/>
      <p:bldP build="whole" bldLvl="1" animBg="1" rev="0" advAuto="0" spid="420" grpId="3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Neuroni artificiali pentru clasifica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Neuroni artificiali pentru clasificare</a:t>
            </a:r>
          </a:p>
        </p:txBody>
      </p:sp>
      <p:sp>
        <p:nvSpPr>
          <p:cNvPr id="423" name="În regresia logistică, modelul realizează clasificare binară și dă ca ieșire o singură valoare. O valoare mai mare înseamnă că clasa „True” are șanse mai mari să se întâmple, iar o valoare mai mică inseamnă că clasa „False” are șanse mai mari să se intâm"/>
          <p:cNvSpPr txBox="1"/>
          <p:nvPr/>
        </p:nvSpPr>
        <p:spPr>
          <a:xfrm>
            <a:off x="1217711" y="4142919"/>
            <a:ext cx="21948578" cy="3431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În regresia logistică, modelul realizează clasificare binară și dă ca ieșire o singură valoare. O valoare mai mare înseamnă că clasa „True” are șanse mai mari să se întâmple, iar o valoare mai mică inseamnă că clasa „False” are șanse mai mari să se intâmple</a:t>
            </a:r>
          </a:p>
        </p:txBody>
      </p:sp>
      <p:sp>
        <p:nvSpPr>
          <p:cNvPr id="424" name="În regresia softmax, modelul dă ca ieșire M probabilități, care însumate dau valoarea 1. E practic o distribuție de probabilități care spune care clasă e mai predominantă decât alta"/>
          <p:cNvSpPr txBox="1"/>
          <p:nvPr/>
        </p:nvSpPr>
        <p:spPr>
          <a:xfrm>
            <a:off x="1217711" y="7322660"/>
            <a:ext cx="21948578" cy="2933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În regresia softmax, modelul dă ca ieșire M probabilități, care însumate dau valoarea 1. E practic o distribuție de probabilități care spune care clasă e mai predominantă decât alta</a:t>
            </a:r>
          </a:p>
        </p:txBody>
      </p:sp>
      <p:sp>
        <p:nvSpPr>
          <p:cNvPr id="425" name="Cross-entropy măsoară cât de bine aceste probabilități reflectă etichetele reale"/>
          <p:cNvSpPr txBox="1"/>
          <p:nvPr/>
        </p:nvSpPr>
        <p:spPr>
          <a:xfrm>
            <a:off x="1217711" y="9762916"/>
            <a:ext cx="21948578" cy="1400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Cross-entropy măsoară cât de bine aceste probabilități reflectă etichetele reale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Neuroni artificiali pentru clasifica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Neuroni artificiali pentru clasificare</a:t>
            </a:r>
          </a:p>
        </p:txBody>
      </p:sp>
      <p:sp>
        <p:nvSpPr>
          <p:cNvPr id="428" name="Pentru regresia logistică:"/>
          <p:cNvSpPr txBox="1"/>
          <p:nvPr/>
        </p:nvSpPr>
        <p:spPr>
          <a:xfrm>
            <a:off x="624189" y="2606823"/>
            <a:ext cx="21948577" cy="203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Pentru regresia logistică:</a:t>
            </a:r>
          </a:p>
        </p:txBody>
      </p:sp>
      <p:pic>
        <p:nvPicPr>
          <p:cNvPr id="429" name="Captură de ecran din 2024-11-24 la 10.38.40.png" descr="Captură de ecran din 2024-11-24 la 10.38.4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49162" y="4284135"/>
            <a:ext cx="8277498" cy="4317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0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8770076">
            <a:off x="8703361" y="5094279"/>
            <a:ext cx="2035528" cy="405591"/>
          </a:xfrm>
          <a:prstGeom prst="rect">
            <a:avLst/>
          </a:prstGeom>
        </p:spPr>
      </p:pic>
      <p:sp>
        <p:nvSpPr>
          <p:cNvPr id="432" name="Sigmoid"/>
          <p:cNvSpPr txBox="1"/>
          <p:nvPr/>
        </p:nvSpPr>
        <p:spPr>
          <a:xfrm>
            <a:off x="10800002" y="3641531"/>
            <a:ext cx="2229918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Sigmoid</a:t>
            </a:r>
          </a:p>
        </p:txBody>
      </p:sp>
      <p:pic>
        <p:nvPicPr>
          <p:cNvPr id="433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432719" y="6240712"/>
            <a:ext cx="8798925" cy="405592"/>
          </a:xfrm>
          <a:prstGeom prst="rect">
            <a:avLst/>
          </a:prstGeom>
        </p:spPr>
      </p:pic>
      <p:sp>
        <p:nvSpPr>
          <p:cNvPr id="435" name="0.83 (k)"/>
          <p:cNvSpPr txBox="1"/>
          <p:nvPr/>
        </p:nvSpPr>
        <p:spPr>
          <a:xfrm>
            <a:off x="19382793" y="5975729"/>
            <a:ext cx="2117040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0.83 (k)</a:t>
            </a:r>
          </a:p>
        </p:txBody>
      </p:sp>
      <p:sp>
        <p:nvSpPr>
          <p:cNvPr id="436" name="Ieșirea neuronului după activare"/>
          <p:cNvSpPr txBox="1"/>
          <p:nvPr/>
        </p:nvSpPr>
        <p:spPr>
          <a:xfrm>
            <a:off x="10861681" y="5196343"/>
            <a:ext cx="8129729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Ieșirea neuronului după activare</a:t>
            </a:r>
          </a:p>
        </p:txBody>
      </p:sp>
      <p:sp>
        <p:nvSpPr>
          <p:cNvPr id="437" name="Dacă y (ground truth) = 1, atunci se încearcă minimizarea funcției -log(k)"/>
          <p:cNvSpPr txBox="1"/>
          <p:nvPr/>
        </p:nvSpPr>
        <p:spPr>
          <a:xfrm>
            <a:off x="624189" y="9180604"/>
            <a:ext cx="21948577" cy="12461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Dacă y (ground truth) = 1, atunci se încearcă minimizarea funcției -log(k)</a:t>
            </a:r>
          </a:p>
        </p:txBody>
      </p:sp>
      <p:sp>
        <p:nvSpPr>
          <p:cNvPr id="438" name="Motivul este acela ca minimizarea -log(k) implică aducerea k spre 1, deoarece atunci log(k) devine log(1)=0, si funcția de cost este perfect minimizată"/>
          <p:cNvSpPr txBox="1"/>
          <p:nvPr/>
        </p:nvSpPr>
        <p:spPr>
          <a:xfrm>
            <a:off x="624189" y="10385114"/>
            <a:ext cx="21948577" cy="203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Motivul este acela ca minimizarea -log(k) implică aducerea k spre 1, deoarece atunci log(k) devine log(1)=0, si funcția de cost este perfect minimizată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Subtype="8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Class="entr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6" dur="20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0"/>
                            </p:stCondLst>
                            <p:childTnLst>
                              <p:par>
                                <p:cTn id="18" presetClass="entr" nodeType="afterEffect" presetSubtype="8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0"/>
                            </p:stCondLst>
                            <p:childTnLst>
                              <p:par>
                                <p:cTn id="23" presetClass="entr" nodeType="afterEffect" presetSubtype="8" presetID="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8" presetID="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8" presetID="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33" grpId="3"/>
      <p:bldP build="whole" bldLvl="1" animBg="1" rev="0" advAuto="0" spid="438" grpId="7"/>
      <p:bldP build="whole" bldLvl="1" animBg="1" rev="0" advAuto="0" spid="435" grpId="5"/>
      <p:bldP build="whole" bldLvl="1" animBg="1" rev="0" advAuto="0" spid="430" grpId="1"/>
      <p:bldP build="whole" bldLvl="1" animBg="1" rev="0" advAuto="0" spid="437" grpId="6"/>
      <p:bldP build="whole" bldLvl="1" animBg="1" rev="0" advAuto="0" spid="436" grpId="4"/>
      <p:bldP build="whole" bldLvl="1" animBg="1" rev="0" advAuto="0" spid="432" grpId="2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Neuroni artificiali pentru clasifica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Neuroni artificiali pentru clasificare</a:t>
            </a:r>
          </a:p>
        </p:txBody>
      </p:sp>
      <p:sp>
        <p:nvSpPr>
          <p:cNvPr id="441" name="Dacă y (ground truth) = 1, atunci se încearcă minimizarea funcției -log(k)"/>
          <p:cNvSpPr txBox="1"/>
          <p:nvPr/>
        </p:nvSpPr>
        <p:spPr>
          <a:xfrm>
            <a:off x="927567" y="3094084"/>
            <a:ext cx="21948577" cy="1246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Dacă y (ground truth) = 1, atunci se încearcă minimizarea funcției -log(k)</a:t>
            </a:r>
          </a:p>
        </p:txBody>
      </p:sp>
      <p:sp>
        <p:nvSpPr>
          <p:cNvPr id="442" name="Motivul este acela ca minimizarea -log(k) implică aducerea k spre 1, deoarece atunci log(k) devine log(1)=0, si funcția de cost este perfect minimizată"/>
          <p:cNvSpPr txBox="1"/>
          <p:nvPr/>
        </p:nvSpPr>
        <p:spPr>
          <a:xfrm>
            <a:off x="927567" y="4298595"/>
            <a:ext cx="21948577" cy="203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Motivul este acela ca minimizarea -log(k) implică aducerea k spre 1, deoarece atunci log(k) devine log(1)=0, si funcția de cost este perfect minimizată</a:t>
            </a:r>
          </a:p>
        </p:txBody>
      </p:sp>
      <p:pic>
        <p:nvPicPr>
          <p:cNvPr id="443" name="Captură de ecran din 2024-11-25 la 11.31.58.png" descr="Captură de ecran din 2024-11-25 la 11.31.5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88211" y="6526451"/>
            <a:ext cx="10227289" cy="71497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Neuroni artificiali pentru clasifica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Neuroni artificiali pentru clasificare</a:t>
            </a:r>
          </a:p>
        </p:txBody>
      </p:sp>
      <p:sp>
        <p:nvSpPr>
          <p:cNvPr id="446" name="Pentru regresia logistică:"/>
          <p:cNvSpPr txBox="1"/>
          <p:nvPr/>
        </p:nvSpPr>
        <p:spPr>
          <a:xfrm>
            <a:off x="624189" y="2606823"/>
            <a:ext cx="21948577" cy="203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Pentru regresia logistică:</a:t>
            </a:r>
          </a:p>
        </p:txBody>
      </p:sp>
      <p:pic>
        <p:nvPicPr>
          <p:cNvPr id="447" name="Captură de ecran din 2024-11-24 la 10.38.40.png" descr="Captură de ecran din 2024-11-24 la 10.38.4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49162" y="4284135"/>
            <a:ext cx="8277498" cy="4317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8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8770076">
            <a:off x="8703361" y="5094279"/>
            <a:ext cx="2035528" cy="405591"/>
          </a:xfrm>
          <a:prstGeom prst="rect">
            <a:avLst/>
          </a:prstGeom>
        </p:spPr>
      </p:pic>
      <p:sp>
        <p:nvSpPr>
          <p:cNvPr id="450" name="Sigmoid"/>
          <p:cNvSpPr txBox="1"/>
          <p:nvPr/>
        </p:nvSpPr>
        <p:spPr>
          <a:xfrm>
            <a:off x="10800002" y="3641531"/>
            <a:ext cx="2229918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Sigmoid</a:t>
            </a:r>
          </a:p>
        </p:txBody>
      </p:sp>
      <p:pic>
        <p:nvPicPr>
          <p:cNvPr id="451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432719" y="6240712"/>
            <a:ext cx="8798925" cy="405592"/>
          </a:xfrm>
          <a:prstGeom prst="rect">
            <a:avLst/>
          </a:prstGeom>
        </p:spPr>
      </p:pic>
      <p:sp>
        <p:nvSpPr>
          <p:cNvPr id="453" name="0.83 (k)"/>
          <p:cNvSpPr txBox="1"/>
          <p:nvPr/>
        </p:nvSpPr>
        <p:spPr>
          <a:xfrm>
            <a:off x="19382793" y="5975729"/>
            <a:ext cx="2117040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0.83 (k)</a:t>
            </a:r>
          </a:p>
        </p:txBody>
      </p:sp>
      <p:sp>
        <p:nvSpPr>
          <p:cNvPr id="454" name="Ieșirea neuronului după activare"/>
          <p:cNvSpPr txBox="1"/>
          <p:nvPr/>
        </p:nvSpPr>
        <p:spPr>
          <a:xfrm>
            <a:off x="10861681" y="5196343"/>
            <a:ext cx="8129729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Ieșirea neuronului după activare</a:t>
            </a:r>
          </a:p>
        </p:txBody>
      </p:sp>
      <p:sp>
        <p:nvSpPr>
          <p:cNvPr id="455" name="Dacă y (ground truth) = 0, atunci se încearcă minimizarea funcției -log(1-k)"/>
          <p:cNvSpPr txBox="1"/>
          <p:nvPr/>
        </p:nvSpPr>
        <p:spPr>
          <a:xfrm>
            <a:off x="624189" y="9142682"/>
            <a:ext cx="21948577" cy="12461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Dacă y (ground truth) = 0, atunci se încearcă minimizarea funcției -log(1-k)</a:t>
            </a:r>
          </a:p>
        </p:txBody>
      </p:sp>
      <p:sp>
        <p:nvSpPr>
          <p:cNvPr id="456" name="Motivul este acela ca minimizarea log(1-k) implică aducerea k spre 0, deoarece atunci -log(1-k) devine -log(1)=0, si funcția de cost este perfect minimizată"/>
          <p:cNvSpPr txBox="1"/>
          <p:nvPr/>
        </p:nvSpPr>
        <p:spPr>
          <a:xfrm>
            <a:off x="624189" y="10385114"/>
            <a:ext cx="21948577" cy="203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Motivul este acela ca minimizarea log(1-k) implică aducerea k spre 0, deoarece atunci -log(1-k) devine -log(1)=0, si funcția de cost este perfect minimizată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Neuroni artificiali pentru clasifica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Neuroni artificiali pentru clasificare</a:t>
            </a:r>
          </a:p>
        </p:txBody>
      </p:sp>
      <p:sp>
        <p:nvSpPr>
          <p:cNvPr id="459" name="Dacă y (ground truth) = 0, atunci se încearcă minimizarea funcției -log(1-k)"/>
          <p:cNvSpPr txBox="1"/>
          <p:nvPr/>
        </p:nvSpPr>
        <p:spPr>
          <a:xfrm>
            <a:off x="927567" y="3075123"/>
            <a:ext cx="21948577" cy="12461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Dacă y (ground truth) = 0, atunci se încearcă minimizarea funcției -log(1-k)</a:t>
            </a:r>
          </a:p>
        </p:txBody>
      </p:sp>
      <p:sp>
        <p:nvSpPr>
          <p:cNvPr id="460" name="Motivul este acela ca minimizarea log(1-k) implică aducerea k spre 0, deoarece atunci -log(1-k) devine -log(1)=0, si funcția de cost este perfect minimizată"/>
          <p:cNvSpPr txBox="1"/>
          <p:nvPr/>
        </p:nvSpPr>
        <p:spPr>
          <a:xfrm>
            <a:off x="927567" y="4317556"/>
            <a:ext cx="21948577" cy="203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Motivul este acela ca minimizarea log(1-k) implică aducerea k spre 0, deoarece atunci -log(1-k) devine -log(1)=0, si funcția de cost este perfect minimizată</a:t>
            </a:r>
          </a:p>
        </p:txBody>
      </p:sp>
      <p:pic>
        <p:nvPicPr>
          <p:cNvPr id="461" name="Captură de ecran din 2024-11-25 la 11.34.40.png" descr="Captură de ecran din 2024-11-25 la 11.34.4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44585" y="6526263"/>
            <a:ext cx="9894830" cy="67764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Neuroni artificiali pentru clasifica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Neuroni artificiali pentru clasificare</a:t>
            </a:r>
          </a:p>
        </p:txBody>
      </p:sp>
      <p:sp>
        <p:nvSpPr>
          <p:cNvPr id="464" name="Pentru regresia logistică:"/>
          <p:cNvSpPr txBox="1"/>
          <p:nvPr/>
        </p:nvSpPr>
        <p:spPr>
          <a:xfrm>
            <a:off x="624189" y="2606823"/>
            <a:ext cx="21948577" cy="203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Pentru regresia logistică:</a:t>
            </a:r>
          </a:p>
        </p:txBody>
      </p:sp>
      <p:pic>
        <p:nvPicPr>
          <p:cNvPr id="465" name="Captură de ecran din 2024-11-24 la 10.38.40.png" descr="Captură de ecran din 2024-11-24 la 10.38.4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49162" y="4284135"/>
            <a:ext cx="8277498" cy="4317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6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8770076">
            <a:off x="8703361" y="5094279"/>
            <a:ext cx="2035528" cy="405591"/>
          </a:xfrm>
          <a:prstGeom prst="rect">
            <a:avLst/>
          </a:prstGeom>
        </p:spPr>
      </p:pic>
      <p:sp>
        <p:nvSpPr>
          <p:cNvPr id="468" name="Sigmoid"/>
          <p:cNvSpPr txBox="1"/>
          <p:nvPr/>
        </p:nvSpPr>
        <p:spPr>
          <a:xfrm>
            <a:off x="10800002" y="3641531"/>
            <a:ext cx="2229918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Sigmoid</a:t>
            </a:r>
          </a:p>
        </p:txBody>
      </p:sp>
      <p:pic>
        <p:nvPicPr>
          <p:cNvPr id="469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432719" y="6240712"/>
            <a:ext cx="8798925" cy="405592"/>
          </a:xfrm>
          <a:prstGeom prst="rect">
            <a:avLst/>
          </a:prstGeom>
        </p:spPr>
      </p:pic>
      <p:sp>
        <p:nvSpPr>
          <p:cNvPr id="471" name="0.83 (k)"/>
          <p:cNvSpPr txBox="1"/>
          <p:nvPr/>
        </p:nvSpPr>
        <p:spPr>
          <a:xfrm>
            <a:off x="19382793" y="5975729"/>
            <a:ext cx="2117040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0.83 (k)</a:t>
            </a:r>
          </a:p>
        </p:txBody>
      </p:sp>
      <p:sp>
        <p:nvSpPr>
          <p:cNvPr id="472" name="Ieșirea neuronului după activare"/>
          <p:cNvSpPr txBox="1"/>
          <p:nvPr/>
        </p:nvSpPr>
        <p:spPr>
          <a:xfrm>
            <a:off x="10861681" y="5196343"/>
            <a:ext cx="8129729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Ieșirea neuronului după activare</a:t>
            </a:r>
          </a:p>
        </p:txBody>
      </p:sp>
      <p:sp>
        <p:nvSpPr>
          <p:cNvPr id="473" name="În cazul nostru, să zicem că modelul trebuia să prezică 0, adică y = 0, atunci costul curent este -log(1 - 0.83)=0.77, deci un cost mare, deoarece trebuia să prezică ceva mai aproape de 0"/>
          <p:cNvSpPr txBox="1"/>
          <p:nvPr/>
        </p:nvSpPr>
        <p:spPr>
          <a:xfrm>
            <a:off x="624189" y="9142682"/>
            <a:ext cx="21948577" cy="2570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În cazul nostru, să zicem că modelul trebuia să prezică 0, adică y = 0, atunci costul curent este -log(1 - 0.83)=0.77, deci un cost mare, deoarece trebuia să prezică ceva mai aproape de 0</a:t>
            </a:r>
          </a:p>
        </p:txBody>
      </p:sp>
      <p:sp>
        <p:nvSpPr>
          <p:cNvPr id="474" name="Dacă modelul trebuia să prezică 1, adică y = 1, atunci costul curent este -log(0.83) = 0.08, deci un cost mic și bun"/>
          <p:cNvSpPr txBox="1"/>
          <p:nvPr/>
        </p:nvSpPr>
        <p:spPr>
          <a:xfrm>
            <a:off x="510422" y="11582938"/>
            <a:ext cx="22540224" cy="203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Dacă modelul trebuia să prezică 1, adică y = 1, atunci costul curent este -log(0.83) = 0.08, deci un cost mic și bun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Neuroni artificiali pentru clasifica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Neuroni artificiali pentru clasificare</a:t>
            </a:r>
          </a:p>
        </p:txBody>
      </p:sp>
      <p:sp>
        <p:nvSpPr>
          <p:cNvPr id="477" name="Pentru regresia logistică:"/>
          <p:cNvSpPr txBox="1"/>
          <p:nvPr/>
        </p:nvSpPr>
        <p:spPr>
          <a:xfrm>
            <a:off x="624189" y="2606823"/>
            <a:ext cx="21948577" cy="203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Pentru regresia logistică:</a:t>
            </a:r>
          </a:p>
        </p:txBody>
      </p:sp>
      <p:pic>
        <p:nvPicPr>
          <p:cNvPr id="478" name="Captură de ecran din 2024-11-24 la 10.38.40.png" descr="Captură de ecran din 2024-11-24 la 10.38.4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49162" y="4284135"/>
            <a:ext cx="8277498" cy="4317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9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8770076">
            <a:off x="8703361" y="5094279"/>
            <a:ext cx="2035528" cy="405591"/>
          </a:xfrm>
          <a:prstGeom prst="rect">
            <a:avLst/>
          </a:prstGeom>
        </p:spPr>
      </p:pic>
      <p:sp>
        <p:nvSpPr>
          <p:cNvPr id="481" name="Sigmoid"/>
          <p:cNvSpPr txBox="1"/>
          <p:nvPr/>
        </p:nvSpPr>
        <p:spPr>
          <a:xfrm>
            <a:off x="10800002" y="3641531"/>
            <a:ext cx="2229918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Sigmoid</a:t>
            </a:r>
          </a:p>
        </p:txBody>
      </p:sp>
      <p:pic>
        <p:nvPicPr>
          <p:cNvPr id="482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432719" y="6240712"/>
            <a:ext cx="8798925" cy="405592"/>
          </a:xfrm>
          <a:prstGeom prst="rect">
            <a:avLst/>
          </a:prstGeom>
        </p:spPr>
      </p:pic>
      <p:sp>
        <p:nvSpPr>
          <p:cNvPr id="484" name="0.83 (k)"/>
          <p:cNvSpPr txBox="1"/>
          <p:nvPr/>
        </p:nvSpPr>
        <p:spPr>
          <a:xfrm>
            <a:off x="19382793" y="5975729"/>
            <a:ext cx="2117040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0.83 (k)</a:t>
            </a:r>
          </a:p>
        </p:txBody>
      </p:sp>
      <p:sp>
        <p:nvSpPr>
          <p:cNvPr id="485" name="Ieșirea neuronului după activare"/>
          <p:cNvSpPr txBox="1"/>
          <p:nvPr/>
        </p:nvSpPr>
        <p:spPr>
          <a:xfrm>
            <a:off x="10861681" y="5196343"/>
            <a:ext cx="8129729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Ieșirea neuronului după activare</a:t>
            </a:r>
          </a:p>
        </p:txBody>
      </p:sp>
      <p:sp>
        <p:nvSpPr>
          <p:cNvPr id="486" name="Mai general, dacă avem un batch, formula pentru cross entropy în cazul regresiei logistice ia următoarea formă (m este numărul de exemplare dintr-un batch):"/>
          <p:cNvSpPr txBox="1"/>
          <p:nvPr/>
        </p:nvSpPr>
        <p:spPr>
          <a:xfrm>
            <a:off x="624189" y="9142682"/>
            <a:ext cx="21948577" cy="19057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Mai general, dacă avem un batch, formula pentru cross entropy în cazul regresiei logistice ia următoarea formă (m este numărul de exemplare dintr-un batch):</a:t>
            </a:r>
          </a:p>
        </p:txBody>
      </p:sp>
      <p:sp>
        <p:nvSpPr>
          <p:cNvPr id="487" name="Ecuație"/>
          <p:cNvSpPr txBox="1"/>
          <p:nvPr/>
        </p:nvSpPr>
        <p:spPr>
          <a:xfrm>
            <a:off x="2369426" y="11322839"/>
            <a:ext cx="19091070" cy="149893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o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f>
                    <m:fPr>
                      <m:ctrl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den>
                  </m:f>
                  <m:limUpp>
                    <m:e>
                      <m:limLow>
                        <m:e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lim>
                      </m:limLow>
                    </m:e>
                    <m:lim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lim>
                  </m:limUpp>
                  <m:d>
                    <m:dPr>
                      <m:ctrl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["/>
                      <m:endChr m:val="]"/>
                    </m:dPr>
                    <m:e>
                      <m:sSup>
                        <m:e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p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m:rPr>
                          <m:sty m:val="p"/>
                        </m:r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e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sSup>
                        <m:e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p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e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</m:d>
                </m:oMath>
              </m:oMathPara>
            </a14:m>
            <a:endParaRPr sz="4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Neuroni artificiali pentru clasifica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Neuroni artificiali pentru clasificare</a:t>
            </a:r>
          </a:p>
        </p:txBody>
      </p:sp>
      <p:sp>
        <p:nvSpPr>
          <p:cNvPr id="490" name="Pentru regresia softmax pentru clasificarea multi-class:"/>
          <p:cNvSpPr txBox="1"/>
          <p:nvPr/>
        </p:nvSpPr>
        <p:spPr>
          <a:xfrm>
            <a:off x="529383" y="3087075"/>
            <a:ext cx="21948578" cy="1091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Pentru regresia softmax pentru clasificarea multi-class:</a:t>
            </a:r>
          </a:p>
        </p:txBody>
      </p:sp>
      <p:pic>
        <p:nvPicPr>
          <p:cNvPr id="491" name="Captură de ecran din 2024-11-25 la 11.36.25.png" descr="Captură de ecran din 2024-11-25 la 11.36.2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51944" y="5010344"/>
            <a:ext cx="8652744" cy="5078485"/>
          </a:xfrm>
          <a:prstGeom prst="rect">
            <a:avLst/>
          </a:prstGeom>
          <a:ln w="12700">
            <a:miter lim="400000"/>
          </a:ln>
        </p:spPr>
      </p:pic>
      <p:sp>
        <p:nvSpPr>
          <p:cNvPr id="492" name="Ecuație"/>
          <p:cNvSpPr txBox="1"/>
          <p:nvPr/>
        </p:nvSpPr>
        <p:spPr>
          <a:xfrm>
            <a:off x="18983373" y="6251804"/>
            <a:ext cx="717500" cy="331703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d>
                    <m:dPr>
                      <m:ctrl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["/>
                      <m:endChr m:val="]"/>
                    </m:dPr>
                    <m:e>
                      <m:eqArr>
                        <m:eqArrPr>
                          <m:ctrlP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eqArr>
                    </m:e>
                  </m:d>
                </m:oMath>
              </m:oMathPara>
            </a14:m>
            <a:endParaRPr sz="4400"/>
          </a:p>
        </p:txBody>
      </p:sp>
      <p:sp>
        <p:nvSpPr>
          <p:cNvPr id="493" name="Ieșirea modelului după funcția de activare softmax"/>
          <p:cNvSpPr txBox="1"/>
          <p:nvPr/>
        </p:nvSpPr>
        <p:spPr>
          <a:xfrm>
            <a:off x="968911" y="4062554"/>
            <a:ext cx="12628068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Ieșirea modelului după funcția de activare softmax</a:t>
            </a:r>
          </a:p>
        </p:txBody>
      </p:sp>
      <p:sp>
        <p:nvSpPr>
          <p:cNvPr id="494" name="Adevărul de bază (ground truth)"/>
          <p:cNvSpPr txBox="1"/>
          <p:nvPr/>
        </p:nvSpPr>
        <p:spPr>
          <a:xfrm>
            <a:off x="17084397" y="3707663"/>
            <a:ext cx="7070869" cy="1689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Adevărul de bază (ground truth)</a:t>
            </a:r>
          </a:p>
        </p:txBody>
      </p:sp>
      <p:sp>
        <p:nvSpPr>
          <p:cNvPr id="495" name="Se incearcă să se minimizeze funcția -log(x) în raport cu clasa considerată 1"/>
          <p:cNvSpPr txBox="1"/>
          <p:nvPr/>
        </p:nvSpPr>
        <p:spPr>
          <a:xfrm>
            <a:off x="529383" y="10614357"/>
            <a:ext cx="21948578" cy="1091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Se incearcă să se minimizeze funcția -log(x) în raport cu clasa considerată 1</a:t>
            </a:r>
          </a:p>
        </p:txBody>
      </p:sp>
      <p:sp>
        <p:nvSpPr>
          <p:cNvPr id="496" name="Mereu va exista o clasă 1 și restul claselor vor fi 0"/>
          <p:cNvSpPr txBox="1"/>
          <p:nvPr/>
        </p:nvSpPr>
        <p:spPr>
          <a:xfrm>
            <a:off x="529383" y="11679628"/>
            <a:ext cx="21948578" cy="1091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Mereu va exista o clasă 1 și restul claselor vor fi 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Neuroni artificiali pentru clasifica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Neuroni artificiali pentru clasificare</a:t>
            </a:r>
          </a:p>
        </p:txBody>
      </p:sp>
      <p:sp>
        <p:nvSpPr>
          <p:cNvPr id="499" name="Se incearcă să se minimizeze funcția -log(x) în raport cu toate probabilitățile"/>
          <p:cNvSpPr txBox="1"/>
          <p:nvPr/>
        </p:nvSpPr>
        <p:spPr>
          <a:xfrm>
            <a:off x="851722" y="3162636"/>
            <a:ext cx="21948578" cy="1091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Se incearcă să se minimizeze funcția -log(x) în raport cu toate probabilitățile</a:t>
            </a:r>
          </a:p>
        </p:txBody>
      </p:sp>
      <p:pic>
        <p:nvPicPr>
          <p:cNvPr id="500" name="Captură de ecran din 2024-11-25 la 11.31.58.png" descr="Captură de ecran din 2024-11-25 la 11.31.5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12367" y="4676260"/>
            <a:ext cx="10227289" cy="71497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Neuroni artificiali pentru clasifica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Neuroni artificiali pentru clasificare</a:t>
            </a:r>
          </a:p>
        </p:txBody>
      </p:sp>
      <p:sp>
        <p:nvSpPr>
          <p:cNvPr id="503" name="Pentru regresia softmax pentru clasificarea multi-class:"/>
          <p:cNvSpPr txBox="1"/>
          <p:nvPr/>
        </p:nvSpPr>
        <p:spPr>
          <a:xfrm>
            <a:off x="529383" y="3087075"/>
            <a:ext cx="21948578" cy="1091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Pentru regresia softmax pentru clasificarea multi-class:</a:t>
            </a:r>
          </a:p>
        </p:txBody>
      </p:sp>
      <p:pic>
        <p:nvPicPr>
          <p:cNvPr id="504" name="Captură de ecran din 2024-11-25 la 11.36.25.png" descr="Captură de ecran din 2024-11-25 la 11.36.2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51944" y="5010344"/>
            <a:ext cx="8652744" cy="5078485"/>
          </a:xfrm>
          <a:prstGeom prst="rect">
            <a:avLst/>
          </a:prstGeom>
          <a:ln w="12700">
            <a:miter lim="400000"/>
          </a:ln>
        </p:spPr>
      </p:pic>
      <p:sp>
        <p:nvSpPr>
          <p:cNvPr id="505" name="Ecuație"/>
          <p:cNvSpPr txBox="1"/>
          <p:nvPr/>
        </p:nvSpPr>
        <p:spPr>
          <a:xfrm>
            <a:off x="18983373" y="6251804"/>
            <a:ext cx="717500" cy="331703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d>
                    <m:dPr>
                      <m:ctrl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["/>
                      <m:endChr m:val="]"/>
                    </m:dPr>
                    <m:e>
                      <m:eqArr>
                        <m:eqArrPr>
                          <m:ctrlP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eqArr>
                    </m:e>
                  </m:d>
                </m:oMath>
              </m:oMathPara>
            </a14:m>
            <a:endParaRPr sz="4400"/>
          </a:p>
        </p:txBody>
      </p:sp>
      <p:sp>
        <p:nvSpPr>
          <p:cNvPr id="506" name="Ieșirea modelului după funcția de activare softmax"/>
          <p:cNvSpPr txBox="1"/>
          <p:nvPr/>
        </p:nvSpPr>
        <p:spPr>
          <a:xfrm>
            <a:off x="968911" y="4062554"/>
            <a:ext cx="12628068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Ieșirea modelului după funcția de activare softmax</a:t>
            </a:r>
          </a:p>
        </p:txBody>
      </p:sp>
      <p:sp>
        <p:nvSpPr>
          <p:cNvPr id="507" name="Adevărul de bază (ground truth)"/>
          <p:cNvSpPr txBox="1"/>
          <p:nvPr/>
        </p:nvSpPr>
        <p:spPr>
          <a:xfrm>
            <a:off x="17150069" y="4370797"/>
            <a:ext cx="7361304" cy="1689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Adevărul de bază (ground truth)</a:t>
            </a:r>
          </a:p>
        </p:txBody>
      </p:sp>
      <p:sp>
        <p:nvSpPr>
          <p:cNvPr id="508" name="În acest caz, costul va fi"/>
          <p:cNvSpPr txBox="1"/>
          <p:nvPr/>
        </p:nvSpPr>
        <p:spPr>
          <a:xfrm>
            <a:off x="529383" y="9774736"/>
            <a:ext cx="21948578" cy="2088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În acest caz, costul va fi </a:t>
            </a:r>
            <a14:m>
              <m:oMath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⋅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o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g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0.2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⋅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o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g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0.90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⋅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o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g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0.05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⋅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o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g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0.01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⋅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o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g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0.02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4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0.1054</m:t>
                </m:r>
              </m:oMath>
            </a14:m>
            <a:r>
              <a:t> </a:t>
            </a:r>
          </a:p>
        </p:txBody>
      </p:sp>
      <p:sp>
        <p:nvSpPr>
          <p:cNvPr id="509" name="Este mic în acest caz, deoarece clasa care e 1 este prezisă deja cu o probabilitate mare (0.90)"/>
          <p:cNvSpPr txBox="1"/>
          <p:nvPr/>
        </p:nvSpPr>
        <p:spPr>
          <a:xfrm>
            <a:off x="451822" y="11641705"/>
            <a:ext cx="23480356" cy="1792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Este mic în acest caz, deoarece clasa care e 1 este prezisă deja cu o probabilitate mare (0.90)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Neuroni artificiali pentru clasifica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Neuroni artificiali pentru clasificare</a:t>
            </a:r>
          </a:p>
        </p:txBody>
      </p:sp>
      <p:sp>
        <p:nvSpPr>
          <p:cNvPr id="512" name="Pentru regresia softmax pentru clasificarea multi-class:"/>
          <p:cNvSpPr txBox="1"/>
          <p:nvPr/>
        </p:nvSpPr>
        <p:spPr>
          <a:xfrm>
            <a:off x="529383" y="3087075"/>
            <a:ext cx="21948578" cy="1091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Pentru regresia softmax pentru clasificarea multi-class:</a:t>
            </a:r>
          </a:p>
        </p:txBody>
      </p:sp>
      <p:pic>
        <p:nvPicPr>
          <p:cNvPr id="513" name="Captură de ecran din 2024-11-25 la 11.36.25.png" descr="Captură de ecran din 2024-11-25 la 11.36.2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51944" y="5010344"/>
            <a:ext cx="8652744" cy="5078485"/>
          </a:xfrm>
          <a:prstGeom prst="rect">
            <a:avLst/>
          </a:prstGeom>
          <a:ln w="12700">
            <a:miter lim="400000"/>
          </a:ln>
        </p:spPr>
      </p:pic>
      <p:sp>
        <p:nvSpPr>
          <p:cNvPr id="514" name="Ecuație"/>
          <p:cNvSpPr txBox="1"/>
          <p:nvPr/>
        </p:nvSpPr>
        <p:spPr>
          <a:xfrm>
            <a:off x="18983373" y="6251804"/>
            <a:ext cx="717500" cy="331703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d>
                    <m:dPr>
                      <m:ctrl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["/>
                      <m:endChr m:val="]"/>
                    </m:dPr>
                    <m:e>
                      <m:eqArr>
                        <m:eqArrPr>
                          <m:ctrlP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eqArr>
                    </m:e>
                  </m:d>
                </m:oMath>
              </m:oMathPara>
            </a14:m>
            <a:endParaRPr sz="4400"/>
          </a:p>
        </p:txBody>
      </p:sp>
      <p:sp>
        <p:nvSpPr>
          <p:cNvPr id="515" name="Ieșirea modelului după funcția de activare softmax"/>
          <p:cNvSpPr txBox="1"/>
          <p:nvPr/>
        </p:nvSpPr>
        <p:spPr>
          <a:xfrm>
            <a:off x="968911" y="4062554"/>
            <a:ext cx="12628068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Ieșirea modelului după funcția de activare softmax</a:t>
            </a:r>
          </a:p>
        </p:txBody>
      </p:sp>
      <p:sp>
        <p:nvSpPr>
          <p:cNvPr id="516" name="Adevărul de bază (ground truth)"/>
          <p:cNvSpPr txBox="1"/>
          <p:nvPr/>
        </p:nvSpPr>
        <p:spPr>
          <a:xfrm>
            <a:off x="15269156" y="4062554"/>
            <a:ext cx="8145933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Adevărul de bază (ground truth)</a:t>
            </a:r>
          </a:p>
        </p:txBody>
      </p:sp>
      <p:sp>
        <p:nvSpPr>
          <p:cNvPr id="517" name="Formula generală este (m reprezintă numărul de exemplare dintr-un batch,   reprezintă adevărul de bază pentru a i-a prezicere și   reprezintă prezicerea:"/>
          <p:cNvSpPr txBox="1"/>
          <p:nvPr/>
        </p:nvSpPr>
        <p:spPr>
          <a:xfrm>
            <a:off x="529383" y="9774736"/>
            <a:ext cx="21948578" cy="22927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Formula generală este (m reprezintă numărul de exemplare dintr-un batch, </a:t>
            </a:r>
            <a14:m>
              <m:oMath>
                <m:sSubSup>
                  <m:e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y</m:t>
                    </m:r>
                  </m:e>
                  <m:sub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sub>
                  <m:sup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sup>
                </m:sSubSup>
              </m:oMath>
            </a14:m>
            <a:r>
              <a:t> reprezintă adevărul de bază pentru a i-a prezicere și </a:t>
            </a:r>
            <a14:m>
              <m:oMath>
                <m:sSubSup>
                  <m:e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</m:e>
                  <m:sub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sub>
                  <m:sup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sup>
                </m:sSubSup>
              </m:oMath>
            </a14:m>
            <a:r>
              <a:t> reprezintă prezicerea:</a:t>
            </a:r>
          </a:p>
        </p:txBody>
      </p:sp>
      <p:sp>
        <p:nvSpPr>
          <p:cNvPr id="518" name="Ecuație"/>
          <p:cNvSpPr txBox="1"/>
          <p:nvPr/>
        </p:nvSpPr>
        <p:spPr>
          <a:xfrm>
            <a:off x="8419322" y="11847039"/>
            <a:ext cx="7545355" cy="158820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o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f>
                    <m:fPr>
                      <m:ctrl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den>
                  </m:f>
                  <m:limUpp>
                    <m:e>
                      <m:limLow>
                        <m:e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lim>
                      </m:limLow>
                    </m:e>
                    <m:lim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lim>
                  </m:limUpp>
                  <m:limUpp>
                    <m:e>
                      <m:limLow>
                        <m:e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lim>
                      </m:limLow>
                    </m:e>
                    <m:lim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lim>
                  </m:limUpp>
                  <m:sSubSup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sub>
                    <m:sup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sup>
                  </m:sSubSup>
                  <m:r>
                    <m:rPr>
                      <m:sty m:val="p"/>
                    </m:rP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log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Sup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sub>
                    <m:sup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sup>
                  </m:sSubSup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sz="4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Un singur neuron nu-i de aju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 singur neuron nu-i de ajuns</a:t>
            </a:r>
          </a:p>
        </p:txBody>
      </p:sp>
      <p:sp>
        <p:nvSpPr>
          <p:cNvPr id="521" name="Dacă problema noastră implică relații mai complexe între date, un singur neuron nu va fi suficient"/>
          <p:cNvSpPr txBox="1"/>
          <p:nvPr>
            <p:ph type="body" sz="quarter" idx="1"/>
          </p:nvPr>
        </p:nvSpPr>
        <p:spPr>
          <a:xfrm>
            <a:off x="2163899" y="2688824"/>
            <a:ext cx="21492810" cy="2123696"/>
          </a:xfrm>
          <a:prstGeom prst="rect">
            <a:avLst/>
          </a:prstGeom>
        </p:spPr>
        <p:txBody>
          <a:bodyPr/>
          <a:lstStyle/>
          <a:p>
            <a:pPr/>
            <a:r>
              <a:t>Dacă problema noastră implică relații mai complexe între date, un singur neuron nu va fi suficient</a:t>
            </a:r>
          </a:p>
        </p:txBody>
      </p:sp>
      <p:sp>
        <p:nvSpPr>
          <p:cNvPr id="522" name="Astfel au fost introduși perceptronii multistrat (multilayer perceptrons):"/>
          <p:cNvSpPr txBox="1"/>
          <p:nvPr/>
        </p:nvSpPr>
        <p:spPr>
          <a:xfrm>
            <a:off x="2163636" y="4587716"/>
            <a:ext cx="21948578" cy="117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Astfel au fost introduși perceptronii multistrat (multilayer perceptrons):</a:t>
            </a:r>
          </a:p>
        </p:txBody>
      </p:sp>
      <p:pic>
        <p:nvPicPr>
          <p:cNvPr id="523" name="Captură de ecran din 2024-11-25 la 12.50.56.png" descr="Captură de ecran din 2024-11-25 la 12.50.5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91283" y="6360488"/>
            <a:ext cx="10180870" cy="5956016"/>
          </a:xfrm>
          <a:prstGeom prst="rect">
            <a:avLst/>
          </a:prstGeom>
          <a:ln w="12700">
            <a:miter lim="400000"/>
          </a:ln>
        </p:spPr>
      </p:pic>
      <p:pic>
        <p:nvPicPr>
          <p:cNvPr id="524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678359" y="4170384"/>
            <a:ext cx="4128655" cy="101601"/>
          </a:xfrm>
          <a:prstGeom prst="rect">
            <a:avLst/>
          </a:prstGeom>
        </p:spPr>
      </p:pic>
      <p:pic>
        <p:nvPicPr>
          <p:cNvPr id="526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647359" y="5348279"/>
            <a:ext cx="5834621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20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24" grpId="1"/>
      <p:bldP build="whole" bldLvl="1" animBg="1" rev="0" advAuto="0" spid="526" grpId="2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Un singur neuron nu-i de aju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 singur neuron nu-i de ajuns</a:t>
            </a:r>
          </a:p>
        </p:txBody>
      </p:sp>
      <p:sp>
        <p:nvSpPr>
          <p:cNvPr id="530" name="Un perceptron multistrat are:"/>
          <p:cNvSpPr txBox="1"/>
          <p:nvPr>
            <p:ph type="body" sz="quarter" idx="1"/>
          </p:nvPr>
        </p:nvSpPr>
        <p:spPr>
          <a:xfrm>
            <a:off x="648095" y="7278557"/>
            <a:ext cx="21948577" cy="1258949"/>
          </a:xfrm>
          <a:prstGeom prst="rect">
            <a:avLst/>
          </a:prstGeom>
        </p:spPr>
        <p:txBody>
          <a:bodyPr/>
          <a:lstStyle/>
          <a:p>
            <a:pPr/>
            <a:r>
              <a:t>Un perceptron multistrat are:</a:t>
            </a:r>
          </a:p>
        </p:txBody>
      </p:sp>
      <p:pic>
        <p:nvPicPr>
          <p:cNvPr id="531" name="Captură de ecran din 2024-11-25 la 12.50.56.png" descr="Captură de ecran din 2024-11-25 la 12.50.5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75431" y="2774462"/>
            <a:ext cx="7233139" cy="4231533"/>
          </a:xfrm>
          <a:prstGeom prst="rect">
            <a:avLst/>
          </a:prstGeom>
          <a:ln w="12700">
            <a:miter lim="400000"/>
          </a:ln>
        </p:spPr>
      </p:pic>
      <p:sp>
        <p:nvSpPr>
          <p:cNvPr id="532" name="Stratul de intrare: unde fiecare neuron primește datele brute"/>
          <p:cNvSpPr txBox="1"/>
          <p:nvPr/>
        </p:nvSpPr>
        <p:spPr>
          <a:xfrm>
            <a:off x="1787327" y="8198472"/>
            <a:ext cx="21948578" cy="1258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Stratul de intrare: unde fiecare neuron primește datele brute</a:t>
            </a:r>
          </a:p>
        </p:txBody>
      </p:sp>
      <p:sp>
        <p:nvSpPr>
          <p:cNvPr id="533" name="Straturile ascunse (hidden layers): unde datele sunt procesate și transformate printr-o combinație de ponderi, bias-uri și funcții de activare"/>
          <p:cNvSpPr txBox="1"/>
          <p:nvPr/>
        </p:nvSpPr>
        <p:spPr>
          <a:xfrm>
            <a:off x="1787327" y="9253540"/>
            <a:ext cx="21948578" cy="172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Straturile ascunse (hidden layers): unde datele sunt procesate și transformate printr-o combinație de ponderi, bias-uri și funcții de activare</a:t>
            </a:r>
          </a:p>
        </p:txBody>
      </p:sp>
      <p:sp>
        <p:nvSpPr>
          <p:cNvPr id="534" name="Stratul de ieșire: unde rezultatul final este produs (de exemplu, valorea numerică pentru regresie sau probabilități pentru clasificare)"/>
          <p:cNvSpPr txBox="1"/>
          <p:nvPr/>
        </p:nvSpPr>
        <p:spPr>
          <a:xfrm>
            <a:off x="1787327" y="11027585"/>
            <a:ext cx="21948578" cy="1966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Stratul de ieșire: unde rezultatul final este produs (de exemplu, valorea numerică pentru regresie sau probabilități pentru clasificare)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Un singur neuron nu-i de aju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 singur neuron nu-i de ajuns</a:t>
            </a:r>
          </a:p>
        </p:txBody>
      </p:sp>
      <p:sp>
        <p:nvSpPr>
          <p:cNvPr id="537" name="Straturile ascunse permit modelului să construiască reprezentări complexe ale datelor"/>
          <p:cNvSpPr txBox="1"/>
          <p:nvPr>
            <p:ph type="body" sz="quarter" idx="1"/>
          </p:nvPr>
        </p:nvSpPr>
        <p:spPr>
          <a:xfrm>
            <a:off x="348605" y="7075357"/>
            <a:ext cx="21948577" cy="1258949"/>
          </a:xfrm>
          <a:prstGeom prst="rect">
            <a:avLst/>
          </a:prstGeom>
        </p:spPr>
        <p:txBody>
          <a:bodyPr/>
          <a:lstStyle>
            <a:lvl1pPr marL="535177" indent="-535177" defTabSz="2389572">
              <a:spcBef>
                <a:spcPts val="2300"/>
              </a:spcBef>
              <a:defRPr sz="4312"/>
            </a:lvl1pPr>
          </a:lstStyle>
          <a:p>
            <a:pPr/>
            <a:r>
              <a:t>Straturile ascunse permit modelului să construiască reprezentări complexe ale datelor</a:t>
            </a:r>
          </a:p>
        </p:txBody>
      </p:sp>
      <p:pic>
        <p:nvPicPr>
          <p:cNvPr id="538" name="Captură de ecran din 2024-11-25 la 12.50.56.png" descr="Captură de ecran din 2024-11-25 la 12.50.5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75431" y="2672862"/>
            <a:ext cx="7233139" cy="4231533"/>
          </a:xfrm>
          <a:prstGeom prst="rect">
            <a:avLst/>
          </a:prstGeom>
          <a:ln w="12700">
            <a:miter lim="400000"/>
          </a:ln>
        </p:spPr>
      </p:pic>
      <p:sp>
        <p:nvSpPr>
          <p:cNvPr id="539" name="Altfel spus, pornim de la   care reprezintă caracteristicile exemplarului curent"/>
          <p:cNvSpPr txBox="1"/>
          <p:nvPr/>
        </p:nvSpPr>
        <p:spPr>
          <a:xfrm>
            <a:off x="321617" y="8172456"/>
            <a:ext cx="23385166" cy="12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Altfel spus, pornim de la </a:t>
            </a:r>
            <a14:m>
              <m:oMath>
                <m:sSub>
                  <m:e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xmlns:a="http://schemas.openxmlformats.org/drawingml/2006/main" sz="5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sSub>
                  <m:e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xmlns:a="http://schemas.openxmlformats.org/drawingml/2006/main" sz="5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5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5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5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sSub>
                  <m:e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xmlns:a="http://schemas.openxmlformats.org/drawingml/2006/main"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sub>
                </m:sSub>
              </m:oMath>
            </a14:m>
            <a:r>
              <a:t> care reprezintă caracteristicile exemplarului curent</a:t>
            </a:r>
          </a:p>
        </p:txBody>
      </p:sp>
      <p:sp>
        <p:nvSpPr>
          <p:cNvPr id="540" name="Ele sunt transformate în alte caracteristici în stratul ascuns 1, numite"/>
          <p:cNvSpPr txBox="1"/>
          <p:nvPr/>
        </p:nvSpPr>
        <p:spPr>
          <a:xfrm>
            <a:off x="348605" y="9278940"/>
            <a:ext cx="21948577" cy="172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535177" indent="-535177" defTabSz="2389572">
              <a:spcBef>
                <a:spcPts val="2300"/>
              </a:spcBef>
              <a:buSzPct val="150000"/>
              <a:buChar char="•"/>
              <a:defRPr sz="4312"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Ele sunt transformate în alte caracteristici în stratul ascuns 1, numite </a:t>
            </a:r>
            <a14:m>
              <m:oMath>
                <m:sSubSup>
                  <m:e>
                    <m:r>
                      <a:rPr xmlns:a="http://schemas.openxmlformats.org/drawingml/2006/main" sz="5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e>
                  <m:sub>
                    <m:r>
                      <a:rPr xmlns:a="http://schemas.openxmlformats.org/drawingml/2006/main" sz="5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  <m:sup>
                    <m:r>
                      <a:rPr xmlns:a="http://schemas.openxmlformats.org/drawingml/2006/main" sz="5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5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xmlns:a="http://schemas.openxmlformats.org/drawingml/2006/main" sz="5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sup>
                </m:sSubSup>
                <m:r>
                  <a:rPr xmlns:a="http://schemas.openxmlformats.org/drawingml/2006/main" sz="5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sSubSup>
                  <m:e>
                    <m:r>
                      <a:rPr xmlns:a="http://schemas.openxmlformats.org/drawingml/2006/main" sz="5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e>
                  <m:sub>
                    <m:r>
                      <a:rPr xmlns:a="http://schemas.openxmlformats.org/drawingml/2006/main" sz="5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  <m:sup>
                    <m:r>
                      <a:rPr xmlns:a="http://schemas.openxmlformats.org/drawingml/2006/main" sz="5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5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xmlns:a="http://schemas.openxmlformats.org/drawingml/2006/main" sz="5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sup>
                </m:sSubSup>
                <m:r>
                  <a:rPr xmlns:a="http://schemas.openxmlformats.org/drawingml/2006/main" sz="5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5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5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5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sSubSup>
                  <m:e>
                    <m:r>
                      <a:rPr xmlns:a="http://schemas.openxmlformats.org/drawingml/2006/main" sz="5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e>
                  <m:sub>
                    <m:r>
                      <a:rPr xmlns:a="http://schemas.openxmlformats.org/drawingml/2006/main" sz="5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k</m:t>
                    </m:r>
                  </m:sub>
                  <m:sup>
                    <m:r>
                      <a:rPr xmlns:a="http://schemas.openxmlformats.org/drawingml/2006/main" sz="5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5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xmlns:a="http://schemas.openxmlformats.org/drawingml/2006/main" sz="5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sup>
                </m:sSubSup>
              </m:oMath>
            </a14:m>
            <a:endParaRPr sz="4400"/>
          </a:p>
        </p:txBody>
      </p:sp>
      <p:sp>
        <p:nvSpPr>
          <p:cNvPr id="541" name="Aceste noi caracteristici, încearcă să deducă lucruri din stratul precedent"/>
          <p:cNvSpPr txBox="1"/>
          <p:nvPr/>
        </p:nvSpPr>
        <p:spPr>
          <a:xfrm>
            <a:off x="348605" y="10519585"/>
            <a:ext cx="21948577" cy="1258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Aceste noi caracteristici, încearcă să deducă lucruri din stratul precedent</a:t>
            </a:r>
          </a:p>
        </p:txBody>
      </p:sp>
      <p:sp>
        <p:nvSpPr>
          <p:cNvPr id="542" name="Ele vor fi transformate la rândul lor în alte caracteristici mai complexe în straturile ascunse ulterioare"/>
          <p:cNvSpPr txBox="1"/>
          <p:nvPr/>
        </p:nvSpPr>
        <p:spPr>
          <a:xfrm>
            <a:off x="348605" y="11595175"/>
            <a:ext cx="23686790" cy="2107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Ele vor fi transformate la rândul lor în alte caracteristici mai complexe în straturile ascunse ulterioare</a:t>
            </a:r>
          </a:p>
        </p:txBody>
      </p:sp>
      <p:pic>
        <p:nvPicPr>
          <p:cNvPr id="543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862702" y="10091740"/>
            <a:ext cx="4617287" cy="101601"/>
          </a:xfrm>
          <a:prstGeom prst="rect">
            <a:avLst/>
          </a:prstGeom>
        </p:spPr>
      </p:pic>
      <p:pic>
        <p:nvPicPr>
          <p:cNvPr id="545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069294" y="11249858"/>
            <a:ext cx="2747975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20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45" grpId="2"/>
      <p:bldP build="whole" bldLvl="1" animBg="1" rev="0" advAuto="0" spid="543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Un singur neuron nu-i de aju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 singur neuron nu-i de ajuns</a:t>
            </a:r>
          </a:p>
        </p:txBody>
      </p:sp>
      <p:sp>
        <p:nvSpPr>
          <p:cNvPr id="549" name="De exemplu, recunoașterea emoțiilor din text în pozitiv și negativ"/>
          <p:cNvSpPr txBox="1"/>
          <p:nvPr>
            <p:ph type="body" sz="quarter" idx="1"/>
          </p:nvPr>
        </p:nvSpPr>
        <p:spPr>
          <a:xfrm>
            <a:off x="526405" y="2554157"/>
            <a:ext cx="21948577" cy="1258949"/>
          </a:xfrm>
          <a:prstGeom prst="rect">
            <a:avLst/>
          </a:prstGeom>
        </p:spPr>
        <p:txBody>
          <a:bodyPr/>
          <a:lstStyle/>
          <a:p>
            <a:pPr/>
            <a:r>
              <a:t>De exemplu, recunoașterea emoțiilor din text în pozitiv și negativ</a:t>
            </a:r>
          </a:p>
        </p:txBody>
      </p:sp>
      <p:sp>
        <p:nvSpPr>
          <p:cNvPr id="550" name="Să zicem că avem textul „Sunt foarte fericit astăzi”"/>
          <p:cNvSpPr txBox="1"/>
          <p:nvPr/>
        </p:nvSpPr>
        <p:spPr>
          <a:xfrm>
            <a:off x="499417" y="3611362"/>
            <a:ext cx="23385166" cy="12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Să zicem că avem textul „Sunt foarte fericit astăzi”</a:t>
            </a:r>
          </a:p>
        </p:txBody>
      </p:sp>
      <p:sp>
        <p:nvSpPr>
          <p:cNvPr id="551" name="Fiecare cuvânt este transformat într-un anumit vector (există metode)"/>
          <p:cNvSpPr txBox="1"/>
          <p:nvPr/>
        </p:nvSpPr>
        <p:spPr>
          <a:xfrm>
            <a:off x="499417" y="4754362"/>
            <a:ext cx="23385166" cy="12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Fiecare cuvânt este transformat într-un anumit vector (există metode)</a:t>
            </a:r>
          </a:p>
        </p:txBody>
      </p:sp>
      <p:sp>
        <p:nvSpPr>
          <p:cNvPr id="552" name="Primul strat ascuns învață caracteristici simple, cum ar fi detectarea cuvintelor cheie: „fericit” poate avea o greutate mare asociată cu un sentiment pozitiv, în timp ce „trist” ar avea o greutate pentru negativ"/>
          <p:cNvSpPr txBox="1"/>
          <p:nvPr/>
        </p:nvSpPr>
        <p:spPr>
          <a:xfrm>
            <a:off x="499417" y="5873967"/>
            <a:ext cx="23385166" cy="27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Primul strat ascuns învață caracteristici simple, cum ar fi detectarea cuvintelor cheie: „fericit” poate avea o greutate mare asociată cu un sentiment pozitiv, în timp ce „trist” ar avea o greutate pentru negativ</a:t>
            </a:r>
          </a:p>
        </p:txBody>
      </p:sp>
      <p:sp>
        <p:nvSpPr>
          <p:cNvPr id="553" name="Al doilea strat ascuns ar combina aceste caracteristici pentru a găsi tipare mai complexe: de exemplu, relația dintre „foarte” și „fericit” poate intensifica sentimentul pozitiv"/>
          <p:cNvSpPr txBox="1"/>
          <p:nvPr/>
        </p:nvSpPr>
        <p:spPr>
          <a:xfrm>
            <a:off x="499417" y="8312367"/>
            <a:ext cx="23385166" cy="2040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Al doilea strat ascuns ar combina aceste caracteristici pentru a găsi tipare mai complexe: de exemplu, relația dintre „foarte” și „fericit” poate intensifica sentimentul pozitiv</a:t>
            </a:r>
          </a:p>
        </p:txBody>
      </p:sp>
      <p:sp>
        <p:nvSpPr>
          <p:cNvPr id="554" name="Al treilea strat ascuns învață context mai general, cum ar fi să ignore cuvintele care nu au legătură cu emoțiile („azi”, „sunt”) și să se concentreze pe părțile relevante ale textului"/>
          <p:cNvSpPr txBox="1"/>
          <p:nvPr/>
        </p:nvSpPr>
        <p:spPr>
          <a:xfrm>
            <a:off x="499417" y="10090367"/>
            <a:ext cx="23385166" cy="2040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Al treilea strat ascuns învață context mai general, cum ar fi să ignore cuvintele care nu au legătură cu emoțiile („azi”, „sunt”) și să se concentreze pe părțile relevante ale textului</a:t>
            </a:r>
          </a:p>
        </p:txBody>
      </p:sp>
      <p:sp>
        <p:nvSpPr>
          <p:cNvPr id="555" name="Deci fiecare strat ascuns poate să se concentreze mai bine pe problema în cauză"/>
          <p:cNvSpPr txBox="1"/>
          <p:nvPr/>
        </p:nvSpPr>
        <p:spPr>
          <a:xfrm>
            <a:off x="499417" y="11963300"/>
            <a:ext cx="23385166" cy="1394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Deci fiecare strat ascuns poate să se concentreze mai bine pe problema în cauză</a:t>
            </a:r>
          </a:p>
        </p:txBody>
      </p:sp>
      <p:pic>
        <p:nvPicPr>
          <p:cNvPr id="556" name="Linie Linie" descr="Linie Lini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05902" y="12856804"/>
            <a:ext cx="11903996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56" grpId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Un singur neuron nu-i de aju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 singur neuron nu-i de ajuns</a:t>
            </a:r>
          </a:p>
        </p:txBody>
      </p:sp>
      <p:sp>
        <p:nvSpPr>
          <p:cNvPr id="560" name="În PyTorch, e foarte simplu să realizăm un perceptron multistrat:"/>
          <p:cNvSpPr txBox="1"/>
          <p:nvPr>
            <p:ph type="body" sz="quarter" idx="1"/>
          </p:nvPr>
        </p:nvSpPr>
        <p:spPr>
          <a:xfrm>
            <a:off x="501005" y="2833557"/>
            <a:ext cx="21948577" cy="1258949"/>
          </a:xfrm>
          <a:prstGeom prst="rect">
            <a:avLst/>
          </a:prstGeom>
        </p:spPr>
        <p:txBody>
          <a:bodyPr/>
          <a:lstStyle/>
          <a:p>
            <a:pPr/>
            <a:r>
              <a:t>În PyTorch, e foarte simplu să realizăm un perceptron multistrat:</a:t>
            </a:r>
          </a:p>
        </p:txBody>
      </p:sp>
      <p:sp>
        <p:nvSpPr>
          <p:cNvPr id="561" name="Acesta este un perceptron multistrat cu 2 straturi ascunse"/>
          <p:cNvSpPr txBox="1"/>
          <p:nvPr/>
        </p:nvSpPr>
        <p:spPr>
          <a:xfrm>
            <a:off x="678805" y="9750511"/>
            <a:ext cx="21948577" cy="1258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Acesta este un perceptron multistrat cu 2 straturi ascunse</a:t>
            </a:r>
          </a:p>
        </p:txBody>
      </p:sp>
      <p:sp>
        <p:nvSpPr>
          <p:cNvPr id="562" name="Primul primește 5 caracreriștici și învață 64 de caracteristici noi din ele"/>
          <p:cNvSpPr txBox="1"/>
          <p:nvPr/>
        </p:nvSpPr>
        <p:spPr>
          <a:xfrm>
            <a:off x="678805" y="10715711"/>
            <a:ext cx="21948577" cy="1258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Primul primește 5 caracreriștici și învață 64 de caracteristici noi din ele</a:t>
            </a:r>
          </a:p>
        </p:txBody>
      </p:sp>
      <p:sp>
        <p:nvSpPr>
          <p:cNvPr id="563" name="Al doilea învață din cele 64 de caracteristici 128 de caracteristici noi"/>
          <p:cNvSpPr txBox="1"/>
          <p:nvPr/>
        </p:nvSpPr>
        <p:spPr>
          <a:xfrm>
            <a:off x="678805" y="11782511"/>
            <a:ext cx="21948577" cy="1258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Al doilea învață din cele 64 de caracteristici 128 de caracteristici noi</a:t>
            </a:r>
          </a:p>
        </p:txBody>
      </p:sp>
      <p:pic>
        <p:nvPicPr>
          <p:cNvPr id="564" name="Captură de ecran din 2024-11-25 la 13.22.06.png" descr="Captură de ecran din 2024-11-25 la 13.22.0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38357" y="4280347"/>
            <a:ext cx="14229472" cy="46569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Cum învățăm mai bine?"/>
          <p:cNvSpPr txBox="1"/>
          <p:nvPr/>
        </p:nvSpPr>
        <p:spPr>
          <a:xfrm>
            <a:off x="113347" y="5053584"/>
            <a:ext cx="22650328" cy="3608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400">
                <a:latin typeface="Canela Regular"/>
                <a:ea typeface="Canela Regular"/>
                <a:cs typeface="Canela Regular"/>
                <a:sym typeface="Canela Regular"/>
              </a:defRPr>
            </a:lvl1pPr>
          </a:lstStyle>
          <a:p>
            <a:pPr/>
            <a:r>
              <a:t>Cum învățăm mai bine?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Regularizare cu Weight Decay"/>
          <p:cNvSpPr txBox="1"/>
          <p:nvPr>
            <p:ph type="title"/>
          </p:nvPr>
        </p:nvSpPr>
        <p:spPr>
          <a:xfrm>
            <a:off x="1219200" y="724619"/>
            <a:ext cx="21945600" cy="1727201"/>
          </a:xfrm>
          <a:prstGeom prst="rect">
            <a:avLst/>
          </a:prstGeom>
        </p:spPr>
        <p:txBody>
          <a:bodyPr/>
          <a:lstStyle/>
          <a:p>
            <a:pPr/>
            <a:r>
              <a:t>Regularizare cu Weight Decay</a:t>
            </a:r>
          </a:p>
        </p:txBody>
      </p:sp>
      <p:sp>
        <p:nvSpPr>
          <p:cNvPr id="569" name="Weight Decay e doar un alt nume pentru regularizarea ridge"/>
          <p:cNvSpPr txBox="1"/>
          <p:nvPr>
            <p:ph type="body" sz="quarter" idx="1"/>
          </p:nvPr>
        </p:nvSpPr>
        <p:spPr>
          <a:xfrm>
            <a:off x="628005" y="3648168"/>
            <a:ext cx="21948577" cy="1258949"/>
          </a:xfrm>
          <a:prstGeom prst="rect">
            <a:avLst/>
          </a:prstGeom>
        </p:spPr>
        <p:txBody>
          <a:bodyPr/>
          <a:lstStyle/>
          <a:p>
            <a:pPr/>
            <a:r>
              <a:t>Weight Decay e doar un alt nume pentru regularizarea ridge</a:t>
            </a:r>
          </a:p>
        </p:txBody>
      </p:sp>
      <p:sp>
        <p:nvSpPr>
          <p:cNvPr id="570" name="Regularizarea ridge implică menținerea ponderilor rețelei la valori mai mici"/>
          <p:cNvSpPr txBox="1"/>
          <p:nvPr/>
        </p:nvSpPr>
        <p:spPr>
          <a:xfrm>
            <a:off x="628005" y="4646922"/>
            <a:ext cx="21948577" cy="1258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Regularizarea ridge implică menținerea ponderilor rețelei la valori mai mici</a:t>
            </a:r>
          </a:p>
        </p:txBody>
      </p:sp>
      <p:sp>
        <p:nvSpPr>
          <p:cNvPr id="571" name="Un model care face overfitting are de obicei ponderi mari"/>
          <p:cNvSpPr txBox="1"/>
          <p:nvPr/>
        </p:nvSpPr>
        <p:spPr>
          <a:xfrm>
            <a:off x="628005" y="5713722"/>
            <a:ext cx="21948577" cy="1258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Un model care face overfitting are de obicei ponderi mari</a:t>
            </a:r>
          </a:p>
        </p:txBody>
      </p:sp>
      <p:pic>
        <p:nvPicPr>
          <p:cNvPr id="572" name="Captură de ecran din 2024-11-25 la 13.39.38.png" descr="Captură de ecran din 2024-11-25 la 13.39.3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34656" y="7779277"/>
            <a:ext cx="17535275" cy="2288555"/>
          </a:xfrm>
          <a:prstGeom prst="rect">
            <a:avLst/>
          </a:prstGeom>
          <a:ln w="12700">
            <a:miter lim="400000"/>
          </a:ln>
        </p:spPr>
      </p:pic>
      <p:sp>
        <p:nvSpPr>
          <p:cNvPr id="573" name="Optimizatorul reprezintă metoda prin care se actualizează ponderile"/>
          <p:cNvSpPr txBox="1"/>
          <p:nvPr/>
        </p:nvSpPr>
        <p:spPr>
          <a:xfrm>
            <a:off x="628005" y="10692122"/>
            <a:ext cx="21948577" cy="1258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Optimizatorul reprezintă metoda prin care se actualizează ponderile</a:t>
            </a:r>
          </a:p>
        </p:txBody>
      </p:sp>
      <p:sp>
        <p:nvSpPr>
          <p:cNvPr id="574" name="Mai sus, actualizarea se face prin intermediul stochastic gradient descent"/>
          <p:cNvSpPr txBox="1"/>
          <p:nvPr/>
        </p:nvSpPr>
        <p:spPr>
          <a:xfrm>
            <a:off x="628005" y="11941237"/>
            <a:ext cx="21948577" cy="1258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Mai sus, actualizarea se face prin intermediul stochastic gradient descent</a:t>
            </a:r>
          </a:p>
        </p:txBody>
      </p:sp>
      <p:pic>
        <p:nvPicPr>
          <p:cNvPr id="575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383902" y="4500204"/>
            <a:ext cx="5329926" cy="101601"/>
          </a:xfrm>
          <a:prstGeom prst="rect">
            <a:avLst/>
          </a:prstGeom>
        </p:spPr>
      </p:pic>
      <p:pic>
        <p:nvPicPr>
          <p:cNvPr id="577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285102" y="5490804"/>
            <a:ext cx="11874738" cy="101601"/>
          </a:xfrm>
          <a:prstGeom prst="rect">
            <a:avLst/>
          </a:prstGeom>
        </p:spPr>
      </p:pic>
      <p:pic>
        <p:nvPicPr>
          <p:cNvPr id="579" name="Linie Linie" descr="Linie Linie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548502" y="11485204"/>
            <a:ext cx="11230072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20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Class="entr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5" dur="20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77" grpId="2"/>
      <p:bldP build="whole" bldLvl="1" animBg="1" rev="0" advAuto="0" spid="575" grpId="1"/>
      <p:bldP build="whole" bldLvl="1" animBg="1" rev="0" advAuto="0" spid="579" grpId="3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Regularizare cu Dropout"/>
          <p:cNvSpPr txBox="1"/>
          <p:nvPr>
            <p:ph type="title"/>
          </p:nvPr>
        </p:nvSpPr>
        <p:spPr>
          <a:xfrm>
            <a:off x="1219200" y="724619"/>
            <a:ext cx="21945600" cy="1727201"/>
          </a:xfrm>
          <a:prstGeom prst="rect">
            <a:avLst/>
          </a:prstGeom>
        </p:spPr>
        <p:txBody>
          <a:bodyPr/>
          <a:lstStyle/>
          <a:p>
            <a:pPr/>
            <a:r>
              <a:t>Regularizare cu Dropout</a:t>
            </a:r>
          </a:p>
        </p:txBody>
      </p:sp>
      <p:sp>
        <p:nvSpPr>
          <p:cNvPr id="583" name="Dropout reprezintă altă metodă prin care putem reduce overfitting-ul"/>
          <p:cNvSpPr txBox="1"/>
          <p:nvPr>
            <p:ph type="body" sz="quarter" idx="1"/>
          </p:nvPr>
        </p:nvSpPr>
        <p:spPr>
          <a:xfrm>
            <a:off x="602605" y="3038568"/>
            <a:ext cx="21948577" cy="1258949"/>
          </a:xfrm>
          <a:prstGeom prst="rect">
            <a:avLst/>
          </a:prstGeom>
        </p:spPr>
        <p:txBody>
          <a:bodyPr/>
          <a:lstStyle/>
          <a:p>
            <a:pPr/>
            <a:r>
              <a:t>Dropout reprezintă altă metodă prin care putem reduce overfitting-ul</a:t>
            </a:r>
          </a:p>
        </p:txBody>
      </p:sp>
      <p:sp>
        <p:nvSpPr>
          <p:cNvPr id="584" name="În timpul antrenării, aleatoriu o parte din neuroni sunt opriți, adică că nu se activează sau ieșirea lor e 0"/>
          <p:cNvSpPr txBox="1"/>
          <p:nvPr/>
        </p:nvSpPr>
        <p:spPr>
          <a:xfrm>
            <a:off x="602605" y="4295868"/>
            <a:ext cx="21948577" cy="2333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În timpul antrenării, aleatoriu o parte din neuroni sunt opriți, adică că nu se activează sau ieșirea lor e 0</a:t>
            </a:r>
          </a:p>
        </p:txBody>
      </p:sp>
      <p:sp>
        <p:nvSpPr>
          <p:cNvPr id="585" name="Ideea e că modelul poate deveni prea dependent de anumiți neuroni sau combinații specifice de neuroni"/>
          <p:cNvSpPr txBox="1"/>
          <p:nvPr/>
        </p:nvSpPr>
        <p:spPr>
          <a:xfrm>
            <a:off x="602605" y="6071403"/>
            <a:ext cx="21948577" cy="1991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Ideea e că modelul poate deveni prea dependent de anumiți neuroni sau combinații specifice de neuroni</a:t>
            </a:r>
          </a:p>
        </p:txBody>
      </p:sp>
      <p:sp>
        <p:nvSpPr>
          <p:cNvPr id="586" name="Astfel că, o parte bună din neuroni s-ar putea să nu contribuie mai deloc la sarcina pe care vrem să o rezolvăm"/>
          <p:cNvSpPr txBox="1"/>
          <p:nvPr/>
        </p:nvSpPr>
        <p:spPr>
          <a:xfrm>
            <a:off x="602605" y="8016006"/>
            <a:ext cx="21948577" cy="1900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Astfel că, o parte bună din neuroni s-ar putea să nu contribuie mai deloc la sarcina pe care vrem să o rezolvăm</a:t>
            </a:r>
          </a:p>
        </p:txBody>
      </p:sp>
      <p:sp>
        <p:nvSpPr>
          <p:cNvPr id="587" name="Oprind neuroni în timpul antrenării, forțăm modelul să se bazeze pe toți neuronii, contribuind la o generalizare mai bună"/>
          <p:cNvSpPr txBox="1"/>
          <p:nvPr/>
        </p:nvSpPr>
        <p:spPr>
          <a:xfrm>
            <a:off x="602605" y="9837265"/>
            <a:ext cx="21948577" cy="1900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Oprind neuroni în timpul antrenării, forțăm modelul să se bazeze pe toți neuronii, contribuind la o generalizare mai bună</a:t>
            </a:r>
          </a:p>
        </p:txBody>
      </p:sp>
      <p:pic>
        <p:nvPicPr>
          <p:cNvPr id="588" name="Linie Linie" descr="Linie Lini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455846" y="5133659"/>
            <a:ext cx="3189292" cy="101601"/>
          </a:xfrm>
          <a:prstGeom prst="rect">
            <a:avLst/>
          </a:prstGeom>
        </p:spPr>
      </p:pic>
      <p:pic>
        <p:nvPicPr>
          <p:cNvPr id="590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301102" y="6807200"/>
            <a:ext cx="4551583" cy="101600"/>
          </a:xfrm>
          <a:prstGeom prst="rect">
            <a:avLst/>
          </a:prstGeom>
        </p:spPr>
      </p:pic>
      <p:pic>
        <p:nvPicPr>
          <p:cNvPr id="592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262502" y="11303549"/>
            <a:ext cx="6004212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20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Class="entr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5" dur="10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90" grpId="2"/>
      <p:bldP build="whole" bldLvl="1" animBg="1" rev="0" advAuto="0" spid="588" grpId="1"/>
      <p:bldP build="whole" bldLvl="1" animBg="1" rev="0" advAuto="0" spid="592" grpId="3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Regularizare cu Dropout"/>
          <p:cNvSpPr txBox="1"/>
          <p:nvPr>
            <p:ph type="title"/>
          </p:nvPr>
        </p:nvSpPr>
        <p:spPr>
          <a:xfrm>
            <a:off x="1219200" y="724619"/>
            <a:ext cx="21945600" cy="1727201"/>
          </a:xfrm>
          <a:prstGeom prst="rect">
            <a:avLst/>
          </a:prstGeom>
        </p:spPr>
        <p:txBody>
          <a:bodyPr/>
          <a:lstStyle/>
          <a:p>
            <a:pPr/>
            <a:r>
              <a:t>Regularizare cu Dropout</a:t>
            </a:r>
          </a:p>
        </p:txBody>
      </p:sp>
      <p:sp>
        <p:nvSpPr>
          <p:cNvPr id="596" name="Dropout reprezintă altă metodă prin care putem reduce overfitting-ul"/>
          <p:cNvSpPr txBox="1"/>
          <p:nvPr>
            <p:ph type="body" sz="quarter" idx="1"/>
          </p:nvPr>
        </p:nvSpPr>
        <p:spPr>
          <a:xfrm>
            <a:off x="602605" y="3038568"/>
            <a:ext cx="21948577" cy="1258949"/>
          </a:xfrm>
          <a:prstGeom prst="rect">
            <a:avLst/>
          </a:prstGeom>
        </p:spPr>
        <p:txBody>
          <a:bodyPr/>
          <a:lstStyle/>
          <a:p>
            <a:pPr/>
            <a:r>
              <a:t>Dropout reprezintă altă metodă prin care putem reduce overfitting-ul</a:t>
            </a:r>
          </a:p>
        </p:txBody>
      </p:sp>
      <p:pic>
        <p:nvPicPr>
          <p:cNvPr id="597" name="Captură de ecran din 2024-11-25 la 13.49.06.png" descr="Captură de ecran din 2024-11-25 la 13.49.0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4238" y="4147665"/>
            <a:ext cx="14136651" cy="5969957"/>
          </a:xfrm>
          <a:prstGeom prst="rect">
            <a:avLst/>
          </a:prstGeom>
          <a:ln w="12700">
            <a:miter lim="400000"/>
          </a:ln>
        </p:spPr>
      </p:pic>
      <p:sp>
        <p:nvSpPr>
          <p:cNvPr id="598" name="20% din neuronii din primul strat ascuns sunt opriți la antrenare"/>
          <p:cNvSpPr txBox="1"/>
          <p:nvPr/>
        </p:nvSpPr>
        <p:spPr>
          <a:xfrm>
            <a:off x="14823033" y="4687631"/>
            <a:ext cx="9404549" cy="1951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solidFill>
                  <a:schemeClr val="accent1"/>
                </a:solidFill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20% din neuronii din primul strat ascuns sunt opriți la antrenare</a:t>
            </a:r>
          </a:p>
        </p:txBody>
      </p:sp>
      <p:sp>
        <p:nvSpPr>
          <p:cNvPr id="599" name="30% din neuronii din al doilea strat ascuns sunt opriți la antrenare"/>
          <p:cNvSpPr txBox="1"/>
          <p:nvPr/>
        </p:nvSpPr>
        <p:spPr>
          <a:xfrm>
            <a:off x="14823033" y="6281232"/>
            <a:ext cx="9404549" cy="1951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0638" indent="-540638" defTabSz="2413955">
              <a:spcBef>
                <a:spcPts val="2300"/>
              </a:spcBef>
              <a:buSzPct val="150000"/>
              <a:buChar char="•"/>
              <a:defRPr sz="4356">
                <a:solidFill>
                  <a:schemeClr val="accent3"/>
                </a:solidFill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30% din neuronii din al doilea strat ascuns sunt opriți la antrenare</a:t>
            </a:r>
          </a:p>
        </p:txBody>
      </p:sp>
      <p:sp>
        <p:nvSpPr>
          <p:cNvPr id="600" name="Atenție! Dropout se realizează doar la antrenare, ca să antrenăm modelul să generalizeze mai bine. La inferență (când facem preziceri), acel strat se va dezactiva"/>
          <p:cNvSpPr txBox="1"/>
          <p:nvPr/>
        </p:nvSpPr>
        <p:spPr>
          <a:xfrm>
            <a:off x="-67271" y="10216244"/>
            <a:ext cx="24518542" cy="172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Atenție! Dropout se realizează doar la antrenare, ca să antrenăm modelul să generalizeze mai bine. La inferență (când facem preziceri), acel strat se va dezactiva</a:t>
            </a:r>
          </a:p>
        </p:txBody>
      </p:sp>
      <p:sp>
        <p:nvSpPr>
          <p:cNvPr id="601" name="PyTorch realizează dezactivarea automat atunci când trecem modelul în evaluation mode: net.eval()"/>
          <p:cNvSpPr txBox="1"/>
          <p:nvPr/>
        </p:nvSpPr>
        <p:spPr>
          <a:xfrm>
            <a:off x="-67271" y="11813467"/>
            <a:ext cx="24518542" cy="172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PyTorch realizează dezactivarea automat atunci când trecem modelul în evaluation mode: net.eval()</a:t>
            </a:r>
          </a:p>
        </p:txBody>
      </p:sp>
      <p:pic>
        <p:nvPicPr>
          <p:cNvPr id="602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048000" y="7569200"/>
            <a:ext cx="4077239" cy="101600"/>
          </a:xfrm>
          <a:prstGeom prst="rect">
            <a:avLst/>
          </a:prstGeom>
        </p:spPr>
      </p:pic>
      <p:pic>
        <p:nvPicPr>
          <p:cNvPr id="604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048000" y="9271000"/>
            <a:ext cx="4077239" cy="101600"/>
          </a:xfrm>
          <a:prstGeom prst="rect">
            <a:avLst/>
          </a:prstGeom>
        </p:spPr>
      </p:pic>
      <p:sp>
        <p:nvSpPr>
          <p:cNvPr id="606" name="Stratul se adaugă după funcția de activare"/>
          <p:cNvSpPr txBox="1"/>
          <p:nvPr/>
        </p:nvSpPr>
        <p:spPr>
          <a:xfrm>
            <a:off x="14823033" y="7888031"/>
            <a:ext cx="9404549" cy="172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Stratul se adaugă după funcția de activare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Inițializarea optimă a ponderilor"/>
          <p:cNvSpPr txBox="1"/>
          <p:nvPr>
            <p:ph type="title"/>
          </p:nvPr>
        </p:nvSpPr>
        <p:spPr>
          <a:xfrm>
            <a:off x="1219200" y="724619"/>
            <a:ext cx="21945600" cy="1727201"/>
          </a:xfrm>
          <a:prstGeom prst="rect">
            <a:avLst/>
          </a:prstGeom>
        </p:spPr>
        <p:txBody>
          <a:bodyPr/>
          <a:lstStyle/>
          <a:p>
            <a:pPr/>
            <a:r>
              <a:t>Inițializarea optimă a ponderilor</a:t>
            </a:r>
          </a:p>
        </p:txBody>
      </p:sp>
      <p:sp>
        <p:nvSpPr>
          <p:cNvPr id="609" name="Felul în care se realizează inițializarea ponderilor înainte ca modelul să învețe este foarte important"/>
          <p:cNvSpPr txBox="1"/>
          <p:nvPr>
            <p:ph type="body" sz="quarter" idx="1"/>
          </p:nvPr>
        </p:nvSpPr>
        <p:spPr>
          <a:xfrm>
            <a:off x="374005" y="2987768"/>
            <a:ext cx="21948577" cy="1951298"/>
          </a:xfrm>
          <a:prstGeom prst="rect">
            <a:avLst/>
          </a:prstGeom>
        </p:spPr>
        <p:txBody>
          <a:bodyPr/>
          <a:lstStyle/>
          <a:p>
            <a:pPr/>
            <a:r>
              <a:t>Felul în care se realizează inițializarea ponderilor înainte ca modelul să învețe este foarte important</a:t>
            </a:r>
          </a:p>
        </p:txBody>
      </p:sp>
      <p:sp>
        <p:nvSpPr>
          <p:cNvPr id="610" name="Prin diferite inițializări se poate ajunge la o convergență a modelului către o soluție mai bună sau doar la o convergență mai rapidă către o soluție destul de bună"/>
          <p:cNvSpPr txBox="1"/>
          <p:nvPr/>
        </p:nvSpPr>
        <p:spPr>
          <a:xfrm>
            <a:off x="313729" y="4806044"/>
            <a:ext cx="24518542" cy="172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Prin diferite inițializări se poate ajunge la o convergență a modelului către o soluție mai bună sau doar la o convergență mai rapidă către o soluție destul de bună</a:t>
            </a:r>
          </a:p>
        </p:txBody>
      </p:sp>
      <p:pic>
        <p:nvPicPr>
          <p:cNvPr id="611" name="Captură de ecran din 2024-11-25 la 14.20.09.png" descr="Captură de ecran din 2024-11-25 la 14.20.0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6727" y="7224487"/>
            <a:ext cx="8731957" cy="304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2" name="Captură de ecran din 2024-11-25 la 14.20.25.png" descr="Captură de ecran din 2024-11-25 la 14.20.2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565487" y="7304096"/>
            <a:ext cx="6015026" cy="2881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613" name="Captură de ecran din 2024-11-25 la 14.21.13.png" descr="Captură de ecran din 2024-11-25 la 14.21.1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087315" y="7016181"/>
            <a:ext cx="6920701" cy="2720170"/>
          </a:xfrm>
          <a:prstGeom prst="rect">
            <a:avLst/>
          </a:prstGeom>
          <a:ln w="12700">
            <a:miter lim="400000"/>
          </a:ln>
        </p:spPr>
      </p:pic>
      <p:sp>
        <p:nvSpPr>
          <p:cNvPr id="614" name="Inițializarea cu distribuție gaussiană"/>
          <p:cNvSpPr txBox="1"/>
          <p:nvPr/>
        </p:nvSpPr>
        <p:spPr>
          <a:xfrm>
            <a:off x="1060219" y="10308272"/>
            <a:ext cx="7264973" cy="770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500"/>
            </a:lvl1pPr>
          </a:lstStyle>
          <a:p>
            <a:pPr/>
            <a:r>
              <a:t>Inițializarea cu distribuție gaussiană</a:t>
            </a:r>
          </a:p>
        </p:txBody>
      </p:sp>
      <p:sp>
        <p:nvSpPr>
          <p:cNvPr id="615" name="Inițializarea cu o constantă"/>
          <p:cNvSpPr txBox="1"/>
          <p:nvPr/>
        </p:nvSpPr>
        <p:spPr>
          <a:xfrm>
            <a:off x="9924819" y="10219288"/>
            <a:ext cx="5471860" cy="770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500"/>
            </a:lvl1pPr>
          </a:lstStyle>
          <a:p>
            <a:pPr/>
            <a:r>
              <a:t>Inițializarea cu o constantă</a:t>
            </a:r>
          </a:p>
        </p:txBody>
      </p:sp>
      <p:sp>
        <p:nvSpPr>
          <p:cNvPr id="616" name="Inițializarea Xavier"/>
          <p:cNvSpPr txBox="1"/>
          <p:nvPr/>
        </p:nvSpPr>
        <p:spPr>
          <a:xfrm>
            <a:off x="17783706" y="10219288"/>
            <a:ext cx="3877438" cy="770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500"/>
            </a:lvl1pPr>
          </a:lstStyle>
          <a:p>
            <a:pPr/>
            <a:r>
              <a:t>Inițializarea Xavier</a:t>
            </a:r>
          </a:p>
        </p:txBody>
      </p:sp>
      <p:sp>
        <p:nvSpPr>
          <p:cNvPr id="617" name="(face ca semnalele să nu fie diminuat sau accentuat excesiv de la un strat la altul)"/>
          <p:cNvSpPr txBox="1"/>
          <p:nvPr/>
        </p:nvSpPr>
        <p:spPr>
          <a:xfrm>
            <a:off x="15878706" y="11033770"/>
            <a:ext cx="8175773" cy="1376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500"/>
            </a:lvl1pPr>
          </a:lstStyle>
          <a:p>
            <a:pPr/>
            <a:r>
              <a:t>(face ca semnalele să nu fie diminuat sau accentuat excesiv de la un strat la altul)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Realizarea de rețele neuronale prin clase"/>
          <p:cNvSpPr txBox="1"/>
          <p:nvPr/>
        </p:nvSpPr>
        <p:spPr>
          <a:xfrm>
            <a:off x="866836" y="3463645"/>
            <a:ext cx="22650328" cy="67887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400">
                <a:latin typeface="Canela Regular"/>
                <a:ea typeface="Canela Regular"/>
                <a:cs typeface="Canela Regular"/>
                <a:sym typeface="Canela Regular"/>
              </a:defRPr>
            </a:lvl1pPr>
          </a:lstStyle>
          <a:p>
            <a:pPr/>
            <a:r>
              <a:t>Realizarea de rețele neuronale prin clase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Realizarea de rețele neuronale prin clase"/>
          <p:cNvSpPr txBox="1"/>
          <p:nvPr>
            <p:ph type="title"/>
          </p:nvPr>
        </p:nvSpPr>
        <p:spPr>
          <a:xfrm>
            <a:off x="1219200" y="770025"/>
            <a:ext cx="21945600" cy="1727201"/>
          </a:xfrm>
          <a:prstGeom prst="rect">
            <a:avLst/>
          </a:prstGeom>
        </p:spPr>
        <p:txBody>
          <a:bodyPr/>
          <a:lstStyle/>
          <a:p>
            <a:pPr/>
            <a:r>
              <a:t>Realizarea de rețele neuronale prin clase</a:t>
            </a:r>
          </a:p>
        </p:txBody>
      </p:sp>
      <p:sp>
        <p:nvSpPr>
          <p:cNvPr id="622" name="Putem crea clase care să reprezinte modelul nostru"/>
          <p:cNvSpPr txBox="1"/>
          <p:nvPr>
            <p:ph type="body" sz="quarter" idx="1"/>
          </p:nvPr>
        </p:nvSpPr>
        <p:spPr>
          <a:xfrm>
            <a:off x="374005" y="2987768"/>
            <a:ext cx="21948577" cy="1951298"/>
          </a:xfrm>
          <a:prstGeom prst="rect">
            <a:avLst/>
          </a:prstGeom>
        </p:spPr>
        <p:txBody>
          <a:bodyPr/>
          <a:lstStyle/>
          <a:p>
            <a:pPr/>
            <a:r>
              <a:t>Putem crea clase care să reprezinte modelul nostru</a:t>
            </a:r>
          </a:p>
        </p:txBody>
      </p:sp>
      <p:sp>
        <p:nvSpPr>
          <p:cNvPr id="623" name="Acestea trebuie să extindă clasa nn.Module"/>
          <p:cNvSpPr txBox="1"/>
          <p:nvPr/>
        </p:nvSpPr>
        <p:spPr>
          <a:xfrm>
            <a:off x="389929" y="3856537"/>
            <a:ext cx="24518542" cy="172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Acestea trebuie să extindă clasa nn.Module</a:t>
            </a:r>
          </a:p>
        </p:txBody>
      </p:sp>
      <p:pic>
        <p:nvPicPr>
          <p:cNvPr id="624" name="Captură de ecran din 2024-11-25 la 14.31.06.png" descr="Captură de ecran din 2024-11-25 la 14.31.0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91134" y="5215848"/>
            <a:ext cx="13116132" cy="4463894"/>
          </a:xfrm>
          <a:prstGeom prst="rect">
            <a:avLst/>
          </a:prstGeom>
          <a:ln w="12700">
            <a:miter lim="400000"/>
          </a:ln>
        </p:spPr>
      </p:pic>
      <p:sp>
        <p:nvSpPr>
          <p:cNvPr id="625" name="E foarte simplu: tot ce trebuie să facem este să inițializăm straturile în constructor, iar mai apoi să definim metoda forward, care spune cum ajungem de la intrare la ieșire prin acele straturi"/>
          <p:cNvSpPr txBox="1"/>
          <p:nvPr/>
        </p:nvSpPr>
        <p:spPr>
          <a:xfrm>
            <a:off x="161329" y="10439124"/>
            <a:ext cx="23020438" cy="2938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E foarte simplu: tot ce trebuie să facem este să inițializăm straturile în constructor, iar mai apoi să definim metoda forward, care spune cum ajungem de la intrare la ieșire prin acele straturi</a:t>
            </a:r>
          </a:p>
        </p:txBody>
      </p:sp>
      <p:pic>
        <p:nvPicPr>
          <p:cNvPr id="626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9702" y="12060756"/>
            <a:ext cx="4361837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626" grpId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That’s it for today!…"/>
          <p:cNvSpPr txBox="1"/>
          <p:nvPr>
            <p:ph type="title"/>
          </p:nvPr>
        </p:nvSpPr>
        <p:spPr>
          <a:xfrm>
            <a:off x="1219200" y="5994400"/>
            <a:ext cx="21945600" cy="1727200"/>
          </a:xfrm>
          <a:prstGeom prst="rect">
            <a:avLst/>
          </a:prstGeom>
        </p:spPr>
        <p:txBody>
          <a:bodyPr/>
          <a:lstStyle/>
          <a:p>
            <a:pPr defTabSz="1389888">
              <a:defRPr spc="-99" sz="4700"/>
            </a:pPr>
            <a:r>
              <a:t>That’s it for today!</a:t>
            </a:r>
          </a:p>
          <a:p>
            <a:pPr defTabSz="1389888">
              <a:defRPr spc="-99" sz="4700"/>
            </a:pPr>
            <a:r>
              <a:t>Now let’s do some exercises.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That’s it for today!…"/>
          <p:cNvSpPr txBox="1"/>
          <p:nvPr>
            <p:ph type="title"/>
          </p:nvPr>
        </p:nvSpPr>
        <p:spPr>
          <a:xfrm>
            <a:off x="1219200" y="419213"/>
            <a:ext cx="21945600" cy="1727201"/>
          </a:xfrm>
          <a:prstGeom prst="rect">
            <a:avLst/>
          </a:prstGeom>
        </p:spPr>
        <p:txBody>
          <a:bodyPr/>
          <a:lstStyle/>
          <a:p>
            <a:pPr defTabSz="1389888">
              <a:defRPr spc="-99" sz="4700"/>
            </a:pPr>
            <a:r>
              <a:t>That’s it for today!</a:t>
            </a:r>
          </a:p>
          <a:p>
            <a:pPr defTabSz="1389888">
              <a:defRPr spc="-99" sz="4700"/>
            </a:pPr>
            <a:r>
              <a:t>Now let’s do some exercises.</a:t>
            </a:r>
          </a:p>
        </p:txBody>
      </p:sp>
      <p:pic>
        <p:nvPicPr>
          <p:cNvPr id="632" name="Captură de ecran din 2024-11-25 la 14.34.19.png" descr="Captură de ecran din 2024-11-25 la 14.34.1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59800" y="2797770"/>
            <a:ext cx="7264400" cy="100711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Bold"/>
            <a:ea typeface="Canela Bold"/>
            <a:cs typeface="Canela Bold"/>
            <a:sym typeface="Canela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Bold"/>
            <a:ea typeface="Canela Bold"/>
            <a:cs typeface="Canela Bold"/>
            <a:sym typeface="Canela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Bold"/>
            <a:ea typeface="Canela Bold"/>
            <a:cs typeface="Canela Bold"/>
            <a:sym typeface="Canela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Bold"/>
            <a:ea typeface="Canela Bold"/>
            <a:cs typeface="Canela Bold"/>
            <a:sym typeface="Canela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