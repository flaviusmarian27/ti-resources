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8" name="Shape 178"/>
          <p:cNvSpPr/>
          <p:nvPr>
            <p:ph type="sldImg"/>
          </p:nvPr>
        </p:nvSpPr>
        <p:spPr>
          <a:xfrm>
            <a:off x="1143000" y="685800"/>
            <a:ext cx="4572000" cy="3429000"/>
          </a:xfrm>
          <a:prstGeom prst="rect">
            <a:avLst/>
          </a:prstGeom>
        </p:spPr>
        <p:txBody>
          <a:bodyPr/>
          <a:lstStyle/>
          <a:p>
            <a:pPr/>
          </a:p>
        </p:txBody>
      </p:sp>
      <p:sp>
        <p:nvSpPr>
          <p:cNvPr id="179" name="Shape 17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169" name="Titlu diapozitiv"/>
          <p:cNvSpPr txBox="1"/>
          <p:nvPr>
            <p:ph type="title" hasCustomPrompt="1"/>
          </p:nvPr>
        </p:nvSpPr>
        <p:spPr>
          <a:prstGeom prst="rect">
            <a:avLst/>
          </a:prstGeom>
        </p:spPr>
        <p:txBody>
          <a:bodyPr/>
          <a:lstStyle/>
          <a:p>
            <a:pPr/>
            <a:r>
              <a:t>Titlu diapozitiv</a:t>
            </a:r>
          </a:p>
        </p:txBody>
      </p:sp>
      <p:sp>
        <p:nvSpPr>
          <p:cNvPr id="170" name="Nivel corp unu…"/>
          <p:cNvSpPr txBox="1"/>
          <p:nvPr>
            <p:ph type="body" idx="1" hasCustomPrompt="1"/>
          </p:nvPr>
        </p:nvSpPr>
        <p:spPr>
          <a:prstGeom prst="rect">
            <a:avLst/>
          </a:prstGeom>
        </p:spPr>
        <p:txBody>
          <a:bodyPr/>
          <a:lstStyle>
            <a:lvl1pPr defTabSz="2438338"/>
            <a:lvl2pPr defTabSz="2438338"/>
            <a:lvl3pPr defTabSz="2438338"/>
            <a:lvl4pPr defTabSz="2438338"/>
            <a:lvl5pPr defTabSz="2438338"/>
          </a:lstStyle>
          <a:p>
            <a:pPr/>
            <a:r>
              <a:t>Text marcator diapozitiv</a:t>
            </a:r>
          </a:p>
          <a:p>
            <a:pPr lvl="1"/>
            <a:r>
              <a:t/>
            </a:r>
          </a:p>
          <a:p>
            <a:pPr lvl="2"/>
            <a:r>
              <a:t/>
            </a:r>
          </a:p>
          <a:p>
            <a:pPr lvl="3"/>
            <a:r>
              <a:t/>
            </a:r>
          </a:p>
          <a:p>
            <a:pPr lvl="4"/>
            <a:r>
              <a:t/>
            </a:r>
          </a:p>
        </p:txBody>
      </p:sp>
      <p:sp>
        <p:nvSpPr>
          <p:cNvPr id="171"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172" name="Număr diapozitiv"/>
          <p:cNvSpPr txBox="1"/>
          <p:nvPr>
            <p:ph type="sldNum" sz="quarter" idx="2"/>
          </p:nvPr>
        </p:nvSpPr>
        <p:spPr>
          <a:xfrm>
            <a:off x="1198753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1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1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image" Target="../media/image1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0.png"/><Relationship Id="rId3" Type="http://schemas.openxmlformats.org/officeDocument/2006/relationships/image" Target="../media/image2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2.png"/><Relationship Id="rId3" Type="http://schemas.openxmlformats.org/officeDocument/2006/relationships/image" Target="../media/image23.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4.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7.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8.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9.png"/><Relationship Id="rId3" Type="http://schemas.openxmlformats.org/officeDocument/2006/relationships/image" Target="../media/image30.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1.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2.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8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83" name="Lab 2. Modele parametrice"/>
          <p:cNvSpPr txBox="1"/>
          <p:nvPr/>
        </p:nvSpPr>
        <p:spPr>
          <a:xfrm>
            <a:off x="1219200" y="7567579"/>
            <a:ext cx="21945600" cy="143037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11. Arhitectura Transformer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Ce vrem să facem azi"/>
          <p:cNvSpPr txBox="1"/>
          <p:nvPr>
            <p:ph type="title"/>
          </p:nvPr>
        </p:nvSpPr>
        <p:spPr>
          <a:xfrm>
            <a:off x="1219200" y="558825"/>
            <a:ext cx="21945600" cy="1727201"/>
          </a:xfrm>
          <a:prstGeom prst="rect">
            <a:avLst/>
          </a:prstGeom>
        </p:spPr>
        <p:txBody>
          <a:bodyPr/>
          <a:lstStyle/>
          <a:p>
            <a:pPr/>
            <a:r>
              <a:t>Ce vrem să facem azi</a:t>
            </a:r>
          </a:p>
        </p:txBody>
      </p:sp>
      <p:sp>
        <p:nvSpPr>
          <p:cNvPr id="186" name="Săptămâna trecută ne-am uitat peste RNN-uri și am văzut două mari dezavantaje:"/>
          <p:cNvSpPr txBox="1"/>
          <p:nvPr>
            <p:ph type="body" sz="quarter" idx="1"/>
          </p:nvPr>
        </p:nvSpPr>
        <p:spPr>
          <a:xfrm>
            <a:off x="526511" y="2751647"/>
            <a:ext cx="21948578" cy="1143042"/>
          </a:xfrm>
          <a:prstGeom prst="rect">
            <a:avLst/>
          </a:prstGeom>
        </p:spPr>
        <p:txBody>
          <a:bodyPr/>
          <a:lstStyle/>
          <a:p>
            <a:pPr/>
            <a:r>
              <a:t>Săptămâna trecută ne-am uitat peste RNN-uri și am văzut două mari dezavantaje:</a:t>
            </a:r>
          </a:p>
        </p:txBody>
      </p:sp>
      <p:sp>
        <p:nvSpPr>
          <p:cNvPr id="187" name="ieșirea nu este flexibilă"/>
          <p:cNvSpPr txBox="1"/>
          <p:nvPr/>
        </p:nvSpPr>
        <p:spPr>
          <a:xfrm>
            <a:off x="2081711" y="3587288"/>
            <a:ext cx="21948578" cy="9419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ieșirea nu este flexibilă</a:t>
            </a:r>
          </a:p>
        </p:txBody>
      </p:sp>
      <p:sp>
        <p:nvSpPr>
          <p:cNvPr id="188" name="Mai exact, astăzi vom explora arhitectura Transformer pentru a realiza un model care primește ca intrare text și generează ca ieșire text"/>
          <p:cNvSpPr txBox="1"/>
          <p:nvPr/>
        </p:nvSpPr>
        <p:spPr>
          <a:xfrm>
            <a:off x="660911" y="7070138"/>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astăzi vom explora arhitectura Transformer pentru a realiza un model care primește ca intrare text și generează ca ieșire text</a:t>
            </a:r>
          </a:p>
        </p:txBody>
      </p:sp>
      <p:sp>
        <p:nvSpPr>
          <p:cNvPr id="189" name="Vrem să rezolvăm aceste probleme și, de fapt, să ne uităm la inima care stă în spatele modelelor precum ChatGPT, Gemini, Claude &amp; family"/>
          <p:cNvSpPr txBox="1"/>
          <p:nvPr/>
        </p:nvSpPr>
        <p:spPr>
          <a:xfrm>
            <a:off x="660911" y="5416852"/>
            <a:ext cx="21948578" cy="1882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Vrem să rezolvăm aceste probleme și, de fapt, să ne uităm la inima care stă în spatele modelelor precum ChatGPT, Gemini, Claude &amp; family</a:t>
            </a:r>
          </a:p>
        </p:txBody>
      </p:sp>
      <p:sp>
        <p:nvSpPr>
          <p:cNvPr id="190" name="memoria contextuală era scurtă"/>
          <p:cNvSpPr txBox="1"/>
          <p:nvPr/>
        </p:nvSpPr>
        <p:spPr>
          <a:xfrm>
            <a:off x="2081711" y="4360310"/>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memoria contextuală era scurtă</a:t>
            </a:r>
          </a:p>
        </p:txBody>
      </p:sp>
      <p:sp>
        <p:nvSpPr>
          <p:cNvPr id="191" name="Există mai multe use cases pentru un astfel de model:"/>
          <p:cNvSpPr txBox="1"/>
          <p:nvPr/>
        </p:nvSpPr>
        <p:spPr>
          <a:xfrm>
            <a:off x="660911" y="8821183"/>
            <a:ext cx="21948578" cy="11498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Există mai multe use cases pentru un astfel de model:</a:t>
            </a:r>
          </a:p>
        </p:txBody>
      </p:sp>
      <p:sp>
        <p:nvSpPr>
          <p:cNvPr id="192" name="Question answering"/>
          <p:cNvSpPr txBox="1"/>
          <p:nvPr/>
        </p:nvSpPr>
        <p:spPr>
          <a:xfrm>
            <a:off x="1939911" y="9767031"/>
            <a:ext cx="21948578" cy="11498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Question answering</a:t>
            </a:r>
          </a:p>
        </p:txBody>
      </p:sp>
      <p:sp>
        <p:nvSpPr>
          <p:cNvPr id="193" name="Language translation"/>
          <p:cNvSpPr txBox="1"/>
          <p:nvPr/>
        </p:nvSpPr>
        <p:spPr>
          <a:xfrm>
            <a:off x="1939911" y="10646628"/>
            <a:ext cx="21948578" cy="11498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Language translation</a:t>
            </a:r>
          </a:p>
        </p:txBody>
      </p:sp>
      <p:sp>
        <p:nvSpPr>
          <p:cNvPr id="194" name="Chat bot, &amp; altele"/>
          <p:cNvSpPr txBox="1"/>
          <p:nvPr/>
        </p:nvSpPr>
        <p:spPr>
          <a:xfrm>
            <a:off x="1939911" y="11493187"/>
            <a:ext cx="21948578" cy="11498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Chat bot, &amp; altele</a:t>
            </a:r>
          </a:p>
        </p:txBody>
      </p:sp>
      <p:pic>
        <p:nvPicPr>
          <p:cNvPr id="195" name="Linie Linie" descr="Linie Linie"/>
          <p:cNvPicPr>
            <a:picLocks noChangeAspect="0"/>
          </p:cNvPicPr>
          <p:nvPr/>
        </p:nvPicPr>
        <p:blipFill>
          <a:blip r:embed="rId2">
            <a:extLst/>
          </a:blip>
          <a:stretch>
            <a:fillRect/>
          </a:stretch>
        </p:blipFill>
        <p:spPr>
          <a:xfrm rot="21600000">
            <a:off x="12907799" y="6153810"/>
            <a:ext cx="5147127"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Pregătirea datelor"/>
          <p:cNvSpPr txBox="1"/>
          <p:nvPr>
            <p:ph type="title"/>
          </p:nvPr>
        </p:nvSpPr>
        <p:spPr>
          <a:xfrm>
            <a:off x="1219200" y="558825"/>
            <a:ext cx="21945600" cy="1727201"/>
          </a:xfrm>
          <a:prstGeom prst="rect">
            <a:avLst/>
          </a:prstGeom>
        </p:spPr>
        <p:txBody>
          <a:bodyPr/>
          <a:lstStyle/>
          <a:p>
            <a:pPr/>
            <a:r>
              <a:t>Pregătirea datelor</a:t>
            </a:r>
          </a:p>
        </p:txBody>
      </p:sp>
      <p:sp>
        <p:nvSpPr>
          <p:cNvPr id="199" name="Să zicem că vrem să facem un model care știe să răspundă la întrebări"/>
          <p:cNvSpPr txBox="1"/>
          <p:nvPr>
            <p:ph type="body" sz="quarter" idx="1"/>
          </p:nvPr>
        </p:nvSpPr>
        <p:spPr>
          <a:xfrm>
            <a:off x="526511" y="2751647"/>
            <a:ext cx="21948578" cy="1143042"/>
          </a:xfrm>
          <a:prstGeom prst="rect">
            <a:avLst/>
          </a:prstGeom>
        </p:spPr>
        <p:txBody>
          <a:bodyPr/>
          <a:lstStyle/>
          <a:p>
            <a:pPr/>
            <a:r>
              <a:t>Să zicem că vrem să facem un model care știe să răspundă la întrebări</a:t>
            </a:r>
          </a:p>
        </p:txBody>
      </p:sp>
      <p:pic>
        <p:nvPicPr>
          <p:cNvPr id="200"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02" name="Adică avem următoarele combinații de intrare - ieșire:"/>
          <p:cNvSpPr txBox="1"/>
          <p:nvPr/>
        </p:nvSpPr>
        <p:spPr>
          <a:xfrm>
            <a:off x="526511" y="3992247"/>
            <a:ext cx="21948578"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Adică avem următoarele combinații de intrare - ieșire:</a:t>
            </a:r>
          </a:p>
        </p:txBody>
      </p:sp>
      <p:sp>
        <p:nvSpPr>
          <p:cNvPr id="203" name="If a red ball is larger than a blue ball, and the blue ball is larger than a green ball, which ball is the smallest?"/>
          <p:cNvSpPr txBox="1"/>
          <p:nvPr/>
        </p:nvSpPr>
        <p:spPr>
          <a:xfrm>
            <a:off x="1429397" y="6873260"/>
            <a:ext cx="9227403" cy="356425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and the blue ball is larger than a green ball, which ball is the smallest?</a:t>
            </a:r>
          </a:p>
        </p:txBody>
      </p:sp>
      <p:sp>
        <p:nvSpPr>
          <p:cNvPr id="204" name="Intrare"/>
          <p:cNvSpPr txBox="1"/>
          <p:nvPr/>
        </p:nvSpPr>
        <p:spPr>
          <a:xfrm>
            <a:off x="4013511" y="5722693"/>
            <a:ext cx="3340253"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Intrare</a:t>
            </a:r>
          </a:p>
        </p:txBody>
      </p:sp>
      <p:sp>
        <p:nvSpPr>
          <p:cNvPr id="205" name="The question provides a hierarchy of sizes: the red ball is larger than the blue ball, and the blue ball is larger than the green ball. By comparing these relationships, we can determine the order of sizes as red &gt; blue &gt; green. Since the green ball is a"/>
          <p:cNvSpPr txBox="1"/>
          <p:nvPr/>
        </p:nvSpPr>
        <p:spPr>
          <a:xfrm>
            <a:off x="13114797" y="6873260"/>
            <a:ext cx="9118129" cy="494284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solidFill>
                  <a:srgbClr val="111111"/>
                </a:solidFill>
                <a:latin typeface="+mj-lt"/>
                <a:ea typeface="+mj-ea"/>
                <a:cs typeface="+mj-cs"/>
                <a:sym typeface="Helvetica"/>
              </a:defRPr>
            </a:lvl1pPr>
          </a:lstStyle>
          <a:p>
            <a:pPr/>
            <a:r>
              <a:t>The question provides a hierarchy of sizes: the red ball is larger than the blue ball, and the blue ball is larger than the green ball. By comparing these relationships, we can determine the order of sizes as red &gt; blue &gt; green. Since the green ball is at the bottom of this hierarchy, it is the smallest among the three. Therefore, the answer is the green ball.</a:t>
            </a:r>
          </a:p>
        </p:txBody>
      </p:sp>
      <p:sp>
        <p:nvSpPr>
          <p:cNvPr id="206" name="Ieșire"/>
          <p:cNvSpPr txBox="1"/>
          <p:nvPr/>
        </p:nvSpPr>
        <p:spPr>
          <a:xfrm>
            <a:off x="16003736" y="5416879"/>
            <a:ext cx="3340252"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Ieșire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Pregătirea datelor"/>
          <p:cNvSpPr txBox="1"/>
          <p:nvPr>
            <p:ph type="title"/>
          </p:nvPr>
        </p:nvSpPr>
        <p:spPr>
          <a:xfrm>
            <a:off x="1219200" y="558825"/>
            <a:ext cx="21945600" cy="1727201"/>
          </a:xfrm>
          <a:prstGeom prst="rect">
            <a:avLst/>
          </a:prstGeom>
        </p:spPr>
        <p:txBody>
          <a:bodyPr/>
          <a:lstStyle/>
          <a:p>
            <a:pPr/>
            <a:r>
              <a:t>Pregătirea datelor</a:t>
            </a:r>
          </a:p>
        </p:txBody>
      </p:sp>
      <p:pic>
        <p:nvPicPr>
          <p:cNvPr id="209"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11" name="If a red ball is larger than a blue ball, and the blue ball is larger than a green ball, which ball is the smallest?"/>
          <p:cNvSpPr txBox="1"/>
          <p:nvPr/>
        </p:nvSpPr>
        <p:spPr>
          <a:xfrm>
            <a:off x="1371797" y="3935660"/>
            <a:ext cx="9227403" cy="356425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and the blue ball is larger than a green ball, which ball is the smallest?</a:t>
            </a:r>
          </a:p>
        </p:txBody>
      </p:sp>
      <p:sp>
        <p:nvSpPr>
          <p:cNvPr id="212" name="Intrare"/>
          <p:cNvSpPr txBox="1"/>
          <p:nvPr/>
        </p:nvSpPr>
        <p:spPr>
          <a:xfrm>
            <a:off x="3955912" y="2785093"/>
            <a:ext cx="3340252"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Intrare</a:t>
            </a:r>
          </a:p>
        </p:txBody>
      </p:sp>
      <p:sp>
        <p:nvSpPr>
          <p:cNvPr id="213" name="The question provides a hierarchy of sizes: the red ball is larger than the blue ball, and the blue ball is larger than the green ball. By comparing these relationships, we can determine the order of sizes as red &gt; blue &gt; green. Since the green ball is a"/>
          <p:cNvSpPr txBox="1"/>
          <p:nvPr/>
        </p:nvSpPr>
        <p:spPr>
          <a:xfrm>
            <a:off x="13057198" y="3935660"/>
            <a:ext cx="9118128" cy="494284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solidFill>
                  <a:srgbClr val="111111"/>
                </a:solidFill>
                <a:latin typeface="+mj-lt"/>
                <a:ea typeface="+mj-ea"/>
                <a:cs typeface="+mj-cs"/>
                <a:sym typeface="Helvetica"/>
              </a:defRPr>
            </a:lvl1pPr>
          </a:lstStyle>
          <a:p>
            <a:pPr/>
            <a:r>
              <a:t>The question provides a hierarchy of sizes: the red ball is larger than the blue ball, and the blue ball is larger than the green ball. By comparing these relationships, we can determine the order of sizes as red &gt; blue &gt; green. Since the green ball is at the bottom of this hierarchy, it is the smallest among the three. Therefore, the answer is the green ball.</a:t>
            </a:r>
          </a:p>
        </p:txBody>
      </p:sp>
      <p:sp>
        <p:nvSpPr>
          <p:cNvPr id="214" name="Ieșire"/>
          <p:cNvSpPr txBox="1"/>
          <p:nvPr/>
        </p:nvSpPr>
        <p:spPr>
          <a:xfrm>
            <a:off x="15946136" y="2479278"/>
            <a:ext cx="3340252" cy="11430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Ieșire</a:t>
            </a:r>
          </a:p>
        </p:txBody>
      </p:sp>
      <p:pic>
        <p:nvPicPr>
          <p:cNvPr id="215" name="Linie Linie" descr="Linie Linie"/>
          <p:cNvPicPr>
            <a:picLocks noChangeAspect="0"/>
          </p:cNvPicPr>
          <p:nvPr/>
        </p:nvPicPr>
        <p:blipFill>
          <a:blip r:embed="rId3">
            <a:extLst/>
          </a:blip>
          <a:stretch>
            <a:fillRect/>
          </a:stretch>
        </p:blipFill>
        <p:spPr>
          <a:xfrm>
            <a:off x="2232599" y="10207000"/>
            <a:ext cx="20219663" cy="101601"/>
          </a:xfrm>
          <a:prstGeom prst="rect">
            <a:avLst/>
          </a:prstGeom>
        </p:spPr>
      </p:pic>
      <p:sp>
        <p:nvSpPr>
          <p:cNvPr id="217" name="Pentru antrenare, avem nevoie de multe astfel de combinații de intrare-ieșire, în funcție de ce problemă vrem să rezolvăm!"/>
          <p:cNvSpPr txBox="1"/>
          <p:nvPr/>
        </p:nvSpPr>
        <p:spPr>
          <a:xfrm>
            <a:off x="1793486" y="10528135"/>
            <a:ext cx="20797028" cy="19822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Pentru antrenare, avem nevoie de multe astfel de combinații de intrare-ieșire, în funcție de ce problemă vrem să rezolvăm!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Pregătirea datelor"/>
          <p:cNvSpPr txBox="1"/>
          <p:nvPr>
            <p:ph type="title"/>
          </p:nvPr>
        </p:nvSpPr>
        <p:spPr>
          <a:xfrm>
            <a:off x="1219200" y="558825"/>
            <a:ext cx="21945600" cy="1727201"/>
          </a:xfrm>
          <a:prstGeom prst="rect">
            <a:avLst/>
          </a:prstGeom>
        </p:spPr>
        <p:txBody>
          <a:bodyPr/>
          <a:lstStyle/>
          <a:p>
            <a:pPr/>
            <a:r>
              <a:t>Pregătirea datelor</a:t>
            </a:r>
          </a:p>
        </p:txBody>
      </p:sp>
      <p:pic>
        <p:nvPicPr>
          <p:cNvPr id="220"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22" name="If a red ball is larger than a blue ball, and the blue ball is larger than a green ball, which ball is the smallest?"/>
          <p:cNvSpPr txBox="1"/>
          <p:nvPr/>
        </p:nvSpPr>
        <p:spPr>
          <a:xfrm>
            <a:off x="1371797" y="3935660"/>
            <a:ext cx="9227403" cy="356425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and the blue ball is larger than a green ball, which ball is the smallest?</a:t>
            </a:r>
          </a:p>
        </p:txBody>
      </p:sp>
      <p:sp>
        <p:nvSpPr>
          <p:cNvPr id="223" name="Intrare"/>
          <p:cNvSpPr txBox="1"/>
          <p:nvPr/>
        </p:nvSpPr>
        <p:spPr>
          <a:xfrm>
            <a:off x="3955912" y="2785093"/>
            <a:ext cx="3340252"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Intrare</a:t>
            </a:r>
          </a:p>
        </p:txBody>
      </p:sp>
      <p:sp>
        <p:nvSpPr>
          <p:cNvPr id="224" name="The question provides a hierarchy of sizes: the red ball is larger than the blue ball, and the blue ball is larger than the green ball. By comparing these relationships, we can determine the order of sizes as red &gt; blue &gt; green. Since the green ball is a"/>
          <p:cNvSpPr txBox="1"/>
          <p:nvPr/>
        </p:nvSpPr>
        <p:spPr>
          <a:xfrm>
            <a:off x="13057198" y="3935660"/>
            <a:ext cx="9118128" cy="494284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solidFill>
                  <a:srgbClr val="111111"/>
                </a:solidFill>
                <a:latin typeface="+mj-lt"/>
                <a:ea typeface="+mj-ea"/>
                <a:cs typeface="+mj-cs"/>
                <a:sym typeface="Helvetica"/>
              </a:defRPr>
            </a:lvl1pPr>
          </a:lstStyle>
          <a:p>
            <a:pPr/>
            <a:r>
              <a:t>The question provides a hierarchy of sizes: the red ball is larger than the blue ball, and the blue ball is larger than the green ball. By comparing these relationships, we can determine the order of sizes as red &gt; blue &gt; green. Since the green ball is at the bottom of this hierarchy, it is the smallest among the three. Therefore, the answer is the green ball.</a:t>
            </a:r>
          </a:p>
        </p:txBody>
      </p:sp>
      <p:sp>
        <p:nvSpPr>
          <p:cNvPr id="225" name="Ieșire"/>
          <p:cNvSpPr txBox="1"/>
          <p:nvPr/>
        </p:nvSpPr>
        <p:spPr>
          <a:xfrm>
            <a:off x="15946136" y="2479278"/>
            <a:ext cx="3340252" cy="11430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Ieșire</a:t>
            </a:r>
          </a:p>
        </p:txBody>
      </p:sp>
      <p:pic>
        <p:nvPicPr>
          <p:cNvPr id="226" name="Linie Linie" descr="Linie Linie"/>
          <p:cNvPicPr>
            <a:picLocks noChangeAspect="0"/>
          </p:cNvPicPr>
          <p:nvPr/>
        </p:nvPicPr>
        <p:blipFill>
          <a:blip r:embed="rId3">
            <a:extLst/>
          </a:blip>
          <a:stretch>
            <a:fillRect/>
          </a:stretch>
        </p:blipFill>
        <p:spPr>
          <a:xfrm>
            <a:off x="2232599" y="10207000"/>
            <a:ext cx="20219663" cy="101601"/>
          </a:xfrm>
          <a:prstGeom prst="rect">
            <a:avLst/>
          </a:prstGeom>
        </p:spPr>
      </p:pic>
      <p:sp>
        <p:nvSpPr>
          <p:cNvPr id="228" name="Spre exemplu, pentru language translation, am fi avut intrarea în limba sursă și ieșirea în limba destinație drept combinație intrare-ieșire"/>
          <p:cNvSpPr txBox="1"/>
          <p:nvPr/>
        </p:nvSpPr>
        <p:spPr>
          <a:xfrm>
            <a:off x="1793486" y="10528135"/>
            <a:ext cx="20797028" cy="19822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pentru language translation, am fi avut intrarea în limba sursă și ieșirea în limba destinație drept combinație intrare-ieșire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Pregătirea datelor"/>
          <p:cNvSpPr txBox="1"/>
          <p:nvPr>
            <p:ph type="title"/>
          </p:nvPr>
        </p:nvSpPr>
        <p:spPr>
          <a:xfrm>
            <a:off x="1219200" y="558825"/>
            <a:ext cx="21945600" cy="1727201"/>
          </a:xfrm>
          <a:prstGeom prst="rect">
            <a:avLst/>
          </a:prstGeom>
        </p:spPr>
        <p:txBody>
          <a:bodyPr/>
          <a:lstStyle/>
          <a:p>
            <a:pPr/>
            <a:r>
              <a:t>Pregătirea datelor</a:t>
            </a:r>
          </a:p>
        </p:txBody>
      </p:sp>
      <p:pic>
        <p:nvPicPr>
          <p:cNvPr id="231"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33" name="If a red ball is larger than a blue ball, and the blue ball is larger than a green ball, which ball is the smallest?"/>
          <p:cNvSpPr txBox="1"/>
          <p:nvPr/>
        </p:nvSpPr>
        <p:spPr>
          <a:xfrm>
            <a:off x="1371797" y="3935660"/>
            <a:ext cx="9227403" cy="356425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and the blue ball is larger than a green ball, which ball is the smallest?</a:t>
            </a:r>
          </a:p>
        </p:txBody>
      </p:sp>
      <p:sp>
        <p:nvSpPr>
          <p:cNvPr id="234" name="Intrare"/>
          <p:cNvSpPr txBox="1"/>
          <p:nvPr/>
        </p:nvSpPr>
        <p:spPr>
          <a:xfrm>
            <a:off x="3955912" y="2785093"/>
            <a:ext cx="3340252"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Intrare</a:t>
            </a:r>
          </a:p>
        </p:txBody>
      </p:sp>
      <p:sp>
        <p:nvSpPr>
          <p:cNvPr id="235" name="The question provides a hierarchy of sizes: the red ball is larger than the blue ball, and the blue ball is larger than the green ball. By comparing these relationships, we can determine the order of sizes as red &gt; blue &gt; green. Since the green ball is a"/>
          <p:cNvSpPr txBox="1"/>
          <p:nvPr/>
        </p:nvSpPr>
        <p:spPr>
          <a:xfrm>
            <a:off x="13057198" y="3935660"/>
            <a:ext cx="9118128" cy="494284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solidFill>
                  <a:srgbClr val="111111"/>
                </a:solidFill>
                <a:latin typeface="+mj-lt"/>
                <a:ea typeface="+mj-ea"/>
                <a:cs typeface="+mj-cs"/>
                <a:sym typeface="Helvetica"/>
              </a:defRPr>
            </a:lvl1pPr>
          </a:lstStyle>
          <a:p>
            <a:pPr/>
            <a:r>
              <a:t>The question provides a hierarchy of sizes: the red ball is larger than the blue ball, and the blue ball is larger than the green ball. By comparing these relationships, we can determine the order of sizes as red &gt; blue &gt; green. Since the green ball is at the bottom of this hierarchy, it is the smallest among the three. Therefore, the answer is the green ball.</a:t>
            </a:r>
          </a:p>
        </p:txBody>
      </p:sp>
      <p:sp>
        <p:nvSpPr>
          <p:cNvPr id="236" name="Ieșire"/>
          <p:cNvSpPr txBox="1"/>
          <p:nvPr/>
        </p:nvSpPr>
        <p:spPr>
          <a:xfrm>
            <a:off x="15946136" y="2479278"/>
            <a:ext cx="3340252" cy="11430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Ieșire</a:t>
            </a:r>
          </a:p>
        </p:txBody>
      </p:sp>
      <p:pic>
        <p:nvPicPr>
          <p:cNvPr id="237" name="Linie Linie" descr="Linie Linie"/>
          <p:cNvPicPr>
            <a:picLocks noChangeAspect="0"/>
          </p:cNvPicPr>
          <p:nvPr/>
        </p:nvPicPr>
        <p:blipFill>
          <a:blip r:embed="rId3">
            <a:extLst/>
          </a:blip>
          <a:stretch>
            <a:fillRect/>
          </a:stretch>
        </p:blipFill>
        <p:spPr>
          <a:xfrm>
            <a:off x="2232599" y="10207000"/>
            <a:ext cx="20219663" cy="101601"/>
          </a:xfrm>
          <a:prstGeom prst="rect">
            <a:avLst/>
          </a:prstGeom>
        </p:spPr>
      </p:pic>
      <p:sp>
        <p:nvSpPr>
          <p:cNvPr id="239" name="Transformerul este alcătuit din două componente: codificatorul pentru procesarea intrării, respectiv decodificatorul pentru obținerea ieșirii"/>
          <p:cNvSpPr txBox="1"/>
          <p:nvPr/>
        </p:nvSpPr>
        <p:spPr>
          <a:xfrm>
            <a:off x="1793486" y="10528135"/>
            <a:ext cx="20797028" cy="19822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Transformerul este alcătuit din două componente: codificatorul pentru procesarea intrării, respectiv decodificatorul pentru obținerea ieșirii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Codificatorul"/>
          <p:cNvSpPr txBox="1"/>
          <p:nvPr>
            <p:ph type="title"/>
          </p:nvPr>
        </p:nvSpPr>
        <p:spPr>
          <a:xfrm>
            <a:off x="1219200" y="558825"/>
            <a:ext cx="21945600" cy="1727201"/>
          </a:xfrm>
          <a:prstGeom prst="rect">
            <a:avLst/>
          </a:prstGeom>
        </p:spPr>
        <p:txBody>
          <a:bodyPr/>
          <a:lstStyle/>
          <a:p>
            <a:pPr/>
            <a:r>
              <a:t>Codificatorul</a:t>
            </a:r>
          </a:p>
        </p:txBody>
      </p:sp>
      <p:pic>
        <p:nvPicPr>
          <p:cNvPr id="242"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44" name="If a red ball is larger than a blue ball, and the blue ball is larger than a green ball, which ball is the smallest?"/>
          <p:cNvSpPr txBox="1"/>
          <p:nvPr/>
        </p:nvSpPr>
        <p:spPr>
          <a:xfrm>
            <a:off x="7578299" y="3705260"/>
            <a:ext cx="9227403" cy="356425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and the blue ball is larger than a green ball, which ball is the smallest?</a:t>
            </a:r>
          </a:p>
        </p:txBody>
      </p:sp>
      <p:sp>
        <p:nvSpPr>
          <p:cNvPr id="245" name="Intrare"/>
          <p:cNvSpPr txBox="1"/>
          <p:nvPr/>
        </p:nvSpPr>
        <p:spPr>
          <a:xfrm>
            <a:off x="10162413" y="2554693"/>
            <a:ext cx="3340252"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Intrare</a:t>
            </a:r>
          </a:p>
        </p:txBody>
      </p:sp>
      <p:sp>
        <p:nvSpPr>
          <p:cNvPr id="246" name="Pasul 1: Textul e preprocesat dacă este nevoie, să zicem că vrem să transformăm doar literele mari în litere mici"/>
          <p:cNvSpPr txBox="1"/>
          <p:nvPr>
            <p:ph type="body" sz="quarter" idx="1"/>
          </p:nvPr>
        </p:nvSpPr>
        <p:spPr>
          <a:xfrm>
            <a:off x="336888" y="7595767"/>
            <a:ext cx="22991303" cy="1796142"/>
          </a:xfrm>
          <a:prstGeom prst="rect">
            <a:avLst/>
          </a:prstGeom>
        </p:spPr>
        <p:txBody>
          <a:bodyPr/>
          <a:lstStyle/>
          <a:p>
            <a:pPr/>
            <a:r>
              <a:t>Pasul 1: Textul e preprocesat dacă este nevoie, să zicem că vrem să transformăm doar literele mari în litere mici</a:t>
            </a:r>
          </a:p>
        </p:txBody>
      </p:sp>
      <p:sp>
        <p:nvSpPr>
          <p:cNvPr id="247" name="Pasul 2: Textul e transformat în tokens"/>
          <p:cNvSpPr txBox="1"/>
          <p:nvPr/>
        </p:nvSpPr>
        <p:spPr>
          <a:xfrm>
            <a:off x="336888" y="9354767"/>
            <a:ext cx="22991303" cy="10783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Pasul 2: Textul e transformat în tokens</a:t>
            </a:r>
          </a:p>
        </p:txBody>
      </p:sp>
      <p:sp>
        <p:nvSpPr>
          <p:cNvPr id="248" name="[„if”, „a”, „red”, „ball”, „is”, „larger”, „than”, „a”, „blue”, „ball” „ , ”, „and”, „the”, „blue”, „ball”, „is”, „larger”, „than”, „a”, „green”, „ball” „ , ” „which”, „ball”, „is”, „the”, „smallest”, „?”]"/>
          <p:cNvSpPr txBox="1"/>
          <p:nvPr/>
        </p:nvSpPr>
        <p:spPr>
          <a:xfrm>
            <a:off x="1980050" y="10507403"/>
            <a:ext cx="19704978" cy="265557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 , ”, „and”, „the”, „blue”, „ball”, „is”, „larger”, „than”, „a”, „green”, „ball” „ , ” „which”, „ball”, „is”, „the”, „smallest”, „?”]</a:t>
            </a:r>
          </a:p>
        </p:txBody>
      </p:sp>
      <p:pic>
        <p:nvPicPr>
          <p:cNvPr id="249" name="Linie Linie" descr="Linie Linie"/>
          <p:cNvPicPr>
            <a:picLocks noChangeAspect="0"/>
          </p:cNvPicPr>
          <p:nvPr/>
        </p:nvPicPr>
        <p:blipFill>
          <a:blip r:embed="rId3">
            <a:extLst/>
          </a:blip>
          <a:stretch>
            <a:fillRect/>
          </a:stretch>
        </p:blipFill>
        <p:spPr>
          <a:xfrm>
            <a:off x="4843799" y="8443037"/>
            <a:ext cx="7666912" cy="101601"/>
          </a:xfrm>
          <a:prstGeom prst="rect">
            <a:avLst/>
          </a:prstGeom>
        </p:spPr>
      </p:pic>
      <p:pic>
        <p:nvPicPr>
          <p:cNvPr id="251" name="Linie Linie" descr="Linie Linie"/>
          <p:cNvPicPr>
            <a:picLocks noChangeAspect="0"/>
          </p:cNvPicPr>
          <p:nvPr/>
        </p:nvPicPr>
        <p:blipFill>
          <a:blip r:embed="rId4">
            <a:extLst/>
          </a:blip>
          <a:stretch>
            <a:fillRect/>
          </a:stretch>
        </p:blipFill>
        <p:spPr>
          <a:xfrm>
            <a:off x="5054999" y="10147410"/>
            <a:ext cx="566500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Codificatorul"/>
          <p:cNvSpPr txBox="1"/>
          <p:nvPr>
            <p:ph type="title"/>
          </p:nvPr>
        </p:nvSpPr>
        <p:spPr>
          <a:xfrm>
            <a:off x="1219200" y="558825"/>
            <a:ext cx="21945600" cy="1727201"/>
          </a:xfrm>
          <a:prstGeom prst="rect">
            <a:avLst/>
          </a:prstGeom>
        </p:spPr>
        <p:txBody>
          <a:bodyPr/>
          <a:lstStyle/>
          <a:p>
            <a:pPr/>
            <a:r>
              <a:t>Codificatorul</a:t>
            </a:r>
          </a:p>
        </p:txBody>
      </p:sp>
      <p:pic>
        <p:nvPicPr>
          <p:cNvPr id="255"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57" name="[„if”, „a”, „red”, „ball”, „is”, „larger”, „than”, „a”, „blue”, „ball” „ , ”, „and”, „the”, „blue”, „ball”, „is”, „larger”, „than”, „a”, „green”, „ball” „ , ” „which”, „ball”, „is”, „the”, „smallest”, „?”]"/>
          <p:cNvSpPr txBox="1"/>
          <p:nvPr/>
        </p:nvSpPr>
        <p:spPr>
          <a:xfrm>
            <a:off x="2339511" y="2635403"/>
            <a:ext cx="19704978" cy="2655571"/>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35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111111"/>
                </a:solidFill>
                <a:latin typeface="+mj-lt"/>
                <a:ea typeface="+mj-ea"/>
                <a:cs typeface="+mj-cs"/>
                <a:sym typeface="Helvetica"/>
              </a:defRPr>
            </a:lvl1pPr>
          </a:lstStyle>
          <a:p>
            <a:pPr/>
            <a:r>
              <a:t>[„if”, „a”, „red”, „ball”, „is”, „larger”, „than”, „a”, „blue”, „ball” „ , ”, „and”, „the”, „blue”, „ball”, „is”, „larger”, „than”, „a”, „green”, „ball” „ , ” „which”, „ball”, „is”, „the”, „smallest”, „?”]</a:t>
            </a:r>
          </a:p>
        </p:txBody>
      </p:sp>
      <p:sp>
        <p:nvSpPr>
          <p:cNvPr id="258" name="Pasul 3: Având acestea spuse, transformăm fiecare cuvânt în ID-ul lui corespunzător"/>
          <p:cNvSpPr txBox="1"/>
          <p:nvPr/>
        </p:nvSpPr>
        <p:spPr>
          <a:xfrm>
            <a:off x="696348" y="8365315"/>
            <a:ext cx="22991304" cy="10783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Pasul 3: Având acestea spuse, transformăm fiecare cuvânt în ID-ul lui corespunzător</a:t>
            </a:r>
          </a:p>
        </p:txBody>
      </p:sp>
      <p:sp>
        <p:nvSpPr>
          <p:cNvPr id="259" name="Până în acest punct, trebuie să cunoaștem dimensiunea vocabularului nostru, adică cu ce cuvinte lucrăm, respectiv care sunt cuvintele unknown"/>
          <p:cNvSpPr txBox="1"/>
          <p:nvPr/>
        </p:nvSpPr>
        <p:spPr>
          <a:xfrm>
            <a:off x="696348" y="5561187"/>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Până în acest punct, trebuie să cunoaștem dimensiunea vocabularului nostru, adică cu ce cuvinte lucrăm, respectiv care sunt cuvintele unknown</a:t>
            </a:r>
          </a:p>
        </p:txBody>
      </p:sp>
      <p:sp>
        <p:nvSpPr>
          <p:cNvPr id="260" name="De asemenea, trebuie să știm pentru fiecare cuvânt și ID-ul lui"/>
          <p:cNvSpPr txBox="1"/>
          <p:nvPr/>
        </p:nvSpPr>
        <p:spPr>
          <a:xfrm>
            <a:off x="696348" y="7281788"/>
            <a:ext cx="22991304" cy="11983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asemenea, trebuie să știm pentru fiecare cuvânt și ID-ul lui</a:t>
            </a:r>
          </a:p>
        </p:txBody>
      </p:sp>
      <p:sp>
        <p:nvSpPr>
          <p:cNvPr id="261" name="[2, 3, 4, 5, 6, 7, 8, 3, 9, 5, 10, 11, 12, 9, 5, 6, 7, 8, 3, 13, 5, 10, 14, 5, 6, 12, 15, 16]"/>
          <p:cNvSpPr txBox="1"/>
          <p:nvPr/>
        </p:nvSpPr>
        <p:spPr>
          <a:xfrm>
            <a:off x="3628847" y="10118199"/>
            <a:ext cx="17977918" cy="1035813"/>
          </a:xfrm>
          <a:prstGeom prst="rect">
            <a:avLst/>
          </a:prstGeom>
          <a:ln w="1016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 3, 4, 5, 6, 7, 8, 3, 9, 5, 10, 11, 12, 9, 5, 6, 7, 8, 3, 13, 5, 10, 14, 5, 6, 12, 15, 16]</a:t>
            </a:r>
          </a:p>
        </p:txBody>
      </p:sp>
      <p:pic>
        <p:nvPicPr>
          <p:cNvPr id="262" name="Linie Linie" descr="Linie Linie"/>
          <p:cNvPicPr>
            <a:picLocks noChangeAspect="0"/>
          </p:cNvPicPr>
          <p:nvPr/>
        </p:nvPicPr>
        <p:blipFill>
          <a:blip r:embed="rId3">
            <a:extLst/>
          </a:blip>
          <a:stretch>
            <a:fillRect/>
          </a:stretch>
        </p:blipFill>
        <p:spPr>
          <a:xfrm>
            <a:off x="8722199" y="9222981"/>
            <a:ext cx="1389227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Codificatorul"/>
          <p:cNvSpPr txBox="1"/>
          <p:nvPr>
            <p:ph type="title"/>
          </p:nvPr>
        </p:nvSpPr>
        <p:spPr>
          <a:xfrm>
            <a:off x="1219200" y="558825"/>
            <a:ext cx="21945600" cy="1727201"/>
          </a:xfrm>
          <a:prstGeom prst="rect">
            <a:avLst/>
          </a:prstGeom>
        </p:spPr>
        <p:txBody>
          <a:bodyPr/>
          <a:lstStyle/>
          <a:p>
            <a:pPr/>
            <a:r>
              <a:t>Codificatorul</a:t>
            </a:r>
          </a:p>
        </p:txBody>
      </p:sp>
      <p:pic>
        <p:nvPicPr>
          <p:cNvPr id="266"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68" name="[2, 3, 4, 5, 6, 7, 8, 3, 9, 5, 10, 11, 12, 9, 5, 6, 7, 8, 3, 13, 5, 10, 14, 5, 6, 12, 15, 16]"/>
          <p:cNvSpPr txBox="1"/>
          <p:nvPr/>
        </p:nvSpPr>
        <p:spPr>
          <a:xfrm>
            <a:off x="3203041" y="2918199"/>
            <a:ext cx="17977918" cy="1035813"/>
          </a:xfrm>
          <a:prstGeom prst="rect">
            <a:avLst/>
          </a:prstGeom>
          <a:ln w="1016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 3, 4, 5, 6, 7, 8, 3, 9, 5, 10, 11, 12, 9, 5, 6, 7, 8, 3, 13, 5, 10, 14, 5, 6, 12, 15, 16]</a:t>
            </a:r>
          </a:p>
        </p:txBody>
      </p:sp>
      <p:sp>
        <p:nvSpPr>
          <p:cNvPr id="269" name="Acum, vom realiza o mică rețea care va învăța pentru fiecare cuvânt din vocabular o reprezentare abstractă numită word embedding"/>
          <p:cNvSpPr txBox="1"/>
          <p:nvPr/>
        </p:nvSpPr>
        <p:spPr>
          <a:xfrm>
            <a:off x="696348" y="4368998"/>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Acum, vom realiza o mică rețea care va învăța pentru fiecare cuvânt din vocabular o reprezentare abstractă numită word embedding</a:t>
            </a:r>
          </a:p>
        </p:txBody>
      </p:sp>
      <p:sp>
        <p:nvSpPr>
          <p:cNvPr id="270" name="Vom avea o matrice cu dimensiunea (lungime vocabular, dimensiunea word embedding-urilor)"/>
          <p:cNvSpPr txBox="1"/>
          <p:nvPr/>
        </p:nvSpPr>
        <p:spPr>
          <a:xfrm>
            <a:off x="696348" y="7581460"/>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Vom avea o matrice cu dimensiunea (lungime vocabular, dimensiunea word embedding-urilor)</a:t>
            </a:r>
          </a:p>
        </p:txBody>
      </p:sp>
      <p:sp>
        <p:nvSpPr>
          <p:cNvPr id="271" name="Mai bine spus, pentru fiecare cuvânt din vocabular se învață un vector care să reprezinte acel cuvânt"/>
          <p:cNvSpPr txBox="1"/>
          <p:nvPr/>
        </p:nvSpPr>
        <p:spPr>
          <a:xfrm>
            <a:off x="696348" y="6061075"/>
            <a:ext cx="22991304" cy="21577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bine spus, pentru fiecare cuvânt din vocabular se învață un vector care să reprezinte acel cuvânt</a:t>
            </a:r>
          </a:p>
        </p:txBody>
      </p:sp>
      <p:sp>
        <p:nvSpPr>
          <p:cNvPr id="272" name="De exemplu, pentru un cuvântul cu ID-ul 2 din vocabular, și dimensiunea word embedding-urilor de 5, se poate învață următoare reprezentare:"/>
          <p:cNvSpPr txBox="1"/>
          <p:nvPr/>
        </p:nvSpPr>
        <p:spPr>
          <a:xfrm>
            <a:off x="696348" y="9133923"/>
            <a:ext cx="22991304" cy="21577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exemplu, pentru un cuvântul cu ID-ul 2 din vocabular, și dimensiunea word embedding-urilor de 5, se poate învață următoare reprezentare:</a:t>
            </a:r>
          </a:p>
        </p:txBody>
      </p:sp>
      <p:sp>
        <p:nvSpPr>
          <p:cNvPr id="273" name="w[2] = [1, 0.2, 0.5, 0.8, 0.3]"/>
          <p:cNvSpPr txBox="1"/>
          <p:nvPr/>
        </p:nvSpPr>
        <p:spPr>
          <a:xfrm>
            <a:off x="8826754" y="11183494"/>
            <a:ext cx="673049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w[2] = [1, 0.2, 0.5, 0.8, 0.3]</a:t>
            </a:r>
          </a:p>
        </p:txBody>
      </p:sp>
      <p:pic>
        <p:nvPicPr>
          <p:cNvPr id="274" name="Linie Linie" descr="Linie Linie"/>
          <p:cNvPicPr>
            <a:picLocks noChangeAspect="0"/>
          </p:cNvPicPr>
          <p:nvPr/>
        </p:nvPicPr>
        <p:blipFill>
          <a:blip r:embed="rId2">
            <a:extLst/>
          </a:blip>
          <a:stretch>
            <a:fillRect/>
          </a:stretch>
        </p:blipFill>
        <p:spPr>
          <a:xfrm>
            <a:off x="3019799" y="5217202"/>
            <a:ext cx="6268759" cy="101601"/>
          </a:xfrm>
          <a:prstGeom prst="rect">
            <a:avLst/>
          </a:prstGeom>
        </p:spPr>
      </p:pic>
      <p:pic>
        <p:nvPicPr>
          <p:cNvPr id="276" name="Linie Linie" descr="Linie Linie"/>
          <p:cNvPicPr>
            <a:picLocks noChangeAspect="0"/>
          </p:cNvPicPr>
          <p:nvPr/>
        </p:nvPicPr>
        <p:blipFill>
          <a:blip r:embed="rId3">
            <a:extLst/>
          </a:blip>
          <a:stretch>
            <a:fillRect/>
          </a:stretch>
        </p:blipFill>
        <p:spPr>
          <a:xfrm>
            <a:off x="13994800" y="6807200"/>
            <a:ext cx="5217354" cy="101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Codificatorul"/>
          <p:cNvSpPr txBox="1"/>
          <p:nvPr>
            <p:ph type="title"/>
          </p:nvPr>
        </p:nvSpPr>
        <p:spPr>
          <a:xfrm>
            <a:off x="1219200" y="558825"/>
            <a:ext cx="21945600" cy="1727201"/>
          </a:xfrm>
          <a:prstGeom prst="rect">
            <a:avLst/>
          </a:prstGeom>
        </p:spPr>
        <p:txBody>
          <a:bodyPr/>
          <a:lstStyle/>
          <a:p>
            <a:pPr/>
            <a:r>
              <a:t>Codificatorul</a:t>
            </a:r>
          </a:p>
        </p:txBody>
      </p:sp>
      <p:pic>
        <p:nvPicPr>
          <p:cNvPr id="280"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82" name="[2, 3, 4, 5, 6, 7, 8, 3, 9, 5, 10, 11, 12, 9, 5, 6, 7, 8, 3, 13, 5, 10, 14, 5, 6, 12, 15, 16]"/>
          <p:cNvSpPr txBox="1"/>
          <p:nvPr/>
        </p:nvSpPr>
        <p:spPr>
          <a:xfrm>
            <a:off x="3203041" y="2918199"/>
            <a:ext cx="17977918" cy="1035813"/>
          </a:xfrm>
          <a:prstGeom prst="rect">
            <a:avLst/>
          </a:prstGeom>
          <a:ln w="1016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 3, 4, 5, 6, 7, 8, 3, 9, 5, 10, 11, 12, 9, 5, 6, 7, 8, 3, 13, 5, 10, 14, 5, 6, 12, 15, 16]</a:t>
            </a:r>
          </a:p>
        </p:txBody>
      </p:sp>
      <p:sp>
        <p:nvSpPr>
          <p:cNvPr id="283" name="Ce trebuie să știm este că acești vectori sunt învăți la antrenare, prin backpropagation"/>
          <p:cNvSpPr txBox="1"/>
          <p:nvPr/>
        </p:nvSpPr>
        <p:spPr>
          <a:xfrm>
            <a:off x="696348" y="4733798"/>
            <a:ext cx="22991304" cy="1137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Ce trebuie să știm este că acești vectori sunt învăți la antrenare, prin backpropagation</a:t>
            </a:r>
          </a:p>
        </p:txBody>
      </p:sp>
      <p:sp>
        <p:nvSpPr>
          <p:cNvPr id="284" name="Inițial, ei sunt inițializați oarecum „random” dar nu vor exista 2 cuvinte cu același word embedding, deoarece cuvintele trebuie să fie unice"/>
          <p:cNvSpPr txBox="1"/>
          <p:nvPr/>
        </p:nvSpPr>
        <p:spPr>
          <a:xfrm>
            <a:off x="696348" y="5820798"/>
            <a:ext cx="22991304" cy="21627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Inițial, ei sunt inițializați oarecum „random” dar nu vor exista 2 cuvinte cu același word embedding, deoarece cuvintele trebuie să fie unice</a:t>
            </a:r>
          </a:p>
        </p:txBody>
      </p:sp>
      <p:sp>
        <p:nvSpPr>
          <p:cNvPr id="285" name="Să zicem că dimensionalitatea word embedding-ului este aleasă ca 3, pentru simplitate"/>
          <p:cNvSpPr txBox="1"/>
          <p:nvPr/>
        </p:nvSpPr>
        <p:spPr>
          <a:xfrm>
            <a:off x="696348" y="7643018"/>
            <a:ext cx="22991304" cy="1137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Să zicem că dimensionalitatea word embedding-ului este aleasă ca 3, pentru simplitate</a:t>
            </a:r>
          </a:p>
        </p:txBody>
      </p:sp>
      <p:sp>
        <p:nvSpPr>
          <p:cNvPr id="286" name="Haideți să vedem cum se transformă textul de mai sus, după înlocuirea fiecărui cuvânt cu word embedding-ul corespunzător"/>
          <p:cNvSpPr txBox="1"/>
          <p:nvPr/>
        </p:nvSpPr>
        <p:spPr>
          <a:xfrm>
            <a:off x="696348" y="8790411"/>
            <a:ext cx="22991304" cy="21627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Haideți să vedem cum se transformă textul de mai sus, după înlocuirea fiecărui cuvânt cu word embedding-ul corespunzător</a:t>
            </a:r>
          </a:p>
        </p:txBody>
      </p:sp>
      <p:pic>
        <p:nvPicPr>
          <p:cNvPr id="287" name="Linie Linie" descr="Linie Linie"/>
          <p:cNvPicPr>
            <a:picLocks noChangeAspect="0"/>
          </p:cNvPicPr>
          <p:nvPr/>
        </p:nvPicPr>
        <p:blipFill>
          <a:blip r:embed="rId3">
            <a:extLst/>
          </a:blip>
          <a:stretch>
            <a:fillRect/>
          </a:stretch>
        </p:blipFill>
        <p:spPr>
          <a:xfrm>
            <a:off x="7704599" y="5487418"/>
            <a:ext cx="946533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Codificatorul"/>
          <p:cNvSpPr txBox="1"/>
          <p:nvPr>
            <p:ph type="title"/>
          </p:nvPr>
        </p:nvSpPr>
        <p:spPr>
          <a:xfrm>
            <a:off x="1219200" y="558825"/>
            <a:ext cx="21945600" cy="1727201"/>
          </a:xfrm>
          <a:prstGeom prst="rect">
            <a:avLst/>
          </a:prstGeom>
        </p:spPr>
        <p:txBody>
          <a:bodyPr/>
          <a:lstStyle/>
          <a:p>
            <a:pPr/>
            <a:r>
              <a:t>Codificatorul</a:t>
            </a:r>
          </a:p>
        </p:txBody>
      </p:sp>
      <p:pic>
        <p:nvPicPr>
          <p:cNvPr id="291"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293"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294" name="Ajungem la reprezentările din stânga"/>
          <p:cNvSpPr txBox="1"/>
          <p:nvPr/>
        </p:nvSpPr>
        <p:spPr>
          <a:xfrm>
            <a:off x="5496349" y="2622093"/>
            <a:ext cx="10175677" cy="1137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Ajungem la reprezentările din stânga</a:t>
            </a:r>
          </a:p>
        </p:txBody>
      </p:sp>
      <p:sp>
        <p:nvSpPr>
          <p:cNvPr id="295" name="Haideți să ne uităm la reprezentarea obținută, dar mai ales la reprezentarea cuvintelor identice din aceeași propoziție, de exemplu la cuvântul „ball”"/>
          <p:cNvSpPr txBox="1"/>
          <p:nvPr/>
        </p:nvSpPr>
        <p:spPr>
          <a:xfrm>
            <a:off x="5477149" y="3824293"/>
            <a:ext cx="18101753" cy="28454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Haideți să ne uităm la reprezentarea obținută, dar mai ales la reprezentarea cuvintelor identice din aceeași propoziție, de exemplu la cuvântul „ball”</a:t>
            </a:r>
          </a:p>
        </p:txBody>
      </p:sp>
      <p:sp>
        <p:nvSpPr>
          <p:cNvPr id="296"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297"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298"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299"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00"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01" name="În acest caz, ball primește mai multe sensuri, deși are același word embedding: uneori se referă la mingea roșie, altă dată la mingea albastră, uneori la mingea verde și în final, e folosit în contextul unei întrebări"/>
          <p:cNvSpPr txBox="1"/>
          <p:nvPr/>
        </p:nvSpPr>
        <p:spPr>
          <a:xfrm>
            <a:off x="5477149" y="6408143"/>
            <a:ext cx="18101753" cy="34535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ball primește mai multe sensuri, deși are același word embedding: uneori se referă la mingea roșie, altă dată la mingea albastră, uneori la mingea verde și în final, e folosit în contextul unei întrebări</a:t>
            </a:r>
          </a:p>
        </p:txBody>
      </p:sp>
      <p:sp>
        <p:nvSpPr>
          <p:cNvPr id="302" name="Dacă folosim același word embedding peste tot, modelul nu va face diferența între diferitele sensuri pe care le ia cuvântul pe parcursul propoziției"/>
          <p:cNvSpPr txBox="1"/>
          <p:nvPr/>
        </p:nvSpPr>
        <p:spPr>
          <a:xfrm>
            <a:off x="5477149" y="9818299"/>
            <a:ext cx="18101753" cy="26887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Dacă folosim același word embedding peste tot, modelul nu va face diferența între diferitele sensuri pe care le ia cuvântul pe parcursul propoziției</a:t>
            </a:r>
          </a:p>
        </p:txBody>
      </p:sp>
      <p:pic>
        <p:nvPicPr>
          <p:cNvPr id="303" name="Linie Linie" descr="Linie Linie"/>
          <p:cNvPicPr>
            <a:picLocks noChangeAspect="0"/>
          </p:cNvPicPr>
          <p:nvPr/>
        </p:nvPicPr>
        <p:blipFill>
          <a:blip r:embed="rId3">
            <a:extLst/>
          </a:blip>
          <a:stretch>
            <a:fillRect/>
          </a:stretch>
        </p:blipFill>
        <p:spPr>
          <a:xfrm>
            <a:off x="18389905" y="10554802"/>
            <a:ext cx="4929370" cy="101601"/>
          </a:xfrm>
          <a:prstGeom prst="rect">
            <a:avLst/>
          </a:prstGeom>
        </p:spPr>
      </p:pic>
      <p:pic>
        <p:nvPicPr>
          <p:cNvPr id="305" name="Linie Linie" descr="Linie Linie"/>
          <p:cNvPicPr>
            <a:picLocks noChangeAspect="0"/>
          </p:cNvPicPr>
          <p:nvPr/>
        </p:nvPicPr>
        <p:blipFill>
          <a:blip r:embed="rId4">
            <a:extLst/>
          </a:blip>
          <a:stretch>
            <a:fillRect/>
          </a:stretch>
        </p:blipFill>
        <p:spPr>
          <a:xfrm>
            <a:off x="5938199" y="11292688"/>
            <a:ext cx="808804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Codificatorul"/>
          <p:cNvSpPr txBox="1"/>
          <p:nvPr>
            <p:ph type="title"/>
          </p:nvPr>
        </p:nvSpPr>
        <p:spPr>
          <a:xfrm>
            <a:off x="1219200" y="558825"/>
            <a:ext cx="21945600" cy="1727201"/>
          </a:xfrm>
          <a:prstGeom prst="rect">
            <a:avLst/>
          </a:prstGeom>
        </p:spPr>
        <p:txBody>
          <a:bodyPr/>
          <a:lstStyle/>
          <a:p>
            <a:pPr/>
            <a:r>
              <a:t>Codificatorul</a:t>
            </a:r>
          </a:p>
        </p:txBody>
      </p:sp>
      <p:pic>
        <p:nvPicPr>
          <p:cNvPr id="309"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311"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12" name="De fapt, ce vrem să facem este ca ordinea să conteze în propoziție"/>
          <p:cNvSpPr txBox="1"/>
          <p:nvPr/>
        </p:nvSpPr>
        <p:spPr>
          <a:xfrm>
            <a:off x="5496349" y="3182655"/>
            <a:ext cx="17761626" cy="1137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fapt, ce vrem să facem este ca ordinea să conteze în propoziție</a:t>
            </a:r>
          </a:p>
        </p:txBody>
      </p:sp>
      <p:sp>
        <p:nvSpPr>
          <p:cNvPr id="313"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14"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15"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16"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17"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18" name="Adică ce vrem să facem este deși „ball” are intrinsec același word embedding pentru toate aparițiile lui, să facem cumva ca fiecare apariție a lui să introducă „noutate”"/>
          <p:cNvSpPr txBox="1"/>
          <p:nvPr/>
        </p:nvSpPr>
        <p:spPr>
          <a:xfrm>
            <a:off x="5496349" y="6612161"/>
            <a:ext cx="17761626" cy="27946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Adică ce vrem să facem este deși „ball” are intrinsec același word embedding pentru toate aparițiile lui, să facem cumva ca fiecare apariție a lui să introducă „noutate”</a:t>
            </a:r>
          </a:p>
        </p:txBody>
      </p:sp>
      <p:sp>
        <p:nvSpPr>
          <p:cNvPr id="319" name="Momentan, nu există un sens al ordinii în propoziție, dacă am avea ceva de genul „the cat chased the mouse”, ar fi tratat la fel ca „the mouse chased the cat”"/>
          <p:cNvSpPr txBox="1"/>
          <p:nvPr/>
        </p:nvSpPr>
        <p:spPr>
          <a:xfrm>
            <a:off x="5496349" y="4176135"/>
            <a:ext cx="17761626" cy="27946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Momentan, nu există un sens al ordinii în propoziție, dacă am avea ceva de genul „the cat chased the mouse”, ar fi tratat la fel ca „the mouse chased the cat”</a:t>
            </a:r>
          </a:p>
        </p:txBody>
      </p:sp>
      <p:sp>
        <p:nvSpPr>
          <p:cNvPr id="320" name="Această noutate ne va ajuta să diferențiem între ball folosit în contextul red ball, blue ball, green ball sau dacă e folosit într-o întrebare"/>
          <p:cNvSpPr txBox="1"/>
          <p:nvPr/>
        </p:nvSpPr>
        <p:spPr>
          <a:xfrm>
            <a:off x="5496349" y="9079979"/>
            <a:ext cx="17761626" cy="27946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Această noutate ne va ajuta să diferențiem între ball folosit în contextul red ball, blue ball, green ball sau dacă e folosit într-o întrebare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Codificatorul"/>
          <p:cNvSpPr txBox="1"/>
          <p:nvPr>
            <p:ph type="title"/>
          </p:nvPr>
        </p:nvSpPr>
        <p:spPr>
          <a:xfrm>
            <a:off x="1219200" y="558825"/>
            <a:ext cx="21945600" cy="1727201"/>
          </a:xfrm>
          <a:prstGeom prst="rect">
            <a:avLst/>
          </a:prstGeom>
        </p:spPr>
        <p:txBody>
          <a:bodyPr/>
          <a:lstStyle/>
          <a:p>
            <a:pPr/>
            <a:r>
              <a:t>Codificatorul</a:t>
            </a:r>
          </a:p>
        </p:txBody>
      </p:sp>
      <p:pic>
        <p:nvPicPr>
          <p:cNvPr id="323"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325"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26" name="Această noutate pe care încercăm să o adăugăm se realizează prin positional encodings"/>
          <p:cNvSpPr txBox="1"/>
          <p:nvPr/>
        </p:nvSpPr>
        <p:spPr>
          <a:xfrm>
            <a:off x="5477149" y="2727682"/>
            <a:ext cx="17761626" cy="2023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Această noutate pe care încercăm să o adăugăm se realizează prin positional encodings</a:t>
            </a:r>
          </a:p>
        </p:txBody>
      </p:sp>
      <p:sp>
        <p:nvSpPr>
          <p:cNvPr id="327"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28"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29"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30"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31"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332" name="Captură de ecran din 2024-12-15 la 23.35.36.png" descr="Captură de ecran din 2024-12-15 la 23.35.36.png"/>
          <p:cNvPicPr>
            <a:picLocks noChangeAspect="1"/>
          </p:cNvPicPr>
          <p:nvPr/>
        </p:nvPicPr>
        <p:blipFill>
          <a:blip r:embed="rId3">
            <a:extLst/>
          </a:blip>
          <a:stretch>
            <a:fillRect/>
          </a:stretch>
        </p:blipFill>
        <p:spPr>
          <a:xfrm>
            <a:off x="8709749" y="6876514"/>
            <a:ext cx="11296425" cy="1605584"/>
          </a:xfrm>
          <a:prstGeom prst="rect">
            <a:avLst/>
          </a:prstGeom>
          <a:ln w="12700">
            <a:miter lim="400000"/>
          </a:ln>
        </p:spPr>
      </p:pic>
      <p:sp>
        <p:nvSpPr>
          <p:cNvPr id="333" name="Ce au descoperit cercetătorii, e că se pot obține aceste valori unice prin intermediul funcțiilor sinus și cosinus"/>
          <p:cNvSpPr txBox="1"/>
          <p:nvPr/>
        </p:nvSpPr>
        <p:spPr>
          <a:xfrm>
            <a:off x="5477149" y="4649882"/>
            <a:ext cx="17761626" cy="2023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Ce au descoperit cercetătorii, e că se pot obține aceste valori unice prin intermediul funcțiilor sinus și cosinus</a:t>
            </a:r>
          </a:p>
        </p:txBody>
      </p:sp>
      <p:sp>
        <p:nvSpPr>
          <p:cNvPr id="334" name="În acest caz,   reprezintă indicele cuvântului în propoziție,   reprezintă indicele dimensiunii din word embedding și   reprezintă dimensionalitate word embedding-ului"/>
          <p:cNvSpPr txBox="1"/>
          <p:nvPr/>
        </p:nvSpPr>
        <p:spPr>
          <a:xfrm>
            <a:off x="5642548" y="9114075"/>
            <a:ext cx="17761627" cy="32902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În acest caz, </a:t>
            </a:r>
            <a14:m>
              <m:oMath>
                <m:r>
                  <a:rPr xmlns:a="http://schemas.openxmlformats.org/drawingml/2006/main" sz="5200" i="1">
                    <a:solidFill>
                      <a:srgbClr val="000000"/>
                    </a:solidFill>
                    <a:latin typeface="Cambria Math" panose="02040503050406030204" pitchFamily="18" charset="0"/>
                  </a:rPr>
                  <m:t>i</m:t>
                </m:r>
              </m:oMath>
            </a14:m>
            <a:r>
              <a:t> reprezintă indicele cuvântului în propoziție, </a:t>
            </a:r>
            <a14:m>
              <m:oMath>
                <m:r>
                  <a:rPr xmlns:a="http://schemas.openxmlformats.org/drawingml/2006/main" sz="5200" i="1">
                    <a:solidFill>
                      <a:srgbClr val="000000"/>
                    </a:solidFill>
                    <a:latin typeface="Cambria Math" panose="02040503050406030204" pitchFamily="18" charset="0"/>
                  </a:rPr>
                  <m:t>j</m:t>
                </m:r>
              </m:oMath>
            </a14:m>
            <a:r>
              <a:t> reprezintă indicele dimensiunii din word embedding și </a:t>
            </a:r>
            <a14:m>
              <m:oMath>
                <m:r>
                  <a:rPr xmlns:a="http://schemas.openxmlformats.org/drawingml/2006/main" sz="5200" i="1">
                    <a:solidFill>
                      <a:srgbClr val="000000"/>
                    </a:solidFill>
                    <a:latin typeface="Cambria Math" panose="02040503050406030204" pitchFamily="18" charset="0"/>
                  </a:rPr>
                  <m:t>d</m:t>
                </m:r>
              </m:oMath>
            </a14:m>
            <a:r>
              <a:t> reprezintă dimensionalitate word embedding-ului</a:t>
            </a:r>
          </a:p>
        </p:txBody>
      </p:sp>
      <p:pic>
        <p:nvPicPr>
          <p:cNvPr id="335" name="Linie Linie" descr="Linie Linie"/>
          <p:cNvPicPr>
            <a:picLocks noChangeAspect="0"/>
          </p:cNvPicPr>
          <p:nvPr/>
        </p:nvPicPr>
        <p:blipFill>
          <a:blip r:embed="rId4">
            <a:extLst/>
          </a:blip>
          <a:stretch>
            <a:fillRect/>
          </a:stretch>
        </p:blipFill>
        <p:spPr>
          <a:xfrm>
            <a:off x="5842199" y="4345187"/>
            <a:ext cx="580885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Codificatorul"/>
          <p:cNvSpPr txBox="1"/>
          <p:nvPr>
            <p:ph type="title"/>
          </p:nvPr>
        </p:nvSpPr>
        <p:spPr>
          <a:xfrm>
            <a:off x="1219200" y="558825"/>
            <a:ext cx="21945600" cy="1727201"/>
          </a:xfrm>
          <a:prstGeom prst="rect">
            <a:avLst/>
          </a:prstGeom>
        </p:spPr>
        <p:txBody>
          <a:bodyPr/>
          <a:lstStyle/>
          <a:p>
            <a:pPr/>
            <a:r>
              <a:t>Codificatorul</a:t>
            </a:r>
          </a:p>
        </p:txBody>
      </p:sp>
      <p:pic>
        <p:nvPicPr>
          <p:cNvPr id="339"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341"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42"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43"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44"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45"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46"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347" name="Captură de ecran din 2024-12-15 la 23.35.36.png" descr="Captură de ecran din 2024-12-15 la 23.35.36.png"/>
          <p:cNvPicPr>
            <a:picLocks noChangeAspect="1"/>
          </p:cNvPicPr>
          <p:nvPr/>
        </p:nvPicPr>
        <p:blipFill>
          <a:blip r:embed="rId3">
            <a:extLst/>
          </a:blip>
          <a:stretch>
            <a:fillRect/>
          </a:stretch>
        </p:blipFill>
        <p:spPr>
          <a:xfrm>
            <a:off x="7864949" y="2460514"/>
            <a:ext cx="11296425" cy="1605584"/>
          </a:xfrm>
          <a:prstGeom prst="rect">
            <a:avLst/>
          </a:prstGeom>
          <a:ln w="12700">
            <a:miter lim="400000"/>
          </a:ln>
        </p:spPr>
      </p:pic>
      <p:sp>
        <p:nvSpPr>
          <p:cNvPr id="348" name="De exemplu să luăm prima apariție a cuvântului „ball”: [0.7, 0.8, 0.6]"/>
          <p:cNvSpPr txBox="1"/>
          <p:nvPr/>
        </p:nvSpPr>
        <p:spPr>
          <a:xfrm>
            <a:off x="5450549" y="4350870"/>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exemplu să luăm prima apariție a cuvântului „ball”: [0.7, 0.8, 0.6]</a:t>
            </a:r>
          </a:p>
        </p:txBody>
      </p:sp>
      <p:sp>
        <p:nvSpPr>
          <p:cNvPr id="349" name="Această apariție are indicele 3 în propoziția inițială"/>
          <p:cNvSpPr txBox="1"/>
          <p:nvPr/>
        </p:nvSpPr>
        <p:spPr>
          <a:xfrm>
            <a:off x="5450549" y="5389577"/>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Această apariție are indicele 3 în propoziția inițială</a:t>
            </a:r>
          </a:p>
        </p:txBody>
      </p:sp>
      <p:sp>
        <p:nvSpPr>
          <p:cNvPr id="350" name="Iterăm prin word embedding și actualizăm valorile:"/>
          <p:cNvSpPr txBox="1"/>
          <p:nvPr/>
        </p:nvSpPr>
        <p:spPr>
          <a:xfrm>
            <a:off x="5450549" y="6403632"/>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Iterăm prin word embedding și actualizăm valorile:</a:t>
            </a:r>
          </a:p>
        </p:txBody>
      </p:sp>
      <p:sp>
        <p:nvSpPr>
          <p:cNvPr id="351" name="Ecuație"/>
          <p:cNvSpPr txBox="1"/>
          <p:nvPr/>
        </p:nvSpPr>
        <p:spPr>
          <a:xfrm>
            <a:off x="6108655" y="7732836"/>
            <a:ext cx="14463413"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3</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3</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0.1</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oMath>
              </m:oMathPara>
            </a14:m>
            <a:endParaRPr sz="4400"/>
          </a:p>
        </p:txBody>
      </p:sp>
      <p:sp>
        <p:nvSpPr>
          <p:cNvPr id="352" name="Ecuație"/>
          <p:cNvSpPr txBox="1"/>
          <p:nvPr/>
        </p:nvSpPr>
        <p:spPr>
          <a:xfrm>
            <a:off x="6118829" y="9234654"/>
            <a:ext cx="17445542"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cos</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3</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cos</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3</m:t>
                          </m:r>
                        </m:num>
                        <m:den>
                          <m:r>
                            <a:rPr xmlns:a="http://schemas.openxmlformats.org/drawingml/2006/main" sz="4400" i="1">
                              <a:solidFill>
                                <a:srgbClr val="000000"/>
                              </a:solidFill>
                              <a:latin typeface="Cambria Math" panose="02040503050406030204" pitchFamily="18" charset="0"/>
                            </a:rPr>
                            <m:t>215.44</m:t>
                          </m:r>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0.2</m:t>
                  </m:r>
                </m:oMath>
              </m:oMathPara>
            </a14:m>
            <a:endParaRPr sz="4400"/>
          </a:p>
        </p:txBody>
      </p:sp>
      <p:sp>
        <p:nvSpPr>
          <p:cNvPr id="353" name="Ecuație"/>
          <p:cNvSpPr txBox="1"/>
          <p:nvPr/>
        </p:nvSpPr>
        <p:spPr>
          <a:xfrm>
            <a:off x="6070098" y="10858330"/>
            <a:ext cx="16522529"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3</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2</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3</m:t>
                          </m:r>
                        </m:num>
                        <m:den>
                          <m:r>
                            <a:rPr xmlns:a="http://schemas.openxmlformats.org/drawingml/2006/main" sz="4400" i="1">
                              <a:solidFill>
                                <a:srgbClr val="000000"/>
                              </a:solidFill>
                              <a:latin typeface="Cambria Math" panose="02040503050406030204" pitchFamily="18" charset="0"/>
                            </a:rPr>
                            <m:t>46415.89</m:t>
                          </m:r>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oMath>
              </m:oMathPara>
            </a14:m>
            <a:endParaRPr sz="4400"/>
          </a:p>
        </p:txBody>
      </p:sp>
      <p:sp>
        <p:nvSpPr>
          <p:cNvPr id="354" name="Obținem embedding-ul actualizat [0.8, -0.2, 0.6]"/>
          <p:cNvSpPr txBox="1"/>
          <p:nvPr/>
        </p:nvSpPr>
        <p:spPr>
          <a:xfrm>
            <a:off x="5450549" y="12482006"/>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Obținem embedding-ul actualizat [0.8, -0.2, 0.6]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Codificatorul"/>
          <p:cNvSpPr txBox="1"/>
          <p:nvPr>
            <p:ph type="title"/>
          </p:nvPr>
        </p:nvSpPr>
        <p:spPr>
          <a:xfrm>
            <a:off x="1219200" y="558825"/>
            <a:ext cx="21945600" cy="1727201"/>
          </a:xfrm>
          <a:prstGeom prst="rect">
            <a:avLst/>
          </a:prstGeom>
        </p:spPr>
        <p:txBody>
          <a:bodyPr/>
          <a:lstStyle/>
          <a:p>
            <a:pPr/>
            <a:r>
              <a:t>Codificatorul</a:t>
            </a:r>
          </a:p>
        </p:txBody>
      </p:sp>
      <p:pic>
        <p:nvPicPr>
          <p:cNvPr id="357"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359"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60"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61"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62"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63"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64"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365" name="Captură de ecran din 2024-12-15 la 23.35.36.png" descr="Captură de ecran din 2024-12-15 la 23.35.36.png"/>
          <p:cNvPicPr>
            <a:picLocks noChangeAspect="1"/>
          </p:cNvPicPr>
          <p:nvPr/>
        </p:nvPicPr>
        <p:blipFill>
          <a:blip r:embed="rId3">
            <a:extLst/>
          </a:blip>
          <a:stretch>
            <a:fillRect/>
          </a:stretch>
        </p:blipFill>
        <p:spPr>
          <a:xfrm>
            <a:off x="7864949" y="2460514"/>
            <a:ext cx="11296425" cy="1605584"/>
          </a:xfrm>
          <a:prstGeom prst="rect">
            <a:avLst/>
          </a:prstGeom>
          <a:ln w="12700">
            <a:miter lim="400000"/>
          </a:ln>
        </p:spPr>
      </p:pic>
      <p:sp>
        <p:nvSpPr>
          <p:cNvPr id="366" name="Haideți să luăm și a doua apariție a lui „ball”: [0.7, 0.8, 0.6]"/>
          <p:cNvSpPr txBox="1"/>
          <p:nvPr/>
        </p:nvSpPr>
        <p:spPr>
          <a:xfrm>
            <a:off x="5450549" y="4350870"/>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Haideți să luăm și a doua apariție a lui „ball”: [0.7, 0.8, 0.6]</a:t>
            </a:r>
          </a:p>
        </p:txBody>
      </p:sp>
      <p:sp>
        <p:nvSpPr>
          <p:cNvPr id="367" name="Această apariție are indicele 9 în propoziția inițială"/>
          <p:cNvSpPr txBox="1"/>
          <p:nvPr/>
        </p:nvSpPr>
        <p:spPr>
          <a:xfrm>
            <a:off x="5450549" y="5389577"/>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Această apariție are indicele 9 în propoziția inițială</a:t>
            </a:r>
          </a:p>
        </p:txBody>
      </p:sp>
      <p:sp>
        <p:nvSpPr>
          <p:cNvPr id="368" name="Iterăm prin word embedding și actualizăm valorile:"/>
          <p:cNvSpPr txBox="1"/>
          <p:nvPr/>
        </p:nvSpPr>
        <p:spPr>
          <a:xfrm>
            <a:off x="5450549" y="6403632"/>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Iterăm prin word embedding și actualizăm valorile:</a:t>
            </a:r>
          </a:p>
        </p:txBody>
      </p:sp>
      <p:sp>
        <p:nvSpPr>
          <p:cNvPr id="369" name="Ecuație"/>
          <p:cNvSpPr txBox="1"/>
          <p:nvPr/>
        </p:nvSpPr>
        <p:spPr>
          <a:xfrm>
            <a:off x="6108655" y="7732836"/>
            <a:ext cx="14434914"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9</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9</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0.7</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0.4</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1.1</m:t>
                  </m:r>
                </m:oMath>
              </m:oMathPara>
            </a14:m>
            <a:endParaRPr sz="4400"/>
          </a:p>
        </p:txBody>
      </p:sp>
      <p:sp>
        <p:nvSpPr>
          <p:cNvPr id="370" name="Ecuație"/>
          <p:cNvSpPr txBox="1"/>
          <p:nvPr/>
        </p:nvSpPr>
        <p:spPr>
          <a:xfrm>
            <a:off x="6118829" y="9234654"/>
            <a:ext cx="17400838"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cos</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9</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cos</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9</m:t>
                          </m:r>
                        </m:num>
                        <m:den>
                          <m:r>
                            <a:rPr xmlns:a="http://schemas.openxmlformats.org/drawingml/2006/main" sz="4400" i="1">
                              <a:solidFill>
                                <a:srgbClr val="000000"/>
                              </a:solidFill>
                              <a:latin typeface="Cambria Math" panose="02040503050406030204" pitchFamily="18" charset="0"/>
                            </a:rPr>
                            <m:t>215.44</m:t>
                          </m:r>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0.8</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0.9</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0.1</m:t>
                  </m:r>
                </m:oMath>
              </m:oMathPara>
            </a14:m>
            <a:endParaRPr sz="4400"/>
          </a:p>
        </p:txBody>
      </p:sp>
      <p:sp>
        <p:nvSpPr>
          <p:cNvPr id="371" name="Ecuație"/>
          <p:cNvSpPr txBox="1"/>
          <p:nvPr/>
        </p:nvSpPr>
        <p:spPr>
          <a:xfrm>
            <a:off x="6070098" y="10858330"/>
            <a:ext cx="16522529" cy="137464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9</m:t>
                          </m:r>
                        </m:num>
                        <m:den>
                          <m:sSup>
                            <m:e>
                              <m:r>
                                <a:rPr xmlns:a="http://schemas.openxmlformats.org/drawingml/2006/main" sz="4400" i="1">
                                  <a:solidFill>
                                    <a:srgbClr val="000000"/>
                                  </a:solidFill>
                                  <a:latin typeface="Cambria Math" panose="02040503050406030204" pitchFamily="18" charset="0"/>
                                </a:rPr>
                                <m:t>10000</m:t>
                              </m:r>
                            </m:e>
                            <m:sup>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2</m:t>
                                  </m:r>
                                </m:num>
                                <m:den>
                                  <m:r>
                                    <a:rPr xmlns:a="http://schemas.openxmlformats.org/drawingml/2006/main" sz="4400" i="1">
                                      <a:solidFill>
                                        <a:srgbClr val="000000"/>
                                      </a:solidFill>
                                      <a:latin typeface="Cambria Math" panose="02040503050406030204" pitchFamily="18" charset="0"/>
                                    </a:rPr>
                                    <m:t>3</m:t>
                                  </m:r>
                                </m:den>
                              </m:f>
                            </m:sup>
                          </m:sSup>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m:rPr>
                      <m:sty m:val="p"/>
                    </m:rPr>
                    <a:rPr xmlns:a="http://schemas.openxmlformats.org/drawingml/2006/main" sz="4400" i="1">
                      <a:solidFill>
                        <a:srgbClr val="000000"/>
                      </a:solidFill>
                      <a:latin typeface="Cambria Math" panose="02040503050406030204" pitchFamily="18" charset="0"/>
                    </a:rPr>
                    <m:t>sin</m:t>
                  </m:r>
                  <m:d>
                    <m:dPr>
                      <m:ctrlPr>
                        <a:rPr xmlns:a="http://schemas.openxmlformats.org/drawingml/2006/main" sz="4400" i="1">
                          <a:solidFill>
                            <a:srgbClr val="000000"/>
                          </a:solidFill>
                          <a:latin typeface="Cambria Math" panose="02040503050406030204" pitchFamily="18" charset="0"/>
                        </a:rPr>
                      </m:ctrlPr>
                    </m:dPr>
                    <m:e>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9</m:t>
                          </m:r>
                        </m:num>
                        <m:den>
                          <m:r>
                            <a:rPr xmlns:a="http://schemas.openxmlformats.org/drawingml/2006/main" sz="4400" i="1">
                              <a:solidFill>
                                <a:srgbClr val="000000"/>
                              </a:solidFill>
                              <a:latin typeface="Cambria Math" panose="02040503050406030204" pitchFamily="18" charset="0"/>
                            </a:rPr>
                            <m:t>46415.89</m:t>
                          </m:r>
                        </m:den>
                      </m:f>
                    </m:e>
                  </m:d>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0.6</m:t>
                  </m:r>
                </m:oMath>
              </m:oMathPara>
            </a14:m>
            <a:endParaRPr sz="4400"/>
          </a:p>
        </p:txBody>
      </p:sp>
      <p:sp>
        <p:nvSpPr>
          <p:cNvPr id="372" name="Obținem embedding-ul actualizat [1.1, -0.1, 0.6]"/>
          <p:cNvSpPr txBox="1"/>
          <p:nvPr/>
        </p:nvSpPr>
        <p:spPr>
          <a:xfrm>
            <a:off x="5450549" y="12482006"/>
            <a:ext cx="17761627" cy="1207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Obținem embedding-ul actualizat [1.1, -0.1, 0.6]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Codificatorul"/>
          <p:cNvSpPr txBox="1"/>
          <p:nvPr>
            <p:ph type="title"/>
          </p:nvPr>
        </p:nvSpPr>
        <p:spPr>
          <a:xfrm>
            <a:off x="1219200" y="558825"/>
            <a:ext cx="21945600" cy="1727201"/>
          </a:xfrm>
          <a:prstGeom prst="rect">
            <a:avLst/>
          </a:prstGeom>
        </p:spPr>
        <p:txBody>
          <a:bodyPr/>
          <a:lstStyle/>
          <a:p>
            <a:pPr/>
            <a:r>
              <a:t>Codificatorul</a:t>
            </a:r>
          </a:p>
        </p:txBody>
      </p:sp>
      <p:pic>
        <p:nvPicPr>
          <p:cNvPr id="375" name="Linie Linie" descr="Linie Linie"/>
          <p:cNvPicPr>
            <a:picLocks noChangeAspect="0"/>
          </p:cNvPicPr>
          <p:nvPr/>
        </p:nvPicPr>
        <p:blipFill>
          <a:blip r:embed="rId2">
            <a:extLst/>
          </a:blip>
          <a:stretch>
            <a:fillRect/>
          </a:stretch>
        </p:blipFill>
        <p:spPr>
          <a:xfrm>
            <a:off x="16402198" y="13983823"/>
            <a:ext cx="6268759" cy="101601"/>
          </a:xfrm>
          <a:prstGeom prst="rect">
            <a:avLst/>
          </a:prstGeom>
        </p:spPr>
      </p:pic>
      <p:sp>
        <p:nvSpPr>
          <p:cNvPr id="377" name="[…"/>
          <p:cNvSpPr txBox="1"/>
          <p:nvPr/>
        </p:nvSpPr>
        <p:spPr>
          <a:xfrm>
            <a:off x="1993441" y="1910851"/>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78" name="Dreptunghi"/>
          <p:cNvSpPr/>
          <p:nvPr/>
        </p:nvSpPr>
        <p:spPr>
          <a:xfrm>
            <a:off x="2052999" y="57379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79" name="Dreptunghi"/>
          <p:cNvSpPr/>
          <p:nvPr/>
        </p:nvSpPr>
        <p:spPr>
          <a:xfrm>
            <a:off x="2052999" y="76469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80" name="Dreptunghi"/>
          <p:cNvSpPr/>
          <p:nvPr/>
        </p:nvSpPr>
        <p:spPr>
          <a:xfrm>
            <a:off x="2052999" y="99627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81" name="Dreptunghi"/>
          <p:cNvSpPr/>
          <p:nvPr/>
        </p:nvSpPr>
        <p:spPr>
          <a:xfrm>
            <a:off x="2052999" y="3484138"/>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82" name="Dreptunghi"/>
          <p:cNvSpPr/>
          <p:nvPr/>
        </p:nvSpPr>
        <p:spPr>
          <a:xfrm>
            <a:off x="2052999" y="11088175"/>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83" name="Deja putem să facem diferența dintre „ball” la indicele 3 și „ball” la indicele 9"/>
          <p:cNvSpPr txBox="1"/>
          <p:nvPr/>
        </p:nvSpPr>
        <p:spPr>
          <a:xfrm>
            <a:off x="5373749" y="4323638"/>
            <a:ext cx="17761627" cy="20190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Deja putem să facem diferența dintre „ball” la indicele 3 și „ball” la indicele 9</a:t>
            </a:r>
          </a:p>
        </p:txBody>
      </p:sp>
      <p:sp>
        <p:nvSpPr>
          <p:cNvPr id="384" name="Am obținut [0.8, -0.2, 0.6] pentru prima apariție și [1.1, -0.1, 0.6] pentru a doua apariție"/>
          <p:cNvSpPr txBox="1"/>
          <p:nvPr/>
        </p:nvSpPr>
        <p:spPr>
          <a:xfrm>
            <a:off x="5373749" y="6005838"/>
            <a:ext cx="17761627" cy="20190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Am obținut [0.8, -0.2, 0.6] pentru prima apariție și [1.1, -0.1, 0.6] pentru a doua apariție</a:t>
            </a:r>
          </a:p>
        </p:txBody>
      </p:sp>
      <p:sp>
        <p:nvSpPr>
          <p:cNvPr id="385" name="Astfel, am reușit să adăugăm un sens al ordinii în propoziție: embedding-urile sunt diferite pentru că sunt folosite în diferite părți din propoziție"/>
          <p:cNvSpPr txBox="1"/>
          <p:nvPr/>
        </p:nvSpPr>
        <p:spPr>
          <a:xfrm>
            <a:off x="5373749" y="7698200"/>
            <a:ext cx="17761627" cy="2749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Astfel, am reușit să adăugăm un sens al ordinii în propoziție: embedding-urile sunt diferite pentru că sunt folosite în diferite părți din propoziție</a:t>
            </a:r>
          </a:p>
        </p:txBody>
      </p:sp>
      <p:sp>
        <p:nvSpPr>
          <p:cNvPr id="386" name="Repetăm acest proces pentru toate cuvintele"/>
          <p:cNvSpPr txBox="1"/>
          <p:nvPr/>
        </p:nvSpPr>
        <p:spPr>
          <a:xfrm>
            <a:off x="5373749" y="10239165"/>
            <a:ext cx="17761627" cy="12417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Repetăm acest proces pentru toate cuvintele</a:t>
            </a:r>
          </a:p>
        </p:txBody>
      </p:sp>
      <p:pic>
        <p:nvPicPr>
          <p:cNvPr id="387" name="Linie Linie" descr="Linie Linie"/>
          <p:cNvPicPr>
            <a:picLocks noChangeAspect="0"/>
          </p:cNvPicPr>
          <p:nvPr/>
        </p:nvPicPr>
        <p:blipFill>
          <a:blip r:embed="rId3">
            <a:extLst/>
          </a:blip>
          <a:stretch>
            <a:fillRect/>
          </a:stretch>
        </p:blipFill>
        <p:spPr>
          <a:xfrm>
            <a:off x="5746199" y="11111602"/>
            <a:ext cx="12230564"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Codificatorul"/>
          <p:cNvSpPr txBox="1"/>
          <p:nvPr>
            <p:ph type="title"/>
          </p:nvPr>
        </p:nvSpPr>
        <p:spPr>
          <a:xfrm>
            <a:off x="1219200" y="154406"/>
            <a:ext cx="21945600" cy="1727201"/>
          </a:xfrm>
          <a:prstGeom prst="rect">
            <a:avLst/>
          </a:prstGeom>
        </p:spPr>
        <p:txBody>
          <a:bodyPr/>
          <a:lstStyle/>
          <a:p>
            <a:pPr/>
            <a:r>
              <a:t>Codificatorul</a:t>
            </a:r>
          </a:p>
        </p:txBody>
      </p:sp>
      <p:sp>
        <p:nvSpPr>
          <p:cNvPr id="391" name="[…"/>
          <p:cNvSpPr txBox="1"/>
          <p:nvPr/>
        </p:nvSpPr>
        <p:spPr>
          <a:xfrm>
            <a:off x="4719841" y="1775233"/>
            <a:ext cx="3111076"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392" name="Dreptunghi"/>
          <p:cNvSpPr/>
          <p:nvPr/>
        </p:nvSpPr>
        <p:spPr>
          <a:xfrm>
            <a:off x="4779399" y="5602320"/>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93" name="Dreptunghi"/>
          <p:cNvSpPr/>
          <p:nvPr/>
        </p:nvSpPr>
        <p:spPr>
          <a:xfrm>
            <a:off x="4779399" y="75113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94" name="Dreptunghi"/>
          <p:cNvSpPr/>
          <p:nvPr/>
        </p:nvSpPr>
        <p:spPr>
          <a:xfrm>
            <a:off x="4779399" y="98271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95" name="Dreptunghi"/>
          <p:cNvSpPr/>
          <p:nvPr/>
        </p:nvSpPr>
        <p:spPr>
          <a:xfrm>
            <a:off x="4779399" y="3348520"/>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396" name="Dreptunghi"/>
          <p:cNvSpPr/>
          <p:nvPr/>
        </p:nvSpPr>
        <p:spPr>
          <a:xfrm>
            <a:off x="4779399" y="109525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397" name="Linie Linie" descr="Linie Linie"/>
          <p:cNvPicPr>
            <a:picLocks noChangeAspect="0"/>
          </p:cNvPicPr>
          <p:nvPr/>
        </p:nvPicPr>
        <p:blipFill>
          <a:blip r:embed="rId2">
            <a:extLst/>
          </a:blip>
          <a:stretch>
            <a:fillRect/>
          </a:stretch>
        </p:blipFill>
        <p:spPr>
          <a:xfrm>
            <a:off x="8760600" y="6674404"/>
            <a:ext cx="5909148" cy="405592"/>
          </a:xfrm>
          <a:prstGeom prst="rect">
            <a:avLst/>
          </a:prstGeom>
        </p:spPr>
      </p:pic>
      <p:sp>
        <p:nvSpPr>
          <p:cNvPr id="399" name="[…"/>
          <p:cNvSpPr txBox="1"/>
          <p:nvPr/>
        </p:nvSpPr>
        <p:spPr>
          <a:xfrm>
            <a:off x="15544522" y="1775233"/>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1.3, 0.5],  # if</a:t>
            </a:r>
          </a:p>
          <a:p>
            <a:pPr>
              <a:lnSpc>
                <a:spcPct val="20000"/>
              </a:lnSpc>
              <a:defRPr sz="1900"/>
            </a:pPr>
            <a:r>
              <a:t> [1.2, 1.1, 0.5],  # a</a:t>
            </a:r>
          </a:p>
          <a:p>
            <a:pPr>
              <a:lnSpc>
                <a:spcPct val="20000"/>
              </a:lnSpc>
              <a:defRPr sz="1900"/>
            </a:pPr>
            <a:r>
              <a:t> [1.4, -0.2, 0.3], # red</a:t>
            </a:r>
          </a:p>
          <a:p>
            <a:pPr>
              <a:lnSpc>
                <a:spcPct val="20000"/>
              </a:lnSpc>
              <a:defRPr sz="1900"/>
            </a:pPr>
            <a:r>
              <a:t> [0.8, -0.2, 0.6], # ball</a:t>
            </a:r>
          </a:p>
          <a:p>
            <a:pPr>
              <a:lnSpc>
                <a:spcPct val="20000"/>
              </a:lnSpc>
              <a:defRPr sz="1900"/>
            </a:pPr>
            <a:r>
              <a:t> [-0.2, -0.6, 0.4], # is</a:t>
            </a:r>
          </a:p>
          <a:p>
            <a:pPr>
              <a:lnSpc>
                <a:spcPct val="20000"/>
              </a:lnSpc>
              <a:defRPr sz="1900"/>
            </a:pPr>
            <a:r>
              <a:t> [-0.9, -1.0, 0.5], # larger</a:t>
            </a:r>
          </a:p>
          <a:p>
            <a:pPr>
              <a:lnSpc>
                <a:spcPct val="20000"/>
              </a:lnSpc>
              <a:defRPr sz="1900"/>
            </a:pPr>
            <a:r>
              <a:t> [-1.4, -1.5, 0.2], # than</a:t>
            </a:r>
          </a:p>
          <a:p>
            <a:pPr>
              <a:lnSpc>
                <a:spcPct val="20000"/>
              </a:lnSpc>
              <a:defRPr sz="1900"/>
            </a:pPr>
            <a:r>
              <a:t> [-1.8, -1.8, 0.5], # a</a:t>
            </a:r>
          </a:p>
          <a:p>
            <a:pPr>
              <a:lnSpc>
                <a:spcPct val="20000"/>
              </a:lnSpc>
              <a:defRPr sz="1900"/>
            </a:pPr>
            <a:r>
              <a:t> [-2.0, -2.0, 0.7], # blue</a:t>
            </a:r>
          </a:p>
          <a:p>
            <a:pPr>
              <a:lnSpc>
                <a:spcPct val="20000"/>
              </a:lnSpc>
              <a:defRPr sz="1900"/>
            </a:pPr>
            <a:r>
              <a:t> [-1.1, -0.8, 0.6], # ball</a:t>
            </a:r>
          </a:p>
          <a:p>
            <a:pPr>
              <a:lnSpc>
                <a:spcPct val="20000"/>
              </a:lnSpc>
              <a:defRPr sz="1900"/>
            </a:pPr>
            <a:r>
              <a:t> [-2.0, -1.8, 0.2], # ,</a:t>
            </a:r>
          </a:p>
          <a:p>
            <a:pPr>
              <a:lnSpc>
                <a:spcPct val="20000"/>
              </a:lnSpc>
              <a:defRPr sz="1900"/>
            </a:pPr>
            <a:r>
              <a:t> [-1.8, -1.5, 0.4], # and</a:t>
            </a:r>
          </a:p>
          <a:p>
            <a:pPr>
              <a:lnSpc>
                <a:spcPct val="20000"/>
              </a:lnSpc>
              <a:defRPr sz="1900"/>
            </a:pPr>
            <a:r>
              <a:t> [-1.4, -1.0, 0.5], # the</a:t>
            </a:r>
          </a:p>
          <a:p>
            <a:pPr>
              <a:lnSpc>
                <a:spcPct val="20000"/>
              </a:lnSpc>
              <a:defRPr sz="1900"/>
            </a:pPr>
            <a:r>
              <a:t> [-0.9, -0.6, 0.7], # blue</a:t>
            </a:r>
          </a:p>
          <a:p>
            <a:pPr>
              <a:lnSpc>
                <a:spcPct val="20000"/>
              </a:lnSpc>
              <a:defRPr sz="1900"/>
            </a:pPr>
            <a:r>
              <a:t> [-0.2, -0.2, 0.6], # ball</a:t>
            </a:r>
          </a:p>
          <a:p>
            <a:pPr>
              <a:lnSpc>
                <a:spcPct val="20000"/>
              </a:lnSpc>
              <a:defRPr sz="1900"/>
            </a:pPr>
            <a:r>
              <a:t> [0.5, 0.3, 0.4],   # is</a:t>
            </a:r>
          </a:p>
          <a:p>
            <a:pPr>
              <a:lnSpc>
                <a:spcPct val="20000"/>
              </a:lnSpc>
              <a:defRPr sz="1900"/>
            </a:pPr>
            <a:r>
              <a:t> [1.0, 0.8, 0.5],   # larger</a:t>
            </a:r>
          </a:p>
          <a:p>
            <a:pPr>
              <a:lnSpc>
                <a:spcPct val="20000"/>
              </a:lnSpc>
              <a:defRPr sz="1900"/>
            </a:pPr>
            <a:r>
              <a:t> [1.5, 1.4, 0.2],   # than</a:t>
            </a:r>
          </a:p>
          <a:p>
            <a:pPr>
              <a:lnSpc>
                <a:spcPct val="20000"/>
              </a:lnSpc>
              <a:defRPr sz="1900"/>
            </a:pPr>
            <a:r>
              <a:t> [1.8, 1.8, 0.5],   # a</a:t>
            </a:r>
          </a:p>
          <a:p>
            <a:pPr>
              <a:lnSpc>
                <a:spcPct val="20000"/>
              </a:lnSpc>
              <a:defRPr sz="1900"/>
            </a:pPr>
            <a:r>
              <a:t> [2.0, 2.0, 0.5],   # green</a:t>
            </a:r>
          </a:p>
          <a:p>
            <a:pPr>
              <a:lnSpc>
                <a:spcPct val="20000"/>
              </a:lnSpc>
              <a:defRPr sz="1900"/>
            </a:pPr>
            <a:r>
              <a:t> [2.1, 2.0, 0.6],   # ball</a:t>
            </a:r>
          </a:p>
          <a:p>
            <a:pPr>
              <a:lnSpc>
                <a:spcPct val="20000"/>
              </a:lnSpc>
              <a:defRPr sz="1900"/>
            </a:pPr>
            <a:r>
              <a:t> [2.0, 1.8, 0.2],   # ,</a:t>
            </a:r>
          </a:p>
          <a:p>
            <a:pPr>
              <a:lnSpc>
                <a:spcPct val="20000"/>
              </a:lnSpc>
              <a:defRPr sz="1900"/>
            </a:pPr>
            <a:r>
              <a:t> [1.8, 1.5, 0.6],   # which</a:t>
            </a:r>
          </a:p>
          <a:p>
            <a:pPr>
              <a:lnSpc>
                <a:spcPct val="20000"/>
              </a:lnSpc>
              <a:defRPr sz="1900"/>
            </a:pPr>
            <a:r>
              <a:t> [1.4, 1.0, 0.6],   # ball</a:t>
            </a:r>
          </a:p>
          <a:p>
            <a:pPr>
              <a:lnSpc>
                <a:spcPct val="20000"/>
              </a:lnSpc>
              <a:defRPr sz="1900"/>
            </a:pPr>
            <a:r>
              <a:t> [0.9, 0.6, 0.4],   # is</a:t>
            </a:r>
          </a:p>
          <a:p>
            <a:pPr>
              <a:lnSpc>
                <a:spcPct val="20000"/>
              </a:lnSpc>
              <a:defRPr sz="1900"/>
            </a:pPr>
            <a:r>
              <a:t> [0.2, 0.2, 0.5],   # the</a:t>
            </a:r>
          </a:p>
          <a:p>
            <a:pPr>
              <a:lnSpc>
                <a:spcPct val="20000"/>
              </a:lnSpc>
              <a:defRPr sz="1900"/>
            </a:pPr>
            <a:r>
              <a:t> [-0.5, -0.3, 0.4], # smallest</a:t>
            </a:r>
          </a:p>
          <a:p>
            <a:pPr>
              <a:lnSpc>
                <a:spcPct val="20000"/>
              </a:lnSpc>
              <a:defRPr sz="1900"/>
            </a:pPr>
            <a:r>
              <a:t> [-1.0, -0.8, 0.3]  # ?</a:t>
            </a:r>
          </a:p>
          <a:p>
            <a:pPr>
              <a:lnSpc>
                <a:spcPct val="20000"/>
              </a:lnSpc>
              <a:defRPr sz="1900"/>
            </a:pPr>
            <a:r>
              <a:t>]</a:t>
            </a:r>
          </a:p>
        </p:txBody>
      </p:sp>
      <p:sp>
        <p:nvSpPr>
          <p:cNvPr id="400" name="Dreptunghi"/>
          <p:cNvSpPr/>
          <p:nvPr/>
        </p:nvSpPr>
        <p:spPr>
          <a:xfrm>
            <a:off x="15604081" y="5602320"/>
            <a:ext cx="2422826" cy="510626"/>
          </a:xfrm>
          <a:prstGeom prst="rect">
            <a:avLst/>
          </a:prstGeom>
          <a:solidFill>
            <a:schemeClr val="accent1">
              <a:satOff val="-7262"/>
              <a:lumOff val="-10627"/>
              <a:alpha val="50640"/>
            </a:schemeClr>
          </a:solidFill>
          <a:ln w="12700">
            <a:miter lim="400000"/>
          </a:ln>
        </p:spPr>
        <p:txBody>
          <a:bodyPr lIns="50800" tIns="50800" rIns="50800" bIns="50800" anchor="ctr"/>
          <a:lstStyle/>
          <a:p>
            <a:pPr/>
          </a:p>
        </p:txBody>
      </p:sp>
      <p:sp>
        <p:nvSpPr>
          <p:cNvPr id="401"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02" name="Dreptunghi"/>
          <p:cNvSpPr/>
          <p:nvPr/>
        </p:nvSpPr>
        <p:spPr>
          <a:xfrm>
            <a:off x="15604081" y="98271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03" name="Dreptunghi"/>
          <p:cNvSpPr/>
          <p:nvPr/>
        </p:nvSpPr>
        <p:spPr>
          <a:xfrm>
            <a:off x="15604081" y="3348519"/>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04" name="Dreptunghi"/>
          <p:cNvSpPr/>
          <p:nvPr/>
        </p:nvSpPr>
        <p:spPr>
          <a:xfrm>
            <a:off x="15604081" y="109525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Codificatorul"/>
          <p:cNvSpPr txBox="1"/>
          <p:nvPr>
            <p:ph type="title"/>
          </p:nvPr>
        </p:nvSpPr>
        <p:spPr>
          <a:xfrm>
            <a:off x="1219200" y="154406"/>
            <a:ext cx="21945600" cy="1727201"/>
          </a:xfrm>
          <a:prstGeom prst="rect">
            <a:avLst/>
          </a:prstGeom>
        </p:spPr>
        <p:txBody>
          <a:bodyPr/>
          <a:lstStyle/>
          <a:p>
            <a:pPr/>
            <a:r>
              <a:t>Codificatorul</a:t>
            </a:r>
          </a:p>
        </p:txBody>
      </p:sp>
      <p:sp>
        <p:nvSpPr>
          <p:cNvPr id="407" name="[…"/>
          <p:cNvSpPr txBox="1"/>
          <p:nvPr/>
        </p:nvSpPr>
        <p:spPr>
          <a:xfrm>
            <a:off x="515041" y="1852033"/>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0.3, 0.5],  # if</a:t>
            </a:r>
          </a:p>
          <a:p>
            <a:pPr>
              <a:lnSpc>
                <a:spcPct val="20000"/>
              </a:lnSpc>
              <a:defRPr sz="1900"/>
            </a:pPr>
            <a:r>
              <a:t> [0.4, 0.6, 0.5],  # a</a:t>
            </a:r>
          </a:p>
          <a:p>
            <a:pPr>
              <a:lnSpc>
                <a:spcPct val="20000"/>
              </a:lnSpc>
              <a:defRPr sz="1900"/>
            </a:pPr>
            <a:r>
              <a:t> [0.5, 0.2, 0.3],  # red</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[0.8, 0.5, 0.7],  # blue</a:t>
            </a:r>
          </a:p>
          <a:p>
            <a:pPr>
              <a:lnSpc>
                <a:spcPct val="20000"/>
              </a:lnSpc>
              <a:defRPr sz="1900"/>
            </a:pPr>
            <a:r>
              <a:t> [0.7, 0.8, 0.6],  # ball</a:t>
            </a:r>
          </a:p>
          <a:p>
            <a:pPr>
              <a:lnSpc>
                <a:spcPct val="20000"/>
              </a:lnSpc>
              <a:defRPr sz="1900"/>
            </a:pPr>
            <a:r>
              <a:t> [0.2, 0.2, 0.2],  # ,</a:t>
            </a:r>
          </a:p>
          <a:p>
            <a:pPr>
              <a:lnSpc>
                <a:spcPct val="20000"/>
              </a:lnSpc>
              <a:defRPr sz="1900"/>
            </a:pPr>
            <a:r>
              <a:t> [0.4, 0.4, 0.4],  # and</a:t>
            </a:r>
          </a:p>
          <a:p>
            <a:pPr>
              <a:lnSpc>
                <a:spcPct val="20000"/>
              </a:lnSpc>
              <a:defRPr sz="1900"/>
            </a:pPr>
            <a:r>
              <a:t> [0.5, 0.5, 0.5],  # the</a:t>
            </a:r>
          </a:p>
          <a:p>
            <a:pPr>
              <a:lnSpc>
                <a:spcPct val="20000"/>
              </a:lnSpc>
              <a:defRPr sz="1900"/>
            </a:pPr>
            <a:r>
              <a:t> [0.8, 0.5, 0.7],  # blue</a:t>
            </a:r>
          </a:p>
          <a:p>
            <a:pPr>
              <a:lnSpc>
                <a:spcPct val="20000"/>
              </a:lnSpc>
              <a:defRPr sz="1900"/>
            </a:pPr>
            <a:r>
              <a:t> [0.7, 0.8, 0.6],  # ball</a:t>
            </a:r>
          </a:p>
          <a:p>
            <a:pPr>
              <a:lnSpc>
                <a:spcPct val="20000"/>
              </a:lnSpc>
              <a:defRPr sz="1900"/>
            </a:pPr>
            <a:r>
              <a:t> [0.6, 0.1, 0.4],  # is</a:t>
            </a:r>
          </a:p>
          <a:p>
            <a:pPr>
              <a:lnSpc>
                <a:spcPct val="20000"/>
              </a:lnSpc>
              <a:defRPr sz="1900"/>
            </a:pPr>
            <a:r>
              <a:t> [0.9, 0.7, 0.5],  # larger</a:t>
            </a:r>
          </a:p>
          <a:p>
            <a:pPr>
              <a:lnSpc>
                <a:spcPct val="20000"/>
              </a:lnSpc>
              <a:defRPr sz="1900"/>
            </a:pPr>
            <a:r>
              <a:t> [0.3, 0.4, 0.2],  # than</a:t>
            </a:r>
          </a:p>
          <a:p>
            <a:pPr>
              <a:lnSpc>
                <a:spcPct val="20000"/>
              </a:lnSpc>
              <a:defRPr sz="1900"/>
            </a:pPr>
            <a:r>
              <a:t> [0.4, 0.6, 0.5],  # a</a:t>
            </a:r>
          </a:p>
          <a:p>
            <a:pPr>
              <a:lnSpc>
                <a:spcPct val="20000"/>
              </a:lnSpc>
              <a:defRPr sz="1900"/>
            </a:pPr>
            <a:r>
              <a:t> [0.3, 0.6, 0.5],  # green</a:t>
            </a:r>
          </a:p>
          <a:p>
            <a:pPr>
              <a:lnSpc>
                <a:spcPct val="20000"/>
              </a:lnSpc>
              <a:defRPr sz="1900"/>
            </a:pPr>
            <a:r>
              <a:t> [0.7, 0.8, 0.6],  # ball</a:t>
            </a:r>
          </a:p>
          <a:p>
            <a:pPr>
              <a:lnSpc>
                <a:spcPct val="20000"/>
              </a:lnSpc>
              <a:defRPr sz="1900"/>
            </a:pPr>
            <a:r>
              <a:t> [0.2, 0.2, 0.2],  # ,</a:t>
            </a:r>
          </a:p>
          <a:p>
            <a:pPr>
              <a:lnSpc>
                <a:spcPct val="20000"/>
              </a:lnSpc>
              <a:defRPr sz="1900"/>
            </a:pPr>
            <a:r>
              <a:t> [0.7, 0.3, 0.6],  # which</a:t>
            </a:r>
          </a:p>
          <a:p>
            <a:pPr>
              <a:lnSpc>
                <a:spcPct val="20000"/>
              </a:lnSpc>
              <a:defRPr sz="1900"/>
            </a:pPr>
            <a:r>
              <a:t> [0.7, 0.8, 0.6],  # ball</a:t>
            </a:r>
          </a:p>
          <a:p>
            <a:pPr>
              <a:lnSpc>
                <a:spcPct val="20000"/>
              </a:lnSpc>
              <a:defRPr sz="1900"/>
            </a:pPr>
            <a:r>
              <a:t> [0.6, 0.1, 0.4],  # is</a:t>
            </a:r>
          </a:p>
          <a:p>
            <a:pPr>
              <a:lnSpc>
                <a:spcPct val="20000"/>
              </a:lnSpc>
              <a:defRPr sz="1900"/>
            </a:pPr>
            <a:r>
              <a:t> [0.5, 0.5, 0.5],  # the</a:t>
            </a:r>
          </a:p>
          <a:p>
            <a:pPr>
              <a:lnSpc>
                <a:spcPct val="20000"/>
              </a:lnSpc>
              <a:defRPr sz="1900"/>
            </a:pPr>
            <a:r>
              <a:t> [0.6, 0.2, 0.4],  # smallest</a:t>
            </a:r>
          </a:p>
          <a:p>
            <a:pPr>
              <a:lnSpc>
                <a:spcPct val="20000"/>
              </a:lnSpc>
              <a:defRPr sz="1900"/>
            </a:pPr>
            <a:r>
              <a:t> [0.1, 0.2, 0.3]   # ?</a:t>
            </a:r>
          </a:p>
          <a:p>
            <a:pPr>
              <a:lnSpc>
                <a:spcPct val="20000"/>
              </a:lnSpc>
              <a:defRPr sz="1900"/>
            </a:pPr>
            <a:r>
              <a:t>]</a:t>
            </a:r>
          </a:p>
        </p:txBody>
      </p:sp>
      <p:sp>
        <p:nvSpPr>
          <p:cNvPr id="408" name="Dreptunghi"/>
          <p:cNvSpPr/>
          <p:nvPr/>
        </p:nvSpPr>
        <p:spPr>
          <a:xfrm>
            <a:off x="574599" y="5679120"/>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09" name="Dreptunghi"/>
          <p:cNvSpPr/>
          <p:nvPr/>
        </p:nvSpPr>
        <p:spPr>
          <a:xfrm>
            <a:off x="574599" y="7588156"/>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10" name="Dreptunghi"/>
          <p:cNvSpPr/>
          <p:nvPr/>
        </p:nvSpPr>
        <p:spPr>
          <a:xfrm>
            <a:off x="574599" y="99039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11" name="Dreptunghi"/>
          <p:cNvSpPr/>
          <p:nvPr/>
        </p:nvSpPr>
        <p:spPr>
          <a:xfrm>
            <a:off x="574599" y="3425320"/>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12" name="Dreptunghi"/>
          <p:cNvSpPr/>
          <p:nvPr/>
        </p:nvSpPr>
        <p:spPr>
          <a:xfrm>
            <a:off x="574599" y="110293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413" name="Linie Linie" descr="Linie Linie"/>
          <p:cNvPicPr>
            <a:picLocks noChangeAspect="0"/>
          </p:cNvPicPr>
          <p:nvPr/>
        </p:nvPicPr>
        <p:blipFill>
          <a:blip r:embed="rId2">
            <a:extLst/>
          </a:blip>
          <a:stretch>
            <a:fillRect/>
          </a:stretch>
        </p:blipFill>
        <p:spPr>
          <a:xfrm>
            <a:off x="4555799" y="6751204"/>
            <a:ext cx="5909148" cy="405592"/>
          </a:xfrm>
          <a:prstGeom prst="rect">
            <a:avLst/>
          </a:prstGeom>
        </p:spPr>
      </p:pic>
      <p:sp>
        <p:nvSpPr>
          <p:cNvPr id="415" name="[…"/>
          <p:cNvSpPr txBox="1"/>
          <p:nvPr/>
        </p:nvSpPr>
        <p:spPr>
          <a:xfrm>
            <a:off x="11339722" y="1852033"/>
            <a:ext cx="3111075"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[0.2, 1.3, 0.5],  # if</a:t>
            </a:r>
          </a:p>
          <a:p>
            <a:pPr>
              <a:lnSpc>
                <a:spcPct val="20000"/>
              </a:lnSpc>
              <a:defRPr sz="1900"/>
            </a:pPr>
            <a:r>
              <a:t> [1.2, 1.1, 0.5],  # a</a:t>
            </a:r>
          </a:p>
          <a:p>
            <a:pPr>
              <a:lnSpc>
                <a:spcPct val="20000"/>
              </a:lnSpc>
              <a:defRPr sz="1900"/>
            </a:pPr>
            <a:r>
              <a:t> [1.4, -0.2, 0.3], # red</a:t>
            </a:r>
          </a:p>
          <a:p>
            <a:pPr>
              <a:lnSpc>
                <a:spcPct val="20000"/>
              </a:lnSpc>
              <a:defRPr sz="1900"/>
            </a:pPr>
            <a:r>
              <a:t> [0.8, -0.2, 0.6], # ball</a:t>
            </a:r>
          </a:p>
          <a:p>
            <a:pPr>
              <a:lnSpc>
                <a:spcPct val="20000"/>
              </a:lnSpc>
              <a:defRPr sz="1900"/>
            </a:pPr>
            <a:r>
              <a:t> [-0.2, -0.6, 0.4], # is</a:t>
            </a:r>
          </a:p>
          <a:p>
            <a:pPr>
              <a:lnSpc>
                <a:spcPct val="20000"/>
              </a:lnSpc>
              <a:defRPr sz="1900"/>
            </a:pPr>
            <a:r>
              <a:t> [-0.9, -1.0, 0.5], # larger</a:t>
            </a:r>
          </a:p>
          <a:p>
            <a:pPr>
              <a:lnSpc>
                <a:spcPct val="20000"/>
              </a:lnSpc>
              <a:defRPr sz="1900"/>
            </a:pPr>
            <a:r>
              <a:t> [-1.4, -1.5, 0.2], # than</a:t>
            </a:r>
          </a:p>
          <a:p>
            <a:pPr>
              <a:lnSpc>
                <a:spcPct val="20000"/>
              </a:lnSpc>
              <a:defRPr sz="1900"/>
            </a:pPr>
            <a:r>
              <a:t> [-1.8, -1.8, 0.5], # a</a:t>
            </a:r>
          </a:p>
          <a:p>
            <a:pPr>
              <a:lnSpc>
                <a:spcPct val="20000"/>
              </a:lnSpc>
              <a:defRPr sz="1900"/>
            </a:pPr>
            <a:r>
              <a:t> [-2.0, -2.0, 0.7], # blue</a:t>
            </a:r>
          </a:p>
          <a:p>
            <a:pPr>
              <a:lnSpc>
                <a:spcPct val="20000"/>
              </a:lnSpc>
              <a:defRPr sz="1900"/>
            </a:pPr>
            <a:r>
              <a:t> [-1.1, -0.8, 0.6], # ball</a:t>
            </a:r>
          </a:p>
          <a:p>
            <a:pPr>
              <a:lnSpc>
                <a:spcPct val="20000"/>
              </a:lnSpc>
              <a:defRPr sz="1900"/>
            </a:pPr>
            <a:r>
              <a:t> [-2.0, -1.8, 0.2], # ,</a:t>
            </a:r>
          </a:p>
          <a:p>
            <a:pPr>
              <a:lnSpc>
                <a:spcPct val="20000"/>
              </a:lnSpc>
              <a:defRPr sz="1900"/>
            </a:pPr>
            <a:r>
              <a:t> [-1.8, -1.5, 0.4], # and</a:t>
            </a:r>
          </a:p>
          <a:p>
            <a:pPr>
              <a:lnSpc>
                <a:spcPct val="20000"/>
              </a:lnSpc>
              <a:defRPr sz="1900"/>
            </a:pPr>
            <a:r>
              <a:t> [-1.4, -1.0, 0.5], # the</a:t>
            </a:r>
          </a:p>
          <a:p>
            <a:pPr>
              <a:lnSpc>
                <a:spcPct val="20000"/>
              </a:lnSpc>
              <a:defRPr sz="1900"/>
            </a:pPr>
            <a:r>
              <a:t> [-0.9, -0.6, 0.7], # blue</a:t>
            </a:r>
          </a:p>
          <a:p>
            <a:pPr>
              <a:lnSpc>
                <a:spcPct val="20000"/>
              </a:lnSpc>
              <a:defRPr sz="1900"/>
            </a:pPr>
            <a:r>
              <a:t> [-0.2, -0.2, 0.6], # ball</a:t>
            </a:r>
          </a:p>
          <a:p>
            <a:pPr>
              <a:lnSpc>
                <a:spcPct val="20000"/>
              </a:lnSpc>
              <a:defRPr sz="1900"/>
            </a:pPr>
            <a:r>
              <a:t> [0.5, 0.3, 0.4],   # is</a:t>
            </a:r>
          </a:p>
          <a:p>
            <a:pPr>
              <a:lnSpc>
                <a:spcPct val="20000"/>
              </a:lnSpc>
              <a:defRPr sz="1900"/>
            </a:pPr>
            <a:r>
              <a:t> [1.0, 0.8, 0.5],   # larger</a:t>
            </a:r>
          </a:p>
          <a:p>
            <a:pPr>
              <a:lnSpc>
                <a:spcPct val="20000"/>
              </a:lnSpc>
              <a:defRPr sz="1900"/>
            </a:pPr>
            <a:r>
              <a:t> [1.5, 1.4, 0.2],   # than</a:t>
            </a:r>
          </a:p>
          <a:p>
            <a:pPr>
              <a:lnSpc>
                <a:spcPct val="20000"/>
              </a:lnSpc>
              <a:defRPr sz="1900"/>
            </a:pPr>
            <a:r>
              <a:t> [1.8, 1.8, 0.5],   # a</a:t>
            </a:r>
          </a:p>
          <a:p>
            <a:pPr>
              <a:lnSpc>
                <a:spcPct val="20000"/>
              </a:lnSpc>
              <a:defRPr sz="1900"/>
            </a:pPr>
            <a:r>
              <a:t> [2.0, 2.0, 0.5],   # green</a:t>
            </a:r>
          </a:p>
          <a:p>
            <a:pPr>
              <a:lnSpc>
                <a:spcPct val="20000"/>
              </a:lnSpc>
              <a:defRPr sz="1900"/>
            </a:pPr>
            <a:r>
              <a:t> [2.1, 2.0, 0.6],   # ball</a:t>
            </a:r>
          </a:p>
          <a:p>
            <a:pPr>
              <a:lnSpc>
                <a:spcPct val="20000"/>
              </a:lnSpc>
              <a:defRPr sz="1900"/>
            </a:pPr>
            <a:r>
              <a:t> [2.0, 1.8, 0.2],   # ,</a:t>
            </a:r>
          </a:p>
          <a:p>
            <a:pPr>
              <a:lnSpc>
                <a:spcPct val="20000"/>
              </a:lnSpc>
              <a:defRPr sz="1900"/>
            </a:pPr>
            <a:r>
              <a:t> [1.8, 1.5, 0.6],   # which</a:t>
            </a:r>
          </a:p>
          <a:p>
            <a:pPr>
              <a:lnSpc>
                <a:spcPct val="20000"/>
              </a:lnSpc>
              <a:defRPr sz="1900"/>
            </a:pPr>
            <a:r>
              <a:t> [1.4, 1.0, 0.6],   # ball</a:t>
            </a:r>
          </a:p>
          <a:p>
            <a:pPr>
              <a:lnSpc>
                <a:spcPct val="20000"/>
              </a:lnSpc>
              <a:defRPr sz="1900"/>
            </a:pPr>
            <a:r>
              <a:t> [0.9, 0.6, 0.4],   # is</a:t>
            </a:r>
          </a:p>
          <a:p>
            <a:pPr>
              <a:lnSpc>
                <a:spcPct val="20000"/>
              </a:lnSpc>
              <a:defRPr sz="1900"/>
            </a:pPr>
            <a:r>
              <a:t> [0.2, 0.2, 0.5],   # the</a:t>
            </a:r>
          </a:p>
          <a:p>
            <a:pPr>
              <a:lnSpc>
                <a:spcPct val="20000"/>
              </a:lnSpc>
              <a:defRPr sz="1900"/>
            </a:pPr>
            <a:r>
              <a:t> [-0.5, -0.3, 0.4], # smallest</a:t>
            </a:r>
          </a:p>
          <a:p>
            <a:pPr>
              <a:lnSpc>
                <a:spcPct val="20000"/>
              </a:lnSpc>
              <a:defRPr sz="1900"/>
            </a:pPr>
            <a:r>
              <a:t> [-1.0, -0.8, 0.3]  # ?</a:t>
            </a:r>
          </a:p>
          <a:p>
            <a:pPr>
              <a:lnSpc>
                <a:spcPct val="20000"/>
              </a:lnSpc>
              <a:defRPr sz="1900"/>
            </a:pPr>
            <a:r>
              <a:t>]</a:t>
            </a:r>
          </a:p>
        </p:txBody>
      </p:sp>
      <p:sp>
        <p:nvSpPr>
          <p:cNvPr id="416" name="Dreptunghi"/>
          <p:cNvSpPr/>
          <p:nvPr/>
        </p:nvSpPr>
        <p:spPr>
          <a:xfrm>
            <a:off x="11399280" y="5679120"/>
            <a:ext cx="2422826" cy="510626"/>
          </a:xfrm>
          <a:prstGeom prst="rect">
            <a:avLst/>
          </a:prstGeom>
          <a:solidFill>
            <a:schemeClr val="accent1">
              <a:satOff val="-7262"/>
              <a:lumOff val="-10627"/>
              <a:alpha val="50640"/>
            </a:schemeClr>
          </a:solidFill>
          <a:ln w="12700">
            <a:miter lim="400000"/>
          </a:ln>
        </p:spPr>
        <p:txBody>
          <a:bodyPr lIns="50800" tIns="50800" rIns="50800" bIns="50800" anchor="ctr"/>
          <a:lstStyle/>
          <a:p>
            <a:pPr/>
          </a:p>
        </p:txBody>
      </p:sp>
      <p:sp>
        <p:nvSpPr>
          <p:cNvPr id="417"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18" name="Dreptunghi"/>
          <p:cNvSpPr/>
          <p:nvPr/>
        </p:nvSpPr>
        <p:spPr>
          <a:xfrm>
            <a:off x="11399280" y="99039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19" name="Dreptunghi"/>
          <p:cNvSpPr/>
          <p:nvPr/>
        </p:nvSpPr>
        <p:spPr>
          <a:xfrm>
            <a:off x="11399280" y="3425319"/>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sp>
        <p:nvSpPr>
          <p:cNvPr id="420" name="Dreptunghi"/>
          <p:cNvSpPr/>
          <p:nvPr/>
        </p:nvSpPr>
        <p:spPr>
          <a:xfrm>
            <a:off x="11399280" y="11029357"/>
            <a:ext cx="2422826" cy="510626"/>
          </a:xfrm>
          <a:prstGeom prst="rect">
            <a:avLst/>
          </a:prstGeom>
          <a:solidFill>
            <a:schemeClr val="accent1">
              <a:satOff val="-7262"/>
              <a:lumOff val="-10627"/>
              <a:alpha val="50640"/>
            </a:schemeClr>
          </a:solidFill>
          <a:ln w="25400">
            <a:solidFill>
              <a:schemeClr val="accent1">
                <a:alpha val="50640"/>
              </a:schemeClr>
            </a:solidFill>
          </a:ln>
        </p:spPr>
        <p:txBody>
          <a:bodyPr lIns="50800" tIns="50800" rIns="50800" bIns="50800" anchor="ctr"/>
          <a:lstStyle/>
          <a:p>
            <a:pPr/>
          </a:p>
        </p:txBody>
      </p:sp>
      <p:pic>
        <p:nvPicPr>
          <p:cNvPr id="421" name="Dreptunghi Dreptunghi" descr="Dreptunghi Dreptunghi"/>
          <p:cNvPicPr>
            <a:picLocks noChangeAspect="0"/>
          </p:cNvPicPr>
          <p:nvPr/>
        </p:nvPicPr>
        <p:blipFill>
          <a:blip r:embed="rId3">
            <a:extLst/>
          </a:blip>
          <a:stretch>
            <a:fillRect/>
          </a:stretch>
        </p:blipFill>
        <p:spPr>
          <a:xfrm>
            <a:off x="11227672" y="3435645"/>
            <a:ext cx="3335176" cy="536026"/>
          </a:xfrm>
          <a:prstGeom prst="rect">
            <a:avLst/>
          </a:prstGeom>
        </p:spPr>
      </p:pic>
      <p:pic>
        <p:nvPicPr>
          <p:cNvPr id="423" name="Dreptunghi Dreptunghi" descr="Dreptunghi Dreptunghi"/>
          <p:cNvPicPr>
            <a:picLocks noChangeAspect="0"/>
          </p:cNvPicPr>
          <p:nvPr/>
        </p:nvPicPr>
        <p:blipFill>
          <a:blip r:embed="rId4">
            <a:extLst/>
          </a:blip>
          <a:stretch>
            <a:fillRect/>
          </a:stretch>
        </p:blipFill>
        <p:spPr>
          <a:xfrm>
            <a:off x="11227672" y="7575456"/>
            <a:ext cx="3335176" cy="536026"/>
          </a:xfrm>
          <a:prstGeom prst="rect">
            <a:avLst/>
          </a:prstGeom>
        </p:spPr>
      </p:pic>
      <p:pic>
        <p:nvPicPr>
          <p:cNvPr id="425" name="Dreptunghi Dreptunghi" descr="Dreptunghi Dreptunghi"/>
          <p:cNvPicPr>
            <a:picLocks noChangeAspect="0"/>
          </p:cNvPicPr>
          <p:nvPr/>
        </p:nvPicPr>
        <p:blipFill>
          <a:blip r:embed="rId5">
            <a:extLst/>
          </a:blip>
          <a:stretch>
            <a:fillRect/>
          </a:stretch>
        </p:blipFill>
        <p:spPr>
          <a:xfrm>
            <a:off x="11227672" y="4134256"/>
            <a:ext cx="3335176" cy="536026"/>
          </a:xfrm>
          <a:prstGeom prst="rect">
            <a:avLst/>
          </a:prstGeom>
        </p:spPr>
      </p:pic>
      <p:pic>
        <p:nvPicPr>
          <p:cNvPr id="427" name="Dreptunghi Dreptunghi" descr="Dreptunghi Dreptunghi"/>
          <p:cNvPicPr>
            <a:picLocks noChangeAspect="0"/>
          </p:cNvPicPr>
          <p:nvPr/>
        </p:nvPicPr>
        <p:blipFill>
          <a:blip r:embed="rId6">
            <a:extLst/>
          </a:blip>
          <a:stretch>
            <a:fillRect/>
          </a:stretch>
        </p:blipFill>
        <p:spPr>
          <a:xfrm>
            <a:off x="11227672" y="5656819"/>
            <a:ext cx="3335176" cy="536026"/>
          </a:xfrm>
          <a:prstGeom prst="rect">
            <a:avLst/>
          </a:prstGeom>
        </p:spPr>
      </p:pic>
      <p:sp>
        <p:nvSpPr>
          <p:cNvPr id="429" name="Cum facem un model care să fie de atent, de exemplu, că prima apariție a lui „larger” se referă la red ball si blue ball, nu și la a treia?"/>
          <p:cNvSpPr txBox="1"/>
          <p:nvPr/>
        </p:nvSpPr>
        <p:spPr>
          <a:xfrm>
            <a:off x="15150081" y="2140897"/>
            <a:ext cx="7417551" cy="49127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Cum facem un model care să fie de atent, de exemplu, că prima apariție a lui </a:t>
            </a:r>
            <a:r>
              <a:rPr>
                <a:solidFill>
                  <a:schemeClr val="accent3"/>
                </a:solidFill>
              </a:rPr>
              <a:t>„larger”</a:t>
            </a:r>
            <a:r>
              <a:t> se referă la </a:t>
            </a:r>
            <a:r>
              <a:rPr>
                <a:solidFill>
                  <a:schemeClr val="accent5"/>
                </a:solidFill>
              </a:rPr>
              <a:t>red ball</a:t>
            </a:r>
            <a:r>
              <a:t> si </a:t>
            </a:r>
            <a:r>
              <a:rPr>
                <a:solidFill>
                  <a:schemeClr val="accent1"/>
                </a:solidFill>
              </a:rPr>
              <a:t>blue ball</a:t>
            </a:r>
            <a:r>
              <a:t>, nu și la a </a:t>
            </a:r>
            <a:r>
              <a:rPr>
                <a:solidFill>
                  <a:schemeClr val="accent6"/>
                </a:solidFill>
              </a:rPr>
              <a:t>treia</a:t>
            </a:r>
            <a:r>
              <a:t>?</a:t>
            </a:r>
          </a:p>
        </p:txBody>
      </p:sp>
      <p:sp>
        <p:nvSpPr>
          <p:cNvPr id="430" name="Introducem mecanismul de atenție"/>
          <p:cNvSpPr txBox="1"/>
          <p:nvPr/>
        </p:nvSpPr>
        <p:spPr>
          <a:xfrm>
            <a:off x="15150081" y="7082508"/>
            <a:ext cx="7417551" cy="19184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Introducem mecanismul de atenție</a:t>
            </a:r>
          </a:p>
        </p:txBody>
      </p:sp>
      <p:sp>
        <p:nvSpPr>
          <p:cNvPr id="431" name="Vrem de fapt să facem modelul să „înțeleagă ce citește”"/>
          <p:cNvSpPr txBox="1"/>
          <p:nvPr/>
        </p:nvSpPr>
        <p:spPr>
          <a:xfrm>
            <a:off x="15034880" y="9029819"/>
            <a:ext cx="8991876" cy="2777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Vrem de fapt să facem modelul să „înțeleagă ce citește”</a:t>
            </a:r>
          </a:p>
        </p:txBody>
      </p:sp>
      <p:pic>
        <p:nvPicPr>
          <p:cNvPr id="432" name="Linie Linie" descr="Linie Linie"/>
          <p:cNvPicPr>
            <a:picLocks noChangeAspect="0"/>
          </p:cNvPicPr>
          <p:nvPr/>
        </p:nvPicPr>
        <p:blipFill>
          <a:blip r:embed="rId7">
            <a:extLst/>
          </a:blip>
          <a:stretch>
            <a:fillRect/>
          </a:stretch>
        </p:blipFill>
        <p:spPr>
          <a:xfrm>
            <a:off x="15380481" y="10701335"/>
            <a:ext cx="63676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36"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37" name="Mecanismul de atenție vrea să asocieze un scor între diferitele cuvinte dintr-o propoziție"/>
          <p:cNvSpPr txBox="1"/>
          <p:nvPr/>
        </p:nvSpPr>
        <p:spPr>
          <a:xfrm>
            <a:off x="462799" y="3730282"/>
            <a:ext cx="23458402" cy="11982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Mecanismul de atenție vrea să asocieze un scor între diferitele cuvinte dintr-o propoziție</a:t>
            </a:r>
          </a:p>
        </p:txBody>
      </p:sp>
      <p:sp>
        <p:nvSpPr>
          <p:cNvPr id="438" name="Scopul este ca acea combinație de cuvinte care sunt relevante să aibă un scor mare, iar cele care sunt mai puțin relevante să aibă un scor mai mic"/>
          <p:cNvSpPr txBox="1"/>
          <p:nvPr/>
        </p:nvSpPr>
        <p:spPr>
          <a:xfrm>
            <a:off x="462799" y="4836482"/>
            <a:ext cx="23458402" cy="19654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Scopul este ca acea combinație de cuvinte care sunt relevante să aibă un scor mare, iar cele care sunt mai puțin relevante să aibă un scor mai mic</a:t>
            </a:r>
          </a:p>
        </p:txBody>
      </p:sp>
      <p:sp>
        <p:nvSpPr>
          <p:cNvPr id="439" name="În slide-ul precedent, vrem ca prima apariție a lui „larger” să aibă un scor mare cu prima apariție a lui „ball”, dar și a doua apariție a lui „ball”, pe când cu a treia apariție a lui „ball” vrem să aibă un scor cât se poate de mic"/>
          <p:cNvSpPr txBox="1"/>
          <p:nvPr/>
        </p:nvSpPr>
        <p:spPr>
          <a:xfrm>
            <a:off x="462799" y="6816076"/>
            <a:ext cx="23458402" cy="286537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În slide-ul precedent, vrem ca </a:t>
            </a:r>
            <a:r>
              <a:rPr>
                <a:solidFill>
                  <a:schemeClr val="accent3"/>
                </a:solidFill>
              </a:rPr>
              <a:t>prima apariție a lui „larger”</a:t>
            </a:r>
            <a:r>
              <a:t> să aibă un scor mare cu </a:t>
            </a:r>
            <a:r>
              <a:rPr>
                <a:solidFill>
                  <a:schemeClr val="accent5"/>
                </a:solidFill>
              </a:rPr>
              <a:t>prima apariție a lui „ball”</a:t>
            </a:r>
            <a:r>
              <a:t>, dar și </a:t>
            </a:r>
            <a:r>
              <a:rPr>
                <a:solidFill>
                  <a:schemeClr val="accent1"/>
                </a:solidFill>
              </a:rPr>
              <a:t>a doua apariție a lui „ball”</a:t>
            </a:r>
            <a:r>
              <a:t>, pe când cu </a:t>
            </a:r>
            <a:r>
              <a:rPr>
                <a:solidFill>
                  <a:schemeClr val="accent6"/>
                </a:solidFill>
              </a:rPr>
              <a:t>a treia apariție a lui „ball”</a:t>
            </a:r>
            <a:r>
              <a:t> vrem să aibă un scor cât se poate de mic</a:t>
            </a:r>
          </a:p>
        </p:txBody>
      </p:sp>
      <p:pic>
        <p:nvPicPr>
          <p:cNvPr id="440" name="Linie Linie" descr="Linie Linie"/>
          <p:cNvPicPr>
            <a:picLocks noChangeAspect="0"/>
          </p:cNvPicPr>
          <p:nvPr/>
        </p:nvPicPr>
        <p:blipFill>
          <a:blip r:embed="rId2">
            <a:extLst/>
          </a:blip>
          <a:stretch>
            <a:fillRect/>
          </a:stretch>
        </p:blipFill>
        <p:spPr>
          <a:xfrm>
            <a:off x="4421399" y="5620402"/>
            <a:ext cx="17812634" cy="101601"/>
          </a:xfrm>
          <a:prstGeom prst="rect">
            <a:avLst/>
          </a:prstGeom>
        </p:spPr>
      </p:pic>
      <p:pic>
        <p:nvPicPr>
          <p:cNvPr id="442" name="Linie Linie" descr="Linie Linie"/>
          <p:cNvPicPr>
            <a:picLocks noChangeAspect="0"/>
          </p:cNvPicPr>
          <p:nvPr/>
        </p:nvPicPr>
        <p:blipFill>
          <a:blip r:embed="rId3">
            <a:extLst/>
          </a:blip>
          <a:stretch>
            <a:fillRect/>
          </a:stretch>
        </p:blipFill>
        <p:spPr>
          <a:xfrm>
            <a:off x="946199" y="6413851"/>
            <a:ext cx="1446577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5"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46"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47" name="Pentru început, fiecare word embedding văzut mai înainte este transformat în încă 3 word embedding-uri"/>
          <p:cNvSpPr txBox="1"/>
          <p:nvPr/>
        </p:nvSpPr>
        <p:spPr>
          <a:xfrm>
            <a:off x="462799" y="3961786"/>
            <a:ext cx="23458402"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Pentru început, fiecare word embedding văzut mai înainte este transformat în încă 3 word embedding-uri</a:t>
            </a:r>
          </a:p>
        </p:txBody>
      </p:sp>
      <p:sp>
        <p:nvSpPr>
          <p:cNvPr id="448" name="Această transformare se realizează, de obicei, prin straturi fully-connected / MLP"/>
          <p:cNvSpPr txBox="1"/>
          <p:nvPr/>
        </p:nvSpPr>
        <p:spPr>
          <a:xfrm>
            <a:off x="462799" y="5751257"/>
            <a:ext cx="23458402" cy="13739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Această transformare se realizează, de obicei, prin straturi fully-connected / MLP</a:t>
            </a:r>
          </a:p>
        </p:txBody>
      </p:sp>
      <p:sp>
        <p:nvSpPr>
          <p:cNvPr id="449" name="Cele 3 noi reprezentări ale fiecărui cuvânt vor purta numele de: query, key &amp; value"/>
          <p:cNvSpPr txBox="1"/>
          <p:nvPr/>
        </p:nvSpPr>
        <p:spPr>
          <a:xfrm>
            <a:off x="462799" y="6689807"/>
            <a:ext cx="23458402" cy="13739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Cele 3 noi reprezentări ale fiecărui cuvânt vor purta numele de: query, key &amp; value</a:t>
            </a:r>
          </a:p>
        </p:txBody>
      </p:sp>
      <p:sp>
        <p:nvSpPr>
          <p:cNvPr id="450" name="Originea termenilor query, key &amp; value vine de la modul în care se caută informații pe internet folosind search engines"/>
          <p:cNvSpPr txBox="1"/>
          <p:nvPr/>
        </p:nvSpPr>
        <p:spPr>
          <a:xfrm>
            <a:off x="462799" y="7785617"/>
            <a:ext cx="23458402"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Originea termenilor query, key &amp; value vine de la modul în care se caută informații pe internet folosind search engines</a:t>
            </a:r>
          </a:p>
        </p:txBody>
      </p:sp>
      <p:pic>
        <p:nvPicPr>
          <p:cNvPr id="451" name="Linie Linie" descr="Linie Linie"/>
          <p:cNvPicPr>
            <a:picLocks noChangeAspect="0"/>
          </p:cNvPicPr>
          <p:nvPr/>
        </p:nvPicPr>
        <p:blipFill>
          <a:blip r:embed="rId2">
            <a:extLst/>
          </a:blip>
          <a:stretch>
            <a:fillRect/>
          </a:stretch>
        </p:blipFill>
        <p:spPr>
          <a:xfrm>
            <a:off x="16993280" y="7615797"/>
            <a:ext cx="4850165" cy="101601"/>
          </a:xfrm>
          <a:prstGeom prst="rect">
            <a:avLst/>
          </a:prstGeom>
        </p:spPr>
      </p:pic>
      <p:pic>
        <p:nvPicPr>
          <p:cNvPr id="453" name="Linie Linie" descr="Linie Linie"/>
          <p:cNvPicPr>
            <a:picLocks noChangeAspect="0"/>
          </p:cNvPicPr>
          <p:nvPr/>
        </p:nvPicPr>
        <p:blipFill>
          <a:blip r:embed="rId3">
            <a:extLst/>
          </a:blip>
          <a:stretch>
            <a:fillRect/>
          </a:stretch>
        </p:blipFill>
        <p:spPr>
          <a:xfrm>
            <a:off x="5377281" y="9434135"/>
            <a:ext cx="426809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57"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58" name="Originea termenilor query, key &amp; value vine de la modul în care se caută informații pe internet folosind search engines"/>
          <p:cNvSpPr txBox="1"/>
          <p:nvPr/>
        </p:nvSpPr>
        <p:spPr>
          <a:xfrm>
            <a:off x="462799" y="3244339"/>
            <a:ext cx="23458402"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Originea termenilor query, key &amp; value vine de la modul în care se caută informații pe internet folosind search engines</a:t>
            </a:r>
          </a:p>
        </p:txBody>
      </p:sp>
      <p:sp>
        <p:nvSpPr>
          <p:cNvPr id="459" name="Mai exact, query-ul înseamnă ce vrei tu să cauți, de exemplu „filme gratis online”"/>
          <p:cNvSpPr txBox="1"/>
          <p:nvPr/>
        </p:nvSpPr>
        <p:spPr>
          <a:xfrm>
            <a:off x="462799" y="5099339"/>
            <a:ext cx="23458402" cy="1315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query-ul înseamnă ce vrei tu să cauți, de exemplu „filme gratis online”</a:t>
            </a:r>
          </a:p>
        </p:txBody>
      </p:sp>
      <p:sp>
        <p:nvSpPr>
          <p:cNvPr id="460" name="Key reprezintă cuvintele cheie dintr-un site"/>
          <p:cNvSpPr txBox="1"/>
          <p:nvPr/>
        </p:nvSpPr>
        <p:spPr>
          <a:xfrm>
            <a:off x="462799" y="6205539"/>
            <a:ext cx="23458402" cy="1315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Key reprezintă cuvintele cheie dintr-un site</a:t>
            </a:r>
          </a:p>
        </p:txBody>
      </p:sp>
      <p:sp>
        <p:nvSpPr>
          <p:cNvPr id="461" name="Value reprezintă rezultatele individuale date de un motor de căutare"/>
          <p:cNvSpPr txBox="1"/>
          <p:nvPr/>
        </p:nvSpPr>
        <p:spPr>
          <a:xfrm>
            <a:off x="462799" y="7215739"/>
            <a:ext cx="23458402" cy="131534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Value reprezintă rezultatele individuale date de un motor de căutare</a:t>
            </a:r>
          </a:p>
        </p:txBody>
      </p:sp>
      <p:sp>
        <p:nvSpPr>
          <p:cNvPr id="462" name="Query-ul tău este comparat cu mai multe cuvinte cheie (keys), și dacă acestea se potrivesc într-o anumită măsură, vei primi site-urile căutate (values) ca rezultat"/>
          <p:cNvSpPr txBox="1"/>
          <p:nvPr/>
        </p:nvSpPr>
        <p:spPr>
          <a:xfrm>
            <a:off x="462799" y="8283089"/>
            <a:ext cx="23458402" cy="21309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Query-ul tău este comparat cu mai multe cuvinte cheie (keys), și dacă acestea se potrivesc într-o anumită măsură, vei primi site-urile căutate (values) ca rezultat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4"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65"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66" name="Mecanismul de atenție s-a inspirat de aici, dar ce vrea el să facă e să ia un word embedding după positional encoding și să-l transforme într-o combinație ponderată de celelalte cuvinte"/>
          <p:cNvSpPr txBox="1"/>
          <p:nvPr/>
        </p:nvSpPr>
        <p:spPr>
          <a:xfrm>
            <a:off x="90761" y="2433074"/>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Mecanismul de atenție s-a inspirat de aici, dar ce vrea el să facă e să ia un word embedding după positional encoding și să-l transforme într-o combinație ponderată de celelalte cuvinte</a:t>
            </a:r>
          </a:p>
        </p:txBody>
      </p:sp>
      <p:sp>
        <p:nvSpPr>
          <p:cNvPr id="467" name="Scopul: ca un cuvânt să conțină informație contextuală, adică să știe către cine se referă acel cuvânt"/>
          <p:cNvSpPr txBox="1"/>
          <p:nvPr/>
        </p:nvSpPr>
        <p:spPr>
          <a:xfrm>
            <a:off x="90761" y="4292939"/>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Scopul: ca un cuvânt să conțină informație contextuală, adică să știe către cine se referă acel cuvânt</a:t>
            </a:r>
          </a:p>
        </p:txBody>
      </p:sp>
      <p:sp>
        <p:nvSpPr>
          <p:cNvPr id="468" name="Să zicem că avem un cuvânt   din propoziție"/>
          <p:cNvSpPr txBox="1"/>
          <p:nvPr/>
        </p:nvSpPr>
        <p:spPr>
          <a:xfrm>
            <a:off x="90761" y="6080429"/>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Să zicem că avem un cuvânt </a:t>
            </a:r>
            <a14:m>
              <m:oMath>
                <m:r>
                  <a:rPr xmlns:a="http://schemas.openxmlformats.org/drawingml/2006/main" sz="5200" i="1">
                    <a:solidFill>
                      <a:srgbClr val="000000"/>
                    </a:solidFill>
                    <a:latin typeface="Cambria Math" panose="02040503050406030204" pitchFamily="18" charset="0"/>
                  </a:rPr>
                  <m:t>i</m:t>
                </m:r>
              </m:oMath>
            </a14:m>
            <a:r>
              <a:t> din propoziție</a:t>
            </a:r>
          </a:p>
        </p:txBody>
      </p:sp>
      <p:sp>
        <p:nvSpPr>
          <p:cNvPr id="469" name="Primul lucru pe care îl facem e să calculăm scorul de atenție între cuvântul   și cuvântul   ca un produs scalar între query al cuvântului   și key cuvântului  :"/>
          <p:cNvSpPr txBox="1"/>
          <p:nvPr/>
        </p:nvSpPr>
        <p:spPr>
          <a:xfrm>
            <a:off x="90761" y="7266850"/>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35177" indent="-535177" defTabSz="2389572">
              <a:spcBef>
                <a:spcPts val="2300"/>
              </a:spcBef>
              <a:buSzPct val="150000"/>
              <a:buChar char="•"/>
              <a:defRPr sz="4312">
                <a:latin typeface="Canela Text Regular"/>
                <a:ea typeface="Canela Text Regular"/>
                <a:cs typeface="Canela Text Regular"/>
                <a:sym typeface="Canela Text Regular"/>
              </a:defRPr>
            </a:pPr>
            <a:r>
              <a:t>Primul lucru pe care îl facem e să calculăm scorul de atenție între cuvântul </a:t>
            </a:r>
            <a14:m>
              <m:oMath>
                <m:r>
                  <a:rPr xmlns:a="http://schemas.openxmlformats.org/drawingml/2006/main" sz="5050" i="1">
                    <a:solidFill>
                      <a:srgbClr val="000000"/>
                    </a:solidFill>
                    <a:latin typeface="Cambria Math" panose="02040503050406030204" pitchFamily="18" charset="0"/>
                  </a:rPr>
                  <m:t>i</m:t>
                </m:r>
              </m:oMath>
            </a14:m>
            <a:r>
              <a:t> și cuvântul </a:t>
            </a:r>
            <a14:m>
              <m:oMath>
                <m:r>
                  <a:rPr xmlns:a="http://schemas.openxmlformats.org/drawingml/2006/main" sz="5050" i="1">
                    <a:solidFill>
                      <a:srgbClr val="000000"/>
                    </a:solidFill>
                    <a:latin typeface="Cambria Math" panose="02040503050406030204" pitchFamily="18" charset="0"/>
                  </a:rPr>
                  <m:t>j</m:t>
                </m:r>
              </m:oMath>
            </a14:m>
            <a:r>
              <a:t> ca un produs scalar între query al cuvântului </a:t>
            </a:r>
            <a14:m>
              <m:oMath>
                <m:r>
                  <a:rPr xmlns:a="http://schemas.openxmlformats.org/drawingml/2006/main" sz="5050" i="1">
                    <a:solidFill>
                      <a:srgbClr val="000000"/>
                    </a:solidFill>
                    <a:latin typeface="Cambria Math" panose="02040503050406030204" pitchFamily="18" charset="0"/>
                  </a:rPr>
                  <m:t>i</m:t>
                </m:r>
              </m:oMath>
            </a14:m>
            <a:r>
              <a:t> și key cuvântului </a:t>
            </a:r>
            <a14:m>
              <m:oMath>
                <m:r>
                  <a:rPr xmlns:a="http://schemas.openxmlformats.org/drawingml/2006/main" sz="5050" i="1">
                    <a:solidFill>
                      <a:srgbClr val="000000"/>
                    </a:solidFill>
                    <a:latin typeface="Cambria Math" panose="02040503050406030204" pitchFamily="18" charset="0"/>
                  </a:rPr>
                  <m:t>j</m:t>
                </m:r>
              </m:oMath>
            </a14:m>
            <a:r>
              <a:t>:</a:t>
            </a:r>
            <a:endParaRPr sz="4400"/>
          </a:p>
        </p:txBody>
      </p:sp>
      <p:sp>
        <p:nvSpPr>
          <p:cNvPr id="470" name="Ecuație"/>
          <p:cNvSpPr txBox="1"/>
          <p:nvPr/>
        </p:nvSpPr>
        <p:spPr>
          <a:xfrm>
            <a:off x="10989356" y="9727784"/>
            <a:ext cx="2405288" cy="60348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a</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j</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q</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k</m:t>
                      </m:r>
                    </m:e>
                    <m:sub>
                      <m:r>
                        <a:rPr xmlns:a="http://schemas.openxmlformats.org/drawingml/2006/main" sz="4400" i="1">
                          <a:solidFill>
                            <a:srgbClr val="000000"/>
                          </a:solidFill>
                          <a:latin typeface="Cambria Math" panose="02040503050406030204" pitchFamily="18" charset="0"/>
                        </a:rPr>
                        <m:t>j</m:t>
                      </m:r>
                    </m:sub>
                  </m:sSub>
                </m:oMath>
              </m:oMathPara>
            </a14:m>
            <a:endParaRPr sz="4400"/>
          </a:p>
        </p:txBody>
      </p:sp>
      <p:sp>
        <p:nvSpPr>
          <p:cNvPr id="471" name="Asta ne spune practic cât de mult cuvântul   se potrivește cu cuvântul   ca relevanță"/>
          <p:cNvSpPr txBox="1"/>
          <p:nvPr/>
        </p:nvSpPr>
        <p:spPr>
          <a:xfrm>
            <a:off x="90761" y="10655154"/>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Asta ne spune practic cât de mult cuvântul </a:t>
            </a:r>
            <a14:m>
              <m:oMath>
                <m:r>
                  <a:rPr xmlns:a="http://schemas.openxmlformats.org/drawingml/2006/main" sz="5200" i="1">
                    <a:solidFill>
                      <a:srgbClr val="000000"/>
                    </a:solidFill>
                    <a:latin typeface="Cambria Math" panose="02040503050406030204" pitchFamily="18" charset="0"/>
                  </a:rPr>
                  <m:t>i</m:t>
                </m:r>
              </m:oMath>
            </a14:m>
            <a:r>
              <a:t> se potrivește cu cuvântul </a:t>
            </a:r>
            <a14:m>
              <m:oMath>
                <m:r>
                  <a:rPr xmlns:a="http://schemas.openxmlformats.org/drawingml/2006/main" sz="5200" i="1">
                    <a:solidFill>
                      <a:srgbClr val="000000"/>
                    </a:solidFill>
                    <a:latin typeface="Cambria Math" panose="02040503050406030204" pitchFamily="18" charset="0"/>
                  </a:rPr>
                  <m:t>j</m:t>
                </m:r>
              </m:oMath>
            </a14:m>
            <a:r>
              <a:t> ca relevanță</a:t>
            </a:r>
          </a:p>
        </p:txBody>
      </p:sp>
      <p:pic>
        <p:nvPicPr>
          <p:cNvPr id="472" name="Linie Linie" descr="Linie Linie"/>
          <p:cNvPicPr>
            <a:picLocks noChangeAspect="0"/>
          </p:cNvPicPr>
          <p:nvPr/>
        </p:nvPicPr>
        <p:blipFill>
          <a:blip r:embed="rId2">
            <a:extLst/>
          </a:blip>
          <a:stretch>
            <a:fillRect/>
          </a:stretch>
        </p:blipFill>
        <p:spPr>
          <a:xfrm>
            <a:off x="2574081" y="5190249"/>
            <a:ext cx="122363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5"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76"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77" name="Să zicem că vrem că avem 1 propoziție cu 5 cuvinte și vrem să comparăm un cuvânt cu cele 5 (inclusiv cuvântul însuși)"/>
          <p:cNvSpPr txBox="1"/>
          <p:nvPr/>
        </p:nvSpPr>
        <p:spPr>
          <a:xfrm>
            <a:off x="307347" y="2431282"/>
            <a:ext cx="24202477"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Să zicem că vrem că avem 1 propoziție cu 5 cuvinte și vrem să comparăm un cuvânt cu cele 5 (inclusiv cuvântul însuși)</a:t>
            </a:r>
          </a:p>
        </p:txBody>
      </p:sp>
      <p:sp>
        <p:nvSpPr>
          <p:cNvPr id="478" name="Se obțin"/>
          <p:cNvSpPr txBox="1"/>
          <p:nvPr/>
        </p:nvSpPr>
        <p:spPr>
          <a:xfrm>
            <a:off x="307347" y="5592713"/>
            <a:ext cx="24202477"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Se obțin </a:t>
            </a:r>
            <a14:m>
              <m:oMath>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,1</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,2</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,3</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,4</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,5</m:t>
                    </m:r>
                  </m:sub>
                </m:sSub>
              </m:oMath>
            </a14:m>
          </a:p>
        </p:txBody>
      </p:sp>
      <p:sp>
        <p:nvSpPr>
          <p:cNvPr id="479" name="De obicei se împart aceste valori la   unde   este dimensionalitatea embedding-urilor (oferă stabilitate în calculul gradienților):"/>
          <p:cNvSpPr txBox="1"/>
          <p:nvPr/>
        </p:nvSpPr>
        <p:spPr>
          <a:xfrm>
            <a:off x="307347" y="6677914"/>
            <a:ext cx="24202477" cy="314646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De obicei se împart aceste valori la </a:t>
            </a:r>
            <a14:m>
              <m:oMath>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oMath>
            </a14:m>
            <a:r>
              <a:t> unde </a:t>
            </a:r>
            <a14:m>
              <m:oMath>
                <m:r>
                  <a:rPr xmlns:a="http://schemas.openxmlformats.org/drawingml/2006/main" sz="5200" i="1">
                    <a:solidFill>
                      <a:srgbClr val="000000"/>
                    </a:solidFill>
                    <a:latin typeface="Cambria Math" panose="02040503050406030204" pitchFamily="18" charset="0"/>
                  </a:rPr>
                  <m:t>d</m:t>
                </m:r>
              </m:oMath>
            </a14:m>
            <a:r>
              <a:t> este dimensionalitatea embedding-urilor (oferă stabilitate în calculul gradienților): </a:t>
            </a:r>
            <a14:m>
              <m:oMath>
                <m:f>
                  <m:fPr>
                    <m:ctrlPr>
                      <a:rPr xmlns:a="http://schemas.openxmlformats.org/drawingml/2006/main" sz="5200" i="1">
                        <a:solidFill>
                          <a:srgbClr val="000000"/>
                        </a:solidFill>
                        <a:latin typeface="Cambria Math" panose="02040503050406030204" pitchFamily="18" charset="0"/>
                      </a:rPr>
                    </m:ctrlPr>
                    <m:type m:val="bar"/>
                  </m:fPr>
                  <m:num>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,1</m:t>
                        </m:r>
                      </m:sub>
                    </m:sSub>
                  </m:num>
                  <m:den>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den>
                </m:f>
                <m:r>
                  <a:rPr xmlns:a="http://schemas.openxmlformats.org/drawingml/2006/main" sz="5200" i="1">
                    <a:solidFill>
                      <a:srgbClr val="000000"/>
                    </a:solidFill>
                    <a:latin typeface="Cambria Math" panose="02040503050406030204" pitchFamily="18" charset="0"/>
                  </a:rPr>
                  <m:t>,</m:t>
                </m:r>
                <m:f>
                  <m:fPr>
                    <m:ctrlPr>
                      <a:rPr xmlns:a="http://schemas.openxmlformats.org/drawingml/2006/main" sz="5200" i="1">
                        <a:solidFill>
                          <a:srgbClr val="000000"/>
                        </a:solidFill>
                        <a:latin typeface="Cambria Math" panose="02040503050406030204" pitchFamily="18" charset="0"/>
                      </a:rPr>
                    </m:ctrlPr>
                    <m:type m:val="bar"/>
                  </m:fPr>
                  <m:num>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,2</m:t>
                        </m:r>
                      </m:sub>
                    </m:sSub>
                  </m:num>
                  <m:den>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den>
                </m:f>
                <m:r>
                  <a:rPr xmlns:a="http://schemas.openxmlformats.org/drawingml/2006/main" sz="5200" i="1">
                    <a:solidFill>
                      <a:srgbClr val="000000"/>
                    </a:solidFill>
                    <a:latin typeface="Cambria Math" panose="02040503050406030204" pitchFamily="18" charset="0"/>
                  </a:rPr>
                  <m:t>,</m:t>
                </m:r>
                <m:f>
                  <m:fPr>
                    <m:ctrlPr>
                      <a:rPr xmlns:a="http://schemas.openxmlformats.org/drawingml/2006/main" sz="5200" i="1">
                        <a:solidFill>
                          <a:srgbClr val="000000"/>
                        </a:solidFill>
                        <a:latin typeface="Cambria Math" panose="02040503050406030204" pitchFamily="18" charset="0"/>
                      </a:rPr>
                    </m:ctrlPr>
                    <m:type m:val="bar"/>
                  </m:fPr>
                  <m:num>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,3</m:t>
                        </m:r>
                      </m:sub>
                    </m:sSub>
                  </m:num>
                  <m:den>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den>
                </m:f>
                <m:r>
                  <a:rPr xmlns:a="http://schemas.openxmlformats.org/drawingml/2006/main" sz="5200" i="1">
                    <a:solidFill>
                      <a:srgbClr val="000000"/>
                    </a:solidFill>
                    <a:latin typeface="Cambria Math" panose="02040503050406030204" pitchFamily="18" charset="0"/>
                  </a:rPr>
                  <m:t>,</m:t>
                </m:r>
                <m:f>
                  <m:fPr>
                    <m:ctrlPr>
                      <a:rPr xmlns:a="http://schemas.openxmlformats.org/drawingml/2006/main" sz="5200" i="1">
                        <a:solidFill>
                          <a:srgbClr val="000000"/>
                        </a:solidFill>
                        <a:latin typeface="Cambria Math" panose="02040503050406030204" pitchFamily="18" charset="0"/>
                      </a:rPr>
                    </m:ctrlPr>
                    <m:type m:val="bar"/>
                  </m:fPr>
                  <m:num>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,4</m:t>
                        </m:r>
                      </m:sub>
                    </m:sSub>
                  </m:num>
                  <m:den>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den>
                </m:f>
                <m:r>
                  <a:rPr xmlns:a="http://schemas.openxmlformats.org/drawingml/2006/main" sz="5200" i="1">
                    <a:solidFill>
                      <a:srgbClr val="000000"/>
                    </a:solidFill>
                    <a:latin typeface="Cambria Math" panose="02040503050406030204" pitchFamily="18" charset="0"/>
                  </a:rPr>
                  <m:t>,</m:t>
                </m:r>
                <m:f>
                  <m:fPr>
                    <m:ctrlPr>
                      <a:rPr xmlns:a="http://schemas.openxmlformats.org/drawingml/2006/main" sz="5200" i="1">
                        <a:solidFill>
                          <a:srgbClr val="000000"/>
                        </a:solidFill>
                        <a:latin typeface="Cambria Math" panose="02040503050406030204" pitchFamily="18" charset="0"/>
                      </a:rPr>
                    </m:ctrlPr>
                    <m:type m:val="bar"/>
                  </m:fPr>
                  <m:num>
                    <m:sSub>
                      <m:e>
                        <m:r>
                          <a:rPr xmlns:a="http://schemas.openxmlformats.org/drawingml/2006/main" sz="5200" i="1">
                            <a:solidFill>
                              <a:srgbClr val="000000"/>
                            </a:solidFill>
                            <a:latin typeface="Cambria Math" panose="02040503050406030204" pitchFamily="18" charset="0"/>
                          </a:rPr>
                          <m:t>a</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,5</m:t>
                        </m:r>
                      </m:sub>
                    </m:sSub>
                  </m:num>
                  <m:den>
                    <m:rad>
                      <m:radPr>
                        <m:ctrlPr>
                          <a:rPr xmlns:a="http://schemas.openxmlformats.org/drawingml/2006/main" sz="5200" i="1">
                            <a:solidFill>
                              <a:srgbClr val="000000"/>
                            </a:solidFill>
                            <a:latin typeface="Cambria Math" panose="02040503050406030204" pitchFamily="18" charset="0"/>
                          </a:rPr>
                        </m:ctrlPr>
                        <m:degHide m:val="on"/>
                      </m:radPr>
                      <m:deg/>
                      <m:e>
                        <m:r>
                          <a:rPr xmlns:a="http://schemas.openxmlformats.org/drawingml/2006/main" sz="5200" i="1">
                            <a:solidFill>
                              <a:srgbClr val="000000"/>
                            </a:solidFill>
                            <a:latin typeface="Cambria Math" panose="02040503050406030204" pitchFamily="18" charset="0"/>
                          </a:rPr>
                          <m:t>d</m:t>
                        </m:r>
                      </m:e>
                    </m:rad>
                  </m:den>
                </m:f>
              </m:oMath>
            </a14:m>
          </a:p>
        </p:txBody>
      </p:sp>
      <p:sp>
        <p:nvSpPr>
          <p:cNvPr id="480" name="Ecuație"/>
          <p:cNvSpPr txBox="1"/>
          <p:nvPr/>
        </p:nvSpPr>
        <p:spPr>
          <a:xfrm>
            <a:off x="10724640" y="4815325"/>
            <a:ext cx="2405288" cy="60348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a</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j</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q</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k</m:t>
                      </m:r>
                    </m:e>
                    <m:sub>
                      <m:r>
                        <a:rPr xmlns:a="http://schemas.openxmlformats.org/drawingml/2006/main" sz="4400" i="1">
                          <a:solidFill>
                            <a:srgbClr val="000000"/>
                          </a:solidFill>
                          <a:latin typeface="Cambria Math" panose="02040503050406030204" pitchFamily="18" charset="0"/>
                        </a:rPr>
                        <m:t>j</m:t>
                      </m:r>
                    </m:sub>
                  </m:sSub>
                </m:oMath>
              </m:oMathPara>
            </a14:m>
            <a:endParaRPr sz="4400"/>
          </a:p>
        </p:txBody>
      </p:sp>
      <p:sp>
        <p:nvSpPr>
          <p:cNvPr id="481" name="Se aplică softmax pentru a trece în spațiul probabilităților:"/>
          <p:cNvSpPr txBox="1"/>
          <p:nvPr/>
        </p:nvSpPr>
        <p:spPr>
          <a:xfrm>
            <a:off x="90761" y="9572225"/>
            <a:ext cx="24202478" cy="19685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Se aplică softmax pentru a trece în spațiul probabilităților:</a:t>
            </a:r>
          </a:p>
        </p:txBody>
      </p:sp>
      <p:sp>
        <p:nvSpPr>
          <p:cNvPr id="482" name="="/>
          <p:cNvSpPr txBox="1"/>
          <p:nvPr/>
        </p:nvSpPr>
        <p:spPr>
          <a:xfrm>
            <a:off x="4831476" y="10822617"/>
            <a:ext cx="14721048" cy="169659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14:m>
              <m:oMath>
                <m:r>
                  <a:rPr xmlns:a="http://schemas.openxmlformats.org/drawingml/2006/main" sz="4900" i="1">
                    <a:solidFill>
                      <a:srgbClr val="000000"/>
                    </a:solidFill>
                    <a:latin typeface="Cambria Math" panose="02040503050406030204" pitchFamily="18" charset="0"/>
                  </a:rPr>
                  <m:t>{</m:t>
                </m:r>
                <m:sSub>
                  <m:e>
                    <m:r>
                      <a:rPr xmlns:a="http://schemas.openxmlformats.org/drawingml/2006/main" sz="4900" i="1">
                        <a:solidFill>
                          <a:srgbClr val="000000"/>
                        </a:solidFill>
                        <a:latin typeface="Cambria Math" panose="02040503050406030204" pitchFamily="18" charset="0"/>
                      </a:rPr>
                      <m:t>s</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,1</m:t>
                    </m:r>
                  </m:sub>
                </m:sSub>
                <m:r>
                  <a:rPr xmlns:a="http://schemas.openxmlformats.org/drawingml/2006/main" sz="4900" i="1">
                    <a:solidFill>
                      <a:srgbClr val="000000"/>
                    </a:solidFill>
                    <a:latin typeface="Cambria Math" panose="02040503050406030204" pitchFamily="18" charset="0"/>
                  </a:rPr>
                  <m:t>,</m:t>
                </m:r>
                <m:sSub>
                  <m:e>
                    <m:r>
                      <a:rPr xmlns:a="http://schemas.openxmlformats.org/drawingml/2006/main" sz="4900" i="1">
                        <a:solidFill>
                          <a:srgbClr val="000000"/>
                        </a:solidFill>
                        <a:latin typeface="Cambria Math" panose="02040503050406030204" pitchFamily="18" charset="0"/>
                      </a:rPr>
                      <m:t>s</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,2</m:t>
                    </m:r>
                  </m:sub>
                </m:sSub>
                <m:r>
                  <a:rPr xmlns:a="http://schemas.openxmlformats.org/drawingml/2006/main" sz="4900" i="1">
                    <a:solidFill>
                      <a:srgbClr val="000000"/>
                    </a:solidFill>
                    <a:latin typeface="Cambria Math" panose="02040503050406030204" pitchFamily="18" charset="0"/>
                  </a:rPr>
                  <m:t>,</m:t>
                </m:r>
                <m:sSub>
                  <m:e>
                    <m:r>
                      <a:rPr xmlns:a="http://schemas.openxmlformats.org/drawingml/2006/main" sz="4900" i="1">
                        <a:solidFill>
                          <a:srgbClr val="000000"/>
                        </a:solidFill>
                        <a:latin typeface="Cambria Math" panose="02040503050406030204" pitchFamily="18" charset="0"/>
                      </a:rPr>
                      <m:t>s</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,3</m:t>
                    </m:r>
                  </m:sub>
                </m:sSub>
                <m:r>
                  <a:rPr xmlns:a="http://schemas.openxmlformats.org/drawingml/2006/main" sz="4900" i="1">
                    <a:solidFill>
                      <a:srgbClr val="000000"/>
                    </a:solidFill>
                    <a:latin typeface="Cambria Math" panose="02040503050406030204" pitchFamily="18" charset="0"/>
                  </a:rPr>
                  <m:t>,</m:t>
                </m:r>
                <m:sSub>
                  <m:e>
                    <m:r>
                      <a:rPr xmlns:a="http://schemas.openxmlformats.org/drawingml/2006/main" sz="4900" i="1">
                        <a:solidFill>
                          <a:srgbClr val="000000"/>
                        </a:solidFill>
                        <a:latin typeface="Cambria Math" panose="02040503050406030204" pitchFamily="18" charset="0"/>
                      </a:rPr>
                      <m:t>s</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,4</m:t>
                    </m:r>
                  </m:sub>
                </m:sSub>
                <m:r>
                  <a:rPr xmlns:a="http://schemas.openxmlformats.org/drawingml/2006/main" sz="4900" i="1">
                    <a:solidFill>
                      <a:srgbClr val="000000"/>
                    </a:solidFill>
                    <a:latin typeface="Cambria Math" panose="02040503050406030204" pitchFamily="18" charset="0"/>
                  </a:rPr>
                  <m:t>,</m:t>
                </m:r>
                <m:sSub>
                  <m:e>
                    <m:r>
                      <a:rPr xmlns:a="http://schemas.openxmlformats.org/drawingml/2006/main" sz="4900" i="1">
                        <a:solidFill>
                          <a:srgbClr val="000000"/>
                        </a:solidFill>
                        <a:latin typeface="Cambria Math" panose="02040503050406030204" pitchFamily="18" charset="0"/>
                      </a:rPr>
                      <m:t>s</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,5</m:t>
                    </m:r>
                  </m:sub>
                </m:sSub>
                <m:r>
                  <a:rPr xmlns:a="http://schemas.openxmlformats.org/drawingml/2006/main" sz="4900" i="1">
                    <a:solidFill>
                      <a:srgbClr val="000000"/>
                    </a:solidFill>
                    <a:latin typeface="Cambria Math" panose="02040503050406030204" pitchFamily="18" charset="0"/>
                  </a:rPr>
                  <m:t>}</m:t>
                </m:r>
              </m:oMath>
            </a14:m>
            <a:r>
              <a:t>= </a:t>
            </a:r>
            <a14:m>
              <m:oMath>
                <m:r>
                  <a:rPr xmlns:a="http://schemas.openxmlformats.org/drawingml/2006/main" sz="4900" i="1">
                    <a:solidFill>
                      <a:srgbClr val="000000"/>
                    </a:solidFill>
                    <a:latin typeface="Cambria Math" panose="02040503050406030204" pitchFamily="18" charset="0"/>
                  </a:rPr>
                  <m:t>s</m:t>
                </m:r>
                <m:r>
                  <a:rPr xmlns:a="http://schemas.openxmlformats.org/drawingml/2006/main" sz="4900" i="1">
                    <a:solidFill>
                      <a:srgbClr val="000000"/>
                    </a:solidFill>
                    <a:latin typeface="Cambria Math" panose="02040503050406030204" pitchFamily="18" charset="0"/>
                  </a:rPr>
                  <m:t>o</m:t>
                </m:r>
                <m:r>
                  <a:rPr xmlns:a="http://schemas.openxmlformats.org/drawingml/2006/main" sz="4900" i="1">
                    <a:solidFill>
                      <a:srgbClr val="000000"/>
                    </a:solidFill>
                    <a:latin typeface="Cambria Math" panose="02040503050406030204" pitchFamily="18" charset="0"/>
                  </a:rPr>
                  <m:t>f</m:t>
                </m:r>
                <m:r>
                  <a:rPr xmlns:a="http://schemas.openxmlformats.org/drawingml/2006/main" sz="4900" i="1">
                    <a:solidFill>
                      <a:srgbClr val="000000"/>
                    </a:solidFill>
                    <a:latin typeface="Cambria Math" panose="02040503050406030204" pitchFamily="18" charset="0"/>
                  </a:rPr>
                  <m:t>t</m:t>
                </m:r>
                <m:r>
                  <a:rPr xmlns:a="http://schemas.openxmlformats.org/drawingml/2006/main" sz="4900" i="1">
                    <a:solidFill>
                      <a:srgbClr val="000000"/>
                    </a:solidFill>
                    <a:latin typeface="Cambria Math" panose="02040503050406030204" pitchFamily="18" charset="0"/>
                  </a:rPr>
                  <m:t>m</m:t>
                </m:r>
                <m:r>
                  <a:rPr xmlns:a="http://schemas.openxmlformats.org/drawingml/2006/main" sz="4900" i="1">
                    <a:solidFill>
                      <a:srgbClr val="000000"/>
                    </a:solidFill>
                    <a:latin typeface="Cambria Math" panose="02040503050406030204" pitchFamily="18" charset="0"/>
                  </a:rPr>
                  <m:t>a</m:t>
                </m:r>
                <m:r>
                  <a:rPr xmlns:a="http://schemas.openxmlformats.org/drawingml/2006/main" sz="4900" i="1">
                    <a:solidFill>
                      <a:srgbClr val="000000"/>
                    </a:solidFill>
                    <a:latin typeface="Cambria Math" panose="02040503050406030204" pitchFamily="18" charset="0"/>
                  </a:rPr>
                  <m:t>x</m:t>
                </m:r>
                <m:r>
                  <a:rPr xmlns:a="http://schemas.openxmlformats.org/drawingml/2006/main" sz="4900" i="1">
                    <a:solidFill>
                      <a:srgbClr val="000000"/>
                    </a:solidFill>
                    <a:latin typeface="Cambria Math" panose="02040503050406030204" pitchFamily="18" charset="0"/>
                  </a:rPr>
                  <m:t>(</m:t>
                </m:r>
                <m:r>
                  <a:rPr xmlns:a="http://schemas.openxmlformats.org/drawingml/2006/main" sz="4900" i="1">
                    <a:solidFill>
                      <a:srgbClr val="000000"/>
                    </a:solidFill>
                    <a:latin typeface="Cambria Math" panose="02040503050406030204" pitchFamily="18" charset="0"/>
                  </a:rPr>
                  <m:t>{</m:t>
                </m:r>
                <m:f>
                  <m:fPr>
                    <m:ctrlPr>
                      <a:rPr xmlns:a="http://schemas.openxmlformats.org/drawingml/2006/main" sz="4900" i="1">
                        <a:solidFill>
                          <a:srgbClr val="000000"/>
                        </a:solidFill>
                        <a:latin typeface="Cambria Math" panose="02040503050406030204" pitchFamily="18" charset="0"/>
                      </a:rPr>
                    </m:ctrlPr>
                    <m:type m:val="bar"/>
                  </m:fPr>
                  <m:num>
                    <m:sSub>
                      <m:e>
                        <m:r>
                          <a:rPr xmlns:a="http://schemas.openxmlformats.org/drawingml/2006/main" sz="4900" i="1">
                            <a:solidFill>
                              <a:srgbClr val="000000"/>
                            </a:solidFill>
                            <a:latin typeface="Cambria Math" panose="02040503050406030204" pitchFamily="18" charset="0"/>
                          </a:rPr>
                          <m:t>a</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,1</m:t>
                        </m:r>
                      </m:sub>
                    </m:sSub>
                  </m:num>
                  <m:den>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den>
                </m:f>
                <m:r>
                  <a:rPr xmlns:a="http://schemas.openxmlformats.org/drawingml/2006/main" sz="4900" i="1">
                    <a:solidFill>
                      <a:srgbClr val="000000"/>
                    </a:solidFill>
                    <a:latin typeface="Cambria Math" panose="02040503050406030204" pitchFamily="18" charset="0"/>
                  </a:rPr>
                  <m:t>,</m:t>
                </m:r>
                <m:f>
                  <m:fPr>
                    <m:ctrlPr>
                      <a:rPr xmlns:a="http://schemas.openxmlformats.org/drawingml/2006/main" sz="4900" i="1">
                        <a:solidFill>
                          <a:srgbClr val="000000"/>
                        </a:solidFill>
                        <a:latin typeface="Cambria Math" panose="02040503050406030204" pitchFamily="18" charset="0"/>
                      </a:rPr>
                    </m:ctrlPr>
                    <m:type m:val="bar"/>
                  </m:fPr>
                  <m:num>
                    <m:sSub>
                      <m:e>
                        <m:r>
                          <a:rPr xmlns:a="http://schemas.openxmlformats.org/drawingml/2006/main" sz="4900" i="1">
                            <a:solidFill>
                              <a:srgbClr val="000000"/>
                            </a:solidFill>
                            <a:latin typeface="Cambria Math" panose="02040503050406030204" pitchFamily="18" charset="0"/>
                          </a:rPr>
                          <m:t>a</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,2</m:t>
                        </m:r>
                      </m:sub>
                    </m:sSub>
                  </m:num>
                  <m:den>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den>
                </m:f>
                <m:r>
                  <a:rPr xmlns:a="http://schemas.openxmlformats.org/drawingml/2006/main" sz="4900" i="1">
                    <a:solidFill>
                      <a:srgbClr val="000000"/>
                    </a:solidFill>
                    <a:latin typeface="Cambria Math" panose="02040503050406030204" pitchFamily="18" charset="0"/>
                  </a:rPr>
                  <m:t>,</m:t>
                </m:r>
                <m:f>
                  <m:fPr>
                    <m:ctrlPr>
                      <a:rPr xmlns:a="http://schemas.openxmlformats.org/drawingml/2006/main" sz="4900" i="1">
                        <a:solidFill>
                          <a:srgbClr val="000000"/>
                        </a:solidFill>
                        <a:latin typeface="Cambria Math" panose="02040503050406030204" pitchFamily="18" charset="0"/>
                      </a:rPr>
                    </m:ctrlPr>
                    <m:type m:val="bar"/>
                  </m:fPr>
                  <m:num>
                    <m:sSub>
                      <m:e>
                        <m:r>
                          <a:rPr xmlns:a="http://schemas.openxmlformats.org/drawingml/2006/main" sz="4900" i="1">
                            <a:solidFill>
                              <a:srgbClr val="000000"/>
                            </a:solidFill>
                            <a:latin typeface="Cambria Math" panose="02040503050406030204" pitchFamily="18" charset="0"/>
                          </a:rPr>
                          <m:t>a</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,3</m:t>
                        </m:r>
                      </m:sub>
                    </m:sSub>
                  </m:num>
                  <m:den>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den>
                </m:f>
                <m:r>
                  <a:rPr xmlns:a="http://schemas.openxmlformats.org/drawingml/2006/main" sz="4900" i="1">
                    <a:solidFill>
                      <a:srgbClr val="000000"/>
                    </a:solidFill>
                    <a:latin typeface="Cambria Math" panose="02040503050406030204" pitchFamily="18" charset="0"/>
                  </a:rPr>
                  <m:t>,</m:t>
                </m:r>
                <m:f>
                  <m:fPr>
                    <m:ctrlPr>
                      <a:rPr xmlns:a="http://schemas.openxmlformats.org/drawingml/2006/main" sz="4900" i="1">
                        <a:solidFill>
                          <a:srgbClr val="000000"/>
                        </a:solidFill>
                        <a:latin typeface="Cambria Math" panose="02040503050406030204" pitchFamily="18" charset="0"/>
                      </a:rPr>
                    </m:ctrlPr>
                    <m:type m:val="bar"/>
                  </m:fPr>
                  <m:num>
                    <m:sSub>
                      <m:e>
                        <m:r>
                          <a:rPr xmlns:a="http://schemas.openxmlformats.org/drawingml/2006/main" sz="4900" i="1">
                            <a:solidFill>
                              <a:srgbClr val="000000"/>
                            </a:solidFill>
                            <a:latin typeface="Cambria Math" panose="02040503050406030204" pitchFamily="18" charset="0"/>
                          </a:rPr>
                          <m:t>a</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,4</m:t>
                        </m:r>
                      </m:sub>
                    </m:sSub>
                  </m:num>
                  <m:den>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den>
                </m:f>
                <m:r>
                  <a:rPr xmlns:a="http://schemas.openxmlformats.org/drawingml/2006/main" sz="4900" i="1">
                    <a:solidFill>
                      <a:srgbClr val="000000"/>
                    </a:solidFill>
                    <a:latin typeface="Cambria Math" panose="02040503050406030204" pitchFamily="18" charset="0"/>
                  </a:rPr>
                  <m:t>,</m:t>
                </m:r>
                <m:f>
                  <m:fPr>
                    <m:ctrlPr>
                      <a:rPr xmlns:a="http://schemas.openxmlformats.org/drawingml/2006/main" sz="4900" i="1">
                        <a:solidFill>
                          <a:srgbClr val="000000"/>
                        </a:solidFill>
                        <a:latin typeface="Cambria Math" panose="02040503050406030204" pitchFamily="18" charset="0"/>
                      </a:rPr>
                    </m:ctrlPr>
                    <m:type m:val="bar"/>
                  </m:fPr>
                  <m:num>
                    <m:sSub>
                      <m:e>
                        <m:r>
                          <a:rPr xmlns:a="http://schemas.openxmlformats.org/drawingml/2006/main" sz="4900" i="1">
                            <a:solidFill>
                              <a:srgbClr val="000000"/>
                            </a:solidFill>
                            <a:latin typeface="Cambria Math" panose="02040503050406030204" pitchFamily="18" charset="0"/>
                          </a:rPr>
                          <m:t>a</m:t>
                        </m:r>
                      </m:e>
                      <m:sub>
                        <m:r>
                          <a:rPr xmlns:a="http://schemas.openxmlformats.org/drawingml/2006/main" sz="4900" i="1">
                            <a:solidFill>
                              <a:srgbClr val="000000"/>
                            </a:solidFill>
                            <a:latin typeface="Cambria Math" panose="02040503050406030204" pitchFamily="18" charset="0"/>
                          </a:rPr>
                          <m:t>i</m:t>
                        </m:r>
                        <m:r>
                          <a:rPr xmlns:a="http://schemas.openxmlformats.org/drawingml/2006/main" sz="4900" i="1">
                            <a:solidFill>
                              <a:srgbClr val="000000"/>
                            </a:solidFill>
                            <a:latin typeface="Cambria Math" panose="02040503050406030204" pitchFamily="18" charset="0"/>
                          </a:rPr>
                          <m:t>,5</m:t>
                        </m:r>
                      </m:sub>
                    </m:sSub>
                  </m:num>
                  <m:den>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den>
                </m:f>
                <m:r>
                  <a:rPr xmlns:a="http://schemas.openxmlformats.org/drawingml/2006/main" sz="4900" i="1">
                    <a:solidFill>
                      <a:srgbClr val="000000"/>
                    </a:solidFill>
                    <a:latin typeface="Cambria Math" panose="02040503050406030204" pitchFamily="18" charset="0"/>
                  </a:rPr>
                  <m:t>}</m:t>
                </m:r>
                <m:r>
                  <a:rPr xmlns:a="http://schemas.openxmlformats.org/drawingml/2006/main" sz="4900" i="1">
                    <a:solidFill>
                      <a:srgbClr val="000000"/>
                    </a:solidFill>
                    <a:latin typeface="Cambria Math" panose="02040503050406030204" pitchFamily="18" charset="0"/>
                  </a:rPr>
                  <m:t>)</m:t>
                </m:r>
              </m:oMath>
            </a14:m>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85"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86" name="attention_weights = […"/>
          <p:cNvSpPr txBox="1"/>
          <p:nvPr/>
        </p:nvSpPr>
        <p:spPr>
          <a:xfrm>
            <a:off x="4533908" y="1755773"/>
            <a:ext cx="3213728"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attention_weights = [</a:t>
            </a:r>
          </a:p>
          <a:p>
            <a:pPr>
              <a:lnSpc>
                <a:spcPct val="20000"/>
              </a:lnSpc>
              <a:defRPr sz="1900"/>
            </a:pPr>
            <a:r>
              <a:t>    0.01,  # 1: If (1%)</a:t>
            </a:r>
          </a:p>
          <a:p>
            <a:pPr>
              <a:lnSpc>
                <a:spcPct val="20000"/>
              </a:lnSpc>
              <a:defRPr sz="1900"/>
            </a:pPr>
            <a:r>
              <a:t>    0.01,  # 2: a (1%)</a:t>
            </a:r>
          </a:p>
          <a:p>
            <a:pPr>
              <a:lnSpc>
                <a:spcPct val="20000"/>
              </a:lnSpc>
              <a:defRPr sz="1900"/>
            </a:pPr>
            <a:r>
              <a:t>    0.12,  # 3: red (12%)</a:t>
            </a:r>
          </a:p>
          <a:p>
            <a:pPr>
              <a:lnSpc>
                <a:spcPct val="20000"/>
              </a:lnSpc>
              <a:defRPr sz="1900"/>
            </a:pPr>
            <a:r>
              <a:t>    0.12,  # 4: ball (12%)</a:t>
            </a:r>
          </a:p>
          <a:p>
            <a:pPr>
              <a:lnSpc>
                <a:spcPct val="20000"/>
              </a:lnSpc>
              <a:defRPr sz="1900"/>
            </a:pPr>
            <a:r>
              <a:t>    0.05,  # 5: is (5%)</a:t>
            </a:r>
          </a:p>
          <a:p>
            <a:pPr>
              <a:lnSpc>
                <a:spcPct val="20000"/>
              </a:lnSpc>
              <a:defRPr sz="1900"/>
            </a:pPr>
            <a:r>
              <a:t>    0.10,  # 6: larger (10%)</a:t>
            </a:r>
          </a:p>
          <a:p>
            <a:pPr>
              <a:lnSpc>
                <a:spcPct val="20000"/>
              </a:lnSpc>
              <a:defRPr sz="1900"/>
            </a:pPr>
            <a:r>
              <a:t>    0.05,  # 7: than (5%)</a:t>
            </a:r>
          </a:p>
          <a:p>
            <a:pPr>
              <a:lnSpc>
                <a:spcPct val="20000"/>
              </a:lnSpc>
              <a:defRPr sz="1900"/>
            </a:pPr>
            <a:r>
              <a:t>    0.01,  # 8: a (1%)</a:t>
            </a:r>
          </a:p>
          <a:p>
            <a:pPr>
              <a:lnSpc>
                <a:spcPct val="20000"/>
              </a:lnSpc>
              <a:defRPr sz="1900"/>
            </a:pPr>
            <a:r>
              <a:t>    0.12,  # 9: blue (12%)</a:t>
            </a:r>
          </a:p>
          <a:p>
            <a:pPr>
              <a:lnSpc>
                <a:spcPct val="20000"/>
              </a:lnSpc>
              <a:defRPr sz="1900"/>
            </a:pPr>
            <a:r>
              <a:t>    0.12,  # 10: ball (12%)</a:t>
            </a:r>
          </a:p>
          <a:p>
            <a:pPr>
              <a:lnSpc>
                <a:spcPct val="20000"/>
              </a:lnSpc>
              <a:defRPr sz="1900"/>
            </a:pPr>
            <a:r>
              <a:t>    0.01,  # 11: , (1%)</a:t>
            </a:r>
          </a:p>
          <a:p>
            <a:pPr>
              <a:lnSpc>
                <a:spcPct val="20000"/>
              </a:lnSpc>
              <a:defRPr sz="1900"/>
            </a:pPr>
            <a:r>
              <a:t>    0.01,  # 12: and (1%)</a:t>
            </a:r>
          </a:p>
          <a:p>
            <a:pPr>
              <a:lnSpc>
                <a:spcPct val="20000"/>
              </a:lnSpc>
              <a:defRPr sz="1900"/>
            </a:pPr>
            <a:r>
              <a:t>    0.01,  # 13: the (1%)</a:t>
            </a:r>
          </a:p>
          <a:p>
            <a:pPr>
              <a:lnSpc>
                <a:spcPct val="20000"/>
              </a:lnSpc>
              <a:defRPr sz="1900"/>
            </a:pPr>
            <a:r>
              <a:t>    0.01,  # 14: blue (1%)</a:t>
            </a:r>
          </a:p>
          <a:p>
            <a:pPr>
              <a:lnSpc>
                <a:spcPct val="20000"/>
              </a:lnSpc>
              <a:defRPr sz="1900"/>
            </a:pPr>
            <a:r>
              <a:t>    0.01,  # 15: ball (1%)</a:t>
            </a:r>
          </a:p>
          <a:p>
            <a:pPr>
              <a:lnSpc>
                <a:spcPct val="20000"/>
              </a:lnSpc>
              <a:defRPr sz="1900"/>
            </a:pPr>
            <a:r>
              <a:t>    0.05,  # 16: is (5%)</a:t>
            </a:r>
          </a:p>
          <a:p>
            <a:pPr>
              <a:lnSpc>
                <a:spcPct val="20000"/>
              </a:lnSpc>
              <a:defRPr sz="1900"/>
            </a:pPr>
            <a:r>
              <a:t>    0.01,  # 17: larger (1%)</a:t>
            </a:r>
          </a:p>
          <a:p>
            <a:pPr>
              <a:lnSpc>
                <a:spcPct val="20000"/>
              </a:lnSpc>
              <a:defRPr sz="1900"/>
            </a:pPr>
            <a:r>
              <a:t>    0.05,  # 18: than (5%)</a:t>
            </a:r>
          </a:p>
          <a:p>
            <a:pPr>
              <a:lnSpc>
                <a:spcPct val="20000"/>
              </a:lnSpc>
              <a:defRPr sz="1900"/>
            </a:pPr>
            <a:r>
              <a:t>    0.01,  # 19: a (1%)</a:t>
            </a:r>
          </a:p>
          <a:p>
            <a:pPr>
              <a:lnSpc>
                <a:spcPct val="20000"/>
              </a:lnSpc>
              <a:defRPr sz="1900"/>
            </a:pPr>
            <a:r>
              <a:t>    0.01,  # 20: green (1%)</a:t>
            </a:r>
          </a:p>
          <a:p>
            <a:pPr>
              <a:lnSpc>
                <a:spcPct val="20000"/>
              </a:lnSpc>
              <a:defRPr sz="1900"/>
            </a:pPr>
            <a:r>
              <a:t>    0.01,  # 21: ball (1%)</a:t>
            </a:r>
          </a:p>
          <a:p>
            <a:pPr>
              <a:lnSpc>
                <a:spcPct val="20000"/>
              </a:lnSpc>
              <a:defRPr sz="1900"/>
            </a:pPr>
            <a:r>
              <a:t>    0.01,  # 22: , (1%)</a:t>
            </a:r>
          </a:p>
          <a:p>
            <a:pPr>
              <a:lnSpc>
                <a:spcPct val="20000"/>
              </a:lnSpc>
              <a:defRPr sz="1900"/>
            </a:pPr>
            <a:r>
              <a:t>    0.01,  # 23: which (1%)</a:t>
            </a:r>
          </a:p>
          <a:p>
            <a:pPr>
              <a:lnSpc>
                <a:spcPct val="20000"/>
              </a:lnSpc>
              <a:defRPr sz="1900"/>
            </a:pPr>
            <a:r>
              <a:t>    0.01,  # 24: ball (1%)</a:t>
            </a:r>
          </a:p>
          <a:p>
            <a:pPr>
              <a:lnSpc>
                <a:spcPct val="20000"/>
              </a:lnSpc>
              <a:defRPr sz="1900"/>
            </a:pPr>
            <a:r>
              <a:t>    0.05,  # 25: is (5%)</a:t>
            </a:r>
          </a:p>
          <a:p>
            <a:pPr>
              <a:lnSpc>
                <a:spcPct val="20000"/>
              </a:lnSpc>
              <a:defRPr sz="1900"/>
            </a:pPr>
            <a:r>
              <a:t>    0.01,  # 26: the (1%)</a:t>
            </a:r>
          </a:p>
          <a:p>
            <a:pPr>
              <a:lnSpc>
                <a:spcPct val="20000"/>
              </a:lnSpc>
              <a:defRPr sz="1900"/>
            </a:pPr>
            <a:r>
              <a:t>    0.01,  # 27: smallest (1%)</a:t>
            </a:r>
          </a:p>
          <a:p>
            <a:pPr>
              <a:lnSpc>
                <a:spcPct val="20000"/>
              </a:lnSpc>
              <a:defRPr sz="1900"/>
            </a:pPr>
            <a:r>
              <a:t>    0.01   # 28: ? (1%)</a:t>
            </a:r>
          </a:p>
          <a:p>
            <a:pPr>
              <a:lnSpc>
                <a:spcPct val="20000"/>
              </a:lnSpc>
              <a:defRPr sz="1900"/>
            </a:pPr>
            <a:r>
              <a:t>]</a:t>
            </a:r>
          </a:p>
        </p:txBody>
      </p:sp>
      <p:sp>
        <p:nvSpPr>
          <p:cNvPr id="487" name="Dacă aplicăm pe textul nostru original, ca să comparăm prima apariție a lui „larger” cu celelalte cuvinte, am putea obține ceva de genul"/>
          <p:cNvSpPr txBox="1"/>
          <p:nvPr/>
        </p:nvSpPr>
        <p:spPr>
          <a:xfrm>
            <a:off x="8730122" y="2746165"/>
            <a:ext cx="13015698" cy="28089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Dacă aplicăm pe textul nostru original, ca să comparăm prima apariție a lui „larger” cu celelalte cuvinte, am putea obține ceva de genul</a:t>
            </a:r>
          </a:p>
        </p:txBody>
      </p:sp>
      <p:sp>
        <p:nvSpPr>
          <p:cNvPr id="488" name="Practic ne spune că e relevant în proporție mare (12%) cu cuvintele red, ball și blue, ball (primele apariții) și, în rest, cu celelalte cuvinte aproximativ 1%"/>
          <p:cNvSpPr txBox="1"/>
          <p:nvPr/>
        </p:nvSpPr>
        <p:spPr>
          <a:xfrm>
            <a:off x="8730122" y="5206094"/>
            <a:ext cx="13015698" cy="38337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Practic ne spune că e relevant în proporție mare (12%) cu cuvintele red, ball și blue, ball (primele apariții) și, în rest, cu celelalte cuvinte aproximativ 1%</a:t>
            </a:r>
          </a:p>
        </p:txBody>
      </p:sp>
      <p:sp>
        <p:nvSpPr>
          <p:cNvPr id="489" name="Atenție! Modelul își va da seama de aceste scoruri după antrenare, adică când reușește să învețe o reprezentare adecvată pentru fiecare cuvânt (query, key)"/>
          <p:cNvSpPr txBox="1"/>
          <p:nvPr/>
        </p:nvSpPr>
        <p:spPr>
          <a:xfrm>
            <a:off x="8730122" y="8468556"/>
            <a:ext cx="13015698" cy="38337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Atenție! Modelul își va da seama de aceste scoruri după antrenare, adică când reușește să învețe o reprezentare adecvată pentru fiecare cuvânt (query, key)</a:t>
            </a:r>
          </a:p>
        </p:txBody>
      </p:sp>
      <p:pic>
        <p:nvPicPr>
          <p:cNvPr id="490" name="Linie Linie" descr="Linie Linie"/>
          <p:cNvPicPr>
            <a:picLocks noChangeAspect="0"/>
          </p:cNvPicPr>
          <p:nvPr/>
        </p:nvPicPr>
        <p:blipFill>
          <a:blip r:embed="rId2">
            <a:extLst/>
          </a:blip>
          <a:stretch>
            <a:fillRect/>
          </a:stretch>
        </p:blipFill>
        <p:spPr>
          <a:xfrm>
            <a:off x="9235250" y="9299050"/>
            <a:ext cx="244822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3"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494"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495" name="Până acum am vorbit de query și key, dar unde intervine vectorul value al fiecărui cuvânt?"/>
          <p:cNvSpPr txBox="1"/>
          <p:nvPr/>
        </p:nvSpPr>
        <p:spPr>
          <a:xfrm>
            <a:off x="307347" y="2623803"/>
            <a:ext cx="24202477" cy="12542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Până acum am vorbit de query și key, dar unde intervine vectorul value al fiecărui cuvânt?</a:t>
            </a:r>
          </a:p>
        </p:txBody>
      </p:sp>
      <p:sp>
        <p:nvSpPr>
          <p:cNvPr id="496" name="Intervine când vrem să obținem un nou vector asociat fiecărui cuvânt, care să conțină informație din toate celelalte cuvinte"/>
          <p:cNvSpPr txBox="1"/>
          <p:nvPr/>
        </p:nvSpPr>
        <p:spPr>
          <a:xfrm>
            <a:off x="307347" y="3774126"/>
            <a:ext cx="23769306"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Intervine când vrem să obținem un nou vector asociat fiecărui cuvânt, care să conțină informație din toate celelalte cuvinte </a:t>
            </a:r>
          </a:p>
        </p:txBody>
      </p:sp>
      <p:sp>
        <p:nvSpPr>
          <p:cNvPr id="497" name="Mai exact, dacă de exemplu   sunt scorurile obținute, atunci noua reprezentare a cuvântului   devine:"/>
          <p:cNvSpPr txBox="1"/>
          <p:nvPr/>
        </p:nvSpPr>
        <p:spPr>
          <a:xfrm>
            <a:off x="307347" y="4985467"/>
            <a:ext cx="23769306" cy="23681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Mai exact, dacă de exemplu </a:t>
            </a:r>
            <a14:m>
              <m:oMath>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s</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,1</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s</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,2</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s</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,3</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s</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,4</m:t>
                    </m:r>
                  </m:sub>
                </m:sSub>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s</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,5</m:t>
                    </m:r>
                  </m:sub>
                </m:sSub>
                <m:r>
                  <a:rPr xmlns:a="http://schemas.openxmlformats.org/drawingml/2006/main" sz="5200" i="1">
                    <a:solidFill>
                      <a:srgbClr val="000000"/>
                    </a:solidFill>
                    <a:latin typeface="Cambria Math" panose="02040503050406030204" pitchFamily="18" charset="0"/>
                  </a:rPr>
                  <m:t>}</m:t>
                </m:r>
              </m:oMath>
            </a14:m>
            <a:r>
              <a:t> sunt scorurile obținute, atunci noua reprezentare a cuvântului </a:t>
            </a:r>
            <a14:m>
              <m:oMath>
                <m:sSub>
                  <m:e>
                    <m:r>
                      <a:rPr xmlns:a="http://schemas.openxmlformats.org/drawingml/2006/main" sz="5200" i="1">
                        <a:solidFill>
                          <a:srgbClr val="000000"/>
                        </a:solidFill>
                        <a:latin typeface="Cambria Math" panose="02040503050406030204" pitchFamily="18" charset="0"/>
                      </a:rPr>
                      <m:t>w</m:t>
                    </m:r>
                  </m:e>
                  <m:sub>
                    <m:r>
                      <a:rPr xmlns:a="http://schemas.openxmlformats.org/drawingml/2006/main" sz="5200" i="1">
                        <a:solidFill>
                          <a:srgbClr val="000000"/>
                        </a:solidFill>
                        <a:latin typeface="Cambria Math" panose="02040503050406030204" pitchFamily="18" charset="0"/>
                      </a:rPr>
                      <m:t>i</m:t>
                    </m:r>
                  </m:sub>
                </m:sSub>
              </m:oMath>
            </a14:m>
            <a:r>
              <a:t> devine:</a:t>
            </a:r>
          </a:p>
        </p:txBody>
      </p:sp>
      <p:sp>
        <p:nvSpPr>
          <p:cNvPr id="498" name="Ecuație"/>
          <p:cNvSpPr txBox="1"/>
          <p:nvPr/>
        </p:nvSpPr>
        <p:spPr>
          <a:xfrm>
            <a:off x="6219121" y="8284059"/>
            <a:ext cx="11945758" cy="50130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,4</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4</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,5</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5</m:t>
                      </m:r>
                    </m:sub>
                  </m:sSub>
                </m:oMath>
              </m:oMathPara>
            </a14:m>
            <a:endParaRPr sz="4400"/>
          </a:p>
        </p:txBody>
      </p:sp>
      <p:sp>
        <p:nvSpPr>
          <p:cNvPr id="499" name="Unde   e reprezentarea cuvântului după positional encoding"/>
          <p:cNvSpPr txBox="1"/>
          <p:nvPr/>
        </p:nvSpPr>
        <p:spPr>
          <a:xfrm>
            <a:off x="307347" y="9271586"/>
            <a:ext cx="23769306" cy="11003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Unde </a:t>
            </a:r>
            <a14:m>
              <m:oMath>
                <m:sSub>
                  <m:e>
                    <m:r>
                      <a:rPr xmlns:a="http://schemas.openxmlformats.org/drawingml/2006/main" sz="5200" i="1">
                        <a:solidFill>
                          <a:srgbClr val="000000"/>
                        </a:solidFill>
                        <a:latin typeface="Cambria Math" panose="02040503050406030204" pitchFamily="18" charset="0"/>
                      </a:rPr>
                      <m:t>w</m:t>
                    </m:r>
                  </m:e>
                  <m:sub>
                    <m:r>
                      <a:rPr xmlns:a="http://schemas.openxmlformats.org/drawingml/2006/main" sz="5200" i="1">
                        <a:solidFill>
                          <a:srgbClr val="000000"/>
                        </a:solidFill>
                        <a:latin typeface="Cambria Math" panose="02040503050406030204" pitchFamily="18" charset="0"/>
                      </a:rPr>
                      <m:t>i</m:t>
                    </m:r>
                  </m:sub>
                </m:sSub>
              </m:oMath>
            </a14:m>
            <a:r>
              <a:t> e reprezentarea cuvântului după positional encoding</a:t>
            </a:r>
          </a:p>
        </p:txBody>
      </p:sp>
      <p:sp>
        <p:nvSpPr>
          <p:cNvPr id="500" name="Acum   va conține informație contextuală din toată propoziția, ponderată de scorul de atenție al fiecărui cuvânt"/>
          <p:cNvSpPr txBox="1"/>
          <p:nvPr/>
        </p:nvSpPr>
        <p:spPr>
          <a:xfrm>
            <a:off x="307347" y="10457449"/>
            <a:ext cx="23769306" cy="19081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Acum </a:t>
            </a:r>
            <a14:m>
              <m:oMath>
                <m:sSub>
                  <m:e>
                    <m:r>
                      <a:rPr xmlns:a="http://schemas.openxmlformats.org/drawingml/2006/main" sz="5200" i="1">
                        <a:solidFill>
                          <a:srgbClr val="000000"/>
                        </a:solidFill>
                        <a:latin typeface="Cambria Math" panose="02040503050406030204" pitchFamily="18" charset="0"/>
                      </a:rPr>
                      <m:t>w</m:t>
                    </m:r>
                  </m:e>
                  <m:sub>
                    <m:r>
                      <a:rPr xmlns:a="http://schemas.openxmlformats.org/drawingml/2006/main" sz="5200" i="1">
                        <a:solidFill>
                          <a:srgbClr val="000000"/>
                        </a:solidFill>
                        <a:latin typeface="Cambria Math" panose="02040503050406030204" pitchFamily="18" charset="0"/>
                      </a:rPr>
                      <m:t>i</m:t>
                    </m:r>
                  </m:sub>
                </m:sSub>
              </m:oMath>
            </a14:m>
            <a:r>
              <a:t> va conține informație contextuală din toată propoziția, ponderată de scorul de atenție al fiecărui cuvânt</a:t>
            </a:r>
          </a:p>
        </p:txBody>
      </p:sp>
      <p:pic>
        <p:nvPicPr>
          <p:cNvPr id="501" name="Linie Linie" descr="Linie Linie"/>
          <p:cNvPicPr>
            <a:picLocks noChangeAspect="0"/>
          </p:cNvPicPr>
          <p:nvPr/>
        </p:nvPicPr>
        <p:blipFill>
          <a:blip r:embed="rId2">
            <a:extLst/>
          </a:blip>
          <a:stretch>
            <a:fillRect/>
          </a:stretch>
        </p:blipFill>
        <p:spPr>
          <a:xfrm>
            <a:off x="2361650" y="11571927"/>
            <a:ext cx="1487655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4" name="Codificatorul"/>
          <p:cNvSpPr txBox="1"/>
          <p:nvPr>
            <p:ph type="title"/>
          </p:nvPr>
        </p:nvSpPr>
        <p:spPr>
          <a:xfrm>
            <a:off x="1219200" y="154406"/>
            <a:ext cx="21945600" cy="1727201"/>
          </a:xfrm>
          <a:prstGeom prst="rect">
            <a:avLst/>
          </a:prstGeom>
        </p:spPr>
        <p:txBody>
          <a:bodyPr/>
          <a:lstStyle/>
          <a:p>
            <a:pPr/>
            <a:r>
              <a:t>Codificatorul</a:t>
            </a:r>
          </a:p>
        </p:txBody>
      </p:sp>
      <p:sp>
        <p:nvSpPr>
          <p:cNvPr id="505" name="[…"/>
          <p:cNvSpPr txBox="1"/>
          <p:nvPr/>
        </p:nvSpPr>
        <p:spPr>
          <a:xfrm>
            <a:off x="5323454" y="1924228"/>
            <a:ext cx="3431160"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[0.5, -1.2, 0.3],    # if</a:t>
            </a:r>
          </a:p>
          <a:p>
            <a:pPr>
              <a:lnSpc>
                <a:spcPct val="20000"/>
              </a:lnSpc>
              <a:defRPr sz="1900"/>
            </a:pPr>
            <a:r>
              <a:t>    [1.0, 0.8, -0.5],    # a</a:t>
            </a:r>
          </a:p>
          <a:p>
            <a:pPr>
              <a:lnSpc>
                <a:spcPct val="20000"/>
              </a:lnSpc>
              <a:defRPr sz="1900"/>
            </a:pPr>
            <a:r>
              <a:t>    [1.3, -0.5, 0.7],    # red</a:t>
            </a:r>
          </a:p>
          <a:p>
            <a:pPr>
              <a:lnSpc>
                <a:spcPct val="20000"/>
              </a:lnSpc>
              <a:defRPr sz="1900"/>
            </a:pPr>
            <a:r>
              <a:t>    [0.9, -0.3, 0.8],    # ball</a:t>
            </a:r>
          </a:p>
          <a:p>
            <a:pPr>
              <a:lnSpc>
                <a:spcPct val="20000"/>
              </a:lnSpc>
              <a:defRPr sz="1900"/>
            </a:pPr>
            <a:r>
              <a:t>    [-0.1, -0.7, 0.5],   # is</a:t>
            </a:r>
          </a:p>
          <a:p>
            <a:pPr>
              <a:lnSpc>
                <a:spcPct val="20000"/>
              </a:lnSpc>
              <a:defRPr sz="1900"/>
            </a:pPr>
            <a:r>
              <a:t>    [-1.0, -0.9, 0.6],   # larger</a:t>
            </a:r>
          </a:p>
          <a:p>
            <a:pPr>
              <a:lnSpc>
                <a:spcPct val="20000"/>
              </a:lnSpc>
              <a:defRPr sz="1900"/>
            </a:pPr>
            <a:r>
              <a:t>    [-1.3, -1.4, 0.3],   # than</a:t>
            </a:r>
          </a:p>
          <a:p>
            <a:pPr>
              <a:lnSpc>
                <a:spcPct val="20000"/>
              </a:lnSpc>
              <a:defRPr sz="1900"/>
            </a:pPr>
            <a:r>
              <a:t>    [-1.7, -1.7, 0.6],   # a</a:t>
            </a:r>
          </a:p>
          <a:p>
            <a:pPr>
              <a:lnSpc>
                <a:spcPct val="20000"/>
              </a:lnSpc>
              <a:defRPr sz="1900"/>
            </a:pPr>
            <a:r>
              <a:t>    [-1.9, -1.9, 0.8],   # blue</a:t>
            </a:r>
          </a:p>
          <a:p>
            <a:pPr>
              <a:lnSpc>
                <a:spcPct val="20000"/>
              </a:lnSpc>
              <a:defRPr sz="1900"/>
            </a:pPr>
            <a:r>
              <a:t>    [-1.0, -0.7, 0.7],   # ball</a:t>
            </a:r>
          </a:p>
          <a:p>
            <a:pPr>
              <a:lnSpc>
                <a:spcPct val="20000"/>
              </a:lnSpc>
              <a:defRPr sz="1900"/>
            </a:pPr>
            <a:r>
              <a:t>    [-1.9, -1.7, 0.3],   # ,</a:t>
            </a:r>
          </a:p>
          <a:p>
            <a:pPr>
              <a:lnSpc>
                <a:spcPct val="20000"/>
              </a:lnSpc>
              <a:defRPr sz="1900"/>
            </a:pPr>
            <a:r>
              <a:t>    [-1.7, -1.4, 0.5],   # and</a:t>
            </a:r>
          </a:p>
          <a:p>
            <a:pPr>
              <a:lnSpc>
                <a:spcPct val="20000"/>
              </a:lnSpc>
              <a:defRPr sz="1900"/>
            </a:pPr>
            <a:r>
              <a:t>    [-1.3, -0.9, 0.6],   # the</a:t>
            </a:r>
          </a:p>
          <a:p>
            <a:pPr>
              <a:lnSpc>
                <a:spcPct val="20000"/>
              </a:lnSpc>
              <a:defRPr sz="1900"/>
            </a:pPr>
            <a:r>
              <a:t>    [-0.8, -0.5, 0.8],   # blue</a:t>
            </a:r>
          </a:p>
          <a:p>
            <a:pPr>
              <a:lnSpc>
                <a:spcPct val="20000"/>
              </a:lnSpc>
              <a:defRPr sz="1900"/>
            </a:pPr>
            <a:r>
              <a:t>    [-0.1, -0.1, 0.7],   # ball</a:t>
            </a:r>
          </a:p>
          <a:p>
            <a:pPr>
              <a:lnSpc>
                <a:spcPct val="20000"/>
              </a:lnSpc>
              <a:defRPr sz="1900"/>
            </a:pPr>
            <a:r>
              <a:t>    [0.6, 0.4, 0.5],     # is</a:t>
            </a:r>
          </a:p>
          <a:p>
            <a:pPr>
              <a:lnSpc>
                <a:spcPct val="20000"/>
              </a:lnSpc>
              <a:defRPr sz="1900"/>
            </a:pPr>
            <a:r>
              <a:t>    [1.1, 0.9, 0.6],     # larger</a:t>
            </a:r>
          </a:p>
          <a:p>
            <a:pPr>
              <a:lnSpc>
                <a:spcPct val="20000"/>
              </a:lnSpc>
              <a:defRPr sz="1900"/>
            </a:pPr>
            <a:r>
              <a:t>    [1.6, 1.3, 0.3],     # than</a:t>
            </a:r>
          </a:p>
          <a:p>
            <a:pPr>
              <a:lnSpc>
                <a:spcPct val="20000"/>
              </a:lnSpc>
              <a:defRPr sz="1900"/>
            </a:pPr>
            <a:r>
              <a:t>    [1.9, 1.9, 0.6],     # a</a:t>
            </a:r>
          </a:p>
          <a:p>
            <a:pPr>
              <a:lnSpc>
                <a:spcPct val="20000"/>
              </a:lnSpc>
              <a:defRPr sz="1900"/>
            </a:pPr>
            <a:r>
              <a:t>    [2.1, 2.1, 0.6],     # green</a:t>
            </a:r>
          </a:p>
          <a:p>
            <a:pPr>
              <a:lnSpc>
                <a:spcPct val="20000"/>
              </a:lnSpc>
              <a:defRPr sz="1900"/>
            </a:pPr>
            <a:r>
              <a:t>    [2.2, 2.1, 0.7],     # ball</a:t>
            </a:r>
          </a:p>
          <a:p>
            <a:pPr>
              <a:lnSpc>
                <a:spcPct val="20000"/>
              </a:lnSpc>
              <a:defRPr sz="1900"/>
            </a:pPr>
            <a:r>
              <a:t>    [2.1, 1.9, 0.3],     # ,</a:t>
            </a:r>
          </a:p>
          <a:p>
            <a:pPr>
              <a:lnSpc>
                <a:spcPct val="20000"/>
              </a:lnSpc>
              <a:defRPr sz="1900"/>
            </a:pPr>
            <a:r>
              <a:t>    [1.9, 1.6, 0.7],     # which</a:t>
            </a:r>
          </a:p>
          <a:p>
            <a:pPr>
              <a:lnSpc>
                <a:spcPct val="20000"/>
              </a:lnSpc>
              <a:defRPr sz="1900"/>
            </a:pPr>
            <a:r>
              <a:t>    [1.5, 1.1, 0.7],     # ball</a:t>
            </a:r>
          </a:p>
          <a:p>
            <a:pPr>
              <a:lnSpc>
                <a:spcPct val="20000"/>
              </a:lnSpc>
              <a:defRPr sz="1900"/>
            </a:pPr>
            <a:r>
              <a:t>    [1.0, 0.7, 0.5],     # is</a:t>
            </a:r>
          </a:p>
          <a:p>
            <a:pPr>
              <a:lnSpc>
                <a:spcPct val="20000"/>
              </a:lnSpc>
              <a:defRPr sz="1900"/>
            </a:pPr>
            <a:r>
              <a:t>    [0.3, 0.3, 0.6],     # the</a:t>
            </a:r>
          </a:p>
          <a:p>
            <a:pPr>
              <a:lnSpc>
                <a:spcPct val="20000"/>
              </a:lnSpc>
              <a:defRPr sz="1900"/>
            </a:pPr>
            <a:r>
              <a:t>    [-0.6, -0.4, 0.5],   # smallest</a:t>
            </a:r>
          </a:p>
          <a:p>
            <a:pPr>
              <a:lnSpc>
                <a:spcPct val="20000"/>
              </a:lnSpc>
              <a:defRPr sz="1900"/>
            </a:pPr>
            <a:r>
              <a:t>    [-1.1, -0.9, 0.4]    # ?</a:t>
            </a:r>
          </a:p>
          <a:p>
            <a:pPr>
              <a:lnSpc>
                <a:spcPct val="20000"/>
              </a:lnSpc>
              <a:defRPr sz="1900"/>
            </a:pPr>
            <a:r>
              <a:t>]</a:t>
            </a:r>
          </a:p>
        </p:txBody>
      </p:sp>
      <p:sp>
        <p:nvSpPr>
          <p:cNvPr id="506"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507" name="Practic, fiecare vector asociat unui cuvânt va fi înlocuit cu un alt vector, care combină informație din toate cuvintele din propoziție"/>
          <p:cNvSpPr txBox="1"/>
          <p:nvPr/>
        </p:nvSpPr>
        <p:spPr>
          <a:xfrm>
            <a:off x="10239974" y="3899062"/>
            <a:ext cx="9967697" cy="49127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Practic, fiecare vector asociat unui cuvânt va fi înlocuit cu un alt vector, care combină informație din toate cuvintele din propoziție</a:t>
            </a:r>
          </a:p>
        </p:txBody>
      </p:sp>
      <p:sp>
        <p:nvSpPr>
          <p:cNvPr id="508" name="Astfel, fiecare cuvânt va avea acum un context în propoziție"/>
          <p:cNvSpPr txBox="1"/>
          <p:nvPr/>
        </p:nvSpPr>
        <p:spPr>
          <a:xfrm>
            <a:off x="10347515" y="7604518"/>
            <a:ext cx="9752615" cy="221575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Astfel, fiecare cuvânt va avea acum un context în propoziție</a:t>
            </a:r>
          </a:p>
        </p:txBody>
      </p:sp>
      <p:pic>
        <p:nvPicPr>
          <p:cNvPr id="509" name="Linie Linie" descr="Linie Linie"/>
          <p:cNvPicPr>
            <a:picLocks noChangeAspect="0"/>
          </p:cNvPicPr>
          <p:nvPr/>
        </p:nvPicPr>
        <p:blipFill>
          <a:blip r:embed="rId2">
            <a:extLst/>
          </a:blip>
          <a:stretch>
            <a:fillRect/>
          </a:stretch>
        </p:blipFill>
        <p:spPr>
          <a:xfrm>
            <a:off x="10771250" y="9145450"/>
            <a:ext cx="28415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2" name="Mecanismul de atenție"/>
          <p:cNvSpPr txBox="1"/>
          <p:nvPr>
            <p:ph type="title"/>
          </p:nvPr>
        </p:nvSpPr>
        <p:spPr>
          <a:xfrm>
            <a:off x="1219200" y="154406"/>
            <a:ext cx="21945600" cy="1727201"/>
          </a:xfrm>
          <a:prstGeom prst="rect">
            <a:avLst/>
          </a:prstGeom>
        </p:spPr>
        <p:txBody>
          <a:bodyPr/>
          <a:lstStyle/>
          <a:p>
            <a:pPr/>
            <a:r>
              <a:t>Mecanismul de atenție</a:t>
            </a:r>
          </a:p>
        </p:txBody>
      </p:sp>
      <p:sp>
        <p:nvSpPr>
          <p:cNvPr id="513"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514" name="De ce nu folosim direct reprezentările cuvintelor după positional encoding la ponderare, de ce există values?"/>
          <p:cNvSpPr txBox="1"/>
          <p:nvPr/>
        </p:nvSpPr>
        <p:spPr>
          <a:xfrm>
            <a:off x="307347" y="3741979"/>
            <a:ext cx="23951769" cy="21351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ce nu folosim direct reprezentările cuvintelor după positional encoding la ponderare, de ce există values?</a:t>
            </a:r>
          </a:p>
        </p:txBody>
      </p:sp>
      <p:sp>
        <p:nvSpPr>
          <p:cNvPr id="515" name="Ecuație"/>
          <p:cNvSpPr txBox="1"/>
          <p:nvPr/>
        </p:nvSpPr>
        <p:spPr>
          <a:xfrm>
            <a:off x="5954405" y="2911567"/>
            <a:ext cx="11945758" cy="50130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,4</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4</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,5</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5</m:t>
                      </m:r>
                    </m:sub>
                  </m:sSub>
                </m:oMath>
              </m:oMathPara>
            </a14:m>
            <a:endParaRPr sz="4400"/>
          </a:p>
        </p:txBody>
      </p:sp>
      <p:sp>
        <p:nvSpPr>
          <p:cNvPr id="516" name="Haideți să vedem de fapt ce învață query, keys &amp; values:"/>
          <p:cNvSpPr txBox="1"/>
          <p:nvPr/>
        </p:nvSpPr>
        <p:spPr>
          <a:xfrm>
            <a:off x="216116" y="5488076"/>
            <a:ext cx="23951768" cy="130348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Haideți să vedem de fapt ce învață query, keys &amp; values:</a:t>
            </a:r>
          </a:p>
        </p:txBody>
      </p:sp>
      <p:sp>
        <p:nvSpPr>
          <p:cNvPr id="517" name="Query-ul spune: „Eu, cuvântul X, caut să aflu ceva despre… (de exemplu, cine acționează, unde se întâmplă ceva)"/>
          <p:cNvSpPr txBox="1"/>
          <p:nvPr/>
        </p:nvSpPr>
        <p:spPr>
          <a:xfrm>
            <a:off x="915648" y="6488400"/>
            <a:ext cx="22735166" cy="19346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Query-ul spune: „Eu, cuvântul X, caut să aflu ceva despre… (de exemplu, cine acționează, unde se întâmplă ceva)</a:t>
            </a:r>
          </a:p>
        </p:txBody>
      </p:sp>
      <p:sp>
        <p:nvSpPr>
          <p:cNvPr id="518" name="Keys zice: „Eu, cuvântul Y, pot oferi informații despre caracteristici precum cine, ce, unde, când.” Keys reprezintă modul prin care cuvântul Y se face “descoperit” de alt cuvânt care pune întrebări (query)"/>
          <p:cNvSpPr txBox="1"/>
          <p:nvPr/>
        </p:nvSpPr>
        <p:spPr>
          <a:xfrm>
            <a:off x="915649" y="8155564"/>
            <a:ext cx="22735165" cy="23164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3333" indent="-513333" defTabSz="2292038">
              <a:spcBef>
                <a:spcPts val="2200"/>
              </a:spcBef>
              <a:buSzPct val="150000"/>
              <a:buChar char="•"/>
              <a:defRPr sz="4136">
                <a:latin typeface="Canela Text Regular"/>
                <a:ea typeface="Canela Text Regular"/>
                <a:cs typeface="Canela Text Regular"/>
                <a:sym typeface="Canela Text Regular"/>
              </a:defRPr>
            </a:lvl1pPr>
          </a:lstStyle>
          <a:p>
            <a:pPr/>
            <a:r>
              <a:t>Keys zice: „Eu, cuvântul Y, pot oferi informații despre caracteristici precum cine, ce, unde, când.” Keys reprezintă modul prin care cuvântul Y se face “descoperit” de alt cuvânt care pune întrebări (query)</a:t>
            </a:r>
          </a:p>
        </p:txBody>
      </p:sp>
      <p:sp>
        <p:nvSpPr>
          <p:cNvPr id="519" name="Values este  conținutul efectiv pe care cuvântul Y îl oferă atunci când este “găsit” de un query potrivit. Dacă query și key se potrivesc, value este bucata de informație pe care o vei adăuga la reprezentarea inițială a cuvântului care întreabă, pentru a"/>
          <p:cNvSpPr txBox="1"/>
          <p:nvPr/>
        </p:nvSpPr>
        <p:spPr>
          <a:xfrm>
            <a:off x="915649" y="10352161"/>
            <a:ext cx="22735165" cy="26369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96951" indent="-496951" defTabSz="2218888">
              <a:spcBef>
                <a:spcPts val="2100"/>
              </a:spcBef>
              <a:buSzPct val="150000"/>
              <a:buChar char="•"/>
              <a:defRPr sz="4004">
                <a:latin typeface="Canela Text Regular"/>
                <a:ea typeface="Canela Text Regular"/>
                <a:cs typeface="Canela Text Regular"/>
                <a:sym typeface="Canela Text Regular"/>
              </a:defRPr>
            </a:lvl1pPr>
          </a:lstStyle>
          <a:p>
            <a:pPr/>
            <a:r>
              <a:t>Values este  conținutul efectiv pe care cuvântul Y îl oferă atunci când este “găsit” de un query potrivit. Dacă query și key se potrivesc, value este bucata de informație pe care o vei adăuga la reprezentarea inițială a cuvântului care întreabă, pentru a-l ajuta să înțeleagă contextul mai bine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1" name="Codificatorul"/>
          <p:cNvSpPr txBox="1"/>
          <p:nvPr>
            <p:ph type="title"/>
          </p:nvPr>
        </p:nvSpPr>
        <p:spPr>
          <a:xfrm>
            <a:off x="1219200" y="154406"/>
            <a:ext cx="21945600" cy="1727201"/>
          </a:xfrm>
          <a:prstGeom prst="rect">
            <a:avLst/>
          </a:prstGeom>
        </p:spPr>
        <p:txBody>
          <a:bodyPr/>
          <a:lstStyle/>
          <a:p>
            <a:pPr/>
            <a:r>
              <a:t>Codificatorul</a:t>
            </a:r>
          </a:p>
        </p:txBody>
      </p:sp>
      <p:sp>
        <p:nvSpPr>
          <p:cNvPr id="522" name="[…"/>
          <p:cNvSpPr txBox="1"/>
          <p:nvPr/>
        </p:nvSpPr>
        <p:spPr>
          <a:xfrm>
            <a:off x="5323454" y="1924228"/>
            <a:ext cx="3431160"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[0.5, -1.2, 0.3],    # if</a:t>
            </a:r>
          </a:p>
          <a:p>
            <a:pPr>
              <a:lnSpc>
                <a:spcPct val="20000"/>
              </a:lnSpc>
              <a:defRPr sz="1900"/>
            </a:pPr>
            <a:r>
              <a:t>    [1.0, 0.8, -0.5],    # a</a:t>
            </a:r>
          </a:p>
          <a:p>
            <a:pPr>
              <a:lnSpc>
                <a:spcPct val="20000"/>
              </a:lnSpc>
              <a:defRPr sz="1900"/>
            </a:pPr>
            <a:r>
              <a:t>    [1.3, -0.5, 0.7],    # red</a:t>
            </a:r>
          </a:p>
          <a:p>
            <a:pPr>
              <a:lnSpc>
                <a:spcPct val="20000"/>
              </a:lnSpc>
              <a:defRPr sz="1900"/>
            </a:pPr>
            <a:r>
              <a:t>    [0.9, -0.3, 0.8],    # ball</a:t>
            </a:r>
          </a:p>
          <a:p>
            <a:pPr>
              <a:lnSpc>
                <a:spcPct val="20000"/>
              </a:lnSpc>
              <a:defRPr sz="1900"/>
            </a:pPr>
            <a:r>
              <a:t>    [-0.1, -0.7, 0.5],   # is</a:t>
            </a:r>
          </a:p>
          <a:p>
            <a:pPr>
              <a:lnSpc>
                <a:spcPct val="20000"/>
              </a:lnSpc>
              <a:defRPr sz="1900"/>
            </a:pPr>
            <a:r>
              <a:t>    [-1.0, -0.9, 0.6],   # larger</a:t>
            </a:r>
          </a:p>
          <a:p>
            <a:pPr>
              <a:lnSpc>
                <a:spcPct val="20000"/>
              </a:lnSpc>
              <a:defRPr sz="1900"/>
            </a:pPr>
            <a:r>
              <a:t>    [-1.3, -1.4, 0.3],   # than</a:t>
            </a:r>
          </a:p>
          <a:p>
            <a:pPr>
              <a:lnSpc>
                <a:spcPct val="20000"/>
              </a:lnSpc>
              <a:defRPr sz="1900"/>
            </a:pPr>
            <a:r>
              <a:t>    [-1.7, -1.7, 0.6],   # a</a:t>
            </a:r>
          </a:p>
          <a:p>
            <a:pPr>
              <a:lnSpc>
                <a:spcPct val="20000"/>
              </a:lnSpc>
              <a:defRPr sz="1900"/>
            </a:pPr>
            <a:r>
              <a:t>    [-1.9, -1.9, 0.8],   # blue</a:t>
            </a:r>
          </a:p>
          <a:p>
            <a:pPr>
              <a:lnSpc>
                <a:spcPct val="20000"/>
              </a:lnSpc>
              <a:defRPr sz="1900"/>
            </a:pPr>
            <a:r>
              <a:t>    [-1.0, -0.7, 0.7],   # ball</a:t>
            </a:r>
          </a:p>
          <a:p>
            <a:pPr>
              <a:lnSpc>
                <a:spcPct val="20000"/>
              </a:lnSpc>
              <a:defRPr sz="1900"/>
            </a:pPr>
            <a:r>
              <a:t>    [-1.9, -1.7, 0.3],   # ,</a:t>
            </a:r>
          </a:p>
          <a:p>
            <a:pPr>
              <a:lnSpc>
                <a:spcPct val="20000"/>
              </a:lnSpc>
              <a:defRPr sz="1900"/>
            </a:pPr>
            <a:r>
              <a:t>    [-1.7, -1.4, 0.5],   # and</a:t>
            </a:r>
          </a:p>
          <a:p>
            <a:pPr>
              <a:lnSpc>
                <a:spcPct val="20000"/>
              </a:lnSpc>
              <a:defRPr sz="1900"/>
            </a:pPr>
            <a:r>
              <a:t>    [-1.3, -0.9, 0.6],   # the</a:t>
            </a:r>
          </a:p>
          <a:p>
            <a:pPr>
              <a:lnSpc>
                <a:spcPct val="20000"/>
              </a:lnSpc>
              <a:defRPr sz="1900"/>
            </a:pPr>
            <a:r>
              <a:t>    [-0.8, -0.5, 0.8],   # blue</a:t>
            </a:r>
          </a:p>
          <a:p>
            <a:pPr>
              <a:lnSpc>
                <a:spcPct val="20000"/>
              </a:lnSpc>
              <a:defRPr sz="1900"/>
            </a:pPr>
            <a:r>
              <a:t>    [-0.1, -0.1, 0.7],   # ball</a:t>
            </a:r>
          </a:p>
          <a:p>
            <a:pPr>
              <a:lnSpc>
                <a:spcPct val="20000"/>
              </a:lnSpc>
              <a:defRPr sz="1900"/>
            </a:pPr>
            <a:r>
              <a:t>    [0.6, 0.4, 0.5],     # is</a:t>
            </a:r>
          </a:p>
          <a:p>
            <a:pPr>
              <a:lnSpc>
                <a:spcPct val="20000"/>
              </a:lnSpc>
              <a:defRPr sz="1900"/>
            </a:pPr>
            <a:r>
              <a:t>    [1.1, 0.9, 0.6],     # larger</a:t>
            </a:r>
          </a:p>
          <a:p>
            <a:pPr>
              <a:lnSpc>
                <a:spcPct val="20000"/>
              </a:lnSpc>
              <a:defRPr sz="1900"/>
            </a:pPr>
            <a:r>
              <a:t>    [1.6, 1.3, 0.3],     # than</a:t>
            </a:r>
          </a:p>
          <a:p>
            <a:pPr>
              <a:lnSpc>
                <a:spcPct val="20000"/>
              </a:lnSpc>
              <a:defRPr sz="1900"/>
            </a:pPr>
            <a:r>
              <a:t>    [1.9, 1.9, 0.6],     # a</a:t>
            </a:r>
          </a:p>
          <a:p>
            <a:pPr>
              <a:lnSpc>
                <a:spcPct val="20000"/>
              </a:lnSpc>
              <a:defRPr sz="1900"/>
            </a:pPr>
            <a:r>
              <a:t>    [2.1, 2.1, 0.6],     # green</a:t>
            </a:r>
          </a:p>
          <a:p>
            <a:pPr>
              <a:lnSpc>
                <a:spcPct val="20000"/>
              </a:lnSpc>
              <a:defRPr sz="1900"/>
            </a:pPr>
            <a:r>
              <a:t>    [2.2, 2.1, 0.7],     # ball</a:t>
            </a:r>
          </a:p>
          <a:p>
            <a:pPr>
              <a:lnSpc>
                <a:spcPct val="20000"/>
              </a:lnSpc>
              <a:defRPr sz="1900"/>
            </a:pPr>
            <a:r>
              <a:t>    [2.1, 1.9, 0.3],     # ,</a:t>
            </a:r>
          </a:p>
          <a:p>
            <a:pPr>
              <a:lnSpc>
                <a:spcPct val="20000"/>
              </a:lnSpc>
              <a:defRPr sz="1900"/>
            </a:pPr>
            <a:r>
              <a:t>    [1.9, 1.6, 0.7],     # which</a:t>
            </a:r>
          </a:p>
          <a:p>
            <a:pPr>
              <a:lnSpc>
                <a:spcPct val="20000"/>
              </a:lnSpc>
              <a:defRPr sz="1900"/>
            </a:pPr>
            <a:r>
              <a:t>    [1.5, 1.1, 0.7],     # ball</a:t>
            </a:r>
          </a:p>
          <a:p>
            <a:pPr>
              <a:lnSpc>
                <a:spcPct val="20000"/>
              </a:lnSpc>
              <a:defRPr sz="1900"/>
            </a:pPr>
            <a:r>
              <a:t>    [1.0, 0.7, 0.5],     # is</a:t>
            </a:r>
          </a:p>
          <a:p>
            <a:pPr>
              <a:lnSpc>
                <a:spcPct val="20000"/>
              </a:lnSpc>
              <a:defRPr sz="1900"/>
            </a:pPr>
            <a:r>
              <a:t>    [0.3, 0.3, 0.6],     # the</a:t>
            </a:r>
          </a:p>
          <a:p>
            <a:pPr>
              <a:lnSpc>
                <a:spcPct val="20000"/>
              </a:lnSpc>
              <a:defRPr sz="1900"/>
            </a:pPr>
            <a:r>
              <a:t>    [-0.6, -0.4, 0.5],   # smallest</a:t>
            </a:r>
          </a:p>
          <a:p>
            <a:pPr>
              <a:lnSpc>
                <a:spcPct val="20000"/>
              </a:lnSpc>
              <a:defRPr sz="1900"/>
            </a:pPr>
            <a:r>
              <a:t>    [-1.1, -0.9, 0.4]    # ?</a:t>
            </a:r>
          </a:p>
          <a:p>
            <a:pPr>
              <a:lnSpc>
                <a:spcPct val="20000"/>
              </a:lnSpc>
              <a:defRPr sz="1900"/>
            </a:pPr>
            <a:r>
              <a:t>]</a:t>
            </a:r>
          </a:p>
        </p:txBody>
      </p:sp>
      <p:sp>
        <p:nvSpPr>
          <p:cNvPr id="523" name="Dreptunghi"/>
          <p:cNvSpPr/>
          <p:nvPr/>
        </p:nvSpPr>
        <p:spPr>
          <a:xfrm>
            <a:off x="24589682" y="4861757"/>
            <a:ext cx="2422826" cy="510626"/>
          </a:xfrm>
          <a:prstGeom prst="rect">
            <a:avLst/>
          </a:prstGeom>
          <a:solidFill>
            <a:schemeClr val="accent1">
              <a:satOff val="-7262"/>
              <a:lumOff val="-10627"/>
              <a:alpha val="50640"/>
            </a:schemeClr>
          </a:solidFill>
          <a:ln w="25400">
            <a:solidFill>
              <a:schemeClr val="accent6">
                <a:alpha val="50640"/>
              </a:schemeClr>
            </a:solidFill>
          </a:ln>
        </p:spPr>
        <p:txBody>
          <a:bodyPr lIns="50800" tIns="50800" rIns="50800" bIns="50800" anchor="ctr"/>
          <a:lstStyle/>
          <a:p>
            <a:pPr/>
          </a:p>
        </p:txBody>
      </p:sp>
      <p:sp>
        <p:nvSpPr>
          <p:cNvPr id="524" name="Acesta e mecanismul de self-attention"/>
          <p:cNvSpPr txBox="1"/>
          <p:nvPr/>
        </p:nvSpPr>
        <p:spPr>
          <a:xfrm>
            <a:off x="9833574" y="2118173"/>
            <a:ext cx="11948897" cy="1213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Acesta e mecanismul de self-attention</a:t>
            </a:r>
          </a:p>
        </p:txBody>
      </p:sp>
      <p:sp>
        <p:nvSpPr>
          <p:cNvPr id="525" name="Se spune „self” attention pentru că fiecare cuvânt din aceeași propoziție își învață contextul relativ la toate celelalte cuvinte din propoziția respectivă"/>
          <p:cNvSpPr txBox="1"/>
          <p:nvPr/>
        </p:nvSpPr>
        <p:spPr>
          <a:xfrm>
            <a:off x="9833574" y="2914350"/>
            <a:ext cx="11948897" cy="34852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Se spune „self” attention pentru că fiecare cuvânt din aceeași propoziție își învață contextul relativ la toate celelalte cuvinte din propoziția respectivă</a:t>
            </a:r>
          </a:p>
        </p:txBody>
      </p:sp>
      <p:sp>
        <p:nvSpPr>
          <p:cNvPr id="526" name="După ce se obține această variantă a vectorilor, ce se întâmplă de obicei este să se transforme toți vectorii astfel încât media valorilor din fiecare vector să fie 0 și deviația standard să fie 1"/>
          <p:cNvSpPr txBox="1"/>
          <p:nvPr/>
        </p:nvSpPr>
        <p:spPr>
          <a:xfrm>
            <a:off x="9833574" y="6048429"/>
            <a:ext cx="11948897" cy="442476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După ce se obține această variantă a vectorilor, ce se întâmplă de obicei este să se transforme toți vectorii astfel încât media valorilor din fiecare vector să fie 0 și deviația standard să fie 1</a:t>
            </a:r>
          </a:p>
        </p:txBody>
      </p:sp>
      <p:sp>
        <p:nvSpPr>
          <p:cNvPr id="527" name="Lucrul acesta e făcut pentru a stabiliza procesul de antrenare, mai exact să nu se ajungă la gradienți prea mari sau prea mici"/>
          <p:cNvSpPr txBox="1"/>
          <p:nvPr/>
        </p:nvSpPr>
        <p:spPr>
          <a:xfrm>
            <a:off x="9808174" y="10040297"/>
            <a:ext cx="12759117" cy="26378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Lucrul acesta e făcut pentru a stabiliza procesul de antrenare, mai exact să nu se ajungă la gradienți prea mari sau prea mici</a:t>
            </a:r>
          </a:p>
        </p:txBody>
      </p:sp>
      <p:pic>
        <p:nvPicPr>
          <p:cNvPr id="528" name="Linie Linie" descr="Linie Linie"/>
          <p:cNvPicPr>
            <a:picLocks noChangeAspect="0"/>
          </p:cNvPicPr>
          <p:nvPr/>
        </p:nvPicPr>
        <p:blipFill>
          <a:blip r:embed="rId2">
            <a:extLst/>
          </a:blip>
          <a:stretch>
            <a:fillRect/>
          </a:stretch>
        </p:blipFill>
        <p:spPr>
          <a:xfrm>
            <a:off x="12633650" y="2905450"/>
            <a:ext cx="751215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1" name="Codificatorul"/>
          <p:cNvSpPr txBox="1"/>
          <p:nvPr>
            <p:ph type="title"/>
          </p:nvPr>
        </p:nvSpPr>
        <p:spPr>
          <a:xfrm>
            <a:off x="1219200" y="9074"/>
            <a:ext cx="21945600" cy="1727201"/>
          </a:xfrm>
          <a:prstGeom prst="rect">
            <a:avLst/>
          </a:prstGeom>
        </p:spPr>
        <p:txBody>
          <a:bodyPr/>
          <a:lstStyle/>
          <a:p>
            <a:pPr/>
            <a:r>
              <a:t>Codificatorul</a:t>
            </a:r>
          </a:p>
        </p:txBody>
      </p:sp>
      <p:sp>
        <p:nvSpPr>
          <p:cNvPr id="532" name="Gata! Avem reprezentarea finală a fiecărui cuvânt de intrare"/>
          <p:cNvSpPr txBox="1"/>
          <p:nvPr/>
        </p:nvSpPr>
        <p:spPr>
          <a:xfrm>
            <a:off x="9096974" y="3031087"/>
            <a:ext cx="15247127" cy="1213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8">
              <a:spcBef>
                <a:spcPts val="2300"/>
              </a:spcBef>
              <a:buSzPct val="150000"/>
              <a:buChar char="•"/>
              <a:defRPr sz="4268">
                <a:latin typeface="Canela Text Regular"/>
                <a:ea typeface="Canela Text Regular"/>
                <a:cs typeface="Canela Text Regular"/>
                <a:sym typeface="Canela Text Regular"/>
              </a:defRPr>
            </a:lvl1pPr>
          </a:lstStyle>
          <a:p>
            <a:pPr/>
            <a:r>
              <a:t>Gata! Avem reprezentarea finală a fiecărui cuvânt de intrare</a:t>
            </a:r>
          </a:p>
        </p:txBody>
      </p:sp>
      <p:sp>
        <p:nvSpPr>
          <p:cNvPr id="533" name="Totuși, de obicei, atunci când întâlnim propoziții complexe, este considerat că o singură reprezentare pentru fiecare cuvânt s-ar putea să nu fie suficientă"/>
          <p:cNvSpPr txBox="1"/>
          <p:nvPr/>
        </p:nvSpPr>
        <p:spPr>
          <a:xfrm>
            <a:off x="9096974" y="4036260"/>
            <a:ext cx="15247127" cy="26784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Totuși, de obicei, atunci când întâlnim propoziții complexe, este considerat că o singură reprezentare pentru fiecare cuvânt s-ar putea să nu fie suficientă</a:t>
            </a:r>
          </a:p>
        </p:txBody>
      </p:sp>
      <p:sp>
        <p:nvSpPr>
          <p:cNvPr id="534" name="Astfel este introdus conceptul de multi-head self-attention: nu se obține o singură reprezentare pentru fiecare cuvânt, se obține un număr de N reprezentări"/>
          <p:cNvSpPr txBox="1"/>
          <p:nvPr/>
        </p:nvSpPr>
        <p:spPr>
          <a:xfrm>
            <a:off x="9096974" y="6576260"/>
            <a:ext cx="15247127" cy="26784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Astfel este introdus conceptul de multi-head self-attention: nu se obține o singură reprezentare pentru fiecare cuvânt, se obține un număr de N reprezentări</a:t>
            </a:r>
          </a:p>
        </p:txBody>
      </p:sp>
      <p:sp>
        <p:nvSpPr>
          <p:cNvPr id="535" name="N mai poartă numele și de „heads” sau „capete”"/>
          <p:cNvSpPr txBox="1"/>
          <p:nvPr/>
        </p:nvSpPr>
        <p:spPr>
          <a:xfrm>
            <a:off x="9096974" y="9014660"/>
            <a:ext cx="15247127" cy="1213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N mai poartă numele și de „heads” sau „capete”</a:t>
            </a:r>
          </a:p>
        </p:txBody>
      </p:sp>
      <p:sp>
        <p:nvSpPr>
          <p:cNvPr id="536" name="[…"/>
          <p:cNvSpPr txBox="1"/>
          <p:nvPr/>
        </p:nvSpPr>
        <p:spPr>
          <a:xfrm>
            <a:off x="289136" y="1721028"/>
            <a:ext cx="4060107"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[0.83, -1.41, 0.57],    # if</a:t>
            </a:r>
          </a:p>
          <a:p>
            <a:pPr>
              <a:lnSpc>
                <a:spcPct val="20000"/>
              </a:lnSpc>
              <a:defRPr sz="1900"/>
            </a:pPr>
            <a:r>
              <a:t>    [0.85, 0.55, -1.40],    # a</a:t>
            </a:r>
          </a:p>
          <a:p>
            <a:pPr>
              <a:lnSpc>
                <a:spcPct val="20000"/>
              </a:lnSpc>
              <a:defRPr sz="1900"/>
            </a:pPr>
            <a:r>
              <a:t>    [1.07, -1.34, 0.27],    # red</a:t>
            </a:r>
          </a:p>
          <a:p>
            <a:pPr>
              <a:lnSpc>
                <a:spcPct val="20000"/>
              </a:lnSpc>
              <a:defRPr sz="1900"/>
            </a:pPr>
            <a:r>
              <a:t>    [0.80, -1.41, 0.61],    # ball</a:t>
            </a:r>
          </a:p>
          <a:p>
            <a:pPr>
              <a:lnSpc>
                <a:spcPct val="20000"/>
              </a:lnSpc>
              <a:defRPr sz="1900"/>
            </a:pPr>
            <a:r>
              <a:t>    [0.00, -1.22, 1.22],    # is</a:t>
            </a:r>
          </a:p>
          <a:p>
            <a:pPr>
              <a:lnSpc>
                <a:spcPct val="20000"/>
              </a:lnSpc>
              <a:defRPr sz="1900"/>
            </a:pPr>
            <a:r>
              <a:t>    [-0.77, -0.64, 1.41],   # larger</a:t>
            </a:r>
          </a:p>
          <a:p>
            <a:pPr>
              <a:lnSpc>
                <a:spcPct val="20000"/>
              </a:lnSpc>
              <a:defRPr sz="1900"/>
            </a:pPr>
            <a:r>
              <a:t>    [-0.64, -0.77, 1.41],   # than</a:t>
            </a:r>
          </a:p>
          <a:p>
            <a:pPr>
              <a:lnSpc>
                <a:spcPct val="20000"/>
              </a:lnSpc>
              <a:defRPr sz="1900"/>
            </a:pPr>
            <a:r>
              <a:t>    [-0.71, -0.71, 1.41],   # a</a:t>
            </a:r>
          </a:p>
          <a:p>
            <a:pPr>
              <a:lnSpc>
                <a:spcPct val="20000"/>
              </a:lnSpc>
              <a:defRPr sz="1900"/>
            </a:pPr>
            <a:r>
              <a:t>    [-0.71, -0.71, 1.41],   # blue</a:t>
            </a:r>
          </a:p>
          <a:p>
            <a:pPr>
              <a:lnSpc>
                <a:spcPct val="20000"/>
              </a:lnSpc>
              <a:defRPr sz="1900"/>
            </a:pPr>
            <a:r>
              <a:t>    [-0.90, -0.49, 1.39],   # ball</a:t>
            </a:r>
          </a:p>
          <a:p>
            <a:pPr>
              <a:lnSpc>
                <a:spcPct val="20000"/>
              </a:lnSpc>
              <a:defRPr sz="1900"/>
            </a:pPr>
            <a:r>
              <a:t>    [-0.81, -0.60, 1.41],   # ,</a:t>
            </a:r>
          </a:p>
          <a:p>
            <a:pPr>
              <a:lnSpc>
                <a:spcPct val="20000"/>
              </a:lnSpc>
              <a:defRPr sz="1900"/>
            </a:pPr>
            <a:r>
              <a:t>    [-0.86, -0.55, 1.40],   # and</a:t>
            </a:r>
          </a:p>
          <a:p>
            <a:pPr>
              <a:lnSpc>
                <a:spcPct val="20000"/>
              </a:lnSpc>
              <a:defRPr sz="1900"/>
            </a:pPr>
            <a:r>
              <a:t>    [-0.94, -0.45, 1.39],   # the</a:t>
            </a:r>
          </a:p>
          <a:p>
            <a:pPr>
              <a:lnSpc>
                <a:spcPct val="20000"/>
              </a:lnSpc>
              <a:defRPr sz="1900"/>
            </a:pPr>
            <a:r>
              <a:t>    [-0.91, -0.48, 1.39],   # blue</a:t>
            </a:r>
          </a:p>
          <a:p>
            <a:pPr>
              <a:lnSpc>
                <a:spcPct val="20000"/>
              </a:lnSpc>
              <a:defRPr sz="1900"/>
            </a:pPr>
            <a:r>
              <a:t>    [-0.71, -0.71, 1.41],   # ball</a:t>
            </a:r>
          </a:p>
          <a:p>
            <a:pPr>
              <a:lnSpc>
                <a:spcPct val="20000"/>
              </a:lnSpc>
              <a:defRPr sz="1900"/>
            </a:pPr>
            <a:r>
              <a:t>    [1.22, -1.22, 0.00],    # is</a:t>
            </a:r>
          </a:p>
          <a:p>
            <a:pPr>
              <a:lnSpc>
                <a:spcPct val="20000"/>
              </a:lnSpc>
              <a:defRPr sz="1900"/>
            </a:pPr>
            <a:r>
              <a:t>    [1.14, 0.16, -1.30],    # larger</a:t>
            </a:r>
          </a:p>
          <a:p>
            <a:pPr>
              <a:lnSpc>
                <a:spcPct val="20000"/>
              </a:lnSpc>
              <a:defRPr sz="1900"/>
            </a:pPr>
            <a:r>
              <a:t>    [0.96, 0.42, -1.38],    # than</a:t>
            </a:r>
          </a:p>
          <a:p>
            <a:pPr>
              <a:lnSpc>
                <a:spcPct val="20000"/>
              </a:lnSpc>
              <a:defRPr sz="1900"/>
            </a:pPr>
            <a:r>
              <a:t>    [0.71, 0.71, -1.41],    # a</a:t>
            </a:r>
          </a:p>
          <a:p>
            <a:pPr>
              <a:lnSpc>
                <a:spcPct val="20000"/>
              </a:lnSpc>
              <a:defRPr sz="1900"/>
            </a:pPr>
            <a:r>
              <a:t>    [0.71, 0.71, -1.41],    # green</a:t>
            </a:r>
          </a:p>
          <a:p>
            <a:pPr>
              <a:lnSpc>
                <a:spcPct val="20000"/>
              </a:lnSpc>
              <a:defRPr sz="1900"/>
            </a:pPr>
            <a:r>
              <a:t>    [0.78, 0.63, -1.41],    # ball</a:t>
            </a:r>
          </a:p>
          <a:p>
            <a:pPr>
              <a:lnSpc>
                <a:spcPct val="20000"/>
              </a:lnSpc>
              <a:defRPr sz="1900"/>
            </a:pPr>
            <a:r>
              <a:t>    [0.83, 0.58, -1.41],    # ,</a:t>
            </a:r>
          </a:p>
          <a:p>
            <a:pPr>
              <a:lnSpc>
                <a:spcPct val="20000"/>
              </a:lnSpc>
              <a:defRPr sz="1900"/>
            </a:pPr>
            <a:r>
              <a:t>    [0.98, 0.39, -1.37],    # which</a:t>
            </a:r>
          </a:p>
          <a:p>
            <a:pPr>
              <a:lnSpc>
                <a:spcPct val="20000"/>
              </a:lnSpc>
              <a:defRPr sz="1900"/>
            </a:pPr>
            <a:r>
              <a:t>    [1.22, 0.00, -1.22],    # ball</a:t>
            </a:r>
          </a:p>
          <a:p>
            <a:pPr>
              <a:lnSpc>
                <a:spcPct val="20000"/>
              </a:lnSpc>
              <a:defRPr sz="1900"/>
            </a:pPr>
            <a:r>
              <a:t>    [1.30, -0.16, -1.14],   # is</a:t>
            </a:r>
          </a:p>
          <a:p>
            <a:pPr>
              <a:lnSpc>
                <a:spcPct val="20000"/>
              </a:lnSpc>
              <a:defRPr sz="1900"/>
            </a:pPr>
            <a:r>
              <a:t>    [-0.71, -0.71, 1.41],   # the</a:t>
            </a:r>
          </a:p>
          <a:p>
            <a:pPr>
              <a:lnSpc>
                <a:spcPct val="20000"/>
              </a:lnSpc>
              <a:defRPr sz="1900"/>
            </a:pPr>
            <a:r>
              <a:t>    [-0.91, -0.49, 1.39],   # smallest</a:t>
            </a:r>
          </a:p>
          <a:p>
            <a:pPr>
              <a:lnSpc>
                <a:spcPct val="20000"/>
              </a:lnSpc>
              <a:defRPr sz="1900"/>
            </a:pPr>
            <a:r>
              <a:t>    [-0.85, -0.55, 1.40]    # ?</a:t>
            </a:r>
          </a:p>
          <a:p>
            <a:pPr>
              <a:lnSpc>
                <a:spcPct val="20000"/>
              </a:lnSpc>
              <a:defRPr sz="1900"/>
            </a:pPr>
            <a:r>
              <a:t>]</a:t>
            </a:r>
          </a:p>
        </p:txBody>
      </p:sp>
      <p:sp>
        <p:nvSpPr>
          <p:cNvPr id="537" name="[…"/>
          <p:cNvSpPr txBox="1"/>
          <p:nvPr/>
        </p:nvSpPr>
        <p:spPr>
          <a:xfrm>
            <a:off x="4835737" y="1721028"/>
            <a:ext cx="4060107"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[-0.33, 0.90, -0.45],    # if</a:t>
            </a:r>
          </a:p>
          <a:p>
            <a:pPr>
              <a:lnSpc>
                <a:spcPct val="20000"/>
              </a:lnSpc>
              <a:defRPr sz="1900"/>
            </a:pPr>
            <a:r>
              <a:t>    [-3.24, 0.16, -0.80],    # a</a:t>
            </a:r>
          </a:p>
          <a:p>
            <a:pPr>
              <a:lnSpc>
                <a:spcPct val="20000"/>
              </a:lnSpc>
              <a:defRPr sz="1900"/>
            </a:pPr>
            <a:r>
              <a:t>    [-1.31, 1.79, 0.08],     # red</a:t>
            </a:r>
          </a:p>
          <a:p>
            <a:pPr>
              <a:lnSpc>
                <a:spcPct val="20000"/>
              </a:lnSpc>
              <a:defRPr sz="1900"/>
            </a:pPr>
            <a:r>
              <a:t>    [1.12, 1.24, 1.35],      # ball</a:t>
            </a:r>
          </a:p>
          <a:p>
            <a:pPr>
              <a:lnSpc>
                <a:spcPct val="20000"/>
              </a:lnSpc>
              <a:defRPr sz="1900"/>
            </a:pPr>
            <a:r>
              <a:t>    [-1.64, 1.66, 1.07],     # is</a:t>
            </a:r>
          </a:p>
          <a:p>
            <a:pPr>
              <a:lnSpc>
                <a:spcPct val="20000"/>
              </a:lnSpc>
              <a:defRPr sz="1900"/>
            </a:pPr>
            <a:r>
              <a:t>    [-0.63, -0.51, 1.88],    # larger</a:t>
            </a:r>
          </a:p>
          <a:p>
            <a:pPr>
              <a:lnSpc>
                <a:spcPct val="20000"/>
              </a:lnSpc>
              <a:defRPr sz="1900"/>
            </a:pPr>
            <a:r>
              <a:t>    [2.42, 0.46, -0.59],     # than</a:t>
            </a:r>
          </a:p>
          <a:p>
            <a:pPr>
              <a:lnSpc>
                <a:spcPct val="20000"/>
              </a:lnSpc>
              <a:defRPr sz="1900"/>
            </a:pPr>
            <a:r>
              <a:t>    [-0.66, 0.04, 0.80],     # a</a:t>
            </a:r>
          </a:p>
          <a:p>
            <a:pPr>
              <a:lnSpc>
                <a:spcPct val="20000"/>
              </a:lnSpc>
              <a:defRPr sz="1900"/>
            </a:pPr>
            <a:r>
              <a:t>    [0.79, -0.82, 1.56],     # blue</a:t>
            </a:r>
          </a:p>
          <a:p>
            <a:pPr>
              <a:lnSpc>
                <a:spcPct val="20000"/>
              </a:lnSpc>
              <a:defRPr sz="1900"/>
            </a:pPr>
            <a:r>
              <a:t>    [2.12, 1.33, 1.75],      # ball</a:t>
            </a:r>
          </a:p>
          <a:p>
            <a:pPr>
              <a:lnSpc>
                <a:spcPct val="20000"/>
              </a:lnSpc>
              <a:defRPr sz="1900"/>
            </a:pPr>
            <a:r>
              <a:t>    [-0.09, 0.75, 0.28],     # ,</a:t>
            </a:r>
          </a:p>
          <a:p>
            <a:pPr>
              <a:lnSpc>
                <a:spcPct val="20000"/>
              </a:lnSpc>
              <a:defRPr sz="1900"/>
            </a:pPr>
            <a:r>
              <a:t>    [-0.95, 0.76, -0.47],    # and</a:t>
            </a:r>
          </a:p>
          <a:p>
            <a:pPr>
              <a:lnSpc>
                <a:spcPct val="20000"/>
              </a:lnSpc>
              <a:defRPr sz="1900"/>
            </a:pPr>
            <a:r>
              <a:t>    [1.18, 1.19, -1.01],     # the</a:t>
            </a:r>
          </a:p>
          <a:p>
            <a:pPr>
              <a:lnSpc>
                <a:spcPct val="20000"/>
              </a:lnSpc>
              <a:defRPr sz="1900"/>
            </a:pPr>
            <a:r>
              <a:t>    [2.11, 1.58, 0.34],      # blue</a:t>
            </a:r>
          </a:p>
          <a:p>
            <a:pPr>
              <a:lnSpc>
                <a:spcPct val="20000"/>
              </a:lnSpc>
              <a:defRPr sz="1900"/>
            </a:pPr>
            <a:r>
              <a:t>    [0.48, -1.92, 0.23],     # ball</a:t>
            </a:r>
          </a:p>
          <a:p>
            <a:pPr>
              <a:lnSpc>
                <a:spcPct val="20000"/>
              </a:lnSpc>
              <a:defRPr sz="1900"/>
            </a:pPr>
            <a:r>
              <a:t>    [0.16, -0.61, 0.19],     # is</a:t>
            </a:r>
          </a:p>
          <a:p>
            <a:pPr>
              <a:lnSpc>
                <a:spcPct val="20000"/>
              </a:lnSpc>
              <a:defRPr sz="1900"/>
            </a:pPr>
            <a:r>
              <a:t>    [-0.02, 0.20, -0.30],    # larger</a:t>
            </a:r>
          </a:p>
          <a:p>
            <a:pPr>
              <a:lnSpc>
                <a:spcPct val="20000"/>
              </a:lnSpc>
              <a:defRPr sz="1900"/>
            </a:pPr>
            <a:r>
              <a:t>    [0.27, -1.12, 0.08],     # than</a:t>
            </a:r>
          </a:p>
          <a:p>
            <a:pPr>
              <a:lnSpc>
                <a:spcPct val="20000"/>
              </a:lnSpc>
              <a:defRPr sz="1900"/>
            </a:pPr>
            <a:r>
              <a:t>    [-1.76, -0.79, 0.13],    # a</a:t>
            </a:r>
          </a:p>
          <a:p>
            <a:pPr>
              <a:lnSpc>
                <a:spcPct val="20000"/>
              </a:lnSpc>
              <a:defRPr sz="1900"/>
            </a:pPr>
            <a:r>
              <a:t>    [-0.35, -0.08, 1.04],    # green</a:t>
            </a:r>
          </a:p>
          <a:p>
            <a:pPr>
              <a:lnSpc>
                <a:spcPct val="20000"/>
              </a:lnSpc>
              <a:defRPr sz="1900"/>
            </a:pPr>
            <a:r>
              <a:t>    [-0.83, -1.01, 1.66],    # ball</a:t>
            </a:r>
          </a:p>
          <a:p>
            <a:pPr>
              <a:lnSpc>
                <a:spcPct val="20000"/>
              </a:lnSpc>
              <a:defRPr sz="1900"/>
            </a:pPr>
            <a:r>
              <a:t>    [-0.56, -0.35, 0.43],    # ,</a:t>
            </a:r>
          </a:p>
          <a:p>
            <a:pPr>
              <a:lnSpc>
                <a:spcPct val="20000"/>
              </a:lnSpc>
              <a:defRPr sz="1900"/>
            </a:pPr>
            <a:r>
              <a:t>    [-0.24, 0.32, -0.88],    # which</a:t>
            </a:r>
          </a:p>
          <a:p>
            <a:pPr>
              <a:lnSpc>
                <a:spcPct val="20000"/>
              </a:lnSpc>
              <a:defRPr sz="1900"/>
            </a:pPr>
            <a:r>
              <a:t>    [-0.96, -0.14, -1.25],   # ball</a:t>
            </a:r>
          </a:p>
          <a:p>
            <a:pPr>
              <a:lnSpc>
                <a:spcPct val="20000"/>
              </a:lnSpc>
              <a:defRPr sz="1900"/>
            </a:pPr>
            <a:r>
              <a:t>    [-0.89, -0.05, 1.24],    # is</a:t>
            </a:r>
          </a:p>
          <a:p>
            <a:pPr>
              <a:lnSpc>
                <a:spcPct val="20000"/>
              </a:lnSpc>
              <a:defRPr sz="1900"/>
            </a:pPr>
            <a:r>
              <a:t>    [-0.31, 0.61, 2.09],     # the</a:t>
            </a:r>
          </a:p>
          <a:p>
            <a:pPr>
              <a:lnSpc>
                <a:spcPct val="20000"/>
              </a:lnSpc>
              <a:defRPr sz="1900"/>
            </a:pPr>
            <a:r>
              <a:t>    [-0.64, 0.83, 0.55],     # smallest</a:t>
            </a:r>
          </a:p>
          <a:p>
            <a:pPr>
              <a:lnSpc>
                <a:spcPct val="20000"/>
              </a:lnSpc>
              <a:defRPr sz="1900"/>
            </a:pPr>
            <a:r>
              <a:t>    [-1.41, -0.60, 0.63]     # ?</a:t>
            </a:r>
          </a:p>
          <a:p>
            <a:pPr>
              <a:lnSpc>
                <a:spcPct val="20000"/>
              </a:lnSpc>
              <a:defRPr sz="1900"/>
            </a:pPr>
            <a:r>
              <a:t>]</a:t>
            </a:r>
          </a:p>
        </p:txBody>
      </p:sp>
      <p:sp>
        <p:nvSpPr>
          <p:cNvPr id="538" name="în stânga, numărul de heads este 2"/>
          <p:cNvSpPr txBox="1"/>
          <p:nvPr/>
        </p:nvSpPr>
        <p:spPr>
          <a:xfrm>
            <a:off x="9096974" y="10208460"/>
            <a:ext cx="15247127" cy="12130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stânga, numărul de heads este 2</a:t>
            </a:r>
          </a:p>
        </p:txBody>
      </p:sp>
      <p:pic>
        <p:nvPicPr>
          <p:cNvPr id="539" name="Linie Linie" descr="Linie Linie"/>
          <p:cNvPicPr>
            <a:picLocks noChangeAspect="0"/>
          </p:cNvPicPr>
          <p:nvPr/>
        </p:nvPicPr>
        <p:blipFill>
          <a:blip r:embed="rId2">
            <a:extLst/>
          </a:blip>
          <a:stretch>
            <a:fillRect/>
          </a:stretch>
        </p:blipFill>
        <p:spPr>
          <a:xfrm>
            <a:off x="18086449" y="7438683"/>
            <a:ext cx="4236881" cy="101601"/>
          </a:xfrm>
          <a:prstGeom prst="rect">
            <a:avLst/>
          </a:prstGeom>
        </p:spPr>
      </p:pic>
      <p:pic>
        <p:nvPicPr>
          <p:cNvPr id="541" name="Linie Linie" descr="Linie Linie"/>
          <p:cNvPicPr>
            <a:picLocks noChangeAspect="0"/>
          </p:cNvPicPr>
          <p:nvPr/>
        </p:nvPicPr>
        <p:blipFill>
          <a:blip r:embed="rId3">
            <a:extLst/>
          </a:blip>
          <a:stretch>
            <a:fillRect/>
          </a:stretch>
        </p:blipFill>
        <p:spPr>
          <a:xfrm>
            <a:off x="9363286" y="8200348"/>
            <a:ext cx="282486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Decodificatorul"/>
          <p:cNvSpPr txBox="1"/>
          <p:nvPr>
            <p:ph type="title"/>
          </p:nvPr>
        </p:nvSpPr>
        <p:spPr>
          <a:xfrm>
            <a:off x="1143000" y="9074"/>
            <a:ext cx="21945600" cy="1727201"/>
          </a:xfrm>
          <a:prstGeom prst="rect">
            <a:avLst/>
          </a:prstGeom>
        </p:spPr>
        <p:txBody>
          <a:bodyPr/>
          <a:lstStyle/>
          <a:p>
            <a:pPr/>
            <a:r>
              <a:t>Decodificatorul</a:t>
            </a:r>
          </a:p>
        </p:txBody>
      </p:sp>
      <p:sp>
        <p:nvSpPr>
          <p:cNvPr id="545" name="Decodificatorul poate fi văzut din două puncte de vedere:"/>
          <p:cNvSpPr txBox="1"/>
          <p:nvPr/>
        </p:nvSpPr>
        <p:spPr>
          <a:xfrm>
            <a:off x="165316" y="2522779"/>
            <a:ext cx="23951768" cy="11862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Decodificatorul poate fi văzut din două puncte de vedere:</a:t>
            </a:r>
          </a:p>
        </p:txBody>
      </p:sp>
      <p:sp>
        <p:nvSpPr>
          <p:cNvPr id="546" name="al antrenării"/>
          <p:cNvSpPr txBox="1"/>
          <p:nvPr/>
        </p:nvSpPr>
        <p:spPr>
          <a:xfrm>
            <a:off x="1663916" y="3411779"/>
            <a:ext cx="23951768" cy="11862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al antrenării</a:t>
            </a:r>
          </a:p>
        </p:txBody>
      </p:sp>
      <p:sp>
        <p:nvSpPr>
          <p:cNvPr id="547" name="al inferenței (realizării de preziceri)"/>
          <p:cNvSpPr txBox="1"/>
          <p:nvPr/>
        </p:nvSpPr>
        <p:spPr>
          <a:xfrm>
            <a:off x="1663916" y="4419327"/>
            <a:ext cx="23951768" cy="11862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al inferenței (realizării de preziceri)</a:t>
            </a:r>
          </a:p>
        </p:txBody>
      </p:sp>
      <p:sp>
        <p:nvSpPr>
          <p:cNvPr id="548" name="Scopul lui este să ne spună care este următorul cuvânt de generat"/>
          <p:cNvSpPr txBox="1"/>
          <p:nvPr/>
        </p:nvSpPr>
        <p:spPr>
          <a:xfrm>
            <a:off x="165316" y="5689327"/>
            <a:ext cx="23951768" cy="11862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Scopul lui este să ne spună care este următorul cuvânt de generat</a:t>
            </a:r>
          </a:p>
        </p:txBody>
      </p:sp>
      <p:sp>
        <p:nvSpPr>
          <p:cNvPr id="549" name="Haideți să vedem la antrenare, primii pași sunt exact ca la codificator:"/>
          <p:cNvSpPr txBox="1"/>
          <p:nvPr/>
        </p:nvSpPr>
        <p:spPr>
          <a:xfrm>
            <a:off x="165316" y="6781527"/>
            <a:ext cx="23951768" cy="11862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Haideți să vedem la antrenare, primii pași sunt exact ca la codificator:</a:t>
            </a:r>
          </a:p>
        </p:txBody>
      </p:sp>
      <p:sp>
        <p:nvSpPr>
          <p:cNvPr id="550" name="Text de ieșire"/>
          <p:cNvSpPr/>
          <p:nvPr/>
        </p:nvSpPr>
        <p:spPr>
          <a:xfrm>
            <a:off x="965200" y="8301324"/>
            <a:ext cx="2113161"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Text de ieșire</a:t>
            </a:r>
          </a:p>
        </p:txBody>
      </p:sp>
      <p:sp>
        <p:nvSpPr>
          <p:cNvPr id="551" name="Text preprocesat"/>
          <p:cNvSpPr/>
          <p:nvPr/>
        </p:nvSpPr>
        <p:spPr>
          <a:xfrm>
            <a:off x="4546600" y="8301324"/>
            <a:ext cx="3332361"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Text preprocesat</a:t>
            </a:r>
          </a:p>
        </p:txBody>
      </p:sp>
      <p:sp>
        <p:nvSpPr>
          <p:cNvPr id="552" name="Tokens"/>
          <p:cNvSpPr/>
          <p:nvPr/>
        </p:nvSpPr>
        <p:spPr>
          <a:xfrm>
            <a:off x="9347200" y="8301324"/>
            <a:ext cx="3069432"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Tokens</a:t>
            </a:r>
          </a:p>
        </p:txBody>
      </p:sp>
      <p:sp>
        <p:nvSpPr>
          <p:cNvPr id="553" name="Word Embeddings"/>
          <p:cNvSpPr/>
          <p:nvPr/>
        </p:nvSpPr>
        <p:spPr>
          <a:xfrm>
            <a:off x="14147800" y="8301324"/>
            <a:ext cx="3500934"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Word Embeddings</a:t>
            </a:r>
          </a:p>
        </p:txBody>
      </p:sp>
      <p:sp>
        <p:nvSpPr>
          <p:cNvPr id="554" name="Positional Encoded Word Embeddings"/>
          <p:cNvSpPr/>
          <p:nvPr/>
        </p:nvSpPr>
        <p:spPr>
          <a:xfrm>
            <a:off x="18964870" y="8301324"/>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Positional Encoded Word Embeddings</a:t>
            </a:r>
          </a:p>
        </p:txBody>
      </p:sp>
      <p:sp>
        <p:nvSpPr>
          <p:cNvPr id="555" name="Linie"/>
          <p:cNvSpPr/>
          <p:nvPr/>
        </p:nvSpPr>
        <p:spPr>
          <a:xfrm>
            <a:off x="3042061" y="9435245"/>
            <a:ext cx="1479139" cy="1"/>
          </a:xfrm>
          <a:prstGeom prst="line">
            <a:avLst/>
          </a:prstGeom>
          <a:ln w="25400">
            <a:solidFill>
              <a:schemeClr val="accent1"/>
            </a:solidFill>
            <a:tailEnd type="triangle"/>
          </a:ln>
        </p:spPr>
        <p:txBody>
          <a:bodyPr lIns="45718" tIns="45718" rIns="45718" bIns="45718"/>
          <a:lstStyle/>
          <a:p>
            <a:pPr/>
          </a:p>
        </p:txBody>
      </p:sp>
      <p:sp>
        <p:nvSpPr>
          <p:cNvPr id="556" name="Linie"/>
          <p:cNvSpPr/>
          <p:nvPr/>
        </p:nvSpPr>
        <p:spPr>
          <a:xfrm>
            <a:off x="7873511" y="9441784"/>
            <a:ext cx="1479139" cy="1"/>
          </a:xfrm>
          <a:prstGeom prst="line">
            <a:avLst/>
          </a:prstGeom>
          <a:ln w="25400">
            <a:solidFill>
              <a:schemeClr val="accent1"/>
            </a:solidFill>
            <a:tailEnd type="triangle"/>
          </a:ln>
        </p:spPr>
        <p:txBody>
          <a:bodyPr lIns="45718" tIns="45718" rIns="45718" bIns="45718"/>
          <a:lstStyle/>
          <a:p>
            <a:pPr/>
          </a:p>
        </p:txBody>
      </p:sp>
      <p:sp>
        <p:nvSpPr>
          <p:cNvPr id="557" name="Linie"/>
          <p:cNvSpPr/>
          <p:nvPr/>
        </p:nvSpPr>
        <p:spPr>
          <a:xfrm>
            <a:off x="12542646" y="9441784"/>
            <a:ext cx="1479139" cy="1"/>
          </a:xfrm>
          <a:prstGeom prst="line">
            <a:avLst/>
          </a:prstGeom>
          <a:ln w="25400">
            <a:solidFill>
              <a:schemeClr val="accent1"/>
            </a:solidFill>
            <a:tailEnd type="triangle"/>
          </a:ln>
        </p:spPr>
        <p:txBody>
          <a:bodyPr lIns="45718" tIns="45718" rIns="45718" bIns="45718"/>
          <a:lstStyle/>
          <a:p>
            <a:pPr/>
          </a:p>
        </p:txBody>
      </p:sp>
      <p:sp>
        <p:nvSpPr>
          <p:cNvPr id="558" name="Linie"/>
          <p:cNvSpPr/>
          <p:nvPr/>
        </p:nvSpPr>
        <p:spPr>
          <a:xfrm>
            <a:off x="17622646" y="9441784"/>
            <a:ext cx="1479139" cy="1"/>
          </a:xfrm>
          <a:prstGeom prst="line">
            <a:avLst/>
          </a:prstGeom>
          <a:ln w="25400">
            <a:solidFill>
              <a:schemeClr val="accent1"/>
            </a:solidFill>
            <a:tailEnd type="triangle"/>
          </a:ln>
        </p:spPr>
        <p:txBody>
          <a:bodyPr lIns="45718" tIns="45718" rIns="45718" bIns="45718"/>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0" name="Decodificatorul"/>
          <p:cNvSpPr txBox="1"/>
          <p:nvPr>
            <p:ph type="title"/>
          </p:nvPr>
        </p:nvSpPr>
        <p:spPr>
          <a:xfrm>
            <a:off x="1143000" y="9074"/>
            <a:ext cx="21945600" cy="1727201"/>
          </a:xfrm>
          <a:prstGeom prst="rect">
            <a:avLst/>
          </a:prstGeom>
        </p:spPr>
        <p:txBody>
          <a:bodyPr/>
          <a:lstStyle/>
          <a:p>
            <a:pPr/>
            <a:r>
              <a:t>Decodificatorul</a:t>
            </a:r>
          </a:p>
        </p:txBody>
      </p:sp>
      <p:sp>
        <p:nvSpPr>
          <p:cNvPr id="561" name="Positional Encoded Word Embeddings"/>
          <p:cNvSpPr/>
          <p:nvPr/>
        </p:nvSpPr>
        <p:spPr>
          <a:xfrm>
            <a:off x="3470870" y="1654332"/>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Positional Encoded Word Embeddings</a:t>
            </a:r>
          </a:p>
        </p:txBody>
      </p:sp>
      <p:sp>
        <p:nvSpPr>
          <p:cNvPr id="562" name="Multi-Head Self-Attention*"/>
          <p:cNvSpPr/>
          <p:nvPr/>
        </p:nvSpPr>
        <p:spPr>
          <a:xfrm>
            <a:off x="15129470" y="1654332"/>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Multi-Head Self-Attention*</a:t>
            </a:r>
          </a:p>
        </p:txBody>
      </p:sp>
      <p:sp>
        <p:nvSpPr>
          <p:cNvPr id="563" name="Linie"/>
          <p:cNvSpPr/>
          <p:nvPr/>
        </p:nvSpPr>
        <p:spPr>
          <a:xfrm>
            <a:off x="8660911" y="2788254"/>
            <a:ext cx="6432416" cy="1"/>
          </a:xfrm>
          <a:prstGeom prst="line">
            <a:avLst/>
          </a:prstGeom>
          <a:ln w="25400">
            <a:solidFill>
              <a:schemeClr val="accent1"/>
            </a:solidFill>
            <a:tailEnd type="triangle"/>
          </a:ln>
        </p:spPr>
        <p:txBody>
          <a:bodyPr lIns="45718" tIns="45718" rIns="45718" bIns="45718"/>
          <a:lstStyle/>
          <a:p>
            <a:pPr/>
          </a:p>
        </p:txBody>
      </p:sp>
      <p:sp>
        <p:nvSpPr>
          <p:cNvPr id="564" name="[…"/>
          <p:cNvSpPr txBox="1"/>
          <p:nvPr/>
        </p:nvSpPr>
        <p:spPr>
          <a:xfrm>
            <a:off x="4302337" y="4144595"/>
            <a:ext cx="4060107" cy="8874177"/>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[0.8, 0.4, -0.6],    # The</a:t>
            </a:r>
          </a:p>
          <a:p>
            <a:pPr>
              <a:lnSpc>
                <a:spcPct val="20000"/>
              </a:lnSpc>
              <a:defRPr sz="1900"/>
            </a:pPr>
            <a:r>
              <a:t>    [0.7, -0.3, -0.4],   # question</a:t>
            </a:r>
          </a:p>
          <a:p>
            <a:pPr>
              <a:lnSpc>
                <a:spcPct val="20000"/>
              </a:lnSpc>
              <a:defRPr sz="1900"/>
            </a:pPr>
            <a:r>
              <a:t>    [1.1, 0.1, -1.2],    # provides</a:t>
            </a:r>
          </a:p>
          <a:p>
            <a:pPr>
              <a:lnSpc>
                <a:spcPct val="20000"/>
              </a:lnSpc>
              <a:defRPr sz="1900"/>
            </a:pPr>
            <a:r>
              <a:t>    [1.3, -0.5, -0.8],   # a</a:t>
            </a:r>
          </a:p>
          <a:p>
            <a:pPr>
              <a:lnSpc>
                <a:spcPct val="20000"/>
              </a:lnSpc>
              <a:defRPr sz="1900"/>
            </a:pPr>
            <a:r>
              <a:t>    [0.9, 0.8, -1.7],    # hierarchy</a:t>
            </a:r>
          </a:p>
          <a:p>
            <a:pPr>
              <a:lnSpc>
                <a:spcPct val="20000"/>
              </a:lnSpc>
              <a:defRPr sz="1900"/>
            </a:pPr>
            <a:r>
              <a:t>    [0.4, -1.1, 0.7],    # of</a:t>
            </a:r>
          </a:p>
          <a:p>
            <a:pPr>
              <a:lnSpc>
                <a:spcPct val="20000"/>
              </a:lnSpc>
              <a:defRPr sz="1900"/>
            </a:pPr>
            <a:r>
              <a:t>    [1.5, -0.4, 0.5],    # sizes:</a:t>
            </a:r>
          </a:p>
          <a:p>
            <a:pPr>
              <a:lnSpc>
                <a:spcPct val="20000"/>
              </a:lnSpc>
              <a:defRPr sz="1900"/>
            </a:pPr>
            <a:r>
              <a:t>    [-0.6, -0.8, 1.4],   # the</a:t>
            </a:r>
          </a:p>
          <a:p>
            <a:pPr>
              <a:lnSpc>
                <a:spcPct val="20000"/>
              </a:lnSpc>
              <a:defRPr sz="1900"/>
            </a:pPr>
            <a:r>
              <a:t>    [-0.2, -1.0, 1.2],   # red</a:t>
            </a:r>
          </a:p>
          <a:p>
            <a:pPr>
              <a:lnSpc>
                <a:spcPct val="20000"/>
              </a:lnSpc>
              <a:defRPr sz="1900"/>
            </a:pPr>
            <a:r>
              <a:t>    [0.1, 0.9, -1.0],    # ball</a:t>
            </a:r>
          </a:p>
          <a:p>
            <a:pPr>
              <a:lnSpc>
                <a:spcPct val="20000"/>
              </a:lnSpc>
              <a:defRPr sz="1900"/>
            </a:pPr>
            <a:r>
              <a:t>    [0.3, 1.5, -1.8],    # is</a:t>
            </a:r>
          </a:p>
          <a:p>
            <a:pPr>
              <a:lnSpc>
                <a:spcPct val="20000"/>
              </a:lnSpc>
              <a:defRPr sz="1900"/>
            </a:pPr>
            <a:r>
              <a:t>    [1.6, -0.2, -1.4],   # larger</a:t>
            </a:r>
          </a:p>
          <a:p>
            <a:pPr>
              <a:lnSpc>
                <a:spcPct val="20000"/>
              </a:lnSpc>
              <a:defRPr sz="1900"/>
            </a:pPr>
            <a:r>
              <a:t>    [-0.9, 1.3, 0.4],    # than</a:t>
            </a:r>
          </a:p>
          <a:p>
            <a:pPr>
              <a:lnSpc>
                <a:spcPct val="20000"/>
              </a:lnSpc>
              <a:defRPr sz="1900"/>
            </a:pPr>
            <a:r>
              <a:t>    [.........................]</a:t>
            </a:r>
          </a:p>
          <a:p>
            <a:pPr>
              <a:lnSpc>
                <a:spcPct val="20000"/>
              </a:lnSpc>
              <a:defRPr sz="1900"/>
            </a:pPr>
            <a:r>
              <a:t>    [1.1, -0.5, -1.0],   # smallest</a:t>
            </a:r>
          </a:p>
          <a:p>
            <a:pPr>
              <a:lnSpc>
                <a:spcPct val="20000"/>
              </a:lnSpc>
              <a:defRPr sz="1900"/>
            </a:pPr>
            <a:r>
              <a:t>    [1.3, -1.2, 0.1],    # the</a:t>
            </a:r>
          </a:p>
          <a:p>
            <a:pPr>
              <a:lnSpc>
                <a:spcPct val="20000"/>
              </a:lnSpc>
              <a:defRPr sz="1900"/>
            </a:pPr>
            <a:r>
              <a:t>    [0.8, -0.5, -1.1],   # answer</a:t>
            </a:r>
          </a:p>
          <a:p>
            <a:pPr>
              <a:lnSpc>
                <a:spcPct val="20000"/>
              </a:lnSpc>
              <a:defRPr sz="1900"/>
            </a:pPr>
            <a:r>
              <a:t>    [-0.7, 0.6, -1.3],   # is</a:t>
            </a:r>
          </a:p>
          <a:p>
            <a:pPr>
              <a:lnSpc>
                <a:spcPct val="20000"/>
              </a:lnSpc>
              <a:defRPr sz="1900"/>
            </a:pPr>
            <a:r>
              <a:t>    [-1.1, 1.0, 0.1],    # the</a:t>
            </a:r>
          </a:p>
          <a:p>
            <a:pPr>
              <a:lnSpc>
                <a:spcPct val="20000"/>
              </a:lnSpc>
              <a:defRPr sz="1900"/>
            </a:pPr>
            <a:r>
              <a:t>    [-1.4, -0.6, -0.8],  # green</a:t>
            </a:r>
          </a:p>
          <a:p>
            <a:pPr>
              <a:lnSpc>
                <a:spcPct val="20000"/>
              </a:lnSpc>
              <a:defRPr sz="1900"/>
            </a:pPr>
            <a:r>
              <a:t>    [-1.2, 0.4, 1.3]     # ball.</a:t>
            </a:r>
          </a:p>
          <a:p>
            <a:pPr>
              <a:lnSpc>
                <a:spcPct val="20000"/>
              </a:lnSpc>
              <a:defRPr sz="1900"/>
            </a:pPr>
            <a:r>
              <a:t>]</a:t>
            </a:r>
          </a:p>
        </p:txBody>
      </p:sp>
      <p:sp>
        <p:nvSpPr>
          <p:cNvPr id="565" name="Dreptunghi"/>
          <p:cNvSpPr/>
          <p:nvPr/>
        </p:nvSpPr>
        <p:spPr>
          <a:xfrm>
            <a:off x="4311153" y="5308415"/>
            <a:ext cx="3159622" cy="508994"/>
          </a:xfrm>
          <a:prstGeom prst="rect">
            <a:avLst/>
          </a:prstGeom>
          <a:solidFill>
            <a:schemeClr val="accent1">
              <a:alpha val="50101"/>
            </a:schemeClr>
          </a:solidFill>
          <a:ln w="25400">
            <a:solidFill>
              <a:schemeClr val="accent1">
                <a:alpha val="50101"/>
              </a:schemeClr>
            </a:solidFill>
          </a:ln>
        </p:spPr>
        <p:txBody>
          <a:bodyPr lIns="50800" tIns="50800" rIns="50800" bIns="50800" anchor="ctr"/>
          <a:lstStyle/>
          <a:p>
            <a:pPr/>
          </a:p>
        </p:txBody>
      </p:sp>
      <p:sp>
        <p:nvSpPr>
          <p:cNvPr id="566" name="Ecuație"/>
          <p:cNvSpPr txBox="1"/>
          <p:nvPr/>
        </p:nvSpPr>
        <p:spPr>
          <a:xfrm>
            <a:off x="11807121" y="6616200"/>
            <a:ext cx="8239871" cy="501306"/>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3,1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3,2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s</m:t>
                      </m:r>
                    </m:e>
                    <m:sub>
                      <m:r>
                        <a:rPr xmlns:a="http://schemas.openxmlformats.org/drawingml/2006/main" sz="4400" i="1">
                          <a:solidFill>
                            <a:srgbClr val="000000"/>
                          </a:solidFill>
                          <a:latin typeface="Cambria Math" panose="02040503050406030204" pitchFamily="18" charset="0"/>
                        </a:rPr>
                        <m:t>3,3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v</m:t>
                      </m:r>
                    </m:e>
                    <m:sub>
                      <m:r>
                        <a:rPr xmlns:a="http://schemas.openxmlformats.org/drawingml/2006/main" sz="4400" i="1">
                          <a:solidFill>
                            <a:srgbClr val="000000"/>
                          </a:solidFill>
                          <a:latin typeface="Cambria Math" panose="02040503050406030204" pitchFamily="18" charset="0"/>
                        </a:rPr>
                        <m:t>3</m:t>
                      </m:r>
                    </m:sub>
                  </m:sSub>
                </m:oMath>
              </m:oMathPara>
            </a14:m>
            <a:endParaRPr sz="4400"/>
          </a:p>
        </p:txBody>
      </p:sp>
      <p:sp>
        <p:nvSpPr>
          <p:cNvPr id="567" name="Cu * la self-attention pentru că, de exemplu, se întâmplă asta:"/>
          <p:cNvSpPr txBox="1"/>
          <p:nvPr/>
        </p:nvSpPr>
        <p:spPr>
          <a:xfrm>
            <a:off x="8893774" y="4330694"/>
            <a:ext cx="15247127"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Cu * la self-attention pentru că, de exemplu, se întâmplă asta:</a:t>
            </a:r>
          </a:p>
        </p:txBody>
      </p:sp>
      <p:sp>
        <p:nvSpPr>
          <p:cNvPr id="568" name="Mai exact, un cuvânt va fi codificat doar pe baza cuvântului în sine și pe cele care sunt înaintea lui, dar nu și prin cele care vin după el"/>
          <p:cNvSpPr txBox="1"/>
          <p:nvPr/>
        </p:nvSpPr>
        <p:spPr>
          <a:xfrm>
            <a:off x="8893774" y="7396402"/>
            <a:ext cx="15247127" cy="27438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un cuvânt va fi codificat doar pe baza cuvântului în sine și pe cele care sunt înaintea lui, dar nu și prin cele care vin după el</a:t>
            </a:r>
          </a:p>
        </p:txBody>
      </p:sp>
      <p:sp>
        <p:nvSpPr>
          <p:cNvPr id="569" name="Asta pentru că vrem să învățăm modelul să genereze text în manieră secvențială, și în acest caz ai acces doar la textul până în momentul curent, nu și la cel din viitor"/>
          <p:cNvSpPr txBox="1"/>
          <p:nvPr/>
        </p:nvSpPr>
        <p:spPr>
          <a:xfrm>
            <a:off x="8893774" y="10088802"/>
            <a:ext cx="15247127" cy="27438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Asta pentru că vrem să învățăm modelul să genereze text în manieră secvențială, și în acest caz ai acces doar la textul până în momentul curent, nu și la cel din viitor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Decodificatorul"/>
          <p:cNvSpPr txBox="1"/>
          <p:nvPr>
            <p:ph type="title"/>
          </p:nvPr>
        </p:nvSpPr>
        <p:spPr>
          <a:xfrm>
            <a:off x="1143000" y="9074"/>
            <a:ext cx="21945600" cy="1727201"/>
          </a:xfrm>
          <a:prstGeom prst="rect">
            <a:avLst/>
          </a:prstGeom>
        </p:spPr>
        <p:txBody>
          <a:bodyPr/>
          <a:lstStyle/>
          <a:p>
            <a:pPr/>
            <a:r>
              <a:t>Decodificatorul</a:t>
            </a:r>
          </a:p>
        </p:txBody>
      </p:sp>
      <p:sp>
        <p:nvSpPr>
          <p:cNvPr id="572" name="Positional Encoded Word Embeddings"/>
          <p:cNvSpPr/>
          <p:nvPr/>
        </p:nvSpPr>
        <p:spPr>
          <a:xfrm>
            <a:off x="3470870" y="1654332"/>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Positional Encoded Word Embeddings</a:t>
            </a:r>
          </a:p>
        </p:txBody>
      </p:sp>
      <p:sp>
        <p:nvSpPr>
          <p:cNvPr id="573" name="Multi-Head Self-Attention*"/>
          <p:cNvSpPr/>
          <p:nvPr/>
        </p:nvSpPr>
        <p:spPr>
          <a:xfrm>
            <a:off x="15129470" y="1654332"/>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Multi-Head Self-Attention*</a:t>
            </a:r>
          </a:p>
        </p:txBody>
      </p:sp>
      <p:sp>
        <p:nvSpPr>
          <p:cNvPr id="574" name="Linie"/>
          <p:cNvSpPr/>
          <p:nvPr/>
        </p:nvSpPr>
        <p:spPr>
          <a:xfrm>
            <a:off x="8660911" y="2788254"/>
            <a:ext cx="6432416" cy="1"/>
          </a:xfrm>
          <a:prstGeom prst="line">
            <a:avLst/>
          </a:prstGeom>
          <a:ln w="25400">
            <a:solidFill>
              <a:schemeClr val="accent1"/>
            </a:solidFill>
            <a:tailEnd type="triangle"/>
          </a:ln>
        </p:spPr>
        <p:txBody>
          <a:bodyPr lIns="45718" tIns="45718" rIns="45718" bIns="45718"/>
          <a:lstStyle/>
          <a:p>
            <a:pPr/>
          </a:p>
        </p:txBody>
      </p:sp>
      <p:sp>
        <p:nvSpPr>
          <p:cNvPr id="575" name="Trebuie să avem un mod prin care să introducem informația de la codificator la decodificator"/>
          <p:cNvSpPr txBox="1"/>
          <p:nvPr/>
        </p:nvSpPr>
        <p:spPr>
          <a:xfrm>
            <a:off x="781456" y="4531016"/>
            <a:ext cx="22668688"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Trebuie să avem un mod prin care să introducem informația de la codificator la decodificator</a:t>
            </a:r>
          </a:p>
        </p:txBody>
      </p:sp>
      <p:sp>
        <p:nvSpPr>
          <p:cNvPr id="576" name="Pentru că prin intermediul intrării vrem să generăm ieșirea, spre exemplul să generăm răspunsul la o întrebare"/>
          <p:cNvSpPr txBox="1"/>
          <p:nvPr/>
        </p:nvSpPr>
        <p:spPr>
          <a:xfrm>
            <a:off x="781456" y="6232816"/>
            <a:ext cx="22668688" cy="19410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Pentru că prin intermediul intrării vrem să generăm ieșirea, spre exemplul să generăm răspunsul la o întrebare</a:t>
            </a:r>
          </a:p>
        </p:txBody>
      </p:sp>
      <p:sp>
        <p:nvSpPr>
          <p:cNvPr id="577" name="Astfel, se introduce mecanismul de cross-attention"/>
          <p:cNvSpPr txBox="1"/>
          <p:nvPr/>
        </p:nvSpPr>
        <p:spPr>
          <a:xfrm>
            <a:off x="781456" y="7968296"/>
            <a:ext cx="22668688" cy="12158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Astfel, se introduce mecanismul de cross-attention</a:t>
            </a:r>
          </a:p>
        </p:txBody>
      </p:sp>
      <p:sp>
        <p:nvSpPr>
          <p:cNvPr id="578" name="Este foarte simplu: dacă la self-attention fiecare cuvânt era reprezentat ca o pondere din celelalte cuvinte din aceeași propoziție pentru a adăuga context, la cross-attention fiecare cuvânt din decodificator (de la ieșire) va fi reprezentat și ca o pond"/>
          <p:cNvSpPr txBox="1"/>
          <p:nvPr/>
        </p:nvSpPr>
        <p:spPr>
          <a:xfrm>
            <a:off x="781456" y="9081236"/>
            <a:ext cx="22668688" cy="28900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Este foarte simplu: dacă la self-attention fiecare cuvânt era reprezentat ca o pondere din celelalte cuvinte din aceeași propoziție pentru a adăuga context, la cross-attention fiecare cuvânt din decodificator (de la ieșire) va fi reprezentat și ca o pondere a intrării</a:t>
            </a:r>
          </a:p>
        </p:txBody>
      </p:sp>
      <p:pic>
        <p:nvPicPr>
          <p:cNvPr id="579" name="Linie Linie" descr="Linie Linie"/>
          <p:cNvPicPr>
            <a:picLocks noChangeAspect="0"/>
          </p:cNvPicPr>
          <p:nvPr/>
        </p:nvPicPr>
        <p:blipFill>
          <a:blip r:embed="rId2">
            <a:extLst/>
          </a:blip>
          <a:stretch>
            <a:fillRect/>
          </a:stretch>
        </p:blipFill>
        <p:spPr>
          <a:xfrm>
            <a:off x="6201649" y="8801882"/>
            <a:ext cx="81651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2" name="Decodificatorul"/>
          <p:cNvSpPr txBox="1"/>
          <p:nvPr>
            <p:ph type="title"/>
          </p:nvPr>
        </p:nvSpPr>
        <p:spPr>
          <a:xfrm>
            <a:off x="1143000" y="9074"/>
            <a:ext cx="21945600" cy="1727201"/>
          </a:xfrm>
          <a:prstGeom prst="rect">
            <a:avLst/>
          </a:prstGeom>
        </p:spPr>
        <p:txBody>
          <a:bodyPr/>
          <a:lstStyle/>
          <a:p>
            <a:pPr/>
            <a:r>
              <a:t>Decodificatorul</a:t>
            </a:r>
          </a:p>
        </p:txBody>
      </p:sp>
      <p:sp>
        <p:nvSpPr>
          <p:cNvPr id="583" name="Positional Encoded Word Embeddings"/>
          <p:cNvSpPr/>
          <p:nvPr/>
        </p:nvSpPr>
        <p:spPr>
          <a:xfrm>
            <a:off x="1388070" y="1626054"/>
            <a:ext cx="5253237" cy="226784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Positional Encoded Word Embeddings</a:t>
            </a:r>
          </a:p>
        </p:txBody>
      </p:sp>
      <p:sp>
        <p:nvSpPr>
          <p:cNvPr id="584" name="Multi-Head Self-Attention*"/>
          <p:cNvSpPr/>
          <p:nvPr/>
        </p:nvSpPr>
        <p:spPr>
          <a:xfrm>
            <a:off x="9008070" y="1626054"/>
            <a:ext cx="5253237" cy="2267844"/>
          </a:xfrm>
          <a:prstGeom prst="rect">
            <a:avLst/>
          </a:prstGeom>
          <a:solidFill>
            <a:schemeClr val="accent5">
              <a:lumOff val="2460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Multi-Head Self-Attention*</a:t>
            </a:r>
          </a:p>
        </p:txBody>
      </p:sp>
      <p:sp>
        <p:nvSpPr>
          <p:cNvPr id="585" name="Linie"/>
          <p:cNvSpPr/>
          <p:nvPr/>
        </p:nvSpPr>
        <p:spPr>
          <a:xfrm>
            <a:off x="6628911" y="2759975"/>
            <a:ext cx="2326392" cy="1"/>
          </a:xfrm>
          <a:prstGeom prst="line">
            <a:avLst/>
          </a:prstGeom>
          <a:ln w="25400">
            <a:solidFill>
              <a:schemeClr val="accent1"/>
            </a:solidFill>
            <a:tailEnd type="triangle"/>
          </a:ln>
        </p:spPr>
        <p:txBody>
          <a:bodyPr lIns="45718" tIns="45718" rIns="45718" bIns="45718"/>
          <a:lstStyle/>
          <a:p>
            <a:pPr/>
          </a:p>
        </p:txBody>
      </p:sp>
      <p:sp>
        <p:nvSpPr>
          <p:cNvPr id="586" name="Practic, acum query-urile folosite sunt cele de la fiecare cuvânt de ieșire, iar keys &amp; values sunt date de cuvintele de intrare"/>
          <p:cNvSpPr txBox="1"/>
          <p:nvPr/>
        </p:nvSpPr>
        <p:spPr>
          <a:xfrm>
            <a:off x="781456" y="4531016"/>
            <a:ext cx="22668688"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Practic, acum query-urile folosite sunt cele de la fiecare cuvânt de ieșire, iar keys &amp; values sunt date de cuvintele de intrare</a:t>
            </a:r>
          </a:p>
        </p:txBody>
      </p:sp>
      <p:sp>
        <p:nvSpPr>
          <p:cNvPr id="587" name="Multi-Head Cross-Attention"/>
          <p:cNvSpPr/>
          <p:nvPr/>
        </p:nvSpPr>
        <p:spPr>
          <a:xfrm>
            <a:off x="16693232" y="1654332"/>
            <a:ext cx="5253237" cy="2267844"/>
          </a:xfrm>
          <a:prstGeom prst="rect">
            <a:avLst/>
          </a:prstGeom>
          <a:solidFill>
            <a:schemeClr val="accent3">
              <a:satOff val="-5226"/>
              <a:lumOff val="26372"/>
            </a:schemeClr>
          </a:solidFill>
          <a:ln w="25400">
            <a:solidFill>
              <a:schemeClr val="accent1">
                <a:lumOff val="11715"/>
              </a:schemeClr>
            </a:solidFill>
          </a:ln>
          <a:extLst>
            <a:ext uri="{C572A759-6A51-4108-AA02-DFA0A04FC94B}">
              <ma14:wrappingTextBoxFlag xmlns:ma14="http://schemas.microsoft.com/office/mac/drawingml/2011/main" val="1"/>
            </a:ext>
          </a:extLst>
        </p:spPr>
        <p:txBody>
          <a:bodyPr lIns="50800" tIns="50800" rIns="50800" bIns="50800" anchor="ctr"/>
          <a:lstStyle>
            <a:lvl1pPr algn="ctr"/>
          </a:lstStyle>
          <a:p>
            <a:pPr/>
            <a:r>
              <a:t>Multi-Head Cross-Attention</a:t>
            </a:r>
          </a:p>
        </p:txBody>
      </p:sp>
      <p:sp>
        <p:nvSpPr>
          <p:cNvPr id="588" name="Linie"/>
          <p:cNvSpPr/>
          <p:nvPr/>
        </p:nvSpPr>
        <p:spPr>
          <a:xfrm>
            <a:off x="14314073" y="2759975"/>
            <a:ext cx="2326392" cy="1"/>
          </a:xfrm>
          <a:prstGeom prst="line">
            <a:avLst/>
          </a:prstGeom>
          <a:ln w="25400">
            <a:solidFill>
              <a:schemeClr val="accent1"/>
            </a:solidFill>
            <a:tailEnd type="triangle"/>
          </a:ln>
        </p:spPr>
        <p:txBody>
          <a:bodyPr lIns="45718" tIns="45718" rIns="45718" bIns="45718"/>
          <a:lstStyle/>
          <a:p>
            <a:pPr/>
          </a:p>
        </p:txBody>
      </p:sp>
      <p:sp>
        <p:nvSpPr>
          <p:cNvPr id="589" name="Ecuație"/>
          <p:cNvSpPr txBox="1"/>
          <p:nvPr/>
        </p:nvSpPr>
        <p:spPr>
          <a:xfrm>
            <a:off x="11073130" y="8323896"/>
            <a:ext cx="2201584" cy="450919"/>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oMath>
              </m:oMathPara>
            </a14:m>
            <a:endParaRPr sz="4400"/>
          </a:p>
        </p:txBody>
      </p:sp>
      <p:sp>
        <p:nvSpPr>
          <p:cNvPr id="590" name="[…"/>
          <p:cNvSpPr txBox="1"/>
          <p:nvPr/>
        </p:nvSpPr>
        <p:spPr>
          <a:xfrm>
            <a:off x="5927937" y="7766050"/>
            <a:ext cx="4060107" cy="8874176"/>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[0.8, 0.4, -0.6],    # The</a:t>
            </a:r>
          </a:p>
          <a:p>
            <a:pPr>
              <a:lnSpc>
                <a:spcPct val="20000"/>
              </a:lnSpc>
              <a:defRPr sz="1900"/>
            </a:pPr>
            <a:r>
              <a:t>    [0.7, -0.3, -0.4],   # question</a:t>
            </a:r>
          </a:p>
          <a:p>
            <a:pPr>
              <a:lnSpc>
                <a:spcPct val="20000"/>
              </a:lnSpc>
              <a:defRPr sz="1900"/>
            </a:pPr>
            <a:r>
              <a:t>    [1.1, 0.1, -1.2],    # provides</a:t>
            </a:r>
          </a:p>
          <a:p>
            <a:pPr>
              <a:lnSpc>
                <a:spcPct val="20000"/>
              </a:lnSpc>
              <a:defRPr sz="1900"/>
            </a:pPr>
            <a:r>
              <a:t>    [1.3, -0.5, -0.8],   # a</a:t>
            </a:r>
          </a:p>
          <a:p>
            <a:pPr>
              <a:lnSpc>
                <a:spcPct val="20000"/>
              </a:lnSpc>
              <a:defRPr sz="1900"/>
            </a:pPr>
            <a:r>
              <a:t>    [0.9, 0.8, -1.7],    # hierarchy</a:t>
            </a:r>
          </a:p>
          <a:p>
            <a:pPr>
              <a:lnSpc>
                <a:spcPct val="20000"/>
              </a:lnSpc>
              <a:defRPr sz="1900"/>
            </a:pPr>
            <a:r>
              <a:t>    [0.4, -1.1, 0.7],    # of</a:t>
            </a:r>
          </a:p>
          <a:p>
            <a:pPr>
              <a:lnSpc>
                <a:spcPct val="20000"/>
              </a:lnSpc>
              <a:defRPr sz="1900"/>
            </a:pPr>
            <a:r>
              <a:t>    [1.5, -0.4, 0.5],    # sizes:</a:t>
            </a:r>
          </a:p>
          <a:p>
            <a:pPr>
              <a:lnSpc>
                <a:spcPct val="20000"/>
              </a:lnSpc>
              <a:defRPr sz="1900"/>
            </a:pPr>
            <a:r>
              <a:t>    [-0.6, -0.8, 1.4],   # the</a:t>
            </a:r>
          </a:p>
          <a:p>
            <a:pPr>
              <a:lnSpc>
                <a:spcPct val="20000"/>
              </a:lnSpc>
              <a:defRPr sz="1900"/>
            </a:pPr>
            <a:r>
              <a:t>    [-0.2, -1.0, 1.2],   # red</a:t>
            </a:r>
          </a:p>
          <a:p>
            <a:pPr>
              <a:lnSpc>
                <a:spcPct val="20000"/>
              </a:lnSpc>
              <a:defRPr sz="1900"/>
            </a:pPr>
            <a:r>
              <a:t>    [0.1, 0.9, -1.0],    # ball</a:t>
            </a:r>
          </a:p>
          <a:p>
            <a:pPr>
              <a:lnSpc>
                <a:spcPct val="20000"/>
              </a:lnSpc>
              <a:defRPr sz="1900"/>
            </a:pPr>
            <a:r>
              <a:t>    [0.3, 1.5, -1.8],    # is</a:t>
            </a:r>
          </a:p>
          <a:p>
            <a:pPr>
              <a:lnSpc>
                <a:spcPct val="20000"/>
              </a:lnSpc>
              <a:defRPr sz="1900"/>
            </a:pPr>
            <a:r>
              <a:t>    [1.6, -0.2, -1.4],   # larger</a:t>
            </a:r>
          </a:p>
          <a:p>
            <a:pPr>
              <a:lnSpc>
                <a:spcPct val="20000"/>
              </a:lnSpc>
              <a:defRPr sz="1900"/>
            </a:pPr>
            <a:r>
              <a:t>    [-0.9, 1.3, 0.4],    # than</a:t>
            </a:r>
          </a:p>
          <a:p>
            <a:pPr>
              <a:lnSpc>
                <a:spcPct val="20000"/>
              </a:lnSpc>
              <a:defRPr sz="1900"/>
            </a:pPr>
            <a:r>
              <a:t>    [.........................]</a:t>
            </a:r>
          </a:p>
          <a:p>
            <a:pPr>
              <a:lnSpc>
                <a:spcPct val="20000"/>
              </a:lnSpc>
              <a:defRPr sz="1900"/>
            </a:pPr>
            <a:r>
              <a:t>    [1.1, -0.5, -1.0],   # smallest</a:t>
            </a:r>
          </a:p>
          <a:p>
            <a:pPr>
              <a:lnSpc>
                <a:spcPct val="20000"/>
              </a:lnSpc>
              <a:defRPr sz="1900"/>
            </a:pPr>
            <a:r>
              <a:t>    [1.3, -1.2, 0.1],    # the</a:t>
            </a:r>
          </a:p>
          <a:p>
            <a:pPr>
              <a:lnSpc>
                <a:spcPct val="20000"/>
              </a:lnSpc>
              <a:defRPr sz="1900"/>
            </a:pPr>
            <a:r>
              <a:t>    [0.8, -0.5, -1.1],   # answer</a:t>
            </a:r>
          </a:p>
          <a:p>
            <a:pPr>
              <a:lnSpc>
                <a:spcPct val="20000"/>
              </a:lnSpc>
              <a:defRPr sz="1900"/>
            </a:pPr>
            <a:r>
              <a:t>    [-0.7, 0.6, -1.3],   # is</a:t>
            </a:r>
          </a:p>
          <a:p>
            <a:pPr>
              <a:lnSpc>
                <a:spcPct val="20000"/>
              </a:lnSpc>
              <a:defRPr sz="1900"/>
            </a:pPr>
            <a:r>
              <a:t>    [-1.1, 1.0, 0.1],    # the</a:t>
            </a:r>
          </a:p>
          <a:p>
            <a:pPr>
              <a:lnSpc>
                <a:spcPct val="20000"/>
              </a:lnSpc>
              <a:defRPr sz="1900"/>
            </a:pPr>
            <a:r>
              <a:t>    [-1.4, -0.6, -0.8],  # green</a:t>
            </a:r>
          </a:p>
          <a:p>
            <a:pPr>
              <a:lnSpc>
                <a:spcPct val="20000"/>
              </a:lnSpc>
              <a:defRPr sz="1900"/>
            </a:pPr>
            <a:r>
              <a:t>    [-1.2, 0.4, 1.3]     # ball.</a:t>
            </a:r>
          </a:p>
          <a:p>
            <a:pPr>
              <a:lnSpc>
                <a:spcPct val="20000"/>
              </a:lnSpc>
              <a:defRPr sz="1900"/>
            </a:pPr>
            <a:r>
              <a:t>]</a:t>
            </a:r>
          </a:p>
        </p:txBody>
      </p:sp>
      <p:sp>
        <p:nvSpPr>
          <p:cNvPr id="591" name="Dreptunghi"/>
          <p:cNvSpPr/>
          <p:nvPr/>
        </p:nvSpPr>
        <p:spPr>
          <a:xfrm>
            <a:off x="5936753" y="8929870"/>
            <a:ext cx="3159622" cy="508993"/>
          </a:xfrm>
          <a:prstGeom prst="rect">
            <a:avLst/>
          </a:prstGeom>
          <a:solidFill>
            <a:schemeClr val="accent1">
              <a:alpha val="50101"/>
            </a:schemeClr>
          </a:solidFill>
          <a:ln w="25400">
            <a:solidFill>
              <a:schemeClr val="accent1">
                <a:alpha val="50101"/>
              </a:schemeClr>
            </a:solidFill>
          </a:ln>
        </p:spPr>
        <p:txBody>
          <a:bodyPr lIns="50800" tIns="50800" rIns="50800" bIns="50800" anchor="ctr"/>
          <a:lstStyle/>
          <a:p>
            <a:pPr/>
          </a:p>
        </p:txBody>
      </p:sp>
      <p:sp>
        <p:nvSpPr>
          <p:cNvPr id="592" name="[…"/>
          <p:cNvSpPr txBox="1"/>
          <p:nvPr/>
        </p:nvSpPr>
        <p:spPr>
          <a:xfrm>
            <a:off x="763693" y="7613829"/>
            <a:ext cx="4060107" cy="11536910"/>
          </a:xfrm>
          <a:prstGeom prst="rect">
            <a:avLst/>
          </a:prstGeom>
          <a:ln w="381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20000"/>
              </a:lnSpc>
              <a:defRPr sz="1900"/>
            </a:pPr>
            <a:r>
              <a:t>[</a:t>
            </a:r>
          </a:p>
          <a:p>
            <a:pPr>
              <a:lnSpc>
                <a:spcPct val="20000"/>
              </a:lnSpc>
              <a:defRPr sz="1900"/>
            </a:pPr>
            <a:r>
              <a:t>    [0.83, -1.41, 0.57],    # if</a:t>
            </a:r>
          </a:p>
          <a:p>
            <a:pPr>
              <a:lnSpc>
                <a:spcPct val="20000"/>
              </a:lnSpc>
              <a:defRPr sz="1900"/>
            </a:pPr>
            <a:r>
              <a:t>    [0.85, 0.55, -1.40],    # a</a:t>
            </a:r>
          </a:p>
          <a:p>
            <a:pPr>
              <a:lnSpc>
                <a:spcPct val="20000"/>
              </a:lnSpc>
              <a:defRPr sz="1900"/>
            </a:pPr>
            <a:r>
              <a:t>    [1.07, -1.34, 0.27],    # red</a:t>
            </a:r>
          </a:p>
          <a:p>
            <a:pPr>
              <a:lnSpc>
                <a:spcPct val="20000"/>
              </a:lnSpc>
              <a:defRPr sz="1900"/>
            </a:pPr>
            <a:r>
              <a:t>    [0.80, -1.41, 0.61],    # ball</a:t>
            </a:r>
          </a:p>
          <a:p>
            <a:pPr>
              <a:lnSpc>
                <a:spcPct val="20000"/>
              </a:lnSpc>
              <a:defRPr sz="1900"/>
            </a:pPr>
            <a:r>
              <a:t>    [0.00, -1.22, 1.22],    # is</a:t>
            </a:r>
          </a:p>
          <a:p>
            <a:pPr>
              <a:lnSpc>
                <a:spcPct val="20000"/>
              </a:lnSpc>
              <a:defRPr sz="1900"/>
            </a:pPr>
            <a:r>
              <a:t>    [-0.77, -0.64, 1.41],   # larger</a:t>
            </a:r>
          </a:p>
          <a:p>
            <a:pPr>
              <a:lnSpc>
                <a:spcPct val="20000"/>
              </a:lnSpc>
              <a:defRPr sz="1900"/>
            </a:pPr>
            <a:r>
              <a:t>    [-0.64, -0.77, 1.41],   # than</a:t>
            </a:r>
          </a:p>
          <a:p>
            <a:pPr>
              <a:lnSpc>
                <a:spcPct val="20000"/>
              </a:lnSpc>
              <a:defRPr sz="1900"/>
            </a:pPr>
            <a:r>
              <a:t>    [-0.71, -0.71, 1.41],   # a</a:t>
            </a:r>
          </a:p>
          <a:p>
            <a:pPr>
              <a:lnSpc>
                <a:spcPct val="20000"/>
              </a:lnSpc>
              <a:defRPr sz="1900"/>
            </a:pPr>
            <a:r>
              <a:t>    [-0.71, -0.71, 1.41],   # blue</a:t>
            </a:r>
          </a:p>
          <a:p>
            <a:pPr>
              <a:lnSpc>
                <a:spcPct val="20000"/>
              </a:lnSpc>
              <a:defRPr sz="1900"/>
            </a:pPr>
            <a:r>
              <a:t>    [-0.90, -0.49, 1.39],   # ball</a:t>
            </a:r>
          </a:p>
          <a:p>
            <a:pPr>
              <a:lnSpc>
                <a:spcPct val="20000"/>
              </a:lnSpc>
              <a:defRPr sz="1900"/>
            </a:pPr>
            <a:r>
              <a:t>    [-0.81, -0.60, 1.41],   # ,</a:t>
            </a:r>
          </a:p>
          <a:p>
            <a:pPr>
              <a:lnSpc>
                <a:spcPct val="20000"/>
              </a:lnSpc>
              <a:defRPr sz="1900"/>
            </a:pPr>
            <a:r>
              <a:t>    [-0.86, -0.55, 1.40],   # and</a:t>
            </a:r>
          </a:p>
          <a:p>
            <a:pPr>
              <a:lnSpc>
                <a:spcPct val="20000"/>
              </a:lnSpc>
              <a:defRPr sz="1900"/>
            </a:pPr>
            <a:r>
              <a:t>    [-0.94, -0.45, 1.39],   # the</a:t>
            </a:r>
          </a:p>
          <a:p>
            <a:pPr>
              <a:lnSpc>
                <a:spcPct val="20000"/>
              </a:lnSpc>
              <a:defRPr sz="1900"/>
            </a:pPr>
            <a:r>
              <a:t>    [-0.91, -0.48, 1.39],   # blue</a:t>
            </a:r>
          </a:p>
          <a:p>
            <a:pPr>
              <a:lnSpc>
                <a:spcPct val="20000"/>
              </a:lnSpc>
              <a:defRPr sz="1900"/>
            </a:pPr>
            <a:r>
              <a:t>    [-0.71, -0.71, 1.41],   # ball</a:t>
            </a:r>
          </a:p>
          <a:p>
            <a:pPr>
              <a:lnSpc>
                <a:spcPct val="20000"/>
              </a:lnSpc>
              <a:defRPr sz="1900"/>
            </a:pPr>
            <a:r>
              <a:t>    [1.22, -1.22, 0.00],    # is</a:t>
            </a:r>
          </a:p>
          <a:p>
            <a:pPr>
              <a:lnSpc>
                <a:spcPct val="20000"/>
              </a:lnSpc>
              <a:defRPr sz="1900"/>
            </a:pPr>
            <a:r>
              <a:t>    [1.14, 0.16, -1.30],    # larger</a:t>
            </a:r>
          </a:p>
          <a:p>
            <a:pPr>
              <a:lnSpc>
                <a:spcPct val="20000"/>
              </a:lnSpc>
              <a:defRPr sz="1900"/>
            </a:pPr>
            <a:r>
              <a:t>    [0.96, 0.42, -1.38],    # than</a:t>
            </a:r>
          </a:p>
          <a:p>
            <a:pPr>
              <a:lnSpc>
                <a:spcPct val="20000"/>
              </a:lnSpc>
              <a:defRPr sz="1900"/>
            </a:pPr>
            <a:r>
              <a:t>    [0.71, 0.71, -1.41],    # a</a:t>
            </a:r>
          </a:p>
          <a:p>
            <a:pPr>
              <a:lnSpc>
                <a:spcPct val="20000"/>
              </a:lnSpc>
              <a:defRPr sz="1900"/>
            </a:pPr>
            <a:r>
              <a:t>    [0.71, 0.71, -1.41],    # green</a:t>
            </a:r>
          </a:p>
          <a:p>
            <a:pPr>
              <a:lnSpc>
                <a:spcPct val="20000"/>
              </a:lnSpc>
              <a:defRPr sz="1900"/>
            </a:pPr>
            <a:r>
              <a:t>    [0.78, 0.63, -1.41],    # ball</a:t>
            </a:r>
          </a:p>
          <a:p>
            <a:pPr>
              <a:lnSpc>
                <a:spcPct val="20000"/>
              </a:lnSpc>
              <a:defRPr sz="1900"/>
            </a:pPr>
            <a:r>
              <a:t>    [0.83, 0.58, -1.41],    # ,</a:t>
            </a:r>
          </a:p>
          <a:p>
            <a:pPr>
              <a:lnSpc>
                <a:spcPct val="20000"/>
              </a:lnSpc>
              <a:defRPr sz="1900"/>
            </a:pPr>
            <a:r>
              <a:t>    [0.98, 0.39, -1.37],    # which</a:t>
            </a:r>
          </a:p>
          <a:p>
            <a:pPr>
              <a:lnSpc>
                <a:spcPct val="20000"/>
              </a:lnSpc>
              <a:defRPr sz="1900"/>
            </a:pPr>
            <a:r>
              <a:t>    [1.22, 0.00, -1.22],    # ball</a:t>
            </a:r>
          </a:p>
          <a:p>
            <a:pPr>
              <a:lnSpc>
                <a:spcPct val="20000"/>
              </a:lnSpc>
              <a:defRPr sz="1900"/>
            </a:pPr>
            <a:r>
              <a:t>    [1.30, -0.16, -1.14],   # is</a:t>
            </a:r>
          </a:p>
          <a:p>
            <a:pPr>
              <a:lnSpc>
                <a:spcPct val="20000"/>
              </a:lnSpc>
              <a:defRPr sz="1900"/>
            </a:pPr>
            <a:r>
              <a:t>    [-0.71, -0.71, 1.41],   # the</a:t>
            </a:r>
          </a:p>
          <a:p>
            <a:pPr>
              <a:lnSpc>
                <a:spcPct val="20000"/>
              </a:lnSpc>
              <a:defRPr sz="1900"/>
            </a:pPr>
            <a:r>
              <a:t>    [-0.91, -0.49, 1.39],   # smallest</a:t>
            </a:r>
          </a:p>
          <a:p>
            <a:pPr>
              <a:lnSpc>
                <a:spcPct val="20000"/>
              </a:lnSpc>
              <a:defRPr sz="1900"/>
            </a:pPr>
            <a:r>
              <a:t>    [-0.85, -0.55, 1.40]    # ?</a:t>
            </a:r>
          </a:p>
          <a:p>
            <a:pPr>
              <a:lnSpc>
                <a:spcPct val="20000"/>
              </a:lnSpc>
              <a:defRPr sz="1900"/>
            </a:pPr>
            <a:r>
              <a:t>]</a:t>
            </a:r>
          </a:p>
        </p:txBody>
      </p:sp>
      <p:sp>
        <p:nvSpPr>
          <p:cNvPr id="593" name="Intrarea"/>
          <p:cNvSpPr txBox="1"/>
          <p:nvPr/>
        </p:nvSpPr>
        <p:spPr>
          <a:xfrm>
            <a:off x="1906194" y="6459391"/>
            <a:ext cx="215783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Intrarea</a:t>
            </a:r>
          </a:p>
        </p:txBody>
      </p:sp>
      <p:sp>
        <p:nvSpPr>
          <p:cNvPr id="594" name="Ieșirea (până la albastru)"/>
          <p:cNvSpPr txBox="1"/>
          <p:nvPr/>
        </p:nvSpPr>
        <p:spPr>
          <a:xfrm>
            <a:off x="5177354" y="6535502"/>
            <a:ext cx="623986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Ieșirea (până la albastru)</a:t>
            </a:r>
          </a:p>
        </p:txBody>
      </p:sp>
      <p:sp>
        <p:nvSpPr>
          <p:cNvPr id="595" name="Ecuație"/>
          <p:cNvSpPr txBox="1"/>
          <p:nvPr/>
        </p:nvSpPr>
        <p:spPr>
          <a:xfrm>
            <a:off x="13401166" y="8155409"/>
            <a:ext cx="7914767" cy="787893"/>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s</m:t>
                      </m:r>
                    </m:e>
                    <m:sub>
                      <m:r>
                        <a:rPr xmlns:a="http://schemas.openxmlformats.org/drawingml/2006/main" sz="4400" i="1">
                          <a:solidFill>
                            <a:srgbClr val="E22146"/>
                          </a:solidFill>
                          <a:latin typeface="Cambria Math" panose="02040503050406030204" pitchFamily="18" charset="0"/>
                        </a:rPr>
                        <m:t>3,1</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v</m:t>
                      </m:r>
                    </m:e>
                    <m:sub>
                      <m:r>
                        <a:rPr xmlns:a="http://schemas.openxmlformats.org/drawingml/2006/main" sz="4400" i="1">
                          <a:solidFill>
                            <a:srgbClr val="E22146"/>
                          </a:solidFill>
                          <a:latin typeface="Cambria Math" panose="02040503050406030204" pitchFamily="18" charset="0"/>
                        </a:rPr>
                        <m:t>1</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s</m:t>
                      </m:r>
                    </m:e>
                    <m:sub>
                      <m:r>
                        <a:rPr xmlns:a="http://schemas.openxmlformats.org/drawingml/2006/main" sz="4400" i="1">
                          <a:solidFill>
                            <a:srgbClr val="E22146"/>
                          </a:solidFill>
                          <a:latin typeface="Cambria Math" panose="02040503050406030204" pitchFamily="18" charset="0"/>
                        </a:rPr>
                        <m:t>3,2</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v</m:t>
                      </m:r>
                    </m:e>
                    <m:sub>
                      <m:r>
                        <a:rPr xmlns:a="http://schemas.openxmlformats.org/drawingml/2006/main" sz="4400" i="1">
                          <a:solidFill>
                            <a:srgbClr val="E22146"/>
                          </a:solidFill>
                          <a:latin typeface="Cambria Math" panose="02040503050406030204" pitchFamily="18" charset="0"/>
                        </a:rPr>
                        <m:t>2</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s</m:t>
                      </m:r>
                    </m:e>
                    <m:sub>
                      <m:r>
                        <a:rPr xmlns:a="http://schemas.openxmlformats.org/drawingml/2006/main" sz="4400" i="1">
                          <a:solidFill>
                            <a:srgbClr val="E22146"/>
                          </a:solidFill>
                          <a:latin typeface="Cambria Math" panose="02040503050406030204" pitchFamily="18" charset="0"/>
                        </a:rPr>
                        <m:t>3,3</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sSubSup>
                    <m:e>
                      <m:r>
                        <a:rPr xmlns:a="http://schemas.openxmlformats.org/drawingml/2006/main" sz="4400" i="1">
                          <a:solidFill>
                            <a:srgbClr val="E22146"/>
                          </a:solidFill>
                          <a:latin typeface="Cambria Math" panose="02040503050406030204" pitchFamily="18" charset="0"/>
                        </a:rPr>
                        <m:t>v</m:t>
                      </m:r>
                    </m:e>
                    <m:sub>
                      <m:r>
                        <a:rPr xmlns:a="http://schemas.openxmlformats.org/drawingml/2006/main" sz="4400" i="1">
                          <a:solidFill>
                            <a:srgbClr val="E22146"/>
                          </a:solidFill>
                          <a:latin typeface="Cambria Math" panose="02040503050406030204" pitchFamily="18" charset="0"/>
                        </a:rPr>
                        <m:t>3</m:t>
                      </m:r>
                    </m:sub>
                    <m:sup>
                      <m:r>
                        <a:rPr xmlns:a="http://schemas.openxmlformats.org/drawingml/2006/main" sz="4400" i="1">
                          <a:solidFill>
                            <a:srgbClr val="E22146"/>
                          </a:solidFill>
                          <a:latin typeface="Cambria Math" panose="02040503050406030204" pitchFamily="18" charset="0"/>
                        </a:rPr>
                        <m:t>s</m:t>
                      </m:r>
                      <m:r>
                        <a:rPr xmlns:a="http://schemas.openxmlformats.org/drawingml/2006/main" sz="4400" i="1">
                          <a:solidFill>
                            <a:srgbClr val="E22146"/>
                          </a:solidFill>
                          <a:latin typeface="Cambria Math" panose="02040503050406030204" pitchFamily="18" charset="0"/>
                        </a:rPr>
                        <m:t>e</m:t>
                      </m:r>
                      <m:r>
                        <a:rPr xmlns:a="http://schemas.openxmlformats.org/drawingml/2006/main" sz="4400" i="1">
                          <a:solidFill>
                            <a:srgbClr val="E22146"/>
                          </a:solidFill>
                          <a:latin typeface="Cambria Math" panose="02040503050406030204" pitchFamily="18" charset="0"/>
                        </a:rPr>
                        <m:t>l</m:t>
                      </m:r>
                      <m:r>
                        <a:rPr xmlns:a="http://schemas.openxmlformats.org/drawingml/2006/main" sz="4400" i="1">
                          <a:solidFill>
                            <a:srgbClr val="E22146"/>
                          </a:solidFill>
                          <a:latin typeface="Cambria Math" panose="02040503050406030204" pitchFamily="18" charset="0"/>
                        </a:rPr>
                        <m:t>f</m:t>
                      </m:r>
                    </m:sup>
                  </m:sSubSup>
                  <m:r>
                    <a:rPr xmlns:a="http://schemas.openxmlformats.org/drawingml/2006/main" sz="4400" i="1">
                      <a:solidFill>
                        <a:srgbClr val="E22146"/>
                      </a:solidFill>
                      <a:latin typeface="Cambria Math" panose="02040503050406030204" pitchFamily="18" charset="0"/>
                    </a:rPr>
                    <m:t>)</m:t>
                  </m:r>
                </m:oMath>
              </m:oMathPara>
            </a14:m>
            <a:endParaRPr sz="4400">
              <a:solidFill>
                <a:srgbClr val="E22146"/>
              </a:solidFill>
            </a:endParaRPr>
          </a:p>
        </p:txBody>
      </p:sp>
      <p:sp>
        <p:nvSpPr>
          <p:cNvPr id="596" name="Ecuație"/>
          <p:cNvSpPr txBox="1"/>
          <p:nvPr/>
        </p:nvSpPr>
        <p:spPr>
          <a:xfrm>
            <a:off x="12284141" y="9052957"/>
            <a:ext cx="10697158" cy="61530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s</m:t>
                      </m:r>
                    </m:e>
                    <m:sub>
                      <m:r>
                        <a:rPr xmlns:a="http://schemas.openxmlformats.org/drawingml/2006/main" sz="4400" i="1">
                          <a:solidFill>
                            <a:srgbClr val="45B53C"/>
                          </a:solidFill>
                          <a:latin typeface="Cambria Math" panose="02040503050406030204" pitchFamily="18" charset="0"/>
                        </a:rPr>
                        <m:t>3,1</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1</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s</m:t>
                      </m:r>
                    </m:e>
                    <m:sub>
                      <m:r>
                        <a:rPr xmlns:a="http://schemas.openxmlformats.org/drawingml/2006/main" sz="4400" i="1">
                          <a:solidFill>
                            <a:srgbClr val="45B53C"/>
                          </a:solidFill>
                          <a:latin typeface="Cambria Math" panose="02040503050406030204" pitchFamily="18" charset="0"/>
                        </a:rPr>
                        <m:t>3,2</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2</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s</m:t>
                      </m:r>
                    </m:e>
                    <m:sub>
                      <m:r>
                        <a:rPr xmlns:a="http://schemas.openxmlformats.org/drawingml/2006/main" sz="4400" i="1">
                          <a:solidFill>
                            <a:srgbClr val="45B53C"/>
                          </a:solidFill>
                          <a:latin typeface="Cambria Math" panose="02040503050406030204" pitchFamily="18" charset="0"/>
                        </a:rPr>
                        <m:t>3,</m:t>
                      </m:r>
                      <m:r>
                        <a:rPr xmlns:a="http://schemas.openxmlformats.org/drawingml/2006/main" sz="4400" i="1">
                          <a:solidFill>
                            <a:srgbClr val="45B53C"/>
                          </a:solidFill>
                          <a:latin typeface="Cambria Math" panose="02040503050406030204" pitchFamily="18" charset="0"/>
                        </a:rPr>
                        <m:t>n</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n</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oMath>
              </m:oMathPara>
            </a14:m>
            <a:endParaRPr sz="4400">
              <a:solidFill>
                <a:srgbClr val="45B53C"/>
              </a:solidFill>
            </a:endParaRPr>
          </a:p>
        </p:txBody>
      </p:sp>
      <p:sp>
        <p:nvSpPr>
          <p:cNvPr id="597" name="La ce am obținut prin self-attention, se adaugă termenii obținuți prin cross-attention"/>
          <p:cNvSpPr txBox="1"/>
          <p:nvPr/>
        </p:nvSpPr>
        <p:spPr>
          <a:xfrm>
            <a:off x="10238925" y="9628997"/>
            <a:ext cx="14239248" cy="21275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La ce am obținut prin </a:t>
            </a:r>
            <a:r>
              <a:rPr>
                <a:solidFill>
                  <a:schemeClr val="accent5">
                    <a:lumOff val="12303"/>
                  </a:schemeClr>
                </a:solidFill>
              </a:rPr>
              <a:t>self-attention</a:t>
            </a:r>
            <a:r>
              <a:t>, se adaugă termenii obținuți prin </a:t>
            </a:r>
            <a:r>
              <a:rPr>
                <a:solidFill>
                  <a:schemeClr val="accent3">
                    <a:satOff val="-5226"/>
                    <a:lumOff val="13186"/>
                  </a:schemeClr>
                </a:solidFill>
              </a:rPr>
              <a:t>cross-attention</a:t>
            </a:r>
          </a:p>
        </p:txBody>
      </p:sp>
      <p:sp>
        <p:nvSpPr>
          <p:cNvPr id="598" name="Ecuație"/>
          <p:cNvSpPr txBox="1"/>
          <p:nvPr/>
        </p:nvSpPr>
        <p:spPr>
          <a:xfrm>
            <a:off x="10873000" y="11675926"/>
            <a:ext cx="4720799" cy="559365"/>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1</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2</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r>
                    <a:rPr xmlns:a="http://schemas.openxmlformats.org/drawingml/2006/main" sz="4400" i="1">
                      <a:solidFill>
                        <a:srgbClr val="45B53C"/>
                      </a:solidFill>
                      <a:latin typeface="Cambria Math" panose="02040503050406030204" pitchFamily="18" charset="0"/>
                    </a:rPr>
                    <m:t>,</m:t>
                  </m:r>
                  <m:sSubSup>
                    <m:e>
                      <m:r>
                        <a:rPr xmlns:a="http://schemas.openxmlformats.org/drawingml/2006/main" sz="4400" i="1">
                          <a:solidFill>
                            <a:srgbClr val="45B53C"/>
                          </a:solidFill>
                          <a:latin typeface="Cambria Math" panose="02040503050406030204" pitchFamily="18" charset="0"/>
                        </a:rPr>
                        <m:t>v</m:t>
                      </m:r>
                    </m:e>
                    <m:sub>
                      <m:r>
                        <a:rPr xmlns:a="http://schemas.openxmlformats.org/drawingml/2006/main" sz="4400" i="1">
                          <a:solidFill>
                            <a:srgbClr val="45B53C"/>
                          </a:solidFill>
                          <a:latin typeface="Cambria Math" panose="02040503050406030204" pitchFamily="18" charset="0"/>
                        </a:rPr>
                        <m:t>n</m:t>
                      </m:r>
                    </m:sub>
                    <m:sup>
                      <m:r>
                        <a:rPr xmlns:a="http://schemas.openxmlformats.org/drawingml/2006/main" sz="4400" i="1">
                          <a:solidFill>
                            <a:srgbClr val="45B53C"/>
                          </a:solidFill>
                          <a:latin typeface="Cambria Math" panose="02040503050406030204" pitchFamily="18" charset="0"/>
                        </a:rPr>
                        <m:t>c</m:t>
                      </m:r>
                      <m:r>
                        <a:rPr xmlns:a="http://schemas.openxmlformats.org/drawingml/2006/main" sz="4400" i="1">
                          <a:solidFill>
                            <a:srgbClr val="45B53C"/>
                          </a:solidFill>
                          <a:latin typeface="Cambria Math" panose="02040503050406030204" pitchFamily="18" charset="0"/>
                        </a:rPr>
                        <m:t>r</m:t>
                      </m:r>
                      <m:r>
                        <a:rPr xmlns:a="http://schemas.openxmlformats.org/drawingml/2006/main" sz="4400" i="1">
                          <a:solidFill>
                            <a:srgbClr val="45B53C"/>
                          </a:solidFill>
                          <a:latin typeface="Cambria Math" panose="02040503050406030204" pitchFamily="18" charset="0"/>
                        </a:rPr>
                        <m:t>o</m:t>
                      </m:r>
                      <m:r>
                        <a:rPr xmlns:a="http://schemas.openxmlformats.org/drawingml/2006/main" sz="4400" i="1">
                          <a:solidFill>
                            <a:srgbClr val="45B53C"/>
                          </a:solidFill>
                          <a:latin typeface="Cambria Math" panose="02040503050406030204" pitchFamily="18" charset="0"/>
                        </a:rPr>
                        <m:t>s</m:t>
                      </m:r>
                      <m:r>
                        <a:rPr xmlns:a="http://schemas.openxmlformats.org/drawingml/2006/main" sz="4400" i="1">
                          <a:solidFill>
                            <a:srgbClr val="45B53C"/>
                          </a:solidFill>
                          <a:latin typeface="Cambria Math" panose="02040503050406030204" pitchFamily="18" charset="0"/>
                        </a:rPr>
                        <m:t>s</m:t>
                      </m:r>
                    </m:sup>
                  </m:sSubSup>
                </m:oMath>
              </m:oMathPara>
            </a14:m>
            <a:endParaRPr sz="4400">
              <a:solidFill>
                <a:srgbClr val="45B53C"/>
              </a:solidFill>
            </a:endParaRPr>
          </a:p>
        </p:txBody>
      </p:sp>
      <p:sp>
        <p:nvSpPr>
          <p:cNvPr id="599" name="reprezintă values ale cuvintelor de intrare (unde lungime intrării este N)"/>
          <p:cNvSpPr txBox="1"/>
          <p:nvPr/>
        </p:nvSpPr>
        <p:spPr>
          <a:xfrm>
            <a:off x="10217278" y="11438931"/>
            <a:ext cx="13338733"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                                      reprezintă values ale cuvintelor de intrare (unde lungime intrării este 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1" name="Arhitectura Transformer"/>
          <p:cNvSpPr txBox="1"/>
          <p:nvPr>
            <p:ph type="title"/>
          </p:nvPr>
        </p:nvSpPr>
        <p:spPr>
          <a:xfrm>
            <a:off x="1143000" y="9074"/>
            <a:ext cx="21945600" cy="1727201"/>
          </a:xfrm>
          <a:prstGeom prst="rect">
            <a:avLst/>
          </a:prstGeom>
        </p:spPr>
        <p:txBody>
          <a:bodyPr/>
          <a:lstStyle/>
          <a:p>
            <a:pPr/>
            <a:r>
              <a:t>Arhitectura Transformer</a:t>
            </a:r>
          </a:p>
        </p:txBody>
      </p:sp>
      <p:pic>
        <p:nvPicPr>
          <p:cNvPr id="602" name="Captură de ecran din 2024-12-16 la 14.03.25.png" descr="Captură de ecran din 2024-12-16 la 14.03.25.png"/>
          <p:cNvPicPr>
            <a:picLocks noChangeAspect="1"/>
          </p:cNvPicPr>
          <p:nvPr/>
        </p:nvPicPr>
        <p:blipFill>
          <a:blip r:embed="rId2">
            <a:extLst/>
          </a:blip>
          <a:stretch>
            <a:fillRect/>
          </a:stretch>
        </p:blipFill>
        <p:spPr>
          <a:xfrm>
            <a:off x="2000250" y="2094607"/>
            <a:ext cx="7531100" cy="10972801"/>
          </a:xfrm>
          <a:prstGeom prst="rect">
            <a:avLst/>
          </a:prstGeom>
          <a:ln w="12700">
            <a:miter lim="400000"/>
          </a:ln>
        </p:spPr>
      </p:pic>
      <p:sp>
        <p:nvSpPr>
          <p:cNvPr id="603" name="De obicei, se folosește un Feed-Forward Network (MLP) după operațiile de atenție ca să se învețe reprezentări și mai complexe ale vectorilor de până acum"/>
          <p:cNvSpPr txBox="1"/>
          <p:nvPr/>
        </p:nvSpPr>
        <p:spPr>
          <a:xfrm>
            <a:off x="9821721" y="1904658"/>
            <a:ext cx="13121265" cy="333817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obicei, se folosește un Feed-Forward Network (MLP) după operațiile de atenție ca să se învețe reprezentări și mai complexe ale vectorilor de până acum</a:t>
            </a:r>
          </a:p>
        </p:txBody>
      </p:sp>
      <p:sp>
        <p:nvSpPr>
          <p:cNvPr id="604" name="La decodificator, vectorul ultimului cuvânt generat până acum este transmis către un strat liniar (fully-connected), care are rolul de a transforma reprezentarea abstractă a cuvântului în spațiul vocabularului"/>
          <p:cNvSpPr txBox="1"/>
          <p:nvPr/>
        </p:nvSpPr>
        <p:spPr>
          <a:xfrm>
            <a:off x="9821721" y="4963426"/>
            <a:ext cx="13121265" cy="40963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La decodificator, vectorul ultimului cuvânt generat până acum este transmis către un strat liniar (fully-connected), care are rolul de a transforma reprezentarea abstractă a cuvântului în spațiul vocabularului</a:t>
            </a:r>
          </a:p>
        </p:txBody>
      </p:sp>
      <p:sp>
        <p:nvSpPr>
          <p:cNvPr id="605" name="Peste acel spațiu este aplicat softmax, pentru a trece în spațiul probabilităților peste acel spațiu al vocabularului"/>
          <p:cNvSpPr txBox="1"/>
          <p:nvPr/>
        </p:nvSpPr>
        <p:spPr>
          <a:xfrm>
            <a:off x="9821721" y="8810314"/>
            <a:ext cx="13121265" cy="25106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Peste acel spațiu este aplicat softmax, pentru a trece în spațiul probabilităților peste acel spațiu al vocabularului</a:t>
            </a:r>
          </a:p>
        </p:txBody>
      </p:sp>
      <p:sp>
        <p:nvSpPr>
          <p:cNvPr id="606" name="Următorul cuvânt generat este cel care are probabilitatea mai mare"/>
          <p:cNvSpPr txBox="1"/>
          <p:nvPr/>
        </p:nvSpPr>
        <p:spPr>
          <a:xfrm>
            <a:off x="9821721" y="11241313"/>
            <a:ext cx="13121265" cy="18719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Următorul cuvânt generat este cel care are probabilitatea mai mare</a:t>
            </a:r>
          </a:p>
        </p:txBody>
      </p:sp>
      <p:pic>
        <p:nvPicPr>
          <p:cNvPr id="607" name="Linie Linie" descr="Linie Linie"/>
          <p:cNvPicPr>
            <a:picLocks noChangeAspect="0"/>
          </p:cNvPicPr>
          <p:nvPr/>
        </p:nvPicPr>
        <p:blipFill>
          <a:blip r:embed="rId3">
            <a:extLst/>
          </a:blip>
          <a:stretch>
            <a:fillRect/>
          </a:stretch>
        </p:blipFill>
        <p:spPr>
          <a:xfrm>
            <a:off x="16896049" y="2680286"/>
            <a:ext cx="5984908" cy="101601"/>
          </a:xfrm>
          <a:prstGeom prst="rect">
            <a:avLst/>
          </a:prstGeom>
        </p:spPr>
      </p:pic>
      <p:pic>
        <p:nvPicPr>
          <p:cNvPr id="609" name="Linie Linie" descr="Linie Linie"/>
          <p:cNvPicPr>
            <a:picLocks noChangeAspect="0"/>
          </p:cNvPicPr>
          <p:nvPr/>
        </p:nvPicPr>
        <p:blipFill>
          <a:blip r:embed="rId4">
            <a:extLst/>
          </a:blip>
          <a:stretch>
            <a:fillRect/>
          </a:stretch>
        </p:blipFill>
        <p:spPr>
          <a:xfrm>
            <a:off x="10341449" y="12868085"/>
            <a:ext cx="621784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2" name="Arhitectura Transformer"/>
          <p:cNvSpPr txBox="1"/>
          <p:nvPr>
            <p:ph type="title"/>
          </p:nvPr>
        </p:nvSpPr>
        <p:spPr>
          <a:xfrm>
            <a:off x="1143000" y="9074"/>
            <a:ext cx="21945600" cy="1727201"/>
          </a:xfrm>
          <a:prstGeom prst="rect">
            <a:avLst/>
          </a:prstGeom>
        </p:spPr>
        <p:txBody>
          <a:bodyPr/>
          <a:lstStyle/>
          <a:p>
            <a:pPr/>
            <a:r>
              <a:t>Arhitectura Transformer</a:t>
            </a:r>
          </a:p>
        </p:txBody>
      </p:sp>
      <p:pic>
        <p:nvPicPr>
          <p:cNvPr id="613" name="Captură de ecran din 2024-12-16 la 14.03.25.png" descr="Captură de ecran din 2024-12-16 la 14.03.25.png"/>
          <p:cNvPicPr>
            <a:picLocks noChangeAspect="1"/>
          </p:cNvPicPr>
          <p:nvPr/>
        </p:nvPicPr>
        <p:blipFill>
          <a:blip r:embed="rId2">
            <a:extLst/>
          </a:blip>
          <a:stretch>
            <a:fillRect/>
          </a:stretch>
        </p:blipFill>
        <p:spPr>
          <a:xfrm>
            <a:off x="2000250" y="2094607"/>
            <a:ext cx="7531100" cy="10972801"/>
          </a:xfrm>
          <a:prstGeom prst="rect">
            <a:avLst/>
          </a:prstGeom>
          <a:ln w="12700">
            <a:miter lim="400000"/>
          </a:ln>
        </p:spPr>
      </p:pic>
      <p:sp>
        <p:nvSpPr>
          <p:cNvPr id="614" name="De asemenea, se folosesc N straturi de codificatoare și decodificatoare"/>
          <p:cNvSpPr txBox="1"/>
          <p:nvPr/>
        </p:nvSpPr>
        <p:spPr>
          <a:xfrm>
            <a:off x="9821721" y="1597458"/>
            <a:ext cx="13121265" cy="19073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asemenea, se folosesc N straturi de codificatoare și decodificatoare</a:t>
            </a:r>
          </a:p>
        </p:txBody>
      </p:sp>
      <p:sp>
        <p:nvSpPr>
          <p:cNvPr id="615" name="Fiecare strat primește ieșirea stratului precedent și o rafinează"/>
          <p:cNvSpPr txBox="1"/>
          <p:nvPr/>
        </p:nvSpPr>
        <p:spPr>
          <a:xfrm>
            <a:off x="9821721" y="3183658"/>
            <a:ext cx="13121265" cy="19073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Fiecare strat primește ieșirea stratului precedent și o rafinează</a:t>
            </a:r>
          </a:p>
        </p:txBody>
      </p:sp>
      <p:sp>
        <p:nvSpPr>
          <p:cNvPr id="616" name="Încă o chestie de finețe: am spus că decodificatorul începe să genereze cuvinte pornind de la ultimele cuvinte generate deja, dar la început nu e niciun cuvânt generat"/>
          <p:cNvSpPr txBox="1"/>
          <p:nvPr/>
        </p:nvSpPr>
        <p:spPr>
          <a:xfrm>
            <a:off x="9821721" y="4773751"/>
            <a:ext cx="13121265" cy="35156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Încă o chestie de finețe: am spus că decodificatorul începe să genereze cuvinte pornind de la ultimele cuvinte generate deja, dar la început nu e niciun cuvânt generat</a:t>
            </a:r>
          </a:p>
        </p:txBody>
      </p:sp>
      <p:sp>
        <p:nvSpPr>
          <p:cNvPr id="617" name="De fapt, primul cuvânt „generat” de decodificator este token-ul „&lt;START&gt;” sau ceva similar, care să indice că a început generarea"/>
          <p:cNvSpPr txBox="1"/>
          <p:nvPr/>
        </p:nvSpPr>
        <p:spPr>
          <a:xfrm>
            <a:off x="9821721" y="7834459"/>
            <a:ext cx="13121265" cy="26945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fapt, primul cuvânt „generat” de decodificator este token-ul „&lt;START&gt;” sau ceva similar, care să indice că a început generarea</a:t>
            </a:r>
          </a:p>
        </p:txBody>
      </p:sp>
      <p:sp>
        <p:nvSpPr>
          <p:cNvPr id="618" name="Primul cuvânt generat efectiv de decodificator (cel după token-ul de start) este obținut din distribuția de probabilități asociată embedding-ului token-ului &lt;START&gt;"/>
          <p:cNvSpPr txBox="1"/>
          <p:nvPr/>
        </p:nvSpPr>
        <p:spPr>
          <a:xfrm>
            <a:off x="9821721" y="10131058"/>
            <a:ext cx="13121265" cy="37117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Primul cuvânt generat efectiv de decodificator (cel după token-ul de start) este obținut din distribuția de probabilități asociată embedding-ului token-ului &lt;START&gt;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0" name="That’s it for today!…"/>
          <p:cNvSpPr txBox="1"/>
          <p:nvPr>
            <p:ph type="title"/>
          </p:nvPr>
        </p:nvSpPr>
        <p:spPr>
          <a:xfrm>
            <a:off x="1219200" y="419213"/>
            <a:ext cx="21945600" cy="1727201"/>
          </a:xfrm>
          <a:prstGeom prst="rect">
            <a:avLst/>
          </a:prstGeom>
        </p:spPr>
        <p:txBody>
          <a:bodyPr/>
          <a:lstStyle>
            <a:lvl1pPr defTabSz="1389888">
              <a:defRPr spc="-99" sz="4700"/>
            </a:lvl1pPr>
          </a:lstStyle>
          <a:p>
            <a:pPr/>
            <a:r>
              <a:t>That’s it for today!</a:t>
            </a:r>
          </a:p>
        </p:txBody>
      </p:sp>
      <p:pic>
        <p:nvPicPr>
          <p:cNvPr id="621" name="Captură de ecran din 2024-12-16 la 13.02.27.png" descr="Captură de ecran din 2024-12-16 la 13.02.27.png"/>
          <p:cNvPicPr>
            <a:picLocks noChangeAspect="1"/>
          </p:cNvPicPr>
          <p:nvPr/>
        </p:nvPicPr>
        <p:blipFill>
          <a:blip r:embed="rId2">
            <a:extLst/>
          </a:blip>
          <a:stretch>
            <a:fillRect/>
          </a:stretch>
        </p:blipFill>
        <p:spPr>
          <a:xfrm>
            <a:off x="6654800" y="2524720"/>
            <a:ext cx="12437008" cy="7886381"/>
          </a:xfrm>
          <a:prstGeom prst="rect">
            <a:avLst/>
          </a:prstGeom>
          <a:ln w="12700">
            <a:miter lim="400000"/>
          </a:ln>
        </p:spPr>
      </p:pic>
      <p:pic>
        <p:nvPicPr>
          <p:cNvPr id="622" name="Captură de ecran din 2024-12-16 la 15.10.43.png" descr="Captură de ecran din 2024-12-16 la 15.10.43.png"/>
          <p:cNvPicPr>
            <a:picLocks noChangeAspect="1"/>
          </p:cNvPicPr>
          <p:nvPr/>
        </p:nvPicPr>
        <p:blipFill>
          <a:blip r:embed="rId3">
            <a:extLst/>
          </a:blip>
          <a:stretch>
            <a:fillRect/>
          </a:stretch>
        </p:blipFill>
        <p:spPr>
          <a:xfrm>
            <a:off x="3936343" y="4796575"/>
            <a:ext cx="17873921" cy="2928666"/>
          </a:xfrm>
          <a:prstGeom prst="rect">
            <a:avLst/>
          </a:prstGeom>
          <a:ln w="12700">
            <a:miter lim="400000"/>
          </a:ln>
        </p:spPr>
      </p:pic>
      <p:pic>
        <p:nvPicPr>
          <p:cNvPr id="623" name="Captură de ecran din 2024-12-16 la 15.11.02.png" descr="Captură de ecran din 2024-12-16 la 15.11.02.png"/>
          <p:cNvPicPr>
            <a:picLocks noChangeAspect="1"/>
          </p:cNvPicPr>
          <p:nvPr/>
        </p:nvPicPr>
        <p:blipFill>
          <a:blip r:embed="rId4">
            <a:extLst/>
          </a:blip>
          <a:stretch>
            <a:fillRect/>
          </a:stretch>
        </p:blipFill>
        <p:spPr>
          <a:xfrm>
            <a:off x="6458349" y="7609850"/>
            <a:ext cx="13321640" cy="2320739"/>
          </a:xfrm>
          <a:prstGeom prst="rect">
            <a:avLst/>
          </a:prstGeom>
          <a:ln w="12700">
            <a:miter lim="400000"/>
          </a:ln>
        </p:spPr>
      </p:pic>
      <p:pic>
        <p:nvPicPr>
          <p:cNvPr id="624" name="Captură de ecran din 2024-12-16 la 15.11.02.png" descr="Captură de ecran din 2024-12-16 la 15.11.02.png"/>
          <p:cNvPicPr>
            <a:picLocks noChangeAspect="1"/>
          </p:cNvPicPr>
          <p:nvPr/>
        </p:nvPicPr>
        <p:blipFill>
          <a:blip r:embed="rId4">
            <a:extLst/>
          </a:blip>
          <a:stretch>
            <a:fillRect/>
          </a:stretch>
        </p:blipFill>
        <p:spPr>
          <a:xfrm>
            <a:off x="12255788" y="4129120"/>
            <a:ext cx="6628743" cy="1154782"/>
          </a:xfrm>
          <a:prstGeom prst="rect">
            <a:avLst/>
          </a:prstGeom>
          <a:ln w="12700">
            <a:miter lim="400000"/>
          </a:ln>
        </p:spPr>
      </p:pic>
      <p:pic>
        <p:nvPicPr>
          <p:cNvPr id="625" name="Captură de ecran din 2024-12-16 la 15.11.02.png" descr="Captură de ecran din 2024-12-16 la 15.11.02.png"/>
          <p:cNvPicPr>
            <a:picLocks noChangeAspect="1"/>
          </p:cNvPicPr>
          <p:nvPr/>
        </p:nvPicPr>
        <p:blipFill>
          <a:blip r:embed="rId4">
            <a:extLst/>
          </a:blip>
          <a:stretch>
            <a:fillRect/>
          </a:stretch>
        </p:blipFill>
        <p:spPr>
          <a:xfrm>
            <a:off x="2994949" y="4659126"/>
            <a:ext cx="3214902" cy="560062"/>
          </a:xfrm>
          <a:prstGeom prst="rect">
            <a:avLst/>
          </a:prstGeom>
          <a:ln w="12700">
            <a:miter lim="400000"/>
          </a:ln>
        </p:spPr>
      </p:pic>
      <p:pic>
        <p:nvPicPr>
          <p:cNvPr id="626" name="Captură de ecran din 2024-12-16 la 15.12.06.png" descr="Captură de ecran din 2024-12-16 la 15.12.06.png"/>
          <p:cNvPicPr>
            <a:picLocks noChangeAspect="1"/>
          </p:cNvPicPr>
          <p:nvPr/>
        </p:nvPicPr>
        <p:blipFill>
          <a:blip r:embed="rId5">
            <a:extLst/>
          </a:blip>
          <a:stretch>
            <a:fillRect/>
          </a:stretch>
        </p:blipFill>
        <p:spPr>
          <a:xfrm>
            <a:off x="2082750" y="4089350"/>
            <a:ext cx="2487168" cy="17272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