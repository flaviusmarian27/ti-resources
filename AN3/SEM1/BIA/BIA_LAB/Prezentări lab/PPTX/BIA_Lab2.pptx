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1pPr>
    <a:lvl2pPr marL="0" marR="0" indent="4572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2pPr>
    <a:lvl3pPr marL="0" marR="0" indent="9144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3pPr>
    <a:lvl4pPr marL="0" marR="0" indent="13716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4pPr>
    <a:lvl5pPr marL="0" marR="0" indent="18288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5pPr>
    <a:lvl6pPr marL="0" marR="0" indent="22860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6pPr>
    <a:lvl7pPr marL="0" marR="0" indent="27432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7pPr>
    <a:lvl8pPr marL="0" marR="0" indent="32004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8pPr>
    <a:lvl9pPr marL="0" marR="0" indent="36576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Avenir Next Regular"/>
          <a:ea typeface="Avenir Next Regular"/>
          <a:cs typeface="Avenir Next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Avenir Next Regular"/>
          <a:ea typeface="Avenir Next Regular"/>
          <a:cs typeface="Avenir Next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Avenir Next Regular"/>
          <a:ea typeface="Avenir Next Regular"/>
          <a:cs typeface="Avenir Next Regular"/>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CEEEE"/>
          </a:solidFill>
        </a:fill>
      </a:tcStyle>
    </a:band2H>
    <a:firstCol>
      <a:tcTxStyle b="on" i="off">
        <a:font>
          <a:latin typeface="Avenir Next Demi Bold"/>
          <a:ea typeface="Avenir Next Demi Bold"/>
          <a:cs typeface="Avenir Next Demi 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Avenir Next Regular"/>
          <a:ea typeface="Avenir Next Regular"/>
          <a:cs typeface="Avenir Next Regular"/>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9036"/>
              <a:lumOff val="17111"/>
            </a:schemeClr>
          </a:solidFill>
        </a:fill>
      </a:tcStyle>
    </a:band2H>
    <a:firstCol>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Avenir Next Regular"/>
          <a:ea typeface="Avenir Next Regular"/>
          <a:cs typeface="Avenir Next Regular"/>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b="def" i="def"/>
      <a:tcStyle>
        <a:tcBdr/>
        <a:fill>
          <a:solidFill>
            <a:srgbClr val="ECEEEF"/>
          </a:solidFill>
        </a:fill>
      </a:tcStyle>
    </a:band2H>
    <a:firstCol>
      <a:tcTxStyle b="on" i="off">
        <a:font>
          <a:latin typeface="Avenir Next Demi Bold"/>
          <a:ea typeface="Avenir Next Demi Bold"/>
          <a:cs typeface="Avenir Next Demi 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 Next Demi Bold"/>
          <a:ea typeface="Avenir Next Demi Bold"/>
          <a:cs typeface="Avenir Next Demi 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 Next Demi Bold"/>
          <a:ea typeface="Avenir Next Demi Bold"/>
          <a:cs typeface="Avenir Next Demi 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F"/>
          </a:solidFill>
        </a:fill>
      </a:tcStyle>
    </a:band2H>
    <a:firstCol>
      <a:tcTxStyle b="on" i="off">
        <a:font>
          <a:latin typeface="Avenir Next Demi Bold"/>
          <a:ea typeface="Avenir Next Demi Bold"/>
          <a:cs typeface="Avenir Next Demi 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u">
    <p:spTree>
      <p:nvGrpSpPr>
        <p:cNvPr id="1" name=""/>
        <p:cNvGrpSpPr/>
        <p:nvPr/>
      </p:nvGrpSpPr>
      <p:grpSpPr>
        <a:xfrm>
          <a:off x="0" y="0"/>
          <a:ext cx="0" cy="0"/>
          <a:chOff x="0" y="0"/>
          <a:chExt cx="0" cy="0"/>
        </a:xfrm>
      </p:grpSpPr>
      <p:sp>
        <p:nvSpPr>
          <p:cNvPr id="11" name="Autor și dată"/>
          <p:cNvSpPr txBox="1"/>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pc="-29" sz="2940">
                <a:latin typeface="Avenir Next Medium"/>
                <a:ea typeface="Avenir Next Medium"/>
                <a:cs typeface="Avenir Next Medium"/>
                <a:sym typeface="Avenir Next Medium"/>
              </a:defRPr>
            </a:lvl1pPr>
          </a:lstStyle>
          <a:p>
            <a:pPr/>
            <a:r>
              <a:t>Autor și dată</a:t>
            </a:r>
          </a:p>
        </p:txBody>
      </p:sp>
      <p:sp>
        <p:nvSpPr>
          <p:cNvPr id="12" name="Titlu prezentare"/>
          <p:cNvSpPr txBox="1"/>
          <p:nvPr>
            <p:ph type="title" hasCustomPrompt="1"/>
          </p:nvPr>
        </p:nvSpPr>
        <p:spPr>
          <a:xfrm>
            <a:off x="1219200" y="3543300"/>
            <a:ext cx="21945600" cy="4267200"/>
          </a:xfrm>
          <a:prstGeom prst="rect">
            <a:avLst/>
          </a:prstGeom>
        </p:spPr>
        <p:txBody>
          <a:bodyPr anchor="b"/>
          <a:lstStyle>
            <a:lvl1pPr>
              <a:defRPr spc="-128" sz="12800"/>
            </a:lvl1pPr>
          </a:lstStyle>
          <a:p>
            <a:pPr/>
            <a:r>
              <a:t>Titlu prezentare</a:t>
            </a:r>
          </a:p>
        </p:txBody>
      </p:sp>
      <p:sp>
        <p:nvSpPr>
          <p:cNvPr id="13" name="Nivel corp unu…"/>
          <p:cNvSpPr txBox="1"/>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pc="-59" sz="6000">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59" sz="6000">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59" sz="6000">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59" sz="6000">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59" sz="6000">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14"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p:spTree>
      <p:nvGrpSpPr>
        <p:cNvPr id="1" name=""/>
        <p:cNvGrpSpPr/>
        <p:nvPr/>
      </p:nvGrpSpPr>
      <p:grpSpPr>
        <a:xfrm>
          <a:off x="0" y="0"/>
          <a:ext cx="0" cy="0"/>
          <a:chOff x="0" y="0"/>
          <a:chExt cx="0" cy="0"/>
        </a:xfrm>
      </p:grpSpPr>
      <p:sp>
        <p:nvSpPr>
          <p:cNvPr id="21" name="Plajă și mare la apu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lu prezentar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Titlu prezentare</a:t>
            </a:r>
          </a:p>
        </p:txBody>
      </p:sp>
      <p:sp>
        <p:nvSpPr>
          <p:cNvPr id="23" name="Nivel corp unu…"/>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24" name="Autor și dată"/>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29" sz="2940">
                <a:solidFill>
                  <a:srgbClr val="FFFFFF"/>
                </a:solidFill>
                <a:latin typeface="Avenir Next Medium"/>
                <a:ea typeface="Avenir Next Medium"/>
                <a:cs typeface="Avenir Next Medium"/>
                <a:sym typeface="Avenir Next Medium"/>
              </a:defRPr>
            </a:lvl1pPr>
          </a:lstStyle>
          <a:p>
            <a:pPr/>
            <a:r>
              <a:t>Autor și dată</a:t>
            </a:r>
          </a:p>
        </p:txBody>
      </p:sp>
      <p:sp>
        <p:nvSpPr>
          <p:cNvPr id="25" name="Număr diapozitiv"/>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alt.)">
    <p:spTree>
      <p:nvGrpSpPr>
        <p:cNvPr id="1" name=""/>
        <p:cNvGrpSpPr/>
        <p:nvPr/>
      </p:nvGrpSpPr>
      <p:grpSpPr>
        <a:xfrm>
          <a:off x="0" y="0"/>
          <a:ext cx="0" cy="0"/>
          <a:chOff x="0" y="0"/>
          <a:chExt cx="0" cy="0"/>
        </a:xfrm>
      </p:grpSpPr>
      <p:sp>
        <p:nvSpPr>
          <p:cNvPr id="32" name="Titlu diapozitiv"/>
          <p:cNvSpPr txBox="1"/>
          <p:nvPr>
            <p:ph type="title" hasCustomPrompt="1"/>
          </p:nvPr>
        </p:nvSpPr>
        <p:spPr>
          <a:xfrm>
            <a:off x="1215495" y="4585102"/>
            <a:ext cx="9757338" cy="2540001"/>
          </a:xfrm>
          <a:prstGeom prst="rect">
            <a:avLst/>
          </a:prstGeom>
        </p:spPr>
        <p:txBody>
          <a:bodyPr anchor="b"/>
          <a:lstStyle/>
          <a:p>
            <a:pPr/>
            <a:r>
              <a:t>Titlu diapozitiv</a:t>
            </a:r>
          </a:p>
        </p:txBody>
      </p:sp>
      <p:sp>
        <p:nvSpPr>
          <p:cNvPr id="33" name="Mare pe fundalul cerului la apus"/>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Nivel corp unu…"/>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3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42" name="Titlu diapozitiv"/>
          <p:cNvSpPr txBox="1"/>
          <p:nvPr>
            <p:ph type="title" hasCustomPrompt="1"/>
          </p:nvPr>
        </p:nvSpPr>
        <p:spPr>
          <a:prstGeom prst="rect">
            <a:avLst/>
          </a:prstGeom>
        </p:spPr>
        <p:txBody>
          <a:bodyPr/>
          <a:lstStyle/>
          <a:p>
            <a:pPr/>
            <a:r>
              <a:t>Titlu diapozitiv</a:t>
            </a:r>
          </a:p>
        </p:txBody>
      </p:sp>
      <p:sp>
        <p:nvSpPr>
          <p:cNvPr id="43" name="Nivel corp unu…"/>
          <p:cNvSpPr txBox="1"/>
          <p:nvPr>
            <p:ph type="body" idx="1" hasCustomPrompt="1"/>
          </p:nvPr>
        </p:nvSpPr>
        <p:spPr>
          <a:prstGeom prst="rect">
            <a:avLst/>
          </a:prstGeom>
        </p:spPr>
        <p:txBody>
          <a:bodyPr/>
          <a:lstStyle/>
          <a:p>
            <a:pPr/>
            <a:r>
              <a:t>Text marcator diapozitiv</a:t>
            </a:r>
          </a:p>
          <a:p>
            <a:pPr lvl="1"/>
            <a:r>
              <a:t/>
            </a:r>
          </a:p>
          <a:p>
            <a:pPr lvl="2"/>
            <a:r>
              <a:t/>
            </a:r>
          </a:p>
          <a:p>
            <a:pPr lvl="3"/>
            <a:r>
              <a:t/>
            </a:r>
          </a:p>
          <a:p>
            <a:pPr lvl="4"/>
            <a:r>
              <a:t/>
            </a:r>
          </a:p>
        </p:txBody>
      </p:sp>
      <p:sp>
        <p:nvSpPr>
          <p:cNvPr id="44"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4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rcatori">
    <p:spTree>
      <p:nvGrpSpPr>
        <p:cNvPr id="1" name=""/>
        <p:cNvGrpSpPr/>
        <p:nvPr/>
      </p:nvGrpSpPr>
      <p:grpSpPr>
        <a:xfrm>
          <a:off x="0" y="0"/>
          <a:ext cx="0" cy="0"/>
          <a:chOff x="0" y="0"/>
          <a:chExt cx="0" cy="0"/>
        </a:xfrm>
      </p:grpSpPr>
      <p:sp>
        <p:nvSpPr>
          <p:cNvPr id="52" name="Nivel corp unu…"/>
          <p:cNvSpPr txBox="1"/>
          <p:nvPr>
            <p:ph type="body" idx="1" hasCustomPrompt="1"/>
          </p:nvPr>
        </p:nvSpPr>
        <p:spPr>
          <a:xfrm>
            <a:off x="1219200" y="4013200"/>
            <a:ext cx="21945600" cy="8487148"/>
          </a:xfrm>
          <a:prstGeom prst="rect">
            <a:avLst/>
          </a:prstGeom>
        </p:spPr>
        <p:txBody>
          <a:bodyPr numCol="2" spcCol="2558384"/>
          <a:lstStyle/>
          <a:p>
            <a:pPr/>
            <a:r>
              <a:t>Text marcator diapozitiv</a:t>
            </a:r>
          </a:p>
          <a:p>
            <a:pPr lvl="1"/>
            <a:r>
              <a:t/>
            </a:r>
          </a:p>
          <a:p>
            <a:pPr lvl="2"/>
            <a:r>
              <a:t/>
            </a:r>
          </a:p>
          <a:p>
            <a:pPr lvl="3"/>
            <a:r>
              <a:t/>
            </a:r>
          </a:p>
          <a:p>
            <a:pPr lvl="4"/>
            <a:r>
              <a:t/>
            </a:r>
          </a:p>
        </p:txBody>
      </p:sp>
      <p:sp>
        <p:nvSpPr>
          <p:cNvPr id="53"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poză">
    <p:spTree>
      <p:nvGrpSpPr>
        <p:cNvPr id="1" name=""/>
        <p:cNvGrpSpPr/>
        <p:nvPr/>
      </p:nvGrpSpPr>
      <p:grpSpPr>
        <a:xfrm>
          <a:off x="0" y="0"/>
          <a:ext cx="0" cy="0"/>
          <a:chOff x="0" y="0"/>
          <a:chExt cx="0" cy="0"/>
        </a:xfrm>
      </p:grpSpPr>
      <p:sp>
        <p:nvSpPr>
          <p:cNvPr id="60"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61" name="Mare pe fundalul cerului la apus"/>
          <p:cNvSpPr/>
          <p:nvPr>
            <p:ph type="pic" idx="21"/>
          </p:nvPr>
        </p:nvSpPr>
        <p:spPr>
          <a:xfrm>
            <a:off x="12192644" y="718588"/>
            <a:ext cx="10972801" cy="12329624"/>
          </a:xfrm>
          <a:prstGeom prst="rect">
            <a:avLst/>
          </a:prstGeom>
        </p:spPr>
        <p:txBody>
          <a:bodyPr lIns="91439" tIns="45719" rIns="91439" bIns="45719">
            <a:noAutofit/>
          </a:bodyPr>
          <a:lstStyle/>
          <a:p>
            <a:pPr/>
          </a:p>
        </p:txBody>
      </p:sp>
      <p:sp>
        <p:nvSpPr>
          <p:cNvPr id="62" name="Subtitlu diapozitiv"/>
          <p:cNvSpPr txBox="1"/>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63" name="Nivel corp unu…"/>
          <p:cNvSpPr txBox="1"/>
          <p:nvPr>
            <p:ph type="body" sz="half" idx="1" hasCustomPrompt="1"/>
          </p:nvPr>
        </p:nvSpPr>
        <p:spPr>
          <a:xfrm>
            <a:off x="1219200" y="4023221"/>
            <a:ext cx="9757569" cy="8384679"/>
          </a:xfrm>
          <a:prstGeom prst="rect">
            <a:avLst/>
          </a:prstGeom>
        </p:spPr>
        <p:txBody>
          <a:bodyPr/>
          <a:lstStyle/>
          <a:p>
            <a:pPr/>
            <a:r>
              <a:t>Text marcator diapozitiv</a:t>
            </a:r>
          </a:p>
          <a:p>
            <a:pPr lvl="1"/>
            <a:r>
              <a:t/>
            </a:r>
          </a:p>
          <a:p>
            <a:pPr lvl="2"/>
            <a:r>
              <a:t/>
            </a:r>
          </a:p>
          <a:p>
            <a:pPr lvl="3"/>
            <a:r>
              <a:t/>
            </a:r>
          </a:p>
          <a:p>
            <a:pPr lvl="4"/>
            <a:r>
              <a:t/>
            </a:r>
          </a:p>
        </p:txBody>
      </p:sp>
      <p:sp>
        <p:nvSpPr>
          <p:cNvPr id="6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ic">
    <p:spTree>
      <p:nvGrpSpPr>
        <p:cNvPr id="1" name=""/>
        <p:cNvGrpSpPr/>
        <p:nvPr/>
      </p:nvGrpSpPr>
      <p:grpSpPr>
        <a:xfrm>
          <a:off x="0" y="0"/>
          <a:ext cx="0" cy="0"/>
          <a:chOff x="0" y="0"/>
          <a:chExt cx="0" cy="0"/>
        </a:xfrm>
      </p:grpSpPr>
      <p:sp>
        <p:nvSpPr>
          <p:cNvPr id="7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72" name="Subtitlu diapozitiv"/>
          <p:cNvSpPr txBox="1"/>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73" name="Nivel corp unu…"/>
          <p:cNvSpPr txBox="1"/>
          <p:nvPr>
            <p:ph type="body" sz="half" idx="1" hasCustomPrompt="1"/>
          </p:nvPr>
        </p:nvSpPr>
        <p:spPr>
          <a:xfrm>
            <a:off x="1219200" y="4023221"/>
            <a:ext cx="9757569" cy="8384679"/>
          </a:xfrm>
          <a:prstGeom prst="rect">
            <a:avLst/>
          </a:prstGeom>
        </p:spPr>
        <p:txBody>
          <a:bodyPr/>
          <a:lstStyle/>
          <a:p>
            <a:pPr/>
            <a:r>
              <a:t>Text marcator diapozitiv</a:t>
            </a:r>
          </a:p>
          <a:p>
            <a:pPr lvl="1"/>
            <a:r>
              <a:t/>
            </a:r>
          </a:p>
          <a:p>
            <a:pPr lvl="2"/>
            <a:r>
              <a:t/>
            </a:r>
          </a:p>
          <a:p>
            <a:pPr lvl="3"/>
            <a:r>
              <a:t/>
            </a:r>
          </a:p>
          <a:p>
            <a:pPr lvl="4"/>
            <a:r>
              <a:t/>
            </a:r>
          </a:p>
        </p:txBody>
      </p:sp>
      <p:sp>
        <p:nvSpPr>
          <p:cNvPr id="7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are">
    <p:spTree>
      <p:nvGrpSpPr>
        <p:cNvPr id="1" name=""/>
        <p:cNvGrpSpPr/>
        <p:nvPr/>
      </p:nvGrpSpPr>
      <p:grpSpPr>
        <a:xfrm>
          <a:off x="0" y="0"/>
          <a:ext cx="0" cy="0"/>
          <a:chOff x="0" y="0"/>
          <a:chExt cx="0" cy="0"/>
        </a:xfrm>
      </p:grpSpPr>
      <p:sp>
        <p:nvSpPr>
          <p:cNvPr id="8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82" name="Subtitlu diapozitiv"/>
          <p:cNvSpPr txBox="1"/>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83" name="Nivel corp unu…"/>
          <p:cNvSpPr txBox="1"/>
          <p:nvPr>
            <p:ph type="body" sz="half" idx="1" hasCustomPrompt="1"/>
          </p:nvPr>
        </p:nvSpPr>
        <p:spPr>
          <a:xfrm>
            <a:off x="1219200" y="4023221"/>
            <a:ext cx="9757569" cy="8384679"/>
          </a:xfrm>
          <a:prstGeom prst="rect">
            <a:avLst/>
          </a:prstGeom>
        </p:spPr>
        <p:txBody>
          <a:bodyPr/>
          <a:lstStyle/>
          <a:p>
            <a:pPr/>
            <a:r>
              <a:t>Text marcator diapozitiv</a:t>
            </a:r>
          </a:p>
          <a:p>
            <a:pPr lvl="1"/>
            <a:r>
              <a:t/>
            </a:r>
          </a:p>
          <a:p>
            <a:pPr lvl="2"/>
            <a:r>
              <a:t/>
            </a:r>
          </a:p>
          <a:p>
            <a:pPr lvl="3"/>
            <a:r>
              <a:t/>
            </a:r>
          </a:p>
          <a:p>
            <a:pPr lvl="4"/>
            <a:r>
              <a:t/>
            </a:r>
          </a:p>
        </p:txBody>
      </p:sp>
      <p:sp>
        <p:nvSpPr>
          <p:cNvPr id="8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țiune">
    <p:spTree>
      <p:nvGrpSpPr>
        <p:cNvPr id="1" name=""/>
        <p:cNvGrpSpPr/>
        <p:nvPr/>
      </p:nvGrpSpPr>
      <p:grpSpPr>
        <a:xfrm>
          <a:off x="0" y="0"/>
          <a:ext cx="0" cy="0"/>
          <a:chOff x="0" y="0"/>
          <a:chExt cx="0" cy="0"/>
        </a:xfrm>
      </p:grpSpPr>
      <p:sp>
        <p:nvSpPr>
          <p:cNvPr id="91" name="Titlu secțiune"/>
          <p:cNvSpPr txBox="1"/>
          <p:nvPr>
            <p:ph type="title" hasCustomPrompt="1"/>
          </p:nvPr>
        </p:nvSpPr>
        <p:spPr>
          <a:xfrm>
            <a:off x="1219200" y="3242270"/>
            <a:ext cx="21945600" cy="6604001"/>
          </a:xfrm>
          <a:prstGeom prst="rect">
            <a:avLst/>
          </a:prstGeom>
        </p:spPr>
        <p:txBody>
          <a:bodyPr anchor="ctr"/>
          <a:lstStyle>
            <a:lvl1pPr>
              <a:defRPr spc="0" sz="12800"/>
            </a:lvl1pPr>
          </a:lstStyle>
          <a:p>
            <a:pPr/>
            <a:r>
              <a:t>Titlu secțiune</a:t>
            </a:r>
          </a:p>
        </p:txBody>
      </p:sp>
      <p:sp>
        <p:nvSpPr>
          <p:cNvPr id="9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ar titlu">
    <p:spTree>
      <p:nvGrpSpPr>
        <p:cNvPr id="1" name=""/>
        <p:cNvGrpSpPr/>
        <p:nvPr/>
      </p:nvGrpSpPr>
      <p:grpSpPr>
        <a:xfrm>
          <a:off x="0" y="0"/>
          <a:ext cx="0" cy="0"/>
          <a:chOff x="0" y="0"/>
          <a:chExt cx="0" cy="0"/>
        </a:xfrm>
      </p:grpSpPr>
      <p:sp>
        <p:nvSpPr>
          <p:cNvPr id="99" name="Titlu diapozitiv"/>
          <p:cNvSpPr txBox="1"/>
          <p:nvPr>
            <p:ph type="title" hasCustomPrompt="1"/>
          </p:nvPr>
        </p:nvSpPr>
        <p:spPr>
          <a:prstGeom prst="rect">
            <a:avLst/>
          </a:prstGeom>
        </p:spPr>
        <p:txBody>
          <a:bodyPr/>
          <a:lstStyle/>
          <a:p>
            <a:pPr/>
            <a:r>
              <a:t>Titlu diapozitiv</a:t>
            </a:r>
          </a:p>
        </p:txBody>
      </p:sp>
      <p:sp>
        <p:nvSpPr>
          <p:cNvPr id="100"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10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ă">
    <p:spTree>
      <p:nvGrpSpPr>
        <p:cNvPr id="1" name=""/>
        <p:cNvGrpSpPr/>
        <p:nvPr/>
      </p:nvGrpSpPr>
      <p:grpSpPr>
        <a:xfrm>
          <a:off x="0" y="0"/>
          <a:ext cx="0" cy="0"/>
          <a:chOff x="0" y="0"/>
          <a:chExt cx="0" cy="0"/>
        </a:xfrm>
      </p:grpSpPr>
      <p:sp>
        <p:nvSpPr>
          <p:cNvPr id="108" name="Titlu agendă"/>
          <p:cNvSpPr txBox="1"/>
          <p:nvPr>
            <p:ph type="title" hasCustomPrompt="1"/>
          </p:nvPr>
        </p:nvSpPr>
        <p:spPr>
          <a:prstGeom prst="rect">
            <a:avLst/>
          </a:prstGeom>
        </p:spPr>
        <p:txBody>
          <a:bodyPr/>
          <a:lstStyle/>
          <a:p>
            <a:pPr/>
            <a:r>
              <a:t>Titlu agendă</a:t>
            </a:r>
          </a:p>
        </p:txBody>
      </p:sp>
      <p:sp>
        <p:nvSpPr>
          <p:cNvPr id="109" name="Nivel corp unu…"/>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457200" defTabSz="825500">
              <a:lnSpc>
                <a:spcPct val="100000"/>
              </a:lnSpc>
              <a:buSzTx/>
              <a:buNone/>
              <a:defRPr spc="-136" sz="6800">
                <a:latin typeface="Canela Deck Regular"/>
                <a:ea typeface="Canela Deck Regular"/>
                <a:cs typeface="Canela Deck Regular"/>
                <a:sym typeface="Canela Deck Regular"/>
              </a:defRPr>
            </a:lvl2pPr>
            <a:lvl3pPr marL="0" indent="914400" defTabSz="825500">
              <a:lnSpc>
                <a:spcPct val="100000"/>
              </a:lnSpc>
              <a:buSzTx/>
              <a:buNone/>
              <a:defRPr spc="-136" sz="6800">
                <a:latin typeface="Canela Deck Regular"/>
                <a:ea typeface="Canela Deck Regular"/>
                <a:cs typeface="Canela Deck Regular"/>
                <a:sym typeface="Canela Deck Regular"/>
              </a:defRPr>
            </a:lvl3pPr>
            <a:lvl4pPr marL="0" indent="1371600" defTabSz="825500">
              <a:lnSpc>
                <a:spcPct val="100000"/>
              </a:lnSpc>
              <a:buSzTx/>
              <a:buNone/>
              <a:defRPr spc="-136" sz="6800">
                <a:latin typeface="Canela Deck Regular"/>
                <a:ea typeface="Canela Deck Regular"/>
                <a:cs typeface="Canela Deck Regular"/>
                <a:sym typeface="Canela Deck Regular"/>
              </a:defRPr>
            </a:lvl4pPr>
            <a:lvl5pPr marL="0" indent="1828800" defTabSz="825500">
              <a:lnSpc>
                <a:spcPct val="100000"/>
              </a:lnSpc>
              <a:buSzTx/>
              <a:buNone/>
              <a:defRPr spc="-136" sz="6800">
                <a:latin typeface="Canela Deck Regular"/>
                <a:ea typeface="Canela Deck Regular"/>
                <a:cs typeface="Canela Deck Regular"/>
                <a:sym typeface="Canela Deck Regular"/>
              </a:defRPr>
            </a:lvl5pPr>
          </a:lstStyle>
          <a:p>
            <a:pPr/>
            <a:r>
              <a:t>Subiecte agendă</a:t>
            </a:r>
          </a:p>
          <a:p>
            <a:pPr lvl="1"/>
            <a:r>
              <a:t/>
            </a:r>
          </a:p>
          <a:p>
            <a:pPr lvl="2"/>
            <a:r>
              <a:t/>
            </a:r>
          </a:p>
          <a:p>
            <a:pPr lvl="3"/>
            <a:r>
              <a:t/>
            </a:r>
          </a:p>
          <a:p>
            <a:pPr lvl="4"/>
            <a:r>
              <a:t/>
            </a:r>
          </a:p>
        </p:txBody>
      </p:sp>
      <p:sp>
        <p:nvSpPr>
          <p:cNvPr id="110" name="Subtitlu agendă"/>
          <p:cNvSpPr txBox="1"/>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agendă</a:t>
            </a:r>
          </a:p>
        </p:txBody>
      </p:sp>
      <p:sp>
        <p:nvSpPr>
          <p:cNvPr id="11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ție">
    <p:spTree>
      <p:nvGrpSpPr>
        <p:cNvPr id="1" name=""/>
        <p:cNvGrpSpPr/>
        <p:nvPr/>
      </p:nvGrpSpPr>
      <p:grpSpPr>
        <a:xfrm>
          <a:off x="0" y="0"/>
          <a:ext cx="0" cy="0"/>
          <a:chOff x="0" y="0"/>
          <a:chExt cx="0" cy="0"/>
        </a:xfrm>
      </p:grpSpPr>
      <p:sp>
        <p:nvSpPr>
          <p:cNvPr id="118" name="Nivel corp unu…"/>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pPr/>
            <a:r>
              <a:t>Declarație</a:t>
            </a:r>
          </a:p>
          <a:p>
            <a:pPr lvl="1"/>
            <a:r>
              <a:t/>
            </a:r>
          </a:p>
          <a:p>
            <a:pPr lvl="2"/>
            <a:r>
              <a:t/>
            </a:r>
          </a:p>
          <a:p>
            <a:pPr lvl="3"/>
            <a:r>
              <a:t/>
            </a:r>
          </a:p>
          <a:p>
            <a:pPr lvl="4"/>
            <a:r>
              <a:t/>
            </a:r>
          </a:p>
        </p:txBody>
      </p:sp>
      <p:sp>
        <p:nvSpPr>
          <p:cNvPr id="119"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aliu (mare)">
    <p:spTree>
      <p:nvGrpSpPr>
        <p:cNvPr id="1" name=""/>
        <p:cNvGrpSpPr/>
        <p:nvPr/>
      </p:nvGrpSpPr>
      <p:grpSpPr>
        <a:xfrm>
          <a:off x="0" y="0"/>
          <a:ext cx="0" cy="0"/>
          <a:chOff x="0" y="0"/>
          <a:chExt cx="0" cy="0"/>
        </a:xfrm>
      </p:grpSpPr>
      <p:sp>
        <p:nvSpPr>
          <p:cNvPr id="126" name="Informații factuale"/>
          <p:cNvSpPr txBox="1"/>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Informații factuale</a:t>
            </a:r>
          </a:p>
        </p:txBody>
      </p:sp>
      <p:sp>
        <p:nvSpPr>
          <p:cNvPr id="127" name="Nivel corp unu…"/>
          <p:cNvSpPr txBox="1"/>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pPr/>
            <a:r>
              <a:t>100%</a:t>
            </a:r>
          </a:p>
          <a:p>
            <a:pPr lvl="1"/>
            <a:r>
              <a:t/>
            </a:r>
          </a:p>
          <a:p>
            <a:pPr lvl="2"/>
            <a:r>
              <a:t/>
            </a:r>
          </a:p>
          <a:p>
            <a:pPr lvl="3"/>
            <a:r>
              <a:t/>
            </a:r>
          </a:p>
          <a:p>
            <a:pPr lvl="4"/>
            <a:r>
              <a:t/>
            </a:r>
          </a:p>
        </p:txBody>
      </p:sp>
      <p:sp>
        <p:nvSpPr>
          <p:cNvPr id="128"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
    <p:spTree>
      <p:nvGrpSpPr>
        <p:cNvPr id="1" name=""/>
        <p:cNvGrpSpPr/>
        <p:nvPr/>
      </p:nvGrpSpPr>
      <p:grpSpPr>
        <a:xfrm>
          <a:off x="0" y="0"/>
          <a:ext cx="0" cy="0"/>
          <a:chOff x="0" y="0"/>
          <a:chExt cx="0" cy="0"/>
        </a:xfrm>
      </p:grpSpPr>
      <p:sp>
        <p:nvSpPr>
          <p:cNvPr id="135" name="Atribuire"/>
          <p:cNvSpPr txBox="1"/>
          <p:nvPr>
            <p:ph type="body" sz="quarter" idx="21" hasCustomPrompt="1"/>
          </p:nvPr>
        </p:nvSpPr>
        <p:spPr>
          <a:xfrm>
            <a:off x="1219200" y="11100053"/>
            <a:ext cx="21945602" cy="832613"/>
          </a:xfrm>
          <a:prstGeom prst="rect">
            <a:avLst/>
          </a:prstGeom>
        </p:spPr>
        <p:txBody>
          <a:bodyPr anchor="ct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Atribuire</a:t>
            </a:r>
          </a:p>
        </p:txBody>
      </p:sp>
      <p:sp>
        <p:nvSpPr>
          <p:cNvPr id="136" name="Nivel corp unu…"/>
          <p:cNvSpPr txBox="1"/>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pPr/>
            <a:r>
              <a:t>“Citat important”</a:t>
            </a:r>
          </a:p>
          <a:p>
            <a:pPr lvl="1"/>
            <a:r>
              <a:t/>
            </a:r>
          </a:p>
          <a:p>
            <a:pPr lvl="2"/>
            <a:r>
              <a:t/>
            </a:r>
          </a:p>
          <a:p>
            <a:pPr lvl="3"/>
            <a:r>
              <a:t/>
            </a:r>
          </a:p>
          <a:p>
            <a:pPr lvl="4"/>
            <a:r>
              <a:t/>
            </a:r>
          </a:p>
        </p:txBody>
      </p:sp>
      <p:sp>
        <p:nvSpPr>
          <p:cNvPr id="13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 3 exemplare">
    <p:spTree>
      <p:nvGrpSpPr>
        <p:cNvPr id="1" name=""/>
        <p:cNvGrpSpPr/>
        <p:nvPr/>
      </p:nvGrpSpPr>
      <p:grpSpPr>
        <a:xfrm>
          <a:off x="0" y="0"/>
          <a:ext cx="0" cy="0"/>
          <a:chOff x="0" y="0"/>
          <a:chExt cx="0" cy="0"/>
        </a:xfrm>
      </p:grpSpPr>
      <p:sp>
        <p:nvSpPr>
          <p:cNvPr id="144" name="Mare pe fundalul cerului la apus 2"/>
          <p:cNvSpPr/>
          <p:nvPr>
            <p:ph type="pic" sz="quarter" idx="21"/>
          </p:nvPr>
        </p:nvSpPr>
        <p:spPr>
          <a:xfrm>
            <a:off x="15744825" y="5581752"/>
            <a:ext cx="7365408" cy="8280401"/>
          </a:xfrm>
          <a:prstGeom prst="rect">
            <a:avLst/>
          </a:prstGeom>
        </p:spPr>
        <p:txBody>
          <a:bodyPr lIns="91439" tIns="45719" rIns="91439" bIns="45719">
            <a:noAutofit/>
          </a:bodyPr>
          <a:lstStyle/>
          <a:p>
            <a:pPr/>
          </a:p>
        </p:txBody>
      </p:sp>
      <p:sp>
        <p:nvSpPr>
          <p:cNvPr id="145" name="Mare pe fundalul cerului la apus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Plajă și mare la apus"/>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p:spTree>
      <p:nvGrpSpPr>
        <p:cNvPr id="1" name=""/>
        <p:cNvGrpSpPr/>
        <p:nvPr/>
      </p:nvGrpSpPr>
      <p:grpSpPr>
        <a:xfrm>
          <a:off x="0" y="0"/>
          <a:ext cx="0" cy="0"/>
          <a:chOff x="0" y="0"/>
          <a:chExt cx="0" cy="0"/>
        </a:xfrm>
      </p:grpSpPr>
      <p:sp>
        <p:nvSpPr>
          <p:cNvPr id="154" name="plajă și mare la apus"/>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ără conținut">
    <p:spTree>
      <p:nvGrpSpPr>
        <p:cNvPr id="1" name=""/>
        <p:cNvGrpSpPr/>
        <p:nvPr/>
      </p:nvGrpSpPr>
      <p:grpSpPr>
        <a:xfrm>
          <a:off x="0" y="0"/>
          <a:ext cx="0" cy="0"/>
          <a:chOff x="0" y="0"/>
          <a:chExt cx="0" cy="0"/>
        </a:xfrm>
      </p:grpSpPr>
      <p:sp>
        <p:nvSpPr>
          <p:cNvPr id="16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u diapozitiv"/>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Titlu diapozitiv</a:t>
            </a:r>
          </a:p>
        </p:txBody>
      </p:sp>
      <p:sp>
        <p:nvSpPr>
          <p:cNvPr id="3" name="Nivel corp unu…"/>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 marcator diapozitiv</a:t>
            </a:r>
          </a:p>
          <a:p>
            <a:pPr lvl="1"/>
            <a:r>
              <a:t/>
            </a:r>
          </a:p>
          <a:p>
            <a:pPr lvl="2"/>
            <a:r>
              <a:t/>
            </a:r>
          </a:p>
          <a:p>
            <a:pPr lvl="3"/>
            <a:r>
              <a:t/>
            </a:r>
          </a:p>
          <a:p>
            <a:pPr lvl="4"/>
            <a:r>
              <a:t/>
            </a:r>
          </a:p>
        </p:txBody>
      </p:sp>
      <p:sp>
        <p:nvSpPr>
          <p:cNvPr id="4" name="Număr diapozitiv"/>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9pPr>
    </p:titleStyle>
    <p:bodyStyle>
      <a:lvl1pPr marL="5461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30.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 Id="rId3" Type="http://schemas.openxmlformats.org/officeDocument/2006/relationships/image" Target="../media/image47.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7.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4.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6.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7.png"/><Relationship Id="rId3" Type="http://schemas.openxmlformats.org/officeDocument/2006/relationships/image" Target="../media/image68.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7.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Efrem Dragoș-Sebastian-Mihal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Efrem Dragoș-Sebastian-Mihaly</a:t>
            </a:r>
          </a:p>
        </p:txBody>
      </p:sp>
      <p:sp>
        <p:nvSpPr>
          <p:cNvPr id="172" name="Bazele Inteligenței Artificiale"/>
          <p:cNvSpPr txBox="1"/>
          <p:nvPr>
            <p:ph type="ctrTitle"/>
          </p:nvPr>
        </p:nvSpPr>
        <p:spPr>
          <a:prstGeom prst="rect">
            <a:avLst/>
          </a:prstGeom>
        </p:spPr>
        <p:txBody>
          <a:bodyPr/>
          <a:lstStyle/>
          <a:p>
            <a:pPr/>
            <a:r>
              <a:t>Bazele Inteligenței Artificiale</a:t>
            </a:r>
          </a:p>
        </p:txBody>
      </p:sp>
      <p:sp>
        <p:nvSpPr>
          <p:cNvPr id="173" name="Lab 2. Modele liniare"/>
          <p:cNvSpPr txBox="1"/>
          <p:nvPr>
            <p:ph type="subTitle" sz="quarter" idx="1"/>
          </p:nvPr>
        </p:nvSpPr>
        <p:spPr>
          <a:prstGeom prst="rect">
            <a:avLst/>
          </a:prstGeom>
        </p:spPr>
        <p:txBody>
          <a:bodyPr/>
          <a:lstStyle/>
          <a:p>
            <a:pPr/>
            <a:r>
              <a:t>Lab 2. Modele liniare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Tipuri de modele în ML"/>
          <p:cNvSpPr txBox="1"/>
          <p:nvPr>
            <p:ph type="title"/>
          </p:nvPr>
        </p:nvSpPr>
        <p:spPr>
          <a:prstGeom prst="rect">
            <a:avLst/>
          </a:prstGeom>
        </p:spPr>
        <p:txBody>
          <a:bodyPr/>
          <a:lstStyle/>
          <a:p>
            <a:pPr/>
            <a:r>
              <a:t>Tipuri de modele în ML</a:t>
            </a:r>
          </a:p>
        </p:txBody>
      </p:sp>
      <p:sp>
        <p:nvSpPr>
          <p:cNvPr id="176" name="În general, sunt două tipuri mari și late:"/>
          <p:cNvSpPr txBox="1"/>
          <p:nvPr>
            <p:ph type="body" idx="1"/>
          </p:nvPr>
        </p:nvSpPr>
        <p:spPr>
          <a:xfrm>
            <a:off x="1687402" y="4009348"/>
            <a:ext cx="21948578" cy="8483601"/>
          </a:xfrm>
          <a:prstGeom prst="rect">
            <a:avLst/>
          </a:prstGeom>
        </p:spPr>
        <p:txBody>
          <a:bodyPr/>
          <a:lstStyle/>
          <a:p>
            <a:pPr/>
            <a:r>
              <a:t>În general, sunt două tipuri mari și late:</a:t>
            </a:r>
          </a:p>
        </p:txBody>
      </p:sp>
      <p:sp>
        <p:nvSpPr>
          <p:cNvPr id="177" name="Supervizate"/>
          <p:cNvSpPr txBox="1"/>
          <p:nvPr/>
        </p:nvSpPr>
        <p:spPr>
          <a:xfrm>
            <a:off x="1706623" y="5854700"/>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Supervizate</a:t>
            </a:r>
          </a:p>
        </p:txBody>
      </p:sp>
      <p:sp>
        <p:nvSpPr>
          <p:cNvPr id="178" name="Nesupervizate"/>
          <p:cNvSpPr txBox="1"/>
          <p:nvPr/>
        </p:nvSpPr>
        <p:spPr>
          <a:xfrm>
            <a:off x="14456370" y="5854700"/>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Nesupervizate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76"/>
                                        </p:tgtEl>
                                        <p:attrNameLst>
                                          <p:attrName>style.visibility</p:attrName>
                                        </p:attrNameLst>
                                      </p:cBhvr>
                                      <p:to>
                                        <p:strVal val="visible"/>
                                      </p:to>
                                    </p:set>
                                    <p:anim calcmode="lin" valueType="num">
                                      <p:cBhvr>
                                        <p:cTn id="7" dur="1000" fill="hold"/>
                                        <p:tgtEl>
                                          <p:spTgt spid="176"/>
                                        </p:tgtEl>
                                        <p:attrNameLst>
                                          <p:attrName>ppt_x</p:attrName>
                                        </p:attrNameLst>
                                      </p:cBhvr>
                                      <p:tavLst>
                                        <p:tav tm="0">
                                          <p:val>
                                            <p:strVal val="0-#ppt_w/2"/>
                                          </p:val>
                                        </p:tav>
                                        <p:tav tm="100000">
                                          <p:val>
                                            <p:strVal val="#ppt_x"/>
                                          </p:val>
                                        </p:tav>
                                      </p:tavLst>
                                    </p:anim>
                                    <p:anim calcmode="lin" valueType="num">
                                      <p:cBhvr>
                                        <p:cTn id="8" dur="1000" fill="hold"/>
                                        <p:tgtEl>
                                          <p:spTgt spid="17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lt" backwards="0">
                                    <p:tmAbs val="0"/>
                                  </p:iterate>
                                  <p:childTnLst>
                                    <p:set>
                                      <p:cBhvr>
                                        <p:cTn id="12" fill="hold"/>
                                        <p:tgtEl>
                                          <p:spTgt spid="177"/>
                                        </p:tgtEl>
                                        <p:attrNameLst>
                                          <p:attrName>style.visibility</p:attrName>
                                        </p:attrNameLst>
                                      </p:cBhvr>
                                      <p:to>
                                        <p:strVal val="visible"/>
                                      </p:to>
                                    </p:set>
                                    <p:anim calcmode="lin" valueType="num">
                                      <p:cBhvr>
                                        <p:cTn id="13" dur="1000" fill="hold"/>
                                        <p:tgtEl>
                                          <p:spTgt spid="177"/>
                                        </p:tgtEl>
                                        <p:attrNameLst>
                                          <p:attrName>ppt_x</p:attrName>
                                        </p:attrNameLst>
                                      </p:cBhvr>
                                      <p:tavLst>
                                        <p:tav tm="0">
                                          <p:val>
                                            <p:strVal val="0-#ppt_w/2"/>
                                          </p:val>
                                        </p:tav>
                                        <p:tav tm="100000">
                                          <p:val>
                                            <p:strVal val="#ppt_x"/>
                                          </p:val>
                                        </p:tav>
                                      </p:tavLst>
                                    </p:anim>
                                    <p:anim calcmode="lin" valueType="num">
                                      <p:cBhvr>
                                        <p:cTn id="14" dur="1000" fill="hold"/>
                                        <p:tgtEl>
                                          <p:spTgt spid="1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lt" backwards="0">
                                    <p:tmAbs val="0"/>
                                  </p:iterate>
                                  <p:childTnLst>
                                    <p:set>
                                      <p:cBhvr>
                                        <p:cTn id="18" fill="hold"/>
                                        <p:tgtEl>
                                          <p:spTgt spid="178"/>
                                        </p:tgtEl>
                                        <p:attrNameLst>
                                          <p:attrName>style.visibility</p:attrName>
                                        </p:attrNameLst>
                                      </p:cBhvr>
                                      <p:to>
                                        <p:strVal val="visible"/>
                                      </p:to>
                                    </p:set>
                                    <p:anim calcmode="lin" valueType="num">
                                      <p:cBhvr>
                                        <p:cTn id="19" dur="1250" fill="hold"/>
                                        <p:tgtEl>
                                          <p:spTgt spid="178"/>
                                        </p:tgtEl>
                                        <p:attrNameLst>
                                          <p:attrName>ppt_x</p:attrName>
                                        </p:attrNameLst>
                                      </p:cBhvr>
                                      <p:tavLst>
                                        <p:tav tm="0">
                                          <p:val>
                                            <p:strVal val="0-#ppt_w/2"/>
                                          </p:val>
                                        </p:tav>
                                        <p:tav tm="100000">
                                          <p:val>
                                            <p:strVal val="#ppt_x"/>
                                          </p:val>
                                        </p:tav>
                                      </p:tavLst>
                                    </p:anim>
                                    <p:anim calcmode="lin" valueType="num">
                                      <p:cBhvr>
                                        <p:cTn id="20" dur="1250" fill="hold"/>
                                        <p:tgtEl>
                                          <p:spTgt spid="1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6" grpId="1"/>
      <p:bldP build="whole" bldLvl="1" animBg="1" rev="0" advAuto="0" spid="178" grpId="3"/>
      <p:bldP build="whole" bldLvl="1" animBg="1" rev="0" advAuto="0" spid="177" grpId="2"/>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Învață din date care au deja etichete (adică știm răspunsul corect pentru fiecare element utilizat pentru a antrena modelul)"/>
          <p:cNvSpPr txBox="1"/>
          <p:nvPr>
            <p:ph type="body" idx="1"/>
          </p:nvPr>
        </p:nvSpPr>
        <p:spPr>
          <a:prstGeom prst="rect">
            <a:avLst/>
          </a:prstGeom>
        </p:spPr>
        <p:txBody>
          <a:bodyPr/>
          <a:lstStyle/>
          <a:p>
            <a:pPr/>
            <a:r>
              <a:t>Învață din date care au deja etichete (adică știm răspunsul corect pentru fiecare element utilizat pentru a antrena modelul)</a:t>
            </a:r>
          </a:p>
        </p:txBody>
      </p:sp>
      <p:sp>
        <p:nvSpPr>
          <p:cNvPr id="181" name="Supervizate"/>
          <p:cNvSpPr txBox="1"/>
          <p:nvPr/>
        </p:nvSpPr>
        <p:spPr>
          <a:xfrm>
            <a:off x="8012789" y="630325"/>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Supervizate</a:t>
            </a:r>
          </a:p>
        </p:txBody>
      </p:sp>
      <p:pic>
        <p:nvPicPr>
          <p:cNvPr id="182" name="film lipit.png" descr="film lipit.png"/>
          <p:cNvPicPr>
            <a:picLocks noChangeAspect="1"/>
          </p:cNvPicPr>
          <p:nvPr/>
        </p:nvPicPr>
        <p:blipFill>
          <a:blip r:embed="rId2">
            <a:extLst/>
          </a:blip>
          <a:stretch>
            <a:fillRect/>
          </a:stretch>
        </p:blipFill>
        <p:spPr>
          <a:xfrm>
            <a:off x="4359253" y="5866548"/>
            <a:ext cx="5428369" cy="5414798"/>
          </a:xfrm>
          <a:prstGeom prst="rect">
            <a:avLst/>
          </a:prstGeom>
          <a:ln w="12700">
            <a:miter lim="400000"/>
          </a:ln>
        </p:spPr>
      </p:pic>
      <p:pic>
        <p:nvPicPr>
          <p:cNvPr id="183" name="film lipit.png" descr="film lipit.png"/>
          <p:cNvPicPr>
            <a:picLocks noChangeAspect="1"/>
          </p:cNvPicPr>
          <p:nvPr/>
        </p:nvPicPr>
        <p:blipFill>
          <a:blip r:embed="rId3">
            <a:extLst/>
          </a:blip>
          <a:stretch>
            <a:fillRect/>
          </a:stretch>
        </p:blipFill>
        <p:spPr>
          <a:xfrm>
            <a:off x="10061190" y="5909154"/>
            <a:ext cx="7482854" cy="5329585"/>
          </a:xfrm>
          <a:prstGeom prst="rect">
            <a:avLst/>
          </a:prstGeom>
          <a:ln w="12700">
            <a:miter lim="400000"/>
          </a:ln>
        </p:spPr>
      </p:pic>
      <p:pic>
        <p:nvPicPr>
          <p:cNvPr id="184" name="film lipit.png" descr="film lipit.png"/>
          <p:cNvPicPr>
            <a:picLocks noChangeAspect="1"/>
          </p:cNvPicPr>
          <p:nvPr/>
        </p:nvPicPr>
        <p:blipFill>
          <a:blip r:embed="rId4">
            <a:extLst/>
          </a:blip>
          <a:stretch>
            <a:fillRect/>
          </a:stretch>
        </p:blipFill>
        <p:spPr>
          <a:xfrm>
            <a:off x="364565" y="9331183"/>
            <a:ext cx="3951032" cy="3707501"/>
          </a:xfrm>
          <a:prstGeom prst="rect">
            <a:avLst/>
          </a:prstGeom>
          <a:ln w="12700">
            <a:miter lim="400000"/>
          </a:ln>
        </p:spPr>
      </p:pic>
      <p:sp>
        <p:nvSpPr>
          <p:cNvPr id="185" name="(Modelul vostru super fain)"/>
          <p:cNvSpPr txBox="1"/>
          <p:nvPr/>
        </p:nvSpPr>
        <p:spPr>
          <a:xfrm>
            <a:off x="339471" y="12890718"/>
            <a:ext cx="8039652" cy="7071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(Modelul vostru super fain)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80"/>
                                        </p:tgtEl>
                                        <p:attrNameLst>
                                          <p:attrName>style.visibility</p:attrName>
                                        </p:attrNameLst>
                                      </p:cBhvr>
                                      <p:to>
                                        <p:strVal val="visible"/>
                                      </p:to>
                                    </p:set>
                                    <p:anim calcmode="lin" valueType="num">
                                      <p:cBhvr>
                                        <p:cTn id="7" dur="1000" fill="hold"/>
                                        <p:tgtEl>
                                          <p:spTgt spid="180"/>
                                        </p:tgtEl>
                                        <p:attrNameLst>
                                          <p:attrName>ppt_x</p:attrName>
                                        </p:attrNameLst>
                                      </p:cBhvr>
                                      <p:tavLst>
                                        <p:tav tm="0">
                                          <p:val>
                                            <p:strVal val="0-#ppt_w/2"/>
                                          </p:val>
                                        </p:tav>
                                        <p:tav tm="100000">
                                          <p:val>
                                            <p:strVal val="#ppt_x"/>
                                          </p:val>
                                        </p:tav>
                                      </p:tavLst>
                                    </p:anim>
                                    <p:anim calcmode="lin" valueType="num">
                                      <p:cBhvr>
                                        <p:cTn id="8" dur="1000" fill="hold"/>
                                        <p:tgtEl>
                                          <p:spTgt spid="1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32" presetID="4" grpId="2" fill="hold">
                                  <p:stCondLst>
                                    <p:cond delay="0"/>
                                  </p:stCondLst>
                                  <p:iterate type="el" backwards="0">
                                    <p:tmAbs val="0"/>
                                  </p:iterate>
                                  <p:childTnLst>
                                    <p:set>
                                      <p:cBhvr>
                                        <p:cTn id="12" fill="hold"/>
                                        <p:tgtEl>
                                          <p:spTgt spid="182"/>
                                        </p:tgtEl>
                                        <p:attrNameLst>
                                          <p:attrName>style.visibility</p:attrName>
                                        </p:attrNameLst>
                                      </p:cBhvr>
                                      <p:to>
                                        <p:strVal val="visible"/>
                                      </p:to>
                                    </p:set>
                                    <p:animEffect filter="box(out)" transition="in">
                                      <p:cBhvr>
                                        <p:cTn id="13" dur="1000"/>
                                        <p:tgtEl>
                                          <p:spTgt spid="182"/>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32" presetID="4" grpId="3" fill="hold">
                                  <p:stCondLst>
                                    <p:cond delay="0"/>
                                  </p:stCondLst>
                                  <p:iterate type="el" backwards="0">
                                    <p:tmAbs val="0"/>
                                  </p:iterate>
                                  <p:childTnLst>
                                    <p:set>
                                      <p:cBhvr>
                                        <p:cTn id="17" fill="hold"/>
                                        <p:tgtEl>
                                          <p:spTgt spid="183"/>
                                        </p:tgtEl>
                                        <p:attrNameLst>
                                          <p:attrName>style.visibility</p:attrName>
                                        </p:attrNameLst>
                                      </p:cBhvr>
                                      <p:to>
                                        <p:strVal val="visible"/>
                                      </p:to>
                                    </p:set>
                                    <p:animEffect filter="box(out)" transition="in">
                                      <p:cBhvr>
                                        <p:cTn id="18" dur="1000"/>
                                        <p:tgtEl>
                                          <p:spTgt spid="183"/>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ID="10" grpId="4" fill="hold">
                                  <p:stCondLst>
                                    <p:cond delay="0"/>
                                  </p:stCondLst>
                                  <p:iterate type="el" backwards="0">
                                    <p:tmAbs val="0"/>
                                  </p:iterate>
                                  <p:childTnLst>
                                    <p:set>
                                      <p:cBhvr>
                                        <p:cTn id="22" fill="hold"/>
                                        <p:tgtEl>
                                          <p:spTgt spid="184"/>
                                        </p:tgtEl>
                                        <p:attrNameLst>
                                          <p:attrName>style.visibility</p:attrName>
                                        </p:attrNameLst>
                                      </p:cBhvr>
                                      <p:to>
                                        <p:strVal val="visible"/>
                                      </p:to>
                                    </p:set>
                                    <p:animEffect filter="fade" transition="in">
                                      <p:cBhvr>
                                        <p:cTn id="23" dur="4000"/>
                                        <p:tgtEl>
                                          <p:spTgt spid="184"/>
                                        </p:tgtEl>
                                      </p:cBhvr>
                                    </p:animEffec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32" presetID="23" grpId="5" fill="hold">
                                  <p:stCondLst>
                                    <p:cond delay="0"/>
                                  </p:stCondLst>
                                  <p:iterate type="el" backwards="0">
                                    <p:tmAbs val="0"/>
                                  </p:iterate>
                                  <p:childTnLst>
                                    <p:set>
                                      <p:cBhvr>
                                        <p:cTn id="27" fill="hold"/>
                                        <p:tgtEl>
                                          <p:spTgt spid="185"/>
                                        </p:tgtEl>
                                        <p:attrNameLst>
                                          <p:attrName>style.visibility</p:attrName>
                                        </p:attrNameLst>
                                      </p:cBhvr>
                                      <p:to>
                                        <p:strVal val="visible"/>
                                      </p:to>
                                    </p:set>
                                    <p:anim calcmode="lin" valueType="num">
                                      <p:cBhvr>
                                        <p:cTn id="28" dur="1000" fill="hold"/>
                                        <p:tgtEl>
                                          <p:spTgt spid="185"/>
                                        </p:tgtEl>
                                        <p:attrNameLst>
                                          <p:attrName>ppt_w</p:attrName>
                                        </p:attrNameLst>
                                      </p:cBhvr>
                                      <p:tavLst>
                                        <p:tav tm="0">
                                          <p:val>
                                            <p:strVal val="4*#ppt_w"/>
                                          </p:val>
                                        </p:tav>
                                        <p:tav tm="100000">
                                          <p:val>
                                            <p:strVal val="#ppt_w"/>
                                          </p:val>
                                        </p:tav>
                                      </p:tavLst>
                                    </p:anim>
                                    <p:anim calcmode="lin" valueType="num">
                                      <p:cBhvr>
                                        <p:cTn id="29" dur="1000" fill="hold"/>
                                        <p:tgtEl>
                                          <p:spTgt spid="18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3" grpId="3"/>
      <p:bldP build="whole" bldLvl="1" animBg="1" rev="0" advAuto="0" spid="184" grpId="4"/>
      <p:bldP build="whole" bldLvl="1" animBg="1" rev="0" advAuto="0" spid="182" grpId="2"/>
      <p:bldP build="whole" bldLvl="1" animBg="1" rev="0" advAuto="0" spid="185" grpId="5"/>
      <p:bldP build="whole" bldLvl="1" animBg="1" rev="0" advAuto="0" spid="180"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upervizate"/>
          <p:cNvSpPr txBox="1"/>
          <p:nvPr/>
        </p:nvSpPr>
        <p:spPr>
          <a:xfrm>
            <a:off x="8012789" y="630325"/>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Supervizate</a:t>
            </a:r>
          </a:p>
        </p:txBody>
      </p:sp>
      <p:pic>
        <p:nvPicPr>
          <p:cNvPr id="188" name="film lipit.png" descr="film lipit.png"/>
          <p:cNvPicPr>
            <a:picLocks noChangeAspect="1"/>
          </p:cNvPicPr>
          <p:nvPr/>
        </p:nvPicPr>
        <p:blipFill>
          <a:blip r:embed="rId2">
            <a:extLst/>
          </a:blip>
          <a:stretch>
            <a:fillRect/>
          </a:stretch>
        </p:blipFill>
        <p:spPr>
          <a:xfrm>
            <a:off x="364565" y="9331183"/>
            <a:ext cx="3951032" cy="3707501"/>
          </a:xfrm>
          <a:prstGeom prst="rect">
            <a:avLst/>
          </a:prstGeom>
          <a:ln w="12700">
            <a:miter lim="400000"/>
          </a:ln>
        </p:spPr>
      </p:pic>
      <p:sp>
        <p:nvSpPr>
          <p:cNvPr id="189" name="(Modelul vostru super fain)"/>
          <p:cNvSpPr txBox="1"/>
          <p:nvPr/>
        </p:nvSpPr>
        <p:spPr>
          <a:xfrm>
            <a:off x="339471" y="12890718"/>
            <a:ext cx="8039652" cy="7071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(Modelul vostru super fain)</a:t>
            </a:r>
          </a:p>
        </p:txBody>
      </p:sp>
      <p:sp>
        <p:nvSpPr>
          <p:cNvPr id="190" name="Pentru a antrena modele de ML, avem nevoie de caracteristici / atribute / features.…"/>
          <p:cNvSpPr txBox="1"/>
          <p:nvPr>
            <p:ph type="body" idx="1"/>
          </p:nvPr>
        </p:nvSpPr>
        <p:spPr>
          <a:prstGeom prst="rect">
            <a:avLst/>
          </a:prstGeom>
        </p:spPr>
        <p:txBody>
          <a:bodyPr/>
          <a:lstStyle/>
          <a:p>
            <a:pPr/>
            <a:r>
              <a:t>Pentru a antrena modele de ML, avem nevoie de caracteristici / atribute / features.</a:t>
            </a:r>
          </a:p>
          <a:p>
            <a:pPr/>
            <a:r>
              <a:t>Exemplu: </a:t>
            </a:r>
          </a:p>
          <a:p>
            <a:pPr lvl="1"/>
            <a:r>
              <a:t>Dacă încercăm să prezicem prețul unui apartament, caracteristicile ar putea fi:</a:t>
            </a:r>
          </a:p>
        </p:txBody>
      </p:sp>
      <p:pic>
        <p:nvPicPr>
          <p:cNvPr id="191" name="Oval Oval" descr="Oval Oval"/>
          <p:cNvPicPr>
            <a:picLocks noChangeAspect="0"/>
          </p:cNvPicPr>
          <p:nvPr/>
        </p:nvPicPr>
        <p:blipFill>
          <a:blip r:embed="rId3">
            <a:alphaModFix amt="70364"/>
            <a:extLst/>
          </a:blip>
          <a:stretch>
            <a:fillRect/>
          </a:stretch>
        </p:blipFill>
        <p:spPr>
          <a:xfrm>
            <a:off x="13934826" y="3244586"/>
            <a:ext cx="8961226" cy="2440259"/>
          </a:xfrm>
          <a:prstGeom prst="rect">
            <a:avLst/>
          </a:prstGeom>
        </p:spPr>
      </p:pic>
      <p:pic>
        <p:nvPicPr>
          <p:cNvPr id="193" name="film lipit.png" descr="film lipit.png"/>
          <p:cNvPicPr>
            <a:picLocks noChangeAspect="1"/>
          </p:cNvPicPr>
          <p:nvPr/>
        </p:nvPicPr>
        <p:blipFill>
          <a:blip r:embed="rId4">
            <a:extLst/>
          </a:blip>
          <a:stretch>
            <a:fillRect/>
          </a:stretch>
        </p:blipFill>
        <p:spPr>
          <a:xfrm>
            <a:off x="14635725" y="7177856"/>
            <a:ext cx="7559428" cy="5078991"/>
          </a:xfrm>
          <a:prstGeom prst="rect">
            <a:avLst/>
          </a:prstGeom>
          <a:ln w="12700">
            <a:miter lim="400000"/>
          </a:ln>
        </p:spPr>
      </p:pic>
      <p:pic>
        <p:nvPicPr>
          <p:cNvPr id="194" name="Oval Oval" descr="Oval Oval"/>
          <p:cNvPicPr>
            <a:picLocks noChangeAspect="0"/>
          </p:cNvPicPr>
          <p:nvPr/>
        </p:nvPicPr>
        <p:blipFill>
          <a:blip r:embed="rId5">
            <a:alphaModFix amt="74006"/>
            <a:extLst/>
          </a:blip>
          <a:stretch>
            <a:fillRect/>
          </a:stretch>
        </p:blipFill>
        <p:spPr>
          <a:xfrm>
            <a:off x="3827674" y="6734043"/>
            <a:ext cx="8460023" cy="4616539"/>
          </a:xfrm>
          <a:prstGeom prst="rect">
            <a:avLst/>
          </a:prstGeom>
        </p:spPr>
      </p:pic>
      <p:sp>
        <p:nvSpPr>
          <p:cNvPr id="196" name="Suprafața în metrii pătrați"/>
          <p:cNvSpPr txBox="1"/>
          <p:nvPr/>
        </p:nvSpPr>
        <p:spPr>
          <a:xfrm>
            <a:off x="4713673" y="7458396"/>
            <a:ext cx="66880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Suprafața în metrii pătrați</a:t>
            </a:r>
          </a:p>
        </p:txBody>
      </p:sp>
      <p:sp>
        <p:nvSpPr>
          <p:cNvPr id="197" name="Numărul de camere"/>
          <p:cNvSpPr txBox="1"/>
          <p:nvPr/>
        </p:nvSpPr>
        <p:spPr>
          <a:xfrm>
            <a:off x="5339876" y="8338617"/>
            <a:ext cx="50412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Numărul de camere</a:t>
            </a:r>
          </a:p>
        </p:txBody>
      </p:sp>
      <p:sp>
        <p:nvSpPr>
          <p:cNvPr id="198" name="Vârsta clădirii"/>
          <p:cNvSpPr txBox="1"/>
          <p:nvPr/>
        </p:nvSpPr>
        <p:spPr>
          <a:xfrm>
            <a:off x="5868781" y="9250245"/>
            <a:ext cx="3599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Vârsta clădirii</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90"/>
                                        </p:tgtEl>
                                        <p:attrNameLst>
                                          <p:attrName>style.visibility</p:attrName>
                                        </p:attrNameLst>
                                      </p:cBhvr>
                                      <p:to>
                                        <p:strVal val="visible"/>
                                      </p:to>
                                    </p:set>
                                    <p:anim calcmode="lin" valueType="num">
                                      <p:cBhvr>
                                        <p:cTn id="7" dur="1000" fill="hold"/>
                                        <p:tgtEl>
                                          <p:spTgt spid="190"/>
                                        </p:tgtEl>
                                        <p:attrNameLst>
                                          <p:attrName>ppt_x</p:attrName>
                                        </p:attrNameLst>
                                      </p:cBhvr>
                                      <p:tavLst>
                                        <p:tav tm="0">
                                          <p:val>
                                            <p:strVal val="0-#ppt_w/2"/>
                                          </p:val>
                                        </p:tav>
                                        <p:tav tm="100000">
                                          <p:val>
                                            <p:strVal val="#ppt_x"/>
                                          </p:val>
                                        </p:tav>
                                      </p:tavLst>
                                    </p:anim>
                                    <p:anim calcmode="lin" valueType="num">
                                      <p:cBhvr>
                                        <p:cTn id="8" dur="1000" fill="hold"/>
                                        <p:tgtEl>
                                          <p:spTgt spid="19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193"/>
                                        </p:tgtEl>
                                        <p:attrNameLst>
                                          <p:attrName>style.visibility</p:attrName>
                                        </p:attrNameLst>
                                      </p:cBhvr>
                                      <p:to>
                                        <p:strVal val="visible"/>
                                      </p:to>
                                    </p:set>
                                    <p:animEffect filter="dissolve" transition="in">
                                      <p:cBhvr>
                                        <p:cTn id="12" dur="500"/>
                                        <p:tgtEl>
                                          <p:spTgt spid="193"/>
                                        </p:tgtEl>
                                      </p:cBhvr>
                                    </p:animEffect>
                                  </p:childTnLst>
                                </p:cTn>
                              </p:par>
                            </p:childTnLst>
                          </p:cTn>
                        </p:par>
                        <p:par>
                          <p:cTn id="13" fill="hold">
                            <p:stCondLst>
                              <p:cond delay="1500"/>
                            </p:stCondLst>
                            <p:childTnLst>
                              <p:par>
                                <p:cTn id="14" presetClass="entr" nodeType="afterEffect" presetID="9" grpId="3" fill="hold">
                                  <p:stCondLst>
                                    <p:cond delay="0"/>
                                  </p:stCondLst>
                                  <p:iterate type="el" backwards="0">
                                    <p:tmAbs val="0"/>
                                  </p:iterate>
                                  <p:childTnLst>
                                    <p:set>
                                      <p:cBhvr>
                                        <p:cTn id="15" fill="hold"/>
                                        <p:tgtEl>
                                          <p:spTgt spid="191"/>
                                        </p:tgtEl>
                                        <p:attrNameLst>
                                          <p:attrName>style.visibility</p:attrName>
                                        </p:attrNameLst>
                                      </p:cBhvr>
                                      <p:to>
                                        <p:strVal val="visible"/>
                                      </p:to>
                                    </p:set>
                                    <p:animEffect filter="dissolve" transition="in">
                                      <p:cBhvr>
                                        <p:cTn id="16" dur="2000"/>
                                        <p:tgtEl>
                                          <p:spTgt spid="19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196"/>
                                        </p:tgtEl>
                                        <p:attrNameLst>
                                          <p:attrName>style.visibility</p:attrName>
                                        </p:attrNameLst>
                                      </p:cBhvr>
                                      <p:to>
                                        <p:strVal val="visible"/>
                                      </p:to>
                                    </p:set>
                                    <p:anim calcmode="lin" valueType="num">
                                      <p:cBhvr>
                                        <p:cTn id="21" dur="4000" fill="hold"/>
                                        <p:tgtEl>
                                          <p:spTgt spid="196"/>
                                        </p:tgtEl>
                                        <p:attrNameLst>
                                          <p:attrName>ppt_x</p:attrName>
                                        </p:attrNameLst>
                                      </p:cBhvr>
                                      <p:tavLst>
                                        <p:tav tm="0">
                                          <p:val>
                                            <p:strVal val="0-#ppt_w/2"/>
                                          </p:val>
                                        </p:tav>
                                        <p:tav tm="100000">
                                          <p:val>
                                            <p:strVal val="#ppt_x"/>
                                          </p:val>
                                        </p:tav>
                                      </p:tavLst>
                                    </p:anim>
                                    <p:anim calcmode="lin" valueType="num">
                                      <p:cBhvr>
                                        <p:cTn id="22" dur="4000" fill="hold"/>
                                        <p:tgtEl>
                                          <p:spTgt spid="196"/>
                                        </p:tgtEl>
                                        <p:attrNameLst>
                                          <p:attrName>ppt_y</p:attrName>
                                        </p:attrNameLst>
                                      </p:cBhvr>
                                      <p:tavLst>
                                        <p:tav tm="0">
                                          <p:val>
                                            <p:strVal val="#ppt_y"/>
                                          </p:val>
                                        </p:tav>
                                        <p:tav tm="100000">
                                          <p:val>
                                            <p:strVal val="#ppt_y"/>
                                          </p:val>
                                        </p:tav>
                                      </p:tavLst>
                                    </p:anim>
                                  </p:childTnLst>
                                </p:cTn>
                              </p:par>
                            </p:childTnLst>
                          </p:cTn>
                        </p:par>
                        <p:par>
                          <p:cTn id="23" fill="hold">
                            <p:stCondLst>
                              <p:cond delay="4000"/>
                            </p:stCondLst>
                            <p:childTnLst>
                              <p:par>
                                <p:cTn id="24" presetClass="entr" nodeType="afterEffect" presetSubtype="8" presetID="2" grpId="5" fill="hold">
                                  <p:stCondLst>
                                    <p:cond delay="0"/>
                                  </p:stCondLst>
                                  <p:iterate type="el" backwards="0">
                                    <p:tmAbs val="0"/>
                                  </p:iterate>
                                  <p:childTnLst>
                                    <p:set>
                                      <p:cBhvr>
                                        <p:cTn id="25" fill="hold"/>
                                        <p:tgtEl>
                                          <p:spTgt spid="197"/>
                                        </p:tgtEl>
                                        <p:attrNameLst>
                                          <p:attrName>style.visibility</p:attrName>
                                        </p:attrNameLst>
                                      </p:cBhvr>
                                      <p:to>
                                        <p:strVal val="visible"/>
                                      </p:to>
                                    </p:set>
                                    <p:anim calcmode="lin" valueType="num">
                                      <p:cBhvr>
                                        <p:cTn id="26" dur="4000" fill="hold"/>
                                        <p:tgtEl>
                                          <p:spTgt spid="197"/>
                                        </p:tgtEl>
                                        <p:attrNameLst>
                                          <p:attrName>ppt_x</p:attrName>
                                        </p:attrNameLst>
                                      </p:cBhvr>
                                      <p:tavLst>
                                        <p:tav tm="0">
                                          <p:val>
                                            <p:strVal val="0-#ppt_w/2"/>
                                          </p:val>
                                        </p:tav>
                                        <p:tav tm="100000">
                                          <p:val>
                                            <p:strVal val="#ppt_x"/>
                                          </p:val>
                                        </p:tav>
                                      </p:tavLst>
                                    </p:anim>
                                    <p:anim calcmode="lin" valueType="num">
                                      <p:cBhvr>
                                        <p:cTn id="27" dur="4000" fill="hold"/>
                                        <p:tgtEl>
                                          <p:spTgt spid="197"/>
                                        </p:tgtEl>
                                        <p:attrNameLst>
                                          <p:attrName>ppt_y</p:attrName>
                                        </p:attrNameLst>
                                      </p:cBhvr>
                                      <p:tavLst>
                                        <p:tav tm="0">
                                          <p:val>
                                            <p:strVal val="#ppt_y"/>
                                          </p:val>
                                        </p:tav>
                                        <p:tav tm="100000">
                                          <p:val>
                                            <p:strVal val="#ppt_y"/>
                                          </p:val>
                                        </p:tav>
                                      </p:tavLst>
                                    </p:anim>
                                  </p:childTnLst>
                                </p:cTn>
                              </p:par>
                            </p:childTnLst>
                          </p:cTn>
                        </p:par>
                        <p:par>
                          <p:cTn id="28" fill="hold">
                            <p:stCondLst>
                              <p:cond delay="8000"/>
                            </p:stCondLst>
                            <p:childTnLst>
                              <p:par>
                                <p:cTn id="29" presetClass="entr" nodeType="afterEffect" presetSubtype="8" presetID="2" grpId="6" fill="hold">
                                  <p:stCondLst>
                                    <p:cond delay="0"/>
                                  </p:stCondLst>
                                  <p:iterate type="el" backwards="0">
                                    <p:tmAbs val="0"/>
                                  </p:iterate>
                                  <p:childTnLst>
                                    <p:set>
                                      <p:cBhvr>
                                        <p:cTn id="30" fill="hold"/>
                                        <p:tgtEl>
                                          <p:spTgt spid="198"/>
                                        </p:tgtEl>
                                        <p:attrNameLst>
                                          <p:attrName>style.visibility</p:attrName>
                                        </p:attrNameLst>
                                      </p:cBhvr>
                                      <p:to>
                                        <p:strVal val="visible"/>
                                      </p:to>
                                    </p:set>
                                    <p:anim calcmode="lin" valueType="num">
                                      <p:cBhvr>
                                        <p:cTn id="31" dur="1000" fill="hold"/>
                                        <p:tgtEl>
                                          <p:spTgt spid="198"/>
                                        </p:tgtEl>
                                        <p:attrNameLst>
                                          <p:attrName>ppt_x</p:attrName>
                                        </p:attrNameLst>
                                      </p:cBhvr>
                                      <p:tavLst>
                                        <p:tav tm="0">
                                          <p:val>
                                            <p:strVal val="0-#ppt_w/2"/>
                                          </p:val>
                                        </p:tav>
                                        <p:tav tm="100000">
                                          <p:val>
                                            <p:strVal val="#ppt_x"/>
                                          </p:val>
                                        </p:tav>
                                      </p:tavLst>
                                    </p:anim>
                                    <p:anim calcmode="lin" valueType="num">
                                      <p:cBhvr>
                                        <p:cTn id="32" dur="1000" fill="hold"/>
                                        <p:tgtEl>
                                          <p:spTgt spid="19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ID="9" grpId="7" fill="hold">
                                  <p:stCondLst>
                                    <p:cond delay="0"/>
                                  </p:stCondLst>
                                  <p:iterate type="el" backwards="0">
                                    <p:tmAbs val="0"/>
                                  </p:iterate>
                                  <p:childTnLst>
                                    <p:set>
                                      <p:cBhvr>
                                        <p:cTn id="36" fill="hold"/>
                                        <p:tgtEl>
                                          <p:spTgt spid="194"/>
                                        </p:tgtEl>
                                        <p:attrNameLst>
                                          <p:attrName>style.visibility</p:attrName>
                                        </p:attrNameLst>
                                      </p:cBhvr>
                                      <p:to>
                                        <p:strVal val="visible"/>
                                      </p:to>
                                    </p:set>
                                    <p:animEffect filter="dissolve" transition="in">
                                      <p:cBhvr>
                                        <p:cTn id="37" dur="2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6" grpId="4"/>
      <p:bldP build="whole" bldLvl="1" animBg="1" rev="0" advAuto="0" spid="190" grpId="1"/>
      <p:bldP build="whole" bldLvl="1" animBg="1" rev="0" advAuto="0" spid="194" grpId="7"/>
      <p:bldP build="whole" bldLvl="1" animBg="1" rev="0" advAuto="0" spid="193" grpId="2"/>
      <p:bldP build="whole" bldLvl="1" animBg="1" rev="0" advAuto="0" spid="197" grpId="5"/>
      <p:bldP build="whole" bldLvl="1" animBg="1" rev="0" advAuto="0" spid="191" grpId="3"/>
      <p:bldP build="whole" bldLvl="1" animBg="1" rev="0" advAuto="0" spid="198" grpId="6"/>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Crearea unui set de date"/>
          <p:cNvSpPr txBox="1"/>
          <p:nvPr/>
        </p:nvSpPr>
        <p:spPr>
          <a:xfrm>
            <a:off x="4408338" y="716992"/>
            <a:ext cx="16915080"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Crearea unui set de date</a:t>
            </a:r>
          </a:p>
        </p:txBody>
      </p:sp>
      <p:sp>
        <p:nvSpPr>
          <p:cNvPr id="201" name="Suprafața în metrii pătrați"/>
          <p:cNvSpPr txBox="1"/>
          <p:nvPr/>
        </p:nvSpPr>
        <p:spPr>
          <a:xfrm>
            <a:off x="1754632" y="4218378"/>
            <a:ext cx="66880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Suprafața în metrii pătrați</a:t>
            </a:r>
          </a:p>
        </p:txBody>
      </p:sp>
      <p:sp>
        <p:nvSpPr>
          <p:cNvPr id="202" name="Numărul de camere"/>
          <p:cNvSpPr txBox="1"/>
          <p:nvPr/>
        </p:nvSpPr>
        <p:spPr>
          <a:xfrm>
            <a:off x="10040632" y="4218378"/>
            <a:ext cx="50412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Numărul de camere</a:t>
            </a:r>
          </a:p>
        </p:txBody>
      </p:sp>
      <p:sp>
        <p:nvSpPr>
          <p:cNvPr id="203" name="Vârsta clădirii"/>
          <p:cNvSpPr txBox="1"/>
          <p:nvPr/>
        </p:nvSpPr>
        <p:spPr>
          <a:xfrm>
            <a:off x="17929683" y="4218378"/>
            <a:ext cx="359953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Vârsta clădirii</a:t>
            </a:r>
          </a:p>
        </p:txBody>
      </p:sp>
      <p:sp>
        <p:nvSpPr>
          <p:cNvPr id="204" name="Ecuație"/>
          <p:cNvSpPr txBox="1"/>
          <p:nvPr/>
        </p:nvSpPr>
        <p:spPr>
          <a:xfrm>
            <a:off x="9652235" y="6191550"/>
            <a:ext cx="5079530" cy="7554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1</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50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5</m:t>
                            </m:r>
                          </m:e>
                        </m:mr>
                      </m:m>
                    </m:e>
                  </m:d>
                </m:oMath>
              </m:oMathPara>
            </a14:m>
            <a:endParaRPr sz="6400"/>
          </a:p>
        </p:txBody>
      </p:sp>
      <p:sp>
        <p:nvSpPr>
          <p:cNvPr id="205" name="Ecuație"/>
          <p:cNvSpPr txBox="1"/>
          <p:nvPr/>
        </p:nvSpPr>
        <p:spPr>
          <a:xfrm>
            <a:off x="9448441" y="7386073"/>
            <a:ext cx="5487117" cy="7554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2</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60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10</m:t>
                            </m:r>
                          </m:e>
                        </m:mr>
                      </m:m>
                    </m:e>
                  </m:d>
                </m:oMath>
              </m:oMathPara>
            </a14:m>
            <a:endParaRPr sz="6400"/>
          </a:p>
        </p:txBody>
      </p:sp>
      <p:sp>
        <p:nvSpPr>
          <p:cNvPr id="206" name="Ecuație"/>
          <p:cNvSpPr txBox="1"/>
          <p:nvPr/>
        </p:nvSpPr>
        <p:spPr>
          <a:xfrm>
            <a:off x="9449035" y="8580595"/>
            <a:ext cx="5485930" cy="76357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3</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70</m:t>
                            </m:r>
                          </m:e>
                          <m:e>
                            <m:r>
                              <a:rPr xmlns:a="http://schemas.openxmlformats.org/drawingml/2006/main" sz="6400" i="1">
                                <a:solidFill>
                                  <a:srgbClr val="000000"/>
                                </a:solidFill>
                                <a:latin typeface="Cambria Math" panose="02040503050406030204" pitchFamily="18" charset="0"/>
                              </a:rPr>
                              <m:t>3</m:t>
                            </m:r>
                          </m:e>
                          <m:e>
                            <m:r>
                              <a:rPr xmlns:a="http://schemas.openxmlformats.org/drawingml/2006/main" sz="6400" i="1">
                                <a:solidFill>
                                  <a:srgbClr val="000000"/>
                                </a:solidFill>
                                <a:latin typeface="Cambria Math" panose="02040503050406030204" pitchFamily="18" charset="0"/>
                              </a:rPr>
                              <m:t>15</m:t>
                            </m:r>
                          </m:e>
                        </m:mr>
                      </m:m>
                    </m:e>
                  </m:d>
                </m:oMath>
              </m:oMathPara>
            </a14:m>
            <a:endParaRPr sz="6400"/>
          </a:p>
        </p:txBody>
      </p:sp>
      <p:pic>
        <p:nvPicPr>
          <p:cNvPr id="207" name="Linie Linie" descr="Linie Linie"/>
          <p:cNvPicPr>
            <a:picLocks noChangeAspect="0"/>
          </p:cNvPicPr>
          <p:nvPr/>
        </p:nvPicPr>
        <p:blipFill>
          <a:blip r:embed="rId2">
            <a:extLst/>
          </a:blip>
          <a:stretch>
            <a:fillRect/>
          </a:stretch>
        </p:blipFill>
        <p:spPr>
          <a:xfrm rot="401832">
            <a:off x="5394774" y="5395571"/>
            <a:ext cx="6143506" cy="405592"/>
          </a:xfrm>
          <a:prstGeom prst="rect">
            <a:avLst/>
          </a:prstGeom>
        </p:spPr>
      </p:pic>
      <p:pic>
        <p:nvPicPr>
          <p:cNvPr id="209" name="Linie Linie" descr="Linie Linie"/>
          <p:cNvPicPr>
            <a:picLocks noChangeAspect="0"/>
          </p:cNvPicPr>
          <p:nvPr/>
        </p:nvPicPr>
        <p:blipFill>
          <a:blip r:embed="rId3">
            <a:extLst/>
          </a:blip>
          <a:stretch>
            <a:fillRect/>
          </a:stretch>
        </p:blipFill>
        <p:spPr>
          <a:xfrm rot="3567870">
            <a:off x="12297736" y="5430139"/>
            <a:ext cx="1167982" cy="405591"/>
          </a:xfrm>
          <a:prstGeom prst="rect">
            <a:avLst/>
          </a:prstGeom>
        </p:spPr>
      </p:pic>
      <p:pic>
        <p:nvPicPr>
          <p:cNvPr id="211" name="Linie Linie" descr="Linie Linie"/>
          <p:cNvPicPr>
            <a:picLocks noChangeAspect="0"/>
          </p:cNvPicPr>
          <p:nvPr/>
        </p:nvPicPr>
        <p:blipFill>
          <a:blip r:embed="rId4">
            <a:extLst/>
          </a:blip>
          <a:stretch>
            <a:fillRect/>
          </a:stretch>
        </p:blipFill>
        <p:spPr>
          <a:xfrm rot="10100820">
            <a:off x="14350819" y="5365731"/>
            <a:ext cx="4087095" cy="4055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04"/>
                                        </p:tgtEl>
                                        <p:attrNameLst>
                                          <p:attrName>style.visibility</p:attrName>
                                        </p:attrNameLst>
                                      </p:cBhvr>
                                      <p:to>
                                        <p:strVal val="visible"/>
                                      </p:to>
                                    </p:set>
                                    <p:anim calcmode="lin" valueType="num">
                                      <p:cBhvr>
                                        <p:cTn id="7" dur="750" fill="hold"/>
                                        <p:tgtEl>
                                          <p:spTgt spid="204"/>
                                        </p:tgtEl>
                                        <p:attrNameLst>
                                          <p:attrName>ppt_w</p:attrName>
                                        </p:attrNameLst>
                                      </p:cBhvr>
                                      <p:tavLst>
                                        <p:tav tm="0">
                                          <p:val>
                                            <p:fltVal val="0"/>
                                          </p:val>
                                        </p:tav>
                                        <p:tav tm="100000">
                                          <p:val>
                                            <p:strVal val="#ppt_w"/>
                                          </p:val>
                                        </p:tav>
                                      </p:tavLst>
                                    </p:anim>
                                    <p:anim calcmode="lin" valueType="num">
                                      <p:cBhvr>
                                        <p:cTn id="8" dur="750" fill="hold"/>
                                        <p:tgtEl>
                                          <p:spTgt spid="204"/>
                                        </p:tgtEl>
                                        <p:attrNameLst>
                                          <p:attrName>ppt_h</p:attrName>
                                        </p:attrNameLst>
                                      </p:cBhvr>
                                      <p:tavLst>
                                        <p:tav tm="0">
                                          <p:val>
                                            <p:fltVal val="0"/>
                                          </p:val>
                                        </p:tav>
                                        <p:tav tm="100000">
                                          <p:val>
                                            <p:strVal val="#ppt_h"/>
                                          </p:val>
                                        </p:tav>
                                      </p:tavLst>
                                    </p:anim>
                                  </p:childTnLst>
                                </p:cTn>
                              </p:par>
                            </p:childTnLst>
                          </p:cTn>
                        </p:par>
                        <p:par>
                          <p:cTn id="9" fill="hold">
                            <p:stCondLst>
                              <p:cond delay="750"/>
                            </p:stCondLst>
                            <p:childTnLst>
                              <p:par>
                                <p:cTn id="10" presetClass="entr" nodeType="afterEffect" presetID="9" grpId="2" fill="hold">
                                  <p:stCondLst>
                                    <p:cond delay="0"/>
                                  </p:stCondLst>
                                  <p:iterate type="el" backwards="0">
                                    <p:tmAbs val="0"/>
                                  </p:iterate>
                                  <p:childTnLst>
                                    <p:set>
                                      <p:cBhvr>
                                        <p:cTn id="11" fill="hold"/>
                                        <p:tgtEl>
                                          <p:spTgt spid="211"/>
                                        </p:tgtEl>
                                        <p:attrNameLst>
                                          <p:attrName>style.visibility</p:attrName>
                                        </p:attrNameLst>
                                      </p:cBhvr>
                                      <p:to>
                                        <p:strVal val="visible"/>
                                      </p:to>
                                    </p:set>
                                    <p:animEffect filter="dissolve" transition="in">
                                      <p:cBhvr>
                                        <p:cTn id="12" dur="2000"/>
                                        <p:tgtEl>
                                          <p:spTgt spid="211"/>
                                        </p:tgtEl>
                                      </p:cBhvr>
                                    </p:animEffect>
                                  </p:childTnLst>
                                </p:cTn>
                              </p:par>
                            </p:childTnLst>
                          </p:cTn>
                        </p:par>
                        <p:par>
                          <p:cTn id="13" fill="hold">
                            <p:stCondLst>
                              <p:cond delay="2750"/>
                            </p:stCondLst>
                            <p:childTnLst>
                              <p:par>
                                <p:cTn id="14" presetClass="entr" nodeType="afterEffect" presetID="9" grpId="3" fill="hold">
                                  <p:stCondLst>
                                    <p:cond delay="0"/>
                                  </p:stCondLst>
                                  <p:iterate type="el" backwards="0">
                                    <p:tmAbs val="0"/>
                                  </p:iterate>
                                  <p:childTnLst>
                                    <p:set>
                                      <p:cBhvr>
                                        <p:cTn id="15" fill="hold"/>
                                        <p:tgtEl>
                                          <p:spTgt spid="209"/>
                                        </p:tgtEl>
                                        <p:attrNameLst>
                                          <p:attrName>style.visibility</p:attrName>
                                        </p:attrNameLst>
                                      </p:cBhvr>
                                      <p:to>
                                        <p:strVal val="visible"/>
                                      </p:to>
                                    </p:set>
                                    <p:animEffect filter="dissolve" transition="in">
                                      <p:cBhvr>
                                        <p:cTn id="16" dur="2000"/>
                                        <p:tgtEl>
                                          <p:spTgt spid="209"/>
                                        </p:tgtEl>
                                      </p:cBhvr>
                                    </p:animEffect>
                                  </p:childTnLst>
                                </p:cTn>
                              </p:par>
                            </p:childTnLst>
                          </p:cTn>
                        </p:par>
                        <p:par>
                          <p:cTn id="17" fill="hold">
                            <p:stCondLst>
                              <p:cond delay="4750"/>
                            </p:stCondLst>
                            <p:childTnLst>
                              <p:par>
                                <p:cTn id="18" presetClass="entr" nodeType="afterEffect" presetID="9" grpId="4" fill="hold">
                                  <p:stCondLst>
                                    <p:cond delay="0"/>
                                  </p:stCondLst>
                                  <p:iterate type="el" backwards="0">
                                    <p:tmAbs val="0"/>
                                  </p:iterate>
                                  <p:childTnLst>
                                    <p:set>
                                      <p:cBhvr>
                                        <p:cTn id="19" fill="hold"/>
                                        <p:tgtEl>
                                          <p:spTgt spid="207"/>
                                        </p:tgtEl>
                                        <p:attrNameLst>
                                          <p:attrName>style.visibility</p:attrName>
                                        </p:attrNameLst>
                                      </p:cBhvr>
                                      <p:to>
                                        <p:strVal val="visible"/>
                                      </p:to>
                                    </p:set>
                                    <p:animEffect filter="dissolve" transition="in">
                                      <p:cBhvr>
                                        <p:cTn id="20" dur="2000"/>
                                        <p:tgtEl>
                                          <p:spTgt spid="207"/>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5" fill="hold">
                                  <p:stCondLst>
                                    <p:cond delay="0"/>
                                  </p:stCondLst>
                                  <p:iterate type="el" backwards="0">
                                    <p:tmAbs val="0"/>
                                  </p:iterate>
                                  <p:childTnLst>
                                    <p:set>
                                      <p:cBhvr>
                                        <p:cTn id="24" fill="hold"/>
                                        <p:tgtEl>
                                          <p:spTgt spid="205"/>
                                        </p:tgtEl>
                                        <p:attrNameLst>
                                          <p:attrName>style.visibility</p:attrName>
                                        </p:attrNameLst>
                                      </p:cBhvr>
                                      <p:to>
                                        <p:strVal val="visible"/>
                                      </p:to>
                                    </p:set>
                                    <p:anim calcmode="lin" valueType="num">
                                      <p:cBhvr>
                                        <p:cTn id="25" dur="750" fill="hold"/>
                                        <p:tgtEl>
                                          <p:spTgt spid="205"/>
                                        </p:tgtEl>
                                        <p:attrNameLst>
                                          <p:attrName>ppt_w</p:attrName>
                                        </p:attrNameLst>
                                      </p:cBhvr>
                                      <p:tavLst>
                                        <p:tav tm="0">
                                          <p:val>
                                            <p:fltVal val="0"/>
                                          </p:val>
                                        </p:tav>
                                        <p:tav tm="100000">
                                          <p:val>
                                            <p:strVal val="#ppt_w"/>
                                          </p:val>
                                        </p:tav>
                                      </p:tavLst>
                                    </p:anim>
                                    <p:anim calcmode="lin" valueType="num">
                                      <p:cBhvr>
                                        <p:cTn id="26" dur="750" fill="hold"/>
                                        <p:tgtEl>
                                          <p:spTgt spid="205"/>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6" fill="hold">
                                  <p:stCondLst>
                                    <p:cond delay="0"/>
                                  </p:stCondLst>
                                  <p:iterate type="el" backwards="0">
                                    <p:tmAbs val="0"/>
                                  </p:iterate>
                                  <p:childTnLst>
                                    <p:set>
                                      <p:cBhvr>
                                        <p:cTn id="30" fill="hold"/>
                                        <p:tgtEl>
                                          <p:spTgt spid="206"/>
                                        </p:tgtEl>
                                        <p:attrNameLst>
                                          <p:attrName>style.visibility</p:attrName>
                                        </p:attrNameLst>
                                      </p:cBhvr>
                                      <p:to>
                                        <p:strVal val="visible"/>
                                      </p:to>
                                    </p:set>
                                    <p:anim calcmode="lin" valueType="num">
                                      <p:cBhvr>
                                        <p:cTn id="31" dur="750" fill="hold"/>
                                        <p:tgtEl>
                                          <p:spTgt spid="206"/>
                                        </p:tgtEl>
                                        <p:attrNameLst>
                                          <p:attrName>ppt_w</p:attrName>
                                        </p:attrNameLst>
                                      </p:cBhvr>
                                      <p:tavLst>
                                        <p:tav tm="0">
                                          <p:val>
                                            <p:fltVal val="0"/>
                                          </p:val>
                                        </p:tav>
                                        <p:tav tm="100000">
                                          <p:val>
                                            <p:strVal val="#ppt_w"/>
                                          </p:val>
                                        </p:tav>
                                      </p:tavLst>
                                    </p:anim>
                                    <p:anim calcmode="lin" valueType="num">
                                      <p:cBhvr>
                                        <p:cTn id="32" dur="750" fill="hold"/>
                                        <p:tgtEl>
                                          <p:spTgt spid="20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4" grpId="1"/>
      <p:bldP build="whole" bldLvl="1" animBg="1" rev="0" advAuto="0" spid="209" grpId="3"/>
      <p:bldP build="whole" bldLvl="1" animBg="1" rev="0" advAuto="0" spid="211" grpId="2"/>
      <p:bldP build="whole" bldLvl="1" animBg="1" rev="0" advAuto="0" spid="207" grpId="4"/>
      <p:bldP build="whole" bldLvl="1" animBg="1" rev="0" advAuto="0" spid="206" grpId="6"/>
      <p:bldP build="whole" bldLvl="1" animBg="1" rev="0" advAuto="0" spid="205" grpId="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Suprafața în metrii pătrați"/>
          <p:cNvSpPr txBox="1"/>
          <p:nvPr/>
        </p:nvSpPr>
        <p:spPr>
          <a:xfrm>
            <a:off x="1754632" y="4218378"/>
            <a:ext cx="66880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Suprafața în metrii pătrați</a:t>
            </a:r>
          </a:p>
        </p:txBody>
      </p:sp>
      <p:sp>
        <p:nvSpPr>
          <p:cNvPr id="215" name="Numărul de camere"/>
          <p:cNvSpPr txBox="1"/>
          <p:nvPr/>
        </p:nvSpPr>
        <p:spPr>
          <a:xfrm>
            <a:off x="10040632" y="4218378"/>
            <a:ext cx="50412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Numărul de camere</a:t>
            </a:r>
          </a:p>
        </p:txBody>
      </p:sp>
      <p:sp>
        <p:nvSpPr>
          <p:cNvPr id="216" name="Vârsta clădirii"/>
          <p:cNvSpPr txBox="1"/>
          <p:nvPr/>
        </p:nvSpPr>
        <p:spPr>
          <a:xfrm>
            <a:off x="17929683" y="4218378"/>
            <a:ext cx="359953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Vârsta clădirii</a:t>
            </a:r>
          </a:p>
        </p:txBody>
      </p:sp>
      <p:sp>
        <p:nvSpPr>
          <p:cNvPr id="217" name="Ecuație"/>
          <p:cNvSpPr txBox="1"/>
          <p:nvPr/>
        </p:nvSpPr>
        <p:spPr>
          <a:xfrm>
            <a:off x="3509415" y="6864138"/>
            <a:ext cx="5079529" cy="7554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1</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50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5</m:t>
                            </m:r>
                          </m:e>
                        </m:mr>
                      </m:m>
                    </m:e>
                  </m:d>
                </m:oMath>
              </m:oMathPara>
            </a14:m>
            <a:endParaRPr sz="6400"/>
          </a:p>
        </p:txBody>
      </p:sp>
      <p:sp>
        <p:nvSpPr>
          <p:cNvPr id="218" name="Ecuație"/>
          <p:cNvSpPr txBox="1"/>
          <p:nvPr/>
        </p:nvSpPr>
        <p:spPr>
          <a:xfrm>
            <a:off x="3436718" y="7873399"/>
            <a:ext cx="5487117" cy="7554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2</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60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10</m:t>
                            </m:r>
                          </m:e>
                        </m:mr>
                      </m:m>
                    </m:e>
                  </m:d>
                </m:oMath>
              </m:oMathPara>
            </a14:m>
            <a:endParaRPr sz="6400"/>
          </a:p>
        </p:txBody>
      </p:sp>
      <p:sp>
        <p:nvSpPr>
          <p:cNvPr id="219" name="Ecuație"/>
          <p:cNvSpPr txBox="1"/>
          <p:nvPr/>
        </p:nvSpPr>
        <p:spPr>
          <a:xfrm>
            <a:off x="3437312" y="8882660"/>
            <a:ext cx="5485929" cy="76357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3</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70</m:t>
                            </m:r>
                          </m:e>
                          <m:e>
                            <m:r>
                              <a:rPr xmlns:a="http://schemas.openxmlformats.org/drawingml/2006/main" sz="6400" i="1">
                                <a:solidFill>
                                  <a:srgbClr val="000000"/>
                                </a:solidFill>
                                <a:latin typeface="Cambria Math" panose="02040503050406030204" pitchFamily="18" charset="0"/>
                              </a:rPr>
                              <m:t>3</m:t>
                            </m:r>
                          </m:e>
                          <m:e>
                            <m:r>
                              <a:rPr xmlns:a="http://schemas.openxmlformats.org/drawingml/2006/main" sz="6400" i="1">
                                <a:solidFill>
                                  <a:srgbClr val="000000"/>
                                </a:solidFill>
                                <a:latin typeface="Cambria Math" panose="02040503050406030204" pitchFamily="18" charset="0"/>
                              </a:rPr>
                              <m:t>15</m:t>
                            </m:r>
                          </m:e>
                        </m:mr>
                      </m:m>
                    </m:e>
                  </m:d>
                </m:oMath>
              </m:oMathPara>
            </a14:m>
            <a:endParaRPr sz="6400"/>
          </a:p>
        </p:txBody>
      </p:sp>
      <p:sp>
        <p:nvSpPr>
          <p:cNvPr id="220" name="Ecuație"/>
          <p:cNvSpPr txBox="1"/>
          <p:nvPr/>
        </p:nvSpPr>
        <p:spPr>
          <a:xfrm>
            <a:off x="15079290" y="6635304"/>
            <a:ext cx="3661194" cy="75915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1</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60000</m:t>
                  </m:r>
                </m:oMath>
              </m:oMathPara>
            </a14:m>
            <a:endParaRPr sz="6400"/>
          </a:p>
        </p:txBody>
      </p:sp>
      <p:sp>
        <p:nvSpPr>
          <p:cNvPr id="221" name="Ecuație"/>
          <p:cNvSpPr txBox="1"/>
          <p:nvPr/>
        </p:nvSpPr>
        <p:spPr>
          <a:xfrm>
            <a:off x="15079290" y="7736165"/>
            <a:ext cx="3661194" cy="76240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2</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75000</m:t>
                  </m:r>
                </m:oMath>
              </m:oMathPara>
            </a14:m>
            <a:endParaRPr sz="6400"/>
          </a:p>
        </p:txBody>
      </p:sp>
      <p:sp>
        <p:nvSpPr>
          <p:cNvPr id="222" name="Ecuație"/>
          <p:cNvSpPr txBox="1"/>
          <p:nvPr/>
        </p:nvSpPr>
        <p:spPr>
          <a:xfrm>
            <a:off x="15079290" y="8840279"/>
            <a:ext cx="3661194" cy="760733"/>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3</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90000</m:t>
                  </m:r>
                </m:oMath>
              </m:oMathPara>
            </a14:m>
            <a:endParaRPr sz="6400"/>
          </a:p>
        </p:txBody>
      </p:sp>
      <p:sp>
        <p:nvSpPr>
          <p:cNvPr id="223" name="Ieșirea modelului (ce încercăm să prezicem, în acest caz prețul în euro)"/>
          <p:cNvSpPr txBox="1"/>
          <p:nvPr/>
        </p:nvSpPr>
        <p:spPr>
          <a:xfrm>
            <a:off x="6107729" y="11392838"/>
            <a:ext cx="178690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Ieșirea modelului (ce încercăm să prezicem, în acest caz prețul în euro)</a:t>
            </a:r>
          </a:p>
        </p:txBody>
      </p:sp>
      <p:pic>
        <p:nvPicPr>
          <p:cNvPr id="224" name="Linie Linie" descr="Linie Linie"/>
          <p:cNvPicPr>
            <a:picLocks noChangeAspect="0"/>
          </p:cNvPicPr>
          <p:nvPr/>
        </p:nvPicPr>
        <p:blipFill>
          <a:blip r:embed="rId2">
            <a:extLst/>
          </a:blip>
          <a:stretch>
            <a:fillRect/>
          </a:stretch>
        </p:blipFill>
        <p:spPr>
          <a:xfrm rot="18400785">
            <a:off x="10776984" y="9528246"/>
            <a:ext cx="4656190" cy="405592"/>
          </a:xfrm>
          <a:prstGeom prst="rect">
            <a:avLst/>
          </a:prstGeom>
        </p:spPr>
      </p:pic>
      <p:sp>
        <p:nvSpPr>
          <p:cNvPr id="226" name="Crearea unui set de date"/>
          <p:cNvSpPr txBox="1"/>
          <p:nvPr/>
        </p:nvSpPr>
        <p:spPr>
          <a:xfrm>
            <a:off x="4408338" y="716992"/>
            <a:ext cx="16915080"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Crearea unui set de date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20"/>
                                        </p:tgtEl>
                                        <p:attrNameLst>
                                          <p:attrName>style.visibility</p:attrName>
                                        </p:attrNameLst>
                                      </p:cBhvr>
                                      <p:to>
                                        <p:strVal val="visible"/>
                                      </p:to>
                                    </p:set>
                                    <p:anim calcmode="lin" valueType="num">
                                      <p:cBhvr>
                                        <p:cTn id="7" dur="750" fill="hold"/>
                                        <p:tgtEl>
                                          <p:spTgt spid="220"/>
                                        </p:tgtEl>
                                        <p:attrNameLst>
                                          <p:attrName>ppt_w</p:attrName>
                                        </p:attrNameLst>
                                      </p:cBhvr>
                                      <p:tavLst>
                                        <p:tav tm="0">
                                          <p:val>
                                            <p:fltVal val="0"/>
                                          </p:val>
                                        </p:tav>
                                        <p:tav tm="100000">
                                          <p:val>
                                            <p:strVal val="#ppt_w"/>
                                          </p:val>
                                        </p:tav>
                                      </p:tavLst>
                                    </p:anim>
                                    <p:anim calcmode="lin" valueType="num">
                                      <p:cBhvr>
                                        <p:cTn id="8" dur="750" fill="hold"/>
                                        <p:tgtEl>
                                          <p:spTgt spid="220"/>
                                        </p:tgtEl>
                                        <p:attrNameLst>
                                          <p:attrName>ppt_h</p:attrName>
                                        </p:attrNameLst>
                                      </p:cBhvr>
                                      <p:tavLst>
                                        <p:tav tm="0">
                                          <p:val>
                                            <p:fltVal val="0"/>
                                          </p:val>
                                        </p:tav>
                                        <p:tav tm="100000">
                                          <p:val>
                                            <p:strVal val="#ppt_h"/>
                                          </p:val>
                                        </p:tav>
                                      </p:tavLst>
                                    </p:anim>
                                  </p:childTnLst>
                                </p:cTn>
                              </p:par>
                            </p:childTnLst>
                          </p:cTn>
                        </p:par>
                        <p:par>
                          <p:cTn id="9" fill="hold">
                            <p:stCondLst>
                              <p:cond delay="750"/>
                            </p:stCondLst>
                            <p:childTnLst>
                              <p:par>
                                <p:cTn id="10" presetClass="entr" nodeType="afterEffect" presetSubtype="8" presetID="2" grpId="2" fill="hold">
                                  <p:stCondLst>
                                    <p:cond delay="0"/>
                                  </p:stCondLst>
                                  <p:iterate type="el" backwards="0">
                                    <p:tmAbs val="0"/>
                                  </p:iterate>
                                  <p:childTnLst>
                                    <p:set>
                                      <p:cBhvr>
                                        <p:cTn id="11" fill="hold"/>
                                        <p:tgtEl>
                                          <p:spTgt spid="223"/>
                                        </p:tgtEl>
                                        <p:attrNameLst>
                                          <p:attrName>style.visibility</p:attrName>
                                        </p:attrNameLst>
                                      </p:cBhvr>
                                      <p:to>
                                        <p:strVal val="visible"/>
                                      </p:to>
                                    </p:set>
                                    <p:anim calcmode="lin" valueType="num">
                                      <p:cBhvr>
                                        <p:cTn id="12" dur="1000" fill="hold"/>
                                        <p:tgtEl>
                                          <p:spTgt spid="223"/>
                                        </p:tgtEl>
                                        <p:attrNameLst>
                                          <p:attrName>ppt_x</p:attrName>
                                        </p:attrNameLst>
                                      </p:cBhvr>
                                      <p:tavLst>
                                        <p:tav tm="0">
                                          <p:val>
                                            <p:strVal val="0-#ppt_w/2"/>
                                          </p:val>
                                        </p:tav>
                                        <p:tav tm="100000">
                                          <p:val>
                                            <p:strVal val="#ppt_x"/>
                                          </p:val>
                                        </p:tav>
                                      </p:tavLst>
                                    </p:anim>
                                    <p:anim calcmode="lin" valueType="num">
                                      <p:cBhvr>
                                        <p:cTn id="13" dur="1000" fill="hold"/>
                                        <p:tgtEl>
                                          <p:spTgt spid="223"/>
                                        </p:tgtEl>
                                        <p:attrNameLst>
                                          <p:attrName>ppt_y</p:attrName>
                                        </p:attrNameLst>
                                      </p:cBhvr>
                                      <p:tavLst>
                                        <p:tav tm="0">
                                          <p:val>
                                            <p:strVal val="#ppt_y"/>
                                          </p:val>
                                        </p:tav>
                                        <p:tav tm="100000">
                                          <p:val>
                                            <p:strVal val="#ppt_y"/>
                                          </p:val>
                                        </p:tav>
                                      </p:tavLst>
                                    </p:anim>
                                  </p:childTnLst>
                                </p:cTn>
                              </p:par>
                            </p:childTnLst>
                          </p:cTn>
                        </p:par>
                        <p:par>
                          <p:cTn id="14" fill="hold">
                            <p:stCondLst>
                              <p:cond delay="1750"/>
                            </p:stCondLst>
                            <p:childTnLst>
                              <p:par>
                                <p:cTn id="15" presetClass="entr" nodeType="afterEffect" presetID="9" grpId="3" fill="hold">
                                  <p:stCondLst>
                                    <p:cond delay="0"/>
                                  </p:stCondLst>
                                  <p:iterate type="el" backwards="0">
                                    <p:tmAbs val="0"/>
                                  </p:iterate>
                                  <p:childTnLst>
                                    <p:set>
                                      <p:cBhvr>
                                        <p:cTn id="16" fill="hold"/>
                                        <p:tgtEl>
                                          <p:spTgt spid="224"/>
                                        </p:tgtEl>
                                        <p:attrNameLst>
                                          <p:attrName>style.visibility</p:attrName>
                                        </p:attrNameLst>
                                      </p:cBhvr>
                                      <p:to>
                                        <p:strVal val="visible"/>
                                      </p:to>
                                    </p:set>
                                    <p:animEffect filter="dissolve" transition="in">
                                      <p:cBhvr>
                                        <p:cTn id="17" dur="2000"/>
                                        <p:tgtEl>
                                          <p:spTgt spid="224"/>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16" presetID="23" grpId="4" fill="hold">
                                  <p:stCondLst>
                                    <p:cond delay="0"/>
                                  </p:stCondLst>
                                  <p:iterate type="el" backwards="0">
                                    <p:tmAbs val="0"/>
                                  </p:iterate>
                                  <p:childTnLst>
                                    <p:set>
                                      <p:cBhvr>
                                        <p:cTn id="21" fill="hold"/>
                                        <p:tgtEl>
                                          <p:spTgt spid="221"/>
                                        </p:tgtEl>
                                        <p:attrNameLst>
                                          <p:attrName>style.visibility</p:attrName>
                                        </p:attrNameLst>
                                      </p:cBhvr>
                                      <p:to>
                                        <p:strVal val="visible"/>
                                      </p:to>
                                    </p:set>
                                    <p:anim calcmode="lin" valueType="num">
                                      <p:cBhvr>
                                        <p:cTn id="22" dur="750" fill="hold"/>
                                        <p:tgtEl>
                                          <p:spTgt spid="221"/>
                                        </p:tgtEl>
                                        <p:attrNameLst>
                                          <p:attrName>ppt_w</p:attrName>
                                        </p:attrNameLst>
                                      </p:cBhvr>
                                      <p:tavLst>
                                        <p:tav tm="0">
                                          <p:val>
                                            <p:fltVal val="0"/>
                                          </p:val>
                                        </p:tav>
                                        <p:tav tm="100000">
                                          <p:val>
                                            <p:strVal val="#ppt_w"/>
                                          </p:val>
                                        </p:tav>
                                      </p:tavLst>
                                    </p:anim>
                                    <p:anim calcmode="lin" valueType="num">
                                      <p:cBhvr>
                                        <p:cTn id="23" dur="750" fill="hold"/>
                                        <p:tgtEl>
                                          <p:spTgt spid="221"/>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16" presetID="23" grpId="5" fill="hold">
                                  <p:stCondLst>
                                    <p:cond delay="0"/>
                                  </p:stCondLst>
                                  <p:iterate type="el" backwards="0">
                                    <p:tmAbs val="0"/>
                                  </p:iterate>
                                  <p:childTnLst>
                                    <p:set>
                                      <p:cBhvr>
                                        <p:cTn id="27" fill="hold"/>
                                        <p:tgtEl>
                                          <p:spTgt spid="222"/>
                                        </p:tgtEl>
                                        <p:attrNameLst>
                                          <p:attrName>style.visibility</p:attrName>
                                        </p:attrNameLst>
                                      </p:cBhvr>
                                      <p:to>
                                        <p:strVal val="visible"/>
                                      </p:to>
                                    </p:set>
                                    <p:anim calcmode="lin" valueType="num">
                                      <p:cBhvr>
                                        <p:cTn id="28" dur="750" fill="hold"/>
                                        <p:tgtEl>
                                          <p:spTgt spid="222"/>
                                        </p:tgtEl>
                                        <p:attrNameLst>
                                          <p:attrName>ppt_w</p:attrName>
                                        </p:attrNameLst>
                                      </p:cBhvr>
                                      <p:tavLst>
                                        <p:tav tm="0">
                                          <p:val>
                                            <p:fltVal val="0"/>
                                          </p:val>
                                        </p:tav>
                                        <p:tav tm="100000">
                                          <p:val>
                                            <p:strVal val="#ppt_w"/>
                                          </p:val>
                                        </p:tav>
                                      </p:tavLst>
                                    </p:anim>
                                    <p:anim calcmode="lin" valueType="num">
                                      <p:cBhvr>
                                        <p:cTn id="29" dur="750" fill="hold"/>
                                        <p:tgtEl>
                                          <p:spTgt spid="2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1" grpId="4"/>
      <p:bldP build="whole" bldLvl="1" animBg="1" rev="0" advAuto="0" spid="224" grpId="3"/>
      <p:bldP build="whole" bldLvl="1" animBg="1" rev="0" advAuto="0" spid="222" grpId="5"/>
      <p:bldP build="whole" bldLvl="1" animBg="1" rev="0" advAuto="0" spid="223" grpId="2"/>
      <p:bldP build="whole" bldLvl="1" animBg="1" rev="0" advAuto="0" spid="220"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Ecuație"/>
          <p:cNvSpPr txBox="1"/>
          <p:nvPr/>
        </p:nvSpPr>
        <p:spPr>
          <a:xfrm>
            <a:off x="2966299" y="4140560"/>
            <a:ext cx="5079530" cy="7554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1</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50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5</m:t>
                            </m:r>
                          </m:e>
                        </m:mr>
                      </m:m>
                    </m:e>
                  </m:d>
                </m:oMath>
              </m:oMathPara>
            </a14:m>
            <a:endParaRPr sz="6400"/>
          </a:p>
        </p:txBody>
      </p:sp>
      <p:sp>
        <p:nvSpPr>
          <p:cNvPr id="229" name="Ecuație"/>
          <p:cNvSpPr txBox="1"/>
          <p:nvPr/>
        </p:nvSpPr>
        <p:spPr>
          <a:xfrm>
            <a:off x="9836422" y="4086402"/>
            <a:ext cx="5487117" cy="7554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2</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60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10</m:t>
                            </m:r>
                          </m:e>
                        </m:mr>
                      </m:m>
                    </m:e>
                  </m:d>
                </m:oMath>
              </m:oMathPara>
            </a14:m>
            <a:endParaRPr sz="6400"/>
          </a:p>
        </p:txBody>
      </p:sp>
      <p:sp>
        <p:nvSpPr>
          <p:cNvPr id="230" name="Ecuație"/>
          <p:cNvSpPr txBox="1"/>
          <p:nvPr/>
        </p:nvSpPr>
        <p:spPr>
          <a:xfrm>
            <a:off x="17114132" y="4082362"/>
            <a:ext cx="5485929" cy="76357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x</m:t>
                      </m:r>
                    </m:e>
                    <m:sub>
                      <m:r>
                        <a:rPr xmlns:a="http://schemas.openxmlformats.org/drawingml/2006/main" sz="6400" i="1">
                          <a:solidFill>
                            <a:srgbClr val="000000"/>
                          </a:solidFill>
                          <a:latin typeface="Cambria Math" panose="02040503050406030204" pitchFamily="18" charset="0"/>
                        </a:rPr>
                        <m:t>3</m:t>
                      </m:r>
                    </m:sub>
                  </m:sSub>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70</m:t>
                            </m:r>
                          </m:e>
                          <m:e>
                            <m:r>
                              <a:rPr xmlns:a="http://schemas.openxmlformats.org/drawingml/2006/main" sz="6400" i="1">
                                <a:solidFill>
                                  <a:srgbClr val="000000"/>
                                </a:solidFill>
                                <a:latin typeface="Cambria Math" panose="02040503050406030204" pitchFamily="18" charset="0"/>
                              </a:rPr>
                              <m:t>3</m:t>
                            </m:r>
                          </m:e>
                          <m:e>
                            <m:r>
                              <a:rPr xmlns:a="http://schemas.openxmlformats.org/drawingml/2006/main" sz="6400" i="1">
                                <a:solidFill>
                                  <a:srgbClr val="000000"/>
                                </a:solidFill>
                                <a:latin typeface="Cambria Math" panose="02040503050406030204" pitchFamily="18" charset="0"/>
                              </a:rPr>
                              <m:t>15</m:t>
                            </m:r>
                          </m:e>
                        </m:mr>
                      </m:m>
                    </m:e>
                  </m:d>
                </m:oMath>
              </m:oMathPara>
            </a14:m>
            <a:endParaRPr sz="6400"/>
          </a:p>
        </p:txBody>
      </p:sp>
      <p:sp>
        <p:nvSpPr>
          <p:cNvPr id="231" name="Ecuație"/>
          <p:cNvSpPr txBox="1"/>
          <p:nvPr/>
        </p:nvSpPr>
        <p:spPr>
          <a:xfrm>
            <a:off x="2963799" y="5048513"/>
            <a:ext cx="3661194" cy="75915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1</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60000</m:t>
                  </m:r>
                </m:oMath>
              </m:oMathPara>
            </a14:m>
            <a:endParaRPr sz="6400"/>
          </a:p>
        </p:txBody>
      </p:sp>
      <p:sp>
        <p:nvSpPr>
          <p:cNvPr id="232" name="Ecuație"/>
          <p:cNvSpPr txBox="1"/>
          <p:nvPr/>
        </p:nvSpPr>
        <p:spPr>
          <a:xfrm>
            <a:off x="9835419" y="5046887"/>
            <a:ext cx="3661194" cy="76240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2</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75000</m:t>
                  </m:r>
                </m:oMath>
              </m:oMathPara>
            </a14:m>
            <a:endParaRPr sz="6400"/>
          </a:p>
        </p:txBody>
      </p:sp>
      <p:sp>
        <p:nvSpPr>
          <p:cNvPr id="233" name="Ecuație"/>
          <p:cNvSpPr txBox="1"/>
          <p:nvPr/>
        </p:nvSpPr>
        <p:spPr>
          <a:xfrm>
            <a:off x="17101926" y="5047724"/>
            <a:ext cx="3661194" cy="760733"/>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3</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90000</m:t>
                  </m:r>
                </m:oMath>
              </m:oMathPara>
            </a14:m>
            <a:endParaRPr sz="6400"/>
          </a:p>
        </p:txBody>
      </p:sp>
      <p:sp>
        <p:nvSpPr>
          <p:cNvPr id="234" name="Ecuație"/>
          <p:cNvSpPr txBox="1"/>
          <p:nvPr/>
        </p:nvSpPr>
        <p:spPr>
          <a:xfrm>
            <a:off x="5716135" y="7429534"/>
            <a:ext cx="5654289" cy="292770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6400" i="1">
                      <a:solidFill>
                        <a:srgbClr val="000000"/>
                      </a:solidFill>
                      <a:latin typeface="Cambria Math" panose="02040503050406030204" pitchFamily="18" charset="0"/>
                    </a:rPr>
                    <m:t>X</m:t>
                  </m:r>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m>
                        <m:mPr>
                          <m:ctrlPr>
                            <a:rPr xmlns:a="http://schemas.openxmlformats.org/drawingml/2006/main" sz="6400" i="1">
                              <a:solidFill>
                                <a:srgbClr val="000000"/>
                              </a:solidFill>
                              <a:latin typeface="Cambria Math" panose="02040503050406030204" pitchFamily="18" charset="0"/>
                            </a:rPr>
                          </m:ctrlPr>
                          <m:baseJc m:val="center"/>
                          <m:plcHide m:val="on"/>
                          <m:mcs>
                            <m:mc>
                              <m:mcPr>
                                <m:count m:val="3"/>
                                <m:mcJc m:val="center"/>
                              </m:mcPr>
                            </m:mc>
                          </m:mcs>
                        </m:mPr>
                        <m:mr>
                          <m:e>
                            <m:r>
                              <a:rPr xmlns:a="http://schemas.openxmlformats.org/drawingml/2006/main" sz="6400" i="1">
                                <a:solidFill>
                                  <a:srgbClr val="000000"/>
                                </a:solidFill>
                                <a:latin typeface="Cambria Math" panose="02040503050406030204" pitchFamily="18" charset="0"/>
                              </a:rPr>
                              <m:t>50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5</m:t>
                            </m:r>
                          </m:e>
                        </m:mr>
                        <m:mr>
                          <m:e>
                            <m:r>
                              <a:rPr xmlns:a="http://schemas.openxmlformats.org/drawingml/2006/main" sz="6400" i="1">
                                <a:solidFill>
                                  <a:srgbClr val="000000"/>
                                </a:solidFill>
                                <a:latin typeface="Cambria Math" panose="02040503050406030204" pitchFamily="18" charset="0"/>
                              </a:rPr>
                              <m:t>60</m:t>
                            </m:r>
                          </m:e>
                          <m:e>
                            <m:r>
                              <a:rPr xmlns:a="http://schemas.openxmlformats.org/drawingml/2006/main" sz="6400" i="1">
                                <a:solidFill>
                                  <a:srgbClr val="000000"/>
                                </a:solidFill>
                                <a:latin typeface="Cambria Math" panose="02040503050406030204" pitchFamily="18" charset="0"/>
                              </a:rPr>
                              <m:t>2</m:t>
                            </m:r>
                          </m:e>
                          <m:e>
                            <m:r>
                              <a:rPr xmlns:a="http://schemas.openxmlformats.org/drawingml/2006/main" sz="6400" i="1">
                                <a:solidFill>
                                  <a:srgbClr val="000000"/>
                                </a:solidFill>
                                <a:latin typeface="Cambria Math" panose="02040503050406030204" pitchFamily="18" charset="0"/>
                              </a:rPr>
                              <m:t>10</m:t>
                            </m:r>
                          </m:e>
                        </m:mr>
                        <m:mr>
                          <m:e>
                            <m:r>
                              <a:rPr xmlns:a="http://schemas.openxmlformats.org/drawingml/2006/main" sz="6400" i="1">
                                <a:solidFill>
                                  <a:srgbClr val="000000"/>
                                </a:solidFill>
                                <a:latin typeface="Cambria Math" panose="02040503050406030204" pitchFamily="18" charset="0"/>
                              </a:rPr>
                              <m:t>70</m:t>
                            </m:r>
                          </m:e>
                          <m:e>
                            <m:r>
                              <a:rPr xmlns:a="http://schemas.openxmlformats.org/drawingml/2006/main" sz="6400" i="1">
                                <a:solidFill>
                                  <a:srgbClr val="000000"/>
                                </a:solidFill>
                                <a:latin typeface="Cambria Math" panose="02040503050406030204" pitchFamily="18" charset="0"/>
                              </a:rPr>
                              <m:t>3</m:t>
                            </m:r>
                          </m:e>
                          <m:e>
                            <m:r>
                              <a:rPr xmlns:a="http://schemas.openxmlformats.org/drawingml/2006/main" sz="6400" i="1">
                                <a:solidFill>
                                  <a:srgbClr val="000000"/>
                                </a:solidFill>
                                <a:latin typeface="Cambria Math" panose="02040503050406030204" pitchFamily="18" charset="0"/>
                              </a:rPr>
                              <m:t>15</m:t>
                            </m:r>
                          </m:e>
                        </m:mr>
                      </m:m>
                    </m:e>
                  </m:d>
                </m:oMath>
              </m:oMathPara>
            </a14:m>
            <a:endParaRPr sz="6400"/>
          </a:p>
        </p:txBody>
      </p:sp>
      <p:sp>
        <p:nvSpPr>
          <p:cNvPr id="235" name="Ecuație"/>
          <p:cNvSpPr txBox="1"/>
          <p:nvPr/>
        </p:nvSpPr>
        <p:spPr>
          <a:xfrm>
            <a:off x="13454541" y="7283323"/>
            <a:ext cx="4227012" cy="292445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sty m:val="b"/>
                    </m:rPr>
                    <a:rPr xmlns:a="http://schemas.openxmlformats.org/drawingml/2006/main" sz="6400" i="1">
                      <a:solidFill>
                        <a:srgbClr val="000000"/>
                      </a:solidFill>
                      <a:latin typeface="Cambria Math" panose="02040503050406030204" pitchFamily="18" charset="0"/>
                    </a:rPr>
                    <m:t>y</m:t>
                  </m:r>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eqArr>
                        <m:eqArrPr>
                          <m:ctrlPr>
                            <a:rPr xmlns:a="http://schemas.openxmlformats.org/drawingml/2006/main" sz="6400" i="1">
                              <a:solidFill>
                                <a:srgbClr val="000000"/>
                              </a:solidFill>
                              <a:latin typeface="Cambria Math" panose="02040503050406030204" pitchFamily="18" charset="0"/>
                            </a:rPr>
                          </m:ctrlPr>
                        </m:eqArrPr>
                        <m:e>
                          <m:r>
                            <a:rPr xmlns:a="http://schemas.openxmlformats.org/drawingml/2006/main" sz="6400" i="1">
                              <a:solidFill>
                                <a:srgbClr val="000000"/>
                              </a:solidFill>
                              <a:latin typeface="Cambria Math" panose="02040503050406030204" pitchFamily="18" charset="0"/>
                            </a:rPr>
                            <m:t>60000</m:t>
                          </m:r>
                        </m:e>
                        <m:e>
                          <m:r>
                            <a:rPr xmlns:a="http://schemas.openxmlformats.org/drawingml/2006/main" sz="6400" i="1">
                              <a:solidFill>
                                <a:srgbClr val="000000"/>
                              </a:solidFill>
                              <a:latin typeface="Cambria Math" panose="02040503050406030204" pitchFamily="18" charset="0"/>
                            </a:rPr>
                            <m:t>75000</m:t>
                          </m:r>
                        </m:e>
                        <m:e>
                          <m:r>
                            <a:rPr xmlns:a="http://schemas.openxmlformats.org/drawingml/2006/main" sz="6400" i="1">
                              <a:solidFill>
                                <a:srgbClr val="000000"/>
                              </a:solidFill>
                              <a:latin typeface="Cambria Math" panose="02040503050406030204" pitchFamily="18" charset="0"/>
                            </a:rPr>
                            <m:t>90000</m:t>
                          </m:r>
                        </m:e>
                      </m:eqArr>
                    </m:e>
                  </m:d>
                </m:oMath>
              </m:oMathPara>
            </a14:m>
            <a:endParaRPr sz="6400"/>
          </a:p>
        </p:txBody>
      </p:sp>
      <p:sp>
        <p:nvSpPr>
          <p:cNvPr id="236" name="Crearea unui set de date"/>
          <p:cNvSpPr txBox="1"/>
          <p:nvPr/>
        </p:nvSpPr>
        <p:spPr>
          <a:xfrm>
            <a:off x="4408338" y="716992"/>
            <a:ext cx="16915080"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Crearea unui set de date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34"/>
                                        </p:tgtEl>
                                        <p:attrNameLst>
                                          <p:attrName>style.visibility</p:attrName>
                                        </p:attrNameLst>
                                      </p:cBhvr>
                                      <p:to>
                                        <p:strVal val="visible"/>
                                      </p:to>
                                    </p:set>
                                    <p:anim calcmode="lin" valueType="num">
                                      <p:cBhvr>
                                        <p:cTn id="7" dur="1000" fill="hold"/>
                                        <p:tgtEl>
                                          <p:spTgt spid="234"/>
                                        </p:tgtEl>
                                        <p:attrNameLst>
                                          <p:attrName>ppt_x</p:attrName>
                                        </p:attrNameLst>
                                      </p:cBhvr>
                                      <p:tavLst>
                                        <p:tav tm="0">
                                          <p:val>
                                            <p:strVal val="0-#ppt_w/2"/>
                                          </p:val>
                                        </p:tav>
                                        <p:tav tm="100000">
                                          <p:val>
                                            <p:strVal val="#ppt_x"/>
                                          </p:val>
                                        </p:tav>
                                      </p:tavLst>
                                    </p:anim>
                                    <p:anim calcmode="lin" valueType="num">
                                      <p:cBhvr>
                                        <p:cTn id="8" dur="1000" fill="hold"/>
                                        <p:tgtEl>
                                          <p:spTgt spid="2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35"/>
                                        </p:tgtEl>
                                        <p:attrNameLst>
                                          <p:attrName>style.visibility</p:attrName>
                                        </p:attrNameLst>
                                      </p:cBhvr>
                                      <p:to>
                                        <p:strVal val="visible"/>
                                      </p:to>
                                    </p:set>
                                    <p:anim calcmode="lin" valueType="num">
                                      <p:cBhvr>
                                        <p:cTn id="13" dur="1000" fill="hold"/>
                                        <p:tgtEl>
                                          <p:spTgt spid="235"/>
                                        </p:tgtEl>
                                        <p:attrNameLst>
                                          <p:attrName>ppt_x</p:attrName>
                                        </p:attrNameLst>
                                      </p:cBhvr>
                                      <p:tavLst>
                                        <p:tav tm="0">
                                          <p:val>
                                            <p:strVal val="0-#ppt_w/2"/>
                                          </p:val>
                                        </p:tav>
                                        <p:tav tm="100000">
                                          <p:val>
                                            <p:strVal val="#ppt_x"/>
                                          </p:val>
                                        </p:tav>
                                      </p:tavLst>
                                    </p:anim>
                                    <p:anim calcmode="lin" valueType="num">
                                      <p:cBhvr>
                                        <p:cTn id="14" dur="1000" fill="hold"/>
                                        <p:tgtEl>
                                          <p:spTgt spid="2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5" grpId="2"/>
      <p:bldP build="whole" bldLvl="1" animBg="1" rev="0" advAuto="0" spid="234"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upervizate"/>
          <p:cNvSpPr txBox="1"/>
          <p:nvPr/>
        </p:nvSpPr>
        <p:spPr>
          <a:xfrm>
            <a:off x="8012789" y="630325"/>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Supervizate</a:t>
            </a:r>
          </a:p>
        </p:txBody>
      </p:sp>
      <p:sp>
        <p:nvSpPr>
          <p:cNvPr id="239" name="Pentru a antrena modele de ML, avem nevoie de caracteristici / atribute / features.…"/>
          <p:cNvSpPr txBox="1"/>
          <p:nvPr>
            <p:ph type="body" idx="1"/>
          </p:nvPr>
        </p:nvSpPr>
        <p:spPr>
          <a:prstGeom prst="rect">
            <a:avLst/>
          </a:prstGeom>
        </p:spPr>
        <p:txBody>
          <a:bodyPr/>
          <a:lstStyle/>
          <a:p>
            <a:pPr/>
            <a:r>
              <a:t>Pentru a antrena modele de ML, avem nevoie de caracteristici / atribute / features.</a:t>
            </a:r>
          </a:p>
          <a:p>
            <a:pPr/>
            <a:r>
              <a:t>Exemplu: </a:t>
            </a:r>
          </a:p>
          <a:p>
            <a:pPr lvl="1"/>
            <a:r>
              <a:t>Dacă încercăm să prezicem                                             , caracteristicile ar putea fi:</a:t>
            </a:r>
          </a:p>
        </p:txBody>
      </p:sp>
      <p:pic>
        <p:nvPicPr>
          <p:cNvPr id="240" name="Oval Oval" descr="Oval Oval"/>
          <p:cNvPicPr>
            <a:picLocks noChangeAspect="0"/>
          </p:cNvPicPr>
          <p:nvPr/>
        </p:nvPicPr>
        <p:blipFill>
          <a:blip r:embed="rId2">
            <a:alphaModFix amt="70364"/>
            <a:extLst/>
          </a:blip>
          <a:stretch>
            <a:fillRect/>
          </a:stretch>
        </p:blipFill>
        <p:spPr>
          <a:xfrm>
            <a:off x="13934826" y="3244586"/>
            <a:ext cx="8961226" cy="2440259"/>
          </a:xfrm>
          <a:prstGeom prst="rect">
            <a:avLst/>
          </a:prstGeom>
        </p:spPr>
      </p:pic>
      <p:pic>
        <p:nvPicPr>
          <p:cNvPr id="242" name="film lipit.png" descr="film lipit.png"/>
          <p:cNvPicPr>
            <a:picLocks noChangeAspect="1"/>
          </p:cNvPicPr>
          <p:nvPr/>
        </p:nvPicPr>
        <p:blipFill>
          <a:blip r:embed="rId3">
            <a:extLst/>
          </a:blip>
          <a:stretch>
            <a:fillRect/>
          </a:stretch>
        </p:blipFill>
        <p:spPr>
          <a:xfrm>
            <a:off x="14635725" y="7177856"/>
            <a:ext cx="7559428" cy="5078991"/>
          </a:xfrm>
          <a:prstGeom prst="rect">
            <a:avLst/>
          </a:prstGeom>
          <a:ln w="12700">
            <a:miter lim="400000"/>
          </a:ln>
        </p:spPr>
      </p:pic>
      <p:pic>
        <p:nvPicPr>
          <p:cNvPr id="243" name="Oval Oval" descr="Oval Oval"/>
          <p:cNvPicPr>
            <a:picLocks noChangeAspect="0"/>
          </p:cNvPicPr>
          <p:nvPr/>
        </p:nvPicPr>
        <p:blipFill>
          <a:blip r:embed="rId4">
            <a:alphaModFix amt="74006"/>
            <a:extLst/>
          </a:blip>
          <a:stretch>
            <a:fillRect/>
          </a:stretch>
        </p:blipFill>
        <p:spPr>
          <a:xfrm>
            <a:off x="3827674" y="6734043"/>
            <a:ext cx="8460023" cy="4616539"/>
          </a:xfrm>
          <a:prstGeom prst="rect">
            <a:avLst/>
          </a:prstGeom>
        </p:spPr>
      </p:pic>
      <p:sp>
        <p:nvSpPr>
          <p:cNvPr id="245" name="Suprafața în metrii pătrați"/>
          <p:cNvSpPr txBox="1"/>
          <p:nvPr/>
        </p:nvSpPr>
        <p:spPr>
          <a:xfrm>
            <a:off x="4713673" y="7458396"/>
            <a:ext cx="66880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Suprafața în metrii pătrați</a:t>
            </a:r>
          </a:p>
        </p:txBody>
      </p:sp>
      <p:sp>
        <p:nvSpPr>
          <p:cNvPr id="246" name="Numărul de camere"/>
          <p:cNvSpPr txBox="1"/>
          <p:nvPr/>
        </p:nvSpPr>
        <p:spPr>
          <a:xfrm>
            <a:off x="5339876" y="8338617"/>
            <a:ext cx="50412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Numărul de camere</a:t>
            </a:r>
          </a:p>
        </p:txBody>
      </p:sp>
      <p:sp>
        <p:nvSpPr>
          <p:cNvPr id="247" name="Vârsta clădirii"/>
          <p:cNvSpPr txBox="1"/>
          <p:nvPr/>
        </p:nvSpPr>
        <p:spPr>
          <a:xfrm>
            <a:off x="5868781" y="9250245"/>
            <a:ext cx="3599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Vârsta clădirii</a:t>
            </a:r>
          </a:p>
        </p:txBody>
      </p:sp>
      <p:sp>
        <p:nvSpPr>
          <p:cNvPr id="248" name="prețul unui apartament"/>
          <p:cNvSpPr txBox="1"/>
          <p:nvPr/>
        </p:nvSpPr>
        <p:spPr>
          <a:xfrm>
            <a:off x="9362151" y="6128700"/>
            <a:ext cx="595934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prețul unui apartament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Supervizate"/>
          <p:cNvSpPr txBox="1"/>
          <p:nvPr/>
        </p:nvSpPr>
        <p:spPr>
          <a:xfrm>
            <a:off x="8012789" y="630325"/>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Supervizate</a:t>
            </a:r>
          </a:p>
        </p:txBody>
      </p:sp>
      <p:sp>
        <p:nvSpPr>
          <p:cNvPr id="251" name="Suprafața în metrii pătrați"/>
          <p:cNvSpPr txBox="1"/>
          <p:nvPr/>
        </p:nvSpPr>
        <p:spPr>
          <a:xfrm>
            <a:off x="3664899" y="4259694"/>
            <a:ext cx="66880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Suprafața în metrii pătrați</a:t>
            </a:r>
          </a:p>
        </p:txBody>
      </p:sp>
      <p:sp>
        <p:nvSpPr>
          <p:cNvPr id="252" name="prețul unui apartament"/>
          <p:cNvSpPr txBox="1"/>
          <p:nvPr/>
        </p:nvSpPr>
        <p:spPr>
          <a:xfrm>
            <a:off x="14474925" y="4259694"/>
            <a:ext cx="595934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prețul unui apartament</a:t>
            </a:r>
          </a:p>
        </p:txBody>
      </p:sp>
      <p:sp>
        <p:nvSpPr>
          <p:cNvPr id="253" name="50…"/>
          <p:cNvSpPr txBox="1"/>
          <p:nvPr/>
        </p:nvSpPr>
        <p:spPr>
          <a:xfrm>
            <a:off x="6257554" y="4910453"/>
            <a:ext cx="958648" cy="83523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50</a:t>
            </a:r>
          </a:p>
          <a:p>
            <a:pPr/>
            <a:r>
              <a:t>60</a:t>
            </a:r>
          </a:p>
          <a:p>
            <a:pPr/>
            <a:r>
              <a:t>70</a:t>
            </a:r>
          </a:p>
          <a:p>
            <a:pPr/>
            <a:r>
              <a:t>80</a:t>
            </a:r>
          </a:p>
          <a:p>
            <a:pPr/>
            <a:r>
              <a:t>90</a:t>
            </a:r>
          </a:p>
          <a:p>
            <a:pPr/>
            <a:r>
              <a:t>100</a:t>
            </a:r>
          </a:p>
          <a:p>
            <a:pPr/>
            <a:r>
              <a:t>110</a:t>
            </a:r>
          </a:p>
          <a:p>
            <a:pPr/>
            <a:r>
              <a:t>120</a:t>
            </a:r>
          </a:p>
        </p:txBody>
      </p:sp>
      <p:sp>
        <p:nvSpPr>
          <p:cNvPr id="254" name="35000…"/>
          <p:cNvSpPr txBox="1"/>
          <p:nvPr/>
        </p:nvSpPr>
        <p:spPr>
          <a:xfrm>
            <a:off x="17190674" y="5149822"/>
            <a:ext cx="1747115" cy="83523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35000</a:t>
            </a:r>
          </a:p>
          <a:p>
            <a:pPr/>
            <a:r>
              <a:t>40000</a:t>
            </a:r>
          </a:p>
          <a:p>
            <a:pPr/>
            <a:r>
              <a:t>48000</a:t>
            </a:r>
          </a:p>
          <a:p>
            <a:pPr/>
            <a:r>
              <a:t>55000</a:t>
            </a:r>
          </a:p>
          <a:p>
            <a:pPr/>
            <a:r>
              <a:t>62000</a:t>
            </a:r>
          </a:p>
          <a:p>
            <a:pPr/>
            <a:r>
              <a:t>7o000</a:t>
            </a:r>
          </a:p>
          <a:p>
            <a:pPr/>
            <a:r>
              <a:t>75000</a:t>
            </a:r>
          </a:p>
          <a:p>
            <a:pPr/>
            <a:r>
              <a:t>85000</a:t>
            </a:r>
          </a:p>
        </p:txBody>
      </p:sp>
      <p:pic>
        <p:nvPicPr>
          <p:cNvPr id="255" name="Oval Oval" descr="Oval Oval"/>
          <p:cNvPicPr>
            <a:picLocks noChangeAspect="0"/>
          </p:cNvPicPr>
          <p:nvPr/>
        </p:nvPicPr>
        <p:blipFill>
          <a:blip r:embed="rId2">
            <a:extLst/>
          </a:blip>
          <a:stretch>
            <a:fillRect/>
          </a:stretch>
        </p:blipFill>
        <p:spPr>
          <a:xfrm>
            <a:off x="3447084" y="4053700"/>
            <a:ext cx="7353828" cy="1565890"/>
          </a:xfrm>
          <a:prstGeom prst="rect">
            <a:avLst/>
          </a:prstGeom>
        </p:spPr>
      </p:pic>
      <p:pic>
        <p:nvPicPr>
          <p:cNvPr id="257" name="Oval Oval" descr="Oval Oval"/>
          <p:cNvPicPr>
            <a:picLocks noChangeAspect="0"/>
          </p:cNvPicPr>
          <p:nvPr/>
        </p:nvPicPr>
        <p:blipFill>
          <a:blip r:embed="rId2">
            <a:extLst/>
          </a:blip>
          <a:stretch>
            <a:fillRect/>
          </a:stretch>
        </p:blipFill>
        <p:spPr>
          <a:xfrm>
            <a:off x="13777686" y="3943855"/>
            <a:ext cx="7353828" cy="1565890"/>
          </a:xfrm>
          <a:prstGeom prst="rect">
            <a:avLst/>
          </a:prstGeom>
        </p:spPr>
      </p:pic>
      <p:sp>
        <p:nvSpPr>
          <p:cNvPr id="259" name="variabila dependentă"/>
          <p:cNvSpPr txBox="1"/>
          <p:nvPr/>
        </p:nvSpPr>
        <p:spPr>
          <a:xfrm>
            <a:off x="5190051" y="2981204"/>
            <a:ext cx="549163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variabila dependentă</a:t>
            </a:r>
          </a:p>
        </p:txBody>
      </p:sp>
      <p:sp>
        <p:nvSpPr>
          <p:cNvPr id="260" name="variabila independentă"/>
          <p:cNvSpPr txBox="1"/>
          <p:nvPr/>
        </p:nvSpPr>
        <p:spPr>
          <a:xfrm>
            <a:off x="16310452" y="2823284"/>
            <a:ext cx="59722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variabila independentă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53"/>
                                        </p:tgtEl>
                                        <p:attrNameLst>
                                          <p:attrName>style.visibility</p:attrName>
                                        </p:attrNameLst>
                                      </p:cBhvr>
                                      <p:to>
                                        <p:strVal val="visible"/>
                                      </p:to>
                                    </p:set>
                                    <p:animEffect filter="dissolve" transition="in">
                                      <p:cBhvr>
                                        <p:cTn id="7" dur="500"/>
                                        <p:tgtEl>
                                          <p:spTgt spid="25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254"/>
                                        </p:tgtEl>
                                        <p:attrNameLst>
                                          <p:attrName>style.visibility</p:attrName>
                                        </p:attrNameLst>
                                      </p:cBhvr>
                                      <p:to>
                                        <p:strVal val="visible"/>
                                      </p:to>
                                    </p:set>
                                    <p:animEffect filter="dissolve" transition="in">
                                      <p:cBhvr>
                                        <p:cTn id="12" dur="500"/>
                                        <p:tgtEl>
                                          <p:spTgt spid="254"/>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9" grpId="3" fill="hold">
                                  <p:stCondLst>
                                    <p:cond delay="0"/>
                                  </p:stCondLst>
                                  <p:iterate type="el" backwards="0">
                                    <p:tmAbs val="0"/>
                                  </p:iterate>
                                  <p:childTnLst>
                                    <p:set>
                                      <p:cBhvr>
                                        <p:cTn id="16" fill="hold"/>
                                        <p:tgtEl>
                                          <p:spTgt spid="255"/>
                                        </p:tgtEl>
                                        <p:attrNameLst>
                                          <p:attrName>style.visibility</p:attrName>
                                        </p:attrNameLst>
                                      </p:cBhvr>
                                      <p:to>
                                        <p:strVal val="visible"/>
                                      </p:to>
                                    </p:set>
                                    <p:animEffect filter="dissolve" transition="in">
                                      <p:cBhvr>
                                        <p:cTn id="17" dur="2000"/>
                                        <p:tgtEl>
                                          <p:spTgt spid="255"/>
                                        </p:tgtEl>
                                      </p:cBhvr>
                                    </p:animEffect>
                                  </p:childTnLst>
                                </p:cTn>
                              </p:par>
                            </p:childTnLst>
                          </p:cTn>
                        </p:par>
                        <p:par>
                          <p:cTn id="18" fill="hold">
                            <p:stCondLst>
                              <p:cond delay="2000"/>
                            </p:stCondLst>
                            <p:childTnLst>
                              <p:par>
                                <p:cTn id="19" presetClass="entr" nodeType="afterEffect" presetID="9" grpId="4" fill="hold">
                                  <p:stCondLst>
                                    <p:cond delay="0"/>
                                  </p:stCondLst>
                                  <p:iterate type="el" backwards="0">
                                    <p:tmAbs val="0"/>
                                  </p:iterate>
                                  <p:childTnLst>
                                    <p:set>
                                      <p:cBhvr>
                                        <p:cTn id="20" fill="hold"/>
                                        <p:tgtEl>
                                          <p:spTgt spid="257"/>
                                        </p:tgtEl>
                                        <p:attrNameLst>
                                          <p:attrName>style.visibility</p:attrName>
                                        </p:attrNameLst>
                                      </p:cBhvr>
                                      <p:to>
                                        <p:strVal val="visible"/>
                                      </p:to>
                                    </p:set>
                                    <p:animEffect filter="dissolve" transition="in">
                                      <p:cBhvr>
                                        <p:cTn id="21" dur="2000"/>
                                        <p:tgtEl>
                                          <p:spTgt spid="257"/>
                                        </p:tgtEl>
                                      </p:cBhvr>
                                    </p:animEffect>
                                  </p:childTnLst>
                                </p:cTn>
                              </p:par>
                            </p:childTnLst>
                          </p:cTn>
                        </p:par>
                        <p:par>
                          <p:cTn id="22" fill="hold">
                            <p:stCondLst>
                              <p:cond delay="4000"/>
                            </p:stCondLst>
                            <p:childTnLst>
                              <p:par>
                                <p:cTn id="23" presetClass="entr" nodeType="afterEffect" presetSubtype="8" presetID="2" grpId="5" fill="hold">
                                  <p:stCondLst>
                                    <p:cond delay="0"/>
                                  </p:stCondLst>
                                  <p:iterate type="lt" backwards="0">
                                    <p:tmAbs val="0"/>
                                  </p:iterate>
                                  <p:childTnLst>
                                    <p:set>
                                      <p:cBhvr>
                                        <p:cTn id="24" fill="hold"/>
                                        <p:tgtEl>
                                          <p:spTgt spid="259"/>
                                        </p:tgtEl>
                                        <p:attrNameLst>
                                          <p:attrName>style.visibility</p:attrName>
                                        </p:attrNameLst>
                                      </p:cBhvr>
                                      <p:to>
                                        <p:strVal val="visible"/>
                                      </p:to>
                                    </p:set>
                                    <p:anim calcmode="lin" valueType="num">
                                      <p:cBhvr>
                                        <p:cTn id="25" dur="1000" fill="hold"/>
                                        <p:tgtEl>
                                          <p:spTgt spid="259"/>
                                        </p:tgtEl>
                                        <p:attrNameLst>
                                          <p:attrName>ppt_x</p:attrName>
                                        </p:attrNameLst>
                                      </p:cBhvr>
                                      <p:tavLst>
                                        <p:tav tm="0">
                                          <p:val>
                                            <p:strVal val="0-#ppt_w/2"/>
                                          </p:val>
                                        </p:tav>
                                        <p:tav tm="100000">
                                          <p:val>
                                            <p:strVal val="#ppt_x"/>
                                          </p:val>
                                        </p:tav>
                                      </p:tavLst>
                                    </p:anim>
                                    <p:anim calcmode="lin" valueType="num">
                                      <p:cBhvr>
                                        <p:cTn id="26" dur="1000" fill="hold"/>
                                        <p:tgtEl>
                                          <p:spTgt spid="259"/>
                                        </p:tgtEl>
                                        <p:attrNameLst>
                                          <p:attrName>ppt_y</p:attrName>
                                        </p:attrNameLst>
                                      </p:cBhvr>
                                      <p:tavLst>
                                        <p:tav tm="0">
                                          <p:val>
                                            <p:strVal val="#ppt_y"/>
                                          </p:val>
                                        </p:tav>
                                        <p:tav tm="100000">
                                          <p:val>
                                            <p:strVal val="#ppt_y"/>
                                          </p:val>
                                        </p:tav>
                                      </p:tavLst>
                                    </p:anim>
                                  </p:childTnLst>
                                </p:cTn>
                              </p:par>
                            </p:childTnLst>
                          </p:cTn>
                        </p:par>
                        <p:par>
                          <p:cTn id="27" fill="hold">
                            <p:stCondLst>
                              <p:cond delay="5000"/>
                            </p:stCondLst>
                            <p:childTnLst>
                              <p:par>
                                <p:cTn id="28" presetClass="entr" nodeType="afterEffect" presetSubtype="8" presetID="2" grpId="6" fill="hold">
                                  <p:stCondLst>
                                    <p:cond delay="0"/>
                                  </p:stCondLst>
                                  <p:iterate type="lt" backwards="0">
                                    <p:tmAbs val="0"/>
                                  </p:iterate>
                                  <p:childTnLst>
                                    <p:set>
                                      <p:cBhvr>
                                        <p:cTn id="29" fill="hold"/>
                                        <p:tgtEl>
                                          <p:spTgt spid="260"/>
                                        </p:tgtEl>
                                        <p:attrNameLst>
                                          <p:attrName>style.visibility</p:attrName>
                                        </p:attrNameLst>
                                      </p:cBhvr>
                                      <p:to>
                                        <p:strVal val="visible"/>
                                      </p:to>
                                    </p:set>
                                    <p:anim calcmode="lin" valueType="num">
                                      <p:cBhvr>
                                        <p:cTn id="30" dur="1000" fill="hold"/>
                                        <p:tgtEl>
                                          <p:spTgt spid="260"/>
                                        </p:tgtEl>
                                        <p:attrNameLst>
                                          <p:attrName>ppt_x</p:attrName>
                                        </p:attrNameLst>
                                      </p:cBhvr>
                                      <p:tavLst>
                                        <p:tav tm="0">
                                          <p:val>
                                            <p:strVal val="0-#ppt_w/2"/>
                                          </p:val>
                                        </p:tav>
                                        <p:tav tm="100000">
                                          <p:val>
                                            <p:strVal val="#ppt_x"/>
                                          </p:val>
                                        </p:tav>
                                      </p:tavLst>
                                    </p:anim>
                                    <p:anim calcmode="lin" valueType="num">
                                      <p:cBhvr>
                                        <p:cTn id="31" dur="1000" fill="hold"/>
                                        <p:tgtEl>
                                          <p:spTgt spid="2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0" grpId="6"/>
      <p:bldP build="whole" bldLvl="1" animBg="1" rev="0" advAuto="0" spid="254" grpId="2"/>
      <p:bldP build="whole" bldLvl="1" animBg="1" rev="0" advAuto="0" spid="257" grpId="4"/>
      <p:bldP build="whole" bldLvl="1" animBg="1" rev="0" advAuto="0" spid="259" grpId="5"/>
      <p:bldP build="whole" bldLvl="1" animBg="1" rev="0" advAuto="0" spid="253" grpId="1"/>
      <p:bldP build="whole" bldLvl="1" animBg="1" rev="0" advAuto="0" spid="255"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Găsirea modelului"/>
          <p:cNvSpPr txBox="1"/>
          <p:nvPr/>
        </p:nvSpPr>
        <p:spPr>
          <a:xfrm>
            <a:off x="6921258" y="630325"/>
            <a:ext cx="11165360"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Găsirea modelului</a:t>
            </a:r>
          </a:p>
        </p:txBody>
      </p:sp>
      <p:pic>
        <p:nvPicPr>
          <p:cNvPr id="263" name="Captură de ecran din 2024-10-06 la 19.38.49.png" descr="Captură de ecran din 2024-10-06 la 19.38.49.png"/>
          <p:cNvPicPr>
            <a:picLocks noChangeAspect="1"/>
          </p:cNvPicPr>
          <p:nvPr/>
        </p:nvPicPr>
        <p:blipFill>
          <a:blip r:embed="rId2">
            <a:extLst/>
          </a:blip>
          <a:stretch>
            <a:fillRect/>
          </a:stretch>
        </p:blipFill>
        <p:spPr>
          <a:xfrm>
            <a:off x="6101595" y="3131889"/>
            <a:ext cx="12180810" cy="865425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5" name="Captură de ecran din 2024-10-06 la 19.50.24.png" descr="Captură de ecran din 2024-10-06 la 19.50.24.png"/>
          <p:cNvPicPr>
            <a:picLocks noChangeAspect="1"/>
          </p:cNvPicPr>
          <p:nvPr/>
        </p:nvPicPr>
        <p:blipFill>
          <a:blip r:embed="rId2">
            <a:extLst/>
          </a:blip>
          <a:stretch>
            <a:fillRect/>
          </a:stretch>
        </p:blipFill>
        <p:spPr>
          <a:xfrm>
            <a:off x="6557153" y="3341186"/>
            <a:ext cx="10826310" cy="8148500"/>
          </a:xfrm>
          <a:prstGeom prst="rect">
            <a:avLst/>
          </a:prstGeom>
          <a:ln w="12700">
            <a:miter lim="400000"/>
          </a:ln>
        </p:spPr>
      </p:pic>
      <p:sp>
        <p:nvSpPr>
          <p:cNvPr id="266" name="Găsirea modelului"/>
          <p:cNvSpPr txBox="1"/>
          <p:nvPr/>
        </p:nvSpPr>
        <p:spPr>
          <a:xfrm>
            <a:off x="6921258" y="630325"/>
            <a:ext cx="11165360"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Găsirea modelului</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Regresia liniară"/>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Regresia liniară</a:t>
            </a:r>
          </a:p>
        </p:txBody>
      </p:sp>
      <p:sp>
        <p:nvSpPr>
          <p:cNvPr id="269" name="Scopul regresiei liniare este de a găsi o linie dreaptă (sau un plan în cazul mai multor variabile) care aproximează cel mai bine datele noastre.…"/>
          <p:cNvSpPr txBox="1"/>
          <p:nvPr>
            <p:ph type="body" idx="1"/>
          </p:nvPr>
        </p:nvSpPr>
        <p:spPr>
          <a:prstGeom prst="rect">
            <a:avLst/>
          </a:prstGeom>
        </p:spPr>
        <p:txBody>
          <a:bodyPr/>
          <a:lstStyle/>
          <a:p>
            <a:pPr/>
            <a:r>
              <a:t>Scopul regresiei liniare este de a găsi o linie dreaptă (sau un plan în cazul mai multor variabile) care aproximează cel mai bine datele noastre.</a:t>
            </a:r>
          </a:p>
          <a:p>
            <a:pPr/>
            <a:r>
              <a:t>Regresia liniară funcționează bine atunci când există o relație liniară între variabila dependentă (cea pe care vrei să o prezici) și variabila independentă (cea pe care o folosești pentru predicție). Adică, atunci când o creștere a uneia duce la o creștere/scădere constantă a celeilalte.</a:t>
            </a:r>
          </a:p>
        </p:txBody>
      </p:sp>
      <p:pic>
        <p:nvPicPr>
          <p:cNvPr id="270" name="Captură de ecran din 2024-10-06 la 20.13.05.png" descr="Captură de ecran din 2024-10-06 la 20.13.05.png"/>
          <p:cNvPicPr>
            <a:picLocks noChangeAspect="1"/>
          </p:cNvPicPr>
          <p:nvPr/>
        </p:nvPicPr>
        <p:blipFill>
          <a:blip r:embed="rId2">
            <a:extLst/>
          </a:blip>
          <a:stretch>
            <a:fillRect/>
          </a:stretch>
        </p:blipFill>
        <p:spPr>
          <a:xfrm>
            <a:off x="13282052" y="8484701"/>
            <a:ext cx="9780964" cy="611213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69"/>
                                        </p:tgtEl>
                                        <p:attrNameLst>
                                          <p:attrName>style.visibility</p:attrName>
                                        </p:attrNameLst>
                                      </p:cBhvr>
                                      <p:to>
                                        <p:strVal val="visible"/>
                                      </p:to>
                                    </p:set>
                                    <p:anim calcmode="lin" valueType="num">
                                      <p:cBhvr>
                                        <p:cTn id="7" dur="1000" fill="hold"/>
                                        <p:tgtEl>
                                          <p:spTgt spid="269"/>
                                        </p:tgtEl>
                                        <p:attrNameLst>
                                          <p:attrName>ppt_x</p:attrName>
                                        </p:attrNameLst>
                                      </p:cBhvr>
                                      <p:tavLst>
                                        <p:tav tm="0">
                                          <p:val>
                                            <p:strVal val="0-#ppt_w/2"/>
                                          </p:val>
                                        </p:tav>
                                        <p:tav tm="100000">
                                          <p:val>
                                            <p:strVal val="#ppt_x"/>
                                          </p:val>
                                        </p:tav>
                                      </p:tavLst>
                                    </p:anim>
                                    <p:anim calcmode="lin" valueType="num">
                                      <p:cBhvr>
                                        <p:cTn id="8" dur="1000" fill="hold"/>
                                        <p:tgtEl>
                                          <p:spTgt spid="26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270"/>
                                        </p:tgtEl>
                                        <p:attrNameLst>
                                          <p:attrName>style.visibility</p:attrName>
                                        </p:attrNameLst>
                                      </p:cBhvr>
                                      <p:to>
                                        <p:strVal val="visible"/>
                                      </p:to>
                                    </p:set>
                                    <p:anim calcmode="lin" valueType="num">
                                      <p:cBhvr>
                                        <p:cTn id="12" dur="1000" fill="hold"/>
                                        <p:tgtEl>
                                          <p:spTgt spid="270"/>
                                        </p:tgtEl>
                                        <p:attrNameLst>
                                          <p:attrName>ppt_x</p:attrName>
                                        </p:attrNameLst>
                                      </p:cBhvr>
                                      <p:tavLst>
                                        <p:tav tm="0">
                                          <p:val>
                                            <p:strVal val="0-#ppt_w/2"/>
                                          </p:val>
                                        </p:tav>
                                        <p:tav tm="100000">
                                          <p:val>
                                            <p:strVal val="#ppt_x"/>
                                          </p:val>
                                        </p:tav>
                                      </p:tavLst>
                                    </p:anim>
                                    <p:anim calcmode="lin" valueType="num">
                                      <p:cBhvr>
                                        <p:cTn id="13" dur="1000" fill="hold"/>
                                        <p:tgtEl>
                                          <p:spTgt spid="2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0" grpId="2"/>
      <p:bldP build="whole" bldLvl="1" animBg="1" rev="0" advAuto="0" spid="269"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Regresia liniară"/>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Regresia liniară</a:t>
            </a:r>
          </a:p>
        </p:txBody>
      </p:sp>
      <p:sp>
        <p:nvSpPr>
          <p:cNvPr id="273" name="Ecuația liniei obținute de regresia liniară are forma:…"/>
          <p:cNvSpPr txBox="1"/>
          <p:nvPr>
            <p:ph type="body" idx="1"/>
          </p:nvPr>
        </p:nvSpPr>
        <p:spPr>
          <a:prstGeom prst="rect">
            <a:avLst/>
          </a:prstGeom>
        </p:spPr>
        <p:txBody>
          <a:bodyPr/>
          <a:lstStyle/>
          <a:p>
            <a:pPr/>
            <a:r>
              <a:t>Ecuația liniei obținute de regresia liniară are forma:</a:t>
            </a:r>
          </a:p>
          <a:p>
            <a:pPr lvl="1"/>
            <a:r>
              <a:t>y este valoarea pe care o prezicem (prețul unui apartament),</a:t>
            </a:r>
          </a:p>
          <a:p>
            <a:pPr lvl="1"/>
            <a:r>
              <a:t>X este variabila pe care o folosim pentru a prezice (suprafața în metri pătrați),</a:t>
            </a:r>
          </a:p>
          <a:p>
            <a:pPr lvl="1"/>
            <a:r>
              <a:t>m este panta (cât de abruptă e linia, adică cum se schimbă y când X crește),</a:t>
            </a:r>
          </a:p>
          <a:p>
            <a:pPr lvl="1"/>
            <a:r>
              <a:t>b este interceptul, adică punctul unde linia intersectează axa Y.</a:t>
            </a:r>
          </a:p>
        </p:txBody>
      </p:sp>
      <p:sp>
        <p:nvSpPr>
          <p:cNvPr id="274" name="Ecuație"/>
          <p:cNvSpPr txBox="1"/>
          <p:nvPr/>
        </p:nvSpPr>
        <p:spPr>
          <a:xfrm>
            <a:off x="15278766" y="4081318"/>
            <a:ext cx="5733459" cy="94838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8400" i="1">
                      <a:solidFill>
                        <a:srgbClr val="000000"/>
                      </a:solidFill>
                      <a:latin typeface="Cambria Math" panose="02040503050406030204" pitchFamily="18" charset="0"/>
                    </a:rPr>
                    <m:t>y</m:t>
                  </m:r>
                  <m:r>
                    <a:rPr xmlns:a="http://schemas.openxmlformats.org/drawingml/2006/main" sz="8400" i="1">
                      <a:solidFill>
                        <a:srgbClr val="000000"/>
                      </a:solidFill>
                      <a:latin typeface="Cambria Math" panose="02040503050406030204" pitchFamily="18" charset="0"/>
                    </a:rPr>
                    <m:t>=</m:t>
                  </m:r>
                  <m:r>
                    <a:rPr xmlns:a="http://schemas.openxmlformats.org/drawingml/2006/main" sz="8400" i="1">
                      <a:solidFill>
                        <a:srgbClr val="000000"/>
                      </a:solidFill>
                      <a:latin typeface="Cambria Math" panose="02040503050406030204" pitchFamily="18" charset="0"/>
                    </a:rPr>
                    <m:t>m</m:t>
                  </m:r>
                  <m:r>
                    <a:rPr xmlns:a="http://schemas.openxmlformats.org/drawingml/2006/main" sz="8400" i="1">
                      <a:solidFill>
                        <a:srgbClr val="000000"/>
                      </a:solidFill>
                      <a:latin typeface="Cambria Math" panose="02040503050406030204" pitchFamily="18" charset="0"/>
                    </a:rPr>
                    <m:t>⋅</m:t>
                  </m:r>
                  <m:r>
                    <a:rPr xmlns:a="http://schemas.openxmlformats.org/drawingml/2006/main" sz="8400" i="1">
                      <a:solidFill>
                        <a:srgbClr val="000000"/>
                      </a:solidFill>
                      <a:latin typeface="Cambria Math" panose="02040503050406030204" pitchFamily="18" charset="0"/>
                    </a:rPr>
                    <m:t>X</m:t>
                  </m:r>
                  <m:r>
                    <a:rPr xmlns:a="http://schemas.openxmlformats.org/drawingml/2006/main" sz="8400" i="1">
                      <a:solidFill>
                        <a:srgbClr val="000000"/>
                      </a:solidFill>
                      <a:latin typeface="Cambria Math" panose="02040503050406030204" pitchFamily="18" charset="0"/>
                    </a:rPr>
                    <m:t>+</m:t>
                  </m:r>
                  <m:r>
                    <a:rPr xmlns:a="http://schemas.openxmlformats.org/drawingml/2006/main" sz="8400" i="1">
                      <a:solidFill>
                        <a:srgbClr val="000000"/>
                      </a:solidFill>
                      <a:latin typeface="Cambria Math" panose="02040503050406030204" pitchFamily="18" charset="0"/>
                    </a:rPr>
                    <m:t>b</m:t>
                  </m:r>
                </m:oMath>
              </m:oMathPara>
            </a14:m>
            <a:endParaRPr sz="84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73"/>
                                        </p:tgtEl>
                                        <p:attrNameLst>
                                          <p:attrName>style.visibility</p:attrName>
                                        </p:attrNameLst>
                                      </p:cBhvr>
                                      <p:to>
                                        <p:strVal val="visible"/>
                                      </p:to>
                                    </p:set>
                                    <p:anim calcmode="lin" valueType="num">
                                      <p:cBhvr>
                                        <p:cTn id="7" dur="1000" fill="hold"/>
                                        <p:tgtEl>
                                          <p:spTgt spid="273"/>
                                        </p:tgtEl>
                                        <p:attrNameLst>
                                          <p:attrName>ppt_x</p:attrName>
                                        </p:attrNameLst>
                                      </p:cBhvr>
                                      <p:tavLst>
                                        <p:tav tm="0">
                                          <p:val>
                                            <p:strVal val="0-#ppt_w/2"/>
                                          </p:val>
                                        </p:tav>
                                        <p:tav tm="100000">
                                          <p:val>
                                            <p:strVal val="#ppt_x"/>
                                          </p:val>
                                        </p:tav>
                                      </p:tavLst>
                                    </p:anim>
                                    <p:anim calcmode="lin" valueType="num">
                                      <p:cBhvr>
                                        <p:cTn id="8" dur="1000" fill="hold"/>
                                        <p:tgtEl>
                                          <p:spTgt spid="27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274"/>
                                        </p:tgtEl>
                                        <p:attrNameLst>
                                          <p:attrName>style.visibility</p:attrName>
                                        </p:attrNameLst>
                                      </p:cBhvr>
                                      <p:to>
                                        <p:strVal val="visible"/>
                                      </p:to>
                                    </p:set>
                                    <p:anim calcmode="lin" valueType="num">
                                      <p:cBhvr>
                                        <p:cTn id="12" dur="1000" fill="hold"/>
                                        <p:tgtEl>
                                          <p:spTgt spid="274"/>
                                        </p:tgtEl>
                                        <p:attrNameLst>
                                          <p:attrName>ppt_x</p:attrName>
                                        </p:attrNameLst>
                                      </p:cBhvr>
                                      <p:tavLst>
                                        <p:tav tm="0">
                                          <p:val>
                                            <p:strVal val="0-#ppt_w/2"/>
                                          </p:val>
                                        </p:tav>
                                        <p:tav tm="100000">
                                          <p:val>
                                            <p:strVal val="#ppt_x"/>
                                          </p:val>
                                        </p:tav>
                                      </p:tavLst>
                                    </p:anim>
                                    <p:anim calcmode="lin" valueType="num">
                                      <p:cBhvr>
                                        <p:cTn id="13" dur="1000" fill="hold"/>
                                        <p:tgtEl>
                                          <p:spTgt spid="2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3" grpId="1"/>
      <p:bldP build="whole" bldLvl="1" animBg="1" rev="0" advAuto="0" spid="274" grpId="2"/>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Regresia liniară"/>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Regresia liniară</a:t>
            </a:r>
          </a:p>
        </p:txBody>
      </p:sp>
      <p:sp>
        <p:nvSpPr>
          <p:cNvPr id="277" name="Ecuație"/>
          <p:cNvSpPr txBox="1"/>
          <p:nvPr/>
        </p:nvSpPr>
        <p:spPr>
          <a:xfrm>
            <a:off x="2789160" y="6010673"/>
            <a:ext cx="5733459" cy="94838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8400" i="1">
                      <a:solidFill>
                        <a:srgbClr val="000000"/>
                      </a:solidFill>
                      <a:latin typeface="Cambria Math" panose="02040503050406030204" pitchFamily="18" charset="0"/>
                    </a:rPr>
                    <m:t>y</m:t>
                  </m:r>
                  <m:r>
                    <a:rPr xmlns:a="http://schemas.openxmlformats.org/drawingml/2006/main" sz="8400" i="1">
                      <a:solidFill>
                        <a:srgbClr val="000000"/>
                      </a:solidFill>
                      <a:latin typeface="Cambria Math" panose="02040503050406030204" pitchFamily="18" charset="0"/>
                    </a:rPr>
                    <m:t>=</m:t>
                  </m:r>
                  <m:r>
                    <a:rPr xmlns:a="http://schemas.openxmlformats.org/drawingml/2006/main" sz="8400" i="1">
                      <a:solidFill>
                        <a:srgbClr val="000000"/>
                      </a:solidFill>
                      <a:latin typeface="Cambria Math" panose="02040503050406030204" pitchFamily="18" charset="0"/>
                    </a:rPr>
                    <m:t>m</m:t>
                  </m:r>
                  <m:r>
                    <a:rPr xmlns:a="http://schemas.openxmlformats.org/drawingml/2006/main" sz="8400" i="1">
                      <a:solidFill>
                        <a:srgbClr val="000000"/>
                      </a:solidFill>
                      <a:latin typeface="Cambria Math" panose="02040503050406030204" pitchFamily="18" charset="0"/>
                    </a:rPr>
                    <m:t>⋅</m:t>
                  </m:r>
                  <m:r>
                    <a:rPr xmlns:a="http://schemas.openxmlformats.org/drawingml/2006/main" sz="8400" i="1">
                      <a:solidFill>
                        <a:srgbClr val="000000"/>
                      </a:solidFill>
                      <a:latin typeface="Cambria Math" panose="02040503050406030204" pitchFamily="18" charset="0"/>
                    </a:rPr>
                    <m:t>X</m:t>
                  </m:r>
                  <m:r>
                    <a:rPr xmlns:a="http://schemas.openxmlformats.org/drawingml/2006/main" sz="8400" i="1">
                      <a:solidFill>
                        <a:srgbClr val="000000"/>
                      </a:solidFill>
                      <a:latin typeface="Cambria Math" panose="02040503050406030204" pitchFamily="18" charset="0"/>
                    </a:rPr>
                    <m:t>+</m:t>
                  </m:r>
                  <m:r>
                    <a:rPr xmlns:a="http://schemas.openxmlformats.org/drawingml/2006/main" sz="8400" i="1">
                      <a:solidFill>
                        <a:srgbClr val="000000"/>
                      </a:solidFill>
                      <a:latin typeface="Cambria Math" panose="02040503050406030204" pitchFamily="18" charset="0"/>
                    </a:rPr>
                    <m:t>b</m:t>
                  </m:r>
                </m:oMath>
              </m:oMathPara>
            </a14:m>
            <a:endParaRPr sz="8400"/>
          </a:p>
        </p:txBody>
      </p:sp>
      <p:sp>
        <p:nvSpPr>
          <p:cNvPr id="278" name="Ecuație"/>
          <p:cNvSpPr txBox="1"/>
          <p:nvPr/>
        </p:nvSpPr>
        <p:spPr>
          <a:xfrm>
            <a:off x="11034702" y="3091426"/>
            <a:ext cx="3541009" cy="678688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6400" i="1">
                      <a:solidFill>
                        <a:srgbClr val="000000"/>
                      </a:solidFill>
                      <a:latin typeface="Cambria Math" panose="02040503050406030204" pitchFamily="18" charset="0"/>
                    </a:rPr>
                    <m:t>X</m:t>
                  </m:r>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eqArr>
                        <m:eqArrPr>
                          <m:ctrlPr>
                            <a:rPr xmlns:a="http://schemas.openxmlformats.org/drawingml/2006/main" sz="6400" i="1">
                              <a:solidFill>
                                <a:srgbClr val="000000"/>
                              </a:solidFill>
                              <a:latin typeface="Cambria Math" panose="02040503050406030204" pitchFamily="18" charset="0"/>
                            </a:rPr>
                          </m:ctrlPr>
                        </m:eqArrPr>
                        <m:e>
                          <m:r>
                            <a:rPr xmlns:a="http://schemas.openxmlformats.org/drawingml/2006/main" sz="6400" i="1">
                              <a:solidFill>
                                <a:srgbClr val="000000"/>
                              </a:solidFill>
                              <a:latin typeface="Cambria Math" panose="02040503050406030204" pitchFamily="18" charset="0"/>
                            </a:rPr>
                            <m:t>50</m:t>
                          </m:r>
                        </m:e>
                        <m:e>
                          <m:r>
                            <a:rPr xmlns:a="http://schemas.openxmlformats.org/drawingml/2006/main" sz="6400" i="1">
                              <a:solidFill>
                                <a:srgbClr val="000000"/>
                              </a:solidFill>
                              <a:latin typeface="Cambria Math" panose="02040503050406030204" pitchFamily="18" charset="0"/>
                            </a:rPr>
                            <m:t>70</m:t>
                          </m:r>
                        </m:e>
                        <m:e>
                          <m:r>
                            <a:rPr xmlns:a="http://schemas.openxmlformats.org/drawingml/2006/main" sz="6400" i="1">
                              <a:solidFill>
                                <a:srgbClr val="000000"/>
                              </a:solidFill>
                              <a:latin typeface="Cambria Math" panose="02040503050406030204" pitchFamily="18" charset="0"/>
                            </a:rPr>
                            <m:t>80</m:t>
                          </m:r>
                        </m:e>
                        <m:e>
                          <m:r>
                            <a:rPr xmlns:a="http://schemas.openxmlformats.org/drawingml/2006/main" sz="6400" i="1">
                              <a:solidFill>
                                <a:srgbClr val="000000"/>
                              </a:solidFill>
                              <a:latin typeface="Cambria Math" panose="02040503050406030204" pitchFamily="18" charset="0"/>
                            </a:rPr>
                            <m:t>90</m:t>
                          </m:r>
                        </m:e>
                        <m:e>
                          <m:r>
                            <a:rPr xmlns:a="http://schemas.openxmlformats.org/drawingml/2006/main" sz="6400" i="1">
                              <a:solidFill>
                                <a:srgbClr val="000000"/>
                              </a:solidFill>
                              <a:latin typeface="Cambria Math" panose="02040503050406030204" pitchFamily="18" charset="0"/>
                            </a:rPr>
                            <m:t>100</m:t>
                          </m:r>
                        </m:e>
                        <m:e>
                          <m:r>
                            <a:rPr xmlns:a="http://schemas.openxmlformats.org/drawingml/2006/main" sz="6400" i="1">
                              <a:solidFill>
                                <a:srgbClr val="000000"/>
                              </a:solidFill>
                              <a:latin typeface="Cambria Math" panose="02040503050406030204" pitchFamily="18" charset="0"/>
                            </a:rPr>
                            <m:t>110</m:t>
                          </m:r>
                        </m:e>
                        <m:e>
                          <m:r>
                            <a:rPr xmlns:a="http://schemas.openxmlformats.org/drawingml/2006/main" sz="6400" i="1">
                              <a:solidFill>
                                <a:srgbClr val="000000"/>
                              </a:solidFill>
                              <a:latin typeface="Cambria Math" panose="02040503050406030204" pitchFamily="18" charset="0"/>
                            </a:rPr>
                            <m:t>120</m:t>
                          </m:r>
                        </m:e>
                      </m:eqArr>
                    </m:e>
                  </m:d>
                </m:oMath>
              </m:oMathPara>
            </a14:m>
            <a:endParaRPr sz="6400"/>
          </a:p>
        </p:txBody>
      </p:sp>
      <p:sp>
        <p:nvSpPr>
          <p:cNvPr id="279" name="Ecuație"/>
          <p:cNvSpPr txBox="1"/>
          <p:nvPr/>
        </p:nvSpPr>
        <p:spPr>
          <a:xfrm>
            <a:off x="17087795" y="2462083"/>
            <a:ext cx="4227013" cy="7783374"/>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sty m:val="b"/>
                    </m:rPr>
                    <a:rPr xmlns:a="http://schemas.openxmlformats.org/drawingml/2006/main" sz="6400" i="1">
                      <a:solidFill>
                        <a:srgbClr val="000000"/>
                      </a:solidFill>
                      <a:latin typeface="Cambria Math" panose="02040503050406030204" pitchFamily="18" charset="0"/>
                    </a:rPr>
                    <m:t>y</m:t>
                  </m:r>
                  <m:r>
                    <a:rPr xmlns:a="http://schemas.openxmlformats.org/drawingml/2006/main" sz="6400" i="1">
                      <a:solidFill>
                        <a:srgbClr val="000000"/>
                      </a:solidFill>
                      <a:latin typeface="Cambria Math" panose="02040503050406030204" pitchFamily="18" charset="0"/>
                    </a:rPr>
                    <m:t>=</m:t>
                  </m:r>
                  <m:d>
                    <m:dPr>
                      <m:ctrlPr>
                        <a:rPr xmlns:a="http://schemas.openxmlformats.org/drawingml/2006/main" sz="6400" i="1">
                          <a:solidFill>
                            <a:srgbClr val="000000"/>
                          </a:solidFill>
                          <a:latin typeface="Cambria Math" panose="02040503050406030204" pitchFamily="18" charset="0"/>
                        </a:rPr>
                      </m:ctrlPr>
                    </m:dPr>
                    <m:e>
                      <m:eqArr>
                        <m:eqArrPr>
                          <m:ctrlPr>
                            <a:rPr xmlns:a="http://schemas.openxmlformats.org/drawingml/2006/main" sz="6400" i="1">
                              <a:solidFill>
                                <a:srgbClr val="000000"/>
                              </a:solidFill>
                              <a:latin typeface="Cambria Math" panose="02040503050406030204" pitchFamily="18" charset="0"/>
                            </a:rPr>
                          </m:ctrlPr>
                        </m:eqArrPr>
                        <m:e>
                          <m:r>
                            <a:rPr xmlns:a="http://schemas.openxmlformats.org/drawingml/2006/main" sz="6400" i="1">
                              <a:solidFill>
                                <a:srgbClr val="000000"/>
                              </a:solidFill>
                              <a:latin typeface="Cambria Math" panose="02040503050406030204" pitchFamily="18" charset="0"/>
                            </a:rPr>
                            <m:t>35000</m:t>
                          </m:r>
                        </m:e>
                        <m:e>
                          <m:r>
                            <a:rPr xmlns:a="http://schemas.openxmlformats.org/drawingml/2006/main" sz="6400" i="1">
                              <a:solidFill>
                                <a:srgbClr val="000000"/>
                              </a:solidFill>
                              <a:latin typeface="Cambria Math" panose="02040503050406030204" pitchFamily="18" charset="0"/>
                            </a:rPr>
                            <m:t>40000</m:t>
                          </m:r>
                        </m:e>
                        <m:e>
                          <m:r>
                            <a:rPr xmlns:a="http://schemas.openxmlformats.org/drawingml/2006/main" sz="6400" i="1">
                              <a:solidFill>
                                <a:srgbClr val="000000"/>
                              </a:solidFill>
                              <a:latin typeface="Cambria Math" panose="02040503050406030204" pitchFamily="18" charset="0"/>
                            </a:rPr>
                            <m:t>48000</m:t>
                          </m:r>
                        </m:e>
                        <m:e>
                          <m:r>
                            <a:rPr xmlns:a="http://schemas.openxmlformats.org/drawingml/2006/main" sz="6400" i="1">
                              <a:solidFill>
                                <a:srgbClr val="000000"/>
                              </a:solidFill>
                              <a:latin typeface="Cambria Math" panose="02040503050406030204" pitchFamily="18" charset="0"/>
                            </a:rPr>
                            <m:t>55000</m:t>
                          </m:r>
                        </m:e>
                        <m:e>
                          <m:r>
                            <a:rPr xmlns:a="http://schemas.openxmlformats.org/drawingml/2006/main" sz="6400" i="1">
                              <a:solidFill>
                                <a:srgbClr val="000000"/>
                              </a:solidFill>
                              <a:latin typeface="Cambria Math" panose="02040503050406030204" pitchFamily="18" charset="0"/>
                            </a:rPr>
                            <m:t>62000</m:t>
                          </m:r>
                        </m:e>
                        <m:e>
                          <m:r>
                            <a:rPr xmlns:a="http://schemas.openxmlformats.org/drawingml/2006/main" sz="6400" i="1">
                              <a:solidFill>
                                <a:srgbClr val="000000"/>
                              </a:solidFill>
                              <a:latin typeface="Cambria Math" panose="02040503050406030204" pitchFamily="18" charset="0"/>
                            </a:rPr>
                            <m:t>70000</m:t>
                          </m:r>
                        </m:e>
                        <m:e>
                          <m:r>
                            <a:rPr xmlns:a="http://schemas.openxmlformats.org/drawingml/2006/main" sz="6400" i="1">
                              <a:solidFill>
                                <a:srgbClr val="000000"/>
                              </a:solidFill>
                              <a:latin typeface="Cambria Math" panose="02040503050406030204" pitchFamily="18" charset="0"/>
                            </a:rPr>
                            <m:t>75000</m:t>
                          </m:r>
                        </m:e>
                        <m:e>
                          <m:r>
                            <a:rPr xmlns:a="http://schemas.openxmlformats.org/drawingml/2006/main" sz="6400" i="1">
                              <a:solidFill>
                                <a:srgbClr val="000000"/>
                              </a:solidFill>
                              <a:latin typeface="Cambria Math" panose="02040503050406030204" pitchFamily="18" charset="0"/>
                            </a:rPr>
                            <m:t>85000</m:t>
                          </m:r>
                        </m:e>
                      </m:eqArr>
                    </m:e>
                  </m:d>
                </m:oMath>
              </m:oMathPara>
            </a14:m>
            <a:endParaRPr sz="6400"/>
          </a:p>
        </p:txBody>
      </p:sp>
      <p:pic>
        <p:nvPicPr>
          <p:cNvPr id="280" name="Cerc Cerc" descr="Cerc Cerc"/>
          <p:cNvPicPr>
            <a:picLocks noChangeAspect="0"/>
          </p:cNvPicPr>
          <p:nvPr/>
        </p:nvPicPr>
        <p:blipFill>
          <a:blip r:embed="rId2">
            <a:extLst/>
          </a:blip>
          <a:stretch>
            <a:fillRect/>
          </a:stretch>
        </p:blipFill>
        <p:spPr>
          <a:xfrm>
            <a:off x="4277149" y="5799066"/>
            <a:ext cx="1371601" cy="1371601"/>
          </a:xfrm>
          <a:prstGeom prst="rect">
            <a:avLst/>
          </a:prstGeom>
        </p:spPr>
      </p:pic>
      <p:pic>
        <p:nvPicPr>
          <p:cNvPr id="282" name="Cerc Cerc" descr="Cerc Cerc"/>
          <p:cNvPicPr>
            <a:picLocks noChangeAspect="0"/>
          </p:cNvPicPr>
          <p:nvPr/>
        </p:nvPicPr>
        <p:blipFill>
          <a:blip r:embed="rId2">
            <a:extLst/>
          </a:blip>
          <a:stretch>
            <a:fillRect/>
          </a:stretch>
        </p:blipFill>
        <p:spPr>
          <a:xfrm>
            <a:off x="7655925" y="5799066"/>
            <a:ext cx="1371601" cy="1371601"/>
          </a:xfrm>
          <a:prstGeom prst="rect">
            <a:avLst/>
          </a:prstGeom>
        </p:spPr>
      </p:pic>
      <p:sp>
        <p:nvSpPr>
          <p:cNvPr id="284" name="Ecuație"/>
          <p:cNvSpPr txBox="1"/>
          <p:nvPr/>
        </p:nvSpPr>
        <p:spPr>
          <a:xfrm>
            <a:off x="4712437" y="7432787"/>
            <a:ext cx="569345" cy="43878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5000" i="1">
                          <a:solidFill>
                            <a:srgbClr val="000000"/>
                          </a:solidFill>
                          <a:latin typeface="Cambria Math" panose="02040503050406030204" pitchFamily="18" charset="0"/>
                        </a:rPr>
                        <m:t>w</m:t>
                      </m:r>
                    </m:e>
                    <m:sub>
                      <m:r>
                        <a:rPr xmlns:a="http://schemas.openxmlformats.org/drawingml/2006/main" sz="5000" i="1">
                          <a:solidFill>
                            <a:srgbClr val="000000"/>
                          </a:solidFill>
                          <a:latin typeface="Cambria Math" panose="02040503050406030204" pitchFamily="18" charset="0"/>
                        </a:rPr>
                        <m:t>1</m:t>
                      </m:r>
                    </m:sub>
                  </m:sSub>
                </m:oMath>
              </m:oMathPara>
            </a14:m>
            <a:endParaRPr sz="5000"/>
          </a:p>
        </p:txBody>
      </p:sp>
      <p:sp>
        <p:nvSpPr>
          <p:cNvPr id="285" name="Ecuație"/>
          <p:cNvSpPr txBox="1"/>
          <p:nvPr/>
        </p:nvSpPr>
        <p:spPr>
          <a:xfrm>
            <a:off x="8057053" y="7432787"/>
            <a:ext cx="606315" cy="4450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5000" i="1">
                          <a:solidFill>
                            <a:srgbClr val="000000"/>
                          </a:solidFill>
                          <a:latin typeface="Cambria Math" panose="02040503050406030204" pitchFamily="18" charset="0"/>
                        </a:rPr>
                        <m:t>w</m:t>
                      </m:r>
                    </m:e>
                    <m:sub>
                      <m:r>
                        <a:rPr xmlns:a="http://schemas.openxmlformats.org/drawingml/2006/main" sz="5000" i="1">
                          <a:solidFill>
                            <a:srgbClr val="000000"/>
                          </a:solidFill>
                          <a:latin typeface="Cambria Math" panose="02040503050406030204" pitchFamily="18" charset="0"/>
                        </a:rPr>
                        <m:t>0</m:t>
                      </m:r>
                    </m:sub>
                  </m:sSub>
                </m:oMath>
              </m:oMathPara>
            </a14:m>
            <a:endParaRPr sz="5000"/>
          </a:p>
        </p:txBody>
      </p:sp>
      <p:sp>
        <p:nvSpPr>
          <p:cNvPr id="286" name="panta"/>
          <p:cNvSpPr txBox="1"/>
          <p:nvPr/>
        </p:nvSpPr>
        <p:spPr>
          <a:xfrm>
            <a:off x="4164830" y="7784042"/>
            <a:ext cx="159623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panta</a:t>
            </a:r>
          </a:p>
        </p:txBody>
      </p:sp>
      <p:sp>
        <p:nvSpPr>
          <p:cNvPr id="287" name="intercept"/>
          <p:cNvSpPr txBox="1"/>
          <p:nvPr/>
        </p:nvSpPr>
        <p:spPr>
          <a:xfrm>
            <a:off x="7150535" y="7784042"/>
            <a:ext cx="241935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intercept</a:t>
            </a:r>
          </a:p>
        </p:txBody>
      </p:sp>
      <p:pic>
        <p:nvPicPr>
          <p:cNvPr id="288" name="film lipit.png" descr="film lipit.png"/>
          <p:cNvPicPr>
            <a:picLocks noChangeAspect="1"/>
          </p:cNvPicPr>
          <p:nvPr/>
        </p:nvPicPr>
        <p:blipFill>
          <a:blip r:embed="rId3">
            <a:extLst/>
          </a:blip>
          <a:stretch>
            <a:fillRect/>
          </a:stretch>
        </p:blipFill>
        <p:spPr>
          <a:xfrm>
            <a:off x="14287072" y="10389759"/>
            <a:ext cx="9828458" cy="2849208"/>
          </a:xfrm>
          <a:prstGeom prst="rect">
            <a:avLst/>
          </a:prstGeom>
          <a:ln w="12700">
            <a:miter lim="400000"/>
          </a:ln>
        </p:spPr>
      </p:pic>
      <p:sp>
        <p:nvSpPr>
          <p:cNvPr id="289" name="Forma generală:"/>
          <p:cNvSpPr txBox="1"/>
          <p:nvPr/>
        </p:nvSpPr>
        <p:spPr>
          <a:xfrm>
            <a:off x="10075951" y="10923096"/>
            <a:ext cx="423209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Forma generală: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78"/>
                                        </p:tgtEl>
                                        <p:attrNameLst>
                                          <p:attrName>style.visibility</p:attrName>
                                        </p:attrNameLst>
                                      </p:cBhvr>
                                      <p:to>
                                        <p:strVal val="visible"/>
                                      </p:to>
                                    </p:set>
                                    <p:anim calcmode="lin" valueType="num">
                                      <p:cBhvr>
                                        <p:cTn id="7" dur="1000" fill="hold"/>
                                        <p:tgtEl>
                                          <p:spTgt spid="278"/>
                                        </p:tgtEl>
                                        <p:attrNameLst>
                                          <p:attrName>ppt_x</p:attrName>
                                        </p:attrNameLst>
                                      </p:cBhvr>
                                      <p:tavLst>
                                        <p:tav tm="0">
                                          <p:val>
                                            <p:strVal val="0-#ppt_w/2"/>
                                          </p:val>
                                        </p:tav>
                                        <p:tav tm="100000">
                                          <p:val>
                                            <p:strVal val="#ppt_x"/>
                                          </p:val>
                                        </p:tav>
                                      </p:tavLst>
                                    </p:anim>
                                    <p:anim calcmode="lin" valueType="num">
                                      <p:cBhvr>
                                        <p:cTn id="8" dur="1000" fill="hold"/>
                                        <p:tgtEl>
                                          <p:spTgt spid="2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79"/>
                                        </p:tgtEl>
                                        <p:attrNameLst>
                                          <p:attrName>style.visibility</p:attrName>
                                        </p:attrNameLst>
                                      </p:cBhvr>
                                      <p:to>
                                        <p:strVal val="visible"/>
                                      </p:to>
                                    </p:set>
                                    <p:anim calcmode="lin" valueType="num">
                                      <p:cBhvr>
                                        <p:cTn id="13" dur="1000" fill="hold"/>
                                        <p:tgtEl>
                                          <p:spTgt spid="279"/>
                                        </p:tgtEl>
                                        <p:attrNameLst>
                                          <p:attrName>ppt_x</p:attrName>
                                        </p:attrNameLst>
                                      </p:cBhvr>
                                      <p:tavLst>
                                        <p:tav tm="0">
                                          <p:val>
                                            <p:strVal val="0-#ppt_w/2"/>
                                          </p:val>
                                        </p:tav>
                                        <p:tav tm="100000">
                                          <p:val>
                                            <p:strVal val="#ppt_x"/>
                                          </p:val>
                                        </p:tav>
                                      </p:tavLst>
                                    </p:anim>
                                    <p:anim calcmode="lin" valueType="num">
                                      <p:cBhvr>
                                        <p:cTn id="14" dur="1000" fill="hold"/>
                                        <p:tgtEl>
                                          <p:spTgt spid="2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8" grpId="1"/>
      <p:bldP build="whole" bldLvl="1" animBg="1" rev="0" advAuto="0" spid="279" grpId="2"/>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Regresia liniară"/>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Regresia liniară</a:t>
            </a:r>
          </a:p>
        </p:txBody>
      </p:sp>
      <p:pic>
        <p:nvPicPr>
          <p:cNvPr id="292" name="Captură de ecran din 2024-10-06 la 20.48.05.png" descr="Captură de ecran din 2024-10-06 la 20.48.05.png"/>
          <p:cNvPicPr>
            <a:picLocks noChangeAspect="1"/>
          </p:cNvPicPr>
          <p:nvPr/>
        </p:nvPicPr>
        <p:blipFill>
          <a:blip r:embed="rId2">
            <a:extLst/>
          </a:blip>
          <a:stretch>
            <a:fillRect/>
          </a:stretch>
        </p:blipFill>
        <p:spPr>
          <a:xfrm>
            <a:off x="4088407" y="2801860"/>
            <a:ext cx="16207186" cy="10054252"/>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Cum a reușit?"/>
          <p:cNvSpPr txBox="1"/>
          <p:nvPr/>
        </p:nvSpPr>
        <p:spPr>
          <a:xfrm>
            <a:off x="2113434" y="4902200"/>
            <a:ext cx="21667915" cy="3911600"/>
          </a:xfrm>
          <a:prstGeom prst="rect">
            <a:avLst/>
          </a:prstGeom>
          <a:ln w="12700">
            <a:miter lim="400000"/>
          </a:ln>
          <a:effectLst>
            <a:reflection blurRad="0" stA="50000" stPos="0" endA="0" endPos="40000" dist="0" dir="5400000" fadeDir="5400000" sx="100000" sy="-100000" kx="0" ky="0" algn="bl" rotWithShape="0"/>
          </a:effectLst>
          <a:extLst>
            <a:ext uri="{C572A759-6A51-4108-AA02-DFA0A04FC94B}">
              <ma14:wrappingTextBoxFlag xmlns:ma14="http://schemas.microsoft.com/office/mac/drawingml/2011/main" val="1"/>
            </a:ext>
          </a:extLst>
        </p:spPr>
        <p:txBody>
          <a:bodyPr lIns="50800" tIns="50800" rIns="50800" bIns="50800" anchor="ctr">
            <a:spAutoFit/>
          </a:bodyPr>
          <a:lstStyle>
            <a:lvl1pPr>
              <a:defRPr sz="20000"/>
            </a:lvl1pPr>
          </a:lstStyle>
          <a:p>
            <a:pPr/>
            <a:r>
              <a:t>Cum a reușit?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lt" backwards="0">
                                    <p:tmAbs val="0"/>
                                  </p:iterate>
                                  <p:childTnLst>
                                    <p:set>
                                      <p:cBhvr>
                                        <p:cTn id="6" fill="hold"/>
                                        <p:tgtEl>
                                          <p:spTgt spid="294"/>
                                        </p:tgtEl>
                                        <p:attrNameLst>
                                          <p:attrName>style.visibility</p:attrName>
                                        </p:attrNameLst>
                                      </p:cBhvr>
                                      <p:to>
                                        <p:strVal val="visible"/>
                                      </p:to>
                                    </p:set>
                                    <p:anim calcmode="lin" valueType="num">
                                      <p:cBhvr>
                                        <p:cTn id="7" dur="1500" fill="hold"/>
                                        <p:tgtEl>
                                          <p:spTgt spid="294"/>
                                        </p:tgtEl>
                                        <p:attrNameLst>
                                          <p:attrName>ppt_x</p:attrName>
                                        </p:attrNameLst>
                                      </p:cBhvr>
                                      <p:tavLst>
                                        <p:tav tm="0">
                                          <p:val>
                                            <p:strVal val="0-#ppt_w/2"/>
                                          </p:val>
                                        </p:tav>
                                        <p:tav tm="100000">
                                          <p:val>
                                            <p:strVal val="#ppt_x"/>
                                          </p:val>
                                        </p:tav>
                                      </p:tavLst>
                                    </p:anim>
                                    <p:anim calcmode="lin" valueType="num">
                                      <p:cBhvr>
                                        <p:cTn id="8" dur="1500" fill="hold"/>
                                        <p:tgtEl>
                                          <p:spTgt spid="2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4"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Gradient Descent"/>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Gradient Descent</a:t>
            </a:r>
          </a:p>
        </p:txBody>
      </p:sp>
      <p:sp>
        <p:nvSpPr>
          <p:cNvPr id="297" name="Un model de ML învață prin minimizarea unei funcții de cost în raport cu parametri modelului;…"/>
          <p:cNvSpPr txBox="1"/>
          <p:nvPr>
            <p:ph type="body" idx="1"/>
          </p:nvPr>
        </p:nvSpPr>
        <p:spPr>
          <a:prstGeom prst="rect">
            <a:avLst/>
          </a:prstGeom>
        </p:spPr>
        <p:txBody>
          <a:bodyPr/>
          <a:lstStyle/>
          <a:p>
            <a:pPr/>
            <a:r>
              <a:t>Un model de ML învață prin minimizarea unei funcții de cost în raport cu parametri modelului;</a:t>
            </a:r>
          </a:p>
          <a:p>
            <a:pPr/>
            <a:r>
              <a:t>Funcția de cost este diferența dintre ce dă modelul ca ieșire față de ce ar trebui să dea;</a:t>
            </a:r>
          </a:p>
          <a:p>
            <a:pPr/>
            <a:r>
              <a:t>Nu există o funcție de cost standard pentru a rezolva o problemă, e nevoie de experimente;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97"/>
                                        </p:tgtEl>
                                        <p:attrNameLst>
                                          <p:attrName>style.visibility</p:attrName>
                                        </p:attrNameLst>
                                      </p:cBhvr>
                                      <p:to>
                                        <p:strVal val="visible"/>
                                      </p:to>
                                    </p:set>
                                    <p:anim calcmode="lin" valueType="num">
                                      <p:cBhvr>
                                        <p:cTn id="7" dur="1000" fill="hold"/>
                                        <p:tgtEl>
                                          <p:spTgt spid="297"/>
                                        </p:tgtEl>
                                        <p:attrNameLst>
                                          <p:attrName>ppt_x</p:attrName>
                                        </p:attrNameLst>
                                      </p:cBhvr>
                                      <p:tavLst>
                                        <p:tav tm="0">
                                          <p:val>
                                            <p:strVal val="0-#ppt_w/2"/>
                                          </p:val>
                                        </p:tav>
                                        <p:tav tm="100000">
                                          <p:val>
                                            <p:strVal val="#ppt_x"/>
                                          </p:val>
                                        </p:tav>
                                      </p:tavLst>
                                    </p:anim>
                                    <p:anim calcmode="lin" valueType="num">
                                      <p:cBhvr>
                                        <p:cTn id="8" dur="1000" fill="hold"/>
                                        <p:tgtEl>
                                          <p:spTgt spid="2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7"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Funcția de cost"/>
          <p:cNvSpPr txBox="1"/>
          <p:nvPr/>
        </p:nvSpPr>
        <p:spPr>
          <a:xfrm>
            <a:off x="8012789" y="630325"/>
            <a:ext cx="10950209"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Funcția de cost</a:t>
            </a:r>
          </a:p>
        </p:txBody>
      </p:sp>
      <p:sp>
        <p:nvSpPr>
          <p:cNvPr id="300" name="Suprafața în metrii pătrați"/>
          <p:cNvSpPr txBox="1"/>
          <p:nvPr/>
        </p:nvSpPr>
        <p:spPr>
          <a:xfrm>
            <a:off x="3664899" y="4259694"/>
            <a:ext cx="66880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Suprafața în metrii pătrați</a:t>
            </a:r>
          </a:p>
        </p:txBody>
      </p:sp>
      <p:sp>
        <p:nvSpPr>
          <p:cNvPr id="301" name="prețul unui apartament"/>
          <p:cNvSpPr txBox="1"/>
          <p:nvPr/>
        </p:nvSpPr>
        <p:spPr>
          <a:xfrm>
            <a:off x="14474925" y="4259694"/>
            <a:ext cx="595934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prețul unui apartament</a:t>
            </a:r>
          </a:p>
        </p:txBody>
      </p:sp>
      <p:sp>
        <p:nvSpPr>
          <p:cNvPr id="302" name="50…"/>
          <p:cNvSpPr txBox="1"/>
          <p:nvPr/>
        </p:nvSpPr>
        <p:spPr>
          <a:xfrm>
            <a:off x="6257554" y="4910453"/>
            <a:ext cx="958648" cy="83523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50</a:t>
            </a:r>
          </a:p>
          <a:p>
            <a:pPr/>
            <a:r>
              <a:t>60</a:t>
            </a:r>
          </a:p>
          <a:p>
            <a:pPr/>
            <a:r>
              <a:t>70</a:t>
            </a:r>
          </a:p>
          <a:p>
            <a:pPr/>
            <a:r>
              <a:t>80</a:t>
            </a:r>
          </a:p>
          <a:p>
            <a:pPr/>
            <a:r>
              <a:t>90</a:t>
            </a:r>
          </a:p>
          <a:p>
            <a:pPr/>
            <a:r>
              <a:t>100</a:t>
            </a:r>
          </a:p>
          <a:p>
            <a:pPr/>
            <a:r>
              <a:t>110</a:t>
            </a:r>
          </a:p>
          <a:p>
            <a:pPr/>
            <a:r>
              <a:t>120</a:t>
            </a:r>
          </a:p>
        </p:txBody>
      </p:sp>
      <p:sp>
        <p:nvSpPr>
          <p:cNvPr id="303" name="35000…"/>
          <p:cNvSpPr txBox="1"/>
          <p:nvPr/>
        </p:nvSpPr>
        <p:spPr>
          <a:xfrm>
            <a:off x="17190674" y="5149822"/>
            <a:ext cx="1747115" cy="83523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35000</a:t>
            </a:r>
          </a:p>
          <a:p>
            <a:pPr/>
            <a:r>
              <a:t>40000</a:t>
            </a:r>
          </a:p>
          <a:p>
            <a:pPr/>
            <a:r>
              <a:t>48000</a:t>
            </a:r>
          </a:p>
          <a:p>
            <a:pPr/>
            <a:r>
              <a:t>55000</a:t>
            </a:r>
          </a:p>
          <a:p>
            <a:pPr/>
            <a:r>
              <a:t>62000</a:t>
            </a:r>
          </a:p>
          <a:p>
            <a:pPr/>
            <a:r>
              <a:t>7o000</a:t>
            </a:r>
          </a:p>
          <a:p>
            <a:pPr/>
            <a:r>
              <a:t>75000</a:t>
            </a:r>
          </a:p>
          <a:p>
            <a:pPr/>
            <a:r>
              <a:t>85000</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Funcția de cost"/>
          <p:cNvSpPr txBox="1"/>
          <p:nvPr/>
        </p:nvSpPr>
        <p:spPr>
          <a:xfrm>
            <a:off x="8012789" y="630325"/>
            <a:ext cx="1140575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Funcția de cost</a:t>
            </a:r>
          </a:p>
        </p:txBody>
      </p:sp>
      <p:sp>
        <p:nvSpPr>
          <p:cNvPr id="306" name="Suprafața în metrii pătrați"/>
          <p:cNvSpPr txBox="1"/>
          <p:nvPr/>
        </p:nvSpPr>
        <p:spPr>
          <a:xfrm>
            <a:off x="368478" y="4348097"/>
            <a:ext cx="66880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Suprafața în metrii pătrați</a:t>
            </a:r>
          </a:p>
        </p:txBody>
      </p:sp>
      <p:sp>
        <p:nvSpPr>
          <p:cNvPr id="307" name="prețul unui apartament"/>
          <p:cNvSpPr txBox="1"/>
          <p:nvPr/>
        </p:nvSpPr>
        <p:spPr>
          <a:xfrm>
            <a:off x="8667986" y="4348097"/>
            <a:ext cx="595934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prețul unui apartament</a:t>
            </a:r>
          </a:p>
        </p:txBody>
      </p:sp>
      <p:sp>
        <p:nvSpPr>
          <p:cNvPr id="308" name="50…"/>
          <p:cNvSpPr txBox="1"/>
          <p:nvPr/>
        </p:nvSpPr>
        <p:spPr>
          <a:xfrm>
            <a:off x="2961133" y="4998856"/>
            <a:ext cx="958648" cy="83523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50</a:t>
            </a:r>
          </a:p>
          <a:p>
            <a:pPr/>
            <a:r>
              <a:t>60</a:t>
            </a:r>
          </a:p>
          <a:p>
            <a:pPr/>
            <a:r>
              <a:t>70</a:t>
            </a:r>
          </a:p>
          <a:p>
            <a:pPr/>
            <a:r>
              <a:t>80</a:t>
            </a:r>
          </a:p>
          <a:p>
            <a:pPr/>
            <a:r>
              <a:t>90</a:t>
            </a:r>
          </a:p>
          <a:p>
            <a:pPr/>
            <a:r>
              <a:t>100</a:t>
            </a:r>
          </a:p>
          <a:p>
            <a:pPr/>
            <a:r>
              <a:t>110</a:t>
            </a:r>
          </a:p>
          <a:p>
            <a:pPr/>
            <a:r>
              <a:t>120</a:t>
            </a:r>
          </a:p>
        </p:txBody>
      </p:sp>
      <p:sp>
        <p:nvSpPr>
          <p:cNvPr id="309" name="35000…"/>
          <p:cNvSpPr txBox="1"/>
          <p:nvPr/>
        </p:nvSpPr>
        <p:spPr>
          <a:xfrm>
            <a:off x="10926917" y="5216394"/>
            <a:ext cx="1747115" cy="83523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35000</a:t>
            </a:r>
          </a:p>
          <a:p>
            <a:pPr/>
            <a:r>
              <a:t>40000</a:t>
            </a:r>
          </a:p>
          <a:p>
            <a:pPr/>
            <a:r>
              <a:t>48000</a:t>
            </a:r>
          </a:p>
          <a:p>
            <a:pPr/>
            <a:r>
              <a:t>55000</a:t>
            </a:r>
          </a:p>
          <a:p>
            <a:pPr/>
            <a:r>
              <a:t>62000</a:t>
            </a:r>
          </a:p>
          <a:p>
            <a:pPr/>
            <a:r>
              <a:t>7o000</a:t>
            </a:r>
          </a:p>
          <a:p>
            <a:pPr/>
            <a:r>
              <a:t>75000</a:t>
            </a:r>
          </a:p>
          <a:p>
            <a:pPr/>
            <a:r>
              <a:t>85000</a:t>
            </a:r>
          </a:p>
        </p:txBody>
      </p:sp>
      <p:sp>
        <p:nvSpPr>
          <p:cNvPr id="310" name="prețul unui apartament (prezis)"/>
          <p:cNvSpPr txBox="1"/>
          <p:nvPr/>
        </p:nvSpPr>
        <p:spPr>
          <a:xfrm>
            <a:off x="15584303" y="4348097"/>
            <a:ext cx="79866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prețul unui apartament (prezis)</a:t>
            </a:r>
          </a:p>
        </p:txBody>
      </p:sp>
      <p:sp>
        <p:nvSpPr>
          <p:cNvPr id="311" name="36850…"/>
          <p:cNvSpPr txBox="1"/>
          <p:nvPr/>
        </p:nvSpPr>
        <p:spPr>
          <a:xfrm>
            <a:off x="18704083" y="5216394"/>
            <a:ext cx="1678382" cy="83523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36850</a:t>
            </a:r>
          </a:p>
          <a:p>
            <a:pPr/>
            <a:r>
              <a:t>40050</a:t>
            </a:r>
          </a:p>
          <a:p>
            <a:pPr/>
            <a:r>
              <a:t>49128</a:t>
            </a:r>
          </a:p>
          <a:p>
            <a:pPr/>
            <a:r>
              <a:t>54998</a:t>
            </a:r>
          </a:p>
          <a:p>
            <a:pPr/>
            <a:r>
              <a:t>61999</a:t>
            </a:r>
          </a:p>
          <a:p>
            <a:pPr/>
            <a:r>
              <a:t>69988</a:t>
            </a:r>
          </a:p>
          <a:p>
            <a:pPr/>
            <a:r>
              <a:t>77000</a:t>
            </a:r>
          </a:p>
          <a:p>
            <a:pPr/>
            <a:r>
              <a:t>85002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11"/>
                                        </p:tgtEl>
                                        <p:attrNameLst>
                                          <p:attrName>style.visibility</p:attrName>
                                        </p:attrNameLst>
                                      </p:cBhvr>
                                      <p:to>
                                        <p:strVal val="visible"/>
                                      </p:to>
                                    </p:set>
                                    <p:animEffect filter="dissolve" transition="in">
                                      <p:cBhvr>
                                        <p:cTn id="7" dur="5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1"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prețul unui apartament"/>
          <p:cNvSpPr txBox="1"/>
          <p:nvPr/>
        </p:nvSpPr>
        <p:spPr>
          <a:xfrm>
            <a:off x="4740504" y="3640807"/>
            <a:ext cx="595934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prețul unui apartament</a:t>
            </a:r>
          </a:p>
        </p:txBody>
      </p:sp>
      <p:sp>
        <p:nvSpPr>
          <p:cNvPr id="314" name="35000…"/>
          <p:cNvSpPr txBox="1"/>
          <p:nvPr/>
        </p:nvSpPr>
        <p:spPr>
          <a:xfrm>
            <a:off x="6999435" y="4509105"/>
            <a:ext cx="1747115" cy="83523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35000</a:t>
            </a:r>
          </a:p>
          <a:p>
            <a:pPr/>
            <a:r>
              <a:t>40000</a:t>
            </a:r>
          </a:p>
          <a:p>
            <a:pPr/>
            <a:r>
              <a:t>48000</a:t>
            </a:r>
          </a:p>
          <a:p>
            <a:pPr/>
            <a:r>
              <a:t>55000</a:t>
            </a:r>
          </a:p>
          <a:p>
            <a:pPr/>
            <a:r>
              <a:t>62000</a:t>
            </a:r>
          </a:p>
          <a:p>
            <a:pPr/>
            <a:r>
              <a:t>7o000</a:t>
            </a:r>
          </a:p>
          <a:p>
            <a:pPr/>
            <a:r>
              <a:t>75000</a:t>
            </a:r>
          </a:p>
          <a:p>
            <a:pPr/>
            <a:r>
              <a:t>85000</a:t>
            </a:r>
          </a:p>
        </p:txBody>
      </p:sp>
      <p:sp>
        <p:nvSpPr>
          <p:cNvPr id="315" name="prețul unui apartament (prezis)"/>
          <p:cNvSpPr txBox="1"/>
          <p:nvPr/>
        </p:nvSpPr>
        <p:spPr>
          <a:xfrm>
            <a:off x="11656821" y="3640807"/>
            <a:ext cx="79866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prețul unui apartament (prezis)</a:t>
            </a:r>
          </a:p>
        </p:txBody>
      </p:sp>
      <p:sp>
        <p:nvSpPr>
          <p:cNvPr id="316" name="36850…"/>
          <p:cNvSpPr txBox="1"/>
          <p:nvPr/>
        </p:nvSpPr>
        <p:spPr>
          <a:xfrm>
            <a:off x="14776600" y="4509105"/>
            <a:ext cx="1678382" cy="83523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36850</a:t>
            </a:r>
          </a:p>
          <a:p>
            <a:pPr/>
            <a:r>
              <a:t>40050</a:t>
            </a:r>
          </a:p>
          <a:p>
            <a:pPr/>
            <a:r>
              <a:t>49128</a:t>
            </a:r>
          </a:p>
          <a:p>
            <a:pPr/>
            <a:r>
              <a:t>54998</a:t>
            </a:r>
          </a:p>
          <a:p>
            <a:pPr/>
            <a:r>
              <a:t>61999</a:t>
            </a:r>
          </a:p>
          <a:p>
            <a:pPr/>
            <a:r>
              <a:t>69988</a:t>
            </a:r>
          </a:p>
          <a:p>
            <a:pPr/>
            <a:r>
              <a:t>77000</a:t>
            </a:r>
          </a:p>
          <a:p>
            <a:pPr/>
            <a:r>
              <a:t>85002</a:t>
            </a:r>
          </a:p>
        </p:txBody>
      </p:sp>
      <p:sp>
        <p:nvSpPr>
          <p:cNvPr id="317" name="-"/>
          <p:cNvSpPr txBox="1"/>
          <p:nvPr/>
        </p:nvSpPr>
        <p:spPr>
          <a:xfrm>
            <a:off x="11030381" y="4557123"/>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18" name="-"/>
          <p:cNvSpPr txBox="1"/>
          <p:nvPr/>
        </p:nvSpPr>
        <p:spPr>
          <a:xfrm>
            <a:off x="11030381" y="5622839"/>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19" name="-"/>
          <p:cNvSpPr txBox="1"/>
          <p:nvPr/>
        </p:nvSpPr>
        <p:spPr>
          <a:xfrm>
            <a:off x="11030381" y="6688555"/>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0" name="-"/>
          <p:cNvSpPr txBox="1"/>
          <p:nvPr/>
        </p:nvSpPr>
        <p:spPr>
          <a:xfrm>
            <a:off x="11030381" y="7754271"/>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1" name="-"/>
          <p:cNvSpPr txBox="1"/>
          <p:nvPr/>
        </p:nvSpPr>
        <p:spPr>
          <a:xfrm>
            <a:off x="11030381" y="8819986"/>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2" name="-"/>
          <p:cNvSpPr txBox="1"/>
          <p:nvPr/>
        </p:nvSpPr>
        <p:spPr>
          <a:xfrm>
            <a:off x="11030381" y="9885703"/>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3" name="-"/>
          <p:cNvSpPr txBox="1"/>
          <p:nvPr/>
        </p:nvSpPr>
        <p:spPr>
          <a:xfrm>
            <a:off x="11030381" y="10951418"/>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4" name="-"/>
          <p:cNvSpPr txBox="1"/>
          <p:nvPr/>
        </p:nvSpPr>
        <p:spPr>
          <a:xfrm>
            <a:off x="11030381" y="12017134"/>
            <a:ext cx="29591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5" name="Funcția de cost"/>
          <p:cNvSpPr txBox="1"/>
          <p:nvPr/>
        </p:nvSpPr>
        <p:spPr>
          <a:xfrm>
            <a:off x="8012789" y="630325"/>
            <a:ext cx="1140575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Funcția de cost</a:t>
            </a:r>
          </a:p>
        </p:txBody>
      </p:sp>
      <p:sp>
        <p:nvSpPr>
          <p:cNvPr id="326" name="("/>
          <p:cNvSpPr txBox="1"/>
          <p:nvPr/>
        </p:nvSpPr>
        <p:spPr>
          <a:xfrm>
            <a:off x="6558402" y="4557123"/>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7" name=")"/>
          <p:cNvSpPr txBox="1"/>
          <p:nvPr/>
        </p:nvSpPr>
        <p:spPr>
          <a:xfrm>
            <a:off x="16644139" y="4557123"/>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8" name="2"/>
          <p:cNvSpPr txBox="1"/>
          <p:nvPr/>
        </p:nvSpPr>
        <p:spPr>
          <a:xfrm>
            <a:off x="16818784" y="4229664"/>
            <a:ext cx="3791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29" name="("/>
          <p:cNvSpPr txBox="1"/>
          <p:nvPr/>
        </p:nvSpPr>
        <p:spPr>
          <a:xfrm>
            <a:off x="6558402" y="5578902"/>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0" name="("/>
          <p:cNvSpPr txBox="1"/>
          <p:nvPr/>
        </p:nvSpPr>
        <p:spPr>
          <a:xfrm>
            <a:off x="6558402" y="6845353"/>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1" name="("/>
          <p:cNvSpPr txBox="1"/>
          <p:nvPr/>
        </p:nvSpPr>
        <p:spPr>
          <a:xfrm>
            <a:off x="6558402" y="7754271"/>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2" name="("/>
          <p:cNvSpPr txBox="1"/>
          <p:nvPr/>
        </p:nvSpPr>
        <p:spPr>
          <a:xfrm>
            <a:off x="6558402" y="8819986"/>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3" name="("/>
          <p:cNvSpPr txBox="1"/>
          <p:nvPr/>
        </p:nvSpPr>
        <p:spPr>
          <a:xfrm>
            <a:off x="6558402" y="9929640"/>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4" name="("/>
          <p:cNvSpPr txBox="1"/>
          <p:nvPr/>
        </p:nvSpPr>
        <p:spPr>
          <a:xfrm>
            <a:off x="6558402" y="11039293"/>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5" name="("/>
          <p:cNvSpPr txBox="1"/>
          <p:nvPr/>
        </p:nvSpPr>
        <p:spPr>
          <a:xfrm>
            <a:off x="6558402" y="12017134"/>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6" name=")"/>
          <p:cNvSpPr txBox="1"/>
          <p:nvPr/>
        </p:nvSpPr>
        <p:spPr>
          <a:xfrm>
            <a:off x="16731460" y="5742631"/>
            <a:ext cx="3009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7" name="2"/>
          <p:cNvSpPr txBox="1"/>
          <p:nvPr/>
        </p:nvSpPr>
        <p:spPr>
          <a:xfrm>
            <a:off x="16906106" y="5415172"/>
            <a:ext cx="3791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38" name=")"/>
          <p:cNvSpPr txBox="1"/>
          <p:nvPr/>
        </p:nvSpPr>
        <p:spPr>
          <a:xfrm>
            <a:off x="16731460" y="6554623"/>
            <a:ext cx="3009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39" name="2"/>
          <p:cNvSpPr txBox="1"/>
          <p:nvPr/>
        </p:nvSpPr>
        <p:spPr>
          <a:xfrm>
            <a:off x="16906106" y="6227164"/>
            <a:ext cx="3791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40" name=")"/>
          <p:cNvSpPr txBox="1"/>
          <p:nvPr/>
        </p:nvSpPr>
        <p:spPr>
          <a:xfrm>
            <a:off x="16731460" y="7579788"/>
            <a:ext cx="3009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41" name="2"/>
          <p:cNvSpPr txBox="1"/>
          <p:nvPr/>
        </p:nvSpPr>
        <p:spPr>
          <a:xfrm>
            <a:off x="16906106" y="7252329"/>
            <a:ext cx="3791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42" name=")"/>
          <p:cNvSpPr txBox="1"/>
          <p:nvPr/>
        </p:nvSpPr>
        <p:spPr>
          <a:xfrm>
            <a:off x="16605022" y="8879582"/>
            <a:ext cx="300940" cy="934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t>
            </a:r>
          </a:p>
        </p:txBody>
      </p:sp>
      <p:sp>
        <p:nvSpPr>
          <p:cNvPr id="343" name="2"/>
          <p:cNvSpPr txBox="1"/>
          <p:nvPr/>
        </p:nvSpPr>
        <p:spPr>
          <a:xfrm>
            <a:off x="16779667" y="8552123"/>
            <a:ext cx="3791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44" name=")"/>
          <p:cNvSpPr txBox="1"/>
          <p:nvPr/>
        </p:nvSpPr>
        <p:spPr>
          <a:xfrm>
            <a:off x="16517700" y="9851916"/>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45" name="2"/>
          <p:cNvSpPr txBox="1"/>
          <p:nvPr/>
        </p:nvSpPr>
        <p:spPr>
          <a:xfrm>
            <a:off x="16692345" y="9524457"/>
            <a:ext cx="3791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46" name=")"/>
          <p:cNvSpPr txBox="1"/>
          <p:nvPr/>
        </p:nvSpPr>
        <p:spPr>
          <a:xfrm>
            <a:off x="16478584" y="10877082"/>
            <a:ext cx="3009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47" name="2"/>
          <p:cNvSpPr txBox="1"/>
          <p:nvPr/>
        </p:nvSpPr>
        <p:spPr>
          <a:xfrm>
            <a:off x="16653230" y="10549623"/>
            <a:ext cx="3791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48" name=")"/>
          <p:cNvSpPr txBox="1"/>
          <p:nvPr/>
        </p:nvSpPr>
        <p:spPr>
          <a:xfrm>
            <a:off x="16565906" y="11902247"/>
            <a:ext cx="3009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49" name="2"/>
          <p:cNvSpPr txBox="1"/>
          <p:nvPr/>
        </p:nvSpPr>
        <p:spPr>
          <a:xfrm>
            <a:off x="16740551" y="11574788"/>
            <a:ext cx="37917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350" name="+"/>
          <p:cNvSpPr txBox="1"/>
          <p:nvPr/>
        </p:nvSpPr>
        <p:spPr>
          <a:xfrm>
            <a:off x="17561757" y="4557123"/>
            <a:ext cx="41940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1" name="+"/>
          <p:cNvSpPr txBox="1"/>
          <p:nvPr/>
        </p:nvSpPr>
        <p:spPr>
          <a:xfrm>
            <a:off x="17561757" y="5578902"/>
            <a:ext cx="41940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2" name="+"/>
          <p:cNvSpPr txBox="1"/>
          <p:nvPr/>
        </p:nvSpPr>
        <p:spPr>
          <a:xfrm>
            <a:off x="17561757" y="6600680"/>
            <a:ext cx="41940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3" name="+"/>
          <p:cNvSpPr txBox="1"/>
          <p:nvPr/>
        </p:nvSpPr>
        <p:spPr>
          <a:xfrm>
            <a:off x="17489368" y="7579788"/>
            <a:ext cx="41940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4" name="+"/>
          <p:cNvSpPr txBox="1"/>
          <p:nvPr/>
        </p:nvSpPr>
        <p:spPr>
          <a:xfrm>
            <a:off x="17489368" y="8644545"/>
            <a:ext cx="41940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5" name="+"/>
          <p:cNvSpPr txBox="1"/>
          <p:nvPr/>
        </p:nvSpPr>
        <p:spPr>
          <a:xfrm>
            <a:off x="17489368" y="9710261"/>
            <a:ext cx="41940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6" name="+"/>
          <p:cNvSpPr txBox="1"/>
          <p:nvPr/>
        </p:nvSpPr>
        <p:spPr>
          <a:xfrm>
            <a:off x="17561757" y="10694291"/>
            <a:ext cx="41940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7" name="["/>
          <p:cNvSpPr txBox="1"/>
          <p:nvPr/>
        </p:nvSpPr>
        <p:spPr>
          <a:xfrm>
            <a:off x="6103957" y="4557123"/>
            <a:ext cx="31435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8" name="]"/>
          <p:cNvSpPr txBox="1"/>
          <p:nvPr/>
        </p:nvSpPr>
        <p:spPr>
          <a:xfrm>
            <a:off x="17396203" y="11710188"/>
            <a:ext cx="31435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59" name="Ecuație"/>
          <p:cNvSpPr txBox="1"/>
          <p:nvPr/>
        </p:nvSpPr>
        <p:spPr>
          <a:xfrm>
            <a:off x="5661939" y="4599561"/>
            <a:ext cx="391161" cy="119862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8</m:t>
                      </m:r>
                    </m:den>
                  </m:f>
                </m:oMath>
              </m:oMathPara>
            </a14:m>
            <a:endParaRPr sz="4400"/>
          </a:p>
        </p:txBody>
      </p:sp>
      <p:sp>
        <p:nvSpPr>
          <p:cNvPr id="360" name="= cost"/>
          <p:cNvSpPr txBox="1"/>
          <p:nvPr/>
        </p:nvSpPr>
        <p:spPr>
          <a:xfrm>
            <a:off x="17987033" y="11841693"/>
            <a:ext cx="164261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cost</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16"/>
                                        </p:tgtEl>
                                        <p:attrNameLst>
                                          <p:attrName>style.visibility</p:attrName>
                                        </p:attrNameLst>
                                      </p:cBhvr>
                                      <p:to>
                                        <p:strVal val="visible"/>
                                      </p:to>
                                    </p:set>
                                    <p:animEffect filter="dissolve" transition="in">
                                      <p:cBhvr>
                                        <p:cTn id="7" dur="500"/>
                                        <p:tgtEl>
                                          <p:spTgt spid="31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317"/>
                                        </p:tgtEl>
                                        <p:attrNameLst>
                                          <p:attrName>style.visibility</p:attrName>
                                        </p:attrNameLst>
                                      </p:cBhvr>
                                      <p:to>
                                        <p:strVal val="visible"/>
                                      </p:to>
                                    </p:set>
                                    <p:anim calcmode="lin" valueType="num">
                                      <p:cBhvr>
                                        <p:cTn id="12" dur="1000" fill="hold"/>
                                        <p:tgtEl>
                                          <p:spTgt spid="317"/>
                                        </p:tgtEl>
                                        <p:attrNameLst>
                                          <p:attrName>ppt_x</p:attrName>
                                        </p:attrNameLst>
                                      </p:cBhvr>
                                      <p:tavLst>
                                        <p:tav tm="0">
                                          <p:val>
                                            <p:strVal val="0-#ppt_w/2"/>
                                          </p:val>
                                        </p:tav>
                                        <p:tav tm="100000">
                                          <p:val>
                                            <p:strVal val="#ppt_x"/>
                                          </p:val>
                                        </p:tav>
                                      </p:tavLst>
                                    </p:anim>
                                    <p:anim calcmode="lin" valueType="num">
                                      <p:cBhvr>
                                        <p:cTn id="13" dur="1000" fill="hold"/>
                                        <p:tgtEl>
                                          <p:spTgt spid="3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Class="entr" nodeType="afterEffect" presetSubtype="8" presetID="2" grpId="3" fill="hold">
                                  <p:stCondLst>
                                    <p:cond delay="0"/>
                                  </p:stCondLst>
                                  <p:iterate type="el" backwards="0">
                                    <p:tmAbs val="0"/>
                                  </p:iterate>
                                  <p:childTnLst>
                                    <p:set>
                                      <p:cBhvr>
                                        <p:cTn id="16" fill="hold"/>
                                        <p:tgtEl>
                                          <p:spTgt spid="318"/>
                                        </p:tgtEl>
                                        <p:attrNameLst>
                                          <p:attrName>style.visibility</p:attrName>
                                        </p:attrNameLst>
                                      </p:cBhvr>
                                      <p:to>
                                        <p:strVal val="visible"/>
                                      </p:to>
                                    </p:set>
                                    <p:anim calcmode="lin" valueType="num">
                                      <p:cBhvr>
                                        <p:cTn id="17" dur="1000" fill="hold"/>
                                        <p:tgtEl>
                                          <p:spTgt spid="318"/>
                                        </p:tgtEl>
                                        <p:attrNameLst>
                                          <p:attrName>ppt_x</p:attrName>
                                        </p:attrNameLst>
                                      </p:cBhvr>
                                      <p:tavLst>
                                        <p:tav tm="0">
                                          <p:val>
                                            <p:strVal val="0-#ppt_w/2"/>
                                          </p:val>
                                        </p:tav>
                                        <p:tav tm="100000">
                                          <p:val>
                                            <p:strVal val="#ppt_x"/>
                                          </p:val>
                                        </p:tav>
                                      </p:tavLst>
                                    </p:anim>
                                    <p:anim calcmode="lin" valueType="num">
                                      <p:cBhvr>
                                        <p:cTn id="18" dur="1000" fill="hold"/>
                                        <p:tgtEl>
                                          <p:spTgt spid="318"/>
                                        </p:tgtEl>
                                        <p:attrNameLst>
                                          <p:attrName>ppt_y</p:attrName>
                                        </p:attrNameLst>
                                      </p:cBhvr>
                                      <p:tavLst>
                                        <p:tav tm="0">
                                          <p:val>
                                            <p:strVal val="#ppt_y"/>
                                          </p:val>
                                        </p:tav>
                                        <p:tav tm="100000">
                                          <p:val>
                                            <p:strVal val="#ppt_y"/>
                                          </p:val>
                                        </p:tav>
                                      </p:tavLst>
                                    </p:anim>
                                  </p:childTnLst>
                                </p:cTn>
                              </p:par>
                            </p:childTnLst>
                          </p:cTn>
                        </p:par>
                        <p:par>
                          <p:cTn id="19" fill="hold">
                            <p:stCondLst>
                              <p:cond delay="2000"/>
                            </p:stCondLst>
                            <p:childTnLst>
                              <p:par>
                                <p:cTn id="20" presetClass="entr" nodeType="afterEffect" presetSubtype="8" presetID="2" grpId="4" fill="hold">
                                  <p:stCondLst>
                                    <p:cond delay="0"/>
                                  </p:stCondLst>
                                  <p:iterate type="el" backwards="0">
                                    <p:tmAbs val="0"/>
                                  </p:iterate>
                                  <p:childTnLst>
                                    <p:set>
                                      <p:cBhvr>
                                        <p:cTn id="21" fill="hold"/>
                                        <p:tgtEl>
                                          <p:spTgt spid="319"/>
                                        </p:tgtEl>
                                        <p:attrNameLst>
                                          <p:attrName>style.visibility</p:attrName>
                                        </p:attrNameLst>
                                      </p:cBhvr>
                                      <p:to>
                                        <p:strVal val="visible"/>
                                      </p:to>
                                    </p:set>
                                    <p:anim calcmode="lin" valueType="num">
                                      <p:cBhvr>
                                        <p:cTn id="22" dur="1000" fill="hold"/>
                                        <p:tgtEl>
                                          <p:spTgt spid="319"/>
                                        </p:tgtEl>
                                        <p:attrNameLst>
                                          <p:attrName>ppt_x</p:attrName>
                                        </p:attrNameLst>
                                      </p:cBhvr>
                                      <p:tavLst>
                                        <p:tav tm="0">
                                          <p:val>
                                            <p:strVal val="0-#ppt_w/2"/>
                                          </p:val>
                                        </p:tav>
                                        <p:tav tm="100000">
                                          <p:val>
                                            <p:strVal val="#ppt_x"/>
                                          </p:val>
                                        </p:tav>
                                      </p:tavLst>
                                    </p:anim>
                                    <p:anim calcmode="lin" valueType="num">
                                      <p:cBhvr>
                                        <p:cTn id="23" dur="1000" fill="hold"/>
                                        <p:tgtEl>
                                          <p:spTgt spid="319"/>
                                        </p:tgtEl>
                                        <p:attrNameLst>
                                          <p:attrName>ppt_y</p:attrName>
                                        </p:attrNameLst>
                                      </p:cBhvr>
                                      <p:tavLst>
                                        <p:tav tm="0">
                                          <p:val>
                                            <p:strVal val="#ppt_y"/>
                                          </p:val>
                                        </p:tav>
                                        <p:tav tm="100000">
                                          <p:val>
                                            <p:strVal val="#ppt_y"/>
                                          </p:val>
                                        </p:tav>
                                      </p:tavLst>
                                    </p:anim>
                                  </p:childTnLst>
                                </p:cTn>
                              </p:par>
                            </p:childTnLst>
                          </p:cTn>
                        </p:par>
                        <p:par>
                          <p:cTn id="24" fill="hold">
                            <p:stCondLst>
                              <p:cond delay="3000"/>
                            </p:stCondLst>
                            <p:childTnLst>
                              <p:par>
                                <p:cTn id="25" presetClass="entr" nodeType="afterEffect" presetSubtype="8" presetID="2" grpId="5" fill="hold">
                                  <p:stCondLst>
                                    <p:cond delay="0"/>
                                  </p:stCondLst>
                                  <p:iterate type="el" backwards="0">
                                    <p:tmAbs val="0"/>
                                  </p:iterate>
                                  <p:childTnLst>
                                    <p:set>
                                      <p:cBhvr>
                                        <p:cTn id="26" fill="hold"/>
                                        <p:tgtEl>
                                          <p:spTgt spid="320"/>
                                        </p:tgtEl>
                                        <p:attrNameLst>
                                          <p:attrName>style.visibility</p:attrName>
                                        </p:attrNameLst>
                                      </p:cBhvr>
                                      <p:to>
                                        <p:strVal val="visible"/>
                                      </p:to>
                                    </p:set>
                                    <p:anim calcmode="lin" valueType="num">
                                      <p:cBhvr>
                                        <p:cTn id="27" dur="1000" fill="hold"/>
                                        <p:tgtEl>
                                          <p:spTgt spid="320"/>
                                        </p:tgtEl>
                                        <p:attrNameLst>
                                          <p:attrName>ppt_x</p:attrName>
                                        </p:attrNameLst>
                                      </p:cBhvr>
                                      <p:tavLst>
                                        <p:tav tm="0">
                                          <p:val>
                                            <p:strVal val="0-#ppt_w/2"/>
                                          </p:val>
                                        </p:tav>
                                        <p:tav tm="100000">
                                          <p:val>
                                            <p:strVal val="#ppt_x"/>
                                          </p:val>
                                        </p:tav>
                                      </p:tavLst>
                                    </p:anim>
                                    <p:anim calcmode="lin" valueType="num">
                                      <p:cBhvr>
                                        <p:cTn id="28" dur="1000" fill="hold"/>
                                        <p:tgtEl>
                                          <p:spTgt spid="320"/>
                                        </p:tgtEl>
                                        <p:attrNameLst>
                                          <p:attrName>ppt_y</p:attrName>
                                        </p:attrNameLst>
                                      </p:cBhvr>
                                      <p:tavLst>
                                        <p:tav tm="0">
                                          <p:val>
                                            <p:strVal val="#ppt_y"/>
                                          </p:val>
                                        </p:tav>
                                        <p:tav tm="100000">
                                          <p:val>
                                            <p:strVal val="#ppt_y"/>
                                          </p:val>
                                        </p:tav>
                                      </p:tavLst>
                                    </p:anim>
                                  </p:childTnLst>
                                </p:cTn>
                              </p:par>
                            </p:childTnLst>
                          </p:cTn>
                        </p:par>
                        <p:par>
                          <p:cTn id="29" fill="hold">
                            <p:stCondLst>
                              <p:cond delay="4000"/>
                            </p:stCondLst>
                            <p:childTnLst>
                              <p:par>
                                <p:cTn id="30" presetClass="entr" nodeType="afterEffect" presetSubtype="8" presetID="2" grpId="6" fill="hold">
                                  <p:stCondLst>
                                    <p:cond delay="0"/>
                                  </p:stCondLst>
                                  <p:iterate type="el" backwards="0">
                                    <p:tmAbs val="0"/>
                                  </p:iterate>
                                  <p:childTnLst>
                                    <p:set>
                                      <p:cBhvr>
                                        <p:cTn id="31" fill="hold"/>
                                        <p:tgtEl>
                                          <p:spTgt spid="321"/>
                                        </p:tgtEl>
                                        <p:attrNameLst>
                                          <p:attrName>style.visibility</p:attrName>
                                        </p:attrNameLst>
                                      </p:cBhvr>
                                      <p:to>
                                        <p:strVal val="visible"/>
                                      </p:to>
                                    </p:set>
                                    <p:anim calcmode="lin" valueType="num">
                                      <p:cBhvr>
                                        <p:cTn id="32" dur="1000" fill="hold"/>
                                        <p:tgtEl>
                                          <p:spTgt spid="321"/>
                                        </p:tgtEl>
                                        <p:attrNameLst>
                                          <p:attrName>ppt_x</p:attrName>
                                        </p:attrNameLst>
                                      </p:cBhvr>
                                      <p:tavLst>
                                        <p:tav tm="0">
                                          <p:val>
                                            <p:strVal val="0-#ppt_w/2"/>
                                          </p:val>
                                        </p:tav>
                                        <p:tav tm="100000">
                                          <p:val>
                                            <p:strVal val="#ppt_x"/>
                                          </p:val>
                                        </p:tav>
                                      </p:tavLst>
                                    </p:anim>
                                    <p:anim calcmode="lin" valueType="num">
                                      <p:cBhvr>
                                        <p:cTn id="33" dur="1000" fill="hold"/>
                                        <p:tgtEl>
                                          <p:spTgt spid="321"/>
                                        </p:tgtEl>
                                        <p:attrNameLst>
                                          <p:attrName>ppt_y</p:attrName>
                                        </p:attrNameLst>
                                      </p:cBhvr>
                                      <p:tavLst>
                                        <p:tav tm="0">
                                          <p:val>
                                            <p:strVal val="#ppt_y"/>
                                          </p:val>
                                        </p:tav>
                                        <p:tav tm="100000">
                                          <p:val>
                                            <p:strVal val="#ppt_y"/>
                                          </p:val>
                                        </p:tav>
                                      </p:tavLst>
                                    </p:anim>
                                  </p:childTnLst>
                                </p:cTn>
                              </p:par>
                            </p:childTnLst>
                          </p:cTn>
                        </p:par>
                        <p:par>
                          <p:cTn id="34" fill="hold">
                            <p:stCondLst>
                              <p:cond delay="5000"/>
                            </p:stCondLst>
                            <p:childTnLst>
                              <p:par>
                                <p:cTn id="35" presetClass="entr" nodeType="afterEffect" presetSubtype="8" presetID="2" grpId="7" fill="hold">
                                  <p:stCondLst>
                                    <p:cond delay="0"/>
                                  </p:stCondLst>
                                  <p:iterate type="el" backwards="0">
                                    <p:tmAbs val="0"/>
                                  </p:iterate>
                                  <p:childTnLst>
                                    <p:set>
                                      <p:cBhvr>
                                        <p:cTn id="36" fill="hold"/>
                                        <p:tgtEl>
                                          <p:spTgt spid="322"/>
                                        </p:tgtEl>
                                        <p:attrNameLst>
                                          <p:attrName>style.visibility</p:attrName>
                                        </p:attrNameLst>
                                      </p:cBhvr>
                                      <p:to>
                                        <p:strVal val="visible"/>
                                      </p:to>
                                    </p:set>
                                    <p:anim calcmode="lin" valueType="num">
                                      <p:cBhvr>
                                        <p:cTn id="37" dur="1000" fill="hold"/>
                                        <p:tgtEl>
                                          <p:spTgt spid="322"/>
                                        </p:tgtEl>
                                        <p:attrNameLst>
                                          <p:attrName>ppt_x</p:attrName>
                                        </p:attrNameLst>
                                      </p:cBhvr>
                                      <p:tavLst>
                                        <p:tav tm="0">
                                          <p:val>
                                            <p:strVal val="0-#ppt_w/2"/>
                                          </p:val>
                                        </p:tav>
                                        <p:tav tm="100000">
                                          <p:val>
                                            <p:strVal val="#ppt_x"/>
                                          </p:val>
                                        </p:tav>
                                      </p:tavLst>
                                    </p:anim>
                                    <p:anim calcmode="lin" valueType="num">
                                      <p:cBhvr>
                                        <p:cTn id="38" dur="1000" fill="hold"/>
                                        <p:tgtEl>
                                          <p:spTgt spid="322"/>
                                        </p:tgtEl>
                                        <p:attrNameLst>
                                          <p:attrName>ppt_y</p:attrName>
                                        </p:attrNameLst>
                                      </p:cBhvr>
                                      <p:tavLst>
                                        <p:tav tm="0">
                                          <p:val>
                                            <p:strVal val="#ppt_y"/>
                                          </p:val>
                                        </p:tav>
                                        <p:tav tm="100000">
                                          <p:val>
                                            <p:strVal val="#ppt_y"/>
                                          </p:val>
                                        </p:tav>
                                      </p:tavLst>
                                    </p:anim>
                                  </p:childTnLst>
                                </p:cTn>
                              </p:par>
                            </p:childTnLst>
                          </p:cTn>
                        </p:par>
                        <p:par>
                          <p:cTn id="39" fill="hold">
                            <p:stCondLst>
                              <p:cond delay="6000"/>
                            </p:stCondLst>
                            <p:childTnLst>
                              <p:par>
                                <p:cTn id="40" presetClass="entr" nodeType="afterEffect" presetSubtype="8" presetID="2" grpId="8" fill="hold">
                                  <p:stCondLst>
                                    <p:cond delay="0"/>
                                  </p:stCondLst>
                                  <p:iterate type="el" backwards="0">
                                    <p:tmAbs val="0"/>
                                  </p:iterate>
                                  <p:childTnLst>
                                    <p:set>
                                      <p:cBhvr>
                                        <p:cTn id="41" fill="hold"/>
                                        <p:tgtEl>
                                          <p:spTgt spid="323"/>
                                        </p:tgtEl>
                                        <p:attrNameLst>
                                          <p:attrName>style.visibility</p:attrName>
                                        </p:attrNameLst>
                                      </p:cBhvr>
                                      <p:to>
                                        <p:strVal val="visible"/>
                                      </p:to>
                                    </p:set>
                                    <p:anim calcmode="lin" valueType="num">
                                      <p:cBhvr>
                                        <p:cTn id="42" dur="1000" fill="hold"/>
                                        <p:tgtEl>
                                          <p:spTgt spid="323"/>
                                        </p:tgtEl>
                                        <p:attrNameLst>
                                          <p:attrName>ppt_x</p:attrName>
                                        </p:attrNameLst>
                                      </p:cBhvr>
                                      <p:tavLst>
                                        <p:tav tm="0">
                                          <p:val>
                                            <p:strVal val="0-#ppt_w/2"/>
                                          </p:val>
                                        </p:tav>
                                        <p:tav tm="100000">
                                          <p:val>
                                            <p:strVal val="#ppt_x"/>
                                          </p:val>
                                        </p:tav>
                                      </p:tavLst>
                                    </p:anim>
                                    <p:anim calcmode="lin" valueType="num">
                                      <p:cBhvr>
                                        <p:cTn id="43" dur="1000" fill="hold"/>
                                        <p:tgtEl>
                                          <p:spTgt spid="323"/>
                                        </p:tgtEl>
                                        <p:attrNameLst>
                                          <p:attrName>ppt_y</p:attrName>
                                        </p:attrNameLst>
                                      </p:cBhvr>
                                      <p:tavLst>
                                        <p:tav tm="0">
                                          <p:val>
                                            <p:strVal val="#ppt_y"/>
                                          </p:val>
                                        </p:tav>
                                        <p:tav tm="100000">
                                          <p:val>
                                            <p:strVal val="#ppt_y"/>
                                          </p:val>
                                        </p:tav>
                                      </p:tavLst>
                                    </p:anim>
                                  </p:childTnLst>
                                </p:cTn>
                              </p:par>
                            </p:childTnLst>
                          </p:cTn>
                        </p:par>
                        <p:par>
                          <p:cTn id="44" fill="hold">
                            <p:stCondLst>
                              <p:cond delay="7000"/>
                            </p:stCondLst>
                            <p:childTnLst>
                              <p:par>
                                <p:cTn id="45" presetClass="entr" nodeType="afterEffect" presetSubtype="8" presetID="2" grpId="9" fill="hold">
                                  <p:stCondLst>
                                    <p:cond delay="0"/>
                                  </p:stCondLst>
                                  <p:iterate type="el" backwards="0">
                                    <p:tmAbs val="0"/>
                                  </p:iterate>
                                  <p:childTnLst>
                                    <p:set>
                                      <p:cBhvr>
                                        <p:cTn id="46" fill="hold"/>
                                        <p:tgtEl>
                                          <p:spTgt spid="324"/>
                                        </p:tgtEl>
                                        <p:attrNameLst>
                                          <p:attrName>style.visibility</p:attrName>
                                        </p:attrNameLst>
                                      </p:cBhvr>
                                      <p:to>
                                        <p:strVal val="visible"/>
                                      </p:to>
                                    </p:set>
                                    <p:anim calcmode="lin" valueType="num">
                                      <p:cBhvr>
                                        <p:cTn id="47" dur="1000" fill="hold"/>
                                        <p:tgtEl>
                                          <p:spTgt spid="324"/>
                                        </p:tgtEl>
                                        <p:attrNameLst>
                                          <p:attrName>ppt_x</p:attrName>
                                        </p:attrNameLst>
                                      </p:cBhvr>
                                      <p:tavLst>
                                        <p:tav tm="0">
                                          <p:val>
                                            <p:strVal val="0-#ppt_w/2"/>
                                          </p:val>
                                        </p:tav>
                                        <p:tav tm="100000">
                                          <p:val>
                                            <p:strVal val="#ppt_x"/>
                                          </p:val>
                                        </p:tav>
                                      </p:tavLst>
                                    </p:anim>
                                    <p:anim calcmode="lin" valueType="num">
                                      <p:cBhvr>
                                        <p:cTn id="48" dur="1000" fill="hold"/>
                                        <p:tgtEl>
                                          <p:spTgt spid="324"/>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Class="entr" nodeType="clickEffect" presetSubtype="8" presetID="2" grpId="10" fill="hold">
                                  <p:stCondLst>
                                    <p:cond delay="0"/>
                                  </p:stCondLst>
                                  <p:iterate type="el" backwards="0">
                                    <p:tmAbs val="0"/>
                                  </p:iterate>
                                  <p:childTnLst>
                                    <p:set>
                                      <p:cBhvr>
                                        <p:cTn id="52" fill="hold"/>
                                        <p:tgtEl>
                                          <p:spTgt spid="326"/>
                                        </p:tgtEl>
                                        <p:attrNameLst>
                                          <p:attrName>style.visibility</p:attrName>
                                        </p:attrNameLst>
                                      </p:cBhvr>
                                      <p:to>
                                        <p:strVal val="visible"/>
                                      </p:to>
                                    </p:set>
                                    <p:anim calcmode="lin" valueType="num">
                                      <p:cBhvr>
                                        <p:cTn id="53" dur="1000" fill="hold"/>
                                        <p:tgtEl>
                                          <p:spTgt spid="326"/>
                                        </p:tgtEl>
                                        <p:attrNameLst>
                                          <p:attrName>ppt_x</p:attrName>
                                        </p:attrNameLst>
                                      </p:cBhvr>
                                      <p:tavLst>
                                        <p:tav tm="0">
                                          <p:val>
                                            <p:strVal val="0-#ppt_w/2"/>
                                          </p:val>
                                        </p:tav>
                                        <p:tav tm="100000">
                                          <p:val>
                                            <p:strVal val="#ppt_x"/>
                                          </p:val>
                                        </p:tav>
                                      </p:tavLst>
                                    </p:anim>
                                    <p:anim calcmode="lin" valueType="num">
                                      <p:cBhvr>
                                        <p:cTn id="54" dur="1000" fill="hold"/>
                                        <p:tgtEl>
                                          <p:spTgt spid="326"/>
                                        </p:tgtEl>
                                        <p:attrNameLst>
                                          <p:attrName>ppt_y</p:attrName>
                                        </p:attrNameLst>
                                      </p:cBhvr>
                                      <p:tavLst>
                                        <p:tav tm="0">
                                          <p:val>
                                            <p:strVal val="#ppt_y"/>
                                          </p:val>
                                        </p:tav>
                                        <p:tav tm="100000">
                                          <p:val>
                                            <p:strVal val="#ppt_y"/>
                                          </p:val>
                                        </p:tav>
                                      </p:tavLst>
                                    </p:anim>
                                  </p:childTnLst>
                                </p:cTn>
                              </p:par>
                            </p:childTnLst>
                          </p:cTn>
                        </p:par>
                        <p:par>
                          <p:cTn id="55" fill="hold">
                            <p:stCondLst>
                              <p:cond delay="1000"/>
                            </p:stCondLst>
                            <p:childTnLst>
                              <p:par>
                                <p:cTn id="56" presetClass="entr" nodeType="afterEffect" presetSubtype="8" presetID="2" grpId="11" fill="hold">
                                  <p:stCondLst>
                                    <p:cond delay="0"/>
                                  </p:stCondLst>
                                  <p:iterate type="el" backwards="0">
                                    <p:tmAbs val="0"/>
                                  </p:iterate>
                                  <p:childTnLst>
                                    <p:set>
                                      <p:cBhvr>
                                        <p:cTn id="57" fill="hold"/>
                                        <p:tgtEl>
                                          <p:spTgt spid="327"/>
                                        </p:tgtEl>
                                        <p:attrNameLst>
                                          <p:attrName>style.visibility</p:attrName>
                                        </p:attrNameLst>
                                      </p:cBhvr>
                                      <p:to>
                                        <p:strVal val="visible"/>
                                      </p:to>
                                    </p:set>
                                    <p:anim calcmode="lin" valueType="num">
                                      <p:cBhvr>
                                        <p:cTn id="58" dur="1000" fill="hold"/>
                                        <p:tgtEl>
                                          <p:spTgt spid="327"/>
                                        </p:tgtEl>
                                        <p:attrNameLst>
                                          <p:attrName>ppt_x</p:attrName>
                                        </p:attrNameLst>
                                      </p:cBhvr>
                                      <p:tavLst>
                                        <p:tav tm="0">
                                          <p:val>
                                            <p:strVal val="0-#ppt_w/2"/>
                                          </p:val>
                                        </p:tav>
                                        <p:tav tm="100000">
                                          <p:val>
                                            <p:strVal val="#ppt_x"/>
                                          </p:val>
                                        </p:tav>
                                      </p:tavLst>
                                    </p:anim>
                                    <p:anim calcmode="lin" valueType="num">
                                      <p:cBhvr>
                                        <p:cTn id="59" dur="1000" fill="hold"/>
                                        <p:tgtEl>
                                          <p:spTgt spid="327"/>
                                        </p:tgtEl>
                                        <p:attrNameLst>
                                          <p:attrName>ppt_y</p:attrName>
                                        </p:attrNameLst>
                                      </p:cBhvr>
                                      <p:tavLst>
                                        <p:tav tm="0">
                                          <p:val>
                                            <p:strVal val="#ppt_y"/>
                                          </p:val>
                                        </p:tav>
                                        <p:tav tm="100000">
                                          <p:val>
                                            <p:strVal val="#ppt_y"/>
                                          </p:val>
                                        </p:tav>
                                      </p:tavLst>
                                    </p:anim>
                                  </p:childTnLst>
                                </p:cTn>
                              </p:par>
                            </p:childTnLst>
                          </p:cTn>
                        </p:par>
                        <p:par>
                          <p:cTn id="60" fill="hold">
                            <p:stCondLst>
                              <p:cond delay="2000"/>
                            </p:stCondLst>
                            <p:childTnLst>
                              <p:par>
                                <p:cTn id="61" presetClass="entr" nodeType="afterEffect" presetSubtype="8" presetID="2" grpId="12" fill="hold">
                                  <p:stCondLst>
                                    <p:cond delay="0"/>
                                  </p:stCondLst>
                                  <p:iterate type="el" backwards="0">
                                    <p:tmAbs val="0"/>
                                  </p:iterate>
                                  <p:childTnLst>
                                    <p:set>
                                      <p:cBhvr>
                                        <p:cTn id="62" fill="hold"/>
                                        <p:tgtEl>
                                          <p:spTgt spid="328"/>
                                        </p:tgtEl>
                                        <p:attrNameLst>
                                          <p:attrName>style.visibility</p:attrName>
                                        </p:attrNameLst>
                                      </p:cBhvr>
                                      <p:to>
                                        <p:strVal val="visible"/>
                                      </p:to>
                                    </p:set>
                                    <p:anim calcmode="lin" valueType="num">
                                      <p:cBhvr>
                                        <p:cTn id="63" dur="1000" fill="hold"/>
                                        <p:tgtEl>
                                          <p:spTgt spid="328"/>
                                        </p:tgtEl>
                                        <p:attrNameLst>
                                          <p:attrName>ppt_x</p:attrName>
                                        </p:attrNameLst>
                                      </p:cBhvr>
                                      <p:tavLst>
                                        <p:tav tm="0">
                                          <p:val>
                                            <p:strVal val="0-#ppt_w/2"/>
                                          </p:val>
                                        </p:tav>
                                        <p:tav tm="100000">
                                          <p:val>
                                            <p:strVal val="#ppt_x"/>
                                          </p:val>
                                        </p:tav>
                                      </p:tavLst>
                                    </p:anim>
                                    <p:anim calcmode="lin" valueType="num">
                                      <p:cBhvr>
                                        <p:cTn id="64" dur="1000" fill="hold"/>
                                        <p:tgtEl>
                                          <p:spTgt spid="328"/>
                                        </p:tgtEl>
                                        <p:attrNameLst>
                                          <p:attrName>ppt_y</p:attrName>
                                        </p:attrNameLst>
                                      </p:cBhvr>
                                      <p:tavLst>
                                        <p:tav tm="0">
                                          <p:val>
                                            <p:strVal val="#ppt_y"/>
                                          </p:val>
                                        </p:tav>
                                        <p:tav tm="100000">
                                          <p:val>
                                            <p:strVal val="#ppt_y"/>
                                          </p:val>
                                        </p:tav>
                                      </p:tavLst>
                                    </p:anim>
                                  </p:childTnLst>
                                </p:cTn>
                              </p:par>
                            </p:childTnLst>
                          </p:cTn>
                        </p:par>
                        <p:par>
                          <p:cTn id="65" fill="hold">
                            <p:stCondLst>
                              <p:cond delay="3000"/>
                            </p:stCondLst>
                            <p:childTnLst>
                              <p:par>
                                <p:cTn id="66" presetClass="entr" nodeType="afterEffect" presetSubtype="8" presetID="2" grpId="13" fill="hold">
                                  <p:stCondLst>
                                    <p:cond delay="0"/>
                                  </p:stCondLst>
                                  <p:iterate type="el" backwards="0">
                                    <p:tmAbs val="0"/>
                                  </p:iterate>
                                  <p:childTnLst>
                                    <p:set>
                                      <p:cBhvr>
                                        <p:cTn id="67" fill="hold"/>
                                        <p:tgtEl>
                                          <p:spTgt spid="329"/>
                                        </p:tgtEl>
                                        <p:attrNameLst>
                                          <p:attrName>style.visibility</p:attrName>
                                        </p:attrNameLst>
                                      </p:cBhvr>
                                      <p:to>
                                        <p:strVal val="visible"/>
                                      </p:to>
                                    </p:set>
                                    <p:anim calcmode="lin" valueType="num">
                                      <p:cBhvr>
                                        <p:cTn id="68" dur="1000" fill="hold"/>
                                        <p:tgtEl>
                                          <p:spTgt spid="329"/>
                                        </p:tgtEl>
                                        <p:attrNameLst>
                                          <p:attrName>ppt_x</p:attrName>
                                        </p:attrNameLst>
                                      </p:cBhvr>
                                      <p:tavLst>
                                        <p:tav tm="0">
                                          <p:val>
                                            <p:strVal val="0-#ppt_w/2"/>
                                          </p:val>
                                        </p:tav>
                                        <p:tav tm="100000">
                                          <p:val>
                                            <p:strVal val="#ppt_x"/>
                                          </p:val>
                                        </p:tav>
                                      </p:tavLst>
                                    </p:anim>
                                    <p:anim calcmode="lin" valueType="num">
                                      <p:cBhvr>
                                        <p:cTn id="69" dur="1000" fill="hold"/>
                                        <p:tgtEl>
                                          <p:spTgt spid="329"/>
                                        </p:tgtEl>
                                        <p:attrNameLst>
                                          <p:attrName>ppt_y</p:attrName>
                                        </p:attrNameLst>
                                      </p:cBhvr>
                                      <p:tavLst>
                                        <p:tav tm="0">
                                          <p:val>
                                            <p:strVal val="#ppt_y"/>
                                          </p:val>
                                        </p:tav>
                                        <p:tav tm="100000">
                                          <p:val>
                                            <p:strVal val="#ppt_y"/>
                                          </p:val>
                                        </p:tav>
                                      </p:tavLst>
                                    </p:anim>
                                  </p:childTnLst>
                                </p:cTn>
                              </p:par>
                            </p:childTnLst>
                          </p:cTn>
                        </p:par>
                        <p:par>
                          <p:cTn id="70" fill="hold">
                            <p:stCondLst>
                              <p:cond delay="4000"/>
                            </p:stCondLst>
                            <p:childTnLst>
                              <p:par>
                                <p:cTn id="71" presetClass="entr" nodeType="afterEffect" presetSubtype="8" presetID="2" grpId="14" fill="hold">
                                  <p:stCondLst>
                                    <p:cond delay="0"/>
                                  </p:stCondLst>
                                  <p:iterate type="el" backwards="0">
                                    <p:tmAbs val="0"/>
                                  </p:iterate>
                                  <p:childTnLst>
                                    <p:set>
                                      <p:cBhvr>
                                        <p:cTn id="72" fill="hold"/>
                                        <p:tgtEl>
                                          <p:spTgt spid="330"/>
                                        </p:tgtEl>
                                        <p:attrNameLst>
                                          <p:attrName>style.visibility</p:attrName>
                                        </p:attrNameLst>
                                      </p:cBhvr>
                                      <p:to>
                                        <p:strVal val="visible"/>
                                      </p:to>
                                    </p:set>
                                    <p:anim calcmode="lin" valueType="num">
                                      <p:cBhvr>
                                        <p:cTn id="73" dur="1000" fill="hold"/>
                                        <p:tgtEl>
                                          <p:spTgt spid="330"/>
                                        </p:tgtEl>
                                        <p:attrNameLst>
                                          <p:attrName>ppt_x</p:attrName>
                                        </p:attrNameLst>
                                      </p:cBhvr>
                                      <p:tavLst>
                                        <p:tav tm="0">
                                          <p:val>
                                            <p:strVal val="0-#ppt_w/2"/>
                                          </p:val>
                                        </p:tav>
                                        <p:tav tm="100000">
                                          <p:val>
                                            <p:strVal val="#ppt_x"/>
                                          </p:val>
                                        </p:tav>
                                      </p:tavLst>
                                    </p:anim>
                                    <p:anim calcmode="lin" valueType="num">
                                      <p:cBhvr>
                                        <p:cTn id="74" dur="1000" fill="hold"/>
                                        <p:tgtEl>
                                          <p:spTgt spid="330"/>
                                        </p:tgtEl>
                                        <p:attrNameLst>
                                          <p:attrName>ppt_y</p:attrName>
                                        </p:attrNameLst>
                                      </p:cBhvr>
                                      <p:tavLst>
                                        <p:tav tm="0">
                                          <p:val>
                                            <p:strVal val="#ppt_y"/>
                                          </p:val>
                                        </p:tav>
                                        <p:tav tm="100000">
                                          <p:val>
                                            <p:strVal val="#ppt_y"/>
                                          </p:val>
                                        </p:tav>
                                      </p:tavLst>
                                    </p:anim>
                                  </p:childTnLst>
                                </p:cTn>
                              </p:par>
                            </p:childTnLst>
                          </p:cTn>
                        </p:par>
                        <p:par>
                          <p:cTn id="75" fill="hold">
                            <p:stCondLst>
                              <p:cond delay="5000"/>
                            </p:stCondLst>
                            <p:childTnLst>
                              <p:par>
                                <p:cTn id="76" presetClass="entr" nodeType="afterEffect" presetSubtype="8" presetID="2" grpId="15" fill="hold">
                                  <p:stCondLst>
                                    <p:cond delay="0"/>
                                  </p:stCondLst>
                                  <p:iterate type="el" backwards="0">
                                    <p:tmAbs val="0"/>
                                  </p:iterate>
                                  <p:childTnLst>
                                    <p:set>
                                      <p:cBhvr>
                                        <p:cTn id="77" fill="hold"/>
                                        <p:tgtEl>
                                          <p:spTgt spid="331"/>
                                        </p:tgtEl>
                                        <p:attrNameLst>
                                          <p:attrName>style.visibility</p:attrName>
                                        </p:attrNameLst>
                                      </p:cBhvr>
                                      <p:to>
                                        <p:strVal val="visible"/>
                                      </p:to>
                                    </p:set>
                                    <p:anim calcmode="lin" valueType="num">
                                      <p:cBhvr>
                                        <p:cTn id="78" dur="1000" fill="hold"/>
                                        <p:tgtEl>
                                          <p:spTgt spid="331"/>
                                        </p:tgtEl>
                                        <p:attrNameLst>
                                          <p:attrName>ppt_x</p:attrName>
                                        </p:attrNameLst>
                                      </p:cBhvr>
                                      <p:tavLst>
                                        <p:tav tm="0">
                                          <p:val>
                                            <p:strVal val="0-#ppt_w/2"/>
                                          </p:val>
                                        </p:tav>
                                        <p:tav tm="100000">
                                          <p:val>
                                            <p:strVal val="#ppt_x"/>
                                          </p:val>
                                        </p:tav>
                                      </p:tavLst>
                                    </p:anim>
                                    <p:anim calcmode="lin" valueType="num">
                                      <p:cBhvr>
                                        <p:cTn id="79" dur="1000" fill="hold"/>
                                        <p:tgtEl>
                                          <p:spTgt spid="331"/>
                                        </p:tgtEl>
                                        <p:attrNameLst>
                                          <p:attrName>ppt_y</p:attrName>
                                        </p:attrNameLst>
                                      </p:cBhvr>
                                      <p:tavLst>
                                        <p:tav tm="0">
                                          <p:val>
                                            <p:strVal val="#ppt_y"/>
                                          </p:val>
                                        </p:tav>
                                        <p:tav tm="100000">
                                          <p:val>
                                            <p:strVal val="#ppt_y"/>
                                          </p:val>
                                        </p:tav>
                                      </p:tavLst>
                                    </p:anim>
                                  </p:childTnLst>
                                </p:cTn>
                              </p:par>
                            </p:childTnLst>
                          </p:cTn>
                        </p:par>
                        <p:par>
                          <p:cTn id="80" fill="hold">
                            <p:stCondLst>
                              <p:cond delay="6000"/>
                            </p:stCondLst>
                            <p:childTnLst>
                              <p:par>
                                <p:cTn id="81" presetClass="entr" nodeType="afterEffect" presetSubtype="8" presetID="2" grpId="16" fill="hold">
                                  <p:stCondLst>
                                    <p:cond delay="0"/>
                                  </p:stCondLst>
                                  <p:iterate type="el" backwards="0">
                                    <p:tmAbs val="0"/>
                                  </p:iterate>
                                  <p:childTnLst>
                                    <p:set>
                                      <p:cBhvr>
                                        <p:cTn id="82" fill="hold"/>
                                        <p:tgtEl>
                                          <p:spTgt spid="332"/>
                                        </p:tgtEl>
                                        <p:attrNameLst>
                                          <p:attrName>style.visibility</p:attrName>
                                        </p:attrNameLst>
                                      </p:cBhvr>
                                      <p:to>
                                        <p:strVal val="visible"/>
                                      </p:to>
                                    </p:set>
                                    <p:anim calcmode="lin" valueType="num">
                                      <p:cBhvr>
                                        <p:cTn id="83" dur="1000" fill="hold"/>
                                        <p:tgtEl>
                                          <p:spTgt spid="332"/>
                                        </p:tgtEl>
                                        <p:attrNameLst>
                                          <p:attrName>ppt_x</p:attrName>
                                        </p:attrNameLst>
                                      </p:cBhvr>
                                      <p:tavLst>
                                        <p:tav tm="0">
                                          <p:val>
                                            <p:strVal val="0-#ppt_w/2"/>
                                          </p:val>
                                        </p:tav>
                                        <p:tav tm="100000">
                                          <p:val>
                                            <p:strVal val="#ppt_x"/>
                                          </p:val>
                                        </p:tav>
                                      </p:tavLst>
                                    </p:anim>
                                    <p:anim calcmode="lin" valueType="num">
                                      <p:cBhvr>
                                        <p:cTn id="84" dur="1000" fill="hold"/>
                                        <p:tgtEl>
                                          <p:spTgt spid="332"/>
                                        </p:tgtEl>
                                        <p:attrNameLst>
                                          <p:attrName>ppt_y</p:attrName>
                                        </p:attrNameLst>
                                      </p:cBhvr>
                                      <p:tavLst>
                                        <p:tav tm="0">
                                          <p:val>
                                            <p:strVal val="#ppt_y"/>
                                          </p:val>
                                        </p:tav>
                                        <p:tav tm="100000">
                                          <p:val>
                                            <p:strVal val="#ppt_y"/>
                                          </p:val>
                                        </p:tav>
                                      </p:tavLst>
                                    </p:anim>
                                  </p:childTnLst>
                                </p:cTn>
                              </p:par>
                            </p:childTnLst>
                          </p:cTn>
                        </p:par>
                        <p:par>
                          <p:cTn id="85" fill="hold">
                            <p:stCondLst>
                              <p:cond delay="7000"/>
                            </p:stCondLst>
                            <p:childTnLst>
                              <p:par>
                                <p:cTn id="86" presetClass="entr" nodeType="afterEffect" presetSubtype="8" presetID="2" grpId="17" fill="hold">
                                  <p:stCondLst>
                                    <p:cond delay="0"/>
                                  </p:stCondLst>
                                  <p:iterate type="el" backwards="0">
                                    <p:tmAbs val="0"/>
                                  </p:iterate>
                                  <p:childTnLst>
                                    <p:set>
                                      <p:cBhvr>
                                        <p:cTn id="87" fill="hold"/>
                                        <p:tgtEl>
                                          <p:spTgt spid="333"/>
                                        </p:tgtEl>
                                        <p:attrNameLst>
                                          <p:attrName>style.visibility</p:attrName>
                                        </p:attrNameLst>
                                      </p:cBhvr>
                                      <p:to>
                                        <p:strVal val="visible"/>
                                      </p:to>
                                    </p:set>
                                    <p:anim calcmode="lin" valueType="num">
                                      <p:cBhvr>
                                        <p:cTn id="88" dur="1000" fill="hold"/>
                                        <p:tgtEl>
                                          <p:spTgt spid="333"/>
                                        </p:tgtEl>
                                        <p:attrNameLst>
                                          <p:attrName>ppt_x</p:attrName>
                                        </p:attrNameLst>
                                      </p:cBhvr>
                                      <p:tavLst>
                                        <p:tav tm="0">
                                          <p:val>
                                            <p:strVal val="0-#ppt_w/2"/>
                                          </p:val>
                                        </p:tav>
                                        <p:tav tm="100000">
                                          <p:val>
                                            <p:strVal val="#ppt_x"/>
                                          </p:val>
                                        </p:tav>
                                      </p:tavLst>
                                    </p:anim>
                                    <p:anim calcmode="lin" valueType="num">
                                      <p:cBhvr>
                                        <p:cTn id="89" dur="1000" fill="hold"/>
                                        <p:tgtEl>
                                          <p:spTgt spid="333"/>
                                        </p:tgtEl>
                                        <p:attrNameLst>
                                          <p:attrName>ppt_y</p:attrName>
                                        </p:attrNameLst>
                                      </p:cBhvr>
                                      <p:tavLst>
                                        <p:tav tm="0">
                                          <p:val>
                                            <p:strVal val="#ppt_y"/>
                                          </p:val>
                                        </p:tav>
                                        <p:tav tm="100000">
                                          <p:val>
                                            <p:strVal val="#ppt_y"/>
                                          </p:val>
                                        </p:tav>
                                      </p:tavLst>
                                    </p:anim>
                                  </p:childTnLst>
                                </p:cTn>
                              </p:par>
                            </p:childTnLst>
                          </p:cTn>
                        </p:par>
                        <p:par>
                          <p:cTn id="90" fill="hold">
                            <p:stCondLst>
                              <p:cond delay="8000"/>
                            </p:stCondLst>
                            <p:childTnLst>
                              <p:par>
                                <p:cTn id="91" presetClass="entr" nodeType="afterEffect" presetSubtype="8" presetID="2" grpId="18" fill="hold">
                                  <p:stCondLst>
                                    <p:cond delay="0"/>
                                  </p:stCondLst>
                                  <p:iterate type="el" backwards="0">
                                    <p:tmAbs val="0"/>
                                  </p:iterate>
                                  <p:childTnLst>
                                    <p:set>
                                      <p:cBhvr>
                                        <p:cTn id="92" fill="hold"/>
                                        <p:tgtEl>
                                          <p:spTgt spid="334"/>
                                        </p:tgtEl>
                                        <p:attrNameLst>
                                          <p:attrName>style.visibility</p:attrName>
                                        </p:attrNameLst>
                                      </p:cBhvr>
                                      <p:to>
                                        <p:strVal val="visible"/>
                                      </p:to>
                                    </p:set>
                                    <p:anim calcmode="lin" valueType="num">
                                      <p:cBhvr>
                                        <p:cTn id="93" dur="1000" fill="hold"/>
                                        <p:tgtEl>
                                          <p:spTgt spid="334"/>
                                        </p:tgtEl>
                                        <p:attrNameLst>
                                          <p:attrName>ppt_x</p:attrName>
                                        </p:attrNameLst>
                                      </p:cBhvr>
                                      <p:tavLst>
                                        <p:tav tm="0">
                                          <p:val>
                                            <p:strVal val="0-#ppt_w/2"/>
                                          </p:val>
                                        </p:tav>
                                        <p:tav tm="100000">
                                          <p:val>
                                            <p:strVal val="#ppt_x"/>
                                          </p:val>
                                        </p:tav>
                                      </p:tavLst>
                                    </p:anim>
                                    <p:anim calcmode="lin" valueType="num">
                                      <p:cBhvr>
                                        <p:cTn id="94" dur="1000" fill="hold"/>
                                        <p:tgtEl>
                                          <p:spTgt spid="334"/>
                                        </p:tgtEl>
                                        <p:attrNameLst>
                                          <p:attrName>ppt_y</p:attrName>
                                        </p:attrNameLst>
                                      </p:cBhvr>
                                      <p:tavLst>
                                        <p:tav tm="0">
                                          <p:val>
                                            <p:strVal val="#ppt_y"/>
                                          </p:val>
                                        </p:tav>
                                        <p:tav tm="100000">
                                          <p:val>
                                            <p:strVal val="#ppt_y"/>
                                          </p:val>
                                        </p:tav>
                                      </p:tavLst>
                                    </p:anim>
                                  </p:childTnLst>
                                </p:cTn>
                              </p:par>
                            </p:childTnLst>
                          </p:cTn>
                        </p:par>
                        <p:par>
                          <p:cTn id="95" fill="hold">
                            <p:stCondLst>
                              <p:cond delay="9000"/>
                            </p:stCondLst>
                            <p:childTnLst>
                              <p:par>
                                <p:cTn id="96" presetClass="entr" nodeType="afterEffect" presetSubtype="8" presetID="2" grpId="19" fill="hold">
                                  <p:stCondLst>
                                    <p:cond delay="0"/>
                                  </p:stCondLst>
                                  <p:iterate type="el" backwards="0">
                                    <p:tmAbs val="0"/>
                                  </p:iterate>
                                  <p:childTnLst>
                                    <p:set>
                                      <p:cBhvr>
                                        <p:cTn id="97" fill="hold"/>
                                        <p:tgtEl>
                                          <p:spTgt spid="335"/>
                                        </p:tgtEl>
                                        <p:attrNameLst>
                                          <p:attrName>style.visibility</p:attrName>
                                        </p:attrNameLst>
                                      </p:cBhvr>
                                      <p:to>
                                        <p:strVal val="visible"/>
                                      </p:to>
                                    </p:set>
                                    <p:anim calcmode="lin" valueType="num">
                                      <p:cBhvr>
                                        <p:cTn id="98" dur="1000" fill="hold"/>
                                        <p:tgtEl>
                                          <p:spTgt spid="335"/>
                                        </p:tgtEl>
                                        <p:attrNameLst>
                                          <p:attrName>ppt_x</p:attrName>
                                        </p:attrNameLst>
                                      </p:cBhvr>
                                      <p:tavLst>
                                        <p:tav tm="0">
                                          <p:val>
                                            <p:strVal val="0-#ppt_w/2"/>
                                          </p:val>
                                        </p:tav>
                                        <p:tav tm="100000">
                                          <p:val>
                                            <p:strVal val="#ppt_x"/>
                                          </p:val>
                                        </p:tav>
                                      </p:tavLst>
                                    </p:anim>
                                    <p:anim calcmode="lin" valueType="num">
                                      <p:cBhvr>
                                        <p:cTn id="99" dur="1000" fill="hold"/>
                                        <p:tgtEl>
                                          <p:spTgt spid="335"/>
                                        </p:tgtEl>
                                        <p:attrNameLst>
                                          <p:attrName>ppt_y</p:attrName>
                                        </p:attrNameLst>
                                      </p:cBhvr>
                                      <p:tavLst>
                                        <p:tav tm="0">
                                          <p:val>
                                            <p:strVal val="#ppt_y"/>
                                          </p:val>
                                        </p:tav>
                                        <p:tav tm="100000">
                                          <p:val>
                                            <p:strVal val="#ppt_y"/>
                                          </p:val>
                                        </p:tav>
                                      </p:tavLst>
                                    </p:anim>
                                  </p:childTnLst>
                                </p:cTn>
                              </p:par>
                            </p:childTnLst>
                          </p:cTn>
                        </p:par>
                        <p:par>
                          <p:cTn id="100" fill="hold">
                            <p:stCondLst>
                              <p:cond delay="10000"/>
                            </p:stCondLst>
                            <p:childTnLst>
                              <p:par>
                                <p:cTn id="101" presetClass="entr" nodeType="afterEffect" presetSubtype="8" presetID="2" grpId="20" fill="hold">
                                  <p:stCondLst>
                                    <p:cond delay="0"/>
                                  </p:stCondLst>
                                  <p:iterate type="el" backwards="0">
                                    <p:tmAbs val="0"/>
                                  </p:iterate>
                                  <p:childTnLst>
                                    <p:set>
                                      <p:cBhvr>
                                        <p:cTn id="102" fill="hold"/>
                                        <p:tgtEl>
                                          <p:spTgt spid="336"/>
                                        </p:tgtEl>
                                        <p:attrNameLst>
                                          <p:attrName>style.visibility</p:attrName>
                                        </p:attrNameLst>
                                      </p:cBhvr>
                                      <p:to>
                                        <p:strVal val="visible"/>
                                      </p:to>
                                    </p:set>
                                    <p:anim calcmode="lin" valueType="num">
                                      <p:cBhvr>
                                        <p:cTn id="103" dur="1000" fill="hold"/>
                                        <p:tgtEl>
                                          <p:spTgt spid="336"/>
                                        </p:tgtEl>
                                        <p:attrNameLst>
                                          <p:attrName>ppt_x</p:attrName>
                                        </p:attrNameLst>
                                      </p:cBhvr>
                                      <p:tavLst>
                                        <p:tav tm="0">
                                          <p:val>
                                            <p:strVal val="0-#ppt_w/2"/>
                                          </p:val>
                                        </p:tav>
                                        <p:tav tm="100000">
                                          <p:val>
                                            <p:strVal val="#ppt_x"/>
                                          </p:val>
                                        </p:tav>
                                      </p:tavLst>
                                    </p:anim>
                                    <p:anim calcmode="lin" valueType="num">
                                      <p:cBhvr>
                                        <p:cTn id="104" dur="1000" fill="hold"/>
                                        <p:tgtEl>
                                          <p:spTgt spid="336"/>
                                        </p:tgtEl>
                                        <p:attrNameLst>
                                          <p:attrName>ppt_y</p:attrName>
                                        </p:attrNameLst>
                                      </p:cBhvr>
                                      <p:tavLst>
                                        <p:tav tm="0">
                                          <p:val>
                                            <p:strVal val="#ppt_y"/>
                                          </p:val>
                                        </p:tav>
                                        <p:tav tm="100000">
                                          <p:val>
                                            <p:strVal val="#ppt_y"/>
                                          </p:val>
                                        </p:tav>
                                      </p:tavLst>
                                    </p:anim>
                                  </p:childTnLst>
                                </p:cTn>
                              </p:par>
                            </p:childTnLst>
                          </p:cTn>
                        </p:par>
                        <p:par>
                          <p:cTn id="105" fill="hold">
                            <p:stCondLst>
                              <p:cond delay="11000"/>
                            </p:stCondLst>
                            <p:childTnLst>
                              <p:par>
                                <p:cTn id="106" presetClass="entr" nodeType="afterEffect" presetSubtype="8" presetID="2" grpId="21" fill="hold">
                                  <p:stCondLst>
                                    <p:cond delay="0"/>
                                  </p:stCondLst>
                                  <p:iterate type="el" backwards="0">
                                    <p:tmAbs val="0"/>
                                  </p:iterate>
                                  <p:childTnLst>
                                    <p:set>
                                      <p:cBhvr>
                                        <p:cTn id="107" fill="hold"/>
                                        <p:tgtEl>
                                          <p:spTgt spid="337"/>
                                        </p:tgtEl>
                                        <p:attrNameLst>
                                          <p:attrName>style.visibility</p:attrName>
                                        </p:attrNameLst>
                                      </p:cBhvr>
                                      <p:to>
                                        <p:strVal val="visible"/>
                                      </p:to>
                                    </p:set>
                                    <p:anim calcmode="lin" valueType="num">
                                      <p:cBhvr>
                                        <p:cTn id="108" dur="1000" fill="hold"/>
                                        <p:tgtEl>
                                          <p:spTgt spid="337"/>
                                        </p:tgtEl>
                                        <p:attrNameLst>
                                          <p:attrName>ppt_x</p:attrName>
                                        </p:attrNameLst>
                                      </p:cBhvr>
                                      <p:tavLst>
                                        <p:tav tm="0">
                                          <p:val>
                                            <p:strVal val="0-#ppt_w/2"/>
                                          </p:val>
                                        </p:tav>
                                        <p:tav tm="100000">
                                          <p:val>
                                            <p:strVal val="#ppt_x"/>
                                          </p:val>
                                        </p:tav>
                                      </p:tavLst>
                                    </p:anim>
                                    <p:anim calcmode="lin" valueType="num">
                                      <p:cBhvr>
                                        <p:cTn id="109" dur="1000" fill="hold"/>
                                        <p:tgtEl>
                                          <p:spTgt spid="337"/>
                                        </p:tgtEl>
                                        <p:attrNameLst>
                                          <p:attrName>ppt_y</p:attrName>
                                        </p:attrNameLst>
                                      </p:cBhvr>
                                      <p:tavLst>
                                        <p:tav tm="0">
                                          <p:val>
                                            <p:strVal val="#ppt_y"/>
                                          </p:val>
                                        </p:tav>
                                        <p:tav tm="100000">
                                          <p:val>
                                            <p:strVal val="#ppt_y"/>
                                          </p:val>
                                        </p:tav>
                                      </p:tavLst>
                                    </p:anim>
                                  </p:childTnLst>
                                </p:cTn>
                              </p:par>
                            </p:childTnLst>
                          </p:cTn>
                        </p:par>
                        <p:par>
                          <p:cTn id="110" fill="hold">
                            <p:stCondLst>
                              <p:cond delay="12000"/>
                            </p:stCondLst>
                            <p:childTnLst>
                              <p:par>
                                <p:cTn id="111" presetClass="entr" nodeType="afterEffect" presetSubtype="8" presetID="2" grpId="22" fill="hold">
                                  <p:stCondLst>
                                    <p:cond delay="0"/>
                                  </p:stCondLst>
                                  <p:iterate type="el" backwards="0">
                                    <p:tmAbs val="0"/>
                                  </p:iterate>
                                  <p:childTnLst>
                                    <p:set>
                                      <p:cBhvr>
                                        <p:cTn id="112" fill="hold"/>
                                        <p:tgtEl>
                                          <p:spTgt spid="338"/>
                                        </p:tgtEl>
                                        <p:attrNameLst>
                                          <p:attrName>style.visibility</p:attrName>
                                        </p:attrNameLst>
                                      </p:cBhvr>
                                      <p:to>
                                        <p:strVal val="visible"/>
                                      </p:to>
                                    </p:set>
                                    <p:anim calcmode="lin" valueType="num">
                                      <p:cBhvr>
                                        <p:cTn id="113" dur="1000" fill="hold"/>
                                        <p:tgtEl>
                                          <p:spTgt spid="338"/>
                                        </p:tgtEl>
                                        <p:attrNameLst>
                                          <p:attrName>ppt_x</p:attrName>
                                        </p:attrNameLst>
                                      </p:cBhvr>
                                      <p:tavLst>
                                        <p:tav tm="0">
                                          <p:val>
                                            <p:strVal val="0-#ppt_w/2"/>
                                          </p:val>
                                        </p:tav>
                                        <p:tav tm="100000">
                                          <p:val>
                                            <p:strVal val="#ppt_x"/>
                                          </p:val>
                                        </p:tav>
                                      </p:tavLst>
                                    </p:anim>
                                    <p:anim calcmode="lin" valueType="num">
                                      <p:cBhvr>
                                        <p:cTn id="114" dur="1000" fill="hold"/>
                                        <p:tgtEl>
                                          <p:spTgt spid="338"/>
                                        </p:tgtEl>
                                        <p:attrNameLst>
                                          <p:attrName>ppt_y</p:attrName>
                                        </p:attrNameLst>
                                      </p:cBhvr>
                                      <p:tavLst>
                                        <p:tav tm="0">
                                          <p:val>
                                            <p:strVal val="#ppt_y"/>
                                          </p:val>
                                        </p:tav>
                                        <p:tav tm="100000">
                                          <p:val>
                                            <p:strVal val="#ppt_y"/>
                                          </p:val>
                                        </p:tav>
                                      </p:tavLst>
                                    </p:anim>
                                  </p:childTnLst>
                                </p:cTn>
                              </p:par>
                            </p:childTnLst>
                          </p:cTn>
                        </p:par>
                        <p:par>
                          <p:cTn id="115" fill="hold">
                            <p:stCondLst>
                              <p:cond delay="13000"/>
                            </p:stCondLst>
                            <p:childTnLst>
                              <p:par>
                                <p:cTn id="116" presetClass="entr" nodeType="afterEffect" presetSubtype="8" presetID="2" grpId="23" fill="hold">
                                  <p:stCondLst>
                                    <p:cond delay="0"/>
                                  </p:stCondLst>
                                  <p:iterate type="el" backwards="0">
                                    <p:tmAbs val="0"/>
                                  </p:iterate>
                                  <p:childTnLst>
                                    <p:set>
                                      <p:cBhvr>
                                        <p:cTn id="117" fill="hold"/>
                                        <p:tgtEl>
                                          <p:spTgt spid="339"/>
                                        </p:tgtEl>
                                        <p:attrNameLst>
                                          <p:attrName>style.visibility</p:attrName>
                                        </p:attrNameLst>
                                      </p:cBhvr>
                                      <p:to>
                                        <p:strVal val="visible"/>
                                      </p:to>
                                    </p:set>
                                    <p:anim calcmode="lin" valueType="num">
                                      <p:cBhvr>
                                        <p:cTn id="118" dur="1000" fill="hold"/>
                                        <p:tgtEl>
                                          <p:spTgt spid="339"/>
                                        </p:tgtEl>
                                        <p:attrNameLst>
                                          <p:attrName>ppt_x</p:attrName>
                                        </p:attrNameLst>
                                      </p:cBhvr>
                                      <p:tavLst>
                                        <p:tav tm="0">
                                          <p:val>
                                            <p:strVal val="0-#ppt_w/2"/>
                                          </p:val>
                                        </p:tav>
                                        <p:tav tm="100000">
                                          <p:val>
                                            <p:strVal val="#ppt_x"/>
                                          </p:val>
                                        </p:tav>
                                      </p:tavLst>
                                    </p:anim>
                                    <p:anim calcmode="lin" valueType="num">
                                      <p:cBhvr>
                                        <p:cTn id="119" dur="1000" fill="hold"/>
                                        <p:tgtEl>
                                          <p:spTgt spid="339"/>
                                        </p:tgtEl>
                                        <p:attrNameLst>
                                          <p:attrName>ppt_y</p:attrName>
                                        </p:attrNameLst>
                                      </p:cBhvr>
                                      <p:tavLst>
                                        <p:tav tm="0">
                                          <p:val>
                                            <p:strVal val="#ppt_y"/>
                                          </p:val>
                                        </p:tav>
                                        <p:tav tm="100000">
                                          <p:val>
                                            <p:strVal val="#ppt_y"/>
                                          </p:val>
                                        </p:tav>
                                      </p:tavLst>
                                    </p:anim>
                                  </p:childTnLst>
                                </p:cTn>
                              </p:par>
                            </p:childTnLst>
                          </p:cTn>
                        </p:par>
                        <p:par>
                          <p:cTn id="120" fill="hold">
                            <p:stCondLst>
                              <p:cond delay="14000"/>
                            </p:stCondLst>
                            <p:childTnLst>
                              <p:par>
                                <p:cTn id="121" presetClass="entr" nodeType="afterEffect" presetSubtype="8" presetID="2" grpId="24" fill="hold">
                                  <p:stCondLst>
                                    <p:cond delay="0"/>
                                  </p:stCondLst>
                                  <p:iterate type="el" backwards="0">
                                    <p:tmAbs val="0"/>
                                  </p:iterate>
                                  <p:childTnLst>
                                    <p:set>
                                      <p:cBhvr>
                                        <p:cTn id="122" fill="hold"/>
                                        <p:tgtEl>
                                          <p:spTgt spid="340"/>
                                        </p:tgtEl>
                                        <p:attrNameLst>
                                          <p:attrName>style.visibility</p:attrName>
                                        </p:attrNameLst>
                                      </p:cBhvr>
                                      <p:to>
                                        <p:strVal val="visible"/>
                                      </p:to>
                                    </p:set>
                                    <p:anim calcmode="lin" valueType="num">
                                      <p:cBhvr>
                                        <p:cTn id="123" dur="1000" fill="hold"/>
                                        <p:tgtEl>
                                          <p:spTgt spid="340"/>
                                        </p:tgtEl>
                                        <p:attrNameLst>
                                          <p:attrName>ppt_x</p:attrName>
                                        </p:attrNameLst>
                                      </p:cBhvr>
                                      <p:tavLst>
                                        <p:tav tm="0">
                                          <p:val>
                                            <p:strVal val="0-#ppt_w/2"/>
                                          </p:val>
                                        </p:tav>
                                        <p:tav tm="100000">
                                          <p:val>
                                            <p:strVal val="#ppt_x"/>
                                          </p:val>
                                        </p:tav>
                                      </p:tavLst>
                                    </p:anim>
                                    <p:anim calcmode="lin" valueType="num">
                                      <p:cBhvr>
                                        <p:cTn id="124" dur="1000" fill="hold"/>
                                        <p:tgtEl>
                                          <p:spTgt spid="340"/>
                                        </p:tgtEl>
                                        <p:attrNameLst>
                                          <p:attrName>ppt_y</p:attrName>
                                        </p:attrNameLst>
                                      </p:cBhvr>
                                      <p:tavLst>
                                        <p:tav tm="0">
                                          <p:val>
                                            <p:strVal val="#ppt_y"/>
                                          </p:val>
                                        </p:tav>
                                        <p:tav tm="100000">
                                          <p:val>
                                            <p:strVal val="#ppt_y"/>
                                          </p:val>
                                        </p:tav>
                                      </p:tavLst>
                                    </p:anim>
                                  </p:childTnLst>
                                </p:cTn>
                              </p:par>
                            </p:childTnLst>
                          </p:cTn>
                        </p:par>
                        <p:par>
                          <p:cTn id="125" fill="hold">
                            <p:stCondLst>
                              <p:cond delay="15000"/>
                            </p:stCondLst>
                            <p:childTnLst>
                              <p:par>
                                <p:cTn id="126" presetClass="entr" nodeType="afterEffect" presetSubtype="8" presetID="2" grpId="25" fill="hold">
                                  <p:stCondLst>
                                    <p:cond delay="0"/>
                                  </p:stCondLst>
                                  <p:iterate type="el" backwards="0">
                                    <p:tmAbs val="0"/>
                                  </p:iterate>
                                  <p:childTnLst>
                                    <p:set>
                                      <p:cBhvr>
                                        <p:cTn id="127" fill="hold"/>
                                        <p:tgtEl>
                                          <p:spTgt spid="341"/>
                                        </p:tgtEl>
                                        <p:attrNameLst>
                                          <p:attrName>style.visibility</p:attrName>
                                        </p:attrNameLst>
                                      </p:cBhvr>
                                      <p:to>
                                        <p:strVal val="visible"/>
                                      </p:to>
                                    </p:set>
                                    <p:anim calcmode="lin" valueType="num">
                                      <p:cBhvr>
                                        <p:cTn id="128" dur="1000" fill="hold"/>
                                        <p:tgtEl>
                                          <p:spTgt spid="341"/>
                                        </p:tgtEl>
                                        <p:attrNameLst>
                                          <p:attrName>ppt_x</p:attrName>
                                        </p:attrNameLst>
                                      </p:cBhvr>
                                      <p:tavLst>
                                        <p:tav tm="0">
                                          <p:val>
                                            <p:strVal val="0-#ppt_w/2"/>
                                          </p:val>
                                        </p:tav>
                                        <p:tav tm="100000">
                                          <p:val>
                                            <p:strVal val="#ppt_x"/>
                                          </p:val>
                                        </p:tav>
                                      </p:tavLst>
                                    </p:anim>
                                    <p:anim calcmode="lin" valueType="num">
                                      <p:cBhvr>
                                        <p:cTn id="129" dur="1000" fill="hold"/>
                                        <p:tgtEl>
                                          <p:spTgt spid="341"/>
                                        </p:tgtEl>
                                        <p:attrNameLst>
                                          <p:attrName>ppt_y</p:attrName>
                                        </p:attrNameLst>
                                      </p:cBhvr>
                                      <p:tavLst>
                                        <p:tav tm="0">
                                          <p:val>
                                            <p:strVal val="#ppt_y"/>
                                          </p:val>
                                        </p:tav>
                                        <p:tav tm="100000">
                                          <p:val>
                                            <p:strVal val="#ppt_y"/>
                                          </p:val>
                                        </p:tav>
                                      </p:tavLst>
                                    </p:anim>
                                  </p:childTnLst>
                                </p:cTn>
                              </p:par>
                            </p:childTnLst>
                          </p:cTn>
                        </p:par>
                        <p:par>
                          <p:cTn id="130" fill="hold">
                            <p:stCondLst>
                              <p:cond delay="16000"/>
                            </p:stCondLst>
                            <p:childTnLst>
                              <p:par>
                                <p:cTn id="131" presetClass="entr" nodeType="afterEffect" presetSubtype="8" presetID="2" grpId="26" fill="hold">
                                  <p:stCondLst>
                                    <p:cond delay="0"/>
                                  </p:stCondLst>
                                  <p:iterate type="el" backwards="0">
                                    <p:tmAbs val="0"/>
                                  </p:iterate>
                                  <p:childTnLst>
                                    <p:set>
                                      <p:cBhvr>
                                        <p:cTn id="132" fill="hold"/>
                                        <p:tgtEl>
                                          <p:spTgt spid="342"/>
                                        </p:tgtEl>
                                        <p:attrNameLst>
                                          <p:attrName>style.visibility</p:attrName>
                                        </p:attrNameLst>
                                      </p:cBhvr>
                                      <p:to>
                                        <p:strVal val="visible"/>
                                      </p:to>
                                    </p:set>
                                    <p:anim calcmode="lin" valueType="num">
                                      <p:cBhvr>
                                        <p:cTn id="133" dur="1000" fill="hold"/>
                                        <p:tgtEl>
                                          <p:spTgt spid="342"/>
                                        </p:tgtEl>
                                        <p:attrNameLst>
                                          <p:attrName>ppt_x</p:attrName>
                                        </p:attrNameLst>
                                      </p:cBhvr>
                                      <p:tavLst>
                                        <p:tav tm="0">
                                          <p:val>
                                            <p:strVal val="0-#ppt_w/2"/>
                                          </p:val>
                                        </p:tav>
                                        <p:tav tm="100000">
                                          <p:val>
                                            <p:strVal val="#ppt_x"/>
                                          </p:val>
                                        </p:tav>
                                      </p:tavLst>
                                    </p:anim>
                                    <p:anim calcmode="lin" valueType="num">
                                      <p:cBhvr>
                                        <p:cTn id="134" dur="1000" fill="hold"/>
                                        <p:tgtEl>
                                          <p:spTgt spid="342"/>
                                        </p:tgtEl>
                                        <p:attrNameLst>
                                          <p:attrName>ppt_y</p:attrName>
                                        </p:attrNameLst>
                                      </p:cBhvr>
                                      <p:tavLst>
                                        <p:tav tm="0">
                                          <p:val>
                                            <p:strVal val="#ppt_y"/>
                                          </p:val>
                                        </p:tav>
                                        <p:tav tm="100000">
                                          <p:val>
                                            <p:strVal val="#ppt_y"/>
                                          </p:val>
                                        </p:tav>
                                      </p:tavLst>
                                    </p:anim>
                                  </p:childTnLst>
                                </p:cTn>
                              </p:par>
                            </p:childTnLst>
                          </p:cTn>
                        </p:par>
                        <p:par>
                          <p:cTn id="135" fill="hold">
                            <p:stCondLst>
                              <p:cond delay="17000"/>
                            </p:stCondLst>
                            <p:childTnLst>
                              <p:par>
                                <p:cTn id="136" presetClass="entr" nodeType="afterEffect" presetSubtype="8" presetID="2" grpId="27" fill="hold">
                                  <p:stCondLst>
                                    <p:cond delay="0"/>
                                  </p:stCondLst>
                                  <p:iterate type="el" backwards="0">
                                    <p:tmAbs val="0"/>
                                  </p:iterate>
                                  <p:childTnLst>
                                    <p:set>
                                      <p:cBhvr>
                                        <p:cTn id="137" fill="hold"/>
                                        <p:tgtEl>
                                          <p:spTgt spid="343"/>
                                        </p:tgtEl>
                                        <p:attrNameLst>
                                          <p:attrName>style.visibility</p:attrName>
                                        </p:attrNameLst>
                                      </p:cBhvr>
                                      <p:to>
                                        <p:strVal val="visible"/>
                                      </p:to>
                                    </p:set>
                                    <p:anim calcmode="lin" valueType="num">
                                      <p:cBhvr>
                                        <p:cTn id="138" dur="1000" fill="hold"/>
                                        <p:tgtEl>
                                          <p:spTgt spid="343"/>
                                        </p:tgtEl>
                                        <p:attrNameLst>
                                          <p:attrName>ppt_x</p:attrName>
                                        </p:attrNameLst>
                                      </p:cBhvr>
                                      <p:tavLst>
                                        <p:tav tm="0">
                                          <p:val>
                                            <p:strVal val="0-#ppt_w/2"/>
                                          </p:val>
                                        </p:tav>
                                        <p:tav tm="100000">
                                          <p:val>
                                            <p:strVal val="#ppt_x"/>
                                          </p:val>
                                        </p:tav>
                                      </p:tavLst>
                                    </p:anim>
                                    <p:anim calcmode="lin" valueType="num">
                                      <p:cBhvr>
                                        <p:cTn id="139" dur="1000" fill="hold"/>
                                        <p:tgtEl>
                                          <p:spTgt spid="343"/>
                                        </p:tgtEl>
                                        <p:attrNameLst>
                                          <p:attrName>ppt_y</p:attrName>
                                        </p:attrNameLst>
                                      </p:cBhvr>
                                      <p:tavLst>
                                        <p:tav tm="0">
                                          <p:val>
                                            <p:strVal val="#ppt_y"/>
                                          </p:val>
                                        </p:tav>
                                        <p:tav tm="100000">
                                          <p:val>
                                            <p:strVal val="#ppt_y"/>
                                          </p:val>
                                        </p:tav>
                                      </p:tavLst>
                                    </p:anim>
                                  </p:childTnLst>
                                </p:cTn>
                              </p:par>
                            </p:childTnLst>
                          </p:cTn>
                        </p:par>
                        <p:par>
                          <p:cTn id="140" fill="hold">
                            <p:stCondLst>
                              <p:cond delay="18000"/>
                            </p:stCondLst>
                            <p:childTnLst>
                              <p:par>
                                <p:cTn id="141" presetClass="entr" nodeType="afterEffect" presetSubtype="8" presetID="2" grpId="28" fill="hold">
                                  <p:stCondLst>
                                    <p:cond delay="0"/>
                                  </p:stCondLst>
                                  <p:iterate type="el" backwards="0">
                                    <p:tmAbs val="0"/>
                                  </p:iterate>
                                  <p:childTnLst>
                                    <p:set>
                                      <p:cBhvr>
                                        <p:cTn id="142" fill="hold"/>
                                        <p:tgtEl>
                                          <p:spTgt spid="344"/>
                                        </p:tgtEl>
                                        <p:attrNameLst>
                                          <p:attrName>style.visibility</p:attrName>
                                        </p:attrNameLst>
                                      </p:cBhvr>
                                      <p:to>
                                        <p:strVal val="visible"/>
                                      </p:to>
                                    </p:set>
                                    <p:anim calcmode="lin" valueType="num">
                                      <p:cBhvr>
                                        <p:cTn id="143" dur="1000" fill="hold"/>
                                        <p:tgtEl>
                                          <p:spTgt spid="344"/>
                                        </p:tgtEl>
                                        <p:attrNameLst>
                                          <p:attrName>ppt_x</p:attrName>
                                        </p:attrNameLst>
                                      </p:cBhvr>
                                      <p:tavLst>
                                        <p:tav tm="0">
                                          <p:val>
                                            <p:strVal val="0-#ppt_w/2"/>
                                          </p:val>
                                        </p:tav>
                                        <p:tav tm="100000">
                                          <p:val>
                                            <p:strVal val="#ppt_x"/>
                                          </p:val>
                                        </p:tav>
                                      </p:tavLst>
                                    </p:anim>
                                    <p:anim calcmode="lin" valueType="num">
                                      <p:cBhvr>
                                        <p:cTn id="144" dur="1000" fill="hold"/>
                                        <p:tgtEl>
                                          <p:spTgt spid="344"/>
                                        </p:tgtEl>
                                        <p:attrNameLst>
                                          <p:attrName>ppt_y</p:attrName>
                                        </p:attrNameLst>
                                      </p:cBhvr>
                                      <p:tavLst>
                                        <p:tav tm="0">
                                          <p:val>
                                            <p:strVal val="#ppt_y"/>
                                          </p:val>
                                        </p:tav>
                                        <p:tav tm="100000">
                                          <p:val>
                                            <p:strVal val="#ppt_y"/>
                                          </p:val>
                                        </p:tav>
                                      </p:tavLst>
                                    </p:anim>
                                  </p:childTnLst>
                                </p:cTn>
                              </p:par>
                            </p:childTnLst>
                          </p:cTn>
                        </p:par>
                        <p:par>
                          <p:cTn id="145" fill="hold">
                            <p:stCondLst>
                              <p:cond delay="19000"/>
                            </p:stCondLst>
                            <p:childTnLst>
                              <p:par>
                                <p:cTn id="146" presetClass="entr" nodeType="afterEffect" presetSubtype="8" presetID="2" grpId="29" fill="hold">
                                  <p:stCondLst>
                                    <p:cond delay="0"/>
                                  </p:stCondLst>
                                  <p:iterate type="el" backwards="0">
                                    <p:tmAbs val="0"/>
                                  </p:iterate>
                                  <p:childTnLst>
                                    <p:set>
                                      <p:cBhvr>
                                        <p:cTn id="147" fill="hold"/>
                                        <p:tgtEl>
                                          <p:spTgt spid="345"/>
                                        </p:tgtEl>
                                        <p:attrNameLst>
                                          <p:attrName>style.visibility</p:attrName>
                                        </p:attrNameLst>
                                      </p:cBhvr>
                                      <p:to>
                                        <p:strVal val="visible"/>
                                      </p:to>
                                    </p:set>
                                    <p:anim calcmode="lin" valueType="num">
                                      <p:cBhvr>
                                        <p:cTn id="148" dur="1000" fill="hold"/>
                                        <p:tgtEl>
                                          <p:spTgt spid="345"/>
                                        </p:tgtEl>
                                        <p:attrNameLst>
                                          <p:attrName>ppt_x</p:attrName>
                                        </p:attrNameLst>
                                      </p:cBhvr>
                                      <p:tavLst>
                                        <p:tav tm="0">
                                          <p:val>
                                            <p:strVal val="0-#ppt_w/2"/>
                                          </p:val>
                                        </p:tav>
                                        <p:tav tm="100000">
                                          <p:val>
                                            <p:strVal val="#ppt_x"/>
                                          </p:val>
                                        </p:tav>
                                      </p:tavLst>
                                    </p:anim>
                                    <p:anim calcmode="lin" valueType="num">
                                      <p:cBhvr>
                                        <p:cTn id="149" dur="1000" fill="hold"/>
                                        <p:tgtEl>
                                          <p:spTgt spid="345"/>
                                        </p:tgtEl>
                                        <p:attrNameLst>
                                          <p:attrName>ppt_y</p:attrName>
                                        </p:attrNameLst>
                                      </p:cBhvr>
                                      <p:tavLst>
                                        <p:tav tm="0">
                                          <p:val>
                                            <p:strVal val="#ppt_y"/>
                                          </p:val>
                                        </p:tav>
                                        <p:tav tm="100000">
                                          <p:val>
                                            <p:strVal val="#ppt_y"/>
                                          </p:val>
                                        </p:tav>
                                      </p:tavLst>
                                    </p:anim>
                                  </p:childTnLst>
                                </p:cTn>
                              </p:par>
                            </p:childTnLst>
                          </p:cTn>
                        </p:par>
                        <p:par>
                          <p:cTn id="150" fill="hold">
                            <p:stCondLst>
                              <p:cond delay="20000"/>
                            </p:stCondLst>
                            <p:childTnLst>
                              <p:par>
                                <p:cTn id="151" presetClass="entr" nodeType="afterEffect" presetSubtype="8" presetID="2" grpId="30" fill="hold">
                                  <p:stCondLst>
                                    <p:cond delay="0"/>
                                  </p:stCondLst>
                                  <p:iterate type="el" backwards="0">
                                    <p:tmAbs val="0"/>
                                  </p:iterate>
                                  <p:childTnLst>
                                    <p:set>
                                      <p:cBhvr>
                                        <p:cTn id="152" fill="hold"/>
                                        <p:tgtEl>
                                          <p:spTgt spid="346"/>
                                        </p:tgtEl>
                                        <p:attrNameLst>
                                          <p:attrName>style.visibility</p:attrName>
                                        </p:attrNameLst>
                                      </p:cBhvr>
                                      <p:to>
                                        <p:strVal val="visible"/>
                                      </p:to>
                                    </p:set>
                                    <p:anim calcmode="lin" valueType="num">
                                      <p:cBhvr>
                                        <p:cTn id="153" dur="1000" fill="hold"/>
                                        <p:tgtEl>
                                          <p:spTgt spid="346"/>
                                        </p:tgtEl>
                                        <p:attrNameLst>
                                          <p:attrName>ppt_x</p:attrName>
                                        </p:attrNameLst>
                                      </p:cBhvr>
                                      <p:tavLst>
                                        <p:tav tm="0">
                                          <p:val>
                                            <p:strVal val="0-#ppt_w/2"/>
                                          </p:val>
                                        </p:tav>
                                        <p:tav tm="100000">
                                          <p:val>
                                            <p:strVal val="#ppt_x"/>
                                          </p:val>
                                        </p:tav>
                                      </p:tavLst>
                                    </p:anim>
                                    <p:anim calcmode="lin" valueType="num">
                                      <p:cBhvr>
                                        <p:cTn id="154" dur="1000" fill="hold"/>
                                        <p:tgtEl>
                                          <p:spTgt spid="346"/>
                                        </p:tgtEl>
                                        <p:attrNameLst>
                                          <p:attrName>ppt_y</p:attrName>
                                        </p:attrNameLst>
                                      </p:cBhvr>
                                      <p:tavLst>
                                        <p:tav tm="0">
                                          <p:val>
                                            <p:strVal val="#ppt_y"/>
                                          </p:val>
                                        </p:tav>
                                        <p:tav tm="100000">
                                          <p:val>
                                            <p:strVal val="#ppt_y"/>
                                          </p:val>
                                        </p:tav>
                                      </p:tavLst>
                                    </p:anim>
                                  </p:childTnLst>
                                </p:cTn>
                              </p:par>
                            </p:childTnLst>
                          </p:cTn>
                        </p:par>
                        <p:par>
                          <p:cTn id="155" fill="hold">
                            <p:stCondLst>
                              <p:cond delay="21000"/>
                            </p:stCondLst>
                            <p:childTnLst>
                              <p:par>
                                <p:cTn id="156" presetClass="entr" nodeType="afterEffect" presetSubtype="8" presetID="2" grpId="31" fill="hold">
                                  <p:stCondLst>
                                    <p:cond delay="0"/>
                                  </p:stCondLst>
                                  <p:iterate type="el" backwards="0">
                                    <p:tmAbs val="0"/>
                                  </p:iterate>
                                  <p:childTnLst>
                                    <p:set>
                                      <p:cBhvr>
                                        <p:cTn id="157" fill="hold"/>
                                        <p:tgtEl>
                                          <p:spTgt spid="347"/>
                                        </p:tgtEl>
                                        <p:attrNameLst>
                                          <p:attrName>style.visibility</p:attrName>
                                        </p:attrNameLst>
                                      </p:cBhvr>
                                      <p:to>
                                        <p:strVal val="visible"/>
                                      </p:to>
                                    </p:set>
                                    <p:anim calcmode="lin" valueType="num">
                                      <p:cBhvr>
                                        <p:cTn id="158" dur="1000" fill="hold"/>
                                        <p:tgtEl>
                                          <p:spTgt spid="347"/>
                                        </p:tgtEl>
                                        <p:attrNameLst>
                                          <p:attrName>ppt_x</p:attrName>
                                        </p:attrNameLst>
                                      </p:cBhvr>
                                      <p:tavLst>
                                        <p:tav tm="0">
                                          <p:val>
                                            <p:strVal val="0-#ppt_w/2"/>
                                          </p:val>
                                        </p:tav>
                                        <p:tav tm="100000">
                                          <p:val>
                                            <p:strVal val="#ppt_x"/>
                                          </p:val>
                                        </p:tav>
                                      </p:tavLst>
                                    </p:anim>
                                    <p:anim calcmode="lin" valueType="num">
                                      <p:cBhvr>
                                        <p:cTn id="159" dur="1000" fill="hold"/>
                                        <p:tgtEl>
                                          <p:spTgt spid="347"/>
                                        </p:tgtEl>
                                        <p:attrNameLst>
                                          <p:attrName>ppt_y</p:attrName>
                                        </p:attrNameLst>
                                      </p:cBhvr>
                                      <p:tavLst>
                                        <p:tav tm="0">
                                          <p:val>
                                            <p:strVal val="#ppt_y"/>
                                          </p:val>
                                        </p:tav>
                                        <p:tav tm="100000">
                                          <p:val>
                                            <p:strVal val="#ppt_y"/>
                                          </p:val>
                                        </p:tav>
                                      </p:tavLst>
                                    </p:anim>
                                  </p:childTnLst>
                                </p:cTn>
                              </p:par>
                            </p:childTnLst>
                          </p:cTn>
                        </p:par>
                        <p:par>
                          <p:cTn id="160" fill="hold">
                            <p:stCondLst>
                              <p:cond delay="22000"/>
                            </p:stCondLst>
                            <p:childTnLst>
                              <p:par>
                                <p:cTn id="161" presetClass="entr" nodeType="afterEffect" presetSubtype="8" presetID="2" grpId="32" fill="hold">
                                  <p:stCondLst>
                                    <p:cond delay="0"/>
                                  </p:stCondLst>
                                  <p:iterate type="el" backwards="0">
                                    <p:tmAbs val="0"/>
                                  </p:iterate>
                                  <p:childTnLst>
                                    <p:set>
                                      <p:cBhvr>
                                        <p:cTn id="162" fill="hold"/>
                                        <p:tgtEl>
                                          <p:spTgt spid="348"/>
                                        </p:tgtEl>
                                        <p:attrNameLst>
                                          <p:attrName>style.visibility</p:attrName>
                                        </p:attrNameLst>
                                      </p:cBhvr>
                                      <p:to>
                                        <p:strVal val="visible"/>
                                      </p:to>
                                    </p:set>
                                    <p:anim calcmode="lin" valueType="num">
                                      <p:cBhvr>
                                        <p:cTn id="163" dur="1000" fill="hold"/>
                                        <p:tgtEl>
                                          <p:spTgt spid="348"/>
                                        </p:tgtEl>
                                        <p:attrNameLst>
                                          <p:attrName>ppt_x</p:attrName>
                                        </p:attrNameLst>
                                      </p:cBhvr>
                                      <p:tavLst>
                                        <p:tav tm="0">
                                          <p:val>
                                            <p:strVal val="0-#ppt_w/2"/>
                                          </p:val>
                                        </p:tav>
                                        <p:tav tm="100000">
                                          <p:val>
                                            <p:strVal val="#ppt_x"/>
                                          </p:val>
                                        </p:tav>
                                      </p:tavLst>
                                    </p:anim>
                                    <p:anim calcmode="lin" valueType="num">
                                      <p:cBhvr>
                                        <p:cTn id="164" dur="1000" fill="hold"/>
                                        <p:tgtEl>
                                          <p:spTgt spid="348"/>
                                        </p:tgtEl>
                                        <p:attrNameLst>
                                          <p:attrName>ppt_y</p:attrName>
                                        </p:attrNameLst>
                                      </p:cBhvr>
                                      <p:tavLst>
                                        <p:tav tm="0">
                                          <p:val>
                                            <p:strVal val="#ppt_y"/>
                                          </p:val>
                                        </p:tav>
                                        <p:tav tm="100000">
                                          <p:val>
                                            <p:strVal val="#ppt_y"/>
                                          </p:val>
                                        </p:tav>
                                      </p:tavLst>
                                    </p:anim>
                                  </p:childTnLst>
                                </p:cTn>
                              </p:par>
                            </p:childTnLst>
                          </p:cTn>
                        </p:par>
                        <p:par>
                          <p:cTn id="165" fill="hold">
                            <p:stCondLst>
                              <p:cond delay="23000"/>
                            </p:stCondLst>
                            <p:childTnLst>
                              <p:par>
                                <p:cTn id="166" presetClass="entr" nodeType="afterEffect" presetSubtype="8" presetID="2" grpId="33" fill="hold">
                                  <p:stCondLst>
                                    <p:cond delay="0"/>
                                  </p:stCondLst>
                                  <p:iterate type="el" backwards="0">
                                    <p:tmAbs val="0"/>
                                  </p:iterate>
                                  <p:childTnLst>
                                    <p:set>
                                      <p:cBhvr>
                                        <p:cTn id="167" fill="hold"/>
                                        <p:tgtEl>
                                          <p:spTgt spid="349"/>
                                        </p:tgtEl>
                                        <p:attrNameLst>
                                          <p:attrName>style.visibility</p:attrName>
                                        </p:attrNameLst>
                                      </p:cBhvr>
                                      <p:to>
                                        <p:strVal val="visible"/>
                                      </p:to>
                                    </p:set>
                                    <p:anim calcmode="lin" valueType="num">
                                      <p:cBhvr>
                                        <p:cTn id="168" dur="1000" fill="hold"/>
                                        <p:tgtEl>
                                          <p:spTgt spid="349"/>
                                        </p:tgtEl>
                                        <p:attrNameLst>
                                          <p:attrName>ppt_x</p:attrName>
                                        </p:attrNameLst>
                                      </p:cBhvr>
                                      <p:tavLst>
                                        <p:tav tm="0">
                                          <p:val>
                                            <p:strVal val="0-#ppt_w/2"/>
                                          </p:val>
                                        </p:tav>
                                        <p:tav tm="100000">
                                          <p:val>
                                            <p:strVal val="#ppt_x"/>
                                          </p:val>
                                        </p:tav>
                                      </p:tavLst>
                                    </p:anim>
                                    <p:anim calcmode="lin" valueType="num">
                                      <p:cBhvr>
                                        <p:cTn id="169" dur="1000" fill="hold"/>
                                        <p:tgtEl>
                                          <p:spTgt spid="349"/>
                                        </p:tgtEl>
                                        <p:attrNameLst>
                                          <p:attrName>ppt_y</p:attrName>
                                        </p:attrNameLst>
                                      </p:cBhvr>
                                      <p:tavLst>
                                        <p:tav tm="0">
                                          <p:val>
                                            <p:strVal val="#ppt_y"/>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Class="entr" nodeType="clickEffect" presetSubtype="8" presetID="2" grpId="34" fill="hold">
                                  <p:stCondLst>
                                    <p:cond delay="0"/>
                                  </p:stCondLst>
                                  <p:iterate type="el" backwards="0">
                                    <p:tmAbs val="0"/>
                                  </p:iterate>
                                  <p:childTnLst>
                                    <p:set>
                                      <p:cBhvr>
                                        <p:cTn id="173" fill="hold"/>
                                        <p:tgtEl>
                                          <p:spTgt spid="350"/>
                                        </p:tgtEl>
                                        <p:attrNameLst>
                                          <p:attrName>style.visibility</p:attrName>
                                        </p:attrNameLst>
                                      </p:cBhvr>
                                      <p:to>
                                        <p:strVal val="visible"/>
                                      </p:to>
                                    </p:set>
                                    <p:anim calcmode="lin" valueType="num">
                                      <p:cBhvr>
                                        <p:cTn id="174" dur="1000" fill="hold"/>
                                        <p:tgtEl>
                                          <p:spTgt spid="350"/>
                                        </p:tgtEl>
                                        <p:attrNameLst>
                                          <p:attrName>ppt_x</p:attrName>
                                        </p:attrNameLst>
                                      </p:cBhvr>
                                      <p:tavLst>
                                        <p:tav tm="0">
                                          <p:val>
                                            <p:strVal val="0-#ppt_w/2"/>
                                          </p:val>
                                        </p:tav>
                                        <p:tav tm="100000">
                                          <p:val>
                                            <p:strVal val="#ppt_x"/>
                                          </p:val>
                                        </p:tav>
                                      </p:tavLst>
                                    </p:anim>
                                    <p:anim calcmode="lin" valueType="num">
                                      <p:cBhvr>
                                        <p:cTn id="175" dur="1000" fill="hold"/>
                                        <p:tgtEl>
                                          <p:spTgt spid="350"/>
                                        </p:tgtEl>
                                        <p:attrNameLst>
                                          <p:attrName>ppt_y</p:attrName>
                                        </p:attrNameLst>
                                      </p:cBhvr>
                                      <p:tavLst>
                                        <p:tav tm="0">
                                          <p:val>
                                            <p:strVal val="#ppt_y"/>
                                          </p:val>
                                        </p:tav>
                                        <p:tav tm="100000">
                                          <p:val>
                                            <p:strVal val="#ppt_y"/>
                                          </p:val>
                                        </p:tav>
                                      </p:tavLst>
                                    </p:anim>
                                  </p:childTnLst>
                                </p:cTn>
                              </p:par>
                            </p:childTnLst>
                          </p:cTn>
                        </p:par>
                        <p:par>
                          <p:cTn id="176" fill="hold">
                            <p:stCondLst>
                              <p:cond delay="1000"/>
                            </p:stCondLst>
                            <p:childTnLst>
                              <p:par>
                                <p:cTn id="177" presetClass="entr" nodeType="afterEffect" presetSubtype="8" presetID="2" grpId="35" fill="hold">
                                  <p:stCondLst>
                                    <p:cond delay="0"/>
                                  </p:stCondLst>
                                  <p:iterate type="el" backwards="0">
                                    <p:tmAbs val="0"/>
                                  </p:iterate>
                                  <p:childTnLst>
                                    <p:set>
                                      <p:cBhvr>
                                        <p:cTn id="178" fill="hold"/>
                                        <p:tgtEl>
                                          <p:spTgt spid="351"/>
                                        </p:tgtEl>
                                        <p:attrNameLst>
                                          <p:attrName>style.visibility</p:attrName>
                                        </p:attrNameLst>
                                      </p:cBhvr>
                                      <p:to>
                                        <p:strVal val="visible"/>
                                      </p:to>
                                    </p:set>
                                    <p:anim calcmode="lin" valueType="num">
                                      <p:cBhvr>
                                        <p:cTn id="179" dur="1000" fill="hold"/>
                                        <p:tgtEl>
                                          <p:spTgt spid="351"/>
                                        </p:tgtEl>
                                        <p:attrNameLst>
                                          <p:attrName>ppt_x</p:attrName>
                                        </p:attrNameLst>
                                      </p:cBhvr>
                                      <p:tavLst>
                                        <p:tav tm="0">
                                          <p:val>
                                            <p:strVal val="0-#ppt_w/2"/>
                                          </p:val>
                                        </p:tav>
                                        <p:tav tm="100000">
                                          <p:val>
                                            <p:strVal val="#ppt_x"/>
                                          </p:val>
                                        </p:tav>
                                      </p:tavLst>
                                    </p:anim>
                                    <p:anim calcmode="lin" valueType="num">
                                      <p:cBhvr>
                                        <p:cTn id="180" dur="1000" fill="hold"/>
                                        <p:tgtEl>
                                          <p:spTgt spid="351"/>
                                        </p:tgtEl>
                                        <p:attrNameLst>
                                          <p:attrName>ppt_y</p:attrName>
                                        </p:attrNameLst>
                                      </p:cBhvr>
                                      <p:tavLst>
                                        <p:tav tm="0">
                                          <p:val>
                                            <p:strVal val="#ppt_y"/>
                                          </p:val>
                                        </p:tav>
                                        <p:tav tm="100000">
                                          <p:val>
                                            <p:strVal val="#ppt_y"/>
                                          </p:val>
                                        </p:tav>
                                      </p:tavLst>
                                    </p:anim>
                                  </p:childTnLst>
                                </p:cTn>
                              </p:par>
                            </p:childTnLst>
                          </p:cTn>
                        </p:par>
                        <p:par>
                          <p:cTn id="181" fill="hold">
                            <p:stCondLst>
                              <p:cond delay="2000"/>
                            </p:stCondLst>
                            <p:childTnLst>
                              <p:par>
                                <p:cTn id="182" presetClass="entr" nodeType="afterEffect" presetSubtype="8" presetID="2" grpId="36" fill="hold">
                                  <p:stCondLst>
                                    <p:cond delay="0"/>
                                  </p:stCondLst>
                                  <p:iterate type="el" backwards="0">
                                    <p:tmAbs val="0"/>
                                  </p:iterate>
                                  <p:childTnLst>
                                    <p:set>
                                      <p:cBhvr>
                                        <p:cTn id="183" fill="hold"/>
                                        <p:tgtEl>
                                          <p:spTgt spid="352"/>
                                        </p:tgtEl>
                                        <p:attrNameLst>
                                          <p:attrName>style.visibility</p:attrName>
                                        </p:attrNameLst>
                                      </p:cBhvr>
                                      <p:to>
                                        <p:strVal val="visible"/>
                                      </p:to>
                                    </p:set>
                                    <p:anim calcmode="lin" valueType="num">
                                      <p:cBhvr>
                                        <p:cTn id="184" dur="1000" fill="hold"/>
                                        <p:tgtEl>
                                          <p:spTgt spid="352"/>
                                        </p:tgtEl>
                                        <p:attrNameLst>
                                          <p:attrName>ppt_x</p:attrName>
                                        </p:attrNameLst>
                                      </p:cBhvr>
                                      <p:tavLst>
                                        <p:tav tm="0">
                                          <p:val>
                                            <p:strVal val="0-#ppt_w/2"/>
                                          </p:val>
                                        </p:tav>
                                        <p:tav tm="100000">
                                          <p:val>
                                            <p:strVal val="#ppt_x"/>
                                          </p:val>
                                        </p:tav>
                                      </p:tavLst>
                                    </p:anim>
                                    <p:anim calcmode="lin" valueType="num">
                                      <p:cBhvr>
                                        <p:cTn id="185" dur="1000" fill="hold"/>
                                        <p:tgtEl>
                                          <p:spTgt spid="352"/>
                                        </p:tgtEl>
                                        <p:attrNameLst>
                                          <p:attrName>ppt_y</p:attrName>
                                        </p:attrNameLst>
                                      </p:cBhvr>
                                      <p:tavLst>
                                        <p:tav tm="0">
                                          <p:val>
                                            <p:strVal val="#ppt_y"/>
                                          </p:val>
                                        </p:tav>
                                        <p:tav tm="100000">
                                          <p:val>
                                            <p:strVal val="#ppt_y"/>
                                          </p:val>
                                        </p:tav>
                                      </p:tavLst>
                                    </p:anim>
                                  </p:childTnLst>
                                </p:cTn>
                              </p:par>
                            </p:childTnLst>
                          </p:cTn>
                        </p:par>
                        <p:par>
                          <p:cTn id="186" fill="hold">
                            <p:stCondLst>
                              <p:cond delay="3000"/>
                            </p:stCondLst>
                            <p:childTnLst>
                              <p:par>
                                <p:cTn id="187" presetClass="entr" nodeType="afterEffect" presetSubtype="8" presetID="2" grpId="37" fill="hold">
                                  <p:stCondLst>
                                    <p:cond delay="0"/>
                                  </p:stCondLst>
                                  <p:iterate type="el" backwards="0">
                                    <p:tmAbs val="0"/>
                                  </p:iterate>
                                  <p:childTnLst>
                                    <p:set>
                                      <p:cBhvr>
                                        <p:cTn id="188" fill="hold"/>
                                        <p:tgtEl>
                                          <p:spTgt spid="353"/>
                                        </p:tgtEl>
                                        <p:attrNameLst>
                                          <p:attrName>style.visibility</p:attrName>
                                        </p:attrNameLst>
                                      </p:cBhvr>
                                      <p:to>
                                        <p:strVal val="visible"/>
                                      </p:to>
                                    </p:set>
                                    <p:anim calcmode="lin" valueType="num">
                                      <p:cBhvr>
                                        <p:cTn id="189" dur="1000" fill="hold"/>
                                        <p:tgtEl>
                                          <p:spTgt spid="353"/>
                                        </p:tgtEl>
                                        <p:attrNameLst>
                                          <p:attrName>ppt_x</p:attrName>
                                        </p:attrNameLst>
                                      </p:cBhvr>
                                      <p:tavLst>
                                        <p:tav tm="0">
                                          <p:val>
                                            <p:strVal val="0-#ppt_w/2"/>
                                          </p:val>
                                        </p:tav>
                                        <p:tav tm="100000">
                                          <p:val>
                                            <p:strVal val="#ppt_x"/>
                                          </p:val>
                                        </p:tav>
                                      </p:tavLst>
                                    </p:anim>
                                    <p:anim calcmode="lin" valueType="num">
                                      <p:cBhvr>
                                        <p:cTn id="190" dur="1000" fill="hold"/>
                                        <p:tgtEl>
                                          <p:spTgt spid="353"/>
                                        </p:tgtEl>
                                        <p:attrNameLst>
                                          <p:attrName>ppt_y</p:attrName>
                                        </p:attrNameLst>
                                      </p:cBhvr>
                                      <p:tavLst>
                                        <p:tav tm="0">
                                          <p:val>
                                            <p:strVal val="#ppt_y"/>
                                          </p:val>
                                        </p:tav>
                                        <p:tav tm="100000">
                                          <p:val>
                                            <p:strVal val="#ppt_y"/>
                                          </p:val>
                                        </p:tav>
                                      </p:tavLst>
                                    </p:anim>
                                  </p:childTnLst>
                                </p:cTn>
                              </p:par>
                            </p:childTnLst>
                          </p:cTn>
                        </p:par>
                        <p:par>
                          <p:cTn id="191" fill="hold">
                            <p:stCondLst>
                              <p:cond delay="4000"/>
                            </p:stCondLst>
                            <p:childTnLst>
                              <p:par>
                                <p:cTn id="192" presetClass="entr" nodeType="afterEffect" presetSubtype="8" presetID="2" grpId="38" fill="hold">
                                  <p:stCondLst>
                                    <p:cond delay="0"/>
                                  </p:stCondLst>
                                  <p:iterate type="el" backwards="0">
                                    <p:tmAbs val="0"/>
                                  </p:iterate>
                                  <p:childTnLst>
                                    <p:set>
                                      <p:cBhvr>
                                        <p:cTn id="193" fill="hold"/>
                                        <p:tgtEl>
                                          <p:spTgt spid="354"/>
                                        </p:tgtEl>
                                        <p:attrNameLst>
                                          <p:attrName>style.visibility</p:attrName>
                                        </p:attrNameLst>
                                      </p:cBhvr>
                                      <p:to>
                                        <p:strVal val="visible"/>
                                      </p:to>
                                    </p:set>
                                    <p:anim calcmode="lin" valueType="num">
                                      <p:cBhvr>
                                        <p:cTn id="194" dur="1000" fill="hold"/>
                                        <p:tgtEl>
                                          <p:spTgt spid="354"/>
                                        </p:tgtEl>
                                        <p:attrNameLst>
                                          <p:attrName>ppt_x</p:attrName>
                                        </p:attrNameLst>
                                      </p:cBhvr>
                                      <p:tavLst>
                                        <p:tav tm="0">
                                          <p:val>
                                            <p:strVal val="0-#ppt_w/2"/>
                                          </p:val>
                                        </p:tav>
                                        <p:tav tm="100000">
                                          <p:val>
                                            <p:strVal val="#ppt_x"/>
                                          </p:val>
                                        </p:tav>
                                      </p:tavLst>
                                    </p:anim>
                                    <p:anim calcmode="lin" valueType="num">
                                      <p:cBhvr>
                                        <p:cTn id="195" dur="1000" fill="hold"/>
                                        <p:tgtEl>
                                          <p:spTgt spid="354"/>
                                        </p:tgtEl>
                                        <p:attrNameLst>
                                          <p:attrName>ppt_y</p:attrName>
                                        </p:attrNameLst>
                                      </p:cBhvr>
                                      <p:tavLst>
                                        <p:tav tm="0">
                                          <p:val>
                                            <p:strVal val="#ppt_y"/>
                                          </p:val>
                                        </p:tav>
                                        <p:tav tm="100000">
                                          <p:val>
                                            <p:strVal val="#ppt_y"/>
                                          </p:val>
                                        </p:tav>
                                      </p:tavLst>
                                    </p:anim>
                                  </p:childTnLst>
                                </p:cTn>
                              </p:par>
                            </p:childTnLst>
                          </p:cTn>
                        </p:par>
                        <p:par>
                          <p:cTn id="196" fill="hold">
                            <p:stCondLst>
                              <p:cond delay="5000"/>
                            </p:stCondLst>
                            <p:childTnLst>
                              <p:par>
                                <p:cTn id="197" presetClass="entr" nodeType="afterEffect" presetSubtype="8" presetID="2" grpId="39" fill="hold">
                                  <p:stCondLst>
                                    <p:cond delay="0"/>
                                  </p:stCondLst>
                                  <p:iterate type="el" backwards="0">
                                    <p:tmAbs val="0"/>
                                  </p:iterate>
                                  <p:childTnLst>
                                    <p:set>
                                      <p:cBhvr>
                                        <p:cTn id="198" fill="hold"/>
                                        <p:tgtEl>
                                          <p:spTgt spid="355"/>
                                        </p:tgtEl>
                                        <p:attrNameLst>
                                          <p:attrName>style.visibility</p:attrName>
                                        </p:attrNameLst>
                                      </p:cBhvr>
                                      <p:to>
                                        <p:strVal val="visible"/>
                                      </p:to>
                                    </p:set>
                                    <p:anim calcmode="lin" valueType="num">
                                      <p:cBhvr>
                                        <p:cTn id="199" dur="1000" fill="hold"/>
                                        <p:tgtEl>
                                          <p:spTgt spid="355"/>
                                        </p:tgtEl>
                                        <p:attrNameLst>
                                          <p:attrName>ppt_x</p:attrName>
                                        </p:attrNameLst>
                                      </p:cBhvr>
                                      <p:tavLst>
                                        <p:tav tm="0">
                                          <p:val>
                                            <p:strVal val="0-#ppt_w/2"/>
                                          </p:val>
                                        </p:tav>
                                        <p:tav tm="100000">
                                          <p:val>
                                            <p:strVal val="#ppt_x"/>
                                          </p:val>
                                        </p:tav>
                                      </p:tavLst>
                                    </p:anim>
                                    <p:anim calcmode="lin" valueType="num">
                                      <p:cBhvr>
                                        <p:cTn id="200" dur="1000" fill="hold"/>
                                        <p:tgtEl>
                                          <p:spTgt spid="355"/>
                                        </p:tgtEl>
                                        <p:attrNameLst>
                                          <p:attrName>ppt_y</p:attrName>
                                        </p:attrNameLst>
                                      </p:cBhvr>
                                      <p:tavLst>
                                        <p:tav tm="0">
                                          <p:val>
                                            <p:strVal val="#ppt_y"/>
                                          </p:val>
                                        </p:tav>
                                        <p:tav tm="100000">
                                          <p:val>
                                            <p:strVal val="#ppt_y"/>
                                          </p:val>
                                        </p:tav>
                                      </p:tavLst>
                                    </p:anim>
                                  </p:childTnLst>
                                </p:cTn>
                              </p:par>
                            </p:childTnLst>
                          </p:cTn>
                        </p:par>
                        <p:par>
                          <p:cTn id="201" fill="hold">
                            <p:stCondLst>
                              <p:cond delay="6000"/>
                            </p:stCondLst>
                            <p:childTnLst>
                              <p:par>
                                <p:cTn id="202" presetClass="entr" nodeType="afterEffect" presetSubtype="8" presetID="2" grpId="40" fill="hold">
                                  <p:stCondLst>
                                    <p:cond delay="0"/>
                                  </p:stCondLst>
                                  <p:iterate type="el" backwards="0">
                                    <p:tmAbs val="0"/>
                                  </p:iterate>
                                  <p:childTnLst>
                                    <p:set>
                                      <p:cBhvr>
                                        <p:cTn id="203" fill="hold"/>
                                        <p:tgtEl>
                                          <p:spTgt spid="356"/>
                                        </p:tgtEl>
                                        <p:attrNameLst>
                                          <p:attrName>style.visibility</p:attrName>
                                        </p:attrNameLst>
                                      </p:cBhvr>
                                      <p:to>
                                        <p:strVal val="visible"/>
                                      </p:to>
                                    </p:set>
                                    <p:anim calcmode="lin" valueType="num">
                                      <p:cBhvr>
                                        <p:cTn id="204" dur="1000" fill="hold"/>
                                        <p:tgtEl>
                                          <p:spTgt spid="356"/>
                                        </p:tgtEl>
                                        <p:attrNameLst>
                                          <p:attrName>ppt_x</p:attrName>
                                        </p:attrNameLst>
                                      </p:cBhvr>
                                      <p:tavLst>
                                        <p:tav tm="0">
                                          <p:val>
                                            <p:strVal val="0-#ppt_w/2"/>
                                          </p:val>
                                        </p:tav>
                                        <p:tav tm="100000">
                                          <p:val>
                                            <p:strVal val="#ppt_x"/>
                                          </p:val>
                                        </p:tav>
                                      </p:tavLst>
                                    </p:anim>
                                    <p:anim calcmode="lin" valueType="num">
                                      <p:cBhvr>
                                        <p:cTn id="205" dur="1000" fill="hold"/>
                                        <p:tgtEl>
                                          <p:spTgt spid="356"/>
                                        </p:tgtEl>
                                        <p:attrNameLst>
                                          <p:attrName>ppt_y</p:attrName>
                                        </p:attrNameLst>
                                      </p:cBhvr>
                                      <p:tavLst>
                                        <p:tav tm="0">
                                          <p:val>
                                            <p:strVal val="#ppt_y"/>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Class="entr" nodeType="clickEffect" presetSubtype="8" presetID="2" grpId="41" fill="hold">
                                  <p:stCondLst>
                                    <p:cond delay="0"/>
                                  </p:stCondLst>
                                  <p:iterate type="el" backwards="0">
                                    <p:tmAbs val="0"/>
                                  </p:iterate>
                                  <p:childTnLst>
                                    <p:set>
                                      <p:cBhvr>
                                        <p:cTn id="209" fill="hold"/>
                                        <p:tgtEl>
                                          <p:spTgt spid="357"/>
                                        </p:tgtEl>
                                        <p:attrNameLst>
                                          <p:attrName>style.visibility</p:attrName>
                                        </p:attrNameLst>
                                      </p:cBhvr>
                                      <p:to>
                                        <p:strVal val="visible"/>
                                      </p:to>
                                    </p:set>
                                    <p:anim calcmode="lin" valueType="num">
                                      <p:cBhvr>
                                        <p:cTn id="210" dur="1000" fill="hold"/>
                                        <p:tgtEl>
                                          <p:spTgt spid="357"/>
                                        </p:tgtEl>
                                        <p:attrNameLst>
                                          <p:attrName>ppt_x</p:attrName>
                                        </p:attrNameLst>
                                      </p:cBhvr>
                                      <p:tavLst>
                                        <p:tav tm="0">
                                          <p:val>
                                            <p:strVal val="0-#ppt_w/2"/>
                                          </p:val>
                                        </p:tav>
                                        <p:tav tm="100000">
                                          <p:val>
                                            <p:strVal val="#ppt_x"/>
                                          </p:val>
                                        </p:tav>
                                      </p:tavLst>
                                    </p:anim>
                                    <p:anim calcmode="lin" valueType="num">
                                      <p:cBhvr>
                                        <p:cTn id="211" dur="1000" fill="hold"/>
                                        <p:tgtEl>
                                          <p:spTgt spid="357"/>
                                        </p:tgtEl>
                                        <p:attrNameLst>
                                          <p:attrName>ppt_y</p:attrName>
                                        </p:attrNameLst>
                                      </p:cBhvr>
                                      <p:tavLst>
                                        <p:tav tm="0">
                                          <p:val>
                                            <p:strVal val="#ppt_y"/>
                                          </p:val>
                                        </p:tav>
                                        <p:tav tm="100000">
                                          <p:val>
                                            <p:strVal val="#ppt_y"/>
                                          </p:val>
                                        </p:tav>
                                      </p:tavLst>
                                    </p:anim>
                                  </p:childTnLst>
                                </p:cTn>
                              </p:par>
                            </p:childTnLst>
                          </p:cTn>
                        </p:par>
                        <p:par>
                          <p:cTn id="212" fill="hold">
                            <p:stCondLst>
                              <p:cond delay="1000"/>
                            </p:stCondLst>
                            <p:childTnLst>
                              <p:par>
                                <p:cTn id="213" presetClass="entr" nodeType="afterEffect" presetSubtype="8" presetID="2" grpId="42" fill="hold">
                                  <p:stCondLst>
                                    <p:cond delay="0"/>
                                  </p:stCondLst>
                                  <p:iterate type="el" backwards="0">
                                    <p:tmAbs val="0"/>
                                  </p:iterate>
                                  <p:childTnLst>
                                    <p:set>
                                      <p:cBhvr>
                                        <p:cTn id="214" fill="hold"/>
                                        <p:tgtEl>
                                          <p:spTgt spid="358"/>
                                        </p:tgtEl>
                                        <p:attrNameLst>
                                          <p:attrName>style.visibility</p:attrName>
                                        </p:attrNameLst>
                                      </p:cBhvr>
                                      <p:to>
                                        <p:strVal val="visible"/>
                                      </p:to>
                                    </p:set>
                                    <p:anim calcmode="lin" valueType="num">
                                      <p:cBhvr>
                                        <p:cTn id="215" dur="1000" fill="hold"/>
                                        <p:tgtEl>
                                          <p:spTgt spid="358"/>
                                        </p:tgtEl>
                                        <p:attrNameLst>
                                          <p:attrName>ppt_x</p:attrName>
                                        </p:attrNameLst>
                                      </p:cBhvr>
                                      <p:tavLst>
                                        <p:tav tm="0">
                                          <p:val>
                                            <p:strVal val="0-#ppt_w/2"/>
                                          </p:val>
                                        </p:tav>
                                        <p:tav tm="100000">
                                          <p:val>
                                            <p:strVal val="#ppt_x"/>
                                          </p:val>
                                        </p:tav>
                                      </p:tavLst>
                                    </p:anim>
                                    <p:anim calcmode="lin" valueType="num">
                                      <p:cBhvr>
                                        <p:cTn id="216" dur="1000" fill="hold"/>
                                        <p:tgtEl>
                                          <p:spTgt spid="358"/>
                                        </p:tgtEl>
                                        <p:attrNameLst>
                                          <p:attrName>ppt_y</p:attrName>
                                        </p:attrNameLst>
                                      </p:cBhvr>
                                      <p:tavLst>
                                        <p:tav tm="0">
                                          <p:val>
                                            <p:strVal val="#ppt_y"/>
                                          </p:val>
                                        </p:tav>
                                        <p:tav tm="100000">
                                          <p:val>
                                            <p:strVal val="#ppt_y"/>
                                          </p:val>
                                        </p:tav>
                                      </p:tavLst>
                                    </p:anim>
                                  </p:childTnLst>
                                </p:cTn>
                              </p:par>
                            </p:childTnLst>
                          </p:cTn>
                        </p:par>
                        <p:par>
                          <p:cTn id="217" fill="hold">
                            <p:stCondLst>
                              <p:cond delay="2000"/>
                            </p:stCondLst>
                            <p:childTnLst>
                              <p:par>
                                <p:cTn id="218" presetClass="entr" nodeType="afterEffect" presetSubtype="8" presetID="2" grpId="43" fill="hold">
                                  <p:stCondLst>
                                    <p:cond delay="0"/>
                                  </p:stCondLst>
                                  <p:iterate type="el" backwards="0">
                                    <p:tmAbs val="0"/>
                                  </p:iterate>
                                  <p:childTnLst>
                                    <p:set>
                                      <p:cBhvr>
                                        <p:cTn id="219" fill="hold"/>
                                        <p:tgtEl>
                                          <p:spTgt spid="359"/>
                                        </p:tgtEl>
                                        <p:attrNameLst>
                                          <p:attrName>style.visibility</p:attrName>
                                        </p:attrNameLst>
                                      </p:cBhvr>
                                      <p:to>
                                        <p:strVal val="visible"/>
                                      </p:to>
                                    </p:set>
                                    <p:anim calcmode="lin" valueType="num">
                                      <p:cBhvr>
                                        <p:cTn id="220" dur="1000" fill="hold"/>
                                        <p:tgtEl>
                                          <p:spTgt spid="359"/>
                                        </p:tgtEl>
                                        <p:attrNameLst>
                                          <p:attrName>ppt_x</p:attrName>
                                        </p:attrNameLst>
                                      </p:cBhvr>
                                      <p:tavLst>
                                        <p:tav tm="0">
                                          <p:val>
                                            <p:strVal val="0-#ppt_w/2"/>
                                          </p:val>
                                        </p:tav>
                                        <p:tav tm="100000">
                                          <p:val>
                                            <p:strVal val="#ppt_x"/>
                                          </p:val>
                                        </p:tav>
                                      </p:tavLst>
                                    </p:anim>
                                    <p:anim calcmode="lin" valueType="num">
                                      <p:cBhvr>
                                        <p:cTn id="221" dur="1000" fill="hold"/>
                                        <p:tgtEl>
                                          <p:spTgt spid="359"/>
                                        </p:tgtEl>
                                        <p:attrNameLst>
                                          <p:attrName>ppt_y</p:attrName>
                                        </p:attrNameLst>
                                      </p:cBhvr>
                                      <p:tavLst>
                                        <p:tav tm="0">
                                          <p:val>
                                            <p:strVal val="#ppt_y"/>
                                          </p:val>
                                        </p:tav>
                                        <p:tav tm="100000">
                                          <p:val>
                                            <p:strVal val="#ppt_y"/>
                                          </p:val>
                                        </p:tav>
                                      </p:tavLst>
                                    </p:anim>
                                  </p:childTnLst>
                                </p:cTn>
                              </p:par>
                            </p:childTnLst>
                          </p:cTn>
                        </p:par>
                        <p:par>
                          <p:cTn id="222" fill="hold">
                            <p:stCondLst>
                              <p:cond delay="3000"/>
                            </p:stCondLst>
                            <p:childTnLst>
                              <p:par>
                                <p:cTn id="223" presetClass="entr" nodeType="afterEffect" presetSubtype="8" presetID="2" grpId="44" fill="hold">
                                  <p:stCondLst>
                                    <p:cond delay="0"/>
                                  </p:stCondLst>
                                  <p:iterate type="el" backwards="0">
                                    <p:tmAbs val="0"/>
                                  </p:iterate>
                                  <p:childTnLst>
                                    <p:set>
                                      <p:cBhvr>
                                        <p:cTn id="224" fill="hold"/>
                                        <p:tgtEl>
                                          <p:spTgt spid="360"/>
                                        </p:tgtEl>
                                        <p:attrNameLst>
                                          <p:attrName>style.visibility</p:attrName>
                                        </p:attrNameLst>
                                      </p:cBhvr>
                                      <p:to>
                                        <p:strVal val="visible"/>
                                      </p:to>
                                    </p:set>
                                    <p:anim calcmode="lin" valueType="num">
                                      <p:cBhvr>
                                        <p:cTn id="225" dur="1000" fill="hold"/>
                                        <p:tgtEl>
                                          <p:spTgt spid="360"/>
                                        </p:tgtEl>
                                        <p:attrNameLst>
                                          <p:attrName>ppt_x</p:attrName>
                                        </p:attrNameLst>
                                      </p:cBhvr>
                                      <p:tavLst>
                                        <p:tav tm="0">
                                          <p:val>
                                            <p:strVal val="0-#ppt_w/2"/>
                                          </p:val>
                                        </p:tav>
                                        <p:tav tm="100000">
                                          <p:val>
                                            <p:strVal val="#ppt_x"/>
                                          </p:val>
                                        </p:tav>
                                      </p:tavLst>
                                    </p:anim>
                                    <p:anim calcmode="lin" valueType="num">
                                      <p:cBhvr>
                                        <p:cTn id="226" dur="1000" fill="hold"/>
                                        <p:tgtEl>
                                          <p:spTgt spid="3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1" grpId="35"/>
      <p:bldP build="whole" bldLvl="1" animBg="1" rev="0" advAuto="0" spid="318" grpId="3"/>
      <p:bldP build="whole" bldLvl="1" animBg="1" rev="0" advAuto="0" spid="358" grpId="42"/>
      <p:bldP build="whole" bldLvl="1" animBg="1" rev="0" advAuto="0" spid="340" grpId="24"/>
      <p:bldP build="whole" bldLvl="1" animBg="1" rev="0" advAuto="0" spid="343" grpId="27"/>
      <p:bldP build="whole" bldLvl="1" animBg="1" rev="0" advAuto="0" spid="332" grpId="16"/>
      <p:bldP build="whole" bldLvl="1" animBg="1" rev="0" advAuto="0" spid="352" grpId="36"/>
      <p:bldP build="whole" bldLvl="1" animBg="1" rev="0" advAuto="0" spid="341" grpId="25"/>
      <p:bldP build="whole" bldLvl="1" animBg="1" rev="0" advAuto="0" spid="324" grpId="9"/>
      <p:bldP build="whole" bldLvl="1" animBg="1" rev="0" advAuto="0" spid="337" grpId="21"/>
      <p:bldP build="whole" bldLvl="1" animBg="1" rev="0" advAuto="0" spid="316" grpId="1"/>
      <p:bldP build="whole" bldLvl="1" animBg="1" rev="0" advAuto="0" spid="346" grpId="30"/>
      <p:bldP build="whole" bldLvl="1" animBg="1" rev="0" advAuto="0" spid="353" grpId="37"/>
      <p:bldP build="whole" bldLvl="1" animBg="1" rev="0" advAuto="0" spid="359" grpId="43"/>
      <p:bldP build="whole" bldLvl="1" animBg="1" rev="0" advAuto="0" spid="322" grpId="7"/>
      <p:bldP build="whole" bldLvl="1" animBg="1" rev="0" advAuto="0" spid="360" grpId="44"/>
      <p:bldP build="whole" bldLvl="1" animBg="1" rev="0" advAuto="0" spid="319" grpId="4"/>
      <p:bldP build="whole" bldLvl="1" animBg="1" rev="0" advAuto="0" spid="328" grpId="12"/>
      <p:bldP build="whole" bldLvl="1" animBg="1" rev="0" advAuto="0" spid="347" grpId="31"/>
      <p:bldP build="whole" bldLvl="1" animBg="1" rev="0" advAuto="0" spid="331" grpId="15"/>
      <p:bldP build="whole" bldLvl="1" animBg="1" rev="0" advAuto="0" spid="354" grpId="38"/>
      <p:bldP build="whole" bldLvl="1" animBg="1" rev="0" advAuto="0" spid="317" grpId="2"/>
      <p:bldP build="whole" bldLvl="1" animBg="1" rev="0" advAuto="0" spid="327" grpId="11"/>
      <p:bldP build="whole" bldLvl="1" animBg="1" rev="0" advAuto="0" spid="339" grpId="23"/>
      <p:bldP build="whole" bldLvl="1" animBg="1" rev="0" advAuto="0" spid="345" grpId="29"/>
      <p:bldP build="whole" bldLvl="1" animBg="1" rev="0" advAuto="0" spid="355" grpId="39"/>
      <p:bldP build="whole" bldLvl="1" animBg="1" rev="0" advAuto="0" spid="348" grpId="32"/>
      <p:bldP build="whole" bldLvl="1" animBg="1" rev="0" advAuto="0" spid="335" grpId="19"/>
      <p:bldP build="whole" bldLvl="1" animBg="1" rev="0" advAuto="0" spid="330" grpId="14"/>
      <p:bldP build="whole" bldLvl="1" animBg="1" rev="0" advAuto="0" spid="338" grpId="22"/>
      <p:bldP build="whole" bldLvl="1" animBg="1" rev="0" advAuto="0" spid="356" grpId="40"/>
      <p:bldP build="whole" bldLvl="1" animBg="1" rev="0" advAuto="0" spid="349" grpId="33"/>
      <p:bldP build="whole" bldLvl="1" animBg="1" rev="0" advAuto="0" spid="323" grpId="8"/>
      <p:bldP build="whole" bldLvl="1" animBg="1" rev="0" advAuto="0" spid="334" grpId="18"/>
      <p:bldP build="whole" bldLvl="1" animBg="1" rev="0" advAuto="0" spid="329" grpId="13"/>
      <p:bldP build="whole" bldLvl="1" animBg="1" rev="0" advAuto="0" spid="326" grpId="10"/>
      <p:bldP build="whole" bldLvl="1" animBg="1" rev="0" advAuto="0" spid="357" grpId="41"/>
      <p:bldP build="whole" bldLvl="1" animBg="1" rev="0" advAuto="0" spid="350" grpId="34"/>
      <p:bldP build="whole" bldLvl="1" animBg="1" rev="0" advAuto="0" spid="344" grpId="28"/>
      <p:bldP build="whole" bldLvl="1" animBg="1" rev="0" advAuto="0" spid="321" grpId="6"/>
      <p:bldP build="whole" bldLvl="1" animBg="1" rev="0" advAuto="0" spid="333" grpId="17"/>
      <p:bldP build="whole" bldLvl="1" animBg="1" rev="0" advAuto="0" spid="320" grpId="5"/>
      <p:bldP build="whole" bldLvl="1" animBg="1" rev="0" advAuto="0" spid="336" grpId="20"/>
      <p:bldP build="whole" bldLvl="1" animBg="1" rev="0" advAuto="0" spid="342" grpId="26"/>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Gradient Descent"/>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Gradient Descent</a:t>
            </a:r>
          </a:p>
        </p:txBody>
      </p:sp>
      <p:sp>
        <p:nvSpPr>
          <p:cNvPr id="363" name="Ecuație"/>
          <p:cNvSpPr txBox="1"/>
          <p:nvPr/>
        </p:nvSpPr>
        <p:spPr>
          <a:xfrm>
            <a:off x="7330463" y="3823702"/>
            <a:ext cx="8694476" cy="2180272"/>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6400" i="1">
                      <a:solidFill>
                        <a:srgbClr val="000000"/>
                      </a:solidFill>
                      <a:latin typeface="Cambria Math" panose="02040503050406030204" pitchFamily="18" charset="0"/>
                    </a:rPr>
                    <m:t>Eroare</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a:rPr xmlns:a="http://schemas.openxmlformats.org/drawingml/2006/main" sz="6400" i="1">
                          <a:solidFill>
                            <a:srgbClr val="000000"/>
                          </a:solidFill>
                          <a:latin typeface="Cambria Math" panose="02040503050406030204" pitchFamily="18" charset="0"/>
                        </a:rPr>
                        <m:t>1</m:t>
                      </m:r>
                    </m:num>
                    <m:den>
                      <m:r>
                        <a:rPr xmlns:a="http://schemas.openxmlformats.org/drawingml/2006/main" sz="6400" i="1">
                          <a:solidFill>
                            <a:srgbClr val="000000"/>
                          </a:solidFill>
                          <a:latin typeface="Cambria Math" panose="02040503050406030204" pitchFamily="18" charset="0"/>
                        </a:rPr>
                        <m:t>n</m:t>
                      </m:r>
                    </m:den>
                  </m:f>
                  <m:limUpp>
                    <m:e>
                      <m:limLow>
                        <m:e>
                          <m:r>
                            <a:rPr xmlns:a="http://schemas.openxmlformats.org/drawingml/2006/main" sz="6400" i="1">
                              <a:solidFill>
                                <a:srgbClr val="000000"/>
                              </a:solidFill>
                              <a:latin typeface="Cambria Math" panose="02040503050406030204" pitchFamily="18" charset="0"/>
                            </a:rPr>
                            <m:t>∑</m:t>
                          </m:r>
                        </m:e>
                        <m:lim>
                          <m:r>
                            <a:rPr xmlns:a="http://schemas.openxmlformats.org/drawingml/2006/main" sz="6400" i="1">
                              <a:solidFill>
                                <a:srgbClr val="000000"/>
                              </a:solidFill>
                              <a:latin typeface="Cambria Math" panose="02040503050406030204" pitchFamily="18" charset="0"/>
                            </a:rPr>
                            <m:t>i</m:t>
                          </m:r>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1</m:t>
                          </m:r>
                        </m:lim>
                      </m:limLow>
                    </m:e>
                    <m:lim>
                      <m:r>
                        <a:rPr xmlns:a="http://schemas.openxmlformats.org/drawingml/2006/main" sz="6400" i="1">
                          <a:solidFill>
                            <a:srgbClr val="000000"/>
                          </a:solidFill>
                          <a:latin typeface="Cambria Math" panose="02040503050406030204" pitchFamily="18" charset="0"/>
                        </a:rPr>
                        <m:t>n</m:t>
                      </m:r>
                    </m:lim>
                  </m:limUpp>
                  <m:sSup>
                    <m:e>
                      <m:d>
                        <m:dPr>
                          <m:ctrlPr>
                            <a:rPr xmlns:a="http://schemas.openxmlformats.org/drawingml/2006/main" sz="6400" i="1">
                              <a:solidFill>
                                <a:srgbClr val="000000"/>
                              </a:solidFill>
                              <a:latin typeface="Cambria Math" panose="02040503050406030204" pitchFamily="18" charset="0"/>
                            </a:rPr>
                          </m:ctrlPr>
                        </m:dPr>
                        <m:e>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i</m:t>
                              </m:r>
                            </m:sub>
                          </m:sSub>
                          <m:r>
                            <a:rPr xmlns:a="http://schemas.openxmlformats.org/drawingml/2006/main" sz="6400" i="1">
                              <a:solidFill>
                                <a:srgbClr val="000000"/>
                              </a:solidFill>
                              <a:latin typeface="Cambria Math" panose="02040503050406030204" pitchFamily="18" charset="0"/>
                            </a:rPr>
                            <m:t>-</m:t>
                          </m:r>
                          <m:sSub>
                            <m:e>
                              <m:limUpp>
                                <m:e>
                                  <m:r>
                                    <a:rPr xmlns:a="http://schemas.openxmlformats.org/drawingml/2006/main" sz="6400" i="1">
                                      <a:solidFill>
                                        <a:srgbClr val="000000"/>
                                      </a:solidFill>
                                      <a:latin typeface="Cambria Math" panose="02040503050406030204" pitchFamily="18" charset="0"/>
                                    </a:rPr>
                                    <m:t>Y</m:t>
                                  </m:r>
                                </m:e>
                                <m:lim>
                                  <m:r>
                                    <a:rPr xmlns:a="http://schemas.openxmlformats.org/drawingml/2006/main" sz="6400" i="1">
                                      <a:solidFill>
                                        <a:srgbClr val="000000"/>
                                      </a:solidFill>
                                      <a:latin typeface="Cambria Math" panose="02040503050406030204" pitchFamily="18" charset="0"/>
                                    </a:rPr>
                                    <m:t>̂</m:t>
                                  </m:r>
                                </m:lim>
                              </m:limUpp>
                            </m:e>
                            <m:sub>
                              <m:r>
                                <a:rPr xmlns:a="http://schemas.openxmlformats.org/drawingml/2006/main" sz="6400" i="1">
                                  <a:solidFill>
                                    <a:srgbClr val="000000"/>
                                  </a:solidFill>
                                  <a:latin typeface="Cambria Math" panose="02040503050406030204" pitchFamily="18" charset="0"/>
                                </a:rPr>
                                <m:t>i</m:t>
                              </m:r>
                            </m:sub>
                          </m:sSub>
                        </m:e>
                      </m:d>
                    </m:e>
                    <m:sup>
                      <m:r>
                        <a:rPr xmlns:a="http://schemas.openxmlformats.org/drawingml/2006/main" sz="6400" i="1">
                          <a:solidFill>
                            <a:srgbClr val="000000"/>
                          </a:solidFill>
                          <a:latin typeface="Cambria Math" panose="02040503050406030204" pitchFamily="18" charset="0"/>
                        </a:rPr>
                        <m:t>2</m:t>
                      </m:r>
                    </m:sup>
                  </m:sSup>
                </m:oMath>
              </m:oMathPara>
            </a14:m>
            <a:endParaRPr sz="6400"/>
          </a:p>
        </p:txBody>
      </p:sp>
      <p:sp>
        <p:nvSpPr>
          <p:cNvPr id="364" name="Ecuație"/>
          <p:cNvSpPr txBox="1"/>
          <p:nvPr/>
        </p:nvSpPr>
        <p:spPr>
          <a:xfrm>
            <a:off x="6104963" y="6748691"/>
            <a:ext cx="11145476" cy="173451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m</m:t>
                      </m:r>
                    </m:e>
                    <m:sub>
                      <m:r>
                        <m:rPr>
                          <m:nor/>
                        </m:rPr>
                        <a:rPr xmlns:a="http://schemas.openxmlformats.org/drawingml/2006/main" sz="6400" i="1">
                          <a:solidFill>
                            <a:srgbClr val="000000"/>
                          </a:solidFill>
                          <a:latin typeface="Cambria Math" panose="02040503050406030204" pitchFamily="18" charset="0"/>
                        </a:rPr>
                        <m:t>nou</m:t>
                      </m:r>
                    </m:sub>
                  </m:sSub>
                  <m:r>
                    <a:rPr xmlns:a="http://schemas.openxmlformats.org/drawingml/2006/main" sz="6400" i="1">
                      <a:solidFill>
                        <a:srgbClr val="000000"/>
                      </a:solidFill>
                      <a:latin typeface="Cambria Math" panose="02040503050406030204" pitchFamily="18" charset="0"/>
                    </a:rPr>
                    <m:t>=</m:t>
                  </m:r>
                  <m:sSub>
                    <m:e>
                      <m:r>
                        <a:rPr xmlns:a="http://schemas.openxmlformats.org/drawingml/2006/main" sz="6400" i="1">
                          <a:solidFill>
                            <a:srgbClr val="000000"/>
                          </a:solidFill>
                          <a:latin typeface="Cambria Math" panose="02040503050406030204" pitchFamily="18" charset="0"/>
                        </a:rPr>
                        <m:t>m</m:t>
                      </m:r>
                    </m:e>
                    <m:sub>
                      <m:r>
                        <m:rPr>
                          <m:nor/>
                        </m:rPr>
                        <a:rPr xmlns:a="http://schemas.openxmlformats.org/drawingml/2006/main" sz="6400" i="1">
                          <a:solidFill>
                            <a:srgbClr val="000000"/>
                          </a:solidFill>
                          <a:latin typeface="Cambria Math" panose="02040503050406030204" pitchFamily="18" charset="0"/>
                        </a:rPr>
                        <m:t>vechi</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α</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m:rPr>
                          <m:sty m:val="p"/>
                        </m:rPr>
                        <a:rPr xmlns:a="http://schemas.openxmlformats.org/drawingml/2006/main" sz="6400" i="1">
                          <a:solidFill>
                            <a:srgbClr val="000000"/>
                          </a:solidFill>
                          <a:latin typeface="Cambria Math" panose="02040503050406030204" pitchFamily="18" charset="0"/>
                        </a:rPr>
                        <m:t>∂</m:t>
                      </m:r>
                    </m:num>
                    <m:den>
                      <m:r>
                        <m:rPr>
                          <m:sty m:val="p"/>
                        </m:rP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m</m:t>
                      </m:r>
                    </m:den>
                  </m:f>
                  <m:r>
                    <m:rPr>
                      <m:nor/>
                    </m:rPr>
                    <a:rPr xmlns:a="http://schemas.openxmlformats.org/drawingml/2006/main" sz="6400" i="1">
                      <a:solidFill>
                        <a:srgbClr val="000000"/>
                      </a:solidFill>
                      <a:latin typeface="Cambria Math" panose="02040503050406030204" pitchFamily="18" charset="0"/>
                    </a:rPr>
                    <m:t>Eroare</m:t>
                  </m:r>
                </m:oMath>
              </m:oMathPara>
            </a14:m>
            <a:endParaRPr sz="6400"/>
          </a:p>
        </p:txBody>
      </p:sp>
      <p:sp>
        <p:nvSpPr>
          <p:cNvPr id="365" name="Ecuație"/>
          <p:cNvSpPr txBox="1"/>
          <p:nvPr/>
        </p:nvSpPr>
        <p:spPr>
          <a:xfrm>
            <a:off x="6380095" y="9094571"/>
            <a:ext cx="10595210" cy="173451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b</m:t>
                      </m:r>
                    </m:e>
                    <m:sub>
                      <m:r>
                        <m:rPr>
                          <m:nor/>
                        </m:rPr>
                        <a:rPr xmlns:a="http://schemas.openxmlformats.org/drawingml/2006/main" sz="6400" i="1">
                          <a:solidFill>
                            <a:srgbClr val="000000"/>
                          </a:solidFill>
                          <a:latin typeface="Cambria Math" panose="02040503050406030204" pitchFamily="18" charset="0"/>
                        </a:rPr>
                        <m:t>nou</m:t>
                      </m:r>
                    </m:sub>
                  </m:sSub>
                  <m:r>
                    <a:rPr xmlns:a="http://schemas.openxmlformats.org/drawingml/2006/main" sz="6400" i="1">
                      <a:solidFill>
                        <a:srgbClr val="000000"/>
                      </a:solidFill>
                      <a:latin typeface="Cambria Math" panose="02040503050406030204" pitchFamily="18" charset="0"/>
                    </a:rPr>
                    <m:t>=</m:t>
                  </m:r>
                  <m:sSub>
                    <m:e>
                      <m:r>
                        <a:rPr xmlns:a="http://schemas.openxmlformats.org/drawingml/2006/main" sz="6400" i="1">
                          <a:solidFill>
                            <a:srgbClr val="000000"/>
                          </a:solidFill>
                          <a:latin typeface="Cambria Math" panose="02040503050406030204" pitchFamily="18" charset="0"/>
                        </a:rPr>
                        <m:t>b</m:t>
                      </m:r>
                    </m:e>
                    <m:sub>
                      <m:r>
                        <m:rPr>
                          <m:nor/>
                        </m:rPr>
                        <a:rPr xmlns:a="http://schemas.openxmlformats.org/drawingml/2006/main" sz="6400" i="1">
                          <a:solidFill>
                            <a:srgbClr val="000000"/>
                          </a:solidFill>
                          <a:latin typeface="Cambria Math" panose="02040503050406030204" pitchFamily="18" charset="0"/>
                        </a:rPr>
                        <m:t>vechi</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α</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m:rPr>
                          <m:sty m:val="p"/>
                        </m:rPr>
                        <a:rPr xmlns:a="http://schemas.openxmlformats.org/drawingml/2006/main" sz="6400" i="1">
                          <a:solidFill>
                            <a:srgbClr val="000000"/>
                          </a:solidFill>
                          <a:latin typeface="Cambria Math" panose="02040503050406030204" pitchFamily="18" charset="0"/>
                        </a:rPr>
                        <m:t>∂</m:t>
                      </m:r>
                    </m:num>
                    <m:den>
                      <m:r>
                        <m:rPr>
                          <m:sty m:val="p"/>
                        </m:rP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b</m:t>
                      </m:r>
                    </m:den>
                  </m:f>
                  <m:r>
                    <m:rPr>
                      <m:nor/>
                    </m:rPr>
                    <a:rPr xmlns:a="http://schemas.openxmlformats.org/drawingml/2006/main" sz="6400" i="1">
                      <a:solidFill>
                        <a:srgbClr val="000000"/>
                      </a:solidFill>
                      <a:latin typeface="Cambria Math" panose="02040503050406030204" pitchFamily="18" charset="0"/>
                    </a:rPr>
                    <m:t>Eroare</m:t>
                  </m:r>
                </m:oMath>
              </m:oMathPara>
            </a14:m>
            <a:endParaRPr sz="6400"/>
          </a:p>
        </p:txBody>
      </p:sp>
      <p:pic>
        <p:nvPicPr>
          <p:cNvPr id="366" name="Oval Oval" descr="Oval Oval"/>
          <p:cNvPicPr>
            <a:picLocks noChangeAspect="0"/>
          </p:cNvPicPr>
          <p:nvPr/>
        </p:nvPicPr>
        <p:blipFill>
          <a:blip r:embed="rId2">
            <a:extLst/>
          </a:blip>
          <a:stretch>
            <a:fillRect/>
          </a:stretch>
        </p:blipFill>
        <p:spPr>
          <a:xfrm>
            <a:off x="7061610" y="3750245"/>
            <a:ext cx="3127712" cy="2082801"/>
          </a:xfrm>
          <a:prstGeom prst="rect">
            <a:avLst/>
          </a:prstGeom>
        </p:spPr>
      </p:pic>
      <p:pic>
        <p:nvPicPr>
          <p:cNvPr id="368" name="Linie Linie" descr="Linie Linie"/>
          <p:cNvPicPr>
            <a:picLocks noChangeAspect="0"/>
          </p:cNvPicPr>
          <p:nvPr/>
        </p:nvPicPr>
        <p:blipFill>
          <a:blip r:embed="rId3">
            <a:extLst/>
          </a:blip>
          <a:stretch>
            <a:fillRect/>
          </a:stretch>
        </p:blipFill>
        <p:spPr>
          <a:xfrm rot="12224028">
            <a:off x="5363035" y="3092081"/>
            <a:ext cx="2621177" cy="405592"/>
          </a:xfrm>
          <a:prstGeom prst="rect">
            <a:avLst/>
          </a:prstGeom>
        </p:spPr>
      </p:pic>
      <p:sp>
        <p:nvSpPr>
          <p:cNvPr id="370" name="Funcția de cost"/>
          <p:cNvSpPr txBox="1"/>
          <p:nvPr/>
        </p:nvSpPr>
        <p:spPr>
          <a:xfrm>
            <a:off x="2133017" y="1559041"/>
            <a:ext cx="401584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Funcția de cost</a:t>
            </a:r>
          </a:p>
        </p:txBody>
      </p:sp>
      <p:pic>
        <p:nvPicPr>
          <p:cNvPr id="371" name="Oval Oval" descr="Oval Oval"/>
          <p:cNvPicPr>
            <a:picLocks noChangeAspect="0"/>
          </p:cNvPicPr>
          <p:nvPr/>
        </p:nvPicPr>
        <p:blipFill>
          <a:blip r:embed="rId4">
            <a:extLst/>
          </a:blip>
          <a:stretch>
            <a:fillRect/>
          </a:stretch>
        </p:blipFill>
        <p:spPr>
          <a:xfrm>
            <a:off x="13162877" y="6247479"/>
            <a:ext cx="4312412" cy="2736940"/>
          </a:xfrm>
          <a:prstGeom prst="rect">
            <a:avLst/>
          </a:prstGeom>
        </p:spPr>
      </p:pic>
      <p:pic>
        <p:nvPicPr>
          <p:cNvPr id="373" name="Oval Oval" descr="Oval Oval"/>
          <p:cNvPicPr>
            <a:picLocks noChangeAspect="0"/>
          </p:cNvPicPr>
          <p:nvPr/>
        </p:nvPicPr>
        <p:blipFill>
          <a:blip r:embed="rId4">
            <a:extLst/>
          </a:blip>
          <a:stretch>
            <a:fillRect/>
          </a:stretch>
        </p:blipFill>
        <p:spPr>
          <a:xfrm>
            <a:off x="13162877" y="8790406"/>
            <a:ext cx="4312412" cy="2736939"/>
          </a:xfrm>
          <a:prstGeom prst="rect">
            <a:avLst/>
          </a:prstGeom>
        </p:spPr>
      </p:pic>
      <p:pic>
        <p:nvPicPr>
          <p:cNvPr id="375" name="Linie Linie" descr="Linie Linie"/>
          <p:cNvPicPr>
            <a:picLocks noChangeAspect="0"/>
          </p:cNvPicPr>
          <p:nvPr/>
        </p:nvPicPr>
        <p:blipFill>
          <a:blip r:embed="rId5">
            <a:extLst/>
          </a:blip>
          <a:stretch>
            <a:fillRect/>
          </a:stretch>
        </p:blipFill>
        <p:spPr>
          <a:xfrm rot="1563054">
            <a:off x="17485812" y="8051816"/>
            <a:ext cx="2202647" cy="405592"/>
          </a:xfrm>
          <a:prstGeom prst="rect">
            <a:avLst/>
          </a:prstGeom>
        </p:spPr>
      </p:pic>
      <p:pic>
        <p:nvPicPr>
          <p:cNvPr id="377" name="Linie Linie" descr="Linie Linie"/>
          <p:cNvPicPr>
            <a:picLocks noChangeAspect="0"/>
          </p:cNvPicPr>
          <p:nvPr/>
        </p:nvPicPr>
        <p:blipFill>
          <a:blip r:embed="rId6">
            <a:extLst/>
          </a:blip>
          <a:stretch>
            <a:fillRect/>
          </a:stretch>
        </p:blipFill>
        <p:spPr>
          <a:xfrm rot="19801767">
            <a:off x="17567179" y="9947108"/>
            <a:ext cx="2040745" cy="405591"/>
          </a:xfrm>
          <a:prstGeom prst="rect">
            <a:avLst/>
          </a:prstGeom>
        </p:spPr>
      </p:pic>
      <p:sp>
        <p:nvSpPr>
          <p:cNvPr id="379" name="Derivata funcției…"/>
          <p:cNvSpPr txBox="1"/>
          <p:nvPr/>
        </p:nvSpPr>
        <p:spPr>
          <a:xfrm>
            <a:off x="19508607" y="8354226"/>
            <a:ext cx="4768483" cy="21308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700"/>
            </a:pPr>
            <a:r>
              <a:t>Derivata funcției </a:t>
            </a:r>
          </a:p>
          <a:p>
            <a:pPr>
              <a:defRPr sz="2700"/>
            </a:pPr>
            <a:r>
              <a:t>de cost în raport cu parametri</a:t>
            </a:r>
          </a:p>
        </p:txBody>
      </p:sp>
      <p:pic>
        <p:nvPicPr>
          <p:cNvPr id="380" name="Oval Oval" descr="Oval Oval"/>
          <p:cNvPicPr>
            <a:picLocks noChangeAspect="0"/>
          </p:cNvPicPr>
          <p:nvPr/>
        </p:nvPicPr>
        <p:blipFill>
          <a:blip r:embed="rId7">
            <a:extLst/>
          </a:blip>
          <a:stretch>
            <a:fillRect/>
          </a:stretch>
        </p:blipFill>
        <p:spPr>
          <a:xfrm>
            <a:off x="5611351" y="6612649"/>
            <a:ext cx="2840866" cy="2006600"/>
          </a:xfrm>
          <a:prstGeom prst="rect">
            <a:avLst/>
          </a:prstGeom>
        </p:spPr>
      </p:pic>
      <p:pic>
        <p:nvPicPr>
          <p:cNvPr id="382" name="Oval Oval" descr="Oval Oval"/>
          <p:cNvPicPr>
            <a:picLocks noChangeAspect="0"/>
          </p:cNvPicPr>
          <p:nvPr/>
        </p:nvPicPr>
        <p:blipFill>
          <a:blip r:embed="rId7">
            <a:extLst/>
          </a:blip>
          <a:stretch>
            <a:fillRect/>
          </a:stretch>
        </p:blipFill>
        <p:spPr>
          <a:xfrm>
            <a:off x="5906904" y="9094571"/>
            <a:ext cx="2840865" cy="2006601"/>
          </a:xfrm>
          <a:prstGeom prst="rect">
            <a:avLst/>
          </a:prstGeom>
        </p:spPr>
      </p:pic>
      <p:pic>
        <p:nvPicPr>
          <p:cNvPr id="384" name="Linie Linie" descr="Linie Linie"/>
          <p:cNvPicPr>
            <a:picLocks noChangeAspect="0"/>
          </p:cNvPicPr>
          <p:nvPr/>
        </p:nvPicPr>
        <p:blipFill>
          <a:blip r:embed="rId8">
            <a:extLst/>
          </a:blip>
          <a:stretch>
            <a:fillRect/>
          </a:stretch>
        </p:blipFill>
        <p:spPr>
          <a:xfrm rot="11750882">
            <a:off x="3375100" y="6869542"/>
            <a:ext cx="2203016" cy="405591"/>
          </a:xfrm>
          <a:prstGeom prst="rect">
            <a:avLst/>
          </a:prstGeom>
        </p:spPr>
      </p:pic>
      <p:pic>
        <p:nvPicPr>
          <p:cNvPr id="386" name="Linie Linie" descr="Linie Linie"/>
          <p:cNvPicPr>
            <a:picLocks noChangeAspect="0"/>
          </p:cNvPicPr>
          <p:nvPr/>
        </p:nvPicPr>
        <p:blipFill>
          <a:blip r:embed="rId9">
            <a:extLst/>
          </a:blip>
          <a:stretch>
            <a:fillRect/>
          </a:stretch>
        </p:blipFill>
        <p:spPr>
          <a:xfrm rot="12849036">
            <a:off x="2939380" y="8471066"/>
            <a:ext cx="3080387" cy="405591"/>
          </a:xfrm>
          <a:prstGeom prst="rect">
            <a:avLst/>
          </a:prstGeom>
        </p:spPr>
      </p:pic>
      <p:sp>
        <p:nvSpPr>
          <p:cNvPr id="388" name="Parametri…"/>
          <p:cNvSpPr txBox="1"/>
          <p:nvPr/>
        </p:nvSpPr>
        <p:spPr>
          <a:xfrm>
            <a:off x="529374" y="6248819"/>
            <a:ext cx="2371421" cy="273426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800"/>
            </a:pPr>
            <a:r>
              <a:t>Parametri </a:t>
            </a:r>
          </a:p>
          <a:p>
            <a:pPr>
              <a:defRPr sz="3800"/>
            </a:pPr>
            <a:r>
              <a:t>modelului</a:t>
            </a:r>
          </a:p>
        </p:txBody>
      </p:sp>
      <p:pic>
        <p:nvPicPr>
          <p:cNvPr id="389" name="Oval Oval" descr="Oval Oval"/>
          <p:cNvPicPr>
            <a:picLocks noChangeAspect="0"/>
          </p:cNvPicPr>
          <p:nvPr/>
        </p:nvPicPr>
        <p:blipFill>
          <a:blip r:embed="rId10">
            <a:extLst/>
          </a:blip>
          <a:stretch>
            <a:fillRect/>
          </a:stretch>
        </p:blipFill>
        <p:spPr>
          <a:xfrm>
            <a:off x="12030996" y="7060421"/>
            <a:ext cx="1517900" cy="1248990"/>
          </a:xfrm>
          <a:prstGeom prst="rect">
            <a:avLst/>
          </a:prstGeom>
        </p:spPr>
      </p:pic>
      <p:pic>
        <p:nvPicPr>
          <p:cNvPr id="391" name="Oval Oval" descr="Oval Oval"/>
          <p:cNvPicPr>
            <a:picLocks noChangeAspect="0"/>
          </p:cNvPicPr>
          <p:nvPr/>
        </p:nvPicPr>
        <p:blipFill>
          <a:blip r:embed="rId10">
            <a:extLst/>
          </a:blip>
          <a:stretch>
            <a:fillRect/>
          </a:stretch>
        </p:blipFill>
        <p:spPr>
          <a:xfrm>
            <a:off x="11876637" y="9398851"/>
            <a:ext cx="1517899" cy="1248991"/>
          </a:xfrm>
          <a:prstGeom prst="rect">
            <a:avLst/>
          </a:prstGeom>
        </p:spPr>
      </p:pic>
      <p:pic>
        <p:nvPicPr>
          <p:cNvPr id="393" name="Linie Linie" descr="Linie Linie"/>
          <p:cNvPicPr>
            <a:picLocks noChangeAspect="0"/>
          </p:cNvPicPr>
          <p:nvPr/>
        </p:nvPicPr>
        <p:blipFill>
          <a:blip r:embed="rId11">
            <a:extLst/>
          </a:blip>
          <a:stretch>
            <a:fillRect/>
          </a:stretch>
        </p:blipFill>
        <p:spPr>
          <a:xfrm rot="7060410">
            <a:off x="11769134" y="10851008"/>
            <a:ext cx="1135444" cy="405591"/>
          </a:xfrm>
          <a:prstGeom prst="rect">
            <a:avLst/>
          </a:prstGeom>
        </p:spPr>
      </p:pic>
      <p:sp>
        <p:nvSpPr>
          <p:cNvPr id="395" name="Rata de învățare (Learning rate)"/>
          <p:cNvSpPr txBox="1"/>
          <p:nvPr/>
        </p:nvSpPr>
        <p:spPr>
          <a:xfrm>
            <a:off x="9839914" y="11834544"/>
            <a:ext cx="5031144" cy="136851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700"/>
            </a:lvl1pPr>
          </a:lstStyle>
          <a:p>
            <a:pPr/>
            <a:r>
              <a:t>Rata de învățare (Learning rate)</a:t>
            </a:r>
          </a:p>
        </p:txBody>
      </p:sp>
      <p:pic>
        <p:nvPicPr>
          <p:cNvPr id="396" name="Cerc Cerc" descr="Cerc Cerc"/>
          <p:cNvPicPr>
            <a:picLocks noChangeAspect="0"/>
          </p:cNvPicPr>
          <p:nvPr/>
        </p:nvPicPr>
        <p:blipFill>
          <a:blip r:embed="rId12">
            <a:extLst/>
          </a:blip>
          <a:stretch>
            <a:fillRect/>
          </a:stretch>
        </p:blipFill>
        <p:spPr>
          <a:xfrm>
            <a:off x="12904780" y="4118545"/>
            <a:ext cx="1346201" cy="1346201"/>
          </a:xfrm>
          <a:prstGeom prst="rect">
            <a:avLst/>
          </a:prstGeom>
        </p:spPr>
      </p:pic>
      <p:pic>
        <p:nvPicPr>
          <p:cNvPr id="398" name="Linie Linie" descr="Linie Linie"/>
          <p:cNvPicPr>
            <a:picLocks noChangeAspect="0"/>
          </p:cNvPicPr>
          <p:nvPr/>
        </p:nvPicPr>
        <p:blipFill>
          <a:blip r:embed="rId13">
            <a:extLst/>
          </a:blip>
          <a:stretch>
            <a:fillRect/>
          </a:stretch>
        </p:blipFill>
        <p:spPr>
          <a:xfrm rot="19952439">
            <a:off x="13762474" y="3571636"/>
            <a:ext cx="1611427" cy="405592"/>
          </a:xfrm>
          <a:prstGeom prst="rect">
            <a:avLst/>
          </a:prstGeom>
        </p:spPr>
      </p:pic>
      <p:sp>
        <p:nvSpPr>
          <p:cNvPr id="400" name="model(X)"/>
          <p:cNvSpPr txBox="1"/>
          <p:nvPr/>
        </p:nvSpPr>
        <p:spPr>
          <a:xfrm>
            <a:off x="15378143" y="2828372"/>
            <a:ext cx="247355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model(X)</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66"/>
                                        </p:tgtEl>
                                        <p:attrNameLst>
                                          <p:attrName>style.visibility</p:attrName>
                                        </p:attrNameLst>
                                      </p:cBhvr>
                                      <p:to>
                                        <p:strVal val="visible"/>
                                      </p:to>
                                    </p:set>
                                    <p:animEffect filter="dissolve" transition="in">
                                      <p:cBhvr>
                                        <p:cTn id="7" dur="2000"/>
                                        <p:tgtEl>
                                          <p:spTgt spid="366"/>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368"/>
                                        </p:tgtEl>
                                        <p:attrNameLst>
                                          <p:attrName>style.visibility</p:attrName>
                                        </p:attrNameLst>
                                      </p:cBhvr>
                                      <p:to>
                                        <p:strVal val="visible"/>
                                      </p:to>
                                    </p:set>
                                    <p:animEffect filter="dissolve" transition="in">
                                      <p:cBhvr>
                                        <p:cTn id="11" dur="2000"/>
                                        <p:tgtEl>
                                          <p:spTgt spid="368"/>
                                        </p:tgtEl>
                                      </p:cBhvr>
                                    </p:animEffect>
                                  </p:childTnLst>
                                </p:cTn>
                              </p:par>
                            </p:childTnLst>
                          </p:cTn>
                        </p:par>
                        <p:par>
                          <p:cTn id="12" fill="hold">
                            <p:stCondLst>
                              <p:cond delay="4000"/>
                            </p:stCondLst>
                            <p:childTnLst>
                              <p:par>
                                <p:cTn id="13" presetClass="entr" nodeType="afterEffect" presetSubtype="0" presetID="1" grpId="3" fill="hold">
                                  <p:stCondLst>
                                    <p:cond delay="0"/>
                                  </p:stCondLst>
                                  <p:iterate type="el" backwards="0">
                                    <p:tmAbs val="0"/>
                                  </p:iterate>
                                  <p:childTnLst>
                                    <p:set>
                                      <p:cBhvr>
                                        <p:cTn id="14" fill="hold"/>
                                        <p:tgtEl>
                                          <p:spTgt spid="3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ID="9" grpId="4" fill="hold">
                                  <p:stCondLst>
                                    <p:cond delay="0"/>
                                  </p:stCondLst>
                                  <p:iterate type="el" backwards="0">
                                    <p:tmAbs val="0"/>
                                  </p:iterate>
                                  <p:childTnLst>
                                    <p:set>
                                      <p:cBhvr>
                                        <p:cTn id="18" fill="hold"/>
                                        <p:tgtEl>
                                          <p:spTgt spid="380"/>
                                        </p:tgtEl>
                                        <p:attrNameLst>
                                          <p:attrName>style.visibility</p:attrName>
                                        </p:attrNameLst>
                                      </p:cBhvr>
                                      <p:to>
                                        <p:strVal val="visible"/>
                                      </p:to>
                                    </p:set>
                                    <p:animEffect filter="dissolve" transition="in">
                                      <p:cBhvr>
                                        <p:cTn id="19" dur="2000"/>
                                        <p:tgtEl>
                                          <p:spTgt spid="380"/>
                                        </p:tgtEl>
                                      </p:cBhvr>
                                    </p:animEffect>
                                  </p:childTnLst>
                                </p:cTn>
                              </p:par>
                            </p:childTnLst>
                          </p:cTn>
                        </p:par>
                        <p:par>
                          <p:cTn id="20" fill="hold">
                            <p:stCondLst>
                              <p:cond delay="2000"/>
                            </p:stCondLst>
                            <p:childTnLst>
                              <p:par>
                                <p:cTn id="21" presetClass="entr" nodeType="afterEffect" presetID="9" grpId="5" fill="hold">
                                  <p:stCondLst>
                                    <p:cond delay="0"/>
                                  </p:stCondLst>
                                  <p:iterate type="el" backwards="0">
                                    <p:tmAbs val="0"/>
                                  </p:iterate>
                                  <p:childTnLst>
                                    <p:set>
                                      <p:cBhvr>
                                        <p:cTn id="22" fill="hold"/>
                                        <p:tgtEl>
                                          <p:spTgt spid="382"/>
                                        </p:tgtEl>
                                        <p:attrNameLst>
                                          <p:attrName>style.visibility</p:attrName>
                                        </p:attrNameLst>
                                      </p:cBhvr>
                                      <p:to>
                                        <p:strVal val="visible"/>
                                      </p:to>
                                    </p:set>
                                    <p:animEffect filter="dissolve" transition="in">
                                      <p:cBhvr>
                                        <p:cTn id="23" dur="2000"/>
                                        <p:tgtEl>
                                          <p:spTgt spid="382"/>
                                        </p:tgtEl>
                                      </p:cBhvr>
                                    </p:animEffect>
                                  </p:childTnLst>
                                </p:cTn>
                              </p:par>
                            </p:childTnLst>
                          </p:cTn>
                        </p:par>
                        <p:par>
                          <p:cTn id="24" fill="hold">
                            <p:stCondLst>
                              <p:cond delay="4000"/>
                            </p:stCondLst>
                            <p:childTnLst>
                              <p:par>
                                <p:cTn id="25" presetClass="entr" nodeType="afterEffect" presetID="9" grpId="6" fill="hold">
                                  <p:stCondLst>
                                    <p:cond delay="0"/>
                                  </p:stCondLst>
                                  <p:iterate type="el" backwards="0">
                                    <p:tmAbs val="0"/>
                                  </p:iterate>
                                  <p:childTnLst>
                                    <p:set>
                                      <p:cBhvr>
                                        <p:cTn id="26" fill="hold"/>
                                        <p:tgtEl>
                                          <p:spTgt spid="384"/>
                                        </p:tgtEl>
                                        <p:attrNameLst>
                                          <p:attrName>style.visibility</p:attrName>
                                        </p:attrNameLst>
                                      </p:cBhvr>
                                      <p:to>
                                        <p:strVal val="visible"/>
                                      </p:to>
                                    </p:set>
                                    <p:animEffect filter="dissolve" transition="in">
                                      <p:cBhvr>
                                        <p:cTn id="27" dur="2000"/>
                                        <p:tgtEl>
                                          <p:spTgt spid="384"/>
                                        </p:tgtEl>
                                      </p:cBhvr>
                                    </p:animEffect>
                                  </p:childTnLst>
                                </p:cTn>
                              </p:par>
                            </p:childTnLst>
                          </p:cTn>
                        </p:par>
                        <p:par>
                          <p:cTn id="28" fill="hold">
                            <p:stCondLst>
                              <p:cond delay="6000"/>
                            </p:stCondLst>
                            <p:childTnLst>
                              <p:par>
                                <p:cTn id="29" presetClass="entr" nodeType="afterEffect" presetID="9" grpId="7" fill="hold">
                                  <p:stCondLst>
                                    <p:cond delay="0"/>
                                  </p:stCondLst>
                                  <p:iterate type="el" backwards="0">
                                    <p:tmAbs val="0"/>
                                  </p:iterate>
                                  <p:childTnLst>
                                    <p:set>
                                      <p:cBhvr>
                                        <p:cTn id="30" fill="hold"/>
                                        <p:tgtEl>
                                          <p:spTgt spid="386"/>
                                        </p:tgtEl>
                                        <p:attrNameLst>
                                          <p:attrName>style.visibility</p:attrName>
                                        </p:attrNameLst>
                                      </p:cBhvr>
                                      <p:to>
                                        <p:strVal val="visible"/>
                                      </p:to>
                                    </p:set>
                                    <p:animEffect filter="dissolve" transition="in">
                                      <p:cBhvr>
                                        <p:cTn id="31" dur="2000"/>
                                        <p:tgtEl>
                                          <p:spTgt spid="386"/>
                                        </p:tgtEl>
                                      </p:cBhvr>
                                    </p:animEffect>
                                  </p:childTnLst>
                                </p:cTn>
                              </p:par>
                            </p:childTnLst>
                          </p:cTn>
                        </p:par>
                        <p:par>
                          <p:cTn id="32" fill="hold">
                            <p:stCondLst>
                              <p:cond delay="8000"/>
                            </p:stCondLst>
                            <p:childTnLst>
                              <p:par>
                                <p:cTn id="33" presetClass="entr" nodeType="afterEffect" presetSubtype="0" presetID="1" grpId="8" fill="hold">
                                  <p:stCondLst>
                                    <p:cond delay="0"/>
                                  </p:stCondLst>
                                  <p:iterate type="el" backwards="0">
                                    <p:tmAbs val="0"/>
                                  </p:iterate>
                                  <p:childTnLst>
                                    <p:set>
                                      <p:cBhvr>
                                        <p:cTn id="34" fill="hold"/>
                                        <p:tgtEl>
                                          <p:spTgt spid="3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Class="entr" nodeType="clickEffect" presetID="9" grpId="9" fill="hold">
                                  <p:stCondLst>
                                    <p:cond delay="0"/>
                                  </p:stCondLst>
                                  <p:iterate type="el" backwards="0">
                                    <p:tmAbs val="0"/>
                                  </p:iterate>
                                  <p:childTnLst>
                                    <p:set>
                                      <p:cBhvr>
                                        <p:cTn id="38" fill="hold"/>
                                        <p:tgtEl>
                                          <p:spTgt spid="371"/>
                                        </p:tgtEl>
                                        <p:attrNameLst>
                                          <p:attrName>style.visibility</p:attrName>
                                        </p:attrNameLst>
                                      </p:cBhvr>
                                      <p:to>
                                        <p:strVal val="visible"/>
                                      </p:to>
                                    </p:set>
                                    <p:animEffect filter="dissolve" transition="in">
                                      <p:cBhvr>
                                        <p:cTn id="39" dur="2000"/>
                                        <p:tgtEl>
                                          <p:spTgt spid="371"/>
                                        </p:tgtEl>
                                      </p:cBhvr>
                                    </p:animEffect>
                                  </p:childTnLst>
                                </p:cTn>
                              </p:par>
                            </p:childTnLst>
                          </p:cTn>
                        </p:par>
                        <p:par>
                          <p:cTn id="40" fill="hold">
                            <p:stCondLst>
                              <p:cond delay="2000"/>
                            </p:stCondLst>
                            <p:childTnLst>
                              <p:par>
                                <p:cTn id="41" presetClass="entr" nodeType="afterEffect" presetID="9" grpId="10" fill="hold">
                                  <p:stCondLst>
                                    <p:cond delay="0"/>
                                  </p:stCondLst>
                                  <p:iterate type="el" backwards="0">
                                    <p:tmAbs val="0"/>
                                  </p:iterate>
                                  <p:childTnLst>
                                    <p:set>
                                      <p:cBhvr>
                                        <p:cTn id="42" fill="hold"/>
                                        <p:tgtEl>
                                          <p:spTgt spid="373"/>
                                        </p:tgtEl>
                                        <p:attrNameLst>
                                          <p:attrName>style.visibility</p:attrName>
                                        </p:attrNameLst>
                                      </p:cBhvr>
                                      <p:to>
                                        <p:strVal val="visible"/>
                                      </p:to>
                                    </p:set>
                                    <p:animEffect filter="dissolve" transition="in">
                                      <p:cBhvr>
                                        <p:cTn id="43" dur="2000"/>
                                        <p:tgtEl>
                                          <p:spTgt spid="373"/>
                                        </p:tgtEl>
                                      </p:cBhvr>
                                    </p:animEffect>
                                  </p:childTnLst>
                                </p:cTn>
                              </p:par>
                            </p:childTnLst>
                          </p:cTn>
                        </p:par>
                        <p:par>
                          <p:cTn id="44" fill="hold">
                            <p:stCondLst>
                              <p:cond delay="4000"/>
                            </p:stCondLst>
                            <p:childTnLst>
                              <p:par>
                                <p:cTn id="45" presetClass="entr" nodeType="afterEffect" presetID="9" grpId="11" fill="hold">
                                  <p:stCondLst>
                                    <p:cond delay="0"/>
                                  </p:stCondLst>
                                  <p:iterate type="el" backwards="0">
                                    <p:tmAbs val="0"/>
                                  </p:iterate>
                                  <p:childTnLst>
                                    <p:set>
                                      <p:cBhvr>
                                        <p:cTn id="46" fill="hold"/>
                                        <p:tgtEl>
                                          <p:spTgt spid="375"/>
                                        </p:tgtEl>
                                        <p:attrNameLst>
                                          <p:attrName>style.visibility</p:attrName>
                                        </p:attrNameLst>
                                      </p:cBhvr>
                                      <p:to>
                                        <p:strVal val="visible"/>
                                      </p:to>
                                    </p:set>
                                    <p:animEffect filter="dissolve" transition="in">
                                      <p:cBhvr>
                                        <p:cTn id="47" dur="2000"/>
                                        <p:tgtEl>
                                          <p:spTgt spid="375"/>
                                        </p:tgtEl>
                                      </p:cBhvr>
                                    </p:animEffect>
                                  </p:childTnLst>
                                </p:cTn>
                              </p:par>
                            </p:childTnLst>
                          </p:cTn>
                        </p:par>
                        <p:par>
                          <p:cTn id="48" fill="hold">
                            <p:stCondLst>
                              <p:cond delay="6000"/>
                            </p:stCondLst>
                            <p:childTnLst>
                              <p:par>
                                <p:cTn id="49" presetClass="entr" nodeType="afterEffect" presetID="9" grpId="12" fill="hold">
                                  <p:stCondLst>
                                    <p:cond delay="0"/>
                                  </p:stCondLst>
                                  <p:iterate type="el" backwards="0">
                                    <p:tmAbs val="0"/>
                                  </p:iterate>
                                  <p:childTnLst>
                                    <p:set>
                                      <p:cBhvr>
                                        <p:cTn id="50" fill="hold"/>
                                        <p:tgtEl>
                                          <p:spTgt spid="377"/>
                                        </p:tgtEl>
                                        <p:attrNameLst>
                                          <p:attrName>style.visibility</p:attrName>
                                        </p:attrNameLst>
                                      </p:cBhvr>
                                      <p:to>
                                        <p:strVal val="visible"/>
                                      </p:to>
                                    </p:set>
                                    <p:animEffect filter="dissolve" transition="in">
                                      <p:cBhvr>
                                        <p:cTn id="51" dur="2000"/>
                                        <p:tgtEl>
                                          <p:spTgt spid="377"/>
                                        </p:tgtEl>
                                      </p:cBhvr>
                                    </p:animEffect>
                                  </p:childTnLst>
                                </p:cTn>
                              </p:par>
                            </p:childTnLst>
                          </p:cTn>
                        </p:par>
                        <p:par>
                          <p:cTn id="52" fill="hold">
                            <p:stCondLst>
                              <p:cond delay="8000"/>
                            </p:stCondLst>
                            <p:childTnLst>
                              <p:par>
                                <p:cTn id="53" presetClass="entr" nodeType="afterEffect" presetSubtype="0" presetID="1" grpId="13" fill="hold">
                                  <p:stCondLst>
                                    <p:cond delay="0"/>
                                  </p:stCondLst>
                                  <p:iterate type="el" backwards="0">
                                    <p:tmAbs val="0"/>
                                  </p:iterate>
                                  <p:childTnLst>
                                    <p:set>
                                      <p:cBhvr>
                                        <p:cTn id="54" fill="hold"/>
                                        <p:tgtEl>
                                          <p:spTgt spid="37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Class="entr" nodeType="clickEffect" presetID="9" grpId="14" fill="hold">
                                  <p:stCondLst>
                                    <p:cond delay="0"/>
                                  </p:stCondLst>
                                  <p:iterate type="el" backwards="0">
                                    <p:tmAbs val="0"/>
                                  </p:iterate>
                                  <p:childTnLst>
                                    <p:set>
                                      <p:cBhvr>
                                        <p:cTn id="58" fill="hold"/>
                                        <p:tgtEl>
                                          <p:spTgt spid="389"/>
                                        </p:tgtEl>
                                        <p:attrNameLst>
                                          <p:attrName>style.visibility</p:attrName>
                                        </p:attrNameLst>
                                      </p:cBhvr>
                                      <p:to>
                                        <p:strVal val="visible"/>
                                      </p:to>
                                    </p:set>
                                    <p:animEffect filter="dissolve" transition="in">
                                      <p:cBhvr>
                                        <p:cTn id="59" dur="2000"/>
                                        <p:tgtEl>
                                          <p:spTgt spid="389"/>
                                        </p:tgtEl>
                                      </p:cBhvr>
                                    </p:animEffect>
                                  </p:childTnLst>
                                </p:cTn>
                              </p:par>
                            </p:childTnLst>
                          </p:cTn>
                        </p:par>
                        <p:par>
                          <p:cTn id="60" fill="hold">
                            <p:stCondLst>
                              <p:cond delay="2000"/>
                            </p:stCondLst>
                            <p:childTnLst>
                              <p:par>
                                <p:cTn id="61" presetClass="entr" nodeType="afterEffect" presetID="9" grpId="15" fill="hold">
                                  <p:stCondLst>
                                    <p:cond delay="0"/>
                                  </p:stCondLst>
                                  <p:iterate type="el" backwards="0">
                                    <p:tmAbs val="0"/>
                                  </p:iterate>
                                  <p:childTnLst>
                                    <p:set>
                                      <p:cBhvr>
                                        <p:cTn id="62" fill="hold"/>
                                        <p:tgtEl>
                                          <p:spTgt spid="391"/>
                                        </p:tgtEl>
                                        <p:attrNameLst>
                                          <p:attrName>style.visibility</p:attrName>
                                        </p:attrNameLst>
                                      </p:cBhvr>
                                      <p:to>
                                        <p:strVal val="visible"/>
                                      </p:to>
                                    </p:set>
                                    <p:animEffect filter="dissolve" transition="in">
                                      <p:cBhvr>
                                        <p:cTn id="63" dur="2000"/>
                                        <p:tgtEl>
                                          <p:spTgt spid="391"/>
                                        </p:tgtEl>
                                      </p:cBhvr>
                                    </p:animEffect>
                                  </p:childTnLst>
                                </p:cTn>
                              </p:par>
                            </p:childTnLst>
                          </p:cTn>
                        </p:par>
                        <p:par>
                          <p:cTn id="64" fill="hold">
                            <p:stCondLst>
                              <p:cond delay="4000"/>
                            </p:stCondLst>
                            <p:childTnLst>
                              <p:par>
                                <p:cTn id="65" presetClass="entr" nodeType="afterEffect" presetID="9" grpId="16" fill="hold">
                                  <p:stCondLst>
                                    <p:cond delay="0"/>
                                  </p:stCondLst>
                                  <p:iterate type="el" backwards="0">
                                    <p:tmAbs val="0"/>
                                  </p:iterate>
                                  <p:childTnLst>
                                    <p:set>
                                      <p:cBhvr>
                                        <p:cTn id="66" fill="hold"/>
                                        <p:tgtEl>
                                          <p:spTgt spid="393"/>
                                        </p:tgtEl>
                                        <p:attrNameLst>
                                          <p:attrName>style.visibility</p:attrName>
                                        </p:attrNameLst>
                                      </p:cBhvr>
                                      <p:to>
                                        <p:strVal val="visible"/>
                                      </p:to>
                                    </p:set>
                                    <p:animEffect filter="dissolve" transition="in">
                                      <p:cBhvr>
                                        <p:cTn id="67" dur="2000"/>
                                        <p:tgtEl>
                                          <p:spTgt spid="393"/>
                                        </p:tgtEl>
                                      </p:cBhvr>
                                    </p:animEffect>
                                  </p:childTnLst>
                                </p:cTn>
                              </p:par>
                            </p:childTnLst>
                          </p:cTn>
                        </p:par>
                        <p:par>
                          <p:cTn id="68" fill="hold">
                            <p:stCondLst>
                              <p:cond delay="6000"/>
                            </p:stCondLst>
                            <p:childTnLst>
                              <p:par>
                                <p:cTn id="69" presetClass="entr" nodeType="afterEffect" presetSubtype="0" presetID="1" grpId="17" fill="hold">
                                  <p:stCondLst>
                                    <p:cond delay="0"/>
                                  </p:stCondLst>
                                  <p:iterate type="el" backwards="0">
                                    <p:tmAbs val="0"/>
                                  </p:iterate>
                                  <p:childTnLst>
                                    <p:set>
                                      <p:cBhvr>
                                        <p:cTn id="70" fill="hold"/>
                                        <p:tgtEl>
                                          <p:spTgt spid="39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Class="entr" nodeType="clickEffect" presetID="9" grpId="18" fill="hold">
                                  <p:stCondLst>
                                    <p:cond delay="0"/>
                                  </p:stCondLst>
                                  <p:iterate type="el" backwards="0">
                                    <p:tmAbs val="0"/>
                                  </p:iterate>
                                  <p:childTnLst>
                                    <p:set>
                                      <p:cBhvr>
                                        <p:cTn id="74" fill="hold"/>
                                        <p:tgtEl>
                                          <p:spTgt spid="396"/>
                                        </p:tgtEl>
                                        <p:attrNameLst>
                                          <p:attrName>style.visibility</p:attrName>
                                        </p:attrNameLst>
                                      </p:cBhvr>
                                      <p:to>
                                        <p:strVal val="visible"/>
                                      </p:to>
                                    </p:set>
                                    <p:animEffect filter="dissolve" transition="in">
                                      <p:cBhvr>
                                        <p:cTn id="75" dur="2000"/>
                                        <p:tgtEl>
                                          <p:spTgt spid="396"/>
                                        </p:tgtEl>
                                      </p:cBhvr>
                                    </p:animEffect>
                                  </p:childTnLst>
                                </p:cTn>
                              </p:par>
                            </p:childTnLst>
                          </p:cTn>
                        </p:par>
                        <p:par>
                          <p:cTn id="76" fill="hold">
                            <p:stCondLst>
                              <p:cond delay="2000"/>
                            </p:stCondLst>
                            <p:childTnLst>
                              <p:par>
                                <p:cTn id="77" presetClass="entr" nodeType="afterEffect" presetID="9" grpId="19" fill="hold">
                                  <p:stCondLst>
                                    <p:cond delay="0"/>
                                  </p:stCondLst>
                                  <p:iterate type="el" backwards="0">
                                    <p:tmAbs val="0"/>
                                  </p:iterate>
                                  <p:childTnLst>
                                    <p:set>
                                      <p:cBhvr>
                                        <p:cTn id="78" fill="hold"/>
                                        <p:tgtEl>
                                          <p:spTgt spid="398"/>
                                        </p:tgtEl>
                                        <p:attrNameLst>
                                          <p:attrName>style.visibility</p:attrName>
                                        </p:attrNameLst>
                                      </p:cBhvr>
                                      <p:to>
                                        <p:strVal val="visible"/>
                                      </p:to>
                                    </p:set>
                                    <p:animEffect filter="dissolve" transition="in">
                                      <p:cBhvr>
                                        <p:cTn id="79" dur="2000"/>
                                        <p:tgtEl>
                                          <p:spTgt spid="398"/>
                                        </p:tgtEl>
                                      </p:cBhvr>
                                    </p:animEffect>
                                  </p:childTnLst>
                                </p:cTn>
                              </p:par>
                            </p:childTnLst>
                          </p:cTn>
                        </p:par>
                        <p:par>
                          <p:cTn id="80" fill="hold">
                            <p:stCondLst>
                              <p:cond delay="4000"/>
                            </p:stCondLst>
                            <p:childTnLst>
                              <p:par>
                                <p:cTn id="81" presetClass="entr" nodeType="afterEffect" presetSubtype="0" presetID="1" grpId="20" fill="hold">
                                  <p:stCondLst>
                                    <p:cond delay="0"/>
                                  </p:stCondLst>
                                  <p:iterate type="el" backwards="0">
                                    <p:tmAbs val="0"/>
                                  </p:iterate>
                                  <p:childTnLst>
                                    <p:set>
                                      <p:cBhvr>
                                        <p:cTn id="82" fill="hold"/>
                                        <p:tgtEl>
                                          <p:spTgt spid="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8" grpId="8"/>
      <p:bldP build="whole" bldLvl="1" animBg="1" rev="0" advAuto="0" spid="370" grpId="3"/>
      <p:bldP build="whole" bldLvl="1" animBg="1" rev="0" advAuto="0" spid="395" grpId="17"/>
      <p:bldP build="whole" bldLvl="1" animBg="1" rev="0" advAuto="0" spid="375" grpId="11"/>
      <p:bldP build="whole" bldLvl="1" animBg="1" rev="0" advAuto="0" spid="382" grpId="5"/>
      <p:bldP build="whole" bldLvl="1" animBg="1" rev="0" advAuto="0" spid="368" grpId="2"/>
      <p:bldP build="whole" bldLvl="1" animBg="1" rev="0" advAuto="0" spid="389" grpId="14"/>
      <p:bldP build="whole" bldLvl="1" animBg="1" rev="0" advAuto="0" spid="366" grpId="1"/>
      <p:bldP build="whole" bldLvl="1" animBg="1" rev="0" advAuto="0" spid="379" grpId="13"/>
      <p:bldP build="whole" bldLvl="1" animBg="1" rev="0" advAuto="0" spid="373" grpId="10"/>
      <p:bldP build="whole" bldLvl="1" animBg="1" rev="0" advAuto="0" spid="371" grpId="9"/>
      <p:bldP build="whole" bldLvl="1" animBg="1" rev="0" advAuto="0" spid="384" grpId="6"/>
      <p:bldP build="whole" bldLvl="1" animBg="1" rev="0" advAuto="0" spid="398" grpId="19"/>
      <p:bldP build="whole" bldLvl="1" animBg="1" rev="0" advAuto="0" spid="400" grpId="20"/>
      <p:bldP build="whole" bldLvl="1" animBg="1" rev="0" advAuto="0" spid="377" grpId="12"/>
      <p:bldP build="whole" bldLvl="1" animBg="1" rev="0" advAuto="0" spid="380" grpId="4"/>
      <p:bldP build="whole" bldLvl="1" animBg="1" rev="0" advAuto="0" spid="386" grpId="7"/>
      <p:bldP build="whole" bldLvl="1" animBg="1" rev="0" advAuto="0" spid="393" grpId="16"/>
      <p:bldP build="whole" bldLvl="1" animBg="1" rev="0" advAuto="0" spid="391" grpId="15"/>
      <p:bldP build="whole" bldLvl="1" animBg="1" rev="0" advAuto="0" spid="396" grpId="18"/>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2" name="Gradient Descent"/>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Gradient Descent</a:t>
            </a:r>
          </a:p>
        </p:txBody>
      </p:sp>
      <p:sp>
        <p:nvSpPr>
          <p:cNvPr id="403" name="Ecuație"/>
          <p:cNvSpPr txBox="1"/>
          <p:nvPr/>
        </p:nvSpPr>
        <p:spPr>
          <a:xfrm>
            <a:off x="6236060" y="3433815"/>
            <a:ext cx="11145475" cy="173451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m</m:t>
                      </m:r>
                    </m:e>
                    <m:sub>
                      <m:r>
                        <m:rPr>
                          <m:nor/>
                        </m:rPr>
                        <a:rPr xmlns:a="http://schemas.openxmlformats.org/drawingml/2006/main" sz="6400" i="1">
                          <a:solidFill>
                            <a:srgbClr val="000000"/>
                          </a:solidFill>
                          <a:latin typeface="Cambria Math" panose="02040503050406030204" pitchFamily="18" charset="0"/>
                        </a:rPr>
                        <m:t>nou</m:t>
                      </m:r>
                    </m:sub>
                  </m:sSub>
                  <m:r>
                    <a:rPr xmlns:a="http://schemas.openxmlformats.org/drawingml/2006/main" sz="6400" i="1">
                      <a:solidFill>
                        <a:srgbClr val="000000"/>
                      </a:solidFill>
                      <a:latin typeface="Cambria Math" panose="02040503050406030204" pitchFamily="18" charset="0"/>
                    </a:rPr>
                    <m:t>=</m:t>
                  </m:r>
                  <m:sSub>
                    <m:e>
                      <m:r>
                        <a:rPr xmlns:a="http://schemas.openxmlformats.org/drawingml/2006/main" sz="6400" i="1">
                          <a:solidFill>
                            <a:srgbClr val="000000"/>
                          </a:solidFill>
                          <a:latin typeface="Cambria Math" panose="02040503050406030204" pitchFamily="18" charset="0"/>
                        </a:rPr>
                        <m:t>m</m:t>
                      </m:r>
                    </m:e>
                    <m:sub>
                      <m:r>
                        <m:rPr>
                          <m:nor/>
                        </m:rPr>
                        <a:rPr xmlns:a="http://schemas.openxmlformats.org/drawingml/2006/main" sz="6400" i="1">
                          <a:solidFill>
                            <a:srgbClr val="000000"/>
                          </a:solidFill>
                          <a:latin typeface="Cambria Math" panose="02040503050406030204" pitchFamily="18" charset="0"/>
                        </a:rPr>
                        <m:t>vechi</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α</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m:rPr>
                          <m:sty m:val="p"/>
                        </m:rPr>
                        <a:rPr xmlns:a="http://schemas.openxmlformats.org/drawingml/2006/main" sz="6400" i="1">
                          <a:solidFill>
                            <a:srgbClr val="000000"/>
                          </a:solidFill>
                          <a:latin typeface="Cambria Math" panose="02040503050406030204" pitchFamily="18" charset="0"/>
                        </a:rPr>
                        <m:t>∂</m:t>
                      </m:r>
                    </m:num>
                    <m:den>
                      <m:r>
                        <m:rPr>
                          <m:sty m:val="p"/>
                        </m:rP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m</m:t>
                      </m:r>
                    </m:den>
                  </m:f>
                  <m:r>
                    <m:rPr>
                      <m:nor/>
                    </m:rPr>
                    <a:rPr xmlns:a="http://schemas.openxmlformats.org/drawingml/2006/main" sz="6400" i="1">
                      <a:solidFill>
                        <a:srgbClr val="000000"/>
                      </a:solidFill>
                      <a:latin typeface="Cambria Math" panose="02040503050406030204" pitchFamily="18" charset="0"/>
                    </a:rPr>
                    <m:t>Eroare</m:t>
                  </m:r>
                </m:oMath>
              </m:oMathPara>
            </a14:m>
            <a:endParaRPr sz="6400"/>
          </a:p>
        </p:txBody>
      </p:sp>
      <p:sp>
        <p:nvSpPr>
          <p:cNvPr id="404" name="Ecuație"/>
          <p:cNvSpPr txBox="1"/>
          <p:nvPr/>
        </p:nvSpPr>
        <p:spPr>
          <a:xfrm>
            <a:off x="6511192" y="5779695"/>
            <a:ext cx="10595210" cy="173451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6400" i="1">
                          <a:solidFill>
                            <a:srgbClr val="000000"/>
                          </a:solidFill>
                          <a:latin typeface="Cambria Math" panose="02040503050406030204" pitchFamily="18" charset="0"/>
                        </a:rPr>
                        <m:t>b</m:t>
                      </m:r>
                    </m:e>
                    <m:sub>
                      <m:r>
                        <m:rPr>
                          <m:nor/>
                        </m:rPr>
                        <a:rPr xmlns:a="http://schemas.openxmlformats.org/drawingml/2006/main" sz="6400" i="1">
                          <a:solidFill>
                            <a:srgbClr val="000000"/>
                          </a:solidFill>
                          <a:latin typeface="Cambria Math" panose="02040503050406030204" pitchFamily="18" charset="0"/>
                        </a:rPr>
                        <m:t>nou</m:t>
                      </m:r>
                    </m:sub>
                  </m:sSub>
                  <m:r>
                    <a:rPr xmlns:a="http://schemas.openxmlformats.org/drawingml/2006/main" sz="6400" i="1">
                      <a:solidFill>
                        <a:srgbClr val="000000"/>
                      </a:solidFill>
                      <a:latin typeface="Cambria Math" panose="02040503050406030204" pitchFamily="18" charset="0"/>
                    </a:rPr>
                    <m:t>=</m:t>
                  </m:r>
                  <m:sSub>
                    <m:e>
                      <m:r>
                        <a:rPr xmlns:a="http://schemas.openxmlformats.org/drawingml/2006/main" sz="6400" i="1">
                          <a:solidFill>
                            <a:srgbClr val="000000"/>
                          </a:solidFill>
                          <a:latin typeface="Cambria Math" panose="02040503050406030204" pitchFamily="18" charset="0"/>
                        </a:rPr>
                        <m:t>b</m:t>
                      </m:r>
                    </m:e>
                    <m:sub>
                      <m:r>
                        <m:rPr>
                          <m:nor/>
                        </m:rPr>
                        <a:rPr xmlns:a="http://schemas.openxmlformats.org/drawingml/2006/main" sz="6400" i="1">
                          <a:solidFill>
                            <a:srgbClr val="000000"/>
                          </a:solidFill>
                          <a:latin typeface="Cambria Math" panose="02040503050406030204" pitchFamily="18" charset="0"/>
                        </a:rPr>
                        <m:t>vechi</m:t>
                      </m:r>
                    </m:sub>
                  </m:sSub>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α</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m:rPr>
                          <m:sty m:val="p"/>
                        </m:rPr>
                        <a:rPr xmlns:a="http://schemas.openxmlformats.org/drawingml/2006/main" sz="6400" i="1">
                          <a:solidFill>
                            <a:srgbClr val="000000"/>
                          </a:solidFill>
                          <a:latin typeface="Cambria Math" panose="02040503050406030204" pitchFamily="18" charset="0"/>
                        </a:rPr>
                        <m:t>∂</m:t>
                      </m:r>
                    </m:num>
                    <m:den>
                      <m:r>
                        <m:rPr>
                          <m:sty m:val="p"/>
                        </m:rP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b</m:t>
                      </m:r>
                    </m:den>
                  </m:f>
                  <m:r>
                    <m:rPr>
                      <m:nor/>
                    </m:rPr>
                    <a:rPr xmlns:a="http://schemas.openxmlformats.org/drawingml/2006/main" sz="6400" i="1">
                      <a:solidFill>
                        <a:srgbClr val="000000"/>
                      </a:solidFill>
                      <a:latin typeface="Cambria Math" panose="02040503050406030204" pitchFamily="18" charset="0"/>
                    </a:rPr>
                    <m:t>Eroare</m:t>
                  </m:r>
                </m:oMath>
              </m:oMathPara>
            </a14:m>
            <a:endParaRPr sz="6400"/>
          </a:p>
        </p:txBody>
      </p:sp>
      <p:pic>
        <p:nvPicPr>
          <p:cNvPr id="405" name="Oval Oval" descr="Oval Oval"/>
          <p:cNvPicPr>
            <a:picLocks noChangeAspect="0"/>
          </p:cNvPicPr>
          <p:nvPr/>
        </p:nvPicPr>
        <p:blipFill>
          <a:blip r:embed="rId2">
            <a:extLst/>
          </a:blip>
          <a:stretch>
            <a:fillRect/>
          </a:stretch>
        </p:blipFill>
        <p:spPr>
          <a:xfrm>
            <a:off x="13293974" y="2932603"/>
            <a:ext cx="4312412" cy="2736940"/>
          </a:xfrm>
          <a:prstGeom prst="rect">
            <a:avLst/>
          </a:prstGeom>
        </p:spPr>
      </p:pic>
      <p:pic>
        <p:nvPicPr>
          <p:cNvPr id="407" name="Oval Oval" descr="Oval Oval"/>
          <p:cNvPicPr>
            <a:picLocks noChangeAspect="0"/>
          </p:cNvPicPr>
          <p:nvPr/>
        </p:nvPicPr>
        <p:blipFill>
          <a:blip r:embed="rId2">
            <a:extLst/>
          </a:blip>
          <a:stretch>
            <a:fillRect/>
          </a:stretch>
        </p:blipFill>
        <p:spPr>
          <a:xfrm>
            <a:off x="13293974" y="5475530"/>
            <a:ext cx="4312412" cy="2736940"/>
          </a:xfrm>
          <a:prstGeom prst="rect">
            <a:avLst/>
          </a:prstGeom>
        </p:spPr>
      </p:pic>
      <p:pic>
        <p:nvPicPr>
          <p:cNvPr id="409" name="Linie Linie" descr="Linie Linie"/>
          <p:cNvPicPr>
            <a:picLocks noChangeAspect="0"/>
          </p:cNvPicPr>
          <p:nvPr/>
        </p:nvPicPr>
        <p:blipFill>
          <a:blip r:embed="rId3">
            <a:extLst/>
          </a:blip>
          <a:stretch>
            <a:fillRect/>
          </a:stretch>
        </p:blipFill>
        <p:spPr>
          <a:xfrm rot="1563054">
            <a:off x="17616909" y="4736941"/>
            <a:ext cx="2202648" cy="405591"/>
          </a:xfrm>
          <a:prstGeom prst="rect">
            <a:avLst/>
          </a:prstGeom>
        </p:spPr>
      </p:pic>
      <p:pic>
        <p:nvPicPr>
          <p:cNvPr id="411" name="Linie Linie" descr="Linie Linie"/>
          <p:cNvPicPr>
            <a:picLocks noChangeAspect="0"/>
          </p:cNvPicPr>
          <p:nvPr/>
        </p:nvPicPr>
        <p:blipFill>
          <a:blip r:embed="rId4">
            <a:extLst/>
          </a:blip>
          <a:stretch>
            <a:fillRect/>
          </a:stretch>
        </p:blipFill>
        <p:spPr>
          <a:xfrm rot="19801767">
            <a:off x="17698277" y="6632232"/>
            <a:ext cx="2040744" cy="405591"/>
          </a:xfrm>
          <a:prstGeom prst="rect">
            <a:avLst/>
          </a:prstGeom>
        </p:spPr>
      </p:pic>
      <p:sp>
        <p:nvSpPr>
          <p:cNvPr id="413" name="Derivata funcției…"/>
          <p:cNvSpPr txBox="1"/>
          <p:nvPr/>
        </p:nvSpPr>
        <p:spPr>
          <a:xfrm>
            <a:off x="19639705" y="5039350"/>
            <a:ext cx="4768482" cy="213085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700"/>
            </a:pPr>
            <a:r>
              <a:t>Derivata funcției </a:t>
            </a:r>
          </a:p>
          <a:p>
            <a:pPr>
              <a:defRPr sz="2700"/>
            </a:pPr>
            <a:r>
              <a:t>de cost în raport cu parametri</a:t>
            </a:r>
          </a:p>
        </p:txBody>
      </p:sp>
      <p:pic>
        <p:nvPicPr>
          <p:cNvPr id="414" name="Oval Oval" descr="Oval Oval"/>
          <p:cNvPicPr>
            <a:picLocks noChangeAspect="0"/>
          </p:cNvPicPr>
          <p:nvPr/>
        </p:nvPicPr>
        <p:blipFill>
          <a:blip r:embed="rId5">
            <a:extLst/>
          </a:blip>
          <a:stretch>
            <a:fillRect/>
          </a:stretch>
        </p:blipFill>
        <p:spPr>
          <a:xfrm>
            <a:off x="5742448" y="3297773"/>
            <a:ext cx="2840865" cy="2006601"/>
          </a:xfrm>
          <a:prstGeom prst="rect">
            <a:avLst/>
          </a:prstGeom>
        </p:spPr>
      </p:pic>
      <p:pic>
        <p:nvPicPr>
          <p:cNvPr id="416" name="Oval Oval" descr="Oval Oval"/>
          <p:cNvPicPr>
            <a:picLocks noChangeAspect="0"/>
          </p:cNvPicPr>
          <p:nvPr/>
        </p:nvPicPr>
        <p:blipFill>
          <a:blip r:embed="rId5">
            <a:extLst/>
          </a:blip>
          <a:stretch>
            <a:fillRect/>
          </a:stretch>
        </p:blipFill>
        <p:spPr>
          <a:xfrm>
            <a:off x="6038001" y="5779695"/>
            <a:ext cx="2840865" cy="2006601"/>
          </a:xfrm>
          <a:prstGeom prst="rect">
            <a:avLst/>
          </a:prstGeom>
        </p:spPr>
      </p:pic>
      <p:pic>
        <p:nvPicPr>
          <p:cNvPr id="418" name="Linie Linie" descr="Linie Linie"/>
          <p:cNvPicPr>
            <a:picLocks noChangeAspect="0"/>
          </p:cNvPicPr>
          <p:nvPr/>
        </p:nvPicPr>
        <p:blipFill>
          <a:blip r:embed="rId6">
            <a:extLst/>
          </a:blip>
          <a:stretch>
            <a:fillRect/>
          </a:stretch>
        </p:blipFill>
        <p:spPr>
          <a:xfrm rot="11750882">
            <a:off x="3506197" y="3554666"/>
            <a:ext cx="2203016" cy="405592"/>
          </a:xfrm>
          <a:prstGeom prst="rect">
            <a:avLst/>
          </a:prstGeom>
        </p:spPr>
      </p:pic>
      <p:pic>
        <p:nvPicPr>
          <p:cNvPr id="420" name="Linie Linie" descr="Linie Linie"/>
          <p:cNvPicPr>
            <a:picLocks noChangeAspect="0"/>
          </p:cNvPicPr>
          <p:nvPr/>
        </p:nvPicPr>
        <p:blipFill>
          <a:blip r:embed="rId7">
            <a:extLst/>
          </a:blip>
          <a:stretch>
            <a:fillRect/>
          </a:stretch>
        </p:blipFill>
        <p:spPr>
          <a:xfrm rot="12849036">
            <a:off x="3070477" y="5156190"/>
            <a:ext cx="3080387" cy="405592"/>
          </a:xfrm>
          <a:prstGeom prst="rect">
            <a:avLst/>
          </a:prstGeom>
        </p:spPr>
      </p:pic>
      <p:sp>
        <p:nvSpPr>
          <p:cNvPr id="422" name="Parametri…"/>
          <p:cNvSpPr txBox="1"/>
          <p:nvPr/>
        </p:nvSpPr>
        <p:spPr>
          <a:xfrm>
            <a:off x="660471" y="2933943"/>
            <a:ext cx="2371421" cy="273426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800"/>
            </a:pPr>
            <a:r>
              <a:t>Parametri </a:t>
            </a:r>
          </a:p>
          <a:p>
            <a:pPr>
              <a:defRPr sz="3800"/>
            </a:pPr>
            <a:r>
              <a:t>modelului</a:t>
            </a:r>
          </a:p>
        </p:txBody>
      </p:sp>
      <p:pic>
        <p:nvPicPr>
          <p:cNvPr id="423" name="Oval Oval" descr="Oval Oval"/>
          <p:cNvPicPr>
            <a:picLocks noChangeAspect="0"/>
          </p:cNvPicPr>
          <p:nvPr/>
        </p:nvPicPr>
        <p:blipFill>
          <a:blip r:embed="rId8">
            <a:extLst/>
          </a:blip>
          <a:stretch>
            <a:fillRect/>
          </a:stretch>
        </p:blipFill>
        <p:spPr>
          <a:xfrm>
            <a:off x="12162093" y="3745546"/>
            <a:ext cx="1517900" cy="1248990"/>
          </a:xfrm>
          <a:prstGeom prst="rect">
            <a:avLst/>
          </a:prstGeom>
        </p:spPr>
      </p:pic>
      <p:pic>
        <p:nvPicPr>
          <p:cNvPr id="425" name="Oval Oval" descr="Oval Oval"/>
          <p:cNvPicPr>
            <a:picLocks noChangeAspect="0"/>
          </p:cNvPicPr>
          <p:nvPr/>
        </p:nvPicPr>
        <p:blipFill>
          <a:blip r:embed="rId8">
            <a:extLst/>
          </a:blip>
          <a:stretch>
            <a:fillRect/>
          </a:stretch>
        </p:blipFill>
        <p:spPr>
          <a:xfrm>
            <a:off x="12007733" y="6083976"/>
            <a:ext cx="1517900" cy="1248990"/>
          </a:xfrm>
          <a:prstGeom prst="rect">
            <a:avLst/>
          </a:prstGeom>
        </p:spPr>
      </p:pic>
      <p:pic>
        <p:nvPicPr>
          <p:cNvPr id="427" name="Linie Linie" descr="Linie Linie"/>
          <p:cNvPicPr>
            <a:picLocks noChangeAspect="0"/>
          </p:cNvPicPr>
          <p:nvPr/>
        </p:nvPicPr>
        <p:blipFill>
          <a:blip r:embed="rId9">
            <a:extLst/>
          </a:blip>
          <a:stretch>
            <a:fillRect/>
          </a:stretch>
        </p:blipFill>
        <p:spPr>
          <a:xfrm rot="7060410">
            <a:off x="11900230" y="7536132"/>
            <a:ext cx="1135445" cy="405592"/>
          </a:xfrm>
          <a:prstGeom prst="rect">
            <a:avLst/>
          </a:prstGeom>
        </p:spPr>
      </p:pic>
      <p:sp>
        <p:nvSpPr>
          <p:cNvPr id="429" name="Rata de învățare (Learning rate)"/>
          <p:cNvSpPr txBox="1"/>
          <p:nvPr/>
        </p:nvSpPr>
        <p:spPr>
          <a:xfrm>
            <a:off x="9971011" y="8519668"/>
            <a:ext cx="5031144" cy="136851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700"/>
            </a:lvl1pPr>
          </a:lstStyle>
          <a:p>
            <a:pPr/>
            <a:r>
              <a:t>Rata de învățare (Learning rate)</a:t>
            </a:r>
          </a:p>
        </p:txBody>
      </p:sp>
      <p:sp>
        <p:nvSpPr>
          <p:cNvPr id="430" name="Parametri care nu sunt actualizați de către gradient descent (cum este alpha)…"/>
          <p:cNvSpPr txBox="1"/>
          <p:nvPr/>
        </p:nvSpPr>
        <p:spPr>
          <a:xfrm>
            <a:off x="4572024" y="9442303"/>
            <a:ext cx="19472251" cy="19939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 care nu sunt actualizați de către gradient descent (cum este alpha)</a:t>
            </a:r>
          </a:p>
          <a:p>
            <a:pPr/>
            <a:r>
              <a:t>poartă numele de hiperparametri.</a:t>
            </a:r>
          </a:p>
        </p:txBody>
      </p:sp>
      <p:pic>
        <p:nvPicPr>
          <p:cNvPr id="431" name="Linie Linie" descr="Linie Linie"/>
          <p:cNvPicPr>
            <a:picLocks noChangeAspect="0"/>
          </p:cNvPicPr>
          <p:nvPr/>
        </p:nvPicPr>
        <p:blipFill>
          <a:blip r:embed="rId10">
            <a:extLst/>
          </a:blip>
          <a:stretch>
            <a:fillRect/>
          </a:stretch>
        </p:blipFill>
        <p:spPr>
          <a:xfrm>
            <a:off x="8861439" y="11352278"/>
            <a:ext cx="5031145" cy="101601"/>
          </a:xfrm>
          <a:prstGeom prst="rect">
            <a:avLst/>
          </a:prstGeom>
        </p:spPr>
      </p:pic>
      <p:sp>
        <p:nvSpPr>
          <p:cNvPr id="433" name="Formula generală:"/>
          <p:cNvSpPr txBox="1"/>
          <p:nvPr/>
        </p:nvSpPr>
        <p:spPr>
          <a:xfrm>
            <a:off x="6969222" y="11878230"/>
            <a:ext cx="468528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Formula generală:</a:t>
            </a:r>
          </a:p>
        </p:txBody>
      </p:sp>
      <p:sp>
        <p:nvSpPr>
          <p:cNvPr id="434" name="Ecuație"/>
          <p:cNvSpPr txBox="1"/>
          <p:nvPr/>
        </p:nvSpPr>
        <p:spPr>
          <a:xfrm>
            <a:off x="11888951" y="11747141"/>
            <a:ext cx="7572955" cy="119639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w</m:t>
                      </m:r>
                    </m:e>
                    <m:sub>
                      <m:r>
                        <m:rPr>
                          <m:nor/>
                        </m:rPr>
                        <a:rPr xmlns:a="http://schemas.openxmlformats.org/drawingml/2006/main" sz="4400" i="1">
                          <a:solidFill>
                            <a:srgbClr val="000000"/>
                          </a:solidFill>
                          <a:latin typeface="Cambria Math" panose="02040503050406030204" pitchFamily="18" charset="0"/>
                        </a:rPr>
                        <m:t>nou</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w</m:t>
                      </m:r>
                    </m:e>
                    <m:sub>
                      <m:r>
                        <m:rPr>
                          <m:nor/>
                        </m:rPr>
                        <a:rPr xmlns:a="http://schemas.openxmlformats.org/drawingml/2006/main" sz="4400" i="1">
                          <a:solidFill>
                            <a:srgbClr val="000000"/>
                          </a:solidFill>
                          <a:latin typeface="Cambria Math" panose="02040503050406030204" pitchFamily="18" charset="0"/>
                        </a:rPr>
                        <m:t>vechi</m:t>
                      </m:r>
                    </m:sub>
                  </m:sSub>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α</m:t>
                  </m:r>
                  <m:r>
                    <a:rPr xmlns:a="http://schemas.openxmlformats.org/drawingml/2006/main" sz="4400" i="1">
                      <a:solidFill>
                        <a:srgbClr val="000000"/>
                      </a:solidFill>
                      <a:latin typeface="Cambria Math" panose="02040503050406030204" pitchFamily="18" charset="0"/>
                    </a:rPr>
                    <m:t>⋅</m:t>
                  </m:r>
                  <m:f>
                    <m:fPr>
                      <m:ctrlPr>
                        <a:rPr xmlns:a="http://schemas.openxmlformats.org/drawingml/2006/main" sz="4400" i="1">
                          <a:solidFill>
                            <a:srgbClr val="000000"/>
                          </a:solidFill>
                          <a:latin typeface="Cambria Math" panose="02040503050406030204" pitchFamily="18" charset="0"/>
                        </a:rPr>
                      </m:ctrlPr>
                      <m:type m:val="bar"/>
                    </m:fPr>
                    <m:num>
                      <m:r>
                        <m:rPr>
                          <m:sty m:val="p"/>
                        </m:rPr>
                        <a:rPr xmlns:a="http://schemas.openxmlformats.org/drawingml/2006/main" sz="4400" i="1">
                          <a:solidFill>
                            <a:srgbClr val="000000"/>
                          </a:solidFill>
                          <a:latin typeface="Cambria Math" panose="02040503050406030204" pitchFamily="18" charset="0"/>
                        </a:rPr>
                        <m:t>∂</m:t>
                      </m:r>
                    </m:num>
                    <m:den>
                      <m:r>
                        <m:rPr>
                          <m:sty m:val="p"/>
                        </m:rP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w</m:t>
                      </m:r>
                    </m:den>
                  </m:f>
                  <m:r>
                    <m:rPr>
                      <m:nor/>
                    </m:rPr>
                    <a:rPr xmlns:a="http://schemas.openxmlformats.org/drawingml/2006/main" sz="4400" i="1">
                      <a:solidFill>
                        <a:srgbClr val="000000"/>
                      </a:solidFill>
                      <a:latin typeface="Cambria Math" panose="02040503050406030204" pitchFamily="18" charset="0"/>
                    </a:rPr>
                    <m:t>Eroare</m:t>
                  </m:r>
                </m:oMath>
              </m:oMathPara>
            </a14:m>
            <a:endParaRPr sz="4400"/>
          </a:p>
        </p:txBody>
      </p:sp>
      <p:sp>
        <p:nvSpPr>
          <p:cNvPr id="435" name="pentru toți w"/>
          <p:cNvSpPr txBox="1"/>
          <p:nvPr/>
        </p:nvSpPr>
        <p:spPr>
          <a:xfrm>
            <a:off x="19924979" y="11747140"/>
            <a:ext cx="342854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pentru toți w</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430"/>
                                        </p:tgtEl>
                                        <p:attrNameLst>
                                          <p:attrName>style.visibility</p:attrName>
                                        </p:attrNameLst>
                                      </p:cBhvr>
                                      <p:to>
                                        <p:strVal val="visible"/>
                                      </p:to>
                                    </p:set>
                                    <p:anim calcmode="lin" valueType="num">
                                      <p:cBhvr>
                                        <p:cTn id="7" dur="1000" fill="hold"/>
                                        <p:tgtEl>
                                          <p:spTgt spid="430"/>
                                        </p:tgtEl>
                                        <p:attrNameLst>
                                          <p:attrName>ppt_x</p:attrName>
                                        </p:attrNameLst>
                                      </p:cBhvr>
                                      <p:tavLst>
                                        <p:tav tm="0">
                                          <p:val>
                                            <p:strVal val="0-#ppt_w/2"/>
                                          </p:val>
                                        </p:tav>
                                        <p:tav tm="100000">
                                          <p:val>
                                            <p:strVal val="#ppt_x"/>
                                          </p:val>
                                        </p:tav>
                                      </p:tavLst>
                                    </p:anim>
                                    <p:anim calcmode="lin" valueType="num">
                                      <p:cBhvr>
                                        <p:cTn id="8" dur="1000" fill="hold"/>
                                        <p:tgtEl>
                                          <p:spTgt spid="43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431"/>
                                        </p:tgtEl>
                                        <p:attrNameLst>
                                          <p:attrName>style.visibility</p:attrName>
                                        </p:attrNameLst>
                                      </p:cBhvr>
                                      <p:to>
                                        <p:strVal val="visible"/>
                                      </p:to>
                                    </p:set>
                                    <p:animEffect filter="dissolve" transition="in">
                                      <p:cBhvr>
                                        <p:cTn id="12" dur="2000"/>
                                        <p:tgtEl>
                                          <p:spTgt spid="431"/>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3" fill="hold">
                                  <p:stCondLst>
                                    <p:cond delay="0"/>
                                  </p:stCondLst>
                                  <p:iterate type="el" backwards="0">
                                    <p:tmAbs val="0"/>
                                  </p:iterate>
                                  <p:childTnLst>
                                    <p:set>
                                      <p:cBhvr>
                                        <p:cTn id="16" fill="hold"/>
                                        <p:tgtEl>
                                          <p:spTgt spid="433"/>
                                        </p:tgtEl>
                                        <p:attrNameLst>
                                          <p:attrName>style.visibility</p:attrName>
                                        </p:attrNameLst>
                                      </p:cBhvr>
                                      <p:to>
                                        <p:strVal val="visible"/>
                                      </p:to>
                                    </p:set>
                                  </p:childTnLst>
                                </p:cTn>
                              </p:par>
                            </p:childTnLst>
                          </p:cTn>
                        </p:par>
                        <p:par>
                          <p:cTn id="17" fill="hold">
                            <p:stCondLst>
                              <p:cond delay="0"/>
                            </p:stCondLst>
                            <p:childTnLst>
                              <p:par>
                                <p:cTn id="18" presetClass="entr" nodeType="afterEffect" presetSubtype="0" presetID="1" grpId="4" fill="hold">
                                  <p:stCondLst>
                                    <p:cond delay="0"/>
                                  </p:stCondLst>
                                  <p:iterate type="el" backwards="0">
                                    <p:tmAbs val="0"/>
                                  </p:iterate>
                                  <p:childTnLst>
                                    <p:set>
                                      <p:cBhvr>
                                        <p:cTn id="19" fill="hold"/>
                                        <p:tgtEl>
                                          <p:spTgt spid="434"/>
                                        </p:tgtEl>
                                        <p:attrNameLst>
                                          <p:attrName>style.visibility</p:attrName>
                                        </p:attrNameLst>
                                      </p:cBhvr>
                                      <p:to>
                                        <p:strVal val="visible"/>
                                      </p:to>
                                    </p:set>
                                  </p:childTnLst>
                                </p:cTn>
                              </p:par>
                            </p:childTnLst>
                          </p:cTn>
                        </p:par>
                        <p:par>
                          <p:cTn id="20" fill="hold">
                            <p:stCondLst>
                              <p:cond delay="0"/>
                            </p:stCondLst>
                            <p:childTnLst>
                              <p:par>
                                <p:cTn id="21" presetClass="entr" nodeType="afterEffect" presetSubtype="0" presetID="1" grpId="5" fill="hold">
                                  <p:stCondLst>
                                    <p:cond delay="0"/>
                                  </p:stCondLst>
                                  <p:iterate type="el" backwards="0">
                                    <p:tmAbs val="0"/>
                                  </p:iterate>
                                  <p:childTnLst>
                                    <p:set>
                                      <p:cBhvr>
                                        <p:cTn id="22" fill="hold"/>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1" grpId="2"/>
      <p:bldP build="whole" bldLvl="1" animBg="1" rev="0" advAuto="0" spid="430" grpId="1"/>
      <p:bldP build="whole" bldLvl="1" animBg="1" rev="0" advAuto="0" spid="434" grpId="4"/>
      <p:bldP build="whole" bldLvl="1" animBg="1" rev="0" advAuto="0" spid="433" grpId="3"/>
      <p:bldP build="whole" bldLvl="1" animBg="1" rev="0" advAuto="0" spid="435" grpId="5"/>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7" name="Gradient Descent"/>
          <p:cNvSpPr txBox="1"/>
          <p:nvPr/>
        </p:nvSpPr>
        <p:spPr>
          <a:xfrm>
            <a:off x="7132567" y="760654"/>
            <a:ext cx="21667916"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Gradient Descent</a:t>
            </a:r>
          </a:p>
        </p:txBody>
      </p:sp>
      <p:pic>
        <p:nvPicPr>
          <p:cNvPr id="438" name="Captură de ecran din 2024-10-06 la 21.19.51.png" descr="Captură de ecran din 2024-10-06 la 21.19.51.png"/>
          <p:cNvPicPr>
            <a:picLocks noChangeAspect="1"/>
          </p:cNvPicPr>
          <p:nvPr/>
        </p:nvPicPr>
        <p:blipFill>
          <a:blip r:embed="rId2">
            <a:extLst/>
          </a:blip>
          <a:stretch>
            <a:fillRect/>
          </a:stretch>
        </p:blipFill>
        <p:spPr>
          <a:xfrm>
            <a:off x="3370543" y="3447420"/>
            <a:ext cx="17642914" cy="6821160"/>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Mai multe tipuri de Gradient Descent"/>
          <p:cNvSpPr txBox="1"/>
          <p:nvPr/>
        </p:nvSpPr>
        <p:spPr>
          <a:xfrm>
            <a:off x="1120844" y="873022"/>
            <a:ext cx="21667915"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vl1pPr>
          </a:lstStyle>
          <a:p>
            <a:pPr/>
            <a:r>
              <a:t>Mai multe tipuri de Gradient Descent</a:t>
            </a:r>
          </a:p>
        </p:txBody>
      </p:sp>
      <p:pic>
        <p:nvPicPr>
          <p:cNvPr id="441" name="Captură de ecran din 2024-10-06 la 21.45.01.png" descr="Captură de ecran din 2024-10-06 la 21.45.01.png"/>
          <p:cNvPicPr>
            <a:picLocks noChangeAspect="1"/>
          </p:cNvPicPr>
          <p:nvPr/>
        </p:nvPicPr>
        <p:blipFill>
          <a:blip r:embed="rId2">
            <a:extLst/>
          </a:blip>
          <a:stretch>
            <a:fillRect/>
          </a:stretch>
        </p:blipFill>
        <p:spPr>
          <a:xfrm>
            <a:off x="361598" y="3266953"/>
            <a:ext cx="8496301" cy="5676901"/>
          </a:xfrm>
          <a:prstGeom prst="rect">
            <a:avLst/>
          </a:prstGeom>
          <a:ln w="12700">
            <a:miter lim="400000"/>
          </a:ln>
        </p:spPr>
      </p:pic>
      <p:pic>
        <p:nvPicPr>
          <p:cNvPr id="442" name="Captură de ecran din 2024-10-06 la 21.45.15.png" descr="Captură de ecran din 2024-10-06 la 21.45.15.png"/>
          <p:cNvPicPr>
            <a:picLocks noChangeAspect="1"/>
          </p:cNvPicPr>
          <p:nvPr/>
        </p:nvPicPr>
        <p:blipFill>
          <a:blip r:embed="rId3">
            <a:extLst/>
          </a:blip>
          <a:stretch>
            <a:fillRect/>
          </a:stretch>
        </p:blipFill>
        <p:spPr>
          <a:xfrm>
            <a:off x="8856947" y="3266953"/>
            <a:ext cx="7841878" cy="6798402"/>
          </a:xfrm>
          <a:prstGeom prst="rect">
            <a:avLst/>
          </a:prstGeom>
          <a:ln w="12700">
            <a:miter lim="400000"/>
          </a:ln>
        </p:spPr>
      </p:pic>
      <p:pic>
        <p:nvPicPr>
          <p:cNvPr id="443" name="Captură de ecran din 2024-10-06 la 21.46.46.png" descr="Captură de ecran din 2024-10-06 la 21.46.46.png"/>
          <p:cNvPicPr>
            <a:picLocks noChangeAspect="1"/>
          </p:cNvPicPr>
          <p:nvPr/>
        </p:nvPicPr>
        <p:blipFill>
          <a:blip r:embed="rId4">
            <a:extLst/>
          </a:blip>
          <a:stretch>
            <a:fillRect/>
          </a:stretch>
        </p:blipFill>
        <p:spPr>
          <a:xfrm>
            <a:off x="16622960" y="3471023"/>
            <a:ext cx="7841877" cy="6390262"/>
          </a:xfrm>
          <a:prstGeom prst="rect">
            <a:avLst/>
          </a:prstGeom>
          <a:ln w="12700">
            <a:miter lim="400000"/>
          </a:ln>
        </p:spPr>
      </p:pic>
      <p:sp>
        <p:nvSpPr>
          <p:cNvPr id="444" name="Batch"/>
          <p:cNvSpPr txBox="1"/>
          <p:nvPr/>
        </p:nvSpPr>
        <p:spPr>
          <a:xfrm>
            <a:off x="6519747" y="3266953"/>
            <a:ext cx="15772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Batch</a:t>
            </a:r>
          </a:p>
        </p:txBody>
      </p:sp>
      <p:sp>
        <p:nvSpPr>
          <p:cNvPr id="445" name="Stochastic"/>
          <p:cNvSpPr txBox="1"/>
          <p:nvPr/>
        </p:nvSpPr>
        <p:spPr>
          <a:xfrm>
            <a:off x="13426323" y="3266953"/>
            <a:ext cx="278536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Stochastic</a:t>
            </a:r>
          </a:p>
        </p:txBody>
      </p:sp>
      <p:sp>
        <p:nvSpPr>
          <p:cNvPr id="446" name="Mini-batch"/>
          <p:cNvSpPr txBox="1"/>
          <p:nvPr/>
        </p:nvSpPr>
        <p:spPr>
          <a:xfrm>
            <a:off x="21240176" y="3266953"/>
            <a:ext cx="286918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Mini-batch</a:t>
            </a:r>
          </a:p>
        </p:txBody>
      </p:sp>
      <p:pic>
        <p:nvPicPr>
          <p:cNvPr id="447" name="Oval Oval" descr="Oval Oval"/>
          <p:cNvPicPr>
            <a:picLocks noChangeAspect="0"/>
          </p:cNvPicPr>
          <p:nvPr/>
        </p:nvPicPr>
        <p:blipFill>
          <a:blip r:embed="rId5">
            <a:extLst/>
          </a:blip>
          <a:stretch>
            <a:fillRect/>
          </a:stretch>
        </p:blipFill>
        <p:spPr>
          <a:xfrm>
            <a:off x="413130" y="3513640"/>
            <a:ext cx="1653439" cy="707137"/>
          </a:xfrm>
          <a:prstGeom prst="rect">
            <a:avLst/>
          </a:prstGeom>
        </p:spPr>
      </p:pic>
      <p:pic>
        <p:nvPicPr>
          <p:cNvPr id="449" name="Oval Oval" descr="Oval Oval"/>
          <p:cNvPicPr>
            <a:picLocks noChangeAspect="0"/>
          </p:cNvPicPr>
          <p:nvPr/>
        </p:nvPicPr>
        <p:blipFill>
          <a:blip r:embed="rId6">
            <a:extLst/>
          </a:blip>
          <a:stretch>
            <a:fillRect/>
          </a:stretch>
        </p:blipFill>
        <p:spPr>
          <a:xfrm>
            <a:off x="8911595" y="3575173"/>
            <a:ext cx="1653439" cy="479806"/>
          </a:xfrm>
          <a:prstGeom prst="rect">
            <a:avLst/>
          </a:prstGeom>
        </p:spPr>
      </p:pic>
      <p:pic>
        <p:nvPicPr>
          <p:cNvPr id="451" name="Oval Oval" descr="Oval Oval"/>
          <p:cNvPicPr>
            <a:picLocks noChangeAspect="0"/>
          </p:cNvPicPr>
          <p:nvPr/>
        </p:nvPicPr>
        <p:blipFill>
          <a:blip r:embed="rId7">
            <a:extLst/>
          </a:blip>
          <a:stretch>
            <a:fillRect/>
          </a:stretch>
        </p:blipFill>
        <p:spPr>
          <a:xfrm>
            <a:off x="16552665" y="3627305"/>
            <a:ext cx="1577240" cy="479807"/>
          </a:xfrm>
          <a:prstGeom prst="rect">
            <a:avLst/>
          </a:prstGeom>
        </p:spPr>
      </p:pic>
      <p:sp>
        <p:nvSpPr>
          <p:cNvPr id="453" name="Epocă: o trecere prin tot setul de antrenare"/>
          <p:cNvSpPr txBox="1"/>
          <p:nvPr/>
        </p:nvSpPr>
        <p:spPr>
          <a:xfrm>
            <a:off x="6658889" y="10450179"/>
            <a:ext cx="110662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Epocă: o trecere prin tot setul de antrenare</a:t>
            </a:r>
          </a:p>
        </p:txBody>
      </p:sp>
      <p:pic>
        <p:nvPicPr>
          <p:cNvPr id="454" name="Oval Oval" descr="Oval Oval"/>
          <p:cNvPicPr>
            <a:picLocks noChangeAspect="0"/>
          </p:cNvPicPr>
          <p:nvPr/>
        </p:nvPicPr>
        <p:blipFill>
          <a:blip r:embed="rId8">
            <a:extLst/>
          </a:blip>
          <a:stretch>
            <a:fillRect/>
          </a:stretch>
        </p:blipFill>
        <p:spPr>
          <a:xfrm>
            <a:off x="205219" y="5342135"/>
            <a:ext cx="8308156" cy="2245223"/>
          </a:xfrm>
          <a:prstGeom prst="rect">
            <a:avLst/>
          </a:prstGeom>
        </p:spPr>
      </p:pic>
      <p:pic>
        <p:nvPicPr>
          <p:cNvPr id="456" name="Oval Oval" descr="Oval Oval"/>
          <p:cNvPicPr>
            <a:picLocks noChangeAspect="0"/>
          </p:cNvPicPr>
          <p:nvPr/>
        </p:nvPicPr>
        <p:blipFill>
          <a:blip r:embed="rId9">
            <a:extLst/>
          </a:blip>
          <a:stretch>
            <a:fillRect/>
          </a:stretch>
        </p:blipFill>
        <p:spPr>
          <a:xfrm>
            <a:off x="8422763" y="5169485"/>
            <a:ext cx="8171646" cy="3090914"/>
          </a:xfrm>
          <a:prstGeom prst="rect">
            <a:avLst/>
          </a:prstGeom>
        </p:spPr>
      </p:pic>
      <p:pic>
        <p:nvPicPr>
          <p:cNvPr id="458" name="Oval Oval" descr="Oval Oval"/>
          <p:cNvPicPr>
            <a:picLocks noChangeAspect="0"/>
          </p:cNvPicPr>
          <p:nvPr/>
        </p:nvPicPr>
        <p:blipFill>
          <a:blip r:embed="rId10">
            <a:extLst/>
          </a:blip>
          <a:stretch>
            <a:fillRect/>
          </a:stretch>
        </p:blipFill>
        <p:spPr>
          <a:xfrm>
            <a:off x="16252403" y="4854794"/>
            <a:ext cx="8308156" cy="3622720"/>
          </a:xfrm>
          <a:prstGeom prst="rect">
            <a:avLst/>
          </a:prstGeom>
        </p:spPr>
      </p:pic>
      <p:pic>
        <p:nvPicPr>
          <p:cNvPr id="460" name="Oval Oval" descr="Oval Oval"/>
          <p:cNvPicPr>
            <a:picLocks noChangeAspect="0"/>
          </p:cNvPicPr>
          <p:nvPr/>
        </p:nvPicPr>
        <p:blipFill>
          <a:blip r:embed="rId7">
            <a:extLst/>
          </a:blip>
          <a:stretch>
            <a:fillRect/>
          </a:stretch>
        </p:blipFill>
        <p:spPr>
          <a:xfrm>
            <a:off x="16717122" y="3979043"/>
            <a:ext cx="1577239" cy="479806"/>
          </a:xfrm>
          <a:prstGeom prst="rect">
            <a:avLst/>
          </a:prstGeom>
        </p:spPr>
      </p:pic>
      <p:sp>
        <p:nvSpPr>
          <p:cNvPr id="462" name="Batch size: În cazul mini-batch GD, reprezintă numărul de date folosite în actualizarea parametrilor modelului"/>
          <p:cNvSpPr txBox="1"/>
          <p:nvPr/>
        </p:nvSpPr>
        <p:spPr>
          <a:xfrm>
            <a:off x="1020051" y="11173571"/>
            <a:ext cx="21869502"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Batch size: În cazul mini-batch GD, reprezintă numărul de date folosite în actualizarea parametrilor modelului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44"/>
                                        </p:tgtEl>
                                        <p:attrNameLst>
                                          <p:attrName>style.visibility</p:attrName>
                                        </p:attrNameLst>
                                      </p:cBhvr>
                                      <p:to>
                                        <p:strVal val="visible"/>
                                      </p:to>
                                    </p:set>
                                    <p:anim calcmode="lin" valueType="num">
                                      <p:cBhvr>
                                        <p:cTn id="7" dur="1000" fill="hold"/>
                                        <p:tgtEl>
                                          <p:spTgt spid="444"/>
                                        </p:tgtEl>
                                        <p:attrNameLst>
                                          <p:attrName>ppt_x</p:attrName>
                                        </p:attrNameLst>
                                      </p:cBhvr>
                                      <p:tavLst>
                                        <p:tav tm="0">
                                          <p:val>
                                            <p:strVal val="0-#ppt_w/2"/>
                                          </p:val>
                                        </p:tav>
                                        <p:tav tm="100000">
                                          <p:val>
                                            <p:strVal val="#ppt_x"/>
                                          </p:val>
                                        </p:tav>
                                      </p:tavLst>
                                    </p:anim>
                                    <p:anim calcmode="lin" valueType="num">
                                      <p:cBhvr>
                                        <p:cTn id="8" dur="1000" fill="hold"/>
                                        <p:tgtEl>
                                          <p:spTgt spid="44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445"/>
                                        </p:tgtEl>
                                        <p:attrNameLst>
                                          <p:attrName>style.visibility</p:attrName>
                                        </p:attrNameLst>
                                      </p:cBhvr>
                                      <p:to>
                                        <p:strVal val="visible"/>
                                      </p:to>
                                    </p:set>
                                    <p:anim calcmode="lin" valueType="num">
                                      <p:cBhvr>
                                        <p:cTn id="12" dur="1000" fill="hold"/>
                                        <p:tgtEl>
                                          <p:spTgt spid="445"/>
                                        </p:tgtEl>
                                        <p:attrNameLst>
                                          <p:attrName>ppt_x</p:attrName>
                                        </p:attrNameLst>
                                      </p:cBhvr>
                                      <p:tavLst>
                                        <p:tav tm="0">
                                          <p:val>
                                            <p:strVal val="0-#ppt_w/2"/>
                                          </p:val>
                                        </p:tav>
                                        <p:tav tm="100000">
                                          <p:val>
                                            <p:strVal val="#ppt_x"/>
                                          </p:val>
                                        </p:tav>
                                      </p:tavLst>
                                    </p:anim>
                                    <p:anim calcmode="lin" valueType="num">
                                      <p:cBhvr>
                                        <p:cTn id="13" dur="1000" fill="hold"/>
                                        <p:tgtEl>
                                          <p:spTgt spid="445"/>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Class="entr" nodeType="afterEffect" presetSubtype="8" presetID="2" grpId="3" fill="hold">
                                  <p:stCondLst>
                                    <p:cond delay="0"/>
                                  </p:stCondLst>
                                  <p:iterate type="el" backwards="0">
                                    <p:tmAbs val="0"/>
                                  </p:iterate>
                                  <p:childTnLst>
                                    <p:set>
                                      <p:cBhvr>
                                        <p:cTn id="16" fill="hold"/>
                                        <p:tgtEl>
                                          <p:spTgt spid="446"/>
                                        </p:tgtEl>
                                        <p:attrNameLst>
                                          <p:attrName>style.visibility</p:attrName>
                                        </p:attrNameLst>
                                      </p:cBhvr>
                                      <p:to>
                                        <p:strVal val="visible"/>
                                      </p:to>
                                    </p:set>
                                    <p:anim calcmode="lin" valueType="num">
                                      <p:cBhvr>
                                        <p:cTn id="17" dur="1000" fill="hold"/>
                                        <p:tgtEl>
                                          <p:spTgt spid="446"/>
                                        </p:tgtEl>
                                        <p:attrNameLst>
                                          <p:attrName>ppt_x</p:attrName>
                                        </p:attrNameLst>
                                      </p:cBhvr>
                                      <p:tavLst>
                                        <p:tav tm="0">
                                          <p:val>
                                            <p:strVal val="0-#ppt_w/2"/>
                                          </p:val>
                                        </p:tav>
                                        <p:tav tm="100000">
                                          <p:val>
                                            <p:strVal val="#ppt_x"/>
                                          </p:val>
                                        </p:tav>
                                      </p:tavLst>
                                    </p:anim>
                                    <p:anim calcmode="lin" valueType="num">
                                      <p:cBhvr>
                                        <p:cTn id="18" dur="1000" fill="hold"/>
                                        <p:tgtEl>
                                          <p:spTgt spid="44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ID="9" grpId="4" fill="hold">
                                  <p:stCondLst>
                                    <p:cond delay="0"/>
                                  </p:stCondLst>
                                  <p:iterate type="el" backwards="0">
                                    <p:tmAbs val="0"/>
                                  </p:iterate>
                                  <p:childTnLst>
                                    <p:set>
                                      <p:cBhvr>
                                        <p:cTn id="22" fill="hold"/>
                                        <p:tgtEl>
                                          <p:spTgt spid="447"/>
                                        </p:tgtEl>
                                        <p:attrNameLst>
                                          <p:attrName>style.visibility</p:attrName>
                                        </p:attrNameLst>
                                      </p:cBhvr>
                                      <p:to>
                                        <p:strVal val="visible"/>
                                      </p:to>
                                    </p:set>
                                    <p:animEffect filter="dissolve" transition="in">
                                      <p:cBhvr>
                                        <p:cTn id="23" dur="2000"/>
                                        <p:tgtEl>
                                          <p:spTgt spid="447"/>
                                        </p:tgtEl>
                                      </p:cBhvr>
                                    </p:animEffect>
                                  </p:childTnLst>
                                </p:cTn>
                              </p:par>
                            </p:childTnLst>
                          </p:cTn>
                        </p:par>
                        <p:par>
                          <p:cTn id="24" fill="hold">
                            <p:stCondLst>
                              <p:cond delay="2000"/>
                            </p:stCondLst>
                            <p:childTnLst>
                              <p:par>
                                <p:cTn id="25" presetClass="entr" nodeType="afterEffect" presetID="9" grpId="5" fill="hold">
                                  <p:stCondLst>
                                    <p:cond delay="0"/>
                                  </p:stCondLst>
                                  <p:iterate type="el" backwards="0">
                                    <p:tmAbs val="0"/>
                                  </p:iterate>
                                  <p:childTnLst>
                                    <p:set>
                                      <p:cBhvr>
                                        <p:cTn id="26" fill="hold"/>
                                        <p:tgtEl>
                                          <p:spTgt spid="449"/>
                                        </p:tgtEl>
                                        <p:attrNameLst>
                                          <p:attrName>style.visibility</p:attrName>
                                        </p:attrNameLst>
                                      </p:cBhvr>
                                      <p:to>
                                        <p:strVal val="visible"/>
                                      </p:to>
                                    </p:set>
                                    <p:animEffect filter="dissolve" transition="in">
                                      <p:cBhvr>
                                        <p:cTn id="27" dur="2000"/>
                                        <p:tgtEl>
                                          <p:spTgt spid="449"/>
                                        </p:tgtEl>
                                      </p:cBhvr>
                                    </p:animEffect>
                                  </p:childTnLst>
                                </p:cTn>
                              </p:par>
                            </p:childTnLst>
                          </p:cTn>
                        </p:par>
                        <p:par>
                          <p:cTn id="28" fill="hold">
                            <p:stCondLst>
                              <p:cond delay="4000"/>
                            </p:stCondLst>
                            <p:childTnLst>
                              <p:par>
                                <p:cTn id="29" presetClass="entr" nodeType="afterEffect" presetID="9" grpId="6" fill="hold">
                                  <p:stCondLst>
                                    <p:cond delay="0"/>
                                  </p:stCondLst>
                                  <p:iterate type="el" backwards="0">
                                    <p:tmAbs val="0"/>
                                  </p:iterate>
                                  <p:childTnLst>
                                    <p:set>
                                      <p:cBhvr>
                                        <p:cTn id="30" fill="hold"/>
                                        <p:tgtEl>
                                          <p:spTgt spid="451"/>
                                        </p:tgtEl>
                                        <p:attrNameLst>
                                          <p:attrName>style.visibility</p:attrName>
                                        </p:attrNameLst>
                                      </p:cBhvr>
                                      <p:to>
                                        <p:strVal val="visible"/>
                                      </p:to>
                                    </p:set>
                                    <p:animEffect filter="dissolve" transition="in">
                                      <p:cBhvr>
                                        <p:cTn id="31" dur="2000"/>
                                        <p:tgtEl>
                                          <p:spTgt spid="45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 grpId="7" fill="hold">
                                  <p:stCondLst>
                                    <p:cond delay="0"/>
                                  </p:stCondLst>
                                  <p:iterate type="el" backwards="0">
                                    <p:tmAbs val="0"/>
                                  </p:iterate>
                                  <p:childTnLst>
                                    <p:set>
                                      <p:cBhvr>
                                        <p:cTn id="35" fill="hold"/>
                                        <p:tgtEl>
                                          <p:spTgt spid="453"/>
                                        </p:tgtEl>
                                        <p:attrNameLst>
                                          <p:attrName>style.visibility</p:attrName>
                                        </p:attrNameLst>
                                      </p:cBhvr>
                                      <p:to>
                                        <p:strVal val="visible"/>
                                      </p:to>
                                    </p:set>
                                    <p:anim calcmode="lin" valueType="num">
                                      <p:cBhvr>
                                        <p:cTn id="36" dur="1000" fill="hold"/>
                                        <p:tgtEl>
                                          <p:spTgt spid="453"/>
                                        </p:tgtEl>
                                        <p:attrNameLst>
                                          <p:attrName>ppt_x</p:attrName>
                                        </p:attrNameLst>
                                      </p:cBhvr>
                                      <p:tavLst>
                                        <p:tav tm="0">
                                          <p:val>
                                            <p:strVal val="0-#ppt_w/2"/>
                                          </p:val>
                                        </p:tav>
                                        <p:tav tm="100000">
                                          <p:val>
                                            <p:strVal val="#ppt_x"/>
                                          </p:val>
                                        </p:tav>
                                      </p:tavLst>
                                    </p:anim>
                                    <p:anim calcmode="lin" valueType="num">
                                      <p:cBhvr>
                                        <p:cTn id="37" dur="1000" fill="hold"/>
                                        <p:tgtEl>
                                          <p:spTgt spid="45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Class="entr" nodeType="clickEffect" presetID="9" grpId="8" fill="hold">
                                  <p:stCondLst>
                                    <p:cond delay="0"/>
                                  </p:stCondLst>
                                  <p:iterate type="el" backwards="0">
                                    <p:tmAbs val="0"/>
                                  </p:iterate>
                                  <p:childTnLst>
                                    <p:set>
                                      <p:cBhvr>
                                        <p:cTn id="41" fill="hold"/>
                                        <p:tgtEl>
                                          <p:spTgt spid="454"/>
                                        </p:tgtEl>
                                        <p:attrNameLst>
                                          <p:attrName>style.visibility</p:attrName>
                                        </p:attrNameLst>
                                      </p:cBhvr>
                                      <p:to>
                                        <p:strVal val="visible"/>
                                      </p:to>
                                    </p:set>
                                    <p:animEffect filter="dissolve" transition="in">
                                      <p:cBhvr>
                                        <p:cTn id="42" dur="2000"/>
                                        <p:tgtEl>
                                          <p:spTgt spid="454"/>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9" grpId="9" fill="hold">
                                  <p:stCondLst>
                                    <p:cond delay="0"/>
                                  </p:stCondLst>
                                  <p:iterate type="el" backwards="0">
                                    <p:tmAbs val="0"/>
                                  </p:iterate>
                                  <p:childTnLst>
                                    <p:set>
                                      <p:cBhvr>
                                        <p:cTn id="46" fill="hold"/>
                                        <p:tgtEl>
                                          <p:spTgt spid="456"/>
                                        </p:tgtEl>
                                        <p:attrNameLst>
                                          <p:attrName>style.visibility</p:attrName>
                                        </p:attrNameLst>
                                      </p:cBhvr>
                                      <p:to>
                                        <p:strVal val="visible"/>
                                      </p:to>
                                    </p:set>
                                    <p:animEffect filter="dissolve" transition="in">
                                      <p:cBhvr>
                                        <p:cTn id="47" dur="2000"/>
                                        <p:tgtEl>
                                          <p:spTgt spid="456"/>
                                        </p:tgtEl>
                                      </p:cBhvr>
                                    </p:animEffect>
                                  </p:childTnLst>
                                </p:cTn>
                              </p:par>
                            </p:childTnLst>
                          </p:cTn>
                        </p:par>
                      </p:childTnLst>
                    </p:cTn>
                  </p:par>
                  <p:par>
                    <p:cTn id="48" fill="hold">
                      <p:stCondLst>
                        <p:cond delay="indefinite"/>
                      </p:stCondLst>
                      <p:childTnLst>
                        <p:par>
                          <p:cTn id="49" fill="hold">
                            <p:stCondLst>
                              <p:cond delay="0"/>
                            </p:stCondLst>
                            <p:childTnLst>
                              <p:par>
                                <p:cTn id="50" presetClass="entr" nodeType="clickEffect" presetID="9" grpId="10" fill="hold">
                                  <p:stCondLst>
                                    <p:cond delay="0"/>
                                  </p:stCondLst>
                                  <p:iterate type="el" backwards="0">
                                    <p:tmAbs val="0"/>
                                  </p:iterate>
                                  <p:childTnLst>
                                    <p:set>
                                      <p:cBhvr>
                                        <p:cTn id="51" fill="hold"/>
                                        <p:tgtEl>
                                          <p:spTgt spid="458"/>
                                        </p:tgtEl>
                                        <p:attrNameLst>
                                          <p:attrName>style.visibility</p:attrName>
                                        </p:attrNameLst>
                                      </p:cBhvr>
                                      <p:to>
                                        <p:strVal val="visible"/>
                                      </p:to>
                                    </p:set>
                                    <p:animEffect filter="dissolve" transition="in">
                                      <p:cBhvr>
                                        <p:cTn id="52" dur="2000"/>
                                        <p:tgtEl>
                                          <p:spTgt spid="458"/>
                                        </p:tgtEl>
                                      </p:cBhvr>
                                    </p:animEffect>
                                  </p:childTnLst>
                                </p:cTn>
                              </p:par>
                            </p:childTnLst>
                          </p:cTn>
                        </p:par>
                      </p:childTnLst>
                    </p:cTn>
                  </p:par>
                  <p:par>
                    <p:cTn id="53" fill="hold">
                      <p:stCondLst>
                        <p:cond delay="indefinite"/>
                      </p:stCondLst>
                      <p:childTnLst>
                        <p:par>
                          <p:cTn id="54" fill="hold">
                            <p:stCondLst>
                              <p:cond delay="0"/>
                            </p:stCondLst>
                            <p:childTnLst>
                              <p:par>
                                <p:cTn id="55" presetClass="entr" nodeType="clickEffect" presetID="9" grpId="11" fill="hold">
                                  <p:stCondLst>
                                    <p:cond delay="0"/>
                                  </p:stCondLst>
                                  <p:iterate type="el" backwards="0">
                                    <p:tmAbs val="0"/>
                                  </p:iterate>
                                  <p:childTnLst>
                                    <p:set>
                                      <p:cBhvr>
                                        <p:cTn id="56" fill="hold"/>
                                        <p:tgtEl>
                                          <p:spTgt spid="460"/>
                                        </p:tgtEl>
                                        <p:attrNameLst>
                                          <p:attrName>style.visibility</p:attrName>
                                        </p:attrNameLst>
                                      </p:cBhvr>
                                      <p:to>
                                        <p:strVal val="visible"/>
                                      </p:to>
                                    </p:set>
                                    <p:animEffect filter="dissolve" transition="in">
                                      <p:cBhvr>
                                        <p:cTn id="57" dur="2000"/>
                                        <p:tgtEl>
                                          <p:spTgt spid="460"/>
                                        </p:tgtEl>
                                      </p:cBhvr>
                                    </p:animEffect>
                                  </p:childTnLst>
                                </p:cTn>
                              </p:par>
                            </p:childTnLst>
                          </p:cTn>
                        </p:par>
                        <p:par>
                          <p:cTn id="58" fill="hold">
                            <p:stCondLst>
                              <p:cond delay="2000"/>
                            </p:stCondLst>
                            <p:childTnLst>
                              <p:par>
                                <p:cTn id="59" presetClass="entr" nodeType="afterEffect" presetSubtype="8" presetID="2" grpId="12" fill="hold">
                                  <p:stCondLst>
                                    <p:cond delay="0"/>
                                  </p:stCondLst>
                                  <p:iterate type="el" backwards="0">
                                    <p:tmAbs val="0"/>
                                  </p:iterate>
                                  <p:childTnLst>
                                    <p:set>
                                      <p:cBhvr>
                                        <p:cTn id="60" fill="hold"/>
                                        <p:tgtEl>
                                          <p:spTgt spid="462"/>
                                        </p:tgtEl>
                                        <p:attrNameLst>
                                          <p:attrName>style.visibility</p:attrName>
                                        </p:attrNameLst>
                                      </p:cBhvr>
                                      <p:to>
                                        <p:strVal val="visible"/>
                                      </p:to>
                                    </p:set>
                                    <p:anim calcmode="lin" valueType="num">
                                      <p:cBhvr>
                                        <p:cTn id="61" dur="1000" fill="hold"/>
                                        <p:tgtEl>
                                          <p:spTgt spid="462"/>
                                        </p:tgtEl>
                                        <p:attrNameLst>
                                          <p:attrName>ppt_x</p:attrName>
                                        </p:attrNameLst>
                                      </p:cBhvr>
                                      <p:tavLst>
                                        <p:tav tm="0">
                                          <p:val>
                                            <p:strVal val="0-#ppt_w/2"/>
                                          </p:val>
                                        </p:tav>
                                        <p:tav tm="100000">
                                          <p:val>
                                            <p:strVal val="#ppt_x"/>
                                          </p:val>
                                        </p:tav>
                                      </p:tavLst>
                                    </p:anim>
                                    <p:anim calcmode="lin" valueType="num">
                                      <p:cBhvr>
                                        <p:cTn id="62" dur="1000" fill="hold"/>
                                        <p:tgtEl>
                                          <p:spTgt spid="4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5" grpId="2"/>
      <p:bldP build="whole" bldLvl="1" animBg="1" rev="0" advAuto="0" spid="462" grpId="12"/>
      <p:bldP build="whole" bldLvl="1" animBg="1" rev="0" advAuto="0" spid="453" grpId="7"/>
      <p:bldP build="whole" bldLvl="1" animBg="1" rev="0" advAuto="0" spid="447" grpId="4"/>
      <p:bldP build="whole" bldLvl="1" animBg="1" rev="0" advAuto="0" spid="454" grpId="8"/>
      <p:bldP build="whole" bldLvl="1" animBg="1" rev="0" advAuto="0" spid="458" grpId="10"/>
      <p:bldP build="whole" bldLvl="1" animBg="1" rev="0" advAuto="0" spid="451" grpId="6"/>
      <p:bldP build="whole" bldLvl="1" animBg="1" rev="0" advAuto="0" spid="460" grpId="11"/>
      <p:bldP build="whole" bldLvl="1" animBg="1" rev="0" advAuto="0" spid="444" grpId="1"/>
      <p:bldP build="whole" bldLvl="1" animBg="1" rev="0" advAuto="0" spid="456" grpId="9"/>
      <p:bldP build="whole" bldLvl="1" animBg="1" rev="0" advAuto="0" spid="446" grpId="3"/>
      <p:bldP build="whole" bldLvl="1" animBg="1" rev="0" advAuto="0" spid="449" grpId="5"/>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4" name="Regresia Liniară cu SGDRegressor"/>
          <p:cNvSpPr txBox="1"/>
          <p:nvPr>
            <p:ph type="title"/>
          </p:nvPr>
        </p:nvSpPr>
        <p:spPr>
          <a:prstGeom prst="rect">
            <a:avLst/>
          </a:prstGeom>
        </p:spPr>
        <p:txBody>
          <a:bodyPr/>
          <a:lstStyle/>
          <a:p>
            <a:pPr/>
            <a:r>
              <a:t>Regresia Liniară cu SGDRegressor</a:t>
            </a:r>
          </a:p>
        </p:txBody>
      </p:sp>
      <p:sp>
        <p:nvSpPr>
          <p:cNvPr id="465" name="Clasa LinearRegression() în Scikit-Learn, de fapt, nu se bazează pe Gradient Descent, însă s-a creat o clasă care folosește Stochastic Gradient Descent"/>
          <p:cNvSpPr txBox="1"/>
          <p:nvPr>
            <p:ph type="body" idx="1"/>
          </p:nvPr>
        </p:nvSpPr>
        <p:spPr>
          <a:prstGeom prst="rect">
            <a:avLst/>
          </a:prstGeom>
        </p:spPr>
        <p:txBody>
          <a:bodyPr/>
          <a:lstStyle/>
          <a:p>
            <a:pPr/>
            <a:r>
              <a:t>Clasa LinearRegression() în Scikit-Learn, de fapt, nu se bazează pe Gradient Descent, însă s-a creat o clasă care folosește Stochastic Gradient Descent</a:t>
            </a:r>
          </a:p>
        </p:txBody>
      </p:sp>
      <p:pic>
        <p:nvPicPr>
          <p:cNvPr id="466" name="Captură de ecran din 2024-10-06 la 22.04.26.png" descr="Captură de ecran din 2024-10-06 la 22.04.26.png"/>
          <p:cNvPicPr>
            <a:picLocks noChangeAspect="1"/>
          </p:cNvPicPr>
          <p:nvPr/>
        </p:nvPicPr>
        <p:blipFill>
          <a:blip r:embed="rId2">
            <a:extLst/>
          </a:blip>
          <a:stretch>
            <a:fillRect/>
          </a:stretch>
        </p:blipFill>
        <p:spPr>
          <a:xfrm>
            <a:off x="974154" y="6259022"/>
            <a:ext cx="13144501" cy="6311901"/>
          </a:xfrm>
          <a:prstGeom prst="rect">
            <a:avLst/>
          </a:prstGeom>
          <a:ln w="12700">
            <a:miter lim="400000"/>
          </a:ln>
        </p:spPr>
      </p:pic>
      <p:sp>
        <p:nvSpPr>
          <p:cNvPr id="467" name="Util când antrenăm pe seturi de date mari"/>
          <p:cNvSpPr txBox="1"/>
          <p:nvPr/>
        </p:nvSpPr>
        <p:spPr>
          <a:xfrm>
            <a:off x="14835195" y="6701414"/>
            <a:ext cx="6998790" cy="743936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lvl1pPr>
          </a:lstStyle>
          <a:p>
            <a:pPr/>
            <a:r>
              <a:t>Util când antrenăm pe seturi de date mari</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Regresia Polinomială"/>
          <p:cNvSpPr txBox="1"/>
          <p:nvPr>
            <p:ph type="title"/>
          </p:nvPr>
        </p:nvSpPr>
        <p:spPr>
          <a:xfrm>
            <a:off x="-4642699" y="770025"/>
            <a:ext cx="21945601" cy="1727201"/>
          </a:xfrm>
          <a:prstGeom prst="rect">
            <a:avLst/>
          </a:prstGeom>
        </p:spPr>
        <p:txBody>
          <a:bodyPr/>
          <a:lstStyle/>
          <a:p>
            <a:pPr/>
            <a:r>
              <a:t>Regresia Polinomială</a:t>
            </a:r>
          </a:p>
        </p:txBody>
      </p:sp>
      <p:pic>
        <p:nvPicPr>
          <p:cNvPr id="470" name="Captură de ecran din 2024-10-06 la 22.06.24.png" descr="Captură de ecran din 2024-10-06 la 22.06.24.png"/>
          <p:cNvPicPr>
            <a:picLocks noChangeAspect="1"/>
          </p:cNvPicPr>
          <p:nvPr/>
        </p:nvPicPr>
        <p:blipFill>
          <a:blip r:embed="rId2">
            <a:extLst/>
          </a:blip>
          <a:stretch>
            <a:fillRect/>
          </a:stretch>
        </p:blipFill>
        <p:spPr>
          <a:xfrm>
            <a:off x="4608657" y="2559825"/>
            <a:ext cx="15166686" cy="10466116"/>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2" name="Regresia Polinomială"/>
          <p:cNvSpPr txBox="1"/>
          <p:nvPr>
            <p:ph type="title"/>
          </p:nvPr>
        </p:nvSpPr>
        <p:spPr>
          <a:xfrm>
            <a:off x="-4642699" y="770025"/>
            <a:ext cx="21945601" cy="1727201"/>
          </a:xfrm>
          <a:prstGeom prst="rect">
            <a:avLst/>
          </a:prstGeom>
        </p:spPr>
        <p:txBody>
          <a:bodyPr/>
          <a:lstStyle/>
          <a:p>
            <a:pPr/>
            <a:r>
              <a:t>Regresia Polinomială</a:t>
            </a:r>
          </a:p>
        </p:txBody>
      </p:sp>
      <p:pic>
        <p:nvPicPr>
          <p:cNvPr id="473" name="Captură de ecran din 2024-10-06 la 22.07.01.png" descr="Captură de ecran din 2024-10-06 la 22.07.01.png"/>
          <p:cNvPicPr>
            <a:picLocks noChangeAspect="1"/>
          </p:cNvPicPr>
          <p:nvPr/>
        </p:nvPicPr>
        <p:blipFill>
          <a:blip r:embed="rId2">
            <a:extLst/>
          </a:blip>
          <a:stretch>
            <a:fillRect/>
          </a:stretch>
        </p:blipFill>
        <p:spPr>
          <a:xfrm>
            <a:off x="4923637" y="2822589"/>
            <a:ext cx="14536726" cy="9353087"/>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5" name="Regresia Polinomială"/>
          <p:cNvSpPr txBox="1"/>
          <p:nvPr>
            <p:ph type="title"/>
          </p:nvPr>
        </p:nvSpPr>
        <p:spPr>
          <a:xfrm>
            <a:off x="-4642699" y="770025"/>
            <a:ext cx="21945601" cy="1727201"/>
          </a:xfrm>
          <a:prstGeom prst="rect">
            <a:avLst/>
          </a:prstGeom>
        </p:spPr>
        <p:txBody>
          <a:bodyPr/>
          <a:lstStyle/>
          <a:p>
            <a:pPr/>
            <a:r>
              <a:t>Regresia Polinomială</a:t>
            </a:r>
          </a:p>
        </p:txBody>
      </p:sp>
      <p:pic>
        <p:nvPicPr>
          <p:cNvPr id="476" name="Captură de ecran din 2024-10-06 la 22.23.15.png" descr="Captură de ecran din 2024-10-06 la 22.23.15.png"/>
          <p:cNvPicPr>
            <a:picLocks noChangeAspect="1"/>
          </p:cNvPicPr>
          <p:nvPr/>
        </p:nvPicPr>
        <p:blipFill>
          <a:blip r:embed="rId2">
            <a:extLst/>
          </a:blip>
          <a:stretch>
            <a:fillRect/>
          </a:stretch>
        </p:blipFill>
        <p:spPr>
          <a:xfrm>
            <a:off x="4520392" y="2281683"/>
            <a:ext cx="15343216" cy="1111489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8" name="Regresia Polinomială"/>
          <p:cNvSpPr txBox="1"/>
          <p:nvPr>
            <p:ph type="title"/>
          </p:nvPr>
        </p:nvSpPr>
        <p:spPr>
          <a:xfrm>
            <a:off x="-4642699" y="770025"/>
            <a:ext cx="21945601" cy="1727201"/>
          </a:xfrm>
          <a:prstGeom prst="rect">
            <a:avLst/>
          </a:prstGeom>
        </p:spPr>
        <p:txBody>
          <a:bodyPr/>
          <a:lstStyle/>
          <a:p>
            <a:pPr/>
            <a:r>
              <a:t>Regresia Polinomială</a:t>
            </a:r>
          </a:p>
        </p:txBody>
      </p:sp>
      <p:pic>
        <p:nvPicPr>
          <p:cNvPr id="479" name="Captură de ecran din 2024-10-06 la 22.23.15.png" descr="Captură de ecran din 2024-10-06 la 22.23.15.png"/>
          <p:cNvPicPr>
            <a:picLocks noChangeAspect="1"/>
          </p:cNvPicPr>
          <p:nvPr/>
        </p:nvPicPr>
        <p:blipFill>
          <a:blip r:embed="rId2">
            <a:extLst/>
          </a:blip>
          <a:stretch>
            <a:fillRect/>
          </a:stretch>
        </p:blipFill>
        <p:spPr>
          <a:xfrm>
            <a:off x="643673" y="2394052"/>
            <a:ext cx="15343216" cy="11114893"/>
          </a:xfrm>
          <a:prstGeom prst="rect">
            <a:avLst/>
          </a:prstGeom>
          <a:ln w="12700">
            <a:miter lim="400000"/>
          </a:ln>
        </p:spPr>
      </p:pic>
      <p:sp>
        <p:nvSpPr>
          <p:cNvPr id="480" name="PolynomialFeatures transformă caracteristicile noastre în noi caracteristici, adăugând puteri și combinații ale acestora. Ne ajută să creăm un model care poate captura relații mai complexe, cum ar fi relații neliniare."/>
          <p:cNvSpPr txBox="1"/>
          <p:nvPr/>
        </p:nvSpPr>
        <p:spPr>
          <a:xfrm>
            <a:off x="16333277" y="3649153"/>
            <a:ext cx="6667176" cy="772866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PolynomialFeatures transformă caracteristicile noastre în noi caracteristici, adăugând puteri și combinații ale acestora. Ne ajută să creăm un model care poate captura relații mai complexe, cum ar fi relații neliniare.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80"/>
                                        </p:tgtEl>
                                        <p:attrNameLst>
                                          <p:attrName>style.visibility</p:attrName>
                                        </p:attrNameLst>
                                      </p:cBhvr>
                                      <p:to>
                                        <p:strVal val="visible"/>
                                      </p:to>
                                    </p:set>
                                    <p:anim calcmode="lin" valueType="num">
                                      <p:cBhvr>
                                        <p:cTn id="7" dur="1000" fill="hold"/>
                                        <p:tgtEl>
                                          <p:spTgt spid="480"/>
                                        </p:tgtEl>
                                        <p:attrNameLst>
                                          <p:attrName>ppt_x</p:attrName>
                                        </p:attrNameLst>
                                      </p:cBhvr>
                                      <p:tavLst>
                                        <p:tav tm="0">
                                          <p:val>
                                            <p:strVal val="0-#ppt_w/2"/>
                                          </p:val>
                                        </p:tav>
                                        <p:tav tm="100000">
                                          <p:val>
                                            <p:strVal val="#ppt_x"/>
                                          </p:val>
                                        </p:tav>
                                      </p:tavLst>
                                    </p:anim>
                                    <p:anim calcmode="lin" valueType="num">
                                      <p:cBhvr>
                                        <p:cTn id="8" dur="1000" fill="hold"/>
                                        <p:tgtEl>
                                          <p:spTgt spid="4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80" grpId="1"/>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2" name="Overfitting și combaterea lui"/>
          <p:cNvSpPr txBox="1"/>
          <p:nvPr>
            <p:ph type="title"/>
          </p:nvPr>
        </p:nvSpPr>
        <p:spPr>
          <a:xfrm>
            <a:off x="-3294275" y="1111805"/>
            <a:ext cx="21945601" cy="1727201"/>
          </a:xfrm>
          <a:prstGeom prst="rect">
            <a:avLst/>
          </a:prstGeom>
        </p:spPr>
        <p:txBody>
          <a:bodyPr/>
          <a:lstStyle/>
          <a:p>
            <a:pPr/>
            <a:r>
              <a:t>Overfitting și combaterea lui</a:t>
            </a:r>
          </a:p>
        </p:txBody>
      </p:sp>
      <p:pic>
        <p:nvPicPr>
          <p:cNvPr id="483" name="Captură de ecran din 2024-10-06 la 22.32.48.png" descr="Captură de ecran din 2024-10-06 la 22.32.48.png"/>
          <p:cNvPicPr>
            <a:picLocks noChangeAspect="1"/>
          </p:cNvPicPr>
          <p:nvPr/>
        </p:nvPicPr>
        <p:blipFill>
          <a:blip r:embed="rId2">
            <a:extLst/>
          </a:blip>
          <a:stretch>
            <a:fillRect/>
          </a:stretch>
        </p:blipFill>
        <p:spPr>
          <a:xfrm>
            <a:off x="3289992" y="2872540"/>
            <a:ext cx="17804016" cy="8513614"/>
          </a:xfrm>
          <a:prstGeom prst="rect">
            <a:avLst/>
          </a:prstGeom>
          <a:ln w="12700">
            <a:miter lim="400000"/>
          </a:ln>
        </p:spPr>
      </p:pic>
      <p:sp>
        <p:nvSpPr>
          <p:cNvPr id="484" name="Apare când modelul încearcă să învețe prea „pe de rost” datele, fără să știe să generalizeze."/>
          <p:cNvSpPr txBox="1"/>
          <p:nvPr/>
        </p:nvSpPr>
        <p:spPr>
          <a:xfrm>
            <a:off x="2137369" y="10882733"/>
            <a:ext cx="15730908"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Apare când modelul încearcă să învețe prea „pe de rost” datele, fără să știe să generalizeze.</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6" name="Overfitting și combaterea lui"/>
          <p:cNvSpPr txBox="1"/>
          <p:nvPr>
            <p:ph type="title"/>
          </p:nvPr>
        </p:nvSpPr>
        <p:spPr>
          <a:xfrm>
            <a:off x="-3294275" y="1111805"/>
            <a:ext cx="21945601" cy="1727201"/>
          </a:xfrm>
          <a:prstGeom prst="rect">
            <a:avLst/>
          </a:prstGeom>
        </p:spPr>
        <p:txBody>
          <a:bodyPr/>
          <a:lstStyle/>
          <a:p>
            <a:pPr/>
            <a:r>
              <a:t>Overfitting și combaterea lui</a:t>
            </a:r>
          </a:p>
        </p:txBody>
      </p:sp>
      <p:sp>
        <p:nvSpPr>
          <p:cNvPr id="487" name="Ridge Regression"/>
          <p:cNvSpPr txBox="1"/>
          <p:nvPr/>
        </p:nvSpPr>
        <p:spPr>
          <a:xfrm>
            <a:off x="1051139" y="2626543"/>
            <a:ext cx="447350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Ridge Regression</a:t>
            </a:r>
          </a:p>
        </p:txBody>
      </p:sp>
      <p:sp>
        <p:nvSpPr>
          <p:cNvPr id="488" name="Ecuație"/>
          <p:cNvSpPr txBox="1"/>
          <p:nvPr/>
        </p:nvSpPr>
        <p:spPr>
          <a:xfrm>
            <a:off x="1406659" y="6426104"/>
            <a:ext cx="7274531" cy="161291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m:rPr>
                          <m:nor/>
                        </m:rPr>
                        <a:rPr xmlns:a="http://schemas.openxmlformats.org/drawingml/2006/main" sz="4400" i="1">
                          <a:solidFill>
                            <a:srgbClr val="000000"/>
                          </a:solidFill>
                          <a:latin typeface="Cambria Math" panose="02040503050406030204" pitchFamily="18" charset="0"/>
                        </a:rPr>
                        <m:t>Eroare</m:t>
                      </m:r>
                    </m:e>
                    <m:sub>
                      <m:r>
                        <a:rPr xmlns:a="http://schemas.openxmlformats.org/drawingml/2006/main" sz="4400" i="1">
                          <a:solidFill>
                            <a:srgbClr val="000000"/>
                          </a:solidFill>
                          <a:latin typeface="Cambria Math" panose="02040503050406030204" pitchFamily="18" charset="0"/>
                        </a:rPr>
                        <m:t>r</m:t>
                      </m:r>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d</m:t>
                      </m:r>
                      <m:r>
                        <a:rPr xmlns:a="http://schemas.openxmlformats.org/drawingml/2006/main" sz="4400" i="1">
                          <a:solidFill>
                            <a:srgbClr val="000000"/>
                          </a:solidFill>
                          <a:latin typeface="Cambria Math" panose="02040503050406030204" pitchFamily="18" charset="0"/>
                        </a:rPr>
                        <m:t>g</m:t>
                      </m:r>
                      <m:r>
                        <a:rPr xmlns:a="http://schemas.openxmlformats.org/drawingml/2006/main" sz="4400" i="1">
                          <a:solidFill>
                            <a:srgbClr val="000000"/>
                          </a:solidFill>
                          <a:latin typeface="Cambria Math" panose="02040503050406030204" pitchFamily="18" charset="0"/>
                        </a:rPr>
                        <m:t>e</m:t>
                      </m:r>
                    </m:sub>
                  </m:sSub>
                  <m:r>
                    <a:rPr xmlns:a="http://schemas.openxmlformats.org/drawingml/2006/main" sz="4400" i="1">
                      <a:solidFill>
                        <a:srgbClr val="000000"/>
                      </a:solidFill>
                      <a:latin typeface="Cambria Math" panose="02040503050406030204" pitchFamily="18" charset="0"/>
                    </a:rPr>
                    <m:t>=</m:t>
                  </m:r>
                  <m:r>
                    <m:rPr>
                      <m:nor/>
                    </m:rPr>
                    <a:rPr xmlns:a="http://schemas.openxmlformats.org/drawingml/2006/main" sz="4400" i="1">
                      <a:solidFill>
                        <a:srgbClr val="000000"/>
                      </a:solidFill>
                      <a:latin typeface="Cambria Math" panose="02040503050406030204" pitchFamily="18" charset="0"/>
                    </a:rPr>
                    <m:t>Eroare</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λ</m:t>
                  </m:r>
                  <m:limUpp>
                    <m:e>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j</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lim>
                      </m:limLow>
                    </m:e>
                    <m:lim>
                      <m:r>
                        <a:rPr xmlns:a="http://schemas.openxmlformats.org/drawingml/2006/main" sz="4400" i="1">
                          <a:solidFill>
                            <a:srgbClr val="000000"/>
                          </a:solidFill>
                          <a:latin typeface="Cambria Math" panose="02040503050406030204" pitchFamily="18" charset="0"/>
                        </a:rPr>
                        <m:t>p</m:t>
                      </m:r>
                    </m:lim>
                  </m:limUpp>
                  <m:sSubSup>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j</m:t>
                      </m:r>
                    </m:sub>
                    <m:sup>
                      <m:r>
                        <a:rPr xmlns:a="http://schemas.openxmlformats.org/drawingml/2006/main" sz="4400" i="1">
                          <a:solidFill>
                            <a:srgbClr val="000000"/>
                          </a:solidFill>
                          <a:latin typeface="Cambria Math" panose="02040503050406030204" pitchFamily="18" charset="0"/>
                        </a:rPr>
                        <m:t>2</m:t>
                      </m:r>
                    </m:sup>
                  </m:sSubSup>
                </m:oMath>
              </m:oMathPara>
            </a14:m>
            <a:endParaRPr sz="4400"/>
          </a:p>
        </p:txBody>
      </p:sp>
      <p:sp>
        <p:nvSpPr>
          <p:cNvPr id="489" name="Ecuație"/>
          <p:cNvSpPr txBox="1"/>
          <p:nvPr/>
        </p:nvSpPr>
        <p:spPr>
          <a:xfrm>
            <a:off x="7293007" y="3062893"/>
            <a:ext cx="8694476" cy="2180272"/>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6400" i="1">
                      <a:solidFill>
                        <a:srgbClr val="000000"/>
                      </a:solidFill>
                      <a:latin typeface="Cambria Math" panose="02040503050406030204" pitchFamily="18" charset="0"/>
                    </a:rPr>
                    <m:t>Eroare</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a:rPr xmlns:a="http://schemas.openxmlformats.org/drawingml/2006/main" sz="6400" i="1">
                          <a:solidFill>
                            <a:srgbClr val="000000"/>
                          </a:solidFill>
                          <a:latin typeface="Cambria Math" panose="02040503050406030204" pitchFamily="18" charset="0"/>
                        </a:rPr>
                        <m:t>1</m:t>
                      </m:r>
                    </m:num>
                    <m:den>
                      <m:r>
                        <a:rPr xmlns:a="http://schemas.openxmlformats.org/drawingml/2006/main" sz="6400" i="1">
                          <a:solidFill>
                            <a:srgbClr val="000000"/>
                          </a:solidFill>
                          <a:latin typeface="Cambria Math" panose="02040503050406030204" pitchFamily="18" charset="0"/>
                        </a:rPr>
                        <m:t>n</m:t>
                      </m:r>
                    </m:den>
                  </m:f>
                  <m:limUpp>
                    <m:e>
                      <m:limLow>
                        <m:e>
                          <m:r>
                            <a:rPr xmlns:a="http://schemas.openxmlformats.org/drawingml/2006/main" sz="6400" i="1">
                              <a:solidFill>
                                <a:srgbClr val="000000"/>
                              </a:solidFill>
                              <a:latin typeface="Cambria Math" panose="02040503050406030204" pitchFamily="18" charset="0"/>
                            </a:rPr>
                            <m:t>∑</m:t>
                          </m:r>
                        </m:e>
                        <m:lim>
                          <m:r>
                            <a:rPr xmlns:a="http://schemas.openxmlformats.org/drawingml/2006/main" sz="6400" i="1">
                              <a:solidFill>
                                <a:srgbClr val="000000"/>
                              </a:solidFill>
                              <a:latin typeface="Cambria Math" panose="02040503050406030204" pitchFamily="18" charset="0"/>
                            </a:rPr>
                            <m:t>i</m:t>
                          </m:r>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1</m:t>
                          </m:r>
                        </m:lim>
                      </m:limLow>
                    </m:e>
                    <m:lim>
                      <m:r>
                        <a:rPr xmlns:a="http://schemas.openxmlformats.org/drawingml/2006/main" sz="6400" i="1">
                          <a:solidFill>
                            <a:srgbClr val="000000"/>
                          </a:solidFill>
                          <a:latin typeface="Cambria Math" panose="02040503050406030204" pitchFamily="18" charset="0"/>
                        </a:rPr>
                        <m:t>n</m:t>
                      </m:r>
                    </m:lim>
                  </m:limUpp>
                  <m:sSup>
                    <m:e>
                      <m:d>
                        <m:dPr>
                          <m:ctrlPr>
                            <a:rPr xmlns:a="http://schemas.openxmlformats.org/drawingml/2006/main" sz="6400" i="1">
                              <a:solidFill>
                                <a:srgbClr val="000000"/>
                              </a:solidFill>
                              <a:latin typeface="Cambria Math" panose="02040503050406030204" pitchFamily="18" charset="0"/>
                            </a:rPr>
                          </m:ctrlPr>
                        </m:dPr>
                        <m:e>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i</m:t>
                              </m:r>
                            </m:sub>
                          </m:sSub>
                          <m:r>
                            <a:rPr xmlns:a="http://schemas.openxmlformats.org/drawingml/2006/main" sz="6400" i="1">
                              <a:solidFill>
                                <a:srgbClr val="000000"/>
                              </a:solidFill>
                              <a:latin typeface="Cambria Math" panose="02040503050406030204" pitchFamily="18" charset="0"/>
                            </a:rPr>
                            <m:t>-</m:t>
                          </m:r>
                          <m:sSub>
                            <m:e>
                              <m:limUpp>
                                <m:e>
                                  <m:r>
                                    <a:rPr xmlns:a="http://schemas.openxmlformats.org/drawingml/2006/main" sz="6400" i="1">
                                      <a:solidFill>
                                        <a:srgbClr val="000000"/>
                                      </a:solidFill>
                                      <a:latin typeface="Cambria Math" panose="02040503050406030204" pitchFamily="18" charset="0"/>
                                    </a:rPr>
                                    <m:t>Y</m:t>
                                  </m:r>
                                </m:e>
                                <m:lim>
                                  <m:r>
                                    <a:rPr xmlns:a="http://schemas.openxmlformats.org/drawingml/2006/main" sz="6400" i="1">
                                      <a:solidFill>
                                        <a:srgbClr val="000000"/>
                                      </a:solidFill>
                                      <a:latin typeface="Cambria Math" panose="02040503050406030204" pitchFamily="18" charset="0"/>
                                    </a:rPr>
                                    <m:t>̂</m:t>
                                  </m:r>
                                </m:lim>
                              </m:limUpp>
                            </m:e>
                            <m:sub>
                              <m:r>
                                <a:rPr xmlns:a="http://schemas.openxmlformats.org/drawingml/2006/main" sz="6400" i="1">
                                  <a:solidFill>
                                    <a:srgbClr val="000000"/>
                                  </a:solidFill>
                                  <a:latin typeface="Cambria Math" panose="02040503050406030204" pitchFamily="18" charset="0"/>
                                </a:rPr>
                                <m:t>i</m:t>
                              </m:r>
                            </m:sub>
                          </m:sSub>
                        </m:e>
                      </m:d>
                    </m:e>
                    <m:sup>
                      <m:r>
                        <a:rPr xmlns:a="http://schemas.openxmlformats.org/drawingml/2006/main" sz="6400" i="1">
                          <a:solidFill>
                            <a:srgbClr val="000000"/>
                          </a:solidFill>
                          <a:latin typeface="Cambria Math" panose="02040503050406030204" pitchFamily="18" charset="0"/>
                        </a:rPr>
                        <m:t>2</m:t>
                      </m:r>
                    </m:sup>
                  </m:sSup>
                </m:oMath>
              </m:oMathPara>
            </a14:m>
            <a:endParaRPr sz="6400"/>
          </a:p>
        </p:txBody>
      </p:sp>
      <p:pic>
        <p:nvPicPr>
          <p:cNvPr id="490" name="Captură de ecran din 2024-10-06 la 22.45.56.png" descr="Captură de ecran din 2024-10-06 la 22.45.56.png"/>
          <p:cNvPicPr>
            <a:picLocks noChangeAspect="1"/>
          </p:cNvPicPr>
          <p:nvPr/>
        </p:nvPicPr>
        <p:blipFill>
          <a:blip r:embed="rId2">
            <a:extLst/>
          </a:blip>
          <a:stretch>
            <a:fillRect/>
          </a:stretch>
        </p:blipFill>
        <p:spPr>
          <a:xfrm>
            <a:off x="12940750" y="5335955"/>
            <a:ext cx="11867844" cy="8459890"/>
          </a:xfrm>
          <a:prstGeom prst="rect">
            <a:avLst/>
          </a:prstGeom>
          <a:ln w="12700">
            <a:miter lim="400000"/>
          </a:ln>
        </p:spPr>
      </p:pic>
      <p:sp>
        <p:nvSpPr>
          <p:cNvPr id="491" name="Ridge penalizează coeficienții mari (prin adăugarea penalizării L2), forțându-i să fie mai mici. Asta face modelul mai „general”, deci mai capabil să se adapteze la date noi. Coeficienții foarte mari sugerează că modelul este prea sensibil la anumite car"/>
          <p:cNvSpPr txBox="1"/>
          <p:nvPr/>
        </p:nvSpPr>
        <p:spPr>
          <a:xfrm>
            <a:off x="605395" y="8532712"/>
            <a:ext cx="11299042" cy="416392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300"/>
            </a:lvl1pPr>
          </a:lstStyle>
          <a:p>
            <a:pPr/>
            <a:r>
              <a:t>Ridge penalizează coeficienții mari (prin adăugarea penalizării L2), forțându-i să fie mai mici. Asta face modelul mai „general”, deci mai capabil să se adapteze la date noi. Coeficienții foarte mari sugerează că modelul este prea sensibil la anumite caracteristici. Prin aplicarea penalizării L2, coeficienții nu devin zero, ci sunt micșorați, ceea ce duce la un model mai stabil.</a:t>
            </a:r>
          </a:p>
        </p:txBody>
      </p:sp>
      <p:pic>
        <p:nvPicPr>
          <p:cNvPr id="492" name="Oval Oval" descr="Oval Oval"/>
          <p:cNvPicPr>
            <a:picLocks noChangeAspect="0"/>
          </p:cNvPicPr>
          <p:nvPr/>
        </p:nvPicPr>
        <p:blipFill>
          <a:blip r:embed="rId3">
            <a:extLst/>
          </a:blip>
          <a:stretch>
            <a:fillRect/>
          </a:stretch>
        </p:blipFill>
        <p:spPr>
          <a:xfrm>
            <a:off x="6698825" y="5778660"/>
            <a:ext cx="2693601" cy="26222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92"/>
                                        </p:tgtEl>
                                        <p:attrNameLst>
                                          <p:attrName>style.visibility</p:attrName>
                                        </p:attrNameLst>
                                      </p:cBhvr>
                                      <p:to>
                                        <p:strVal val="visible"/>
                                      </p:to>
                                    </p:set>
                                    <p:animEffect filter="dissolve" transition="in">
                                      <p:cBhvr>
                                        <p:cTn id="7" dur="2000"/>
                                        <p:tgtEl>
                                          <p:spTgt spid="4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92" grpId="1"/>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5" name="Overfitting și combaterea lui"/>
          <p:cNvSpPr txBox="1"/>
          <p:nvPr>
            <p:ph type="title"/>
          </p:nvPr>
        </p:nvSpPr>
        <p:spPr>
          <a:xfrm>
            <a:off x="-3294275" y="1111805"/>
            <a:ext cx="21945601" cy="1727201"/>
          </a:xfrm>
          <a:prstGeom prst="rect">
            <a:avLst/>
          </a:prstGeom>
        </p:spPr>
        <p:txBody>
          <a:bodyPr/>
          <a:lstStyle/>
          <a:p>
            <a:pPr/>
            <a:r>
              <a:t>Overfitting și combaterea lui</a:t>
            </a:r>
          </a:p>
        </p:txBody>
      </p:sp>
      <p:sp>
        <p:nvSpPr>
          <p:cNvPr id="496" name="Lasso Regression"/>
          <p:cNvSpPr txBox="1"/>
          <p:nvPr/>
        </p:nvSpPr>
        <p:spPr>
          <a:xfrm>
            <a:off x="1051139" y="2626543"/>
            <a:ext cx="452099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Lasso Regression</a:t>
            </a:r>
          </a:p>
        </p:txBody>
      </p:sp>
      <p:sp>
        <p:nvSpPr>
          <p:cNvPr id="497" name="Ecuație"/>
          <p:cNvSpPr txBox="1"/>
          <p:nvPr/>
        </p:nvSpPr>
        <p:spPr>
          <a:xfrm>
            <a:off x="1406659" y="6426104"/>
            <a:ext cx="7670552" cy="161291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m:rPr>
                          <m:nor/>
                        </m:rPr>
                        <a:rPr xmlns:a="http://schemas.openxmlformats.org/drawingml/2006/main" sz="4400" i="1">
                          <a:solidFill>
                            <a:srgbClr val="000000"/>
                          </a:solidFill>
                          <a:latin typeface="Cambria Math" panose="02040503050406030204" pitchFamily="18" charset="0"/>
                        </a:rPr>
                        <m:t>Eroare</m:t>
                      </m:r>
                    </m:e>
                    <m:sub>
                      <m:r>
                        <a:rPr xmlns:a="http://schemas.openxmlformats.org/drawingml/2006/main" sz="4400" i="1">
                          <a:solidFill>
                            <a:srgbClr val="000000"/>
                          </a:solidFill>
                          <a:latin typeface="Cambria Math" panose="02040503050406030204" pitchFamily="18" charset="0"/>
                        </a:rPr>
                        <m:t>l</m:t>
                      </m:r>
                      <m:r>
                        <a:rPr xmlns:a="http://schemas.openxmlformats.org/drawingml/2006/main" sz="4400" i="1">
                          <a:solidFill>
                            <a:srgbClr val="000000"/>
                          </a:solidFill>
                          <a:latin typeface="Cambria Math" panose="02040503050406030204" pitchFamily="18" charset="0"/>
                        </a:rPr>
                        <m:t>a</m:t>
                      </m:r>
                      <m:r>
                        <a:rPr xmlns:a="http://schemas.openxmlformats.org/drawingml/2006/main" sz="4400" i="1">
                          <a:solidFill>
                            <a:srgbClr val="000000"/>
                          </a:solidFill>
                          <a:latin typeface="Cambria Math" panose="02040503050406030204" pitchFamily="18" charset="0"/>
                        </a:rPr>
                        <m:t>s</m:t>
                      </m:r>
                      <m:r>
                        <a:rPr xmlns:a="http://schemas.openxmlformats.org/drawingml/2006/main" sz="4400" i="1">
                          <a:solidFill>
                            <a:srgbClr val="000000"/>
                          </a:solidFill>
                          <a:latin typeface="Cambria Math" panose="02040503050406030204" pitchFamily="18" charset="0"/>
                        </a:rPr>
                        <m:t>s</m:t>
                      </m:r>
                      <m:r>
                        <a:rPr xmlns:a="http://schemas.openxmlformats.org/drawingml/2006/main" sz="4400" i="1">
                          <a:solidFill>
                            <a:srgbClr val="000000"/>
                          </a:solidFill>
                          <a:latin typeface="Cambria Math" panose="02040503050406030204" pitchFamily="18" charset="0"/>
                        </a:rPr>
                        <m:t>o</m:t>
                      </m:r>
                    </m:sub>
                  </m:sSub>
                  <m:r>
                    <a:rPr xmlns:a="http://schemas.openxmlformats.org/drawingml/2006/main" sz="4400" i="1">
                      <a:solidFill>
                        <a:srgbClr val="000000"/>
                      </a:solidFill>
                      <a:latin typeface="Cambria Math" panose="02040503050406030204" pitchFamily="18" charset="0"/>
                    </a:rPr>
                    <m:t>=</m:t>
                  </m:r>
                  <m:r>
                    <m:rPr>
                      <m:nor/>
                    </m:rPr>
                    <a:rPr xmlns:a="http://schemas.openxmlformats.org/drawingml/2006/main" sz="4400" i="1">
                      <a:solidFill>
                        <a:srgbClr val="000000"/>
                      </a:solidFill>
                      <a:latin typeface="Cambria Math" panose="02040503050406030204" pitchFamily="18" charset="0"/>
                    </a:rPr>
                    <m:t>Eroare</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λ</m:t>
                  </m:r>
                  <m:limUpp>
                    <m:e>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j</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lim>
                      </m:limLow>
                    </m:e>
                    <m:lim>
                      <m:r>
                        <a:rPr xmlns:a="http://schemas.openxmlformats.org/drawingml/2006/main" sz="4400" i="1">
                          <a:solidFill>
                            <a:srgbClr val="000000"/>
                          </a:solidFill>
                          <a:latin typeface="Cambria Math" panose="02040503050406030204" pitchFamily="18" charset="0"/>
                        </a:rPr>
                        <m:t>p</m:t>
                      </m:r>
                    </m:lim>
                  </m:limUpp>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j</m:t>
                      </m:r>
                    </m:sub>
                  </m:sSub>
                  <m:r>
                    <a:rPr xmlns:a="http://schemas.openxmlformats.org/drawingml/2006/main" sz="4400" i="1">
                      <a:solidFill>
                        <a:srgbClr val="000000"/>
                      </a:solidFill>
                      <a:latin typeface="Cambria Math" panose="02040503050406030204" pitchFamily="18" charset="0"/>
                    </a:rPr>
                    <m:t>|</m:t>
                  </m:r>
                </m:oMath>
              </m:oMathPara>
            </a14:m>
            <a:endParaRPr sz="4400"/>
          </a:p>
        </p:txBody>
      </p:sp>
      <p:sp>
        <p:nvSpPr>
          <p:cNvPr id="498" name="Ecuație"/>
          <p:cNvSpPr txBox="1"/>
          <p:nvPr/>
        </p:nvSpPr>
        <p:spPr>
          <a:xfrm>
            <a:off x="7293007" y="3062893"/>
            <a:ext cx="8694476" cy="2180272"/>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6400" i="1">
                      <a:solidFill>
                        <a:srgbClr val="000000"/>
                      </a:solidFill>
                      <a:latin typeface="Cambria Math" panose="02040503050406030204" pitchFamily="18" charset="0"/>
                    </a:rPr>
                    <m:t>Eroare</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a:rPr xmlns:a="http://schemas.openxmlformats.org/drawingml/2006/main" sz="6400" i="1">
                          <a:solidFill>
                            <a:srgbClr val="000000"/>
                          </a:solidFill>
                          <a:latin typeface="Cambria Math" panose="02040503050406030204" pitchFamily="18" charset="0"/>
                        </a:rPr>
                        <m:t>1</m:t>
                      </m:r>
                    </m:num>
                    <m:den>
                      <m:r>
                        <a:rPr xmlns:a="http://schemas.openxmlformats.org/drawingml/2006/main" sz="6400" i="1">
                          <a:solidFill>
                            <a:srgbClr val="000000"/>
                          </a:solidFill>
                          <a:latin typeface="Cambria Math" panose="02040503050406030204" pitchFamily="18" charset="0"/>
                        </a:rPr>
                        <m:t>n</m:t>
                      </m:r>
                    </m:den>
                  </m:f>
                  <m:limUpp>
                    <m:e>
                      <m:limLow>
                        <m:e>
                          <m:r>
                            <a:rPr xmlns:a="http://schemas.openxmlformats.org/drawingml/2006/main" sz="6400" i="1">
                              <a:solidFill>
                                <a:srgbClr val="000000"/>
                              </a:solidFill>
                              <a:latin typeface="Cambria Math" panose="02040503050406030204" pitchFamily="18" charset="0"/>
                            </a:rPr>
                            <m:t>∑</m:t>
                          </m:r>
                        </m:e>
                        <m:lim>
                          <m:r>
                            <a:rPr xmlns:a="http://schemas.openxmlformats.org/drawingml/2006/main" sz="6400" i="1">
                              <a:solidFill>
                                <a:srgbClr val="000000"/>
                              </a:solidFill>
                              <a:latin typeface="Cambria Math" panose="02040503050406030204" pitchFamily="18" charset="0"/>
                            </a:rPr>
                            <m:t>i</m:t>
                          </m:r>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1</m:t>
                          </m:r>
                        </m:lim>
                      </m:limLow>
                    </m:e>
                    <m:lim>
                      <m:r>
                        <a:rPr xmlns:a="http://schemas.openxmlformats.org/drawingml/2006/main" sz="6400" i="1">
                          <a:solidFill>
                            <a:srgbClr val="000000"/>
                          </a:solidFill>
                          <a:latin typeface="Cambria Math" panose="02040503050406030204" pitchFamily="18" charset="0"/>
                        </a:rPr>
                        <m:t>n</m:t>
                      </m:r>
                    </m:lim>
                  </m:limUpp>
                  <m:sSup>
                    <m:e>
                      <m:d>
                        <m:dPr>
                          <m:ctrlPr>
                            <a:rPr xmlns:a="http://schemas.openxmlformats.org/drawingml/2006/main" sz="6400" i="1">
                              <a:solidFill>
                                <a:srgbClr val="000000"/>
                              </a:solidFill>
                              <a:latin typeface="Cambria Math" panose="02040503050406030204" pitchFamily="18" charset="0"/>
                            </a:rPr>
                          </m:ctrlPr>
                        </m:dPr>
                        <m:e>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i</m:t>
                              </m:r>
                            </m:sub>
                          </m:sSub>
                          <m:r>
                            <a:rPr xmlns:a="http://schemas.openxmlformats.org/drawingml/2006/main" sz="6400" i="1">
                              <a:solidFill>
                                <a:srgbClr val="000000"/>
                              </a:solidFill>
                              <a:latin typeface="Cambria Math" panose="02040503050406030204" pitchFamily="18" charset="0"/>
                            </a:rPr>
                            <m:t>-</m:t>
                          </m:r>
                          <m:sSub>
                            <m:e>
                              <m:limUpp>
                                <m:e>
                                  <m:r>
                                    <a:rPr xmlns:a="http://schemas.openxmlformats.org/drawingml/2006/main" sz="6400" i="1">
                                      <a:solidFill>
                                        <a:srgbClr val="000000"/>
                                      </a:solidFill>
                                      <a:latin typeface="Cambria Math" panose="02040503050406030204" pitchFamily="18" charset="0"/>
                                    </a:rPr>
                                    <m:t>Y</m:t>
                                  </m:r>
                                </m:e>
                                <m:lim>
                                  <m:r>
                                    <a:rPr xmlns:a="http://schemas.openxmlformats.org/drawingml/2006/main" sz="6400" i="1">
                                      <a:solidFill>
                                        <a:srgbClr val="000000"/>
                                      </a:solidFill>
                                      <a:latin typeface="Cambria Math" panose="02040503050406030204" pitchFamily="18" charset="0"/>
                                    </a:rPr>
                                    <m:t>̂</m:t>
                                  </m:r>
                                </m:lim>
                              </m:limUpp>
                            </m:e>
                            <m:sub>
                              <m:r>
                                <a:rPr xmlns:a="http://schemas.openxmlformats.org/drawingml/2006/main" sz="6400" i="1">
                                  <a:solidFill>
                                    <a:srgbClr val="000000"/>
                                  </a:solidFill>
                                  <a:latin typeface="Cambria Math" panose="02040503050406030204" pitchFamily="18" charset="0"/>
                                </a:rPr>
                                <m:t>i</m:t>
                              </m:r>
                            </m:sub>
                          </m:sSub>
                        </m:e>
                      </m:d>
                    </m:e>
                    <m:sup>
                      <m:r>
                        <a:rPr xmlns:a="http://schemas.openxmlformats.org/drawingml/2006/main" sz="6400" i="1">
                          <a:solidFill>
                            <a:srgbClr val="000000"/>
                          </a:solidFill>
                          <a:latin typeface="Cambria Math" panose="02040503050406030204" pitchFamily="18" charset="0"/>
                        </a:rPr>
                        <m:t>2</m:t>
                      </m:r>
                    </m:sup>
                  </m:sSup>
                </m:oMath>
              </m:oMathPara>
            </a14:m>
            <a:endParaRPr sz="6400"/>
          </a:p>
        </p:txBody>
      </p:sp>
      <p:sp>
        <p:nvSpPr>
          <p:cNvPr id="499" name="Lasso este util atunci când avem multe caracteristici, dar doar câteva sunt cu adevărat relevante pentru predicții. Elimină caracteristicile irelevante, ajutând atât la interpretarea mai ușoară, cât și la performanțe mai bune pe date noi. Practic, face „"/>
          <p:cNvSpPr txBox="1"/>
          <p:nvPr/>
        </p:nvSpPr>
        <p:spPr>
          <a:xfrm>
            <a:off x="605395" y="9104631"/>
            <a:ext cx="11299042" cy="302008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300"/>
            </a:lvl1pPr>
          </a:lstStyle>
          <a:p>
            <a:pPr/>
            <a:r>
              <a:t>Lasso este util atunci când avem multe caracteristici, dar doar câteva sunt cu adevărat relevante pentru predicții. Elimină caracteristicile irelevante, ajutând atât la interpretarea mai ușoară, cât și la performanțe mai bune pe date noi. Practic, face „feature selection”.</a:t>
            </a:r>
          </a:p>
        </p:txBody>
      </p:sp>
      <p:pic>
        <p:nvPicPr>
          <p:cNvPr id="500" name="Captură de ecran din 2024-10-06 la 22.54.26.png" descr="Captură de ecran din 2024-10-06 la 22.54.26.png"/>
          <p:cNvPicPr>
            <a:picLocks noChangeAspect="1"/>
          </p:cNvPicPr>
          <p:nvPr/>
        </p:nvPicPr>
        <p:blipFill>
          <a:blip r:embed="rId2">
            <a:extLst/>
          </a:blip>
          <a:stretch>
            <a:fillRect/>
          </a:stretch>
        </p:blipFill>
        <p:spPr>
          <a:xfrm>
            <a:off x="12406724" y="5236078"/>
            <a:ext cx="11978374" cy="8482644"/>
          </a:xfrm>
          <a:prstGeom prst="rect">
            <a:avLst/>
          </a:prstGeom>
          <a:ln w="12700">
            <a:miter lim="400000"/>
          </a:ln>
        </p:spPr>
      </p:pic>
      <p:pic>
        <p:nvPicPr>
          <p:cNvPr id="501" name="Oval Oval" descr="Oval Oval"/>
          <p:cNvPicPr>
            <a:picLocks noChangeAspect="0"/>
          </p:cNvPicPr>
          <p:nvPr/>
        </p:nvPicPr>
        <p:blipFill>
          <a:blip r:embed="rId3">
            <a:extLst/>
          </a:blip>
          <a:stretch>
            <a:fillRect/>
          </a:stretch>
        </p:blipFill>
        <p:spPr>
          <a:xfrm>
            <a:off x="6698825" y="5778660"/>
            <a:ext cx="2693601" cy="26222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01"/>
                                        </p:tgtEl>
                                        <p:attrNameLst>
                                          <p:attrName>style.visibility</p:attrName>
                                        </p:attrNameLst>
                                      </p:cBhvr>
                                      <p:to>
                                        <p:strVal val="visible"/>
                                      </p:to>
                                    </p:set>
                                    <p:animEffect filter="dissolve" transition="in">
                                      <p:cBhvr>
                                        <p:cTn id="7" dur="2000"/>
                                        <p:tgtEl>
                                          <p:spTgt spid="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01" grpId="1"/>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4" name="Overfitting și combaterea lui"/>
          <p:cNvSpPr txBox="1"/>
          <p:nvPr>
            <p:ph type="title"/>
          </p:nvPr>
        </p:nvSpPr>
        <p:spPr>
          <a:xfrm>
            <a:off x="-3294275" y="1111805"/>
            <a:ext cx="21945601" cy="1727201"/>
          </a:xfrm>
          <a:prstGeom prst="rect">
            <a:avLst/>
          </a:prstGeom>
        </p:spPr>
        <p:txBody>
          <a:bodyPr/>
          <a:lstStyle/>
          <a:p>
            <a:pPr/>
            <a:r>
              <a:t>Overfitting și combaterea lui</a:t>
            </a:r>
          </a:p>
        </p:txBody>
      </p:sp>
      <p:sp>
        <p:nvSpPr>
          <p:cNvPr id="505" name="Elastic Net Regression"/>
          <p:cNvSpPr txBox="1"/>
          <p:nvPr/>
        </p:nvSpPr>
        <p:spPr>
          <a:xfrm>
            <a:off x="1051139" y="2626543"/>
            <a:ext cx="577271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Elastic Net Regression</a:t>
            </a:r>
          </a:p>
        </p:txBody>
      </p:sp>
      <p:sp>
        <p:nvSpPr>
          <p:cNvPr id="506" name="Ecuație"/>
          <p:cNvSpPr txBox="1"/>
          <p:nvPr/>
        </p:nvSpPr>
        <p:spPr>
          <a:xfrm>
            <a:off x="625407" y="6407376"/>
            <a:ext cx="10361269" cy="1246344"/>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m:rPr>
                          <m:nor/>
                        </m:rPr>
                        <a:rPr xmlns:a="http://schemas.openxmlformats.org/drawingml/2006/main" sz="3400" i="1">
                          <a:solidFill>
                            <a:srgbClr val="000000"/>
                          </a:solidFill>
                          <a:latin typeface="Cambria Math" panose="02040503050406030204" pitchFamily="18" charset="0"/>
                        </a:rPr>
                        <m:t>Eroare</m:t>
                      </m:r>
                    </m:e>
                    <m:sub>
                      <m:r>
                        <a:rPr xmlns:a="http://schemas.openxmlformats.org/drawingml/2006/main" sz="3400" i="1">
                          <a:solidFill>
                            <a:srgbClr val="000000"/>
                          </a:solidFill>
                          <a:latin typeface="Cambria Math" panose="02040503050406030204" pitchFamily="18" charset="0"/>
                        </a:rPr>
                        <m:t>e</m:t>
                      </m:r>
                      <m:r>
                        <a:rPr xmlns:a="http://schemas.openxmlformats.org/drawingml/2006/main" sz="3400" i="1">
                          <a:solidFill>
                            <a:srgbClr val="000000"/>
                          </a:solidFill>
                          <a:latin typeface="Cambria Math" panose="02040503050406030204" pitchFamily="18" charset="0"/>
                        </a:rPr>
                        <m:t>l</m:t>
                      </m:r>
                      <m:r>
                        <a:rPr xmlns:a="http://schemas.openxmlformats.org/drawingml/2006/main" sz="3400" i="1">
                          <a:solidFill>
                            <a:srgbClr val="000000"/>
                          </a:solidFill>
                          <a:latin typeface="Cambria Math" panose="02040503050406030204" pitchFamily="18" charset="0"/>
                        </a:rPr>
                        <m:t>a</m:t>
                      </m:r>
                      <m:r>
                        <a:rPr xmlns:a="http://schemas.openxmlformats.org/drawingml/2006/main" sz="3400" i="1">
                          <a:solidFill>
                            <a:srgbClr val="000000"/>
                          </a:solidFill>
                          <a:latin typeface="Cambria Math" panose="02040503050406030204" pitchFamily="18" charset="0"/>
                        </a:rPr>
                        <m:t>s</m:t>
                      </m:r>
                      <m:r>
                        <a:rPr xmlns:a="http://schemas.openxmlformats.org/drawingml/2006/main" sz="3400" i="1">
                          <a:solidFill>
                            <a:srgbClr val="000000"/>
                          </a:solidFill>
                          <a:latin typeface="Cambria Math" panose="02040503050406030204" pitchFamily="18" charset="0"/>
                        </a:rPr>
                        <m:t>t</m:t>
                      </m:r>
                      <m:r>
                        <a:rPr xmlns:a="http://schemas.openxmlformats.org/drawingml/2006/main" sz="3400" i="1">
                          <a:solidFill>
                            <a:srgbClr val="000000"/>
                          </a:solidFill>
                          <a:latin typeface="Cambria Math" panose="02040503050406030204" pitchFamily="18" charset="0"/>
                        </a:rPr>
                        <m:t>i</m:t>
                      </m:r>
                      <m:r>
                        <a:rPr xmlns:a="http://schemas.openxmlformats.org/drawingml/2006/main" sz="3400" i="1">
                          <a:solidFill>
                            <a:srgbClr val="000000"/>
                          </a:solidFill>
                          <a:latin typeface="Cambria Math" panose="02040503050406030204" pitchFamily="18" charset="0"/>
                        </a:rPr>
                        <m:t>c</m:t>
                      </m:r>
                    </m:sub>
                  </m:sSub>
                  <m:r>
                    <a:rPr xmlns:a="http://schemas.openxmlformats.org/drawingml/2006/main" sz="3400" i="1">
                      <a:solidFill>
                        <a:srgbClr val="000000"/>
                      </a:solidFill>
                      <a:latin typeface="Cambria Math" panose="02040503050406030204" pitchFamily="18" charset="0"/>
                    </a:rPr>
                    <m:t>=</m:t>
                  </m:r>
                  <m:r>
                    <m:rPr>
                      <m:nor/>
                    </m:rPr>
                    <a:rPr xmlns:a="http://schemas.openxmlformats.org/drawingml/2006/main" sz="3400" i="1">
                      <a:solidFill>
                        <a:srgbClr val="000000"/>
                      </a:solidFill>
                      <a:latin typeface="Cambria Math" panose="02040503050406030204" pitchFamily="18" charset="0"/>
                    </a:rPr>
                    <m:t>Eroare</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λ</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r</m:t>
                  </m:r>
                  <m:r>
                    <a:rPr xmlns:a="http://schemas.openxmlformats.org/drawingml/2006/main" sz="3400" i="1">
                      <a:solidFill>
                        <a:srgbClr val="000000"/>
                      </a:solidFill>
                      <a:latin typeface="Cambria Math" panose="02040503050406030204" pitchFamily="18" charset="0"/>
                    </a:rPr>
                    <m:t>⋅</m:t>
                  </m:r>
                  <m:limUpp>
                    <m:e>
                      <m:limLow>
                        <m:e>
                          <m:r>
                            <a:rPr xmlns:a="http://schemas.openxmlformats.org/drawingml/2006/main" sz="3400" i="1">
                              <a:solidFill>
                                <a:srgbClr val="000000"/>
                              </a:solidFill>
                              <a:latin typeface="Cambria Math" panose="02040503050406030204" pitchFamily="18" charset="0"/>
                            </a:rPr>
                            <m:t>∑</m:t>
                          </m:r>
                        </m:e>
                        <m:lim>
                          <m:r>
                            <a:rPr xmlns:a="http://schemas.openxmlformats.org/drawingml/2006/main" sz="3400" i="1">
                              <a:solidFill>
                                <a:srgbClr val="000000"/>
                              </a:solidFill>
                              <a:latin typeface="Cambria Math" panose="02040503050406030204" pitchFamily="18" charset="0"/>
                            </a:rPr>
                            <m:t>j</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1</m:t>
                          </m:r>
                        </m:lim>
                      </m:limLow>
                    </m:e>
                    <m:lim>
                      <m:r>
                        <a:rPr xmlns:a="http://schemas.openxmlformats.org/drawingml/2006/main" sz="3400" i="1">
                          <a:solidFill>
                            <a:srgbClr val="000000"/>
                          </a:solidFill>
                          <a:latin typeface="Cambria Math" panose="02040503050406030204" pitchFamily="18" charset="0"/>
                        </a:rPr>
                        <m:t>p</m:t>
                      </m:r>
                    </m:lim>
                  </m:limUpp>
                  <m:r>
                    <a:rPr xmlns:a="http://schemas.openxmlformats.org/drawingml/2006/main" sz="3400" i="1">
                      <a:solidFill>
                        <a:srgbClr val="000000"/>
                      </a:solidFill>
                      <a:latin typeface="Cambria Math" panose="02040503050406030204" pitchFamily="18" charset="0"/>
                    </a:rPr>
                    <m:t>|</m:t>
                  </m:r>
                  <m:sSub>
                    <m:e>
                      <m:r>
                        <a:rPr xmlns:a="http://schemas.openxmlformats.org/drawingml/2006/main" sz="3400" i="1">
                          <a:solidFill>
                            <a:srgbClr val="000000"/>
                          </a:solidFill>
                          <a:latin typeface="Cambria Math" panose="02040503050406030204" pitchFamily="18" charset="0"/>
                        </a:rPr>
                        <m:t>w</m:t>
                      </m:r>
                    </m:e>
                    <m:sub>
                      <m:r>
                        <a:rPr xmlns:a="http://schemas.openxmlformats.org/drawingml/2006/main" sz="3400" i="1">
                          <a:solidFill>
                            <a:srgbClr val="000000"/>
                          </a:solidFill>
                          <a:latin typeface="Cambria Math" panose="02040503050406030204" pitchFamily="18" charset="0"/>
                        </a:rPr>
                        <m:t>j</m:t>
                      </m:r>
                    </m:sub>
                  </m:sSub>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λ</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1</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r</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m:t>
                  </m:r>
                  <m:limUpp>
                    <m:e>
                      <m:limLow>
                        <m:e>
                          <m:r>
                            <a:rPr xmlns:a="http://schemas.openxmlformats.org/drawingml/2006/main" sz="3400" i="1">
                              <a:solidFill>
                                <a:srgbClr val="000000"/>
                              </a:solidFill>
                              <a:latin typeface="Cambria Math" panose="02040503050406030204" pitchFamily="18" charset="0"/>
                            </a:rPr>
                            <m:t>∑</m:t>
                          </m:r>
                        </m:e>
                        <m:lim>
                          <m:r>
                            <a:rPr xmlns:a="http://schemas.openxmlformats.org/drawingml/2006/main" sz="3400" i="1">
                              <a:solidFill>
                                <a:srgbClr val="000000"/>
                              </a:solidFill>
                              <a:latin typeface="Cambria Math" panose="02040503050406030204" pitchFamily="18" charset="0"/>
                            </a:rPr>
                            <m:t>j</m:t>
                          </m:r>
                          <m:r>
                            <a:rPr xmlns:a="http://schemas.openxmlformats.org/drawingml/2006/main" sz="3400" i="1">
                              <a:solidFill>
                                <a:srgbClr val="000000"/>
                              </a:solidFill>
                              <a:latin typeface="Cambria Math" panose="02040503050406030204" pitchFamily="18" charset="0"/>
                            </a:rPr>
                            <m:t>=</m:t>
                          </m:r>
                          <m:r>
                            <a:rPr xmlns:a="http://schemas.openxmlformats.org/drawingml/2006/main" sz="3400" i="1">
                              <a:solidFill>
                                <a:srgbClr val="000000"/>
                              </a:solidFill>
                              <a:latin typeface="Cambria Math" panose="02040503050406030204" pitchFamily="18" charset="0"/>
                            </a:rPr>
                            <m:t>1</m:t>
                          </m:r>
                        </m:lim>
                      </m:limLow>
                    </m:e>
                    <m:lim>
                      <m:r>
                        <a:rPr xmlns:a="http://schemas.openxmlformats.org/drawingml/2006/main" sz="3400" i="1">
                          <a:solidFill>
                            <a:srgbClr val="000000"/>
                          </a:solidFill>
                          <a:latin typeface="Cambria Math" panose="02040503050406030204" pitchFamily="18" charset="0"/>
                        </a:rPr>
                        <m:t>p</m:t>
                      </m:r>
                    </m:lim>
                  </m:limUpp>
                  <m:sSubSup>
                    <m:e>
                      <m:r>
                        <a:rPr xmlns:a="http://schemas.openxmlformats.org/drawingml/2006/main" sz="3400" i="1">
                          <a:solidFill>
                            <a:srgbClr val="000000"/>
                          </a:solidFill>
                          <a:latin typeface="Cambria Math" panose="02040503050406030204" pitchFamily="18" charset="0"/>
                        </a:rPr>
                        <m:t>w</m:t>
                      </m:r>
                    </m:e>
                    <m:sub>
                      <m:r>
                        <a:rPr xmlns:a="http://schemas.openxmlformats.org/drawingml/2006/main" sz="3400" i="1">
                          <a:solidFill>
                            <a:srgbClr val="000000"/>
                          </a:solidFill>
                          <a:latin typeface="Cambria Math" panose="02040503050406030204" pitchFamily="18" charset="0"/>
                        </a:rPr>
                        <m:t>j</m:t>
                      </m:r>
                    </m:sub>
                    <m:sup>
                      <m:r>
                        <a:rPr xmlns:a="http://schemas.openxmlformats.org/drawingml/2006/main" sz="3400" i="1">
                          <a:solidFill>
                            <a:srgbClr val="000000"/>
                          </a:solidFill>
                          <a:latin typeface="Cambria Math" panose="02040503050406030204" pitchFamily="18" charset="0"/>
                        </a:rPr>
                        <m:t>2</m:t>
                      </m:r>
                    </m:sup>
                  </m:sSubSup>
                </m:oMath>
              </m:oMathPara>
            </a14:m>
            <a:endParaRPr sz="3400"/>
          </a:p>
        </p:txBody>
      </p:sp>
      <p:sp>
        <p:nvSpPr>
          <p:cNvPr id="507" name="Ecuație"/>
          <p:cNvSpPr txBox="1"/>
          <p:nvPr/>
        </p:nvSpPr>
        <p:spPr>
          <a:xfrm>
            <a:off x="7517745" y="2969253"/>
            <a:ext cx="8694475" cy="2180272"/>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6400" i="1">
                      <a:solidFill>
                        <a:srgbClr val="000000"/>
                      </a:solidFill>
                      <a:latin typeface="Cambria Math" panose="02040503050406030204" pitchFamily="18" charset="0"/>
                    </a:rPr>
                    <m:t>Eroare</m:t>
                  </m:r>
                  <m:r>
                    <a:rPr xmlns:a="http://schemas.openxmlformats.org/drawingml/2006/main" sz="6400" i="1">
                      <a:solidFill>
                        <a:srgbClr val="000000"/>
                      </a:solidFill>
                      <a:latin typeface="Cambria Math" panose="02040503050406030204" pitchFamily="18" charset="0"/>
                    </a:rPr>
                    <m:t>=</m:t>
                  </m:r>
                  <m:f>
                    <m:fPr>
                      <m:ctrlPr>
                        <a:rPr xmlns:a="http://schemas.openxmlformats.org/drawingml/2006/main" sz="6400" i="1">
                          <a:solidFill>
                            <a:srgbClr val="000000"/>
                          </a:solidFill>
                          <a:latin typeface="Cambria Math" panose="02040503050406030204" pitchFamily="18" charset="0"/>
                        </a:rPr>
                      </m:ctrlPr>
                      <m:type m:val="bar"/>
                    </m:fPr>
                    <m:num>
                      <m:r>
                        <a:rPr xmlns:a="http://schemas.openxmlformats.org/drawingml/2006/main" sz="6400" i="1">
                          <a:solidFill>
                            <a:srgbClr val="000000"/>
                          </a:solidFill>
                          <a:latin typeface="Cambria Math" panose="02040503050406030204" pitchFamily="18" charset="0"/>
                        </a:rPr>
                        <m:t>1</m:t>
                      </m:r>
                    </m:num>
                    <m:den>
                      <m:r>
                        <a:rPr xmlns:a="http://schemas.openxmlformats.org/drawingml/2006/main" sz="6400" i="1">
                          <a:solidFill>
                            <a:srgbClr val="000000"/>
                          </a:solidFill>
                          <a:latin typeface="Cambria Math" panose="02040503050406030204" pitchFamily="18" charset="0"/>
                        </a:rPr>
                        <m:t>n</m:t>
                      </m:r>
                    </m:den>
                  </m:f>
                  <m:limUpp>
                    <m:e>
                      <m:limLow>
                        <m:e>
                          <m:r>
                            <a:rPr xmlns:a="http://schemas.openxmlformats.org/drawingml/2006/main" sz="6400" i="1">
                              <a:solidFill>
                                <a:srgbClr val="000000"/>
                              </a:solidFill>
                              <a:latin typeface="Cambria Math" panose="02040503050406030204" pitchFamily="18" charset="0"/>
                            </a:rPr>
                            <m:t>∑</m:t>
                          </m:r>
                        </m:e>
                        <m:lim>
                          <m:r>
                            <a:rPr xmlns:a="http://schemas.openxmlformats.org/drawingml/2006/main" sz="6400" i="1">
                              <a:solidFill>
                                <a:srgbClr val="000000"/>
                              </a:solidFill>
                              <a:latin typeface="Cambria Math" panose="02040503050406030204" pitchFamily="18" charset="0"/>
                            </a:rPr>
                            <m:t>i</m:t>
                          </m:r>
                          <m:r>
                            <a:rPr xmlns:a="http://schemas.openxmlformats.org/drawingml/2006/main" sz="6400" i="1">
                              <a:solidFill>
                                <a:srgbClr val="000000"/>
                              </a:solidFill>
                              <a:latin typeface="Cambria Math" panose="02040503050406030204" pitchFamily="18" charset="0"/>
                            </a:rPr>
                            <m:t>=</m:t>
                          </m:r>
                          <m:r>
                            <a:rPr xmlns:a="http://schemas.openxmlformats.org/drawingml/2006/main" sz="6400" i="1">
                              <a:solidFill>
                                <a:srgbClr val="000000"/>
                              </a:solidFill>
                              <a:latin typeface="Cambria Math" panose="02040503050406030204" pitchFamily="18" charset="0"/>
                            </a:rPr>
                            <m:t>1</m:t>
                          </m:r>
                        </m:lim>
                      </m:limLow>
                    </m:e>
                    <m:lim>
                      <m:r>
                        <a:rPr xmlns:a="http://schemas.openxmlformats.org/drawingml/2006/main" sz="6400" i="1">
                          <a:solidFill>
                            <a:srgbClr val="000000"/>
                          </a:solidFill>
                          <a:latin typeface="Cambria Math" panose="02040503050406030204" pitchFamily="18" charset="0"/>
                        </a:rPr>
                        <m:t>n</m:t>
                      </m:r>
                    </m:lim>
                  </m:limUpp>
                  <m:sSup>
                    <m:e>
                      <m:d>
                        <m:dPr>
                          <m:ctrlPr>
                            <a:rPr xmlns:a="http://schemas.openxmlformats.org/drawingml/2006/main" sz="6400" i="1">
                              <a:solidFill>
                                <a:srgbClr val="000000"/>
                              </a:solidFill>
                              <a:latin typeface="Cambria Math" panose="02040503050406030204" pitchFamily="18" charset="0"/>
                            </a:rPr>
                          </m:ctrlPr>
                        </m:dPr>
                        <m:e>
                          <m:sSub>
                            <m:e>
                              <m:r>
                                <a:rPr xmlns:a="http://schemas.openxmlformats.org/drawingml/2006/main" sz="6400" i="1">
                                  <a:solidFill>
                                    <a:srgbClr val="000000"/>
                                  </a:solidFill>
                                  <a:latin typeface="Cambria Math" panose="02040503050406030204" pitchFamily="18" charset="0"/>
                                </a:rPr>
                                <m:t>Y</m:t>
                              </m:r>
                            </m:e>
                            <m:sub>
                              <m:r>
                                <a:rPr xmlns:a="http://schemas.openxmlformats.org/drawingml/2006/main" sz="6400" i="1">
                                  <a:solidFill>
                                    <a:srgbClr val="000000"/>
                                  </a:solidFill>
                                  <a:latin typeface="Cambria Math" panose="02040503050406030204" pitchFamily="18" charset="0"/>
                                </a:rPr>
                                <m:t>i</m:t>
                              </m:r>
                            </m:sub>
                          </m:sSub>
                          <m:r>
                            <a:rPr xmlns:a="http://schemas.openxmlformats.org/drawingml/2006/main" sz="6400" i="1">
                              <a:solidFill>
                                <a:srgbClr val="000000"/>
                              </a:solidFill>
                              <a:latin typeface="Cambria Math" panose="02040503050406030204" pitchFamily="18" charset="0"/>
                            </a:rPr>
                            <m:t>-</m:t>
                          </m:r>
                          <m:sSub>
                            <m:e>
                              <m:limUpp>
                                <m:e>
                                  <m:r>
                                    <a:rPr xmlns:a="http://schemas.openxmlformats.org/drawingml/2006/main" sz="6400" i="1">
                                      <a:solidFill>
                                        <a:srgbClr val="000000"/>
                                      </a:solidFill>
                                      <a:latin typeface="Cambria Math" panose="02040503050406030204" pitchFamily="18" charset="0"/>
                                    </a:rPr>
                                    <m:t>Y</m:t>
                                  </m:r>
                                </m:e>
                                <m:lim>
                                  <m:r>
                                    <a:rPr xmlns:a="http://schemas.openxmlformats.org/drawingml/2006/main" sz="6400" i="1">
                                      <a:solidFill>
                                        <a:srgbClr val="000000"/>
                                      </a:solidFill>
                                      <a:latin typeface="Cambria Math" panose="02040503050406030204" pitchFamily="18" charset="0"/>
                                    </a:rPr>
                                    <m:t>̂</m:t>
                                  </m:r>
                                </m:lim>
                              </m:limUpp>
                            </m:e>
                            <m:sub>
                              <m:r>
                                <a:rPr xmlns:a="http://schemas.openxmlformats.org/drawingml/2006/main" sz="6400" i="1">
                                  <a:solidFill>
                                    <a:srgbClr val="000000"/>
                                  </a:solidFill>
                                  <a:latin typeface="Cambria Math" panose="02040503050406030204" pitchFamily="18" charset="0"/>
                                </a:rPr>
                                <m:t>i</m:t>
                              </m:r>
                            </m:sub>
                          </m:sSub>
                        </m:e>
                      </m:d>
                    </m:e>
                    <m:sup>
                      <m:r>
                        <a:rPr xmlns:a="http://schemas.openxmlformats.org/drawingml/2006/main" sz="6400" i="1">
                          <a:solidFill>
                            <a:srgbClr val="000000"/>
                          </a:solidFill>
                          <a:latin typeface="Cambria Math" panose="02040503050406030204" pitchFamily="18" charset="0"/>
                        </a:rPr>
                        <m:t>2</m:t>
                      </m:r>
                    </m:sup>
                  </m:sSup>
                </m:oMath>
              </m:oMathPara>
            </a14:m>
            <a:endParaRPr sz="6400"/>
          </a:p>
        </p:txBody>
      </p:sp>
      <p:sp>
        <p:nvSpPr>
          <p:cNvPr id="508" name="În unele situații, doar Ridge sau doar Lasso poate să nu fie suficient. Elastic Net combină penalizările L1 și L2 pentru a obține atât selecția caracteristicilor, cât și regularizarea."/>
          <p:cNvSpPr txBox="1"/>
          <p:nvPr/>
        </p:nvSpPr>
        <p:spPr>
          <a:xfrm>
            <a:off x="371095" y="9063675"/>
            <a:ext cx="11299042" cy="17342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100"/>
            </a:lvl1pPr>
          </a:lstStyle>
          <a:p>
            <a:pPr/>
            <a:r>
              <a:t>În unele situații, doar Ridge sau doar Lasso poate să nu fie suficient. Elastic Net combină penalizările L1 și L2 pentru a obține atât selecția caracteristicilor, cât și regularizarea.</a:t>
            </a:r>
          </a:p>
        </p:txBody>
      </p:sp>
      <p:pic>
        <p:nvPicPr>
          <p:cNvPr id="509" name="Captură de ecran din 2024-10-06 la 22.59.19.png" descr="Captură de ecran din 2024-10-06 la 22.59.19.png"/>
          <p:cNvPicPr>
            <a:picLocks noChangeAspect="1"/>
          </p:cNvPicPr>
          <p:nvPr/>
        </p:nvPicPr>
        <p:blipFill>
          <a:blip r:embed="rId2">
            <a:extLst/>
          </a:blip>
          <a:stretch>
            <a:fillRect/>
          </a:stretch>
        </p:blipFill>
        <p:spPr>
          <a:xfrm>
            <a:off x="12488728" y="5829042"/>
            <a:ext cx="11994707" cy="7891255"/>
          </a:xfrm>
          <a:prstGeom prst="rect">
            <a:avLst/>
          </a:prstGeom>
          <a:ln w="12700">
            <a:miter lim="400000"/>
          </a:ln>
        </p:spPr>
      </p:pic>
      <p:pic>
        <p:nvPicPr>
          <p:cNvPr id="510" name="Oval Oval" descr="Oval Oval"/>
          <p:cNvPicPr>
            <a:picLocks noChangeAspect="0"/>
          </p:cNvPicPr>
          <p:nvPr/>
        </p:nvPicPr>
        <p:blipFill>
          <a:blip r:embed="rId3">
            <a:extLst/>
          </a:blip>
          <a:stretch>
            <a:fillRect/>
          </a:stretch>
        </p:blipFill>
        <p:spPr>
          <a:xfrm>
            <a:off x="15770181" y="9376016"/>
            <a:ext cx="2004026" cy="797307"/>
          </a:xfrm>
          <a:prstGeom prst="rect">
            <a:avLst/>
          </a:prstGeom>
        </p:spPr>
      </p:pic>
      <p:pic>
        <p:nvPicPr>
          <p:cNvPr id="512" name="Linie Linie" descr="Linie Linie"/>
          <p:cNvPicPr>
            <a:picLocks noChangeAspect="0"/>
          </p:cNvPicPr>
          <p:nvPr/>
        </p:nvPicPr>
        <p:blipFill>
          <a:blip r:embed="rId4">
            <a:extLst/>
          </a:blip>
          <a:stretch>
            <a:fillRect/>
          </a:stretch>
        </p:blipFill>
        <p:spPr>
          <a:xfrm rot="17412015">
            <a:off x="15620987" y="6825797"/>
            <a:ext cx="4882282" cy="405592"/>
          </a:xfrm>
          <a:prstGeom prst="rect">
            <a:avLst/>
          </a:prstGeom>
        </p:spPr>
      </p:pic>
      <p:sp>
        <p:nvSpPr>
          <p:cNvPr id="514" name="r"/>
          <p:cNvSpPr txBox="1"/>
          <p:nvPr/>
        </p:nvSpPr>
        <p:spPr>
          <a:xfrm>
            <a:off x="18913661" y="3798180"/>
            <a:ext cx="32999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t>
            </a:r>
          </a:p>
        </p:txBody>
      </p:sp>
      <p:pic>
        <p:nvPicPr>
          <p:cNvPr id="515" name="Oval Oval" descr="Oval Oval"/>
          <p:cNvPicPr>
            <a:picLocks noChangeAspect="0"/>
          </p:cNvPicPr>
          <p:nvPr/>
        </p:nvPicPr>
        <p:blipFill>
          <a:blip r:embed="rId5">
            <a:extLst/>
          </a:blip>
          <a:stretch>
            <a:fillRect/>
          </a:stretch>
        </p:blipFill>
        <p:spPr>
          <a:xfrm>
            <a:off x="14829679" y="9518014"/>
            <a:ext cx="1268782" cy="513312"/>
          </a:xfrm>
          <a:prstGeom prst="rect">
            <a:avLst/>
          </a:prstGeom>
        </p:spPr>
      </p:pic>
      <p:pic>
        <p:nvPicPr>
          <p:cNvPr id="517" name="Linie Linie" descr="Linie Linie"/>
          <p:cNvPicPr>
            <a:picLocks noChangeAspect="0"/>
          </p:cNvPicPr>
          <p:nvPr/>
        </p:nvPicPr>
        <p:blipFill>
          <a:blip r:embed="rId4">
            <a:extLst/>
          </a:blip>
          <a:stretch>
            <a:fillRect/>
          </a:stretch>
        </p:blipFill>
        <p:spPr>
          <a:xfrm rot="17412015">
            <a:off x="13856448" y="6971526"/>
            <a:ext cx="4882282" cy="405591"/>
          </a:xfrm>
          <a:prstGeom prst="rect">
            <a:avLst/>
          </a:prstGeom>
        </p:spPr>
      </p:pic>
      <p:sp>
        <p:nvSpPr>
          <p:cNvPr id="519" name="Ecuație"/>
          <p:cNvSpPr txBox="1"/>
          <p:nvPr/>
        </p:nvSpPr>
        <p:spPr>
          <a:xfrm>
            <a:off x="17195631" y="4140120"/>
            <a:ext cx="247549" cy="38780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λ</m:t>
                  </m:r>
                </m:oMath>
              </m:oMathPara>
            </a14:m>
            <a:endParaRPr sz="4400"/>
          </a:p>
        </p:txBody>
      </p:sp>
      <p:pic>
        <p:nvPicPr>
          <p:cNvPr id="520" name="Oval Oval" descr="Oval Oval"/>
          <p:cNvPicPr>
            <a:picLocks noChangeAspect="0"/>
          </p:cNvPicPr>
          <p:nvPr/>
        </p:nvPicPr>
        <p:blipFill>
          <a:blip r:embed="rId6">
            <a:extLst/>
          </a:blip>
          <a:stretch>
            <a:fillRect/>
          </a:stretch>
        </p:blipFill>
        <p:spPr>
          <a:xfrm>
            <a:off x="4957111" y="5546900"/>
            <a:ext cx="6775012" cy="26222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9" grpId="1" fill="hold">
                                  <p:stCondLst>
                                    <p:cond delay="0"/>
                                  </p:stCondLst>
                                  <p:iterate type="el" backwards="0">
                                    <p:tmAbs val="0"/>
                                  </p:iterate>
                                  <p:childTnLst>
                                    <p:set>
                                      <p:cBhvr>
                                        <p:cTn id="6" fill="hold"/>
                                        <p:tgtEl>
                                          <p:spTgt spid="520"/>
                                        </p:tgtEl>
                                        <p:attrNameLst>
                                          <p:attrName>style.visibility</p:attrName>
                                        </p:attrNameLst>
                                      </p:cBhvr>
                                      <p:to>
                                        <p:strVal val="visible"/>
                                      </p:to>
                                    </p:set>
                                    <p:animEffect filter="dissolve" transition="in">
                                      <p:cBhvr>
                                        <p:cTn id="7" dur="2000"/>
                                        <p:tgtEl>
                                          <p:spTgt spid="520"/>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510"/>
                                        </p:tgtEl>
                                        <p:attrNameLst>
                                          <p:attrName>style.visibility</p:attrName>
                                        </p:attrNameLst>
                                      </p:cBhvr>
                                      <p:to>
                                        <p:strVal val="visible"/>
                                      </p:to>
                                    </p:set>
                                    <p:animEffect filter="dissolve" transition="in">
                                      <p:cBhvr>
                                        <p:cTn id="12" dur="2000"/>
                                        <p:tgtEl>
                                          <p:spTgt spid="510"/>
                                        </p:tgtEl>
                                      </p:cBhvr>
                                    </p:animEffect>
                                  </p:childTnLst>
                                </p:cTn>
                              </p:par>
                            </p:childTnLst>
                          </p:cTn>
                        </p:par>
                        <p:par>
                          <p:cTn id="13" fill="hold">
                            <p:stCondLst>
                              <p:cond delay="2000"/>
                            </p:stCondLst>
                            <p:childTnLst>
                              <p:par>
                                <p:cTn id="14" presetClass="entr" nodeType="afterEffect" presetID="9" grpId="3" fill="hold">
                                  <p:stCondLst>
                                    <p:cond delay="0"/>
                                  </p:stCondLst>
                                  <p:iterate type="el" backwards="0">
                                    <p:tmAbs val="0"/>
                                  </p:iterate>
                                  <p:childTnLst>
                                    <p:set>
                                      <p:cBhvr>
                                        <p:cTn id="15" fill="hold"/>
                                        <p:tgtEl>
                                          <p:spTgt spid="515"/>
                                        </p:tgtEl>
                                        <p:attrNameLst>
                                          <p:attrName>style.visibility</p:attrName>
                                        </p:attrNameLst>
                                      </p:cBhvr>
                                      <p:to>
                                        <p:strVal val="visible"/>
                                      </p:to>
                                    </p:set>
                                    <p:animEffect filter="dissolve" transition="in">
                                      <p:cBhvr>
                                        <p:cTn id="16" dur="2000"/>
                                        <p:tgtEl>
                                          <p:spTgt spid="515"/>
                                        </p:tgtEl>
                                      </p:cBhvr>
                                    </p:animEffect>
                                  </p:childTnLst>
                                </p:cTn>
                              </p:par>
                            </p:childTnLst>
                          </p:cTn>
                        </p:par>
                        <p:par>
                          <p:cTn id="17" fill="hold">
                            <p:stCondLst>
                              <p:cond delay="4000"/>
                            </p:stCondLst>
                            <p:childTnLst>
                              <p:par>
                                <p:cTn id="18" presetClass="entr" nodeType="afterEffect" presetID="9" grpId="4" fill="hold">
                                  <p:stCondLst>
                                    <p:cond delay="0"/>
                                  </p:stCondLst>
                                  <p:iterate type="el" backwards="0">
                                    <p:tmAbs val="0"/>
                                  </p:iterate>
                                  <p:childTnLst>
                                    <p:set>
                                      <p:cBhvr>
                                        <p:cTn id="19" fill="hold"/>
                                        <p:tgtEl>
                                          <p:spTgt spid="517"/>
                                        </p:tgtEl>
                                        <p:attrNameLst>
                                          <p:attrName>style.visibility</p:attrName>
                                        </p:attrNameLst>
                                      </p:cBhvr>
                                      <p:to>
                                        <p:strVal val="visible"/>
                                      </p:to>
                                    </p:set>
                                    <p:animEffect filter="dissolve" transition="in">
                                      <p:cBhvr>
                                        <p:cTn id="20" dur="2000"/>
                                        <p:tgtEl>
                                          <p:spTgt spid="517"/>
                                        </p:tgtEl>
                                      </p:cBhvr>
                                    </p:animEffect>
                                  </p:childTnLst>
                                </p:cTn>
                              </p:par>
                            </p:childTnLst>
                          </p:cTn>
                        </p:par>
                        <p:par>
                          <p:cTn id="21" fill="hold">
                            <p:stCondLst>
                              <p:cond delay="6000"/>
                            </p:stCondLst>
                            <p:childTnLst>
                              <p:par>
                                <p:cTn id="22" presetClass="entr" nodeType="afterEffect" presetID="9" grpId="5" fill="hold">
                                  <p:stCondLst>
                                    <p:cond delay="0"/>
                                  </p:stCondLst>
                                  <p:iterate type="el" backwards="0">
                                    <p:tmAbs val="0"/>
                                  </p:iterate>
                                  <p:childTnLst>
                                    <p:set>
                                      <p:cBhvr>
                                        <p:cTn id="23" fill="hold"/>
                                        <p:tgtEl>
                                          <p:spTgt spid="512"/>
                                        </p:tgtEl>
                                        <p:attrNameLst>
                                          <p:attrName>style.visibility</p:attrName>
                                        </p:attrNameLst>
                                      </p:cBhvr>
                                      <p:to>
                                        <p:strVal val="visible"/>
                                      </p:to>
                                    </p:set>
                                    <p:animEffect filter="dissolve" transition="in">
                                      <p:cBhvr>
                                        <p:cTn id="24" dur="2000"/>
                                        <p:tgtEl>
                                          <p:spTgt spid="512"/>
                                        </p:tgtEl>
                                      </p:cBhvr>
                                    </p:animEffect>
                                  </p:childTnLst>
                                </p:cTn>
                              </p:par>
                            </p:childTnLst>
                          </p:cTn>
                        </p:par>
                        <p:par>
                          <p:cTn id="25" fill="hold">
                            <p:stCondLst>
                              <p:cond delay="8000"/>
                            </p:stCondLst>
                            <p:childTnLst>
                              <p:par>
                                <p:cTn id="26" presetClass="entr" nodeType="afterEffect" presetSubtype="0" presetID="1" grpId="6" fill="hold">
                                  <p:stCondLst>
                                    <p:cond delay="0"/>
                                  </p:stCondLst>
                                  <p:iterate type="el" backwards="0">
                                    <p:tmAbs val="0"/>
                                  </p:iterate>
                                  <p:childTnLst>
                                    <p:set>
                                      <p:cBhvr>
                                        <p:cTn id="27" fill="hold"/>
                                        <p:tgtEl>
                                          <p:spTgt spid="519"/>
                                        </p:tgtEl>
                                        <p:attrNameLst>
                                          <p:attrName>style.visibility</p:attrName>
                                        </p:attrNameLst>
                                      </p:cBhvr>
                                      <p:to>
                                        <p:strVal val="visible"/>
                                      </p:to>
                                    </p:set>
                                  </p:childTnLst>
                                </p:cTn>
                              </p:par>
                            </p:childTnLst>
                          </p:cTn>
                        </p:par>
                        <p:par>
                          <p:cTn id="28" fill="hold">
                            <p:stCondLst>
                              <p:cond delay="8000"/>
                            </p:stCondLst>
                            <p:childTnLst>
                              <p:par>
                                <p:cTn id="29" presetClass="entr" nodeType="afterEffect" presetSubtype="0" presetID="1" grpId="7" fill="hold">
                                  <p:stCondLst>
                                    <p:cond delay="0"/>
                                  </p:stCondLst>
                                  <p:iterate type="el" backwards="0">
                                    <p:tmAbs val="0"/>
                                  </p:iterate>
                                  <p:childTnLst>
                                    <p:set>
                                      <p:cBhvr>
                                        <p:cTn id="30" fill="hold"/>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0" grpId="1"/>
      <p:bldP build="whole" bldLvl="1" animBg="1" rev="0" advAuto="0" spid="514" grpId="7"/>
      <p:bldP build="whole" bldLvl="1" animBg="1" rev="0" advAuto="0" spid="512" grpId="5"/>
      <p:bldP build="whole" bldLvl="1" animBg="1" rev="0" advAuto="0" spid="519" grpId="6"/>
      <p:bldP build="whole" bldLvl="1" animBg="1" rev="0" advAuto="0" spid="515" grpId="3"/>
      <p:bldP build="whole" bldLvl="1" animBg="1" rev="0" advAuto="0" spid="510" grpId="2"/>
      <p:bldP build="whole" bldLvl="1" animBg="1" rev="0" advAuto="0" spid="517" grpId="4"/>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3" name="Regresia Logistică"/>
          <p:cNvSpPr txBox="1"/>
          <p:nvPr>
            <p:ph type="title"/>
          </p:nvPr>
        </p:nvSpPr>
        <p:spPr>
          <a:prstGeom prst="rect">
            <a:avLst/>
          </a:prstGeom>
        </p:spPr>
        <p:txBody>
          <a:bodyPr/>
          <a:lstStyle/>
          <a:p>
            <a:pPr/>
            <a:r>
              <a:t>Regresia Logistică</a:t>
            </a:r>
          </a:p>
        </p:txBody>
      </p:sp>
      <p:sp>
        <p:nvSpPr>
          <p:cNvPr id="524" name="Regresia logistică este o metodă folosită pentru a face predicții atunci când rezultatul are doar două opțiuni (clasificare binară). De exemplu:…"/>
          <p:cNvSpPr txBox="1"/>
          <p:nvPr>
            <p:ph type="body" idx="1"/>
          </p:nvPr>
        </p:nvSpPr>
        <p:spPr>
          <a:prstGeom prst="rect">
            <a:avLst/>
          </a:prstGeom>
        </p:spPr>
        <p:txBody>
          <a:bodyPr/>
          <a:lstStyle/>
          <a:p>
            <a:pPr/>
            <a:r>
              <a:t>Regresia logistică este o metodă folosită pentru a face predicții atunci când rezultatul are doar două opțiuni (clasificare binară). De exemplu:</a:t>
            </a:r>
          </a:p>
          <a:p>
            <a:pPr lvl="1"/>
            <a:r>
              <a:t>„Va trece studentul acest examen?”</a:t>
            </a:r>
          </a:p>
          <a:p>
            <a:pPr lvl="1"/>
            <a:r>
              <a:t>„Este acest email spam sau nu?”</a:t>
            </a:r>
          </a:p>
          <a:p>
            <a:pPr lvl="1"/>
            <a:r>
              <a:t>„Este fain laboratorul so far sau nu?”</a:t>
            </a:r>
          </a:p>
        </p:txBody>
      </p:sp>
      <p:sp>
        <p:nvSpPr>
          <p:cNvPr id="525" name="Regresia logistică prezice probabilități, adică șansa ca un anumit lucru să se întâmple."/>
          <p:cNvSpPr txBox="1"/>
          <p:nvPr/>
        </p:nvSpPr>
        <p:spPr>
          <a:xfrm>
            <a:off x="1594254" y="10042875"/>
            <a:ext cx="2175550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Regresia logistică prezice probabilități, adică șansa ca un anumit lucru să se întâmple.</a:t>
            </a:r>
          </a:p>
        </p:txBody>
      </p:sp>
      <p:pic>
        <p:nvPicPr>
          <p:cNvPr id="526" name="Linie Linie" descr="Linie Linie"/>
          <p:cNvPicPr>
            <a:picLocks noChangeAspect="0"/>
          </p:cNvPicPr>
          <p:nvPr/>
        </p:nvPicPr>
        <p:blipFill>
          <a:blip r:embed="rId2">
            <a:extLst/>
          </a:blip>
          <a:stretch>
            <a:fillRect/>
          </a:stretch>
        </p:blipFill>
        <p:spPr>
          <a:xfrm>
            <a:off x="6224872" y="11094181"/>
            <a:ext cx="5303941" cy="101601"/>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24"/>
                                        </p:tgtEl>
                                        <p:attrNameLst>
                                          <p:attrName>style.visibility</p:attrName>
                                        </p:attrNameLst>
                                      </p:cBhvr>
                                      <p:to>
                                        <p:strVal val="visible"/>
                                      </p:to>
                                    </p:set>
                                    <p:anim calcmode="lin" valueType="num">
                                      <p:cBhvr>
                                        <p:cTn id="7" dur="1000" fill="hold"/>
                                        <p:tgtEl>
                                          <p:spTgt spid="524"/>
                                        </p:tgtEl>
                                        <p:attrNameLst>
                                          <p:attrName>ppt_x</p:attrName>
                                        </p:attrNameLst>
                                      </p:cBhvr>
                                      <p:tavLst>
                                        <p:tav tm="0">
                                          <p:val>
                                            <p:strVal val="0-#ppt_w/2"/>
                                          </p:val>
                                        </p:tav>
                                        <p:tav tm="100000">
                                          <p:val>
                                            <p:strVal val="#ppt_x"/>
                                          </p:val>
                                        </p:tav>
                                      </p:tavLst>
                                    </p:anim>
                                    <p:anim calcmode="lin" valueType="num">
                                      <p:cBhvr>
                                        <p:cTn id="8" dur="1000" fill="hold"/>
                                        <p:tgtEl>
                                          <p:spTgt spid="5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25"/>
                                        </p:tgtEl>
                                        <p:attrNameLst>
                                          <p:attrName>style.visibility</p:attrName>
                                        </p:attrNameLst>
                                      </p:cBhvr>
                                      <p:to>
                                        <p:strVal val="visible"/>
                                      </p:to>
                                    </p:set>
                                    <p:anim calcmode="lin" valueType="num">
                                      <p:cBhvr>
                                        <p:cTn id="13" dur="1000" fill="hold"/>
                                        <p:tgtEl>
                                          <p:spTgt spid="525"/>
                                        </p:tgtEl>
                                        <p:attrNameLst>
                                          <p:attrName>ppt_x</p:attrName>
                                        </p:attrNameLst>
                                      </p:cBhvr>
                                      <p:tavLst>
                                        <p:tav tm="0">
                                          <p:val>
                                            <p:strVal val="0-#ppt_w/2"/>
                                          </p:val>
                                        </p:tav>
                                        <p:tav tm="100000">
                                          <p:val>
                                            <p:strVal val="#ppt_x"/>
                                          </p:val>
                                        </p:tav>
                                      </p:tavLst>
                                    </p:anim>
                                    <p:anim calcmode="lin" valueType="num">
                                      <p:cBhvr>
                                        <p:cTn id="14" dur="1000" fill="hold"/>
                                        <p:tgtEl>
                                          <p:spTgt spid="525"/>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526"/>
                                        </p:tgtEl>
                                        <p:attrNameLst>
                                          <p:attrName>style.visibility</p:attrName>
                                        </p:attrNameLst>
                                      </p:cBhvr>
                                      <p:to>
                                        <p:strVal val="visible"/>
                                      </p:to>
                                    </p:set>
                                    <p:animEffect filter="dissolve" transition="in">
                                      <p:cBhvr>
                                        <p:cTn id="18" dur="2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4" grpId="1"/>
      <p:bldP build="whole" bldLvl="1" animBg="1" rev="0" advAuto="0" spid="525" grpId="2"/>
      <p:bldP build="whole" bldLvl="1" animBg="1" rev="0" advAuto="0" spid="526" grpId="3"/>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9" name="Regresia Logistică în Scikit-Learn"/>
          <p:cNvSpPr txBox="1"/>
          <p:nvPr>
            <p:ph type="title"/>
          </p:nvPr>
        </p:nvSpPr>
        <p:spPr>
          <a:prstGeom prst="rect">
            <a:avLst/>
          </a:prstGeom>
        </p:spPr>
        <p:txBody>
          <a:bodyPr/>
          <a:lstStyle/>
          <a:p>
            <a:pPr/>
            <a:r>
              <a:t>Regresia Logistică în Scikit-Learn</a:t>
            </a:r>
          </a:p>
        </p:txBody>
      </p:sp>
      <p:pic>
        <p:nvPicPr>
          <p:cNvPr id="530" name="Captură de ecran din 2024-10-07 la 11.57.10.png" descr="Captură de ecran din 2024-10-07 la 11.57.10.png"/>
          <p:cNvPicPr>
            <a:picLocks noChangeAspect="1"/>
          </p:cNvPicPr>
          <p:nvPr/>
        </p:nvPicPr>
        <p:blipFill>
          <a:blip r:embed="rId2">
            <a:extLst/>
          </a:blip>
          <a:srcRect l="0" t="0" r="0" b="0"/>
          <a:stretch>
            <a:fillRect/>
          </a:stretch>
        </p:blipFill>
        <p:spPr>
          <a:xfrm>
            <a:off x="6504992" y="3836332"/>
            <a:ext cx="10452866" cy="9817608"/>
          </a:xfrm>
          <a:prstGeom prst="rect">
            <a:avLst/>
          </a:prstGeom>
          <a:ln w="12700">
            <a:miter lim="400000"/>
          </a:ln>
        </p:spPr>
      </p:pic>
      <p:sp>
        <p:nvSpPr>
          <p:cNvPr id="531" name="Ex: Vom clasifica dacă un anumit exemplu din setul de date Iris este de tip Setosa (clasa 0) sau nu (clasele 1 și 2)"/>
          <p:cNvSpPr txBox="1"/>
          <p:nvPr/>
        </p:nvSpPr>
        <p:spPr>
          <a:xfrm>
            <a:off x="601664" y="2398899"/>
            <a:ext cx="23951033"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 Vom clasifica dacă un anumit exemplu din setul de date Iris este de tip Setosa (clasa 0) sau nu (clasele 1 și 2)</a:t>
            </a:r>
          </a:p>
        </p:txBody>
      </p:sp>
      <p:sp>
        <p:nvSpPr>
          <p:cNvPr id="532" name="X_train, X_test, y_train, y_test = train_test_split(X, y_binary, test_size=0.3, random_state=42)"/>
          <p:cNvSpPr txBox="1"/>
          <p:nvPr/>
        </p:nvSpPr>
        <p:spPr>
          <a:xfrm>
            <a:off x="7549794" y="8390832"/>
            <a:ext cx="9284413" cy="108306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2200">
                <a:latin typeface="Arial"/>
                <a:ea typeface="Arial"/>
                <a:cs typeface="Arial"/>
                <a:sym typeface="Arial"/>
              </a:defRPr>
            </a:pPr>
            <a:r>
              <a:t>X_train, X_test, y_train, y_test = train_test_split(X, y_binary, test_size=</a:t>
            </a:r>
            <a:r>
              <a:rPr>
                <a:solidFill>
                  <a:srgbClr val="116644"/>
                </a:solidFill>
              </a:rPr>
              <a:t>0.3</a:t>
            </a:r>
            <a:r>
              <a:t>, random_state=</a:t>
            </a:r>
            <a:r>
              <a:rPr>
                <a:solidFill>
                  <a:srgbClr val="116644"/>
                </a:solidFill>
              </a:rPr>
              <a:t>42</a:t>
            </a:r>
            <a:r>
              <a:t>)</a:t>
            </a:r>
          </a:p>
        </p:txBody>
      </p:sp>
      <p:pic>
        <p:nvPicPr>
          <p:cNvPr id="533" name="Oval Oval" descr="Oval Oval"/>
          <p:cNvPicPr>
            <a:picLocks noChangeAspect="0"/>
          </p:cNvPicPr>
          <p:nvPr/>
        </p:nvPicPr>
        <p:blipFill>
          <a:blip r:embed="rId3">
            <a:extLst/>
          </a:blip>
          <a:stretch>
            <a:fillRect/>
          </a:stretch>
        </p:blipFill>
        <p:spPr>
          <a:xfrm>
            <a:off x="7436171" y="5417047"/>
            <a:ext cx="4826265" cy="1336910"/>
          </a:xfrm>
          <a:prstGeom prst="rect">
            <a:avLst/>
          </a:prstGeom>
        </p:spPr>
      </p:pic>
      <p:sp>
        <p:nvSpPr>
          <p:cNvPr id="535" name="Încărcarea setului de date în memorie"/>
          <p:cNvSpPr txBox="1"/>
          <p:nvPr/>
        </p:nvSpPr>
        <p:spPr>
          <a:xfrm>
            <a:off x="12306734" y="5601733"/>
            <a:ext cx="4333024"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Încărcarea setului de date în memorie</a:t>
            </a:r>
          </a:p>
        </p:txBody>
      </p:sp>
      <p:pic>
        <p:nvPicPr>
          <p:cNvPr id="536" name="Oval Oval" descr="Oval Oval"/>
          <p:cNvPicPr>
            <a:picLocks noChangeAspect="0"/>
          </p:cNvPicPr>
          <p:nvPr/>
        </p:nvPicPr>
        <p:blipFill>
          <a:blip r:embed="rId4">
            <a:extLst/>
          </a:blip>
          <a:stretch>
            <a:fillRect/>
          </a:stretch>
        </p:blipFill>
        <p:spPr>
          <a:xfrm>
            <a:off x="7226065" y="6461724"/>
            <a:ext cx="3508201" cy="1336911"/>
          </a:xfrm>
          <a:prstGeom prst="rect">
            <a:avLst/>
          </a:prstGeom>
        </p:spPr>
      </p:pic>
      <p:sp>
        <p:nvSpPr>
          <p:cNvPr id="538" name="Text"/>
          <p:cNvSpPr txBox="1"/>
          <p:nvPr/>
        </p:nvSpPr>
        <p:spPr>
          <a:xfrm>
            <a:off x="24873295" y="4611738"/>
            <a:ext cx="1268782" cy="934213"/>
          </a:xfrm>
          <a:prstGeom prst="rect">
            <a:avLst/>
          </a:prstGeom>
          <a:ln w="12700">
            <a:miter lim="400000"/>
          </a:ln>
        </p:spPr>
        <p:txBody>
          <a:bodyPr wrap="none" lIns="50800" tIns="50800" rIns="50800" bIns="50800" anchor="ctr">
            <a:spAutoFit/>
          </a:bodyPr>
          <a:lstStyle/>
          <a:p>
            <a:pPr/>
          </a:p>
        </p:txBody>
      </p:sp>
      <p:sp>
        <p:nvSpPr>
          <p:cNvPr id="539" name="Obținere caracteristici (X) si eticheta (y)"/>
          <p:cNvSpPr txBox="1"/>
          <p:nvPr/>
        </p:nvSpPr>
        <p:spPr>
          <a:xfrm>
            <a:off x="11122766" y="6646411"/>
            <a:ext cx="4333024" cy="9675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Obținere caracteristici (X) si eticheta (y)</a:t>
            </a:r>
          </a:p>
        </p:txBody>
      </p:sp>
      <p:pic>
        <p:nvPicPr>
          <p:cNvPr id="540" name="Oval Oval" descr="Oval Oval"/>
          <p:cNvPicPr>
            <a:picLocks noChangeAspect="0"/>
          </p:cNvPicPr>
          <p:nvPr/>
        </p:nvPicPr>
        <p:blipFill>
          <a:blip r:embed="rId5">
            <a:extLst/>
          </a:blip>
          <a:stretch>
            <a:fillRect/>
          </a:stretch>
        </p:blipFill>
        <p:spPr>
          <a:xfrm>
            <a:off x="7446706" y="7590721"/>
            <a:ext cx="5414005" cy="934213"/>
          </a:xfrm>
          <a:prstGeom prst="rect">
            <a:avLst/>
          </a:prstGeom>
        </p:spPr>
      </p:pic>
      <p:sp>
        <p:nvSpPr>
          <p:cNvPr id="542" name="Marcare clasa Setosa ca True si celelalte ca False"/>
          <p:cNvSpPr txBox="1"/>
          <p:nvPr/>
        </p:nvSpPr>
        <p:spPr>
          <a:xfrm>
            <a:off x="12841655" y="7386778"/>
            <a:ext cx="4333025"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Marcare clasa Setosa ca True si celelalte ca False</a:t>
            </a:r>
          </a:p>
        </p:txBody>
      </p:sp>
      <p:pic>
        <p:nvPicPr>
          <p:cNvPr id="543" name="Oval Oval" descr="Oval Oval"/>
          <p:cNvPicPr>
            <a:picLocks noChangeAspect="0"/>
          </p:cNvPicPr>
          <p:nvPr/>
        </p:nvPicPr>
        <p:blipFill>
          <a:blip r:embed="rId6">
            <a:extLst/>
          </a:blip>
          <a:stretch>
            <a:fillRect/>
          </a:stretch>
        </p:blipFill>
        <p:spPr>
          <a:xfrm>
            <a:off x="7128328" y="8126028"/>
            <a:ext cx="8661576" cy="1238105"/>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33"/>
                                        </p:tgtEl>
                                        <p:attrNameLst>
                                          <p:attrName>style.visibility</p:attrName>
                                        </p:attrNameLst>
                                      </p:cBhvr>
                                      <p:to>
                                        <p:strVal val="visible"/>
                                      </p:to>
                                    </p:set>
                                    <p:animEffect filter="dissolve" transition="in">
                                      <p:cBhvr>
                                        <p:cTn id="7" dur="2000"/>
                                        <p:tgtEl>
                                          <p:spTgt spid="533"/>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535"/>
                                        </p:tgtEl>
                                        <p:attrNameLst>
                                          <p:attrName>style.visibility</p:attrName>
                                        </p:attrNameLst>
                                      </p:cBhvr>
                                      <p:to>
                                        <p:strVal val="visible"/>
                                      </p:to>
                                    </p:set>
                                    <p:anim calcmode="lin" valueType="num">
                                      <p:cBhvr>
                                        <p:cTn id="11" dur="1000" fill="hold"/>
                                        <p:tgtEl>
                                          <p:spTgt spid="535"/>
                                        </p:tgtEl>
                                        <p:attrNameLst>
                                          <p:attrName>ppt_x</p:attrName>
                                        </p:attrNameLst>
                                      </p:cBhvr>
                                      <p:tavLst>
                                        <p:tav tm="0">
                                          <p:val>
                                            <p:strVal val="0-#ppt_w/2"/>
                                          </p:val>
                                        </p:tav>
                                        <p:tav tm="100000">
                                          <p:val>
                                            <p:strVal val="#ppt_x"/>
                                          </p:val>
                                        </p:tav>
                                      </p:tavLst>
                                    </p:anim>
                                    <p:anim calcmode="lin" valueType="num">
                                      <p:cBhvr>
                                        <p:cTn id="12" dur="1000" fill="hold"/>
                                        <p:tgtEl>
                                          <p:spTgt spid="53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ID="9" grpId="3" fill="hold">
                                  <p:stCondLst>
                                    <p:cond delay="0"/>
                                  </p:stCondLst>
                                  <p:iterate type="el" backwards="0">
                                    <p:tmAbs val="0"/>
                                  </p:iterate>
                                  <p:childTnLst>
                                    <p:set>
                                      <p:cBhvr>
                                        <p:cTn id="16" fill="hold"/>
                                        <p:tgtEl>
                                          <p:spTgt spid="536"/>
                                        </p:tgtEl>
                                        <p:attrNameLst>
                                          <p:attrName>style.visibility</p:attrName>
                                        </p:attrNameLst>
                                      </p:cBhvr>
                                      <p:to>
                                        <p:strVal val="visible"/>
                                      </p:to>
                                    </p:set>
                                    <p:animEffect filter="dissolve" transition="in">
                                      <p:cBhvr>
                                        <p:cTn id="17" dur="2000"/>
                                        <p:tgtEl>
                                          <p:spTgt spid="536"/>
                                        </p:tgtEl>
                                      </p:cBhvr>
                                    </p:animEffect>
                                  </p:childTnLst>
                                </p:cTn>
                              </p:par>
                            </p:childTnLst>
                          </p:cTn>
                        </p:par>
                        <p:par>
                          <p:cTn id="18" fill="hold">
                            <p:stCondLst>
                              <p:cond delay="2000"/>
                            </p:stCondLst>
                            <p:childTnLst>
                              <p:par>
                                <p:cTn id="19" presetClass="entr" nodeType="afterEffect" presetSubtype="8" presetID="2" grpId="4" fill="hold">
                                  <p:stCondLst>
                                    <p:cond delay="0"/>
                                  </p:stCondLst>
                                  <p:iterate type="el" backwards="0">
                                    <p:tmAbs val="0"/>
                                  </p:iterate>
                                  <p:childTnLst>
                                    <p:set>
                                      <p:cBhvr>
                                        <p:cTn id="20" fill="hold"/>
                                        <p:tgtEl>
                                          <p:spTgt spid="539"/>
                                        </p:tgtEl>
                                        <p:attrNameLst>
                                          <p:attrName>style.visibility</p:attrName>
                                        </p:attrNameLst>
                                      </p:cBhvr>
                                      <p:to>
                                        <p:strVal val="visible"/>
                                      </p:to>
                                    </p:set>
                                    <p:anim calcmode="lin" valueType="num">
                                      <p:cBhvr>
                                        <p:cTn id="21" dur="1000" fill="hold"/>
                                        <p:tgtEl>
                                          <p:spTgt spid="539"/>
                                        </p:tgtEl>
                                        <p:attrNameLst>
                                          <p:attrName>ppt_x</p:attrName>
                                        </p:attrNameLst>
                                      </p:cBhvr>
                                      <p:tavLst>
                                        <p:tav tm="0">
                                          <p:val>
                                            <p:strVal val="0-#ppt_w/2"/>
                                          </p:val>
                                        </p:tav>
                                        <p:tav tm="100000">
                                          <p:val>
                                            <p:strVal val="#ppt_x"/>
                                          </p:val>
                                        </p:tav>
                                      </p:tavLst>
                                    </p:anim>
                                    <p:anim calcmode="lin" valueType="num">
                                      <p:cBhvr>
                                        <p:cTn id="22" dur="1000" fill="hold"/>
                                        <p:tgtEl>
                                          <p:spTgt spid="53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540"/>
                                        </p:tgtEl>
                                        <p:attrNameLst>
                                          <p:attrName>style.visibility</p:attrName>
                                        </p:attrNameLst>
                                      </p:cBhvr>
                                      <p:to>
                                        <p:strVal val="visible"/>
                                      </p:to>
                                    </p:set>
                                    <p:animEffect filter="dissolve" transition="in">
                                      <p:cBhvr>
                                        <p:cTn id="27" dur="2000"/>
                                        <p:tgtEl>
                                          <p:spTgt spid="540"/>
                                        </p:tgtEl>
                                      </p:cBhvr>
                                    </p:animEffect>
                                  </p:childTnLst>
                                </p:cTn>
                              </p:par>
                            </p:childTnLst>
                          </p:cTn>
                        </p:par>
                        <p:par>
                          <p:cTn id="28" fill="hold">
                            <p:stCondLst>
                              <p:cond delay="2000"/>
                            </p:stCondLst>
                            <p:childTnLst>
                              <p:par>
                                <p:cTn id="29" presetClass="entr" nodeType="afterEffect" presetSubtype="8" presetID="2" grpId="6" fill="hold">
                                  <p:stCondLst>
                                    <p:cond delay="0"/>
                                  </p:stCondLst>
                                  <p:iterate type="el" backwards="0">
                                    <p:tmAbs val="0"/>
                                  </p:iterate>
                                  <p:childTnLst>
                                    <p:set>
                                      <p:cBhvr>
                                        <p:cTn id="30" fill="hold"/>
                                        <p:tgtEl>
                                          <p:spTgt spid="542"/>
                                        </p:tgtEl>
                                        <p:attrNameLst>
                                          <p:attrName>style.visibility</p:attrName>
                                        </p:attrNameLst>
                                      </p:cBhvr>
                                      <p:to>
                                        <p:strVal val="visible"/>
                                      </p:to>
                                    </p:set>
                                    <p:anim calcmode="lin" valueType="num">
                                      <p:cBhvr>
                                        <p:cTn id="31" dur="1000" fill="hold"/>
                                        <p:tgtEl>
                                          <p:spTgt spid="542"/>
                                        </p:tgtEl>
                                        <p:attrNameLst>
                                          <p:attrName>ppt_x</p:attrName>
                                        </p:attrNameLst>
                                      </p:cBhvr>
                                      <p:tavLst>
                                        <p:tav tm="0">
                                          <p:val>
                                            <p:strVal val="0-#ppt_w/2"/>
                                          </p:val>
                                        </p:tav>
                                        <p:tav tm="100000">
                                          <p:val>
                                            <p:strVal val="#ppt_x"/>
                                          </p:val>
                                        </p:tav>
                                      </p:tavLst>
                                    </p:anim>
                                    <p:anim calcmode="lin" valueType="num">
                                      <p:cBhvr>
                                        <p:cTn id="32" dur="1000" fill="hold"/>
                                        <p:tgtEl>
                                          <p:spTgt spid="54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ID="9" grpId="7" fill="hold">
                                  <p:stCondLst>
                                    <p:cond delay="0"/>
                                  </p:stCondLst>
                                  <p:iterate type="el" backwards="0">
                                    <p:tmAbs val="0"/>
                                  </p:iterate>
                                  <p:childTnLst>
                                    <p:set>
                                      <p:cBhvr>
                                        <p:cTn id="36" fill="hold"/>
                                        <p:tgtEl>
                                          <p:spTgt spid="543"/>
                                        </p:tgtEl>
                                        <p:attrNameLst>
                                          <p:attrName>style.visibility</p:attrName>
                                        </p:attrNameLst>
                                      </p:cBhvr>
                                      <p:to>
                                        <p:strVal val="visible"/>
                                      </p:to>
                                    </p:set>
                                    <p:animEffect filter="dissolve" transition="in">
                                      <p:cBhvr>
                                        <p:cTn id="37" dur="2000"/>
                                        <p:tgtEl>
                                          <p:spTgt spid="5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9" grpId="4"/>
      <p:bldP build="whole" bldLvl="1" animBg="1" rev="0" advAuto="0" spid="540" grpId="5"/>
      <p:bldP build="whole" bldLvl="1" animBg="1" rev="0" advAuto="0" spid="543" grpId="7"/>
      <p:bldP build="whole" bldLvl="1" animBg="1" rev="0" advAuto="0" spid="535" grpId="2"/>
      <p:bldP build="whole" bldLvl="1" animBg="1" rev="0" advAuto="0" spid="536" grpId="3"/>
      <p:bldP build="whole" bldLvl="1" animBg="1" rev="0" advAuto="0" spid="533" grpId="1"/>
      <p:bldP build="whole" bldLvl="1" animBg="1" rev="0" advAuto="0" spid="542" grpId="6"/>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6" name="Regresia Logistică în Scikit-Learn"/>
          <p:cNvSpPr txBox="1"/>
          <p:nvPr>
            <p:ph type="title"/>
          </p:nvPr>
        </p:nvSpPr>
        <p:spPr>
          <a:prstGeom prst="rect">
            <a:avLst/>
          </a:prstGeom>
        </p:spPr>
        <p:txBody>
          <a:bodyPr/>
          <a:lstStyle/>
          <a:p>
            <a:pPr/>
            <a:r>
              <a:t>Regresia Logistică în Scikit-Learn</a:t>
            </a:r>
          </a:p>
        </p:txBody>
      </p:sp>
      <p:sp>
        <p:nvSpPr>
          <p:cNvPr id="547" name="Ex: Vom clasifica dacă un anumit exemplu din setul de date Iris este de tip Setosa (clasa 0) sau nu (clasele 1 și 2)"/>
          <p:cNvSpPr txBox="1"/>
          <p:nvPr/>
        </p:nvSpPr>
        <p:spPr>
          <a:xfrm>
            <a:off x="601664" y="2398899"/>
            <a:ext cx="23951033"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 Vom clasifica dacă un anumit exemplu din setul de date Iris este de tip Setosa (clasa 0) sau nu (clasele 1 și 2)</a:t>
            </a:r>
          </a:p>
        </p:txBody>
      </p:sp>
      <p:sp>
        <p:nvSpPr>
          <p:cNvPr id="548" name="X_train, X_test, y_train, y_test = train_test_split(X, y_binary, test_size=0.3, random_state=42)"/>
          <p:cNvSpPr txBox="1"/>
          <p:nvPr/>
        </p:nvSpPr>
        <p:spPr>
          <a:xfrm>
            <a:off x="3448337" y="5052329"/>
            <a:ext cx="18818047" cy="236599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5200">
                <a:latin typeface="Arial"/>
                <a:ea typeface="Arial"/>
                <a:cs typeface="Arial"/>
                <a:sym typeface="Arial"/>
              </a:defRPr>
            </a:pPr>
            <a:r>
              <a:t>X_train, X_test, y_train, y_test = train_test_split(X, y_binary, test_size=</a:t>
            </a:r>
            <a:r>
              <a:rPr>
                <a:solidFill>
                  <a:srgbClr val="116644"/>
                </a:solidFill>
              </a:rPr>
              <a:t>0.3</a:t>
            </a:r>
            <a:r>
              <a:t>, random_state=</a:t>
            </a:r>
            <a:r>
              <a:rPr>
                <a:solidFill>
                  <a:srgbClr val="116644"/>
                </a:solidFill>
              </a:rPr>
              <a:t>42</a:t>
            </a:r>
            <a:r>
              <a:t>)</a:t>
            </a:r>
          </a:p>
        </p:txBody>
      </p:sp>
      <p:sp>
        <p:nvSpPr>
          <p:cNvPr id="549" name="Text"/>
          <p:cNvSpPr txBox="1"/>
          <p:nvPr/>
        </p:nvSpPr>
        <p:spPr>
          <a:xfrm>
            <a:off x="24873295" y="4611738"/>
            <a:ext cx="1268782" cy="934213"/>
          </a:xfrm>
          <a:prstGeom prst="rect">
            <a:avLst/>
          </a:prstGeom>
          <a:ln w="12700">
            <a:miter lim="400000"/>
          </a:ln>
        </p:spPr>
        <p:txBody>
          <a:bodyPr wrap="none" lIns="50800" tIns="50800" rIns="50800" bIns="50800" anchor="ctr">
            <a:spAutoFit/>
          </a:bodyPr>
          <a:lstStyle/>
          <a:p>
            <a:pPr/>
          </a:p>
        </p:txBody>
      </p:sp>
      <p:sp>
        <p:nvSpPr>
          <p:cNvPr id="550" name="train_test_split împarte setul de date original (X și y) într-un set de antrenare și unul de testare."/>
          <p:cNvSpPr txBox="1"/>
          <p:nvPr/>
        </p:nvSpPr>
        <p:spPr>
          <a:xfrm>
            <a:off x="665359" y="7815601"/>
            <a:ext cx="24384001" cy="87109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100"/>
            </a:lvl1pPr>
          </a:lstStyle>
          <a:p>
            <a:pPr/>
            <a:r>
              <a:t>train_test_split împarte setul de date original (X și y) într-un set de antrenare și unul de testare.</a:t>
            </a:r>
          </a:p>
        </p:txBody>
      </p:sp>
      <p:pic>
        <p:nvPicPr>
          <p:cNvPr id="551" name="Linie Linie" descr="Linie Linie"/>
          <p:cNvPicPr>
            <a:picLocks noChangeAspect="0"/>
          </p:cNvPicPr>
          <p:nvPr/>
        </p:nvPicPr>
        <p:blipFill>
          <a:blip r:embed="rId2">
            <a:extLst/>
          </a:blip>
          <a:stretch>
            <a:fillRect/>
          </a:stretch>
        </p:blipFill>
        <p:spPr>
          <a:xfrm rot="21517549">
            <a:off x="13209117" y="8723601"/>
            <a:ext cx="9421077" cy="101601"/>
          </a:xfrm>
          <a:prstGeom prst="rect">
            <a:avLst/>
          </a:prstGeom>
        </p:spPr>
      </p:pic>
      <p:sp>
        <p:nvSpPr>
          <p:cNvPr id="553" name="De exemplu, aici, setul de testare va fi 30% din setul original, iar cel de antrenare va fi 70%."/>
          <p:cNvSpPr txBox="1"/>
          <p:nvPr/>
        </p:nvSpPr>
        <p:spPr>
          <a:xfrm>
            <a:off x="582936" y="9218838"/>
            <a:ext cx="2281443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De exemplu, aici, setul de testare va fi 30% din setul original, iar cel de antrenare va fi 70%.</a:t>
            </a:r>
          </a:p>
        </p:txBody>
      </p:sp>
      <p:pic>
        <p:nvPicPr>
          <p:cNvPr id="554" name="Oval Oval" descr="Oval Oval"/>
          <p:cNvPicPr>
            <a:picLocks noChangeAspect="0"/>
          </p:cNvPicPr>
          <p:nvPr/>
        </p:nvPicPr>
        <p:blipFill>
          <a:blip r:embed="rId3">
            <a:extLst/>
          </a:blip>
          <a:stretch>
            <a:fillRect/>
          </a:stretch>
        </p:blipFill>
        <p:spPr>
          <a:xfrm>
            <a:off x="7511084" y="5562227"/>
            <a:ext cx="5873136" cy="1346201"/>
          </a:xfrm>
          <a:prstGeom prst="rect">
            <a:avLst/>
          </a:prstGeom>
        </p:spPr>
      </p:pic>
      <p:sp>
        <p:nvSpPr>
          <p:cNvPr id="556" name="random_state ne ajută la reproductibilitatea codului. Astfel, când rulăm codul de mai multe…"/>
          <p:cNvSpPr txBox="1"/>
          <p:nvPr/>
        </p:nvSpPr>
        <p:spPr>
          <a:xfrm>
            <a:off x="654304" y="10685194"/>
            <a:ext cx="23075393" cy="19939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random_state ne ajută la reproductibilitatea codului. Astfel, când rulăm codul de mai multe</a:t>
            </a:r>
          </a:p>
          <a:p>
            <a:pPr/>
            <a:r>
              <a:t>ori, obținem aceleași rezultate</a:t>
            </a:r>
          </a:p>
        </p:txBody>
      </p:sp>
      <p:pic>
        <p:nvPicPr>
          <p:cNvPr id="557" name="Linie Linie" descr="Linie Linie"/>
          <p:cNvPicPr>
            <a:picLocks noChangeAspect="0"/>
          </p:cNvPicPr>
          <p:nvPr/>
        </p:nvPicPr>
        <p:blipFill>
          <a:blip r:embed="rId4">
            <a:extLst/>
          </a:blip>
          <a:stretch>
            <a:fillRect/>
          </a:stretch>
        </p:blipFill>
        <p:spPr>
          <a:xfrm rot="21521082">
            <a:off x="1766763" y="12708347"/>
            <a:ext cx="6319509"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550"/>
                                        </p:tgtEl>
                                        <p:attrNameLst>
                                          <p:attrName>style.visibility</p:attrName>
                                        </p:attrNameLst>
                                      </p:cBhvr>
                                      <p:to>
                                        <p:strVal val="visible"/>
                                      </p:to>
                                    </p:set>
                                    <p:anim calcmode="lin" valueType="num">
                                      <p:cBhvr>
                                        <p:cTn id="7" dur="1000" fill="hold"/>
                                        <p:tgtEl>
                                          <p:spTgt spid="550"/>
                                        </p:tgtEl>
                                        <p:attrNameLst>
                                          <p:attrName>ppt_x</p:attrName>
                                        </p:attrNameLst>
                                      </p:cBhvr>
                                      <p:tavLst>
                                        <p:tav tm="0">
                                          <p:val>
                                            <p:strVal val="0-#ppt_w/2"/>
                                          </p:val>
                                        </p:tav>
                                        <p:tav tm="100000">
                                          <p:val>
                                            <p:strVal val="#ppt_x"/>
                                          </p:val>
                                        </p:tav>
                                      </p:tavLst>
                                    </p:anim>
                                    <p:anim calcmode="lin" valueType="num">
                                      <p:cBhvr>
                                        <p:cTn id="8" dur="1000" fill="hold"/>
                                        <p:tgtEl>
                                          <p:spTgt spid="55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551"/>
                                        </p:tgtEl>
                                        <p:attrNameLst>
                                          <p:attrName>style.visibility</p:attrName>
                                        </p:attrNameLst>
                                      </p:cBhvr>
                                      <p:to>
                                        <p:strVal val="visible"/>
                                      </p:to>
                                    </p:set>
                                    <p:animEffect filter="dissolve" transition="in">
                                      <p:cBhvr>
                                        <p:cTn id="12" dur="2000"/>
                                        <p:tgtEl>
                                          <p:spTgt spid="551"/>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553"/>
                                        </p:tgtEl>
                                        <p:attrNameLst>
                                          <p:attrName>style.visibility</p:attrName>
                                        </p:attrNameLst>
                                      </p:cBhvr>
                                      <p:to>
                                        <p:strVal val="visible"/>
                                      </p:to>
                                    </p:set>
                                    <p:anim calcmode="lin" valueType="num">
                                      <p:cBhvr>
                                        <p:cTn id="17" dur="1000" fill="hold"/>
                                        <p:tgtEl>
                                          <p:spTgt spid="553"/>
                                        </p:tgtEl>
                                        <p:attrNameLst>
                                          <p:attrName>ppt_x</p:attrName>
                                        </p:attrNameLst>
                                      </p:cBhvr>
                                      <p:tavLst>
                                        <p:tav tm="0">
                                          <p:val>
                                            <p:strVal val="0-#ppt_w/2"/>
                                          </p:val>
                                        </p:tav>
                                        <p:tav tm="100000">
                                          <p:val>
                                            <p:strVal val="#ppt_x"/>
                                          </p:val>
                                        </p:tav>
                                      </p:tavLst>
                                    </p:anim>
                                    <p:anim calcmode="lin" valueType="num">
                                      <p:cBhvr>
                                        <p:cTn id="18" dur="1000" fill="hold"/>
                                        <p:tgtEl>
                                          <p:spTgt spid="55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ID="9" grpId="4" fill="hold">
                                  <p:stCondLst>
                                    <p:cond delay="0"/>
                                  </p:stCondLst>
                                  <p:iterate type="el" backwards="0">
                                    <p:tmAbs val="0"/>
                                  </p:iterate>
                                  <p:childTnLst>
                                    <p:set>
                                      <p:cBhvr>
                                        <p:cTn id="22" fill="hold"/>
                                        <p:tgtEl>
                                          <p:spTgt spid="554"/>
                                        </p:tgtEl>
                                        <p:attrNameLst>
                                          <p:attrName>style.visibility</p:attrName>
                                        </p:attrNameLst>
                                      </p:cBhvr>
                                      <p:to>
                                        <p:strVal val="visible"/>
                                      </p:to>
                                    </p:set>
                                    <p:animEffect filter="dissolve" transition="in">
                                      <p:cBhvr>
                                        <p:cTn id="23" dur="2000"/>
                                        <p:tgtEl>
                                          <p:spTgt spid="554"/>
                                        </p:tgtEl>
                                      </p:cBhvr>
                                    </p:animEffect>
                                  </p:childTnLst>
                                </p:cTn>
                              </p:par>
                            </p:childTnLst>
                          </p:cTn>
                        </p:par>
                        <p:par>
                          <p:cTn id="24" fill="hold">
                            <p:stCondLst>
                              <p:cond delay="2000"/>
                            </p:stCondLst>
                            <p:childTnLst>
                              <p:par>
                                <p:cTn id="25" presetClass="entr" nodeType="afterEffect" presetSubtype="8" presetID="2" grpId="5" fill="hold">
                                  <p:stCondLst>
                                    <p:cond delay="0"/>
                                  </p:stCondLst>
                                  <p:iterate type="el" backwards="0">
                                    <p:tmAbs val="0"/>
                                  </p:iterate>
                                  <p:childTnLst>
                                    <p:set>
                                      <p:cBhvr>
                                        <p:cTn id="26" fill="hold"/>
                                        <p:tgtEl>
                                          <p:spTgt spid="556"/>
                                        </p:tgtEl>
                                        <p:attrNameLst>
                                          <p:attrName>style.visibility</p:attrName>
                                        </p:attrNameLst>
                                      </p:cBhvr>
                                      <p:to>
                                        <p:strVal val="visible"/>
                                      </p:to>
                                    </p:set>
                                    <p:anim calcmode="lin" valueType="num">
                                      <p:cBhvr>
                                        <p:cTn id="27" dur="1000" fill="hold"/>
                                        <p:tgtEl>
                                          <p:spTgt spid="556"/>
                                        </p:tgtEl>
                                        <p:attrNameLst>
                                          <p:attrName>ppt_x</p:attrName>
                                        </p:attrNameLst>
                                      </p:cBhvr>
                                      <p:tavLst>
                                        <p:tav tm="0">
                                          <p:val>
                                            <p:strVal val="0-#ppt_w/2"/>
                                          </p:val>
                                        </p:tav>
                                        <p:tav tm="100000">
                                          <p:val>
                                            <p:strVal val="#ppt_x"/>
                                          </p:val>
                                        </p:tav>
                                      </p:tavLst>
                                    </p:anim>
                                    <p:anim calcmode="lin" valueType="num">
                                      <p:cBhvr>
                                        <p:cTn id="28" dur="1000" fill="hold"/>
                                        <p:tgtEl>
                                          <p:spTgt spid="556"/>
                                        </p:tgtEl>
                                        <p:attrNameLst>
                                          <p:attrName>ppt_y</p:attrName>
                                        </p:attrNameLst>
                                      </p:cBhvr>
                                      <p:tavLst>
                                        <p:tav tm="0">
                                          <p:val>
                                            <p:strVal val="#ppt_y"/>
                                          </p:val>
                                        </p:tav>
                                        <p:tav tm="100000">
                                          <p:val>
                                            <p:strVal val="#ppt_y"/>
                                          </p:val>
                                        </p:tav>
                                      </p:tavLst>
                                    </p:anim>
                                  </p:childTnLst>
                                </p:cTn>
                              </p:par>
                            </p:childTnLst>
                          </p:cTn>
                        </p:par>
                        <p:par>
                          <p:cTn id="29" fill="hold">
                            <p:stCondLst>
                              <p:cond delay="3000"/>
                            </p:stCondLst>
                            <p:childTnLst>
                              <p:par>
                                <p:cTn id="30" presetClass="entr" nodeType="afterEffect" presetID="9" grpId="6" fill="hold">
                                  <p:stCondLst>
                                    <p:cond delay="0"/>
                                  </p:stCondLst>
                                  <p:iterate type="el" backwards="0">
                                    <p:tmAbs val="0"/>
                                  </p:iterate>
                                  <p:childTnLst>
                                    <p:set>
                                      <p:cBhvr>
                                        <p:cTn id="31" fill="hold"/>
                                        <p:tgtEl>
                                          <p:spTgt spid="557"/>
                                        </p:tgtEl>
                                        <p:attrNameLst>
                                          <p:attrName>style.visibility</p:attrName>
                                        </p:attrNameLst>
                                      </p:cBhvr>
                                      <p:to>
                                        <p:strVal val="visible"/>
                                      </p:to>
                                    </p:set>
                                    <p:animEffect filter="dissolve" transition="in">
                                      <p:cBhvr>
                                        <p:cTn id="32" dur="20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1" grpId="2"/>
      <p:bldP build="whole" bldLvl="1" animBg="1" rev="0" advAuto="0" spid="554" grpId="4"/>
      <p:bldP build="whole" bldLvl="1" animBg="1" rev="0" advAuto="0" spid="556" grpId="5"/>
      <p:bldP build="whole" bldLvl="1" animBg="1" rev="0" advAuto="0" spid="553" grpId="3"/>
      <p:bldP build="whole" bldLvl="1" animBg="1" rev="0" advAuto="0" spid="557" grpId="6"/>
      <p:bldP build="whole" bldLvl="1" animBg="1" rev="0" advAuto="0" spid="550" grpId="1"/>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0" name="Regresia Logistică în Scikit-Learn"/>
          <p:cNvSpPr txBox="1"/>
          <p:nvPr>
            <p:ph type="title"/>
          </p:nvPr>
        </p:nvSpPr>
        <p:spPr>
          <a:prstGeom prst="rect">
            <a:avLst/>
          </a:prstGeom>
        </p:spPr>
        <p:txBody>
          <a:bodyPr/>
          <a:lstStyle/>
          <a:p>
            <a:pPr/>
            <a:r>
              <a:t>Regresia Logistică în Scikit-Learn</a:t>
            </a:r>
          </a:p>
        </p:txBody>
      </p:sp>
      <p:pic>
        <p:nvPicPr>
          <p:cNvPr id="561" name="Captură de ecran din 2024-10-07 la 11.57.10.png" descr="Captură de ecran din 2024-10-07 la 11.57.10.png"/>
          <p:cNvPicPr>
            <a:picLocks noChangeAspect="1"/>
          </p:cNvPicPr>
          <p:nvPr/>
        </p:nvPicPr>
        <p:blipFill>
          <a:blip r:embed="rId2">
            <a:extLst/>
          </a:blip>
          <a:srcRect l="0" t="0" r="0" b="0"/>
          <a:stretch>
            <a:fillRect/>
          </a:stretch>
        </p:blipFill>
        <p:spPr>
          <a:xfrm>
            <a:off x="6504992" y="3836332"/>
            <a:ext cx="10452866" cy="9817608"/>
          </a:xfrm>
          <a:prstGeom prst="rect">
            <a:avLst/>
          </a:prstGeom>
          <a:ln w="12700">
            <a:miter lim="400000"/>
          </a:ln>
        </p:spPr>
      </p:pic>
      <p:sp>
        <p:nvSpPr>
          <p:cNvPr id="562" name="Ex: Vom clasifica dacă un anumit exemplu din setul de date Iris este de tip Setosa (clasa 0) sau nu (clasele 1 și 2)"/>
          <p:cNvSpPr txBox="1"/>
          <p:nvPr/>
        </p:nvSpPr>
        <p:spPr>
          <a:xfrm>
            <a:off x="601664" y="2398899"/>
            <a:ext cx="23951033"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 Vom clasifica dacă un anumit exemplu din setul de date Iris este de tip Setosa (clasa 0) sau nu (clasele 1 și 2)</a:t>
            </a:r>
          </a:p>
        </p:txBody>
      </p:sp>
      <p:sp>
        <p:nvSpPr>
          <p:cNvPr id="563" name="X_train, X_test, y_train, y_test = train_test_split(X, y_binary, test_size=0.3, random_state=42)"/>
          <p:cNvSpPr txBox="1"/>
          <p:nvPr/>
        </p:nvSpPr>
        <p:spPr>
          <a:xfrm>
            <a:off x="7549794" y="8390832"/>
            <a:ext cx="9284413" cy="108306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2200">
                <a:latin typeface="Arial"/>
                <a:ea typeface="Arial"/>
                <a:cs typeface="Arial"/>
                <a:sym typeface="Arial"/>
              </a:defRPr>
            </a:pPr>
            <a:r>
              <a:t>X_train, X_test, y_train, y_test = train_test_split(X, y_binary, test_size=</a:t>
            </a:r>
            <a:r>
              <a:rPr>
                <a:solidFill>
                  <a:srgbClr val="116644"/>
                </a:solidFill>
              </a:rPr>
              <a:t>0.3</a:t>
            </a:r>
            <a:r>
              <a:t>, random_state=</a:t>
            </a:r>
            <a:r>
              <a:rPr>
                <a:solidFill>
                  <a:srgbClr val="116644"/>
                </a:solidFill>
              </a:rPr>
              <a:t>42</a:t>
            </a:r>
            <a:r>
              <a:t>)</a:t>
            </a:r>
          </a:p>
        </p:txBody>
      </p:sp>
      <p:pic>
        <p:nvPicPr>
          <p:cNvPr id="564" name="Oval Oval" descr="Oval Oval"/>
          <p:cNvPicPr>
            <a:picLocks noChangeAspect="0"/>
          </p:cNvPicPr>
          <p:nvPr/>
        </p:nvPicPr>
        <p:blipFill>
          <a:blip r:embed="rId3">
            <a:extLst/>
          </a:blip>
          <a:stretch>
            <a:fillRect/>
          </a:stretch>
        </p:blipFill>
        <p:spPr>
          <a:xfrm>
            <a:off x="7436171" y="5417047"/>
            <a:ext cx="4826265" cy="1336910"/>
          </a:xfrm>
          <a:prstGeom prst="rect">
            <a:avLst/>
          </a:prstGeom>
        </p:spPr>
      </p:pic>
      <p:sp>
        <p:nvSpPr>
          <p:cNvPr id="566" name="Încărcarea setului de date în memorie"/>
          <p:cNvSpPr txBox="1"/>
          <p:nvPr/>
        </p:nvSpPr>
        <p:spPr>
          <a:xfrm>
            <a:off x="12306734" y="5601733"/>
            <a:ext cx="4333024"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Încărcarea setului de date în memorie</a:t>
            </a:r>
          </a:p>
        </p:txBody>
      </p:sp>
      <p:pic>
        <p:nvPicPr>
          <p:cNvPr id="567" name="Oval Oval" descr="Oval Oval"/>
          <p:cNvPicPr>
            <a:picLocks noChangeAspect="0"/>
          </p:cNvPicPr>
          <p:nvPr/>
        </p:nvPicPr>
        <p:blipFill>
          <a:blip r:embed="rId4">
            <a:extLst/>
          </a:blip>
          <a:stretch>
            <a:fillRect/>
          </a:stretch>
        </p:blipFill>
        <p:spPr>
          <a:xfrm>
            <a:off x="7226065" y="6461724"/>
            <a:ext cx="3508201" cy="1336911"/>
          </a:xfrm>
          <a:prstGeom prst="rect">
            <a:avLst/>
          </a:prstGeom>
        </p:spPr>
      </p:pic>
      <p:sp>
        <p:nvSpPr>
          <p:cNvPr id="569" name="Text"/>
          <p:cNvSpPr txBox="1"/>
          <p:nvPr/>
        </p:nvSpPr>
        <p:spPr>
          <a:xfrm>
            <a:off x="24873295" y="4611738"/>
            <a:ext cx="1268782" cy="934213"/>
          </a:xfrm>
          <a:prstGeom prst="rect">
            <a:avLst/>
          </a:prstGeom>
          <a:ln w="12700">
            <a:miter lim="400000"/>
          </a:ln>
        </p:spPr>
        <p:txBody>
          <a:bodyPr wrap="none" lIns="50800" tIns="50800" rIns="50800" bIns="50800" anchor="ctr">
            <a:spAutoFit/>
          </a:bodyPr>
          <a:lstStyle/>
          <a:p>
            <a:pPr/>
          </a:p>
        </p:txBody>
      </p:sp>
      <p:sp>
        <p:nvSpPr>
          <p:cNvPr id="570" name="Obținere caracteristici (X) si eticheta (y)"/>
          <p:cNvSpPr txBox="1"/>
          <p:nvPr/>
        </p:nvSpPr>
        <p:spPr>
          <a:xfrm>
            <a:off x="11122766" y="6646411"/>
            <a:ext cx="4333024" cy="9675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Obținere caracteristici (X) si eticheta (y)</a:t>
            </a:r>
          </a:p>
        </p:txBody>
      </p:sp>
      <p:pic>
        <p:nvPicPr>
          <p:cNvPr id="571" name="Oval Oval" descr="Oval Oval"/>
          <p:cNvPicPr>
            <a:picLocks noChangeAspect="0"/>
          </p:cNvPicPr>
          <p:nvPr/>
        </p:nvPicPr>
        <p:blipFill>
          <a:blip r:embed="rId5">
            <a:extLst/>
          </a:blip>
          <a:stretch>
            <a:fillRect/>
          </a:stretch>
        </p:blipFill>
        <p:spPr>
          <a:xfrm>
            <a:off x="7446706" y="7590721"/>
            <a:ext cx="5414005" cy="934213"/>
          </a:xfrm>
          <a:prstGeom prst="rect">
            <a:avLst/>
          </a:prstGeom>
        </p:spPr>
      </p:pic>
      <p:sp>
        <p:nvSpPr>
          <p:cNvPr id="573" name="Marcare clasa Setosa ca True si celelalte ca False"/>
          <p:cNvSpPr txBox="1"/>
          <p:nvPr/>
        </p:nvSpPr>
        <p:spPr>
          <a:xfrm>
            <a:off x="12841655" y="7386778"/>
            <a:ext cx="4333025"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Marcare clasa Setosa ca True si celelalte ca False</a:t>
            </a:r>
          </a:p>
        </p:txBody>
      </p:sp>
      <p:pic>
        <p:nvPicPr>
          <p:cNvPr id="574" name="Oval Oval" descr="Oval Oval"/>
          <p:cNvPicPr>
            <a:picLocks noChangeAspect="0"/>
          </p:cNvPicPr>
          <p:nvPr/>
        </p:nvPicPr>
        <p:blipFill>
          <a:blip r:embed="rId6">
            <a:extLst/>
          </a:blip>
          <a:stretch>
            <a:fillRect/>
          </a:stretch>
        </p:blipFill>
        <p:spPr>
          <a:xfrm>
            <a:off x="7128328" y="8126028"/>
            <a:ext cx="8661576" cy="1238105"/>
          </a:xfrm>
          <a:prstGeom prst="rect">
            <a:avLst/>
          </a:prstGeom>
        </p:spPr>
      </p:pic>
      <p:pic>
        <p:nvPicPr>
          <p:cNvPr id="576" name="Oval Oval" descr="Oval Oval"/>
          <p:cNvPicPr>
            <a:picLocks noChangeAspect="0"/>
          </p:cNvPicPr>
          <p:nvPr/>
        </p:nvPicPr>
        <p:blipFill>
          <a:blip r:embed="rId7">
            <a:extLst/>
          </a:blip>
          <a:stretch>
            <a:fillRect/>
          </a:stretch>
        </p:blipFill>
        <p:spPr>
          <a:xfrm>
            <a:off x="7059085" y="9691527"/>
            <a:ext cx="5580437" cy="934213"/>
          </a:xfrm>
          <a:prstGeom prst="rect">
            <a:avLst/>
          </a:prstGeom>
        </p:spPr>
      </p:pic>
      <p:sp>
        <p:nvSpPr>
          <p:cNvPr id="578" name="Antrenarea modelului"/>
          <p:cNvSpPr txBox="1"/>
          <p:nvPr/>
        </p:nvSpPr>
        <p:spPr>
          <a:xfrm>
            <a:off x="12594093" y="9874996"/>
            <a:ext cx="4333025" cy="5557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Antrenarea modelului</a:t>
            </a:r>
          </a:p>
        </p:txBody>
      </p:sp>
      <p:pic>
        <p:nvPicPr>
          <p:cNvPr id="579" name="Oval Oval" descr="Oval Oval"/>
          <p:cNvPicPr>
            <a:picLocks noChangeAspect="0"/>
          </p:cNvPicPr>
          <p:nvPr/>
        </p:nvPicPr>
        <p:blipFill>
          <a:blip r:embed="rId8">
            <a:extLst/>
          </a:blip>
          <a:stretch>
            <a:fillRect/>
          </a:stretch>
        </p:blipFill>
        <p:spPr>
          <a:xfrm>
            <a:off x="7077813" y="10546974"/>
            <a:ext cx="5862163" cy="813285"/>
          </a:xfrm>
          <a:prstGeom prst="rect">
            <a:avLst/>
          </a:prstGeom>
        </p:spPr>
      </p:pic>
      <p:sp>
        <p:nvSpPr>
          <p:cNvPr id="581" name="Inferența pe setul de test"/>
          <p:cNvSpPr txBox="1"/>
          <p:nvPr/>
        </p:nvSpPr>
        <p:spPr>
          <a:xfrm>
            <a:off x="12972752" y="10736204"/>
            <a:ext cx="4333025" cy="5557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Inferența pe setul de test</a:t>
            </a:r>
          </a:p>
        </p:txBody>
      </p:sp>
      <p:pic>
        <p:nvPicPr>
          <p:cNvPr id="582" name="Oval Oval" descr="Oval Oval"/>
          <p:cNvPicPr>
            <a:picLocks noChangeAspect="0"/>
          </p:cNvPicPr>
          <p:nvPr/>
        </p:nvPicPr>
        <p:blipFill>
          <a:blip r:embed="rId9">
            <a:extLst/>
          </a:blip>
          <a:stretch>
            <a:fillRect/>
          </a:stretch>
        </p:blipFill>
        <p:spPr>
          <a:xfrm>
            <a:off x="6918222" y="11295453"/>
            <a:ext cx="7688300" cy="813285"/>
          </a:xfrm>
          <a:prstGeom prst="rect">
            <a:avLst/>
          </a:prstGeom>
        </p:spPr>
      </p:pic>
      <p:sp>
        <p:nvSpPr>
          <p:cNvPr id="584" name="Obținere acuratețe"/>
          <p:cNvSpPr txBox="1"/>
          <p:nvPr/>
        </p:nvSpPr>
        <p:spPr>
          <a:xfrm>
            <a:off x="14747825" y="11424219"/>
            <a:ext cx="4333025" cy="5557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Obținere acuratețe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64"/>
                                        </p:tgtEl>
                                        <p:attrNameLst>
                                          <p:attrName>style.visibility</p:attrName>
                                        </p:attrNameLst>
                                      </p:cBhvr>
                                      <p:to>
                                        <p:strVal val="visible"/>
                                      </p:to>
                                    </p:set>
                                    <p:animEffect filter="dissolve" transition="in">
                                      <p:cBhvr>
                                        <p:cTn id="7" dur="2000"/>
                                        <p:tgtEl>
                                          <p:spTgt spid="564"/>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566"/>
                                        </p:tgtEl>
                                        <p:attrNameLst>
                                          <p:attrName>style.visibility</p:attrName>
                                        </p:attrNameLst>
                                      </p:cBhvr>
                                      <p:to>
                                        <p:strVal val="visible"/>
                                      </p:to>
                                    </p:set>
                                    <p:anim calcmode="lin" valueType="num">
                                      <p:cBhvr>
                                        <p:cTn id="11" dur="1000" fill="hold"/>
                                        <p:tgtEl>
                                          <p:spTgt spid="566"/>
                                        </p:tgtEl>
                                        <p:attrNameLst>
                                          <p:attrName>ppt_x</p:attrName>
                                        </p:attrNameLst>
                                      </p:cBhvr>
                                      <p:tavLst>
                                        <p:tav tm="0">
                                          <p:val>
                                            <p:strVal val="0-#ppt_w/2"/>
                                          </p:val>
                                        </p:tav>
                                        <p:tav tm="100000">
                                          <p:val>
                                            <p:strVal val="#ppt_x"/>
                                          </p:val>
                                        </p:tav>
                                      </p:tavLst>
                                    </p:anim>
                                    <p:anim calcmode="lin" valueType="num">
                                      <p:cBhvr>
                                        <p:cTn id="12" dur="1000" fill="hold"/>
                                        <p:tgtEl>
                                          <p:spTgt spid="566"/>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567"/>
                                        </p:tgtEl>
                                        <p:attrNameLst>
                                          <p:attrName>style.visibility</p:attrName>
                                        </p:attrNameLst>
                                      </p:cBhvr>
                                      <p:to>
                                        <p:strVal val="visible"/>
                                      </p:to>
                                    </p:set>
                                    <p:animEffect filter="dissolve" transition="in">
                                      <p:cBhvr>
                                        <p:cTn id="16" dur="2000"/>
                                        <p:tgtEl>
                                          <p:spTgt spid="567"/>
                                        </p:tgtEl>
                                      </p:cBhvr>
                                    </p:animEffect>
                                  </p:childTnLst>
                                </p:cTn>
                              </p:par>
                            </p:childTnLst>
                          </p:cTn>
                        </p:par>
                        <p:par>
                          <p:cTn id="17" fill="hold">
                            <p:stCondLst>
                              <p:cond delay="5000"/>
                            </p:stCondLst>
                            <p:childTnLst>
                              <p:par>
                                <p:cTn id="18" presetClass="entr" nodeType="afterEffect" presetSubtype="8" presetID="2" grpId="4" fill="hold">
                                  <p:stCondLst>
                                    <p:cond delay="0"/>
                                  </p:stCondLst>
                                  <p:iterate type="el" backwards="0">
                                    <p:tmAbs val="0"/>
                                  </p:iterate>
                                  <p:childTnLst>
                                    <p:set>
                                      <p:cBhvr>
                                        <p:cTn id="19" fill="hold"/>
                                        <p:tgtEl>
                                          <p:spTgt spid="570"/>
                                        </p:tgtEl>
                                        <p:attrNameLst>
                                          <p:attrName>style.visibility</p:attrName>
                                        </p:attrNameLst>
                                      </p:cBhvr>
                                      <p:to>
                                        <p:strVal val="visible"/>
                                      </p:to>
                                    </p:set>
                                    <p:anim calcmode="lin" valueType="num">
                                      <p:cBhvr>
                                        <p:cTn id="20" dur="1000" fill="hold"/>
                                        <p:tgtEl>
                                          <p:spTgt spid="570"/>
                                        </p:tgtEl>
                                        <p:attrNameLst>
                                          <p:attrName>ppt_x</p:attrName>
                                        </p:attrNameLst>
                                      </p:cBhvr>
                                      <p:tavLst>
                                        <p:tav tm="0">
                                          <p:val>
                                            <p:strVal val="0-#ppt_w/2"/>
                                          </p:val>
                                        </p:tav>
                                        <p:tav tm="100000">
                                          <p:val>
                                            <p:strVal val="#ppt_x"/>
                                          </p:val>
                                        </p:tav>
                                      </p:tavLst>
                                    </p:anim>
                                    <p:anim calcmode="lin" valueType="num">
                                      <p:cBhvr>
                                        <p:cTn id="21" dur="1000" fill="hold"/>
                                        <p:tgtEl>
                                          <p:spTgt spid="570"/>
                                        </p:tgtEl>
                                        <p:attrNameLst>
                                          <p:attrName>ppt_y</p:attrName>
                                        </p:attrNameLst>
                                      </p:cBhvr>
                                      <p:tavLst>
                                        <p:tav tm="0">
                                          <p:val>
                                            <p:strVal val="#ppt_y"/>
                                          </p:val>
                                        </p:tav>
                                        <p:tav tm="100000">
                                          <p:val>
                                            <p:strVal val="#ppt_y"/>
                                          </p:val>
                                        </p:tav>
                                      </p:tavLst>
                                    </p:anim>
                                  </p:childTnLst>
                                </p:cTn>
                              </p:par>
                            </p:childTnLst>
                          </p:cTn>
                        </p:par>
                        <p:par>
                          <p:cTn id="22" fill="hold">
                            <p:stCondLst>
                              <p:cond delay="6000"/>
                            </p:stCondLst>
                            <p:childTnLst>
                              <p:par>
                                <p:cTn id="23" presetClass="entr" nodeType="afterEffect" presetID="9" grpId="5" fill="hold">
                                  <p:stCondLst>
                                    <p:cond delay="0"/>
                                  </p:stCondLst>
                                  <p:iterate type="el" backwards="0">
                                    <p:tmAbs val="0"/>
                                  </p:iterate>
                                  <p:childTnLst>
                                    <p:set>
                                      <p:cBhvr>
                                        <p:cTn id="24" fill="hold"/>
                                        <p:tgtEl>
                                          <p:spTgt spid="571"/>
                                        </p:tgtEl>
                                        <p:attrNameLst>
                                          <p:attrName>style.visibility</p:attrName>
                                        </p:attrNameLst>
                                      </p:cBhvr>
                                      <p:to>
                                        <p:strVal val="visible"/>
                                      </p:to>
                                    </p:set>
                                    <p:animEffect filter="dissolve" transition="in">
                                      <p:cBhvr>
                                        <p:cTn id="25" dur="2000"/>
                                        <p:tgtEl>
                                          <p:spTgt spid="571"/>
                                        </p:tgtEl>
                                      </p:cBhvr>
                                    </p:animEffect>
                                  </p:childTnLst>
                                </p:cTn>
                              </p:par>
                            </p:childTnLst>
                          </p:cTn>
                        </p:par>
                        <p:par>
                          <p:cTn id="26" fill="hold">
                            <p:stCondLst>
                              <p:cond delay="8000"/>
                            </p:stCondLst>
                            <p:childTnLst>
                              <p:par>
                                <p:cTn id="27" presetClass="entr" nodeType="afterEffect" presetSubtype="8" presetID="2" grpId="6" fill="hold">
                                  <p:stCondLst>
                                    <p:cond delay="0"/>
                                  </p:stCondLst>
                                  <p:iterate type="el" backwards="0">
                                    <p:tmAbs val="0"/>
                                  </p:iterate>
                                  <p:childTnLst>
                                    <p:set>
                                      <p:cBhvr>
                                        <p:cTn id="28" fill="hold"/>
                                        <p:tgtEl>
                                          <p:spTgt spid="573"/>
                                        </p:tgtEl>
                                        <p:attrNameLst>
                                          <p:attrName>style.visibility</p:attrName>
                                        </p:attrNameLst>
                                      </p:cBhvr>
                                      <p:to>
                                        <p:strVal val="visible"/>
                                      </p:to>
                                    </p:set>
                                    <p:anim calcmode="lin" valueType="num">
                                      <p:cBhvr>
                                        <p:cTn id="29" dur="1000" fill="hold"/>
                                        <p:tgtEl>
                                          <p:spTgt spid="573"/>
                                        </p:tgtEl>
                                        <p:attrNameLst>
                                          <p:attrName>ppt_x</p:attrName>
                                        </p:attrNameLst>
                                      </p:cBhvr>
                                      <p:tavLst>
                                        <p:tav tm="0">
                                          <p:val>
                                            <p:strVal val="0-#ppt_w/2"/>
                                          </p:val>
                                        </p:tav>
                                        <p:tav tm="100000">
                                          <p:val>
                                            <p:strVal val="#ppt_x"/>
                                          </p:val>
                                        </p:tav>
                                      </p:tavLst>
                                    </p:anim>
                                    <p:anim calcmode="lin" valueType="num">
                                      <p:cBhvr>
                                        <p:cTn id="30" dur="1000" fill="hold"/>
                                        <p:tgtEl>
                                          <p:spTgt spid="573"/>
                                        </p:tgtEl>
                                        <p:attrNameLst>
                                          <p:attrName>ppt_y</p:attrName>
                                        </p:attrNameLst>
                                      </p:cBhvr>
                                      <p:tavLst>
                                        <p:tav tm="0">
                                          <p:val>
                                            <p:strVal val="#ppt_y"/>
                                          </p:val>
                                        </p:tav>
                                        <p:tav tm="100000">
                                          <p:val>
                                            <p:strVal val="#ppt_y"/>
                                          </p:val>
                                        </p:tav>
                                      </p:tavLst>
                                    </p:anim>
                                  </p:childTnLst>
                                </p:cTn>
                              </p:par>
                            </p:childTnLst>
                          </p:cTn>
                        </p:par>
                        <p:par>
                          <p:cTn id="31" fill="hold">
                            <p:stCondLst>
                              <p:cond delay="9000"/>
                            </p:stCondLst>
                            <p:childTnLst>
                              <p:par>
                                <p:cTn id="32" presetClass="entr" nodeType="afterEffect" presetID="9" grpId="7" fill="hold">
                                  <p:stCondLst>
                                    <p:cond delay="0"/>
                                  </p:stCondLst>
                                  <p:iterate type="el" backwards="0">
                                    <p:tmAbs val="0"/>
                                  </p:iterate>
                                  <p:childTnLst>
                                    <p:set>
                                      <p:cBhvr>
                                        <p:cTn id="33" fill="hold"/>
                                        <p:tgtEl>
                                          <p:spTgt spid="574"/>
                                        </p:tgtEl>
                                        <p:attrNameLst>
                                          <p:attrName>style.visibility</p:attrName>
                                        </p:attrNameLst>
                                      </p:cBhvr>
                                      <p:to>
                                        <p:strVal val="visible"/>
                                      </p:to>
                                    </p:set>
                                    <p:animEffect filter="dissolve" transition="in">
                                      <p:cBhvr>
                                        <p:cTn id="34" dur="2000"/>
                                        <p:tgtEl>
                                          <p:spTgt spid="574"/>
                                        </p:tgtEl>
                                      </p:cBhvr>
                                    </p:animEffect>
                                  </p:childTnLst>
                                </p:cTn>
                              </p:par>
                            </p:childTnLst>
                          </p:cTn>
                        </p:par>
                      </p:childTnLst>
                    </p:cTn>
                  </p:par>
                  <p:par>
                    <p:cTn id="35" fill="hold">
                      <p:stCondLst>
                        <p:cond delay="indefinite"/>
                      </p:stCondLst>
                      <p:childTnLst>
                        <p:par>
                          <p:cTn id="36" fill="hold">
                            <p:stCondLst>
                              <p:cond delay="0"/>
                            </p:stCondLst>
                            <p:childTnLst>
                              <p:par>
                                <p:cTn id="37" presetClass="entr" nodeType="clickEffect" presetID="9" grpId="8" fill="hold">
                                  <p:stCondLst>
                                    <p:cond delay="0"/>
                                  </p:stCondLst>
                                  <p:iterate type="el" backwards="0">
                                    <p:tmAbs val="0"/>
                                  </p:iterate>
                                  <p:childTnLst>
                                    <p:set>
                                      <p:cBhvr>
                                        <p:cTn id="38" fill="hold"/>
                                        <p:tgtEl>
                                          <p:spTgt spid="576"/>
                                        </p:tgtEl>
                                        <p:attrNameLst>
                                          <p:attrName>style.visibility</p:attrName>
                                        </p:attrNameLst>
                                      </p:cBhvr>
                                      <p:to>
                                        <p:strVal val="visible"/>
                                      </p:to>
                                    </p:set>
                                    <p:animEffect filter="dissolve" transition="in">
                                      <p:cBhvr>
                                        <p:cTn id="39" dur="2000"/>
                                        <p:tgtEl>
                                          <p:spTgt spid="576"/>
                                        </p:tgtEl>
                                      </p:cBhvr>
                                    </p:animEffect>
                                  </p:childTnLst>
                                </p:cTn>
                              </p:par>
                            </p:childTnLst>
                          </p:cTn>
                        </p:par>
                        <p:par>
                          <p:cTn id="40" fill="hold">
                            <p:stCondLst>
                              <p:cond delay="2000"/>
                            </p:stCondLst>
                            <p:childTnLst>
                              <p:par>
                                <p:cTn id="41" presetClass="entr" nodeType="afterEffect" presetSubtype="8" presetID="2" grpId="9" fill="hold">
                                  <p:stCondLst>
                                    <p:cond delay="0"/>
                                  </p:stCondLst>
                                  <p:iterate type="el" backwards="0">
                                    <p:tmAbs val="0"/>
                                  </p:iterate>
                                  <p:childTnLst>
                                    <p:set>
                                      <p:cBhvr>
                                        <p:cTn id="42" fill="hold"/>
                                        <p:tgtEl>
                                          <p:spTgt spid="578"/>
                                        </p:tgtEl>
                                        <p:attrNameLst>
                                          <p:attrName>style.visibility</p:attrName>
                                        </p:attrNameLst>
                                      </p:cBhvr>
                                      <p:to>
                                        <p:strVal val="visible"/>
                                      </p:to>
                                    </p:set>
                                    <p:anim calcmode="lin" valueType="num">
                                      <p:cBhvr>
                                        <p:cTn id="43" dur="1000" fill="hold"/>
                                        <p:tgtEl>
                                          <p:spTgt spid="578"/>
                                        </p:tgtEl>
                                        <p:attrNameLst>
                                          <p:attrName>ppt_x</p:attrName>
                                        </p:attrNameLst>
                                      </p:cBhvr>
                                      <p:tavLst>
                                        <p:tav tm="0">
                                          <p:val>
                                            <p:strVal val="0-#ppt_w/2"/>
                                          </p:val>
                                        </p:tav>
                                        <p:tav tm="100000">
                                          <p:val>
                                            <p:strVal val="#ppt_x"/>
                                          </p:val>
                                        </p:tav>
                                      </p:tavLst>
                                    </p:anim>
                                    <p:anim calcmode="lin" valueType="num">
                                      <p:cBhvr>
                                        <p:cTn id="44" dur="1000" fill="hold"/>
                                        <p:tgtEl>
                                          <p:spTgt spid="578"/>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Class="entr" nodeType="clickEffect" presetID="9" grpId="10" fill="hold">
                                  <p:stCondLst>
                                    <p:cond delay="0"/>
                                  </p:stCondLst>
                                  <p:iterate type="el" backwards="0">
                                    <p:tmAbs val="0"/>
                                  </p:iterate>
                                  <p:childTnLst>
                                    <p:set>
                                      <p:cBhvr>
                                        <p:cTn id="48" fill="hold"/>
                                        <p:tgtEl>
                                          <p:spTgt spid="579"/>
                                        </p:tgtEl>
                                        <p:attrNameLst>
                                          <p:attrName>style.visibility</p:attrName>
                                        </p:attrNameLst>
                                      </p:cBhvr>
                                      <p:to>
                                        <p:strVal val="visible"/>
                                      </p:to>
                                    </p:set>
                                    <p:animEffect filter="dissolve" transition="in">
                                      <p:cBhvr>
                                        <p:cTn id="49" dur="2000"/>
                                        <p:tgtEl>
                                          <p:spTgt spid="579"/>
                                        </p:tgtEl>
                                      </p:cBhvr>
                                    </p:animEffect>
                                  </p:childTnLst>
                                </p:cTn>
                              </p:par>
                            </p:childTnLst>
                          </p:cTn>
                        </p:par>
                        <p:par>
                          <p:cTn id="50" fill="hold">
                            <p:stCondLst>
                              <p:cond delay="2000"/>
                            </p:stCondLst>
                            <p:childTnLst>
                              <p:par>
                                <p:cTn id="51" presetClass="entr" nodeType="afterEffect" presetSubtype="8" presetID="2" grpId="11" fill="hold">
                                  <p:stCondLst>
                                    <p:cond delay="0"/>
                                  </p:stCondLst>
                                  <p:iterate type="el" backwards="0">
                                    <p:tmAbs val="0"/>
                                  </p:iterate>
                                  <p:childTnLst>
                                    <p:set>
                                      <p:cBhvr>
                                        <p:cTn id="52" fill="hold"/>
                                        <p:tgtEl>
                                          <p:spTgt spid="581"/>
                                        </p:tgtEl>
                                        <p:attrNameLst>
                                          <p:attrName>style.visibility</p:attrName>
                                        </p:attrNameLst>
                                      </p:cBhvr>
                                      <p:to>
                                        <p:strVal val="visible"/>
                                      </p:to>
                                    </p:set>
                                    <p:anim calcmode="lin" valueType="num">
                                      <p:cBhvr>
                                        <p:cTn id="53" dur="1000" fill="hold"/>
                                        <p:tgtEl>
                                          <p:spTgt spid="581"/>
                                        </p:tgtEl>
                                        <p:attrNameLst>
                                          <p:attrName>ppt_x</p:attrName>
                                        </p:attrNameLst>
                                      </p:cBhvr>
                                      <p:tavLst>
                                        <p:tav tm="0">
                                          <p:val>
                                            <p:strVal val="0-#ppt_w/2"/>
                                          </p:val>
                                        </p:tav>
                                        <p:tav tm="100000">
                                          <p:val>
                                            <p:strVal val="#ppt_x"/>
                                          </p:val>
                                        </p:tav>
                                      </p:tavLst>
                                    </p:anim>
                                    <p:anim calcmode="lin" valueType="num">
                                      <p:cBhvr>
                                        <p:cTn id="54" dur="1000" fill="hold"/>
                                        <p:tgtEl>
                                          <p:spTgt spid="581"/>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Class="entr" nodeType="clickEffect" presetID="9" grpId="12" fill="hold">
                                  <p:stCondLst>
                                    <p:cond delay="0"/>
                                  </p:stCondLst>
                                  <p:iterate type="el" backwards="0">
                                    <p:tmAbs val="0"/>
                                  </p:iterate>
                                  <p:childTnLst>
                                    <p:set>
                                      <p:cBhvr>
                                        <p:cTn id="58" fill="hold"/>
                                        <p:tgtEl>
                                          <p:spTgt spid="582"/>
                                        </p:tgtEl>
                                        <p:attrNameLst>
                                          <p:attrName>style.visibility</p:attrName>
                                        </p:attrNameLst>
                                      </p:cBhvr>
                                      <p:to>
                                        <p:strVal val="visible"/>
                                      </p:to>
                                    </p:set>
                                    <p:animEffect filter="dissolve" transition="in">
                                      <p:cBhvr>
                                        <p:cTn id="59" dur="2000"/>
                                        <p:tgtEl>
                                          <p:spTgt spid="582"/>
                                        </p:tgtEl>
                                      </p:cBhvr>
                                    </p:animEffect>
                                  </p:childTnLst>
                                </p:cTn>
                              </p:par>
                            </p:childTnLst>
                          </p:cTn>
                        </p:par>
                        <p:par>
                          <p:cTn id="60" fill="hold">
                            <p:stCondLst>
                              <p:cond delay="2000"/>
                            </p:stCondLst>
                            <p:childTnLst>
                              <p:par>
                                <p:cTn id="61" presetClass="entr" nodeType="afterEffect" presetSubtype="8" presetID="2" grpId="13" fill="hold">
                                  <p:stCondLst>
                                    <p:cond delay="0"/>
                                  </p:stCondLst>
                                  <p:iterate type="el" backwards="0">
                                    <p:tmAbs val="0"/>
                                  </p:iterate>
                                  <p:childTnLst>
                                    <p:set>
                                      <p:cBhvr>
                                        <p:cTn id="62" fill="hold"/>
                                        <p:tgtEl>
                                          <p:spTgt spid="584"/>
                                        </p:tgtEl>
                                        <p:attrNameLst>
                                          <p:attrName>style.visibility</p:attrName>
                                        </p:attrNameLst>
                                      </p:cBhvr>
                                      <p:to>
                                        <p:strVal val="visible"/>
                                      </p:to>
                                    </p:set>
                                    <p:anim calcmode="lin" valueType="num">
                                      <p:cBhvr>
                                        <p:cTn id="63" dur="1000" fill="hold"/>
                                        <p:tgtEl>
                                          <p:spTgt spid="584"/>
                                        </p:tgtEl>
                                        <p:attrNameLst>
                                          <p:attrName>ppt_x</p:attrName>
                                        </p:attrNameLst>
                                      </p:cBhvr>
                                      <p:tavLst>
                                        <p:tav tm="0">
                                          <p:val>
                                            <p:strVal val="0-#ppt_w/2"/>
                                          </p:val>
                                        </p:tav>
                                        <p:tav tm="100000">
                                          <p:val>
                                            <p:strVal val="#ppt_x"/>
                                          </p:val>
                                        </p:tav>
                                      </p:tavLst>
                                    </p:anim>
                                    <p:anim calcmode="lin" valueType="num">
                                      <p:cBhvr>
                                        <p:cTn id="64" dur="1000" fill="hold"/>
                                        <p:tgtEl>
                                          <p:spTgt spid="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7" grpId="3"/>
      <p:bldP build="whole" bldLvl="1" animBg="1" rev="0" advAuto="0" spid="574" grpId="7"/>
      <p:bldP build="whole" bldLvl="1" animBg="1" rev="0" advAuto="0" spid="579" grpId="10"/>
      <p:bldP build="whole" bldLvl="1" animBg="1" rev="0" advAuto="0" spid="571" grpId="5"/>
      <p:bldP build="whole" bldLvl="1" animBg="1" rev="0" advAuto="0" spid="584" grpId="13"/>
      <p:bldP build="whole" bldLvl="1" animBg="1" rev="0" advAuto="0" spid="576" grpId="8"/>
      <p:bldP build="whole" bldLvl="1" animBg="1" rev="0" advAuto="0" spid="573" grpId="6"/>
      <p:bldP build="whole" bldLvl="1" animBg="1" rev="0" advAuto="0" spid="582" grpId="12"/>
      <p:bldP build="whole" bldLvl="1" animBg="1" rev="0" advAuto="0" spid="578" grpId="9"/>
      <p:bldP build="whole" bldLvl="1" animBg="1" rev="0" advAuto="0" spid="570" grpId="4"/>
      <p:bldP build="whole" bldLvl="1" animBg="1" rev="0" advAuto="0" spid="564" grpId="1"/>
      <p:bldP build="whole" bldLvl="1" animBg="1" rev="0" advAuto="0" spid="581" grpId="11"/>
      <p:bldP build="whole" bldLvl="1" animBg="1" rev="0" advAuto="0" spid="566" grpId="2"/>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6" name="Regresia Softmax"/>
          <p:cNvSpPr txBox="1"/>
          <p:nvPr>
            <p:ph type="title"/>
          </p:nvPr>
        </p:nvSpPr>
        <p:spPr>
          <a:prstGeom prst="rect">
            <a:avLst/>
          </a:prstGeom>
        </p:spPr>
        <p:txBody>
          <a:bodyPr/>
          <a:lstStyle/>
          <a:p>
            <a:pPr/>
            <a:r>
              <a:t>Regresia Softmax</a:t>
            </a:r>
          </a:p>
        </p:txBody>
      </p:sp>
      <p:sp>
        <p:nvSpPr>
          <p:cNvPr id="587" name="Regresia logistică se folosește pentru a prezice între două opțiuni (da/nu, 0/1). Totuși, unele probleme au mai multe posibile rezultate.…"/>
          <p:cNvSpPr txBox="1"/>
          <p:nvPr>
            <p:ph type="body" idx="1"/>
          </p:nvPr>
        </p:nvSpPr>
        <p:spPr>
          <a:prstGeom prst="rect">
            <a:avLst/>
          </a:prstGeom>
        </p:spPr>
        <p:txBody>
          <a:bodyPr/>
          <a:lstStyle/>
          <a:p>
            <a:pPr/>
            <a:r>
              <a:t>Regresia logistică se folosește pentru a prezice între două opțiuni (da/nu, 0/1). Totuși, unele probleme au mai multe posibile rezultate.</a:t>
            </a:r>
          </a:p>
          <a:p>
            <a:pPr/>
            <a:r>
              <a:t>Exemplu:</a:t>
            </a:r>
          </a:p>
          <a:p>
            <a:pPr lvl="1"/>
            <a:r>
              <a:t>Avem trei tipuri de flori: Setosa, Versicolor, și Virginica.</a:t>
            </a:r>
          </a:p>
          <a:p>
            <a:pPr lvl="1"/>
            <a:r>
              <a:t>Vrem să prezicem ce tip de floare avem, nu doar dacă este un anumit tip sau nu.</a:t>
            </a:r>
          </a:p>
        </p:txBody>
      </p:sp>
      <p:sp>
        <p:nvSpPr>
          <p:cNvPr id="588" name="Regresia softmax este o extensie a regresiei logistice care se ocupă de astfel de situații, unde sunt mai multe clase posibile, nu doar două."/>
          <p:cNvSpPr txBox="1"/>
          <p:nvPr/>
        </p:nvSpPr>
        <p:spPr>
          <a:xfrm>
            <a:off x="714033" y="9421940"/>
            <a:ext cx="23476611"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Regresia softmax este o extensie a regresiei logistice care se ocupă de astfel de situații, unde sunt mai multe clase posibile, nu doar două.</a:t>
            </a:r>
          </a:p>
        </p:txBody>
      </p:sp>
      <p:pic>
        <p:nvPicPr>
          <p:cNvPr id="589" name="Linie Linie" descr="Linie Linie"/>
          <p:cNvPicPr>
            <a:picLocks noChangeAspect="0"/>
          </p:cNvPicPr>
          <p:nvPr/>
        </p:nvPicPr>
        <p:blipFill>
          <a:blip r:embed="rId2">
            <a:extLst/>
          </a:blip>
          <a:stretch>
            <a:fillRect/>
          </a:stretch>
        </p:blipFill>
        <p:spPr>
          <a:xfrm>
            <a:off x="625167" y="11244006"/>
            <a:ext cx="1116642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87"/>
                                        </p:tgtEl>
                                        <p:attrNameLst>
                                          <p:attrName>style.visibility</p:attrName>
                                        </p:attrNameLst>
                                      </p:cBhvr>
                                      <p:to>
                                        <p:strVal val="visible"/>
                                      </p:to>
                                    </p:set>
                                    <p:anim calcmode="lin" valueType="num">
                                      <p:cBhvr>
                                        <p:cTn id="7" dur="1000" fill="hold"/>
                                        <p:tgtEl>
                                          <p:spTgt spid="587"/>
                                        </p:tgtEl>
                                        <p:attrNameLst>
                                          <p:attrName>ppt_x</p:attrName>
                                        </p:attrNameLst>
                                      </p:cBhvr>
                                      <p:tavLst>
                                        <p:tav tm="0">
                                          <p:val>
                                            <p:strVal val="0-#ppt_w/2"/>
                                          </p:val>
                                        </p:tav>
                                        <p:tav tm="100000">
                                          <p:val>
                                            <p:strVal val="#ppt_x"/>
                                          </p:val>
                                        </p:tav>
                                      </p:tavLst>
                                    </p:anim>
                                    <p:anim calcmode="lin" valueType="num">
                                      <p:cBhvr>
                                        <p:cTn id="8" dur="1000" fill="hold"/>
                                        <p:tgtEl>
                                          <p:spTgt spid="5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88"/>
                                        </p:tgtEl>
                                        <p:attrNameLst>
                                          <p:attrName>style.visibility</p:attrName>
                                        </p:attrNameLst>
                                      </p:cBhvr>
                                      <p:to>
                                        <p:strVal val="visible"/>
                                      </p:to>
                                    </p:set>
                                    <p:anim calcmode="lin" valueType="num">
                                      <p:cBhvr>
                                        <p:cTn id="13" dur="1000" fill="hold"/>
                                        <p:tgtEl>
                                          <p:spTgt spid="588"/>
                                        </p:tgtEl>
                                        <p:attrNameLst>
                                          <p:attrName>ppt_x</p:attrName>
                                        </p:attrNameLst>
                                      </p:cBhvr>
                                      <p:tavLst>
                                        <p:tav tm="0">
                                          <p:val>
                                            <p:strVal val="0-#ppt_w/2"/>
                                          </p:val>
                                        </p:tav>
                                        <p:tav tm="100000">
                                          <p:val>
                                            <p:strVal val="#ppt_x"/>
                                          </p:val>
                                        </p:tav>
                                      </p:tavLst>
                                    </p:anim>
                                    <p:anim calcmode="lin" valueType="num">
                                      <p:cBhvr>
                                        <p:cTn id="14" dur="1000" fill="hold"/>
                                        <p:tgtEl>
                                          <p:spTgt spid="588"/>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589"/>
                                        </p:tgtEl>
                                        <p:attrNameLst>
                                          <p:attrName>style.visibility</p:attrName>
                                        </p:attrNameLst>
                                      </p:cBhvr>
                                      <p:to>
                                        <p:strVal val="visible"/>
                                      </p:to>
                                    </p:set>
                                    <p:animEffect filter="dissolve" transition="in">
                                      <p:cBhvr>
                                        <p:cTn id="18" dur="2000"/>
                                        <p:tgtEl>
                                          <p:spTgt spid="5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88" grpId="2"/>
      <p:bldP build="whole" bldLvl="1" animBg="1" rev="0" advAuto="0" spid="587" grpId="1"/>
      <p:bldP build="whole" bldLvl="1" animBg="1" rev="0" advAuto="0" spid="589" grpId="3"/>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2" name="Regresia Softmax"/>
          <p:cNvSpPr txBox="1"/>
          <p:nvPr>
            <p:ph type="title"/>
          </p:nvPr>
        </p:nvSpPr>
        <p:spPr>
          <a:prstGeom prst="rect">
            <a:avLst/>
          </a:prstGeom>
        </p:spPr>
        <p:txBody>
          <a:bodyPr/>
          <a:lstStyle/>
          <a:p>
            <a:pPr/>
            <a:r>
              <a:t>Regresia Softmax</a:t>
            </a:r>
          </a:p>
        </p:txBody>
      </p:sp>
      <p:pic>
        <p:nvPicPr>
          <p:cNvPr id="593" name="Captură de ecran din 2024-10-07 la 13.23.28.png" descr="Captură de ecran din 2024-10-07 la 13.23.28.png"/>
          <p:cNvPicPr>
            <a:picLocks noChangeAspect="1"/>
          </p:cNvPicPr>
          <p:nvPr/>
        </p:nvPicPr>
        <p:blipFill>
          <a:blip r:embed="rId2">
            <a:extLst/>
          </a:blip>
          <a:stretch>
            <a:fillRect/>
          </a:stretch>
        </p:blipFill>
        <p:spPr>
          <a:xfrm>
            <a:off x="1857500" y="3139240"/>
            <a:ext cx="20669000" cy="8916040"/>
          </a:xfrm>
          <a:prstGeom prst="rect">
            <a:avLst/>
          </a:prstGeom>
          <a:ln w="12700">
            <a:miter lim="400000"/>
          </a:ln>
        </p:spPr>
      </p:pic>
      <p:sp>
        <p:nvSpPr>
          <p:cNvPr id="594" name="log_reg_softmax = LogisticRegression(multi_class='multinomial', solver='lbfgs', C = 8, max_iter=200)"/>
          <p:cNvSpPr txBox="1"/>
          <p:nvPr/>
        </p:nvSpPr>
        <p:spPr>
          <a:xfrm>
            <a:off x="2942678" y="7644490"/>
            <a:ext cx="17261272" cy="7778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2300">
                <a:latin typeface="Arial"/>
                <a:ea typeface="Arial"/>
                <a:cs typeface="Arial"/>
                <a:sym typeface="Arial"/>
              </a:defRPr>
            </a:pPr>
            <a:r>
              <a:t>log_reg_softmax = LogisticRegression(multi_class=</a:t>
            </a:r>
            <a:r>
              <a:rPr>
                <a:solidFill>
                  <a:srgbClr val="A31515"/>
                </a:solidFill>
              </a:rPr>
              <a:t>'multinomial'</a:t>
            </a:r>
            <a:r>
              <a:t>, solver=</a:t>
            </a:r>
            <a:r>
              <a:rPr>
                <a:solidFill>
                  <a:srgbClr val="A31515"/>
                </a:solidFill>
              </a:rPr>
              <a:t>'lbfgs'</a:t>
            </a:r>
            <a:r>
              <a:t>, C = </a:t>
            </a:r>
            <a:r>
              <a:rPr>
                <a:solidFill>
                  <a:srgbClr val="116644"/>
                </a:solidFill>
              </a:rPr>
              <a:t>8</a:t>
            </a:r>
            <a:r>
              <a:t>, max_iter=</a:t>
            </a:r>
            <a:r>
              <a:rPr>
                <a:solidFill>
                  <a:srgbClr val="116644"/>
                </a:solidFill>
              </a:rPr>
              <a:t>200</a:t>
            </a:r>
            <a:r>
              <a:t>)</a:t>
            </a:r>
          </a:p>
        </p:txBody>
      </p:sp>
      <p:pic>
        <p:nvPicPr>
          <p:cNvPr id="595" name="Oval Oval" descr="Oval Oval"/>
          <p:cNvPicPr>
            <a:picLocks noChangeAspect="0"/>
          </p:cNvPicPr>
          <p:nvPr/>
        </p:nvPicPr>
        <p:blipFill>
          <a:blip r:embed="rId3">
            <a:extLst/>
          </a:blip>
          <a:stretch>
            <a:fillRect/>
          </a:stretch>
        </p:blipFill>
        <p:spPr>
          <a:xfrm>
            <a:off x="2679231" y="7310049"/>
            <a:ext cx="14168886" cy="1150873"/>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95"/>
                                        </p:tgtEl>
                                        <p:attrNameLst>
                                          <p:attrName>style.visibility</p:attrName>
                                        </p:attrNameLst>
                                      </p:cBhvr>
                                      <p:to>
                                        <p:strVal val="visible"/>
                                      </p:to>
                                    </p:set>
                                    <p:animEffect filter="dissolve" transition="in">
                                      <p:cBhvr>
                                        <p:cTn id="7" dur="2000"/>
                                        <p:tgtEl>
                                          <p:spTgt spid="5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95" grpId="1"/>
    </p:bld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8" name="Regresia Softmax"/>
          <p:cNvSpPr txBox="1"/>
          <p:nvPr>
            <p:ph type="title"/>
          </p:nvPr>
        </p:nvSpPr>
        <p:spPr>
          <a:xfrm>
            <a:off x="1219200" y="770025"/>
            <a:ext cx="21945600" cy="1727201"/>
          </a:xfrm>
          <a:prstGeom prst="rect">
            <a:avLst/>
          </a:prstGeom>
        </p:spPr>
        <p:txBody>
          <a:bodyPr/>
          <a:lstStyle/>
          <a:p>
            <a:pPr/>
            <a:r>
              <a:t>Regresia Softmax</a:t>
            </a:r>
          </a:p>
        </p:txBody>
      </p:sp>
      <p:sp>
        <p:nvSpPr>
          <p:cNvPr id="599" name="log_reg_softmax = LogisticRegression(multi_class='multinomial', solver='lbfgs', C = 8, max_iter=200)"/>
          <p:cNvSpPr txBox="1"/>
          <p:nvPr/>
        </p:nvSpPr>
        <p:spPr>
          <a:xfrm>
            <a:off x="714691" y="4533287"/>
            <a:ext cx="27069974" cy="12783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4100">
                <a:latin typeface="Arial"/>
                <a:ea typeface="Arial"/>
                <a:cs typeface="Arial"/>
                <a:sym typeface="Arial"/>
              </a:defRPr>
            </a:pPr>
            <a:r>
              <a:t>log_reg_softmax = LogisticRegression(multi_class=</a:t>
            </a:r>
            <a:r>
              <a:rPr>
                <a:solidFill>
                  <a:srgbClr val="A31515"/>
                </a:solidFill>
              </a:rPr>
              <a:t>'multinomial'</a:t>
            </a:r>
            <a:r>
              <a:t>, solver=</a:t>
            </a:r>
            <a:r>
              <a:rPr>
                <a:solidFill>
                  <a:srgbClr val="A31515"/>
                </a:solidFill>
              </a:rPr>
              <a:t>'lbfgs'</a:t>
            </a:r>
            <a:r>
              <a:t>, C = </a:t>
            </a:r>
            <a:r>
              <a:rPr>
                <a:solidFill>
                  <a:srgbClr val="116644"/>
                </a:solidFill>
              </a:rPr>
              <a:t>8</a:t>
            </a:r>
            <a:r>
              <a:t>, max_iter=</a:t>
            </a:r>
            <a:r>
              <a:rPr>
                <a:solidFill>
                  <a:srgbClr val="116644"/>
                </a:solidFill>
              </a:rPr>
              <a:t>200</a:t>
            </a:r>
            <a:r>
              <a:t>)</a:t>
            </a:r>
          </a:p>
        </p:txBody>
      </p:sp>
      <p:pic>
        <p:nvPicPr>
          <p:cNvPr id="600" name="Linie Linie" descr="Linie Linie"/>
          <p:cNvPicPr>
            <a:picLocks noChangeAspect="0"/>
          </p:cNvPicPr>
          <p:nvPr/>
        </p:nvPicPr>
        <p:blipFill>
          <a:blip r:embed="rId2">
            <a:extLst/>
          </a:blip>
          <a:stretch>
            <a:fillRect/>
          </a:stretch>
        </p:blipFill>
        <p:spPr>
          <a:xfrm rot="18088077">
            <a:off x="11700282" y="6207511"/>
            <a:ext cx="2118511" cy="405592"/>
          </a:xfrm>
          <a:prstGeom prst="rect">
            <a:avLst/>
          </a:prstGeom>
        </p:spPr>
      </p:pic>
      <p:pic>
        <p:nvPicPr>
          <p:cNvPr id="602" name="Linie Linie" descr="Linie Linie"/>
          <p:cNvPicPr>
            <a:picLocks noChangeAspect="0"/>
          </p:cNvPicPr>
          <p:nvPr/>
        </p:nvPicPr>
        <p:blipFill>
          <a:blip r:embed="rId2">
            <a:extLst/>
          </a:blip>
          <a:stretch>
            <a:fillRect/>
          </a:stretch>
        </p:blipFill>
        <p:spPr>
          <a:xfrm rot="18088077">
            <a:off x="15423080" y="6207511"/>
            <a:ext cx="2118511" cy="405592"/>
          </a:xfrm>
          <a:prstGeom prst="rect">
            <a:avLst/>
          </a:prstGeom>
        </p:spPr>
      </p:pic>
      <p:sp>
        <p:nvSpPr>
          <p:cNvPr id="604" name="tipul de clasificare…"/>
          <p:cNvSpPr txBox="1"/>
          <p:nvPr/>
        </p:nvSpPr>
        <p:spPr>
          <a:xfrm>
            <a:off x="6220098" y="7338119"/>
            <a:ext cx="7600362" cy="182605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700"/>
            </a:pPr>
            <a:r>
              <a:t>tipul de clasificare </a:t>
            </a:r>
          </a:p>
          <a:p>
            <a:pPr>
              <a:defRPr sz="2700"/>
            </a:pPr>
            <a:r>
              <a:t>(Dacă e nesetat avem regresie logistica, daca îl setăm cu „multinomial” avem regresie softmax)</a:t>
            </a:r>
          </a:p>
        </p:txBody>
      </p:sp>
      <p:sp>
        <p:nvSpPr>
          <p:cNvPr id="605" name="Algoritmul folosit behind the scenes pentru optimizare"/>
          <p:cNvSpPr txBox="1"/>
          <p:nvPr/>
        </p:nvSpPr>
        <p:spPr>
          <a:xfrm>
            <a:off x="13842438" y="7695218"/>
            <a:ext cx="5761289" cy="11118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lvl1pPr>
          </a:lstStyle>
          <a:p>
            <a:pPr/>
            <a:r>
              <a:t>Algoritmul folosit behind the scenes pentru optimizare</a:t>
            </a:r>
          </a:p>
        </p:txBody>
      </p:sp>
      <p:pic>
        <p:nvPicPr>
          <p:cNvPr id="606" name="Linie Linie" descr="Linie Linie"/>
          <p:cNvPicPr>
            <a:picLocks noChangeAspect="0"/>
          </p:cNvPicPr>
          <p:nvPr/>
        </p:nvPicPr>
        <p:blipFill>
          <a:blip r:embed="rId3">
            <a:extLst/>
          </a:blip>
          <a:stretch>
            <a:fillRect/>
          </a:stretch>
        </p:blipFill>
        <p:spPr>
          <a:xfrm rot="6260221">
            <a:off x="18660564" y="3341194"/>
            <a:ext cx="1834317" cy="405592"/>
          </a:xfrm>
          <a:prstGeom prst="rect">
            <a:avLst/>
          </a:prstGeom>
        </p:spPr>
      </p:pic>
      <p:sp>
        <p:nvSpPr>
          <p:cNvPr id="608" name="Constanta de regularizare (valoare mai mică înseamnă regularizare mai mare)"/>
          <p:cNvSpPr txBox="1"/>
          <p:nvPr/>
        </p:nvSpPr>
        <p:spPr>
          <a:xfrm>
            <a:off x="18950003" y="691997"/>
            <a:ext cx="5227261" cy="18052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Constanta de regularizare (valoare mai mică înseamnă regularizare mai mare)</a:t>
            </a:r>
          </a:p>
        </p:txBody>
      </p:sp>
      <p:pic>
        <p:nvPicPr>
          <p:cNvPr id="609" name="Linie Linie" descr="Linie Linie"/>
          <p:cNvPicPr>
            <a:picLocks noChangeAspect="0"/>
          </p:cNvPicPr>
          <p:nvPr/>
        </p:nvPicPr>
        <p:blipFill>
          <a:blip r:embed="rId4">
            <a:extLst/>
          </a:blip>
          <a:stretch>
            <a:fillRect/>
          </a:stretch>
        </p:blipFill>
        <p:spPr>
          <a:xfrm rot="15783801">
            <a:off x="21181041" y="6203932"/>
            <a:ext cx="1688647" cy="405591"/>
          </a:xfrm>
          <a:prstGeom prst="rect">
            <a:avLst/>
          </a:prstGeom>
        </p:spPr>
      </p:pic>
      <p:sp>
        <p:nvSpPr>
          <p:cNvPr id="611" name="numărul maxim de iterații pe care solver-ul le poate parcurge până converge (găsește o soluție optimă)."/>
          <p:cNvSpPr txBox="1"/>
          <p:nvPr/>
        </p:nvSpPr>
        <p:spPr>
          <a:xfrm>
            <a:off x="19092380" y="7125419"/>
            <a:ext cx="5761288" cy="14503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lvl1pPr>
          </a:lstStyle>
          <a:p>
            <a:pPr/>
            <a:r>
              <a:t>numărul maxim de iterații pe care solver-ul le poate parcurge până converge (găsește o soluție optimă).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600"/>
                                        </p:tgtEl>
                                        <p:attrNameLst>
                                          <p:attrName>style.visibility</p:attrName>
                                        </p:attrNameLst>
                                      </p:cBhvr>
                                      <p:to>
                                        <p:strVal val="visible"/>
                                      </p:to>
                                    </p:set>
                                    <p:animEffect filter="dissolve" transition="in">
                                      <p:cBhvr>
                                        <p:cTn id="7" dur="2000"/>
                                        <p:tgtEl>
                                          <p:spTgt spid="600"/>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604"/>
                                        </p:tgtEl>
                                        <p:attrNameLst>
                                          <p:attrName>style.visibility</p:attrName>
                                        </p:attrNameLst>
                                      </p:cBhvr>
                                      <p:to>
                                        <p:strVal val="visible"/>
                                      </p:to>
                                    </p:set>
                                    <p:anim calcmode="lin" valueType="num">
                                      <p:cBhvr>
                                        <p:cTn id="11" dur="1000" fill="hold"/>
                                        <p:tgtEl>
                                          <p:spTgt spid="604"/>
                                        </p:tgtEl>
                                        <p:attrNameLst>
                                          <p:attrName>ppt_x</p:attrName>
                                        </p:attrNameLst>
                                      </p:cBhvr>
                                      <p:tavLst>
                                        <p:tav tm="0">
                                          <p:val>
                                            <p:strVal val="0-#ppt_w/2"/>
                                          </p:val>
                                        </p:tav>
                                        <p:tav tm="100000">
                                          <p:val>
                                            <p:strVal val="#ppt_x"/>
                                          </p:val>
                                        </p:tav>
                                      </p:tavLst>
                                    </p:anim>
                                    <p:anim calcmode="lin" valueType="num">
                                      <p:cBhvr>
                                        <p:cTn id="12" dur="1000" fill="hold"/>
                                        <p:tgtEl>
                                          <p:spTgt spid="60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ID="9" grpId="3" fill="hold">
                                  <p:stCondLst>
                                    <p:cond delay="0"/>
                                  </p:stCondLst>
                                  <p:iterate type="el" backwards="0">
                                    <p:tmAbs val="0"/>
                                  </p:iterate>
                                  <p:childTnLst>
                                    <p:set>
                                      <p:cBhvr>
                                        <p:cTn id="16" fill="hold"/>
                                        <p:tgtEl>
                                          <p:spTgt spid="602"/>
                                        </p:tgtEl>
                                        <p:attrNameLst>
                                          <p:attrName>style.visibility</p:attrName>
                                        </p:attrNameLst>
                                      </p:cBhvr>
                                      <p:to>
                                        <p:strVal val="visible"/>
                                      </p:to>
                                    </p:set>
                                    <p:animEffect filter="dissolve" transition="in">
                                      <p:cBhvr>
                                        <p:cTn id="17" dur="2000"/>
                                        <p:tgtEl>
                                          <p:spTgt spid="602"/>
                                        </p:tgtEl>
                                      </p:cBhvr>
                                    </p:animEffect>
                                  </p:childTnLst>
                                </p:cTn>
                              </p:par>
                            </p:childTnLst>
                          </p:cTn>
                        </p:par>
                        <p:par>
                          <p:cTn id="18" fill="hold">
                            <p:stCondLst>
                              <p:cond delay="2000"/>
                            </p:stCondLst>
                            <p:childTnLst>
                              <p:par>
                                <p:cTn id="19" presetClass="entr" nodeType="afterEffect" presetSubtype="8" presetID="2" grpId="4" fill="hold">
                                  <p:stCondLst>
                                    <p:cond delay="0"/>
                                  </p:stCondLst>
                                  <p:iterate type="el" backwards="0">
                                    <p:tmAbs val="0"/>
                                  </p:iterate>
                                  <p:childTnLst>
                                    <p:set>
                                      <p:cBhvr>
                                        <p:cTn id="20" fill="hold"/>
                                        <p:tgtEl>
                                          <p:spTgt spid="605"/>
                                        </p:tgtEl>
                                        <p:attrNameLst>
                                          <p:attrName>style.visibility</p:attrName>
                                        </p:attrNameLst>
                                      </p:cBhvr>
                                      <p:to>
                                        <p:strVal val="visible"/>
                                      </p:to>
                                    </p:set>
                                    <p:anim calcmode="lin" valueType="num">
                                      <p:cBhvr>
                                        <p:cTn id="21" dur="1000" fill="hold"/>
                                        <p:tgtEl>
                                          <p:spTgt spid="605"/>
                                        </p:tgtEl>
                                        <p:attrNameLst>
                                          <p:attrName>ppt_x</p:attrName>
                                        </p:attrNameLst>
                                      </p:cBhvr>
                                      <p:tavLst>
                                        <p:tav tm="0">
                                          <p:val>
                                            <p:strVal val="0-#ppt_w/2"/>
                                          </p:val>
                                        </p:tav>
                                        <p:tav tm="100000">
                                          <p:val>
                                            <p:strVal val="#ppt_x"/>
                                          </p:val>
                                        </p:tav>
                                      </p:tavLst>
                                    </p:anim>
                                    <p:anim calcmode="lin" valueType="num">
                                      <p:cBhvr>
                                        <p:cTn id="22" dur="1000" fill="hold"/>
                                        <p:tgtEl>
                                          <p:spTgt spid="60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606"/>
                                        </p:tgtEl>
                                        <p:attrNameLst>
                                          <p:attrName>style.visibility</p:attrName>
                                        </p:attrNameLst>
                                      </p:cBhvr>
                                      <p:to>
                                        <p:strVal val="visible"/>
                                      </p:to>
                                    </p:set>
                                    <p:animEffect filter="dissolve" transition="in">
                                      <p:cBhvr>
                                        <p:cTn id="27" dur="2000"/>
                                        <p:tgtEl>
                                          <p:spTgt spid="606"/>
                                        </p:tgtEl>
                                      </p:cBhvr>
                                    </p:animEffect>
                                  </p:childTnLst>
                                </p:cTn>
                              </p:par>
                            </p:childTnLst>
                          </p:cTn>
                        </p:par>
                        <p:par>
                          <p:cTn id="28" fill="hold">
                            <p:stCondLst>
                              <p:cond delay="2000"/>
                            </p:stCondLst>
                            <p:childTnLst>
                              <p:par>
                                <p:cTn id="29" presetClass="entr" nodeType="afterEffect" presetSubtype="8" presetID="2" grpId="6" fill="hold">
                                  <p:stCondLst>
                                    <p:cond delay="0"/>
                                  </p:stCondLst>
                                  <p:iterate type="el" backwards="0">
                                    <p:tmAbs val="0"/>
                                  </p:iterate>
                                  <p:childTnLst>
                                    <p:set>
                                      <p:cBhvr>
                                        <p:cTn id="30" fill="hold"/>
                                        <p:tgtEl>
                                          <p:spTgt spid="608"/>
                                        </p:tgtEl>
                                        <p:attrNameLst>
                                          <p:attrName>style.visibility</p:attrName>
                                        </p:attrNameLst>
                                      </p:cBhvr>
                                      <p:to>
                                        <p:strVal val="visible"/>
                                      </p:to>
                                    </p:set>
                                    <p:anim calcmode="lin" valueType="num">
                                      <p:cBhvr>
                                        <p:cTn id="31" dur="1000" fill="hold"/>
                                        <p:tgtEl>
                                          <p:spTgt spid="608"/>
                                        </p:tgtEl>
                                        <p:attrNameLst>
                                          <p:attrName>ppt_x</p:attrName>
                                        </p:attrNameLst>
                                      </p:cBhvr>
                                      <p:tavLst>
                                        <p:tav tm="0">
                                          <p:val>
                                            <p:strVal val="0-#ppt_w/2"/>
                                          </p:val>
                                        </p:tav>
                                        <p:tav tm="100000">
                                          <p:val>
                                            <p:strVal val="#ppt_x"/>
                                          </p:val>
                                        </p:tav>
                                      </p:tavLst>
                                    </p:anim>
                                    <p:anim calcmode="lin" valueType="num">
                                      <p:cBhvr>
                                        <p:cTn id="32" dur="1000" fill="hold"/>
                                        <p:tgtEl>
                                          <p:spTgt spid="60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ID="9" grpId="7" fill="hold">
                                  <p:stCondLst>
                                    <p:cond delay="0"/>
                                  </p:stCondLst>
                                  <p:iterate type="el" backwards="0">
                                    <p:tmAbs val="0"/>
                                  </p:iterate>
                                  <p:childTnLst>
                                    <p:set>
                                      <p:cBhvr>
                                        <p:cTn id="36" fill="hold"/>
                                        <p:tgtEl>
                                          <p:spTgt spid="609"/>
                                        </p:tgtEl>
                                        <p:attrNameLst>
                                          <p:attrName>style.visibility</p:attrName>
                                        </p:attrNameLst>
                                      </p:cBhvr>
                                      <p:to>
                                        <p:strVal val="visible"/>
                                      </p:to>
                                    </p:set>
                                    <p:animEffect filter="dissolve" transition="in">
                                      <p:cBhvr>
                                        <p:cTn id="37" dur="2000"/>
                                        <p:tgtEl>
                                          <p:spTgt spid="609"/>
                                        </p:tgtEl>
                                      </p:cBhvr>
                                    </p:animEffect>
                                  </p:childTnLst>
                                </p:cTn>
                              </p:par>
                            </p:childTnLst>
                          </p:cTn>
                        </p:par>
                        <p:par>
                          <p:cTn id="38" fill="hold">
                            <p:stCondLst>
                              <p:cond delay="2000"/>
                            </p:stCondLst>
                            <p:childTnLst>
                              <p:par>
                                <p:cTn id="39" presetClass="entr" nodeType="afterEffect" presetSubtype="8" presetID="2" grpId="8" fill="hold">
                                  <p:stCondLst>
                                    <p:cond delay="0"/>
                                  </p:stCondLst>
                                  <p:iterate type="el" backwards="0">
                                    <p:tmAbs val="0"/>
                                  </p:iterate>
                                  <p:childTnLst>
                                    <p:set>
                                      <p:cBhvr>
                                        <p:cTn id="40" fill="hold"/>
                                        <p:tgtEl>
                                          <p:spTgt spid="611"/>
                                        </p:tgtEl>
                                        <p:attrNameLst>
                                          <p:attrName>style.visibility</p:attrName>
                                        </p:attrNameLst>
                                      </p:cBhvr>
                                      <p:to>
                                        <p:strVal val="visible"/>
                                      </p:to>
                                    </p:set>
                                    <p:anim calcmode="lin" valueType="num">
                                      <p:cBhvr>
                                        <p:cTn id="41" dur="1000" fill="hold"/>
                                        <p:tgtEl>
                                          <p:spTgt spid="611"/>
                                        </p:tgtEl>
                                        <p:attrNameLst>
                                          <p:attrName>ppt_x</p:attrName>
                                        </p:attrNameLst>
                                      </p:cBhvr>
                                      <p:tavLst>
                                        <p:tav tm="0">
                                          <p:val>
                                            <p:strVal val="0-#ppt_w/2"/>
                                          </p:val>
                                        </p:tav>
                                        <p:tav tm="100000">
                                          <p:val>
                                            <p:strVal val="#ppt_x"/>
                                          </p:val>
                                        </p:tav>
                                      </p:tavLst>
                                    </p:anim>
                                    <p:anim calcmode="lin" valueType="num">
                                      <p:cBhvr>
                                        <p:cTn id="42" dur="1000" fill="hold"/>
                                        <p:tgtEl>
                                          <p:spTgt spid="6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00" grpId="1"/>
      <p:bldP build="whole" bldLvl="1" animBg="1" rev="0" advAuto="0" spid="608" grpId="6"/>
      <p:bldP build="whole" bldLvl="1" animBg="1" rev="0" advAuto="0" spid="602" grpId="3"/>
      <p:bldP build="whole" bldLvl="1" animBg="1" rev="0" advAuto="0" spid="611" grpId="8"/>
      <p:bldP build="whole" bldLvl="1" animBg="1" rev="0" advAuto="0" spid="604" grpId="2"/>
      <p:bldP build="whole" bldLvl="1" animBg="1" rev="0" advAuto="0" spid="605" grpId="4"/>
      <p:bldP build="whole" bldLvl="1" animBg="1" rev="0" advAuto="0" spid="609" grpId="7"/>
      <p:bldP build="whole" bldLvl="1" animBg="1" rev="0" advAuto="0" spid="606" grpId="5"/>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3" name="Regresia Softmax"/>
          <p:cNvSpPr txBox="1"/>
          <p:nvPr>
            <p:ph type="title"/>
          </p:nvPr>
        </p:nvSpPr>
        <p:spPr>
          <a:prstGeom prst="rect">
            <a:avLst/>
          </a:prstGeom>
        </p:spPr>
        <p:txBody>
          <a:bodyPr/>
          <a:lstStyle/>
          <a:p>
            <a:pPr/>
            <a:r>
              <a:t>Regresia Softmax</a:t>
            </a:r>
          </a:p>
        </p:txBody>
      </p:sp>
      <p:pic>
        <p:nvPicPr>
          <p:cNvPr id="614" name="Captură de ecran din 2024-10-07 la 13.23.28.png" descr="Captură de ecran din 2024-10-07 la 13.23.28.png"/>
          <p:cNvPicPr>
            <a:picLocks noChangeAspect="1"/>
          </p:cNvPicPr>
          <p:nvPr/>
        </p:nvPicPr>
        <p:blipFill>
          <a:blip r:embed="rId2">
            <a:extLst/>
          </a:blip>
          <a:stretch>
            <a:fillRect/>
          </a:stretch>
        </p:blipFill>
        <p:spPr>
          <a:xfrm>
            <a:off x="1857500" y="3139240"/>
            <a:ext cx="20669000" cy="8916040"/>
          </a:xfrm>
          <a:prstGeom prst="rect">
            <a:avLst/>
          </a:prstGeom>
          <a:ln w="12700">
            <a:miter lim="400000"/>
          </a:ln>
        </p:spPr>
      </p:pic>
      <p:sp>
        <p:nvSpPr>
          <p:cNvPr id="615" name="log_reg_softmax = LogisticRegression(multi_class='multinomial', solver='lbfgs', C = 8, max_iter=200)"/>
          <p:cNvSpPr txBox="1"/>
          <p:nvPr/>
        </p:nvSpPr>
        <p:spPr>
          <a:xfrm>
            <a:off x="2942678" y="7644490"/>
            <a:ext cx="17261272" cy="7778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2300">
                <a:latin typeface="Arial"/>
                <a:ea typeface="Arial"/>
                <a:cs typeface="Arial"/>
                <a:sym typeface="Arial"/>
              </a:defRPr>
            </a:pPr>
            <a:r>
              <a:t>log_reg_softmax = LogisticRegression(multi_class=</a:t>
            </a:r>
            <a:r>
              <a:rPr>
                <a:solidFill>
                  <a:srgbClr val="A31515"/>
                </a:solidFill>
              </a:rPr>
              <a:t>'multinomial'</a:t>
            </a:r>
            <a:r>
              <a:t>, solver=</a:t>
            </a:r>
            <a:r>
              <a:rPr>
                <a:solidFill>
                  <a:srgbClr val="A31515"/>
                </a:solidFill>
              </a:rPr>
              <a:t>'lbfgs'</a:t>
            </a:r>
            <a:r>
              <a:t>, C = </a:t>
            </a:r>
            <a:r>
              <a:rPr>
                <a:solidFill>
                  <a:srgbClr val="116644"/>
                </a:solidFill>
              </a:rPr>
              <a:t>8</a:t>
            </a:r>
            <a:r>
              <a:t>, max_iter=</a:t>
            </a:r>
            <a:r>
              <a:rPr>
                <a:solidFill>
                  <a:srgbClr val="116644"/>
                </a:solidFill>
              </a:rPr>
              <a:t>200</a:t>
            </a:r>
            <a:r>
              <a:t>)</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7" name="That’s it for today!…"/>
          <p:cNvSpPr txBox="1"/>
          <p:nvPr>
            <p:ph type="title"/>
          </p:nvPr>
        </p:nvSpPr>
        <p:spPr>
          <a:xfrm>
            <a:off x="1219200" y="5994400"/>
            <a:ext cx="21945600" cy="1727200"/>
          </a:xfrm>
          <a:prstGeom prst="rect">
            <a:avLst/>
          </a:prstGeom>
        </p:spPr>
        <p:txBody>
          <a:bodyPr/>
          <a:lstStyle/>
          <a:p>
            <a:pPr defTabSz="1389888">
              <a:defRPr spc="-47" sz="4788"/>
            </a:pPr>
            <a:r>
              <a:t>That’s it for today!</a:t>
            </a:r>
          </a:p>
          <a:p>
            <a:pPr defTabSz="1389888">
              <a:defRPr spc="-47" sz="4788"/>
            </a:pPr>
            <a:r>
              <a:t>Now let’s do some exercises.</a:t>
            </a:r>
          </a:p>
        </p:txBody>
      </p:sp>
    </p:spTree>
  </p:cSld>
  <p:clrMapOvr>
    <a:masterClrMapping/>
  </p:clrMapOvr>
  <mc:AlternateContent xmlns:mc="http://schemas.openxmlformats.org/markup-compatibility/2006">
    <mc:Choice xmlns:p14="http://schemas.microsoft.com/office/powerpoint/2010/main" Requires="p14">
      <p:transition spd="slow" advClick="1" p14:dur="2000">
        <p14:warp dir="in"/>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9" name="That’s it for today!…"/>
          <p:cNvSpPr txBox="1"/>
          <p:nvPr>
            <p:ph type="title"/>
          </p:nvPr>
        </p:nvSpPr>
        <p:spPr>
          <a:xfrm>
            <a:off x="1219199" y="929700"/>
            <a:ext cx="21945601" cy="1727201"/>
          </a:xfrm>
          <a:prstGeom prst="rect">
            <a:avLst/>
          </a:prstGeom>
        </p:spPr>
        <p:txBody>
          <a:bodyPr/>
          <a:lstStyle/>
          <a:p>
            <a:pPr defTabSz="1389888">
              <a:defRPr spc="-47" sz="4788"/>
            </a:pPr>
            <a:r>
              <a:t>That’s it for today!</a:t>
            </a:r>
          </a:p>
          <a:p>
            <a:pPr defTabSz="1389888">
              <a:defRPr spc="-47" sz="4788"/>
            </a:pPr>
            <a:r>
              <a:t>Now let’s do some exercises.</a:t>
            </a:r>
          </a:p>
        </p:txBody>
      </p:sp>
      <p:pic>
        <p:nvPicPr>
          <p:cNvPr id="620" name="Captură de ecran din 2024-11-09 la 15.07.05.png" descr="Captură de ecran din 2024-11-09 la 15.07.05.png"/>
          <p:cNvPicPr>
            <a:picLocks noChangeAspect="1"/>
          </p:cNvPicPr>
          <p:nvPr/>
        </p:nvPicPr>
        <p:blipFill>
          <a:blip r:embed="rId2">
            <a:extLst/>
          </a:blip>
          <a:stretch>
            <a:fillRect/>
          </a:stretch>
        </p:blipFill>
        <p:spPr>
          <a:xfrm>
            <a:off x="6933005" y="2874850"/>
            <a:ext cx="11139245" cy="1002153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