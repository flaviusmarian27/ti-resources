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2438337"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Bold"/>
        <a:ea typeface="Canela Bold"/>
        <a:cs typeface="Canela Bold"/>
        <a:sym typeface="Canela Bold"/>
      </a:defRPr>
    </a:lvl1pPr>
    <a:lvl2pPr marL="0" marR="0" indent="0" algn="l" defTabSz="2438337"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Bold"/>
        <a:ea typeface="Canela Bold"/>
        <a:cs typeface="Canela Bold"/>
        <a:sym typeface="Canela Bold"/>
      </a:defRPr>
    </a:lvl2pPr>
    <a:lvl3pPr marL="0" marR="0" indent="0" algn="l" defTabSz="2438337"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Bold"/>
        <a:ea typeface="Canela Bold"/>
        <a:cs typeface="Canela Bold"/>
        <a:sym typeface="Canela Bold"/>
      </a:defRPr>
    </a:lvl3pPr>
    <a:lvl4pPr marL="0" marR="0" indent="0" algn="l" defTabSz="2438337"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Bold"/>
        <a:ea typeface="Canela Bold"/>
        <a:cs typeface="Canela Bold"/>
        <a:sym typeface="Canela Bold"/>
      </a:defRPr>
    </a:lvl4pPr>
    <a:lvl5pPr marL="0" marR="0" indent="0" algn="l" defTabSz="2438337"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Bold"/>
        <a:ea typeface="Canela Bold"/>
        <a:cs typeface="Canela Bold"/>
        <a:sym typeface="Canela Bold"/>
      </a:defRPr>
    </a:lvl5pPr>
    <a:lvl6pPr marL="0" marR="0" indent="0" algn="l" defTabSz="2438337"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Bold"/>
        <a:ea typeface="Canela Bold"/>
        <a:cs typeface="Canela Bold"/>
        <a:sym typeface="Canela Bold"/>
      </a:defRPr>
    </a:lvl6pPr>
    <a:lvl7pPr marL="0" marR="0" indent="0" algn="l" defTabSz="2438337"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Bold"/>
        <a:ea typeface="Canela Bold"/>
        <a:cs typeface="Canela Bold"/>
        <a:sym typeface="Canela Bold"/>
      </a:defRPr>
    </a:lvl7pPr>
    <a:lvl8pPr marL="0" marR="0" indent="0" algn="l" defTabSz="2438337"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Bold"/>
        <a:ea typeface="Canela Bold"/>
        <a:cs typeface="Canela Bold"/>
        <a:sym typeface="Canela Bold"/>
      </a:defRPr>
    </a:lvl8pPr>
    <a:lvl9pPr marL="0" marR="0" indent="0" algn="l" defTabSz="2438337"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Bold"/>
        <a:ea typeface="Canela Bold"/>
        <a:cs typeface="Canela Bold"/>
        <a:sym typeface="Canela Bold"/>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n" i="off">
        <a:font>
          <a:latin typeface="Canela Bold"/>
          <a:ea typeface="Canela Bold"/>
          <a:cs typeface="Canela Bold"/>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5EE"/>
          </a:solidFill>
        </a:fill>
      </a:tcStyle>
    </a:wholeTbl>
    <a:band2H>
      <a:tcTxStyle b="def" i="def"/>
      <a:tcStyle>
        <a:tcBdr/>
        <a:fill>
          <a:solidFill>
            <a:srgbClr val="E8EBF7"/>
          </a:solidFill>
        </a:fill>
      </a:tcStyle>
    </a:band2H>
    <a:firstCol>
      <a:tcTxStyle b="on" i="off">
        <a:font>
          <a:latin typeface="Canela Bold"/>
          <a:ea typeface="Canela Bold"/>
          <a:cs typeface="Canela Bol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Canela Bold"/>
          <a:ea typeface="Canela Bold"/>
          <a:cs typeface="Canela Bold"/>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Canela Bold"/>
          <a:ea typeface="Canela Bold"/>
          <a:cs typeface="Canela Bol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n" i="off">
        <a:font>
          <a:latin typeface="Canela Bold"/>
          <a:ea typeface="Canela Bold"/>
          <a:cs typeface="Canela Bold"/>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EE5CD"/>
          </a:solidFill>
        </a:fill>
      </a:tcStyle>
    </a:wholeTbl>
    <a:band2H>
      <a:tcTxStyle b="def" i="def"/>
      <a:tcStyle>
        <a:tcBdr/>
        <a:fill>
          <a:solidFill>
            <a:srgbClr val="E8F2E7"/>
          </a:solidFill>
        </a:fill>
      </a:tcStyle>
    </a:band2H>
    <a:firstCol>
      <a:tcTxStyle b="on" i="off">
        <a:font>
          <a:latin typeface="Canela Bold"/>
          <a:ea typeface="Canela Bold"/>
          <a:cs typeface="Canela Bol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Canela Bold"/>
          <a:ea typeface="Canela Bold"/>
          <a:cs typeface="Canela Bold"/>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Canela Bold"/>
          <a:ea typeface="Canela Bold"/>
          <a:cs typeface="Canela Bol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n" i="off">
        <a:font>
          <a:latin typeface="Canela Bold"/>
          <a:ea typeface="Canela Bold"/>
          <a:cs typeface="Canela Bold"/>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8D3E5"/>
          </a:solidFill>
        </a:fill>
      </a:tcStyle>
    </a:wholeTbl>
    <a:band2H>
      <a:tcTxStyle b="def" i="def"/>
      <a:tcStyle>
        <a:tcBdr/>
        <a:fill>
          <a:solidFill>
            <a:srgbClr val="ECEAF3"/>
          </a:solidFill>
        </a:fill>
      </a:tcStyle>
    </a:band2H>
    <a:firstCol>
      <a:tcTxStyle b="on" i="off">
        <a:font>
          <a:latin typeface="Canela Bold"/>
          <a:ea typeface="Canela Bold"/>
          <a:cs typeface="Canela Bol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Canela Bold"/>
          <a:ea typeface="Canela Bold"/>
          <a:cs typeface="Canela Bold"/>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Canela Bold"/>
          <a:ea typeface="Canela Bold"/>
          <a:cs typeface="Canela Bol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n" i="off">
        <a:font>
          <a:latin typeface="Canela Bold"/>
          <a:ea typeface="Canela Bold"/>
          <a:cs typeface="Canela Bold"/>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
          <a:latin typeface="Canela Bold"/>
          <a:ea typeface="Canela Bold"/>
          <a:cs typeface="Canela Bold"/>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Canela Bold"/>
          <a:ea typeface="Canela Bold"/>
          <a:cs typeface="Canela Bold"/>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Canela Bold"/>
          <a:ea typeface="Canela Bold"/>
          <a:cs typeface="Canela Bold"/>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n" i="off">
        <a:font>
          <a:latin typeface="Canela Bold"/>
          <a:ea typeface="Canela Bold"/>
          <a:cs typeface="Canela Bold"/>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
          <a:latin typeface="Canela Bold"/>
          <a:ea typeface="Canela Bold"/>
          <a:cs typeface="Canela Bol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
          <a:latin typeface="Canela Bold"/>
          <a:ea typeface="Canela Bold"/>
          <a:cs typeface="Canela Bold"/>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
          <a:latin typeface="Canela Bold"/>
          <a:ea typeface="Canela Bold"/>
          <a:cs typeface="Canela Bol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n" i="off">
        <a:font>
          <a:latin typeface="Canela Bold"/>
          <a:ea typeface="Canela Bold"/>
          <a:cs typeface="Canela Bold"/>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
          <a:latin typeface="Canela Bold"/>
          <a:ea typeface="Canela Bold"/>
          <a:cs typeface="Canela Bold"/>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
          <a:latin typeface="Canela Bold"/>
          <a:ea typeface="Canela Bold"/>
          <a:cs typeface="Canela Bold"/>
        </a:font>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
          <a:latin typeface="Canela Bold"/>
          <a:ea typeface="Canela Bold"/>
          <a:cs typeface="Canela Bold"/>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68" name="Shape 168"/>
          <p:cNvSpPr/>
          <p:nvPr>
            <p:ph type="sldImg"/>
          </p:nvPr>
        </p:nvSpPr>
        <p:spPr>
          <a:xfrm>
            <a:off x="1143000" y="685800"/>
            <a:ext cx="4572000" cy="3429000"/>
          </a:xfrm>
          <a:prstGeom prst="rect">
            <a:avLst/>
          </a:prstGeom>
        </p:spPr>
        <p:txBody>
          <a:bodyPr/>
          <a:lstStyle/>
          <a:p>
            <a:pPr/>
          </a:p>
        </p:txBody>
      </p:sp>
      <p:sp>
        <p:nvSpPr>
          <p:cNvPr id="169" name="Shape 16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u">
    <p:spTree>
      <p:nvGrpSpPr>
        <p:cNvPr id="1" name=""/>
        <p:cNvGrpSpPr/>
        <p:nvPr/>
      </p:nvGrpSpPr>
      <p:grpSpPr>
        <a:xfrm>
          <a:off x="0" y="0"/>
          <a:ext cx="0" cy="0"/>
          <a:chOff x="0" y="0"/>
          <a:chExt cx="0" cy="0"/>
        </a:xfrm>
      </p:grpSpPr>
      <p:sp>
        <p:nvSpPr>
          <p:cNvPr id="11" name="Nivel corp unu…"/>
          <p:cNvSpPr txBox="1"/>
          <p:nvPr>
            <p:ph type="body" sz="quarter" idx="1" hasCustomPrompt="1"/>
          </p:nvPr>
        </p:nvSpPr>
        <p:spPr>
          <a:xfrm>
            <a:off x="1219200" y="11986162"/>
            <a:ext cx="21945599" cy="605792"/>
          </a:xfrm>
          <a:prstGeom prst="rect">
            <a:avLst/>
          </a:prstGeom>
        </p:spPr>
        <p:txBody>
          <a:bodyPr/>
          <a:lstStyle>
            <a:lvl1pPr marL="0" indent="0" algn="ctr" defTabSz="808990">
              <a:lnSpc>
                <a:spcPct val="100000"/>
              </a:lnSpc>
              <a:spcBef>
                <a:spcPts val="0"/>
              </a:spcBef>
              <a:buSzTx/>
              <a:buNone/>
              <a:defRPr spc="-29" sz="2900">
                <a:latin typeface="Avenir Next Medium"/>
                <a:ea typeface="Avenir Next Medium"/>
                <a:cs typeface="Avenir Next Medium"/>
                <a:sym typeface="Avenir Next Medium"/>
              </a:defRPr>
            </a:lvl1pPr>
            <a:lvl2pPr marL="906029" indent="-359929" algn="ctr" defTabSz="808990">
              <a:lnSpc>
                <a:spcPct val="100000"/>
              </a:lnSpc>
              <a:spcBef>
                <a:spcPts val="0"/>
              </a:spcBef>
              <a:defRPr spc="-29" sz="2900">
                <a:latin typeface="Avenir Next Medium"/>
                <a:ea typeface="Avenir Next Medium"/>
                <a:cs typeface="Avenir Next Medium"/>
                <a:sym typeface="Avenir Next Medium"/>
              </a:defRPr>
            </a:lvl2pPr>
            <a:lvl3pPr marL="1452129" indent="-359929" algn="ctr" defTabSz="808990">
              <a:lnSpc>
                <a:spcPct val="100000"/>
              </a:lnSpc>
              <a:spcBef>
                <a:spcPts val="0"/>
              </a:spcBef>
              <a:defRPr spc="-29" sz="2900">
                <a:latin typeface="Avenir Next Medium"/>
                <a:ea typeface="Avenir Next Medium"/>
                <a:cs typeface="Avenir Next Medium"/>
                <a:sym typeface="Avenir Next Medium"/>
              </a:defRPr>
            </a:lvl3pPr>
            <a:lvl4pPr marL="1998229" indent="-359929" algn="ctr" defTabSz="808990">
              <a:lnSpc>
                <a:spcPct val="100000"/>
              </a:lnSpc>
              <a:spcBef>
                <a:spcPts val="0"/>
              </a:spcBef>
              <a:defRPr spc="-29" sz="2900">
                <a:latin typeface="Avenir Next Medium"/>
                <a:ea typeface="Avenir Next Medium"/>
                <a:cs typeface="Avenir Next Medium"/>
                <a:sym typeface="Avenir Next Medium"/>
              </a:defRPr>
            </a:lvl4pPr>
            <a:lvl5pPr marL="2544329" indent="-359929" algn="ctr" defTabSz="808990">
              <a:lnSpc>
                <a:spcPct val="100000"/>
              </a:lnSpc>
              <a:spcBef>
                <a:spcPts val="0"/>
              </a:spcBef>
              <a:defRPr spc="-29" sz="2900">
                <a:latin typeface="Avenir Next Medium"/>
                <a:ea typeface="Avenir Next Medium"/>
                <a:cs typeface="Avenir Next Medium"/>
                <a:sym typeface="Avenir Next Medium"/>
              </a:defRPr>
            </a:lvl5pPr>
          </a:lstStyle>
          <a:p>
            <a:pPr/>
            <a:r>
              <a:t>Autor și dată</a:t>
            </a:r>
          </a:p>
          <a:p>
            <a:pPr lvl="1"/>
            <a:r>
              <a:t/>
            </a:r>
          </a:p>
          <a:p>
            <a:pPr lvl="2"/>
            <a:r>
              <a:t/>
            </a:r>
          </a:p>
          <a:p>
            <a:pPr lvl="3"/>
            <a:r>
              <a:t/>
            </a:r>
          </a:p>
          <a:p>
            <a:pPr lvl="4"/>
            <a:r>
              <a:t/>
            </a:r>
          </a:p>
        </p:txBody>
      </p:sp>
      <p:sp>
        <p:nvSpPr>
          <p:cNvPr id="12" name="Titlu prezentare"/>
          <p:cNvSpPr txBox="1"/>
          <p:nvPr>
            <p:ph type="title" hasCustomPrompt="1"/>
          </p:nvPr>
        </p:nvSpPr>
        <p:spPr>
          <a:xfrm>
            <a:off x="1219200" y="3543300"/>
            <a:ext cx="21945600" cy="4267200"/>
          </a:xfrm>
          <a:prstGeom prst="rect">
            <a:avLst/>
          </a:prstGeom>
        </p:spPr>
        <p:txBody>
          <a:bodyPr anchor="b"/>
          <a:lstStyle>
            <a:lvl1pPr>
              <a:defRPr spc="-128" sz="12800"/>
            </a:lvl1pPr>
          </a:lstStyle>
          <a:p>
            <a:pPr/>
            <a:r>
              <a:t>Titlu prezentare</a:t>
            </a:r>
          </a:p>
        </p:txBody>
      </p:sp>
      <p:sp>
        <p:nvSpPr>
          <p:cNvPr id="13" name="Nivel corp unu…"/>
          <p:cNvSpPr txBox="1"/>
          <p:nvPr>
            <p:ph type="body" sz="quarter" idx="21" hasCustomPrompt="1"/>
          </p:nvPr>
        </p:nvSpPr>
        <p:spPr>
          <a:xfrm>
            <a:off x="1219200" y="7567579"/>
            <a:ext cx="21945600" cy="2250594"/>
          </a:xfrm>
          <a:prstGeom prst="rect">
            <a:avLst/>
          </a:prstGeom>
        </p:spPr>
        <p:txBody>
          <a:bodyPr/>
          <a:lstStyle>
            <a:lvl1pPr marL="0" indent="0" algn="ctr" defTabSz="825500">
              <a:lnSpc>
                <a:spcPct val="100000"/>
              </a:lnSpc>
              <a:spcBef>
                <a:spcPts val="0"/>
              </a:spcBef>
              <a:buSzTx/>
              <a:buNone/>
              <a:defRPr spc="-100" sz="6000">
                <a:latin typeface="Avenir Next Demi Bold"/>
                <a:ea typeface="Avenir Next Demi Bold"/>
                <a:cs typeface="Avenir Next Demi Bold"/>
                <a:sym typeface="Avenir Next Demi Bold"/>
              </a:defRPr>
            </a:lvl1pPr>
          </a:lstStyle>
          <a:p>
            <a:pPr/>
            <a:r>
              <a:t>Subtitlu prezentare</a:t>
            </a:r>
          </a:p>
        </p:txBody>
      </p:sp>
      <p:sp>
        <p:nvSpPr>
          <p:cNvPr id="14" name="Număr diapozitiv"/>
          <p:cNvSpPr txBox="1"/>
          <p:nvPr>
            <p:ph type="sldNum" sz="quarter" idx="2"/>
          </p:nvPr>
        </p:nvSpPr>
        <p:spPr>
          <a:xfrm>
            <a:off x="11991339"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u și poză">
    <p:spTree>
      <p:nvGrpSpPr>
        <p:cNvPr id="1" name=""/>
        <p:cNvGrpSpPr/>
        <p:nvPr/>
      </p:nvGrpSpPr>
      <p:grpSpPr>
        <a:xfrm>
          <a:off x="0" y="0"/>
          <a:ext cx="0" cy="0"/>
          <a:chOff x="0" y="0"/>
          <a:chExt cx="0" cy="0"/>
        </a:xfrm>
      </p:grpSpPr>
      <p:sp>
        <p:nvSpPr>
          <p:cNvPr id="21" name="Plajă și mare la apus"/>
          <p:cNvSpPr/>
          <p:nvPr>
            <p:ph type="pic" idx="21"/>
          </p:nvPr>
        </p:nvSpPr>
        <p:spPr>
          <a:xfrm>
            <a:off x="0" y="-1270000"/>
            <a:ext cx="24384000" cy="16256000"/>
          </a:xfrm>
          <a:prstGeom prst="rect">
            <a:avLst/>
          </a:prstGeom>
        </p:spPr>
        <p:txBody>
          <a:bodyPr lIns="91439" tIns="45719" rIns="91439" bIns="45719">
            <a:noAutofit/>
          </a:bodyPr>
          <a:lstStyle/>
          <a:p>
            <a:pPr/>
          </a:p>
        </p:txBody>
      </p:sp>
      <p:sp>
        <p:nvSpPr>
          <p:cNvPr id="22" name="Titlu prezentare"/>
          <p:cNvSpPr txBox="1"/>
          <p:nvPr>
            <p:ph type="title" hasCustomPrompt="1"/>
          </p:nvPr>
        </p:nvSpPr>
        <p:spPr>
          <a:xfrm>
            <a:off x="1219200" y="3543300"/>
            <a:ext cx="21945600" cy="4267200"/>
          </a:xfrm>
          <a:prstGeom prst="rect">
            <a:avLst/>
          </a:prstGeom>
        </p:spPr>
        <p:txBody>
          <a:bodyPr anchor="b"/>
          <a:lstStyle>
            <a:lvl1pPr>
              <a:defRPr spc="-128" sz="12800">
                <a:solidFill>
                  <a:srgbClr val="FFFFFF"/>
                </a:solidFill>
              </a:defRPr>
            </a:lvl1pPr>
          </a:lstStyle>
          <a:p>
            <a:pPr/>
            <a:r>
              <a:t>Titlu prezentare</a:t>
            </a:r>
          </a:p>
        </p:txBody>
      </p:sp>
      <p:sp>
        <p:nvSpPr>
          <p:cNvPr id="23" name="Nivel corp unu…"/>
          <p:cNvSpPr txBox="1"/>
          <p:nvPr>
            <p:ph type="body" sz="quarter" idx="1" hasCustomPrompt="1"/>
          </p:nvPr>
        </p:nvSpPr>
        <p:spPr>
          <a:xfrm>
            <a:off x="1219200" y="7569200"/>
            <a:ext cx="21945600" cy="2252112"/>
          </a:xfrm>
          <a:prstGeom prst="rect">
            <a:avLst/>
          </a:prstGeom>
        </p:spPr>
        <p:txBody>
          <a:bodyPr/>
          <a:lstStyle>
            <a:lvl1pPr marL="0" indent="0" algn="ctr" defTabSz="825500">
              <a:lnSpc>
                <a:spcPct val="100000"/>
              </a:lnSpc>
              <a:spcBef>
                <a:spcPts val="0"/>
              </a:spcBef>
              <a:buSzTx/>
              <a:buNone/>
              <a:defRPr spc="-58" sz="6000">
                <a:solidFill>
                  <a:srgbClr val="FFFFFF"/>
                </a:solidFill>
                <a:latin typeface="Avenir Next Demi Bold"/>
                <a:ea typeface="Avenir Next Demi Bold"/>
                <a:cs typeface="Avenir Next Demi Bold"/>
                <a:sym typeface="Avenir Next Demi Bold"/>
              </a:defRPr>
            </a:lvl1pPr>
            <a:lvl2pPr marL="0" indent="0" algn="ctr" defTabSz="825500">
              <a:lnSpc>
                <a:spcPct val="100000"/>
              </a:lnSpc>
              <a:spcBef>
                <a:spcPts val="0"/>
              </a:spcBef>
              <a:buSzTx/>
              <a:buNone/>
              <a:defRPr spc="-58" sz="6000">
                <a:solidFill>
                  <a:srgbClr val="FFFFFF"/>
                </a:solidFill>
                <a:latin typeface="Avenir Next Demi Bold"/>
                <a:ea typeface="Avenir Next Demi Bold"/>
                <a:cs typeface="Avenir Next Demi Bold"/>
                <a:sym typeface="Avenir Next Demi Bold"/>
              </a:defRPr>
            </a:lvl2pPr>
            <a:lvl3pPr marL="0" indent="0" algn="ctr" defTabSz="825500">
              <a:lnSpc>
                <a:spcPct val="100000"/>
              </a:lnSpc>
              <a:spcBef>
                <a:spcPts val="0"/>
              </a:spcBef>
              <a:buSzTx/>
              <a:buNone/>
              <a:defRPr spc="-58" sz="6000">
                <a:solidFill>
                  <a:srgbClr val="FFFFFF"/>
                </a:solidFill>
                <a:latin typeface="Avenir Next Demi Bold"/>
                <a:ea typeface="Avenir Next Demi Bold"/>
                <a:cs typeface="Avenir Next Demi Bold"/>
                <a:sym typeface="Avenir Next Demi Bold"/>
              </a:defRPr>
            </a:lvl3pPr>
            <a:lvl4pPr marL="0" indent="0" algn="ctr" defTabSz="825500">
              <a:lnSpc>
                <a:spcPct val="100000"/>
              </a:lnSpc>
              <a:spcBef>
                <a:spcPts val="0"/>
              </a:spcBef>
              <a:buSzTx/>
              <a:buNone/>
              <a:defRPr spc="-58" sz="6000">
                <a:solidFill>
                  <a:srgbClr val="FFFFFF"/>
                </a:solidFill>
                <a:latin typeface="Avenir Next Demi Bold"/>
                <a:ea typeface="Avenir Next Demi Bold"/>
                <a:cs typeface="Avenir Next Demi Bold"/>
                <a:sym typeface="Avenir Next Demi Bold"/>
              </a:defRPr>
            </a:lvl4pPr>
            <a:lvl5pPr marL="0" indent="0" algn="ctr" defTabSz="825500">
              <a:lnSpc>
                <a:spcPct val="100000"/>
              </a:lnSpc>
              <a:spcBef>
                <a:spcPts val="0"/>
              </a:spcBef>
              <a:buSzTx/>
              <a:buNone/>
              <a:defRPr spc="-58" sz="6000">
                <a:solidFill>
                  <a:srgbClr val="FFFFFF"/>
                </a:solidFill>
                <a:latin typeface="Avenir Next Demi Bold"/>
                <a:ea typeface="Avenir Next Demi Bold"/>
                <a:cs typeface="Avenir Next Demi Bold"/>
                <a:sym typeface="Avenir Next Demi Bold"/>
              </a:defRPr>
            </a:lvl5pPr>
          </a:lstStyle>
          <a:p>
            <a:pPr/>
            <a:r>
              <a:t>Subtitlu prezentare</a:t>
            </a:r>
          </a:p>
          <a:p>
            <a:pPr lvl="1"/>
            <a:r>
              <a:t/>
            </a:r>
          </a:p>
          <a:p>
            <a:pPr lvl="2"/>
            <a:r>
              <a:t/>
            </a:r>
          </a:p>
          <a:p>
            <a:pPr lvl="3"/>
            <a:r>
              <a:t/>
            </a:r>
          </a:p>
          <a:p>
            <a:pPr lvl="4"/>
            <a:r>
              <a:t/>
            </a:r>
          </a:p>
        </p:txBody>
      </p:sp>
      <p:sp>
        <p:nvSpPr>
          <p:cNvPr id="24" name="Autor și dată"/>
          <p:cNvSpPr txBox="1"/>
          <p:nvPr>
            <p:ph type="body" sz="quarter" idx="22" hasCustomPrompt="1"/>
          </p:nvPr>
        </p:nvSpPr>
        <p:spPr>
          <a:xfrm>
            <a:off x="1219200" y="11988800"/>
            <a:ext cx="21945602" cy="605791"/>
          </a:xfrm>
          <a:prstGeom prst="rect">
            <a:avLst/>
          </a:prstGeom>
        </p:spPr>
        <p:txBody>
          <a:bodyPr/>
          <a:lstStyle>
            <a:lvl1pPr marL="0" indent="0" algn="ctr" defTabSz="808990">
              <a:lnSpc>
                <a:spcPct val="100000"/>
              </a:lnSpc>
              <a:spcBef>
                <a:spcPts val="0"/>
              </a:spcBef>
              <a:buSzTx/>
              <a:buNone/>
              <a:defRPr spc="-100" sz="2900">
                <a:solidFill>
                  <a:srgbClr val="FFFFFF"/>
                </a:solidFill>
                <a:latin typeface="Avenir Next Medium"/>
                <a:ea typeface="Avenir Next Medium"/>
                <a:cs typeface="Avenir Next Medium"/>
                <a:sym typeface="Avenir Next Medium"/>
              </a:defRPr>
            </a:lvl1pPr>
          </a:lstStyle>
          <a:p>
            <a:pPr/>
            <a:r>
              <a:t>Autor și dată</a:t>
            </a:r>
          </a:p>
        </p:txBody>
      </p:sp>
      <p:sp>
        <p:nvSpPr>
          <p:cNvPr id="25" name="Număr diapozitiv"/>
          <p:cNvSpPr txBox="1"/>
          <p:nvPr>
            <p:ph type="sldNum" sz="quarter" idx="2"/>
          </p:nvPr>
        </p:nvSpPr>
        <p:spPr>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u și poză (alt.)">
    <p:spTree>
      <p:nvGrpSpPr>
        <p:cNvPr id="1" name=""/>
        <p:cNvGrpSpPr/>
        <p:nvPr/>
      </p:nvGrpSpPr>
      <p:grpSpPr>
        <a:xfrm>
          <a:off x="0" y="0"/>
          <a:ext cx="0" cy="0"/>
          <a:chOff x="0" y="0"/>
          <a:chExt cx="0" cy="0"/>
        </a:xfrm>
      </p:grpSpPr>
      <p:sp>
        <p:nvSpPr>
          <p:cNvPr id="32" name="Titlu diapozitiv"/>
          <p:cNvSpPr txBox="1"/>
          <p:nvPr>
            <p:ph type="title" hasCustomPrompt="1"/>
          </p:nvPr>
        </p:nvSpPr>
        <p:spPr>
          <a:xfrm>
            <a:off x="1215494" y="4585101"/>
            <a:ext cx="9757339" cy="2540002"/>
          </a:xfrm>
          <a:prstGeom prst="rect">
            <a:avLst/>
          </a:prstGeom>
        </p:spPr>
        <p:txBody>
          <a:bodyPr anchor="b"/>
          <a:lstStyle/>
          <a:p>
            <a:pPr/>
            <a:r>
              <a:t>Titlu diapozitiv</a:t>
            </a:r>
          </a:p>
        </p:txBody>
      </p:sp>
      <p:sp>
        <p:nvSpPr>
          <p:cNvPr id="33" name="Mare pe fundalul cerului la apus"/>
          <p:cNvSpPr/>
          <p:nvPr>
            <p:ph type="pic" idx="21"/>
          </p:nvPr>
        </p:nvSpPr>
        <p:spPr>
          <a:xfrm>
            <a:off x="9283700" y="1270000"/>
            <a:ext cx="16751300" cy="11176000"/>
          </a:xfrm>
          <a:prstGeom prst="rect">
            <a:avLst/>
          </a:prstGeom>
        </p:spPr>
        <p:txBody>
          <a:bodyPr lIns="91439" tIns="45719" rIns="91439" bIns="45719">
            <a:noAutofit/>
          </a:bodyPr>
          <a:lstStyle/>
          <a:p>
            <a:pPr/>
          </a:p>
        </p:txBody>
      </p:sp>
      <p:sp>
        <p:nvSpPr>
          <p:cNvPr id="34" name="Nivel corp unu…"/>
          <p:cNvSpPr txBox="1"/>
          <p:nvPr>
            <p:ph type="body" sz="quarter" idx="1" hasCustomPrompt="1"/>
          </p:nvPr>
        </p:nvSpPr>
        <p:spPr>
          <a:xfrm>
            <a:off x="1219200" y="7016750"/>
            <a:ext cx="9753600" cy="5416550"/>
          </a:xfrm>
          <a:prstGeom prst="rect">
            <a:avLst/>
          </a:prstGeom>
        </p:spPr>
        <p:txBody>
          <a:bodyPr/>
          <a:lstStyle>
            <a:lvl1pPr marL="0" indent="0" algn="ctr" defTabSz="825500">
              <a:lnSpc>
                <a:spcPct val="100000"/>
              </a:lnSpc>
              <a:spcBef>
                <a:spcPts val="0"/>
              </a:spcBef>
              <a:buSzTx/>
              <a:buNone/>
              <a:defRPr spc="-44">
                <a:latin typeface="Avenir Next Demi Bold"/>
                <a:ea typeface="Avenir Next Demi Bold"/>
                <a:cs typeface="Avenir Next Demi Bold"/>
                <a:sym typeface="Avenir Next Demi Bold"/>
              </a:defRPr>
            </a:lvl1pPr>
            <a:lvl2pPr marL="0" indent="0" algn="ctr" defTabSz="825500">
              <a:lnSpc>
                <a:spcPct val="100000"/>
              </a:lnSpc>
              <a:spcBef>
                <a:spcPts val="0"/>
              </a:spcBef>
              <a:buSzTx/>
              <a:buNone/>
              <a:defRPr spc="-44">
                <a:latin typeface="Avenir Next Demi Bold"/>
                <a:ea typeface="Avenir Next Demi Bold"/>
                <a:cs typeface="Avenir Next Demi Bold"/>
                <a:sym typeface="Avenir Next Demi Bold"/>
              </a:defRPr>
            </a:lvl2pPr>
            <a:lvl3pPr marL="0" indent="0" algn="ctr" defTabSz="825500">
              <a:lnSpc>
                <a:spcPct val="100000"/>
              </a:lnSpc>
              <a:spcBef>
                <a:spcPts val="0"/>
              </a:spcBef>
              <a:buSzTx/>
              <a:buNone/>
              <a:defRPr spc="-44">
                <a:latin typeface="Avenir Next Demi Bold"/>
                <a:ea typeface="Avenir Next Demi Bold"/>
                <a:cs typeface="Avenir Next Demi Bold"/>
                <a:sym typeface="Avenir Next Demi Bold"/>
              </a:defRPr>
            </a:lvl3pPr>
            <a:lvl4pPr marL="0" indent="0" algn="ctr" defTabSz="825500">
              <a:lnSpc>
                <a:spcPct val="100000"/>
              </a:lnSpc>
              <a:spcBef>
                <a:spcPts val="0"/>
              </a:spcBef>
              <a:buSzTx/>
              <a:buNone/>
              <a:defRPr spc="-44">
                <a:latin typeface="Avenir Next Demi Bold"/>
                <a:ea typeface="Avenir Next Demi Bold"/>
                <a:cs typeface="Avenir Next Demi Bold"/>
                <a:sym typeface="Avenir Next Demi Bold"/>
              </a:defRPr>
            </a:lvl4pPr>
            <a:lvl5pPr marL="0" indent="0" algn="ctr" defTabSz="825500">
              <a:lnSpc>
                <a:spcPct val="100000"/>
              </a:lnSpc>
              <a:spcBef>
                <a:spcPts val="0"/>
              </a:spcBef>
              <a:buSzTx/>
              <a:buNone/>
              <a:defRPr spc="-44">
                <a:latin typeface="Avenir Next Demi Bold"/>
                <a:ea typeface="Avenir Next Demi Bold"/>
                <a:cs typeface="Avenir Next Demi Bold"/>
                <a:sym typeface="Avenir Next Demi Bold"/>
              </a:defRPr>
            </a:lvl5pPr>
          </a:lstStyle>
          <a:p>
            <a:pPr/>
            <a:r>
              <a:t>Subtitlu diapozitiv</a:t>
            </a:r>
          </a:p>
          <a:p>
            <a:pPr lvl="1"/>
            <a:r>
              <a:t/>
            </a:r>
          </a:p>
          <a:p>
            <a:pPr lvl="2"/>
            <a:r>
              <a:t/>
            </a:r>
          </a:p>
          <a:p>
            <a:pPr lvl="3"/>
            <a:r>
              <a:t/>
            </a:r>
          </a:p>
          <a:p>
            <a:pPr lvl="4"/>
            <a:r>
              <a:t/>
            </a:r>
          </a:p>
        </p:txBody>
      </p:sp>
      <p:sp>
        <p:nvSpPr>
          <p:cNvPr id="35" name="Număr diapozitiv"/>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u și marcatori">
    <p:spTree>
      <p:nvGrpSpPr>
        <p:cNvPr id="1" name=""/>
        <p:cNvGrpSpPr/>
        <p:nvPr/>
      </p:nvGrpSpPr>
      <p:grpSpPr>
        <a:xfrm>
          <a:off x="0" y="0"/>
          <a:ext cx="0" cy="0"/>
          <a:chOff x="0" y="0"/>
          <a:chExt cx="0" cy="0"/>
        </a:xfrm>
      </p:grpSpPr>
      <p:sp>
        <p:nvSpPr>
          <p:cNvPr id="42" name="Titlu diapozitiv"/>
          <p:cNvSpPr txBox="1"/>
          <p:nvPr>
            <p:ph type="title" hasCustomPrompt="1"/>
          </p:nvPr>
        </p:nvSpPr>
        <p:spPr>
          <a:prstGeom prst="rect">
            <a:avLst/>
          </a:prstGeom>
        </p:spPr>
        <p:txBody>
          <a:bodyPr/>
          <a:lstStyle/>
          <a:p>
            <a:pPr/>
            <a:r>
              <a:t>Titlu diapozitiv</a:t>
            </a:r>
          </a:p>
        </p:txBody>
      </p:sp>
      <p:sp>
        <p:nvSpPr>
          <p:cNvPr id="43" name="Nivel corp unu…"/>
          <p:cNvSpPr txBox="1"/>
          <p:nvPr>
            <p:ph type="body" idx="1" hasCustomPrompt="1"/>
          </p:nvPr>
        </p:nvSpPr>
        <p:spPr>
          <a:prstGeom prst="rect">
            <a:avLst/>
          </a:prstGeom>
        </p:spPr>
        <p:txBody>
          <a:bodyPr/>
          <a:lstStyle/>
          <a:p>
            <a:pPr/>
            <a:r>
              <a:t>Text marcator diapozitiv</a:t>
            </a:r>
          </a:p>
          <a:p>
            <a:pPr lvl="1"/>
            <a:r>
              <a:t/>
            </a:r>
          </a:p>
          <a:p>
            <a:pPr lvl="2"/>
            <a:r>
              <a:t/>
            </a:r>
          </a:p>
          <a:p>
            <a:pPr lvl="3"/>
            <a:r>
              <a:t/>
            </a:r>
          </a:p>
          <a:p>
            <a:pPr lvl="4"/>
            <a:r>
              <a:t/>
            </a:r>
          </a:p>
        </p:txBody>
      </p:sp>
      <p:sp>
        <p:nvSpPr>
          <p:cNvPr id="44" name="Subtitlu diapozitiv"/>
          <p:cNvSpPr txBox="1"/>
          <p:nvPr>
            <p:ph type="body" sz="quarter" idx="21" hasCustomPrompt="1"/>
          </p:nvPr>
        </p:nvSpPr>
        <p:spPr>
          <a:xfrm>
            <a:off x="1219200" y="2384648"/>
            <a:ext cx="21945602" cy="832613"/>
          </a:xfrm>
          <a:prstGeom prst="rect">
            <a:avLst/>
          </a:prstGeom>
        </p:spPr>
        <p:txBody>
          <a:bodyPr/>
          <a:lstStyle>
            <a:lvl1pPr marL="0" indent="0" algn="ctr" defTabSz="792479">
              <a:lnSpc>
                <a:spcPct val="100000"/>
              </a:lnSpc>
              <a:spcBef>
                <a:spcPts val="0"/>
              </a:spcBef>
              <a:buSzTx/>
              <a:buNone/>
              <a:defRPr spc="-100" sz="4200">
                <a:latin typeface="Avenir Next Demi Bold"/>
                <a:ea typeface="Avenir Next Demi Bold"/>
                <a:cs typeface="Avenir Next Demi Bold"/>
                <a:sym typeface="Avenir Next Demi Bold"/>
              </a:defRPr>
            </a:lvl1pPr>
          </a:lstStyle>
          <a:p>
            <a:pPr/>
            <a:r>
              <a:t>Subtitlu diapozitiv</a:t>
            </a:r>
          </a:p>
        </p:txBody>
      </p:sp>
      <p:sp>
        <p:nvSpPr>
          <p:cNvPr id="45" name="Număr diapozitiv"/>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Marcatori">
    <p:spTree>
      <p:nvGrpSpPr>
        <p:cNvPr id="1" name=""/>
        <p:cNvGrpSpPr/>
        <p:nvPr/>
      </p:nvGrpSpPr>
      <p:grpSpPr>
        <a:xfrm>
          <a:off x="0" y="0"/>
          <a:ext cx="0" cy="0"/>
          <a:chOff x="0" y="0"/>
          <a:chExt cx="0" cy="0"/>
        </a:xfrm>
      </p:grpSpPr>
      <p:sp>
        <p:nvSpPr>
          <p:cNvPr id="52" name="Nivel corp unu…"/>
          <p:cNvSpPr txBox="1"/>
          <p:nvPr>
            <p:ph type="body" idx="1" hasCustomPrompt="1"/>
          </p:nvPr>
        </p:nvSpPr>
        <p:spPr>
          <a:xfrm>
            <a:off x="1219200" y="4013200"/>
            <a:ext cx="21945600" cy="8487148"/>
          </a:xfrm>
          <a:prstGeom prst="rect">
            <a:avLst/>
          </a:prstGeom>
        </p:spPr>
        <p:txBody>
          <a:bodyPr numCol="2" spcCol="2558383"/>
          <a:lstStyle/>
          <a:p>
            <a:pPr/>
            <a:r>
              <a:t>Text marcator diapozitiv</a:t>
            </a:r>
          </a:p>
          <a:p>
            <a:pPr lvl="1"/>
            <a:r>
              <a:t/>
            </a:r>
          </a:p>
          <a:p>
            <a:pPr lvl="2"/>
            <a:r>
              <a:t/>
            </a:r>
          </a:p>
          <a:p>
            <a:pPr lvl="3"/>
            <a:r>
              <a:t/>
            </a:r>
          </a:p>
          <a:p>
            <a:pPr lvl="4"/>
            <a:r>
              <a:t/>
            </a:r>
          </a:p>
        </p:txBody>
      </p:sp>
      <p:sp>
        <p:nvSpPr>
          <p:cNvPr id="53" name="Număr diapozitiv"/>
          <p:cNvSpPr txBox="1"/>
          <p:nvPr>
            <p:ph type="sldNum" sz="quarter" idx="2"/>
          </p:nvPr>
        </p:nvSpPr>
        <p:spPr>
          <a:xfrm>
            <a:off x="11991339"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u, marcatori și poză">
    <p:spTree>
      <p:nvGrpSpPr>
        <p:cNvPr id="1" name=""/>
        <p:cNvGrpSpPr/>
        <p:nvPr/>
      </p:nvGrpSpPr>
      <p:grpSpPr>
        <a:xfrm>
          <a:off x="0" y="0"/>
          <a:ext cx="0" cy="0"/>
          <a:chOff x="0" y="0"/>
          <a:chExt cx="0" cy="0"/>
        </a:xfrm>
      </p:grpSpPr>
      <p:sp>
        <p:nvSpPr>
          <p:cNvPr id="60" name="Titlu diapozitiv"/>
          <p:cNvSpPr txBox="1"/>
          <p:nvPr>
            <p:ph type="title" hasCustomPrompt="1"/>
          </p:nvPr>
        </p:nvSpPr>
        <p:spPr>
          <a:xfrm>
            <a:off x="1219200" y="774700"/>
            <a:ext cx="9753600" cy="1600200"/>
          </a:xfrm>
          <a:prstGeom prst="rect">
            <a:avLst/>
          </a:prstGeom>
        </p:spPr>
        <p:txBody>
          <a:bodyPr/>
          <a:lstStyle/>
          <a:p>
            <a:pPr/>
            <a:r>
              <a:t>Titlu diapozitiv</a:t>
            </a:r>
          </a:p>
        </p:txBody>
      </p:sp>
      <p:sp>
        <p:nvSpPr>
          <p:cNvPr id="61" name="Mare pe fundalul cerului la apus"/>
          <p:cNvSpPr/>
          <p:nvPr>
            <p:ph type="pic" idx="21"/>
          </p:nvPr>
        </p:nvSpPr>
        <p:spPr>
          <a:xfrm>
            <a:off x="12192644" y="718588"/>
            <a:ext cx="10972801" cy="12329625"/>
          </a:xfrm>
          <a:prstGeom prst="rect">
            <a:avLst/>
          </a:prstGeom>
        </p:spPr>
        <p:txBody>
          <a:bodyPr lIns="91439" tIns="45719" rIns="91439" bIns="45719">
            <a:noAutofit/>
          </a:bodyPr>
          <a:lstStyle/>
          <a:p>
            <a:pPr/>
          </a:p>
        </p:txBody>
      </p:sp>
      <p:sp>
        <p:nvSpPr>
          <p:cNvPr id="62" name="Nivel corp unu…"/>
          <p:cNvSpPr txBox="1"/>
          <p:nvPr>
            <p:ph type="body" sz="quarter" idx="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pc="-42" sz="4200">
                <a:latin typeface="Avenir Next Demi Bold"/>
                <a:ea typeface="Avenir Next Demi Bold"/>
                <a:cs typeface="Avenir Next Demi Bold"/>
                <a:sym typeface="Avenir Next Demi Bold"/>
              </a:defRPr>
            </a:lvl1pPr>
            <a:lvl2pPr marL="1067377" indent="-521277" algn="ctr" defTabSz="792479">
              <a:lnSpc>
                <a:spcPct val="100000"/>
              </a:lnSpc>
              <a:spcBef>
                <a:spcPts val="0"/>
              </a:spcBef>
              <a:defRPr spc="-42" sz="4200">
                <a:latin typeface="Avenir Next Demi Bold"/>
                <a:ea typeface="Avenir Next Demi Bold"/>
                <a:cs typeface="Avenir Next Demi Bold"/>
                <a:sym typeface="Avenir Next Demi Bold"/>
              </a:defRPr>
            </a:lvl2pPr>
            <a:lvl3pPr marL="1613477" indent="-521277" algn="ctr" defTabSz="792479">
              <a:lnSpc>
                <a:spcPct val="100000"/>
              </a:lnSpc>
              <a:spcBef>
                <a:spcPts val="0"/>
              </a:spcBef>
              <a:defRPr spc="-42" sz="4200">
                <a:latin typeface="Avenir Next Demi Bold"/>
                <a:ea typeface="Avenir Next Demi Bold"/>
                <a:cs typeface="Avenir Next Demi Bold"/>
                <a:sym typeface="Avenir Next Demi Bold"/>
              </a:defRPr>
            </a:lvl3pPr>
            <a:lvl4pPr marL="2159577" indent="-521277" algn="ctr" defTabSz="792479">
              <a:lnSpc>
                <a:spcPct val="100000"/>
              </a:lnSpc>
              <a:spcBef>
                <a:spcPts val="0"/>
              </a:spcBef>
              <a:defRPr spc="-42" sz="4200">
                <a:latin typeface="Avenir Next Demi Bold"/>
                <a:ea typeface="Avenir Next Demi Bold"/>
                <a:cs typeface="Avenir Next Demi Bold"/>
                <a:sym typeface="Avenir Next Demi Bold"/>
              </a:defRPr>
            </a:lvl4pPr>
            <a:lvl5pPr marL="2705677" indent="-521277" algn="ctr" defTabSz="792479">
              <a:lnSpc>
                <a:spcPct val="100000"/>
              </a:lnSpc>
              <a:spcBef>
                <a:spcPts val="0"/>
              </a:spcBef>
              <a:defRPr spc="-42" sz="4200">
                <a:latin typeface="Avenir Next Demi Bold"/>
                <a:ea typeface="Avenir Next Demi Bold"/>
                <a:cs typeface="Avenir Next Demi Bold"/>
                <a:sym typeface="Avenir Next Demi Bold"/>
              </a:defRPr>
            </a:lvl5pPr>
          </a:lstStyle>
          <a:p>
            <a:pPr/>
            <a:r>
              <a:t>Subtitlu diapozitiv</a:t>
            </a:r>
          </a:p>
          <a:p>
            <a:pPr lvl="1"/>
            <a:r>
              <a:t/>
            </a:r>
          </a:p>
          <a:p>
            <a:pPr lvl="2"/>
            <a:r>
              <a:t/>
            </a:r>
          </a:p>
          <a:p>
            <a:pPr lvl="3"/>
            <a:r>
              <a:t/>
            </a:r>
          </a:p>
          <a:p>
            <a:pPr lvl="4"/>
            <a:r>
              <a:t/>
            </a:r>
          </a:p>
        </p:txBody>
      </p:sp>
      <p:sp>
        <p:nvSpPr>
          <p:cNvPr id="63" name="Nivel corp unu…"/>
          <p:cNvSpPr txBox="1"/>
          <p:nvPr>
            <p:ph type="body" sz="half" idx="22" hasCustomPrompt="1"/>
          </p:nvPr>
        </p:nvSpPr>
        <p:spPr>
          <a:xfrm>
            <a:off x="1219199" y="4023221"/>
            <a:ext cx="9757571" cy="8384679"/>
          </a:xfrm>
          <a:prstGeom prst="rect">
            <a:avLst/>
          </a:prstGeom>
        </p:spPr>
        <p:txBody>
          <a:bodyPr/>
          <a:lstStyle/>
          <a:p>
            <a:pPr/>
            <a:r>
              <a:t>Text marcator diapozitiv</a:t>
            </a:r>
          </a:p>
        </p:txBody>
      </p:sp>
      <p:sp>
        <p:nvSpPr>
          <p:cNvPr id="64" name="Număr diapozitiv"/>
          <p:cNvSpPr txBox="1"/>
          <p:nvPr>
            <p:ph type="sldNum" sz="quarter" idx="2"/>
          </p:nvPr>
        </p:nvSpPr>
        <p:spPr>
          <a:xfrm>
            <a:off x="11993880"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u, marcatori și video live mic">
    <p:spTree>
      <p:nvGrpSpPr>
        <p:cNvPr id="1" name=""/>
        <p:cNvGrpSpPr/>
        <p:nvPr/>
      </p:nvGrpSpPr>
      <p:grpSpPr>
        <a:xfrm>
          <a:off x="0" y="0"/>
          <a:ext cx="0" cy="0"/>
          <a:chOff x="0" y="0"/>
          <a:chExt cx="0" cy="0"/>
        </a:xfrm>
      </p:grpSpPr>
      <p:sp>
        <p:nvSpPr>
          <p:cNvPr id="71" name="Titlu diapozitiv"/>
          <p:cNvSpPr txBox="1"/>
          <p:nvPr>
            <p:ph type="title" hasCustomPrompt="1"/>
          </p:nvPr>
        </p:nvSpPr>
        <p:spPr>
          <a:xfrm>
            <a:off x="1219200" y="774700"/>
            <a:ext cx="9753600" cy="1600200"/>
          </a:xfrm>
          <a:prstGeom prst="rect">
            <a:avLst/>
          </a:prstGeom>
        </p:spPr>
        <p:txBody>
          <a:bodyPr/>
          <a:lstStyle/>
          <a:p>
            <a:pPr/>
            <a:r>
              <a:t>Titlu diapozitiv</a:t>
            </a:r>
          </a:p>
        </p:txBody>
      </p:sp>
      <p:sp>
        <p:nvSpPr>
          <p:cNvPr id="72" name="Nivel corp unu…"/>
          <p:cNvSpPr txBox="1"/>
          <p:nvPr>
            <p:ph type="body" sz="quarter" idx="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pc="-42" sz="4200">
                <a:latin typeface="Avenir Next Demi Bold"/>
                <a:ea typeface="Avenir Next Demi Bold"/>
                <a:cs typeface="Avenir Next Demi Bold"/>
                <a:sym typeface="Avenir Next Demi Bold"/>
              </a:defRPr>
            </a:lvl1pPr>
            <a:lvl2pPr marL="1067377" indent="-521277" algn="ctr" defTabSz="792479">
              <a:lnSpc>
                <a:spcPct val="100000"/>
              </a:lnSpc>
              <a:spcBef>
                <a:spcPts val="0"/>
              </a:spcBef>
              <a:defRPr spc="-42" sz="4200">
                <a:latin typeface="Avenir Next Demi Bold"/>
                <a:ea typeface="Avenir Next Demi Bold"/>
                <a:cs typeface="Avenir Next Demi Bold"/>
                <a:sym typeface="Avenir Next Demi Bold"/>
              </a:defRPr>
            </a:lvl2pPr>
            <a:lvl3pPr marL="1613477" indent="-521277" algn="ctr" defTabSz="792479">
              <a:lnSpc>
                <a:spcPct val="100000"/>
              </a:lnSpc>
              <a:spcBef>
                <a:spcPts val="0"/>
              </a:spcBef>
              <a:defRPr spc="-42" sz="4200">
                <a:latin typeface="Avenir Next Demi Bold"/>
                <a:ea typeface="Avenir Next Demi Bold"/>
                <a:cs typeface="Avenir Next Demi Bold"/>
                <a:sym typeface="Avenir Next Demi Bold"/>
              </a:defRPr>
            </a:lvl3pPr>
            <a:lvl4pPr marL="2159577" indent="-521277" algn="ctr" defTabSz="792479">
              <a:lnSpc>
                <a:spcPct val="100000"/>
              </a:lnSpc>
              <a:spcBef>
                <a:spcPts val="0"/>
              </a:spcBef>
              <a:defRPr spc="-42" sz="4200">
                <a:latin typeface="Avenir Next Demi Bold"/>
                <a:ea typeface="Avenir Next Demi Bold"/>
                <a:cs typeface="Avenir Next Demi Bold"/>
                <a:sym typeface="Avenir Next Demi Bold"/>
              </a:defRPr>
            </a:lvl4pPr>
            <a:lvl5pPr marL="2705677" indent="-521277" algn="ctr" defTabSz="792479">
              <a:lnSpc>
                <a:spcPct val="100000"/>
              </a:lnSpc>
              <a:spcBef>
                <a:spcPts val="0"/>
              </a:spcBef>
              <a:defRPr spc="-42" sz="4200">
                <a:latin typeface="Avenir Next Demi Bold"/>
                <a:ea typeface="Avenir Next Demi Bold"/>
                <a:cs typeface="Avenir Next Demi Bold"/>
                <a:sym typeface="Avenir Next Demi Bold"/>
              </a:defRPr>
            </a:lvl5pPr>
          </a:lstStyle>
          <a:p>
            <a:pPr/>
            <a:r>
              <a:t>Subtitlu diapozitiv</a:t>
            </a:r>
          </a:p>
          <a:p>
            <a:pPr lvl="1"/>
            <a:r>
              <a:t/>
            </a:r>
          </a:p>
          <a:p>
            <a:pPr lvl="2"/>
            <a:r>
              <a:t/>
            </a:r>
          </a:p>
          <a:p>
            <a:pPr lvl="3"/>
            <a:r>
              <a:t/>
            </a:r>
          </a:p>
          <a:p>
            <a:pPr lvl="4"/>
            <a:r>
              <a:t/>
            </a:r>
          </a:p>
        </p:txBody>
      </p:sp>
      <p:sp>
        <p:nvSpPr>
          <p:cNvPr id="73" name="Nivel corp unu…"/>
          <p:cNvSpPr txBox="1"/>
          <p:nvPr>
            <p:ph type="body" sz="half" idx="21" hasCustomPrompt="1"/>
          </p:nvPr>
        </p:nvSpPr>
        <p:spPr>
          <a:xfrm>
            <a:off x="1219199" y="4023221"/>
            <a:ext cx="9757571" cy="8384679"/>
          </a:xfrm>
          <a:prstGeom prst="rect">
            <a:avLst/>
          </a:prstGeom>
        </p:spPr>
        <p:txBody>
          <a:bodyPr/>
          <a:lstStyle/>
          <a:p>
            <a:pPr/>
            <a:r>
              <a:t>Text marcator diapozitiv</a:t>
            </a:r>
          </a:p>
        </p:txBody>
      </p:sp>
      <p:sp>
        <p:nvSpPr>
          <p:cNvPr id="74" name="Număr diapozitiv"/>
          <p:cNvSpPr txBox="1"/>
          <p:nvPr>
            <p:ph type="sldNum" sz="quarter" idx="2"/>
          </p:nvPr>
        </p:nvSpPr>
        <p:spPr>
          <a:xfrm>
            <a:off x="11993880"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u, marcatori și video live mare">
    <p:spTree>
      <p:nvGrpSpPr>
        <p:cNvPr id="1" name=""/>
        <p:cNvGrpSpPr/>
        <p:nvPr/>
      </p:nvGrpSpPr>
      <p:grpSpPr>
        <a:xfrm>
          <a:off x="0" y="0"/>
          <a:ext cx="0" cy="0"/>
          <a:chOff x="0" y="0"/>
          <a:chExt cx="0" cy="0"/>
        </a:xfrm>
      </p:grpSpPr>
      <p:sp>
        <p:nvSpPr>
          <p:cNvPr id="81" name="Titlu diapozitiv"/>
          <p:cNvSpPr txBox="1"/>
          <p:nvPr>
            <p:ph type="title" hasCustomPrompt="1"/>
          </p:nvPr>
        </p:nvSpPr>
        <p:spPr>
          <a:xfrm>
            <a:off x="1219200" y="774700"/>
            <a:ext cx="9753600" cy="1600200"/>
          </a:xfrm>
          <a:prstGeom prst="rect">
            <a:avLst/>
          </a:prstGeom>
        </p:spPr>
        <p:txBody>
          <a:bodyPr/>
          <a:lstStyle/>
          <a:p>
            <a:pPr/>
            <a:r>
              <a:t>Titlu diapozitiv</a:t>
            </a:r>
          </a:p>
        </p:txBody>
      </p:sp>
      <p:sp>
        <p:nvSpPr>
          <p:cNvPr id="82" name="Nivel corp unu…"/>
          <p:cNvSpPr txBox="1"/>
          <p:nvPr>
            <p:ph type="body" sz="quarter" idx="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pc="-42" sz="4200">
                <a:latin typeface="Avenir Next Demi Bold"/>
                <a:ea typeface="Avenir Next Demi Bold"/>
                <a:cs typeface="Avenir Next Demi Bold"/>
                <a:sym typeface="Avenir Next Demi Bold"/>
              </a:defRPr>
            </a:lvl1pPr>
            <a:lvl2pPr marL="1067377" indent="-521277" algn="ctr" defTabSz="792479">
              <a:lnSpc>
                <a:spcPct val="100000"/>
              </a:lnSpc>
              <a:spcBef>
                <a:spcPts val="0"/>
              </a:spcBef>
              <a:defRPr spc="-42" sz="4200">
                <a:latin typeface="Avenir Next Demi Bold"/>
                <a:ea typeface="Avenir Next Demi Bold"/>
                <a:cs typeface="Avenir Next Demi Bold"/>
                <a:sym typeface="Avenir Next Demi Bold"/>
              </a:defRPr>
            </a:lvl2pPr>
            <a:lvl3pPr marL="1613477" indent="-521277" algn="ctr" defTabSz="792479">
              <a:lnSpc>
                <a:spcPct val="100000"/>
              </a:lnSpc>
              <a:spcBef>
                <a:spcPts val="0"/>
              </a:spcBef>
              <a:defRPr spc="-42" sz="4200">
                <a:latin typeface="Avenir Next Demi Bold"/>
                <a:ea typeface="Avenir Next Demi Bold"/>
                <a:cs typeface="Avenir Next Demi Bold"/>
                <a:sym typeface="Avenir Next Demi Bold"/>
              </a:defRPr>
            </a:lvl3pPr>
            <a:lvl4pPr marL="2159577" indent="-521277" algn="ctr" defTabSz="792479">
              <a:lnSpc>
                <a:spcPct val="100000"/>
              </a:lnSpc>
              <a:spcBef>
                <a:spcPts val="0"/>
              </a:spcBef>
              <a:defRPr spc="-42" sz="4200">
                <a:latin typeface="Avenir Next Demi Bold"/>
                <a:ea typeface="Avenir Next Demi Bold"/>
                <a:cs typeface="Avenir Next Demi Bold"/>
                <a:sym typeface="Avenir Next Demi Bold"/>
              </a:defRPr>
            </a:lvl4pPr>
            <a:lvl5pPr marL="2705677" indent="-521277" algn="ctr" defTabSz="792479">
              <a:lnSpc>
                <a:spcPct val="100000"/>
              </a:lnSpc>
              <a:spcBef>
                <a:spcPts val="0"/>
              </a:spcBef>
              <a:defRPr spc="-42" sz="4200">
                <a:latin typeface="Avenir Next Demi Bold"/>
                <a:ea typeface="Avenir Next Demi Bold"/>
                <a:cs typeface="Avenir Next Demi Bold"/>
                <a:sym typeface="Avenir Next Demi Bold"/>
              </a:defRPr>
            </a:lvl5pPr>
          </a:lstStyle>
          <a:p>
            <a:pPr/>
            <a:r>
              <a:t>Subtitlu diapozitiv</a:t>
            </a:r>
          </a:p>
          <a:p>
            <a:pPr lvl="1"/>
            <a:r>
              <a:t/>
            </a:r>
          </a:p>
          <a:p>
            <a:pPr lvl="2"/>
            <a:r>
              <a:t/>
            </a:r>
          </a:p>
          <a:p>
            <a:pPr lvl="3"/>
            <a:r>
              <a:t/>
            </a:r>
          </a:p>
          <a:p>
            <a:pPr lvl="4"/>
            <a:r>
              <a:t/>
            </a:r>
          </a:p>
        </p:txBody>
      </p:sp>
      <p:sp>
        <p:nvSpPr>
          <p:cNvPr id="83" name="Nivel corp unu…"/>
          <p:cNvSpPr txBox="1"/>
          <p:nvPr>
            <p:ph type="body" sz="half" idx="21" hasCustomPrompt="1"/>
          </p:nvPr>
        </p:nvSpPr>
        <p:spPr>
          <a:xfrm>
            <a:off x="1219199" y="4023221"/>
            <a:ext cx="9757571" cy="8384679"/>
          </a:xfrm>
          <a:prstGeom prst="rect">
            <a:avLst/>
          </a:prstGeom>
        </p:spPr>
        <p:txBody>
          <a:bodyPr/>
          <a:lstStyle/>
          <a:p>
            <a:pPr/>
            <a:r>
              <a:t>Text marcator diapozitiv</a:t>
            </a:r>
          </a:p>
        </p:txBody>
      </p:sp>
      <p:sp>
        <p:nvSpPr>
          <p:cNvPr id="84" name="Număr diapozitiv"/>
          <p:cNvSpPr txBox="1"/>
          <p:nvPr>
            <p:ph type="sldNum" sz="quarter" idx="2"/>
          </p:nvPr>
        </p:nvSpPr>
        <p:spPr>
          <a:xfrm>
            <a:off x="11993880"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țiune">
    <p:spTree>
      <p:nvGrpSpPr>
        <p:cNvPr id="1" name=""/>
        <p:cNvGrpSpPr/>
        <p:nvPr/>
      </p:nvGrpSpPr>
      <p:grpSpPr>
        <a:xfrm>
          <a:off x="0" y="0"/>
          <a:ext cx="0" cy="0"/>
          <a:chOff x="0" y="0"/>
          <a:chExt cx="0" cy="0"/>
        </a:xfrm>
      </p:grpSpPr>
      <p:sp>
        <p:nvSpPr>
          <p:cNvPr id="91" name="Titlu secțiune"/>
          <p:cNvSpPr txBox="1"/>
          <p:nvPr>
            <p:ph type="title" hasCustomPrompt="1"/>
          </p:nvPr>
        </p:nvSpPr>
        <p:spPr>
          <a:xfrm>
            <a:off x="1219200" y="3242269"/>
            <a:ext cx="21945600" cy="6604002"/>
          </a:xfrm>
          <a:prstGeom prst="rect">
            <a:avLst/>
          </a:prstGeom>
        </p:spPr>
        <p:txBody>
          <a:bodyPr anchor="ctr"/>
          <a:lstStyle>
            <a:lvl1pPr>
              <a:defRPr spc="0" sz="12800"/>
            </a:lvl1pPr>
          </a:lstStyle>
          <a:p>
            <a:pPr/>
            <a:r>
              <a:t>Titlu secțiune</a:t>
            </a:r>
          </a:p>
        </p:txBody>
      </p:sp>
      <p:sp>
        <p:nvSpPr>
          <p:cNvPr id="92" name="Număr diapozitiv"/>
          <p:cNvSpPr txBox="1"/>
          <p:nvPr>
            <p:ph type="sldNum" sz="quarter" idx="2"/>
          </p:nvPr>
        </p:nvSpPr>
        <p:spPr>
          <a:xfrm>
            <a:off x="11991339"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oar titlu">
    <p:spTree>
      <p:nvGrpSpPr>
        <p:cNvPr id="1" name=""/>
        <p:cNvGrpSpPr/>
        <p:nvPr/>
      </p:nvGrpSpPr>
      <p:grpSpPr>
        <a:xfrm>
          <a:off x="0" y="0"/>
          <a:ext cx="0" cy="0"/>
          <a:chOff x="0" y="0"/>
          <a:chExt cx="0" cy="0"/>
        </a:xfrm>
      </p:grpSpPr>
      <p:sp>
        <p:nvSpPr>
          <p:cNvPr id="99" name="Titlu diapozitiv"/>
          <p:cNvSpPr txBox="1"/>
          <p:nvPr>
            <p:ph type="title" hasCustomPrompt="1"/>
          </p:nvPr>
        </p:nvSpPr>
        <p:spPr>
          <a:prstGeom prst="rect">
            <a:avLst/>
          </a:prstGeom>
        </p:spPr>
        <p:txBody>
          <a:bodyPr/>
          <a:lstStyle/>
          <a:p>
            <a:pPr/>
            <a:r>
              <a:t>Titlu diapozitiv</a:t>
            </a:r>
          </a:p>
        </p:txBody>
      </p:sp>
      <p:sp>
        <p:nvSpPr>
          <p:cNvPr id="100" name="Nivel corp unu…"/>
          <p:cNvSpPr txBox="1"/>
          <p:nvPr>
            <p:ph type="body" sz="quarter" idx="1" hasCustomPrompt="1"/>
          </p:nvPr>
        </p:nvSpPr>
        <p:spPr>
          <a:xfrm>
            <a:off x="1219200" y="2384648"/>
            <a:ext cx="21945602" cy="832614"/>
          </a:xfrm>
          <a:prstGeom prst="rect">
            <a:avLst/>
          </a:prstGeom>
        </p:spPr>
        <p:txBody>
          <a:bodyPr/>
          <a:lstStyle>
            <a:lvl1pPr marL="0" indent="0" algn="ctr" defTabSz="792479">
              <a:lnSpc>
                <a:spcPct val="100000"/>
              </a:lnSpc>
              <a:spcBef>
                <a:spcPts val="0"/>
              </a:spcBef>
              <a:buSzTx/>
              <a:buNone/>
              <a:defRPr spc="-42" sz="4200">
                <a:latin typeface="Avenir Next Demi Bold"/>
                <a:ea typeface="Avenir Next Demi Bold"/>
                <a:cs typeface="Avenir Next Demi Bold"/>
                <a:sym typeface="Avenir Next Demi Bold"/>
              </a:defRPr>
            </a:lvl1pPr>
            <a:lvl2pPr marL="1067377" indent="-521277" algn="ctr" defTabSz="792479">
              <a:lnSpc>
                <a:spcPct val="100000"/>
              </a:lnSpc>
              <a:spcBef>
                <a:spcPts val="0"/>
              </a:spcBef>
              <a:defRPr spc="-42" sz="4200">
                <a:latin typeface="Avenir Next Demi Bold"/>
                <a:ea typeface="Avenir Next Demi Bold"/>
                <a:cs typeface="Avenir Next Demi Bold"/>
                <a:sym typeface="Avenir Next Demi Bold"/>
              </a:defRPr>
            </a:lvl2pPr>
            <a:lvl3pPr marL="1613477" indent="-521277" algn="ctr" defTabSz="792479">
              <a:lnSpc>
                <a:spcPct val="100000"/>
              </a:lnSpc>
              <a:spcBef>
                <a:spcPts val="0"/>
              </a:spcBef>
              <a:defRPr spc="-42" sz="4200">
                <a:latin typeface="Avenir Next Demi Bold"/>
                <a:ea typeface="Avenir Next Demi Bold"/>
                <a:cs typeface="Avenir Next Demi Bold"/>
                <a:sym typeface="Avenir Next Demi Bold"/>
              </a:defRPr>
            </a:lvl3pPr>
            <a:lvl4pPr marL="2159577" indent="-521277" algn="ctr" defTabSz="792479">
              <a:lnSpc>
                <a:spcPct val="100000"/>
              </a:lnSpc>
              <a:spcBef>
                <a:spcPts val="0"/>
              </a:spcBef>
              <a:defRPr spc="-42" sz="4200">
                <a:latin typeface="Avenir Next Demi Bold"/>
                <a:ea typeface="Avenir Next Demi Bold"/>
                <a:cs typeface="Avenir Next Demi Bold"/>
                <a:sym typeface="Avenir Next Demi Bold"/>
              </a:defRPr>
            </a:lvl4pPr>
            <a:lvl5pPr marL="2705677" indent="-521277" algn="ctr" defTabSz="792479">
              <a:lnSpc>
                <a:spcPct val="100000"/>
              </a:lnSpc>
              <a:spcBef>
                <a:spcPts val="0"/>
              </a:spcBef>
              <a:defRPr spc="-42" sz="4200">
                <a:latin typeface="Avenir Next Demi Bold"/>
                <a:ea typeface="Avenir Next Demi Bold"/>
                <a:cs typeface="Avenir Next Demi Bold"/>
                <a:sym typeface="Avenir Next Demi Bold"/>
              </a:defRPr>
            </a:lvl5pPr>
          </a:lstStyle>
          <a:p>
            <a:pPr/>
            <a:r>
              <a:t>Subtitlu diapozitiv</a:t>
            </a:r>
          </a:p>
          <a:p>
            <a:pPr lvl="1"/>
            <a:r>
              <a:t/>
            </a:r>
          </a:p>
          <a:p>
            <a:pPr lvl="2"/>
            <a:r>
              <a:t/>
            </a:r>
          </a:p>
          <a:p>
            <a:pPr lvl="3"/>
            <a:r>
              <a:t/>
            </a:r>
          </a:p>
          <a:p>
            <a:pPr lvl="4"/>
            <a:r>
              <a:t/>
            </a:r>
          </a:p>
        </p:txBody>
      </p:sp>
      <p:sp>
        <p:nvSpPr>
          <p:cNvPr id="101" name="Număr diapozitiv"/>
          <p:cNvSpPr txBox="1"/>
          <p:nvPr>
            <p:ph type="sldNum" sz="quarter" idx="2"/>
          </p:nvPr>
        </p:nvSpPr>
        <p:spPr>
          <a:xfrm>
            <a:off x="11991339"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ă">
    <p:spTree>
      <p:nvGrpSpPr>
        <p:cNvPr id="1" name=""/>
        <p:cNvGrpSpPr/>
        <p:nvPr/>
      </p:nvGrpSpPr>
      <p:grpSpPr>
        <a:xfrm>
          <a:off x="0" y="0"/>
          <a:ext cx="0" cy="0"/>
          <a:chOff x="0" y="0"/>
          <a:chExt cx="0" cy="0"/>
        </a:xfrm>
      </p:grpSpPr>
      <p:sp>
        <p:nvSpPr>
          <p:cNvPr id="108" name="Titlu agendă"/>
          <p:cNvSpPr txBox="1"/>
          <p:nvPr>
            <p:ph type="title" hasCustomPrompt="1"/>
          </p:nvPr>
        </p:nvSpPr>
        <p:spPr>
          <a:prstGeom prst="rect">
            <a:avLst/>
          </a:prstGeom>
        </p:spPr>
        <p:txBody>
          <a:bodyPr/>
          <a:lstStyle/>
          <a:p>
            <a:pPr/>
            <a:r>
              <a:t>Titlu agendă</a:t>
            </a:r>
          </a:p>
        </p:txBody>
      </p:sp>
      <p:sp>
        <p:nvSpPr>
          <p:cNvPr id="109" name="Nivel corp unu…"/>
          <p:cNvSpPr txBox="1"/>
          <p:nvPr>
            <p:ph type="body" idx="1" hasCustomPrompt="1"/>
          </p:nvPr>
        </p:nvSpPr>
        <p:spPr>
          <a:xfrm>
            <a:off x="1219200" y="4013200"/>
            <a:ext cx="21945600" cy="8385548"/>
          </a:xfrm>
          <a:prstGeom prst="rect">
            <a:avLst/>
          </a:prstGeom>
        </p:spPr>
        <p:txBody>
          <a:bodyPr/>
          <a:lstStyle>
            <a:lvl1pPr marL="0" indent="0" defTabSz="825500">
              <a:lnSpc>
                <a:spcPct val="100000"/>
              </a:lnSpc>
              <a:buSzTx/>
              <a:buNone/>
              <a:defRPr spc="-136" sz="6800">
                <a:latin typeface="Canela Deck Regular"/>
                <a:ea typeface="Canela Deck Regular"/>
                <a:cs typeface="Canela Deck Regular"/>
                <a:sym typeface="Canela Deck Regular"/>
              </a:defRPr>
            </a:lvl1pPr>
            <a:lvl2pPr marL="0" indent="0" defTabSz="825500">
              <a:lnSpc>
                <a:spcPct val="100000"/>
              </a:lnSpc>
              <a:buSzTx/>
              <a:buNone/>
              <a:defRPr spc="-136" sz="6800">
                <a:latin typeface="Canela Deck Regular"/>
                <a:ea typeface="Canela Deck Regular"/>
                <a:cs typeface="Canela Deck Regular"/>
                <a:sym typeface="Canela Deck Regular"/>
              </a:defRPr>
            </a:lvl2pPr>
            <a:lvl3pPr marL="0" indent="0" defTabSz="825500">
              <a:lnSpc>
                <a:spcPct val="100000"/>
              </a:lnSpc>
              <a:buSzTx/>
              <a:buNone/>
              <a:defRPr spc="-136" sz="6800">
                <a:latin typeface="Canela Deck Regular"/>
                <a:ea typeface="Canela Deck Regular"/>
                <a:cs typeface="Canela Deck Regular"/>
                <a:sym typeface="Canela Deck Regular"/>
              </a:defRPr>
            </a:lvl3pPr>
            <a:lvl4pPr marL="0" indent="0" defTabSz="825500">
              <a:lnSpc>
                <a:spcPct val="100000"/>
              </a:lnSpc>
              <a:buSzTx/>
              <a:buNone/>
              <a:defRPr spc="-136" sz="6800">
                <a:latin typeface="Canela Deck Regular"/>
                <a:ea typeface="Canela Deck Regular"/>
                <a:cs typeface="Canela Deck Regular"/>
                <a:sym typeface="Canela Deck Regular"/>
              </a:defRPr>
            </a:lvl4pPr>
            <a:lvl5pPr marL="0" indent="0" defTabSz="825500">
              <a:lnSpc>
                <a:spcPct val="100000"/>
              </a:lnSpc>
              <a:buSzTx/>
              <a:buNone/>
              <a:defRPr spc="-136" sz="6800">
                <a:latin typeface="Canela Deck Regular"/>
                <a:ea typeface="Canela Deck Regular"/>
                <a:cs typeface="Canela Deck Regular"/>
                <a:sym typeface="Canela Deck Regular"/>
              </a:defRPr>
            </a:lvl5pPr>
          </a:lstStyle>
          <a:p>
            <a:pPr/>
            <a:r>
              <a:t>Subiecte agendă</a:t>
            </a:r>
          </a:p>
          <a:p>
            <a:pPr lvl="1"/>
            <a:r>
              <a:t/>
            </a:r>
          </a:p>
          <a:p>
            <a:pPr lvl="2"/>
            <a:r>
              <a:t/>
            </a:r>
          </a:p>
          <a:p>
            <a:pPr lvl="3"/>
            <a:r>
              <a:t/>
            </a:r>
          </a:p>
          <a:p>
            <a:pPr lvl="4"/>
            <a:r>
              <a:t/>
            </a:r>
          </a:p>
        </p:txBody>
      </p:sp>
      <p:sp>
        <p:nvSpPr>
          <p:cNvPr id="110" name="Subtitlu agendă"/>
          <p:cNvSpPr txBox="1"/>
          <p:nvPr>
            <p:ph type="body" sz="quarter" idx="21" hasCustomPrompt="1"/>
          </p:nvPr>
        </p:nvSpPr>
        <p:spPr>
          <a:xfrm>
            <a:off x="1219200" y="2387114"/>
            <a:ext cx="21945602" cy="832614"/>
          </a:xfrm>
          <a:prstGeom prst="rect">
            <a:avLst/>
          </a:prstGeom>
        </p:spPr>
        <p:txBody>
          <a:bodyPr/>
          <a:lstStyle>
            <a:lvl1pPr marL="0" indent="0" algn="ctr" defTabSz="792479">
              <a:lnSpc>
                <a:spcPct val="100000"/>
              </a:lnSpc>
              <a:spcBef>
                <a:spcPts val="0"/>
              </a:spcBef>
              <a:buSzTx/>
              <a:buNone/>
              <a:defRPr spc="-100" sz="4200">
                <a:latin typeface="Avenir Next Demi Bold"/>
                <a:ea typeface="Avenir Next Demi Bold"/>
                <a:cs typeface="Avenir Next Demi Bold"/>
                <a:sym typeface="Avenir Next Demi Bold"/>
              </a:defRPr>
            </a:lvl1pPr>
          </a:lstStyle>
          <a:p>
            <a:pPr/>
            <a:r>
              <a:t>Subtitlu agendă</a:t>
            </a:r>
          </a:p>
        </p:txBody>
      </p:sp>
      <p:sp>
        <p:nvSpPr>
          <p:cNvPr id="111" name="Număr diapozitiv"/>
          <p:cNvSpPr txBox="1"/>
          <p:nvPr>
            <p:ph type="sldNum" sz="quarter" idx="2"/>
          </p:nvPr>
        </p:nvSpPr>
        <p:spPr>
          <a:xfrm>
            <a:off x="11991339"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clarație">
    <p:spTree>
      <p:nvGrpSpPr>
        <p:cNvPr id="1" name=""/>
        <p:cNvGrpSpPr/>
        <p:nvPr/>
      </p:nvGrpSpPr>
      <p:grpSpPr>
        <a:xfrm>
          <a:off x="0" y="0"/>
          <a:ext cx="0" cy="0"/>
          <a:chOff x="0" y="0"/>
          <a:chExt cx="0" cy="0"/>
        </a:xfrm>
      </p:grpSpPr>
      <p:sp>
        <p:nvSpPr>
          <p:cNvPr id="118" name="Nivel corp unu…"/>
          <p:cNvSpPr txBox="1"/>
          <p:nvPr>
            <p:ph type="body" idx="1" hasCustomPrompt="1"/>
          </p:nvPr>
        </p:nvSpPr>
        <p:spPr>
          <a:xfrm>
            <a:off x="1219200" y="3251200"/>
            <a:ext cx="21945600" cy="6604000"/>
          </a:xfrm>
          <a:prstGeom prst="rect">
            <a:avLst/>
          </a:prstGeom>
        </p:spPr>
        <p:txBody>
          <a:bodyPr anchor="ctr"/>
          <a:lstStyle>
            <a:lvl1pPr marL="0" indent="0" algn="ctr" defTabSz="2438400">
              <a:lnSpc>
                <a:spcPct val="80000"/>
              </a:lnSpc>
              <a:spcBef>
                <a:spcPts val="0"/>
              </a:spcBef>
              <a:buSzTx/>
              <a:buNone/>
              <a:defRPr sz="12800">
                <a:latin typeface="Canela Regular"/>
                <a:ea typeface="Canela Regular"/>
                <a:cs typeface="Canela Regular"/>
                <a:sym typeface="Canela Regular"/>
              </a:defRPr>
            </a:lvl1pPr>
            <a:lvl2pPr marL="0" indent="0" algn="ctr" defTabSz="2438400">
              <a:lnSpc>
                <a:spcPct val="80000"/>
              </a:lnSpc>
              <a:spcBef>
                <a:spcPts val="0"/>
              </a:spcBef>
              <a:buSzTx/>
              <a:buNone/>
              <a:defRPr sz="12800">
                <a:latin typeface="Canela Regular"/>
                <a:ea typeface="Canela Regular"/>
                <a:cs typeface="Canela Regular"/>
                <a:sym typeface="Canela Regular"/>
              </a:defRPr>
            </a:lvl2pPr>
            <a:lvl3pPr marL="0" indent="0" algn="ctr" defTabSz="2438400">
              <a:lnSpc>
                <a:spcPct val="80000"/>
              </a:lnSpc>
              <a:spcBef>
                <a:spcPts val="0"/>
              </a:spcBef>
              <a:buSzTx/>
              <a:buNone/>
              <a:defRPr sz="12800">
                <a:latin typeface="Canela Regular"/>
                <a:ea typeface="Canela Regular"/>
                <a:cs typeface="Canela Regular"/>
                <a:sym typeface="Canela Regular"/>
              </a:defRPr>
            </a:lvl3pPr>
            <a:lvl4pPr marL="0" indent="0" algn="ctr" defTabSz="2438400">
              <a:lnSpc>
                <a:spcPct val="80000"/>
              </a:lnSpc>
              <a:spcBef>
                <a:spcPts val="0"/>
              </a:spcBef>
              <a:buSzTx/>
              <a:buNone/>
              <a:defRPr sz="12800">
                <a:latin typeface="Canela Regular"/>
                <a:ea typeface="Canela Regular"/>
                <a:cs typeface="Canela Regular"/>
                <a:sym typeface="Canela Regular"/>
              </a:defRPr>
            </a:lvl4pPr>
            <a:lvl5pPr marL="0" indent="0" algn="ctr" defTabSz="2438400">
              <a:lnSpc>
                <a:spcPct val="80000"/>
              </a:lnSpc>
              <a:spcBef>
                <a:spcPts val="0"/>
              </a:spcBef>
              <a:buSzTx/>
              <a:buNone/>
              <a:defRPr sz="12800">
                <a:latin typeface="Canela Regular"/>
                <a:ea typeface="Canela Regular"/>
                <a:cs typeface="Canela Regular"/>
                <a:sym typeface="Canela Regular"/>
              </a:defRPr>
            </a:lvl5pPr>
          </a:lstStyle>
          <a:p>
            <a:pPr/>
            <a:r>
              <a:t>Declarație</a:t>
            </a:r>
          </a:p>
          <a:p>
            <a:pPr lvl="1"/>
            <a:r>
              <a:t/>
            </a:r>
          </a:p>
          <a:p>
            <a:pPr lvl="2"/>
            <a:r>
              <a:t/>
            </a:r>
          </a:p>
          <a:p>
            <a:pPr lvl="3"/>
            <a:r>
              <a:t/>
            </a:r>
          </a:p>
          <a:p>
            <a:pPr lvl="4"/>
            <a:r>
              <a:t/>
            </a:r>
          </a:p>
        </p:txBody>
      </p:sp>
      <p:sp>
        <p:nvSpPr>
          <p:cNvPr id="119" name="Număr diapozitiv"/>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taliu (mare)">
    <p:spTree>
      <p:nvGrpSpPr>
        <p:cNvPr id="1" name=""/>
        <p:cNvGrpSpPr/>
        <p:nvPr/>
      </p:nvGrpSpPr>
      <p:grpSpPr>
        <a:xfrm>
          <a:off x="0" y="0"/>
          <a:ext cx="0" cy="0"/>
          <a:chOff x="0" y="0"/>
          <a:chExt cx="0" cy="0"/>
        </a:xfrm>
      </p:grpSpPr>
      <p:sp>
        <p:nvSpPr>
          <p:cNvPr id="126" name="Nivel corp unu…"/>
          <p:cNvSpPr txBox="1"/>
          <p:nvPr>
            <p:ph type="body" sz="quarter" idx="1" hasCustomPrompt="1"/>
          </p:nvPr>
        </p:nvSpPr>
        <p:spPr>
          <a:xfrm>
            <a:off x="1219200" y="8462239"/>
            <a:ext cx="21945602" cy="832614"/>
          </a:xfrm>
          <a:prstGeom prst="rect">
            <a:avLst/>
          </a:prstGeom>
        </p:spPr>
        <p:txBody>
          <a:bodyPr/>
          <a:lstStyle>
            <a:lvl1pPr marL="0" indent="0" algn="ctr" defTabSz="792479">
              <a:lnSpc>
                <a:spcPct val="100000"/>
              </a:lnSpc>
              <a:spcBef>
                <a:spcPts val="0"/>
              </a:spcBef>
              <a:buSzTx/>
              <a:buNone/>
              <a:defRPr spc="-42" sz="4200">
                <a:latin typeface="Avenir Next Demi Bold"/>
                <a:ea typeface="Avenir Next Demi Bold"/>
                <a:cs typeface="Avenir Next Demi Bold"/>
                <a:sym typeface="Avenir Next Demi Bold"/>
              </a:defRPr>
            </a:lvl1pPr>
            <a:lvl2pPr marL="1067377" indent="-521277" algn="ctr" defTabSz="792479">
              <a:lnSpc>
                <a:spcPct val="100000"/>
              </a:lnSpc>
              <a:spcBef>
                <a:spcPts val="0"/>
              </a:spcBef>
              <a:defRPr spc="-42" sz="4200">
                <a:latin typeface="Avenir Next Demi Bold"/>
                <a:ea typeface="Avenir Next Demi Bold"/>
                <a:cs typeface="Avenir Next Demi Bold"/>
                <a:sym typeface="Avenir Next Demi Bold"/>
              </a:defRPr>
            </a:lvl2pPr>
            <a:lvl3pPr marL="1613477" indent="-521277" algn="ctr" defTabSz="792479">
              <a:lnSpc>
                <a:spcPct val="100000"/>
              </a:lnSpc>
              <a:spcBef>
                <a:spcPts val="0"/>
              </a:spcBef>
              <a:defRPr spc="-42" sz="4200">
                <a:latin typeface="Avenir Next Demi Bold"/>
                <a:ea typeface="Avenir Next Demi Bold"/>
                <a:cs typeface="Avenir Next Demi Bold"/>
                <a:sym typeface="Avenir Next Demi Bold"/>
              </a:defRPr>
            </a:lvl3pPr>
            <a:lvl4pPr marL="2159577" indent="-521277" algn="ctr" defTabSz="792479">
              <a:lnSpc>
                <a:spcPct val="100000"/>
              </a:lnSpc>
              <a:spcBef>
                <a:spcPts val="0"/>
              </a:spcBef>
              <a:defRPr spc="-42" sz="4200">
                <a:latin typeface="Avenir Next Demi Bold"/>
                <a:ea typeface="Avenir Next Demi Bold"/>
                <a:cs typeface="Avenir Next Demi Bold"/>
                <a:sym typeface="Avenir Next Demi Bold"/>
              </a:defRPr>
            </a:lvl4pPr>
            <a:lvl5pPr marL="2705677" indent="-521277" algn="ctr" defTabSz="792479">
              <a:lnSpc>
                <a:spcPct val="100000"/>
              </a:lnSpc>
              <a:spcBef>
                <a:spcPts val="0"/>
              </a:spcBef>
              <a:defRPr spc="-42" sz="4200">
                <a:latin typeface="Avenir Next Demi Bold"/>
                <a:ea typeface="Avenir Next Demi Bold"/>
                <a:cs typeface="Avenir Next Demi Bold"/>
                <a:sym typeface="Avenir Next Demi Bold"/>
              </a:defRPr>
            </a:lvl5pPr>
          </a:lstStyle>
          <a:p>
            <a:pPr/>
            <a:r>
              <a:t>Informații factuale</a:t>
            </a:r>
          </a:p>
          <a:p>
            <a:pPr lvl="1"/>
            <a:r>
              <a:t/>
            </a:r>
          </a:p>
          <a:p>
            <a:pPr lvl="2"/>
            <a:r>
              <a:t/>
            </a:r>
          </a:p>
          <a:p>
            <a:pPr lvl="3"/>
            <a:r>
              <a:t/>
            </a:r>
          </a:p>
          <a:p>
            <a:pPr lvl="4"/>
            <a:r>
              <a:t/>
            </a:r>
          </a:p>
        </p:txBody>
      </p:sp>
      <p:sp>
        <p:nvSpPr>
          <p:cNvPr id="127" name="Nivel corp unu…"/>
          <p:cNvSpPr txBox="1"/>
          <p:nvPr>
            <p:ph type="body" sz="half" idx="21" hasCustomPrompt="1"/>
          </p:nvPr>
        </p:nvSpPr>
        <p:spPr>
          <a:xfrm>
            <a:off x="1219200" y="4214483"/>
            <a:ext cx="21945600" cy="4269709"/>
          </a:xfrm>
          <a:prstGeom prst="rect">
            <a:avLst/>
          </a:prstGeom>
        </p:spPr>
        <p:txBody>
          <a:bodyPr anchor="b"/>
          <a:lstStyle/>
          <a:p>
            <a:pPr lvl="4" marL="0" indent="1097280" algn="ctr" defTabSz="975360">
              <a:lnSpc>
                <a:spcPct val="80000"/>
              </a:lnSpc>
              <a:spcBef>
                <a:spcPts val="0"/>
              </a:spcBef>
              <a:buSzTx/>
              <a:buNone/>
              <a:defRPr sz="8960">
                <a:latin typeface="Canela Bold"/>
                <a:ea typeface="Canela Bold"/>
                <a:cs typeface="Canela Bold"/>
                <a:sym typeface="Canela Bold"/>
              </a:defRPr>
            </a:pPr>
            <a:r>
              <a:t>100%
</a:t>
            </a:r>
          </a:p>
        </p:txBody>
      </p:sp>
      <p:sp>
        <p:nvSpPr>
          <p:cNvPr id="128" name="Număr diapozitiv"/>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itat">
    <p:spTree>
      <p:nvGrpSpPr>
        <p:cNvPr id="1" name=""/>
        <p:cNvGrpSpPr/>
        <p:nvPr/>
      </p:nvGrpSpPr>
      <p:grpSpPr>
        <a:xfrm>
          <a:off x="0" y="0"/>
          <a:ext cx="0" cy="0"/>
          <a:chOff x="0" y="0"/>
          <a:chExt cx="0" cy="0"/>
        </a:xfrm>
      </p:grpSpPr>
      <p:sp>
        <p:nvSpPr>
          <p:cNvPr id="135" name="Nivel corp unu…"/>
          <p:cNvSpPr txBox="1"/>
          <p:nvPr>
            <p:ph type="body" sz="quarter" idx="1" hasCustomPrompt="1"/>
          </p:nvPr>
        </p:nvSpPr>
        <p:spPr>
          <a:xfrm>
            <a:off x="1219200" y="11100052"/>
            <a:ext cx="21945602" cy="832614"/>
          </a:xfrm>
          <a:prstGeom prst="rect">
            <a:avLst/>
          </a:prstGeom>
        </p:spPr>
        <p:txBody>
          <a:bodyPr anchor="ctr"/>
          <a:lstStyle>
            <a:lvl1pPr marL="0" indent="0" algn="ctr" defTabSz="792479">
              <a:lnSpc>
                <a:spcPct val="100000"/>
              </a:lnSpc>
              <a:spcBef>
                <a:spcPts val="0"/>
              </a:spcBef>
              <a:buSzTx/>
              <a:buNone/>
              <a:defRPr spc="-42" sz="4200">
                <a:latin typeface="Avenir Next Demi Bold"/>
                <a:ea typeface="Avenir Next Demi Bold"/>
                <a:cs typeface="Avenir Next Demi Bold"/>
                <a:sym typeface="Avenir Next Demi Bold"/>
              </a:defRPr>
            </a:lvl1pPr>
            <a:lvl2pPr marL="1067377" indent="-521277" algn="ctr" defTabSz="792479">
              <a:lnSpc>
                <a:spcPct val="100000"/>
              </a:lnSpc>
              <a:spcBef>
                <a:spcPts val="0"/>
              </a:spcBef>
              <a:defRPr spc="-42" sz="4200">
                <a:latin typeface="Avenir Next Demi Bold"/>
                <a:ea typeface="Avenir Next Demi Bold"/>
                <a:cs typeface="Avenir Next Demi Bold"/>
                <a:sym typeface="Avenir Next Demi Bold"/>
              </a:defRPr>
            </a:lvl2pPr>
            <a:lvl3pPr marL="1613477" indent="-521277" algn="ctr" defTabSz="792479">
              <a:lnSpc>
                <a:spcPct val="100000"/>
              </a:lnSpc>
              <a:spcBef>
                <a:spcPts val="0"/>
              </a:spcBef>
              <a:defRPr spc="-42" sz="4200">
                <a:latin typeface="Avenir Next Demi Bold"/>
                <a:ea typeface="Avenir Next Demi Bold"/>
                <a:cs typeface="Avenir Next Demi Bold"/>
                <a:sym typeface="Avenir Next Demi Bold"/>
              </a:defRPr>
            </a:lvl3pPr>
            <a:lvl4pPr marL="2159577" indent="-521277" algn="ctr" defTabSz="792479">
              <a:lnSpc>
                <a:spcPct val="100000"/>
              </a:lnSpc>
              <a:spcBef>
                <a:spcPts val="0"/>
              </a:spcBef>
              <a:defRPr spc="-42" sz="4200">
                <a:latin typeface="Avenir Next Demi Bold"/>
                <a:ea typeface="Avenir Next Demi Bold"/>
                <a:cs typeface="Avenir Next Demi Bold"/>
                <a:sym typeface="Avenir Next Demi Bold"/>
              </a:defRPr>
            </a:lvl4pPr>
            <a:lvl5pPr marL="2705677" indent="-521277" algn="ctr" defTabSz="792479">
              <a:lnSpc>
                <a:spcPct val="100000"/>
              </a:lnSpc>
              <a:spcBef>
                <a:spcPts val="0"/>
              </a:spcBef>
              <a:defRPr spc="-42" sz="4200">
                <a:latin typeface="Avenir Next Demi Bold"/>
                <a:ea typeface="Avenir Next Demi Bold"/>
                <a:cs typeface="Avenir Next Demi Bold"/>
                <a:sym typeface="Avenir Next Demi Bold"/>
              </a:defRPr>
            </a:lvl5pPr>
          </a:lstStyle>
          <a:p>
            <a:pPr/>
            <a:r>
              <a:t>Atribuire</a:t>
            </a:r>
          </a:p>
          <a:p>
            <a:pPr lvl="1"/>
            <a:r>
              <a:t/>
            </a:r>
          </a:p>
          <a:p>
            <a:pPr lvl="2"/>
            <a:r>
              <a:t/>
            </a:r>
          </a:p>
          <a:p>
            <a:pPr lvl="3"/>
            <a:r>
              <a:t/>
            </a:r>
          </a:p>
          <a:p>
            <a:pPr lvl="4"/>
            <a:r>
              <a:t/>
            </a:r>
          </a:p>
        </p:txBody>
      </p:sp>
      <p:sp>
        <p:nvSpPr>
          <p:cNvPr id="136" name="Nivel corp unu…"/>
          <p:cNvSpPr txBox="1"/>
          <p:nvPr>
            <p:ph type="body" sz="half" idx="21" hasCustomPrompt="1"/>
          </p:nvPr>
        </p:nvSpPr>
        <p:spPr>
          <a:xfrm>
            <a:off x="1219200" y="4178300"/>
            <a:ext cx="21945600" cy="4416425"/>
          </a:xfrm>
          <a:prstGeom prst="rect">
            <a:avLst/>
          </a:prstGeom>
        </p:spPr>
        <p:txBody>
          <a:bodyPr anchor="ctr"/>
          <a:lstStyle/>
          <a:p>
            <a:pPr lvl="4" marL="0" indent="1700783" algn="ctr" defTabSz="1511808">
              <a:lnSpc>
                <a:spcPct val="80000"/>
              </a:lnSpc>
              <a:spcBef>
                <a:spcPts val="0"/>
              </a:spcBef>
              <a:buSzTx/>
              <a:buNone/>
              <a:defRPr sz="5208">
                <a:latin typeface="Canela Bold"/>
                <a:ea typeface="Canela Bold"/>
                <a:cs typeface="Canela Bold"/>
                <a:sym typeface="Canela Bold"/>
              </a:defRPr>
            </a:pPr>
            <a:r>
              <a:t>“Citat important”
</a:t>
            </a:r>
          </a:p>
        </p:txBody>
      </p:sp>
      <p:sp>
        <p:nvSpPr>
          <p:cNvPr id="137" name="Număr diapozitiv"/>
          <p:cNvSpPr txBox="1"/>
          <p:nvPr>
            <p:ph type="sldNum" sz="quarter" idx="2"/>
          </p:nvPr>
        </p:nvSpPr>
        <p:spPr>
          <a:xfrm>
            <a:off x="11991339"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oză - 3 exemplare">
    <p:spTree>
      <p:nvGrpSpPr>
        <p:cNvPr id="1" name=""/>
        <p:cNvGrpSpPr/>
        <p:nvPr/>
      </p:nvGrpSpPr>
      <p:grpSpPr>
        <a:xfrm>
          <a:off x="0" y="0"/>
          <a:ext cx="0" cy="0"/>
          <a:chOff x="0" y="0"/>
          <a:chExt cx="0" cy="0"/>
        </a:xfrm>
      </p:grpSpPr>
      <p:sp>
        <p:nvSpPr>
          <p:cNvPr id="144" name="Mare pe fundalul cerului la apus 2"/>
          <p:cNvSpPr/>
          <p:nvPr>
            <p:ph type="pic" sz="quarter" idx="21"/>
          </p:nvPr>
        </p:nvSpPr>
        <p:spPr>
          <a:xfrm>
            <a:off x="15744825" y="5581751"/>
            <a:ext cx="7365408" cy="8280402"/>
          </a:xfrm>
          <a:prstGeom prst="rect">
            <a:avLst/>
          </a:prstGeom>
        </p:spPr>
        <p:txBody>
          <a:bodyPr lIns="91439" tIns="45719" rIns="91439" bIns="45719">
            <a:noAutofit/>
          </a:bodyPr>
          <a:lstStyle/>
          <a:p>
            <a:pPr/>
          </a:p>
        </p:txBody>
      </p:sp>
      <p:sp>
        <p:nvSpPr>
          <p:cNvPr id="145" name="Mare pe fundalul cerului la apus 1"/>
          <p:cNvSpPr/>
          <p:nvPr>
            <p:ph type="pic" sz="quarter" idx="22"/>
          </p:nvPr>
        </p:nvSpPr>
        <p:spPr>
          <a:xfrm>
            <a:off x="15363825" y="1270000"/>
            <a:ext cx="8115300" cy="5409006"/>
          </a:xfrm>
          <a:prstGeom prst="rect">
            <a:avLst/>
          </a:prstGeom>
        </p:spPr>
        <p:txBody>
          <a:bodyPr lIns="91439" tIns="45719" rIns="91439" bIns="45719">
            <a:noAutofit/>
          </a:bodyPr>
          <a:lstStyle/>
          <a:p>
            <a:pPr/>
          </a:p>
        </p:txBody>
      </p:sp>
      <p:sp>
        <p:nvSpPr>
          <p:cNvPr id="146" name="Plajă și mare la apus"/>
          <p:cNvSpPr/>
          <p:nvPr>
            <p:ph type="pic" idx="23"/>
          </p:nvPr>
        </p:nvSpPr>
        <p:spPr>
          <a:xfrm>
            <a:off x="-63500" y="1270000"/>
            <a:ext cx="16764000" cy="11176000"/>
          </a:xfrm>
          <a:prstGeom prst="rect">
            <a:avLst/>
          </a:prstGeom>
        </p:spPr>
        <p:txBody>
          <a:bodyPr lIns="91439" tIns="45719" rIns="91439" bIns="45719">
            <a:noAutofit/>
          </a:bodyPr>
          <a:lstStyle/>
          <a:p>
            <a:pPr/>
          </a:p>
        </p:txBody>
      </p:sp>
      <p:sp>
        <p:nvSpPr>
          <p:cNvPr id="147" name="Număr diapozitiv"/>
          <p:cNvSpPr txBox="1"/>
          <p:nvPr>
            <p:ph type="sldNum" sz="quarter" idx="2"/>
          </p:nvPr>
        </p:nvSpPr>
        <p:spPr>
          <a:xfrm>
            <a:off x="11991339"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oză">
    <p:spTree>
      <p:nvGrpSpPr>
        <p:cNvPr id="1" name=""/>
        <p:cNvGrpSpPr/>
        <p:nvPr/>
      </p:nvGrpSpPr>
      <p:grpSpPr>
        <a:xfrm>
          <a:off x="0" y="0"/>
          <a:ext cx="0" cy="0"/>
          <a:chOff x="0" y="0"/>
          <a:chExt cx="0" cy="0"/>
        </a:xfrm>
      </p:grpSpPr>
      <p:sp>
        <p:nvSpPr>
          <p:cNvPr id="154" name="plajă și mare la apus"/>
          <p:cNvSpPr/>
          <p:nvPr>
            <p:ph type="pic" idx="21"/>
          </p:nvPr>
        </p:nvSpPr>
        <p:spPr>
          <a:xfrm>
            <a:off x="1270000" y="-423334"/>
            <a:ext cx="21844000" cy="14562668"/>
          </a:xfrm>
          <a:prstGeom prst="rect">
            <a:avLst/>
          </a:prstGeom>
        </p:spPr>
        <p:txBody>
          <a:bodyPr lIns="91439" tIns="45719" rIns="91439" bIns="45719">
            <a:noAutofit/>
          </a:bodyPr>
          <a:lstStyle/>
          <a:p>
            <a:pPr/>
          </a:p>
        </p:txBody>
      </p:sp>
      <p:sp>
        <p:nvSpPr>
          <p:cNvPr id="155" name="Număr diapozitiv"/>
          <p:cNvSpPr txBox="1"/>
          <p:nvPr>
            <p:ph type="sldNum" sz="quarter" idx="2"/>
          </p:nvPr>
        </p:nvSpPr>
        <p:spPr>
          <a:xfrm>
            <a:off x="11991339"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Fără conținut">
    <p:spTree>
      <p:nvGrpSpPr>
        <p:cNvPr id="1" name=""/>
        <p:cNvGrpSpPr/>
        <p:nvPr/>
      </p:nvGrpSpPr>
      <p:grpSpPr>
        <a:xfrm>
          <a:off x="0" y="0"/>
          <a:ext cx="0" cy="0"/>
          <a:chOff x="0" y="0"/>
          <a:chExt cx="0" cy="0"/>
        </a:xfrm>
      </p:grpSpPr>
      <p:sp>
        <p:nvSpPr>
          <p:cNvPr id="162" name="Număr diapozitiv"/>
          <p:cNvSpPr txBox="1"/>
          <p:nvPr>
            <p:ph type="sldNum" sz="quarter" idx="2"/>
          </p:nvPr>
        </p:nvSpPr>
        <p:spPr>
          <a:xfrm>
            <a:off x="11991339"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u diapozitiv"/>
          <p:cNvSpPr txBox="1"/>
          <p:nvPr>
            <p:ph type="title" hasCustomPrompt="1"/>
          </p:nvPr>
        </p:nvSpPr>
        <p:spPr>
          <a:xfrm>
            <a:off x="1219200" y="774700"/>
            <a:ext cx="21945600" cy="17272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Titlu diapozitiv</a:t>
            </a:r>
          </a:p>
        </p:txBody>
      </p:sp>
      <p:sp>
        <p:nvSpPr>
          <p:cNvPr id="3" name="Nivel corp unu…"/>
          <p:cNvSpPr txBox="1"/>
          <p:nvPr>
            <p:ph type="body" idx="1" hasCustomPrompt="1"/>
          </p:nvPr>
        </p:nvSpPr>
        <p:spPr>
          <a:xfrm>
            <a:off x="1219200" y="4013200"/>
            <a:ext cx="21948577" cy="8483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Text marcator diapozitiv</a:t>
            </a:r>
          </a:p>
          <a:p>
            <a:pPr lvl="1"/>
            <a:r>
              <a:t/>
            </a:r>
          </a:p>
          <a:p>
            <a:pPr lvl="2"/>
            <a:r>
              <a:t/>
            </a:r>
          </a:p>
          <a:p>
            <a:pPr lvl="3"/>
            <a:r>
              <a:t/>
            </a:r>
          </a:p>
          <a:p>
            <a:pPr lvl="4"/>
            <a:r>
              <a:t/>
            </a:r>
          </a:p>
        </p:txBody>
      </p:sp>
      <p:sp>
        <p:nvSpPr>
          <p:cNvPr id="4" name="Număr diapozitiv"/>
          <p:cNvSpPr txBox="1"/>
          <p:nvPr>
            <p:ph type="sldNum" sz="quarter" idx="2"/>
          </p:nvPr>
        </p:nvSpPr>
        <p:spPr>
          <a:xfrm>
            <a:off x="11987530" y="12684760"/>
            <a:ext cx="408941" cy="444501"/>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2000">
                <a:solidFill>
                  <a:srgbClr val="5E5E5E"/>
                </a:solidFill>
                <a:latin typeface="Avenir Next Regular"/>
                <a:ea typeface="Avenir Next Regular"/>
                <a:cs typeface="Avenir Next Regular"/>
                <a:sym typeface="Avenir Next Regular"/>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transition xmlns:p14="http://schemas.microsoft.com/office/powerpoint/2010/main" spd="med" advClick="1"/>
  <p:txStyles>
    <p:titleStyle>
      <a:lvl1pPr marL="0" marR="0" indent="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Canela Bold"/>
          <a:ea typeface="Canela Bold"/>
          <a:cs typeface="Canela Bold"/>
          <a:sym typeface="Canela Bold"/>
        </a:defRPr>
      </a:lvl1pPr>
      <a:lvl2pPr marL="0" marR="0" indent="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Canela Bold"/>
          <a:ea typeface="Canela Bold"/>
          <a:cs typeface="Canela Bold"/>
          <a:sym typeface="Canela Bold"/>
        </a:defRPr>
      </a:lvl2pPr>
      <a:lvl3pPr marL="0" marR="0" indent="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Canela Bold"/>
          <a:ea typeface="Canela Bold"/>
          <a:cs typeface="Canela Bold"/>
          <a:sym typeface="Canela Bold"/>
        </a:defRPr>
      </a:lvl3pPr>
      <a:lvl4pPr marL="0" marR="0" indent="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Canela Bold"/>
          <a:ea typeface="Canela Bold"/>
          <a:cs typeface="Canela Bold"/>
          <a:sym typeface="Canela Bold"/>
        </a:defRPr>
      </a:lvl4pPr>
      <a:lvl5pPr marL="0" marR="0" indent="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Canela Bold"/>
          <a:ea typeface="Canela Bold"/>
          <a:cs typeface="Canela Bold"/>
          <a:sym typeface="Canela Bold"/>
        </a:defRPr>
      </a:lvl5pPr>
      <a:lvl6pPr marL="0" marR="0" indent="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Canela Bold"/>
          <a:ea typeface="Canela Bold"/>
          <a:cs typeface="Canela Bold"/>
          <a:sym typeface="Canela Bold"/>
        </a:defRPr>
      </a:lvl6pPr>
      <a:lvl7pPr marL="0" marR="0" indent="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Canela Bold"/>
          <a:ea typeface="Canela Bold"/>
          <a:cs typeface="Canela Bold"/>
          <a:sym typeface="Canela Bold"/>
        </a:defRPr>
      </a:lvl7pPr>
      <a:lvl8pPr marL="0" marR="0" indent="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Canela Bold"/>
          <a:ea typeface="Canela Bold"/>
          <a:cs typeface="Canela Bold"/>
          <a:sym typeface="Canela Bold"/>
        </a:defRPr>
      </a:lvl8pPr>
      <a:lvl9pPr marL="0" marR="0" indent="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Canela Bold"/>
          <a:ea typeface="Canela Bold"/>
          <a:cs typeface="Canela Bold"/>
          <a:sym typeface="Canela Bold"/>
        </a:defRPr>
      </a:lvl9pPr>
    </p:titleStyle>
    <p:bodyStyle>
      <a:lvl1pPr marL="546100" marR="0" indent="-546100" algn="l" defTabSz="2438337"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1pPr>
      <a:lvl2pPr marL="1092200" marR="0" indent="-546100" algn="l" defTabSz="2438337"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2pPr>
      <a:lvl3pPr marL="1638300" marR="0" indent="-546100" algn="l" defTabSz="2438337"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3pPr>
      <a:lvl4pPr marL="2184400" marR="0" indent="-546100" algn="l" defTabSz="2438337"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4pPr>
      <a:lvl5pPr marL="2730500" marR="0" indent="-546100" algn="l" defTabSz="2438337"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5pPr>
      <a:lvl6pPr marL="3276600" marR="0" indent="-546100" algn="l" defTabSz="2438337"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6pPr>
      <a:lvl7pPr marL="3822700" marR="0" indent="-546100" algn="l" defTabSz="2438337"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7pPr>
      <a:lvl8pPr marL="4368800" marR="0" indent="-546100" algn="l" defTabSz="2438337"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8pPr>
      <a:lvl9pPr marL="4914900" marR="0" indent="-546100" algn="l" defTabSz="2438337"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9pPr>
    </p:bodyStyle>
    <p:otherStyle>
      <a:lvl1pPr marL="0" marR="0" indent="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Avenir Next Regular"/>
        </a:defRPr>
      </a:lvl1pPr>
      <a:lvl2pPr marL="0" marR="0" indent="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Avenir Next Regular"/>
        </a:defRPr>
      </a:lvl2pPr>
      <a:lvl3pPr marL="0" marR="0" indent="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Avenir Next Regular"/>
        </a:defRPr>
      </a:lvl3pPr>
      <a:lvl4pPr marL="0" marR="0" indent="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Avenir Next Regular"/>
        </a:defRPr>
      </a:lvl4pPr>
      <a:lvl5pPr marL="0" marR="0" indent="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Avenir Next Regular"/>
        </a:defRPr>
      </a:lvl5pPr>
      <a:lvl6pPr marL="0" marR="0" indent="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Avenir Next Regular"/>
        </a:defRPr>
      </a:lvl6pPr>
      <a:lvl7pPr marL="0" marR="0" indent="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Avenir Next Regular"/>
        </a:defRPr>
      </a:lvl7pPr>
      <a:lvl8pPr marL="0" marR="0" indent="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Avenir Next Regular"/>
        </a:defRPr>
      </a:lvl8pPr>
      <a:lvl9pPr marL="0" marR="0" indent="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Avenir Next Regular"/>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image" Target="../media/image2.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png"/><Relationship Id="rId3" Type="http://schemas.openxmlformats.org/officeDocument/2006/relationships/image" Target="../media/image10.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image" Target="../media/image2.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image" Target="../media/image25.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image" Target="../media/image28.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32.png"/></Relationships>

</file>

<file path=ppt/slides/_rels/slide17.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3.png"/><Relationship Id="rId3" Type="http://schemas.openxmlformats.org/officeDocument/2006/relationships/image" Target="../media/image34.png"/><Relationship Id="rId4" Type="http://schemas.openxmlformats.org/officeDocument/2006/relationships/image" Target="../media/image35.png"/></Relationships>

</file>

<file path=ppt/slides/_rels/slide1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6.png"/><Relationship Id="rId3" Type="http://schemas.openxmlformats.org/officeDocument/2006/relationships/image" Target="../media/image37.png"/></Relationships>

</file>

<file path=ppt/slides/_rels/slide2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8.png"/><Relationship Id="rId3" Type="http://schemas.openxmlformats.org/officeDocument/2006/relationships/image" Target="../media/image39.png"/><Relationship Id="rId4" Type="http://schemas.openxmlformats.org/officeDocument/2006/relationships/image" Target="../media/image40.png"/><Relationship Id="rId5" Type="http://schemas.openxmlformats.org/officeDocument/2006/relationships/image" Target="../media/image41.png"/><Relationship Id="rId6" Type="http://schemas.openxmlformats.org/officeDocument/2006/relationships/image" Target="../media/image42.png"/></Relationships>

</file>

<file path=ppt/slides/_rels/slide2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3.png"/><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46.png"/></Relationships>

</file>

<file path=ppt/slides/_rels/slide2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7.png"/><Relationship Id="rId3" Type="http://schemas.openxmlformats.org/officeDocument/2006/relationships/image" Target="../media/image48.png"/><Relationship Id="rId4" Type="http://schemas.openxmlformats.org/officeDocument/2006/relationships/image" Target="../media/image49.png"/><Relationship Id="rId5" Type="http://schemas.openxmlformats.org/officeDocument/2006/relationships/image" Target="../media/image50.png"/></Relationships>

</file>

<file path=ppt/slides/_rels/slide2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8.png"/><Relationship Id="rId3" Type="http://schemas.openxmlformats.org/officeDocument/2006/relationships/image" Target="../media/image51.png"/><Relationship Id="rId4" Type="http://schemas.openxmlformats.org/officeDocument/2006/relationships/image" Target="../media/image52.png"/></Relationships>

</file>

<file path=ppt/slides/_rels/slide2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8.png"/></Relationships>

</file>

<file path=ppt/slides/_rels/slide2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8.png"/><Relationship Id="rId3" Type="http://schemas.openxmlformats.org/officeDocument/2006/relationships/image" Target="../media/image53.png"/><Relationship Id="rId4" Type="http://schemas.openxmlformats.org/officeDocument/2006/relationships/image" Target="../media/image54.png"/></Relationships>

</file>

<file path=ppt/slides/_rels/slide2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8.png"/><Relationship Id="rId3" Type="http://schemas.openxmlformats.org/officeDocument/2006/relationships/image" Target="../media/image55.png"/><Relationship Id="rId4" Type="http://schemas.openxmlformats.org/officeDocument/2006/relationships/image" Target="../media/image56.png"/><Relationship Id="rId5" Type="http://schemas.openxmlformats.org/officeDocument/2006/relationships/image" Target="../media/image57.png"/><Relationship Id="rId6" Type="http://schemas.openxmlformats.org/officeDocument/2006/relationships/image" Target="../media/image58.png"/><Relationship Id="rId7" Type="http://schemas.openxmlformats.org/officeDocument/2006/relationships/image" Target="../media/image59.png"/><Relationship Id="rId8" Type="http://schemas.openxmlformats.org/officeDocument/2006/relationships/image" Target="../media/image60.png"/><Relationship Id="rId9" Type="http://schemas.openxmlformats.org/officeDocument/2006/relationships/image" Target="../media/image61.png"/><Relationship Id="rId10" Type="http://schemas.openxmlformats.org/officeDocument/2006/relationships/image" Target="../media/image62.png"/><Relationship Id="rId11" Type="http://schemas.openxmlformats.org/officeDocument/2006/relationships/image" Target="../media/image63.png"/><Relationship Id="rId12" Type="http://schemas.openxmlformats.org/officeDocument/2006/relationships/image" Target="../media/image64.png"/><Relationship Id="rId13" Type="http://schemas.openxmlformats.org/officeDocument/2006/relationships/image" Target="../media/image65.png"/><Relationship Id="rId14" Type="http://schemas.openxmlformats.org/officeDocument/2006/relationships/image" Target="../media/image66.png"/></Relationships>

</file>

<file path=ppt/slides/_rels/slide2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7.png"/><Relationship Id="rId3" Type="http://schemas.openxmlformats.org/officeDocument/2006/relationships/image" Target="../media/image68.png"/><Relationship Id="rId4" Type="http://schemas.openxmlformats.org/officeDocument/2006/relationships/image" Target="../media/image7.png"/><Relationship Id="rId5" Type="http://schemas.openxmlformats.org/officeDocument/2006/relationships/image" Target="../media/image69.png"/></Relationships>

</file>

<file path=ppt/slides/_rels/slide2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0.png"/><Relationship Id="rId3" Type="http://schemas.openxmlformats.org/officeDocument/2006/relationships/image" Target="../media/image71.png"/><Relationship Id="rId4" Type="http://schemas.openxmlformats.org/officeDocument/2006/relationships/image" Target="../media/image72.png"/><Relationship Id="rId5" Type="http://schemas.openxmlformats.org/officeDocument/2006/relationships/image" Target="../media/image73.png"/><Relationship Id="rId6" Type="http://schemas.openxmlformats.org/officeDocument/2006/relationships/image" Target="../media/image74.png"/></Relationships>

</file>

<file path=ppt/slides/_rels/slide2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5.png"/></Relationships>

</file>

<file path=ppt/slides/_rels/slide3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6.png"/><Relationship Id="rId3" Type="http://schemas.openxmlformats.org/officeDocument/2006/relationships/image" Target="../media/image77.png"/><Relationship Id="rId4" Type="http://schemas.openxmlformats.org/officeDocument/2006/relationships/image" Target="../media/image78.png"/><Relationship Id="rId5" Type="http://schemas.openxmlformats.org/officeDocument/2006/relationships/image" Target="../media/image79.png"/><Relationship Id="rId6" Type="http://schemas.openxmlformats.org/officeDocument/2006/relationships/image" Target="../media/image80.png"/></Relationships>

</file>

<file path=ppt/slides/_rels/slide3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1.png"/></Relationships>

</file>

<file path=ppt/slides/_rels/slide3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2.png"/><Relationship Id="rId3" Type="http://schemas.openxmlformats.org/officeDocument/2006/relationships/image" Target="../media/image83.png"/></Relationships>

</file>

<file path=ppt/slides/_rels/slide3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4.png"/></Relationships>

</file>

<file path=ppt/slides/_rels/slide34.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5.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1" name="Efrem Dragoș-Sebastian-Mihaly"/>
          <p:cNvSpPr txBox="1"/>
          <p:nvPr>
            <p:ph type="body" sz="quarter" idx="1"/>
          </p:nvPr>
        </p:nvSpPr>
        <p:spPr>
          <a:xfrm>
            <a:off x="1219199" y="11986162"/>
            <a:ext cx="21945600" cy="605792"/>
          </a:xfrm>
          <a:prstGeom prst="rect">
            <a:avLst/>
          </a:prstGeom>
        </p:spPr>
        <p:txBody>
          <a:bodyPr/>
          <a:lstStyle>
            <a:lvl1pPr>
              <a:defRPr spc="-100"/>
            </a:lvl1pPr>
          </a:lstStyle>
          <a:p>
            <a:pPr/>
            <a:r>
              <a:t>Efrem Dragoș-Sebastian-Mihaly</a:t>
            </a:r>
          </a:p>
        </p:txBody>
      </p:sp>
      <p:sp>
        <p:nvSpPr>
          <p:cNvPr id="172" name="Bazele Inteligenței Artificiale"/>
          <p:cNvSpPr txBox="1"/>
          <p:nvPr>
            <p:ph type="title"/>
          </p:nvPr>
        </p:nvSpPr>
        <p:spPr>
          <a:prstGeom prst="rect">
            <a:avLst/>
          </a:prstGeom>
        </p:spPr>
        <p:txBody>
          <a:bodyPr/>
          <a:lstStyle>
            <a:lvl1pPr>
              <a:defRPr spc="-200"/>
            </a:lvl1pPr>
          </a:lstStyle>
          <a:p>
            <a:pPr/>
            <a:r>
              <a:t>Bazele Inteligenței Artificiale</a:t>
            </a:r>
          </a:p>
        </p:txBody>
      </p:sp>
      <p:sp>
        <p:nvSpPr>
          <p:cNvPr id="173" name="Lab 2. Modele parametrice"/>
          <p:cNvSpPr txBox="1"/>
          <p:nvPr/>
        </p:nvSpPr>
        <p:spPr>
          <a:xfrm>
            <a:off x="1219200" y="7567579"/>
            <a:ext cx="21945600" cy="225059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algn="ctr" defTabSz="825500">
              <a:lnSpc>
                <a:spcPct val="100000"/>
              </a:lnSpc>
              <a:spcBef>
                <a:spcPts val="0"/>
              </a:spcBef>
              <a:defRPr spc="-100" sz="6000">
                <a:latin typeface="Avenir Next Demi Bold"/>
                <a:ea typeface="Avenir Next Demi Bold"/>
                <a:cs typeface="Avenir Next Demi Bold"/>
                <a:sym typeface="Avenir Next Demi Bold"/>
              </a:defRPr>
            </a:lvl1pPr>
          </a:lstStyle>
          <a:p>
            <a:pPr/>
            <a:r>
              <a:t>Lab 5. Reducerea dimensionalității</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5" name="Supervizate"/>
          <p:cNvSpPr txBox="1"/>
          <p:nvPr/>
        </p:nvSpPr>
        <p:spPr>
          <a:xfrm>
            <a:off x="-7076862" y="7802424"/>
            <a:ext cx="8358424"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Supervizate</a:t>
            </a:r>
          </a:p>
        </p:txBody>
      </p:sp>
      <p:sp>
        <p:nvSpPr>
          <p:cNvPr id="176"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graphicFrame>
        <p:nvGraphicFramePr>
          <p:cNvPr id="177" name="Tabelul 1"/>
          <p:cNvGraphicFramePr/>
          <p:nvPr/>
        </p:nvGraphicFramePr>
        <p:xfrm>
          <a:off x="2095862" y="3848280"/>
          <a:ext cx="15435026" cy="5419039"/>
        </p:xfrm>
        <a:graphic xmlns:a="http://schemas.openxmlformats.org/drawingml/2006/main">
          <a:graphicData uri="http://schemas.openxmlformats.org/drawingml/2006/table">
            <a:tbl>
              <a:tblPr firstCol="0" firstRow="1" lastCol="0" lastRow="0" bandCol="0" bandRow="1" rtl="0">
                <a:tableStyleId>{4C3C2611-4C71-4FC5-86AE-919BDF0F9419}</a:tableStyleId>
              </a:tblPr>
              <a:tblGrid>
                <a:gridCol w="1905000"/>
                <a:gridCol w="1905000"/>
                <a:gridCol w="1905000"/>
                <a:gridCol w="1905000"/>
                <a:gridCol w="1905000"/>
                <a:gridCol w="1905000"/>
                <a:gridCol w="1905000"/>
                <a:gridCol w="1905000"/>
                <a:gridCol w="1905000"/>
                <a:gridCol w="1905000"/>
              </a:tblGrid>
              <a:tr h="860806">
                <a:tc>
                  <a:txBody>
                    <a:bodyPr/>
                    <a:lstStyle/>
                    <a:p>
                      <a:pPr indent="457200">
                        <a:defRPr b="0" sz="1800">
                          <a:solidFill>
                            <a:srgbClr val="000000"/>
                          </a:solidFill>
                        </a:defRPr>
                      </a:pPr>
                      <a:r>
                        <a:rPr sz="2200">
                          <a:solidFill>
                            <a:srgbClr val="FFFFFF"/>
                          </a:solidFill>
                          <a:latin typeface="Canela Text Regular"/>
                          <a:ea typeface="Canela Text Regular"/>
                          <a:cs typeface="Canela Text Regular"/>
                          <a:sym typeface="Canela Text Regular"/>
                        </a:rPr>
                        <a:t>[1] Înălțime</a:t>
                      </a:r>
                    </a:p>
                  </a:txBody>
                  <a:tcPr marL="0" marR="0" marT="0" marB="0" anchor="ctr" anchorCtr="0" horzOverflow="overflow"/>
                </a:tc>
                <a:tc>
                  <a:txBody>
                    <a:bodyPr/>
                    <a:lstStyle/>
                    <a:p>
                      <a:pPr indent="457200">
                        <a:defRPr b="0" sz="1800">
                          <a:solidFill>
                            <a:srgbClr val="000000"/>
                          </a:solidFill>
                        </a:defRPr>
                      </a:pPr>
                      <a:r>
                        <a:rPr sz="2200">
                          <a:solidFill>
                            <a:srgbClr val="FFFFFF"/>
                          </a:solidFill>
                          <a:latin typeface="Canela Text Regular"/>
                          <a:ea typeface="Canela Text Regular"/>
                          <a:cs typeface="Canela Text Regular"/>
                          <a:sym typeface="Canela Text Regular"/>
                        </a:rPr>
                        <a:t>[2] Greutate</a:t>
                      </a:r>
                    </a:p>
                  </a:txBody>
                  <a:tcPr marL="0" marR="0" marT="0" marB="0" anchor="ctr" anchorCtr="0" horzOverflow="overflow"/>
                </a:tc>
                <a:tc>
                  <a:txBody>
                    <a:bodyPr/>
                    <a:lstStyle/>
                    <a:p>
                      <a:pPr indent="457200">
                        <a:defRPr b="0" sz="1800">
                          <a:solidFill>
                            <a:srgbClr val="000000"/>
                          </a:solidFill>
                        </a:defRPr>
                      </a:pPr>
                      <a:r>
                        <a:rPr sz="2200">
                          <a:solidFill>
                            <a:srgbClr val="FFFFFF"/>
                          </a:solidFill>
                          <a:latin typeface="Canela Text Regular"/>
                          <a:ea typeface="Canela Text Regular"/>
                          <a:cs typeface="Canela Text Regular"/>
                          <a:sym typeface="Canela Text Regular"/>
                        </a:rPr>
                        <a:t>[3] Tensiunea arterială medie</a:t>
                      </a:r>
                    </a:p>
                  </a:txBody>
                  <a:tcPr marL="0" marR="0" marT="0" marB="0" anchor="ctr" anchorCtr="0" horzOverflow="overflow"/>
                </a:tc>
                <a:tc>
                  <a:txBody>
                    <a:bodyPr/>
                    <a:lstStyle/>
                    <a:p>
                      <a:pPr indent="457200">
                        <a:defRPr b="0" sz="1800">
                          <a:solidFill>
                            <a:srgbClr val="000000"/>
                          </a:solidFill>
                        </a:defRPr>
                      </a:pPr>
                      <a:r>
                        <a:rPr sz="2200">
                          <a:solidFill>
                            <a:srgbClr val="FFFFFF"/>
                          </a:solidFill>
                          <a:latin typeface="Canela Text Regular"/>
                          <a:ea typeface="Canela Text Regular"/>
                          <a:cs typeface="Canela Text Regular"/>
                          <a:sym typeface="Canela Text Regular"/>
                        </a:rPr>
                        <a:t>[4]     Pulsul mediu</a:t>
                      </a:r>
                    </a:p>
                  </a:txBody>
                  <a:tcPr marL="0" marR="0" marT="0" marB="0" anchor="ctr" anchorCtr="0" horzOverflow="overflow"/>
                </a:tc>
                <a:tc>
                  <a:txBody>
                    <a:bodyPr/>
                    <a:lstStyle/>
                    <a:p>
                      <a:pPr indent="457200">
                        <a:defRPr b="0" sz="1800">
                          <a:solidFill>
                            <a:srgbClr val="000000"/>
                          </a:solidFill>
                        </a:defRPr>
                      </a:pPr>
                      <a:r>
                        <a:rPr sz="2200">
                          <a:solidFill>
                            <a:srgbClr val="FFFFFF"/>
                          </a:solidFill>
                          <a:latin typeface="Canela Text Regular"/>
                          <a:ea typeface="Canela Text Regular"/>
                          <a:cs typeface="Canela Text Regular"/>
                          <a:sym typeface="Canela Text Regular"/>
                        </a:rPr>
                        <a:t>[5]        IMC (Indicele de masă corporală)</a:t>
                      </a:r>
                    </a:p>
                  </a:txBody>
                  <a:tcPr marL="0" marR="0" marT="0" marB="0" anchor="ctr" anchorCtr="0" horzOverflow="overflow"/>
                </a:tc>
                <a:tc>
                  <a:txBody>
                    <a:bodyPr/>
                    <a:lstStyle/>
                    <a:p>
                      <a:pPr indent="457200">
                        <a:defRPr b="0" sz="1800">
                          <a:solidFill>
                            <a:srgbClr val="000000"/>
                          </a:solidFill>
                        </a:defRPr>
                      </a:pPr>
                      <a:r>
                        <a:rPr sz="2200">
                          <a:solidFill>
                            <a:srgbClr val="FFFFFF"/>
                          </a:solidFill>
                          <a:latin typeface="Canela Text Regular"/>
                          <a:ea typeface="Canela Text Regular"/>
                          <a:cs typeface="Canela Text Regular"/>
                          <a:sym typeface="Canela Text Regular"/>
                        </a:rPr>
                        <a:t>[6]   Nivelul colesterolului</a:t>
                      </a:r>
                    </a:p>
                  </a:txBody>
                  <a:tcPr marL="0" marR="0" marT="0" marB="0" anchor="ctr" anchorCtr="0" horzOverflow="overflow"/>
                </a:tc>
                <a:tc>
                  <a:txBody>
                    <a:bodyPr/>
                    <a:lstStyle/>
                    <a:p>
                      <a:pPr indent="457200">
                        <a:defRPr b="0" sz="1800">
                          <a:solidFill>
                            <a:srgbClr val="000000"/>
                          </a:solidFill>
                        </a:defRPr>
                      </a:pPr>
                      <a:r>
                        <a:rPr sz="2200">
                          <a:solidFill>
                            <a:srgbClr val="FFFFFF"/>
                          </a:solidFill>
                          <a:latin typeface="Canela Text Regular"/>
                          <a:ea typeface="Canela Text Regular"/>
                          <a:cs typeface="Canela Text Regular"/>
                          <a:sym typeface="Canela Text Regular"/>
                        </a:rPr>
                        <a:t>[7]    Media țigărilor consumate / zi</a:t>
                      </a:r>
                    </a:p>
                  </a:txBody>
                  <a:tcPr marL="0" marR="0" marT="0" marB="0" anchor="ctr" anchorCtr="0" horzOverflow="overflow"/>
                </a:tc>
                <a:tc>
                  <a:txBody>
                    <a:bodyPr/>
                    <a:lstStyle/>
                    <a:p>
                      <a:pPr indent="457200">
                        <a:defRPr b="0" sz="1800">
                          <a:solidFill>
                            <a:srgbClr val="000000"/>
                          </a:solidFill>
                        </a:defRPr>
                      </a:pPr>
                      <a:r>
                        <a:rPr sz="2200">
                          <a:solidFill>
                            <a:srgbClr val="FFFFFF"/>
                          </a:solidFill>
                          <a:latin typeface="Canela Text Regular"/>
                          <a:ea typeface="Canela Text Regular"/>
                          <a:cs typeface="Canela Text Regular"/>
                          <a:sym typeface="Canela Text Regular"/>
                        </a:rPr>
                        <a:t>…</a:t>
                      </a:r>
                    </a:p>
                  </a:txBody>
                  <a:tcPr marL="0" marR="0" marT="0" marB="0" anchor="ctr" anchorCtr="0" horzOverflow="overflow"/>
                </a:tc>
                <a:tc>
                  <a:txBody>
                    <a:bodyPr/>
                    <a:lstStyle/>
                    <a:p>
                      <a:pPr indent="457200">
                        <a:defRPr b="0" sz="1800">
                          <a:solidFill>
                            <a:srgbClr val="000000"/>
                          </a:solidFill>
                        </a:defRPr>
                      </a:pPr>
                      <a:r>
                        <a:rPr sz="2200">
                          <a:solidFill>
                            <a:srgbClr val="FFFFFF"/>
                          </a:solidFill>
                          <a:latin typeface="Canela Text Regular"/>
                          <a:ea typeface="Canela Text Regular"/>
                          <a:cs typeface="Canela Text Regular"/>
                          <a:sym typeface="Canela Text Regular"/>
                        </a:rPr>
                        <a:t>[200] Nivelul zahărului</a:t>
                      </a:r>
                    </a:p>
                  </a:txBody>
                  <a:tcPr marL="0" marR="0" marT="0" marB="0" anchor="ctr" anchorCtr="0" horzOverflow="overflow"/>
                </a:tc>
                <a:tc>
                  <a:txBody>
                    <a:bodyPr/>
                    <a:lstStyle/>
                    <a:p>
                      <a:pPr indent="457200">
                        <a:defRPr b="0" sz="1800">
                          <a:solidFill>
                            <a:srgbClr val="000000"/>
                          </a:solidFill>
                        </a:defRPr>
                      </a:pPr>
                      <a:r>
                        <a:rPr sz="2200">
                          <a:solidFill>
                            <a:srgbClr val="FFFFFF"/>
                          </a:solidFill>
                          <a:latin typeface="Canela Text Regular"/>
                          <a:ea typeface="Canela Text Regular"/>
                          <a:cs typeface="Canela Text Regular"/>
                          <a:sym typeface="Canela Text Regular"/>
                        </a:rPr>
                        <a:t>Risc</a:t>
                      </a:r>
                    </a:p>
                  </a:txBody>
                  <a:tcPr marL="0" marR="0" marT="0" marB="0" anchor="ctr" anchorCtr="0" horzOverflow="overflow">
                    <a:solidFill>
                      <a:schemeClr val="accent5"/>
                    </a:solidFill>
                  </a:tcPr>
                </a:tc>
              </a:tr>
              <a:tr h="441706">
                <a:tc>
                  <a:txBody>
                    <a:bodyPr/>
                    <a:lstStyle/>
                    <a:p>
                      <a:pPr indent="457200">
                        <a:defRPr b="0" sz="1800"/>
                      </a:pPr>
                      <a:r>
                        <a:rPr sz="2200">
                          <a:latin typeface="Canela Text Regular"/>
                          <a:ea typeface="Canela Text Regular"/>
                          <a:cs typeface="Canela Text Regular"/>
                          <a:sym typeface="Canela Text Regular"/>
                        </a:rPr>
                        <a:t>150</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80</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140/90</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63</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36</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5</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0</a:t>
                      </a:r>
                    </a:p>
                  </a:txBody>
                  <a:tcPr marL="0" marR="0" marT="0" marB="0" anchor="ctr" anchorCtr="0" horzOverflow="overflow"/>
                </a:tc>
                <a:tc>
                  <a:txBody>
                    <a:bodyPr/>
                    <a:lstStyle/>
                    <a:p>
                      <a:pPr indent="457200">
                        <a:defRPr b="0" sz="2200">
                          <a:latin typeface="Canela Text Regular"/>
                          <a:ea typeface="Canela Text Regular"/>
                          <a:cs typeface="Canela Text Regular"/>
                          <a:sym typeface="Canela Text Regular"/>
                        </a:defRPr>
                      </a:pP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99</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Slab</a:t>
                      </a:r>
                    </a:p>
                  </a:txBody>
                  <a:tcPr marL="0" marR="0" marT="0" marB="0" anchor="ctr" anchorCtr="0" horzOverflow="overflow"/>
                </a:tc>
              </a:tr>
              <a:tr h="429006">
                <a:tc>
                  <a:txBody>
                    <a:bodyPr/>
                    <a:lstStyle/>
                    <a:p>
                      <a:pPr indent="457200">
                        <a:defRPr b="0" sz="1800"/>
                      </a:pPr>
                      <a:r>
                        <a:rPr sz="2200">
                          <a:latin typeface="Canela Text Regular"/>
                          <a:ea typeface="Canela Text Regular"/>
                          <a:cs typeface="Canela Text Regular"/>
                          <a:sym typeface="Canela Text Regular"/>
                        </a:rPr>
                        <a:t>174</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90</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90/60</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100</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32</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4.0</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0</a:t>
                      </a:r>
                    </a:p>
                  </a:txBody>
                  <a:tcPr marL="0" marR="0" marT="0" marB="0" anchor="ctr" anchorCtr="0" horzOverflow="overflow"/>
                </a:tc>
                <a:tc>
                  <a:txBody>
                    <a:bodyPr/>
                    <a:lstStyle/>
                    <a:p>
                      <a:pPr indent="457200">
                        <a:defRPr b="0" sz="2200">
                          <a:latin typeface="Canela Text Regular"/>
                          <a:ea typeface="Canela Text Regular"/>
                          <a:cs typeface="Canela Text Regular"/>
                          <a:sym typeface="Canela Text Regular"/>
                        </a:defRPr>
                      </a:pP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95</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Moderat</a:t>
                      </a:r>
                    </a:p>
                  </a:txBody>
                  <a:tcPr marL="0" marR="0" marT="0" marB="0" anchor="ctr" anchorCtr="0" horzOverflow="overflow"/>
                </a:tc>
              </a:tr>
              <a:tr h="1081267">
                <a:tc>
                  <a:txBody>
                    <a:bodyPr/>
                    <a:lstStyle/>
                    <a:p>
                      <a:pPr indent="457200">
                        <a:defRPr b="0" sz="1800"/>
                      </a:pPr>
                      <a:r>
                        <a:rPr sz="2200">
                          <a:latin typeface="Canela Text Regular"/>
                          <a:ea typeface="Canela Text Regular"/>
                          <a:cs typeface="Canela Text Regular"/>
                          <a:sym typeface="Canela Text Regular"/>
                        </a:rPr>
                        <a:t>180</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82</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92/60</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78</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25</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3.7</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10</a:t>
                      </a:r>
                    </a:p>
                  </a:txBody>
                  <a:tcPr marL="0" marR="0" marT="0" marB="0" anchor="ctr" anchorCtr="0" horzOverflow="overflow"/>
                </a:tc>
                <a:tc>
                  <a:txBody>
                    <a:bodyPr/>
                    <a:lstStyle/>
                    <a:p>
                      <a:pPr indent="457200">
                        <a:defRPr b="0" sz="2200">
                          <a:latin typeface="Canela Text Regular"/>
                          <a:ea typeface="Canela Text Regular"/>
                          <a:cs typeface="Canela Text Regular"/>
                          <a:sym typeface="Canela Text Regular"/>
                        </a:defRPr>
                      </a:pP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112</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Ridicat</a:t>
                      </a:r>
                    </a:p>
                  </a:txBody>
                  <a:tcPr marL="0" marR="0" marT="0" marB="0" anchor="ctr" anchorCtr="0" horzOverflow="overflow"/>
                </a:tc>
              </a:tr>
              <a:tr h="1081267">
                <a:tc>
                  <a:txBody>
                    <a:bodyPr/>
                    <a:lstStyle/>
                    <a:p>
                      <a:pPr indent="457200">
                        <a:defRPr b="0" sz="1800"/>
                      </a:pPr>
                      <a:r>
                        <a:rPr sz="2200">
                          <a:latin typeface="Canela Text Regular"/>
                          <a:ea typeface="Canela Text Regular"/>
                          <a:cs typeface="Canela Text Regular"/>
                          <a:sym typeface="Canela Text Regular"/>
                        </a:rPr>
                        <a:t>…</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a:t>
                      </a:r>
                    </a:p>
                  </a:txBody>
                  <a:tcPr marL="0" marR="0" marT="0" marB="0" anchor="ctr" anchorCtr="0" horzOverflow="overflow"/>
                </a:tc>
                <a:tc>
                  <a:txBody>
                    <a:bodyPr/>
                    <a:lstStyle/>
                    <a:p>
                      <a:pPr indent="457200">
                        <a:defRPr b="0" sz="2200">
                          <a:latin typeface="Canela Text Regular"/>
                          <a:ea typeface="Canela Text Regular"/>
                          <a:cs typeface="Canela Text Regular"/>
                          <a:sym typeface="Canela Text Regular"/>
                        </a:defRPr>
                      </a:pPr>
                    </a:p>
                  </a:txBody>
                  <a:tcPr marL="0" marR="0" marT="0" marB="0" anchor="ctr" anchorCtr="0" horzOverflow="overflow"/>
                </a:tc>
                <a:tc>
                  <a:txBody>
                    <a:bodyPr/>
                    <a:lstStyle/>
                    <a:p>
                      <a:pPr indent="457200">
                        <a:defRPr b="0" sz="2200">
                          <a:latin typeface="Canela Text Regular"/>
                          <a:ea typeface="Canela Text Regular"/>
                          <a:cs typeface="Canela Text Regular"/>
                          <a:sym typeface="Canela Text Regular"/>
                        </a:defRPr>
                      </a:pPr>
                    </a:p>
                  </a:txBody>
                  <a:tcPr marL="0" marR="0" marT="0" marB="0" anchor="ctr" anchorCtr="0" horzOverflow="overflow"/>
                </a:tc>
                <a:tc>
                  <a:txBody>
                    <a:bodyPr/>
                    <a:lstStyle/>
                    <a:p>
                      <a:pPr indent="457200">
                        <a:defRPr b="0" sz="2200">
                          <a:latin typeface="Canela Text Regular"/>
                          <a:ea typeface="Canela Text Regular"/>
                          <a:cs typeface="Canela Text Regular"/>
                          <a:sym typeface="Canela Text Regular"/>
                        </a:defRPr>
                      </a:pPr>
                    </a:p>
                  </a:txBody>
                  <a:tcPr marL="0" marR="0" marT="0" marB="0" anchor="ctr" anchorCtr="0" horzOverflow="overflow"/>
                </a:tc>
                <a:tc>
                  <a:txBody>
                    <a:bodyPr/>
                    <a:lstStyle/>
                    <a:p>
                      <a:pPr indent="457200">
                        <a:defRPr b="0" sz="2200">
                          <a:latin typeface="Canela Text Regular"/>
                          <a:ea typeface="Canela Text Regular"/>
                          <a:cs typeface="Canela Text Regular"/>
                          <a:sym typeface="Canela Text Regular"/>
                        </a:defRPr>
                      </a:pPr>
                    </a:p>
                  </a:txBody>
                  <a:tcPr marL="0" marR="0" marT="0" marB="0" anchor="ctr" anchorCtr="0" horzOverflow="overflow"/>
                </a:tc>
                <a:tc>
                  <a:txBody>
                    <a:bodyPr/>
                    <a:lstStyle/>
                    <a:p>
                      <a:pPr indent="457200">
                        <a:defRPr b="0" sz="2200">
                          <a:latin typeface="Canela Text Regular"/>
                          <a:ea typeface="Canela Text Regular"/>
                          <a:cs typeface="Canela Text Regular"/>
                          <a:sym typeface="Canela Text Regular"/>
                        </a:defRPr>
                      </a:pP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a:t>
                      </a:r>
                    </a:p>
                  </a:txBody>
                  <a:tcPr marL="0" marR="0" marT="0" marB="0" anchor="ctr" anchorCtr="0" horzOverflow="overflow"/>
                </a:tc>
              </a:tr>
            </a:tbl>
          </a:graphicData>
        </a:graphic>
      </p:graphicFrame>
      <p:pic>
        <p:nvPicPr>
          <p:cNvPr id="178" name="Linie Linie" descr="Linie Linie"/>
          <p:cNvPicPr>
            <a:picLocks noChangeAspect="0"/>
          </p:cNvPicPr>
          <p:nvPr/>
        </p:nvPicPr>
        <p:blipFill>
          <a:blip r:embed="rId2">
            <a:extLst/>
          </a:blip>
          <a:stretch>
            <a:fillRect/>
          </a:stretch>
        </p:blipFill>
        <p:spPr>
          <a:xfrm>
            <a:off x="2366699" y="9320405"/>
            <a:ext cx="17100441" cy="101601"/>
          </a:xfrm>
          <a:prstGeom prst="rect">
            <a:avLst/>
          </a:prstGeom>
        </p:spPr>
      </p:pic>
      <p:sp>
        <p:nvSpPr>
          <p:cNvPr id="180" name="Caracteristici / Atribute / Features"/>
          <p:cNvSpPr txBox="1"/>
          <p:nvPr/>
        </p:nvSpPr>
        <p:spPr>
          <a:xfrm>
            <a:off x="6383927" y="9736426"/>
            <a:ext cx="8714792"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latin typeface="Canela Text Regular"/>
                <a:ea typeface="Canela Text Regular"/>
                <a:cs typeface="Canela Text Regular"/>
                <a:sym typeface="Canela Text Regular"/>
              </a:defRPr>
            </a:lvl1pPr>
          </a:lstStyle>
          <a:p>
            <a:pPr/>
            <a:r>
              <a:t>Caracteristici / Atribute / Features</a:t>
            </a:r>
          </a:p>
        </p:txBody>
      </p:sp>
      <p:pic>
        <p:nvPicPr>
          <p:cNvPr id="181" name="Linie Linie" descr="Linie Linie"/>
          <p:cNvPicPr>
            <a:picLocks noChangeAspect="0"/>
          </p:cNvPicPr>
          <p:nvPr/>
        </p:nvPicPr>
        <p:blipFill>
          <a:blip r:embed="rId3">
            <a:extLst/>
          </a:blip>
          <a:stretch>
            <a:fillRect/>
          </a:stretch>
        </p:blipFill>
        <p:spPr>
          <a:xfrm>
            <a:off x="19081804" y="9320405"/>
            <a:ext cx="2279220" cy="101601"/>
          </a:xfrm>
          <a:prstGeom prst="rect">
            <a:avLst/>
          </a:prstGeom>
        </p:spPr>
      </p:pic>
      <p:sp>
        <p:nvSpPr>
          <p:cNvPr id="183" name="Etichetă / Clasă"/>
          <p:cNvSpPr txBox="1"/>
          <p:nvPr/>
        </p:nvSpPr>
        <p:spPr>
          <a:xfrm>
            <a:off x="18601604" y="9736426"/>
            <a:ext cx="4167277"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latin typeface="Canela Text Regular"/>
                <a:ea typeface="Canela Text Regular"/>
                <a:cs typeface="Canela Text Regular"/>
                <a:sym typeface="Canela Text Regular"/>
              </a:defRPr>
            </a:lvl1pPr>
          </a:lstStyle>
          <a:p>
            <a:pPr/>
            <a:r>
              <a:t>Etichetă / Clasă</a:t>
            </a:r>
          </a:p>
        </p:txBody>
      </p:sp>
      <p:sp>
        <p:nvSpPr>
          <p:cNvPr id="184" name="Să zicem că vrem să prezicem riscul de moarte al unei persoane pe baza unor features"/>
          <p:cNvSpPr txBox="1"/>
          <p:nvPr/>
        </p:nvSpPr>
        <p:spPr>
          <a:xfrm>
            <a:off x="1217285" y="1864155"/>
            <a:ext cx="21243646"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Să zicem că vrem să prezicem riscul de moarte al unei persoane pe baza unor features </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 grpId="1" fill="hold">
                                  <p:stCondLst>
                                    <p:cond delay="0"/>
                                  </p:stCondLst>
                                  <p:iterate type="el" backwards="0">
                                    <p:tmAbs val="0"/>
                                  </p:iterate>
                                  <p:childTnLst>
                                    <p:set>
                                      <p:cBhvr>
                                        <p:cTn id="6" fill="hold"/>
                                        <p:tgtEl>
                                          <p:spTgt spid="177"/>
                                        </p:tgtEl>
                                        <p:attrNameLst>
                                          <p:attrName>style.visibility</p:attrName>
                                        </p:attrNameLst>
                                      </p:cBhvr>
                                      <p:to>
                                        <p:strVal val="visible"/>
                                      </p:to>
                                    </p:set>
                                    <p:anim calcmode="lin" valueType="num">
                                      <p:cBhvr>
                                        <p:cTn id="7" dur="500" fill="hold"/>
                                        <p:tgtEl>
                                          <p:spTgt spid="177"/>
                                        </p:tgtEl>
                                        <p:attrNameLst>
                                          <p:attrName>ppt_x</p:attrName>
                                        </p:attrNameLst>
                                      </p:cBhvr>
                                      <p:tavLst>
                                        <p:tav tm="0">
                                          <p:val>
                                            <p:strVal val="0-#ppt_w/2"/>
                                          </p:val>
                                        </p:tav>
                                        <p:tav tm="100000">
                                          <p:val>
                                            <p:strVal val="#ppt_x"/>
                                          </p:val>
                                        </p:tav>
                                      </p:tavLst>
                                    </p:anim>
                                    <p:anim calcmode="lin" valueType="num">
                                      <p:cBhvr>
                                        <p:cTn id="8" dur="500" fill="hold"/>
                                        <p:tgtEl>
                                          <p:spTgt spid="177"/>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Class="entr" nodeType="afterEffect" presetSubtype="8" presetID="2" grpId="2" fill="hold">
                                  <p:stCondLst>
                                    <p:cond delay="0"/>
                                  </p:stCondLst>
                                  <p:iterate type="el" backwards="0">
                                    <p:tmAbs val="0"/>
                                  </p:iterate>
                                  <p:childTnLst>
                                    <p:set>
                                      <p:cBhvr>
                                        <p:cTn id="11" fill="hold"/>
                                        <p:tgtEl>
                                          <p:spTgt spid="184"/>
                                        </p:tgtEl>
                                        <p:attrNameLst>
                                          <p:attrName>style.visibility</p:attrName>
                                        </p:attrNameLst>
                                      </p:cBhvr>
                                      <p:to>
                                        <p:strVal val="visible"/>
                                      </p:to>
                                    </p:set>
                                    <p:anim calcmode="lin" valueType="num">
                                      <p:cBhvr>
                                        <p:cTn id="12" dur="1000" fill="hold"/>
                                        <p:tgtEl>
                                          <p:spTgt spid="184"/>
                                        </p:tgtEl>
                                        <p:attrNameLst>
                                          <p:attrName>ppt_x</p:attrName>
                                        </p:attrNameLst>
                                      </p:cBhvr>
                                      <p:tavLst>
                                        <p:tav tm="0">
                                          <p:val>
                                            <p:strVal val="0-#ppt_w/2"/>
                                          </p:val>
                                        </p:tav>
                                        <p:tav tm="100000">
                                          <p:val>
                                            <p:strVal val="#ppt_x"/>
                                          </p:val>
                                        </p:tav>
                                      </p:tavLst>
                                    </p:anim>
                                    <p:anim calcmode="lin" valueType="num">
                                      <p:cBhvr>
                                        <p:cTn id="13" dur="1000" fill="hold"/>
                                        <p:tgtEl>
                                          <p:spTgt spid="184"/>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Class="entr" nodeType="clickEffect" presetID="9" grpId="3" fill="hold">
                                  <p:stCondLst>
                                    <p:cond delay="0"/>
                                  </p:stCondLst>
                                  <p:iterate type="el" backwards="0">
                                    <p:tmAbs val="0"/>
                                  </p:iterate>
                                  <p:childTnLst>
                                    <p:set>
                                      <p:cBhvr>
                                        <p:cTn id="17" fill="hold"/>
                                        <p:tgtEl>
                                          <p:spTgt spid="178"/>
                                        </p:tgtEl>
                                        <p:attrNameLst>
                                          <p:attrName>style.visibility</p:attrName>
                                        </p:attrNameLst>
                                      </p:cBhvr>
                                      <p:to>
                                        <p:strVal val="visible"/>
                                      </p:to>
                                    </p:set>
                                    <p:animEffect filter="dissolve" transition="in">
                                      <p:cBhvr>
                                        <p:cTn id="18" dur="2000"/>
                                        <p:tgtEl>
                                          <p:spTgt spid="178"/>
                                        </p:tgtEl>
                                      </p:cBhvr>
                                    </p:animEffect>
                                  </p:childTnLst>
                                </p:cTn>
                              </p:par>
                            </p:childTnLst>
                          </p:cTn>
                        </p:par>
                        <p:par>
                          <p:cTn id="19" fill="hold">
                            <p:stCondLst>
                              <p:cond delay="2000"/>
                            </p:stCondLst>
                            <p:childTnLst>
                              <p:par>
                                <p:cTn id="20" presetClass="entr" nodeType="afterEffect" presetSubtype="8" presetID="2" grpId="4" fill="hold">
                                  <p:stCondLst>
                                    <p:cond delay="0"/>
                                  </p:stCondLst>
                                  <p:iterate type="el" backwards="0">
                                    <p:tmAbs val="0"/>
                                  </p:iterate>
                                  <p:childTnLst>
                                    <p:set>
                                      <p:cBhvr>
                                        <p:cTn id="21" fill="hold"/>
                                        <p:tgtEl>
                                          <p:spTgt spid="180"/>
                                        </p:tgtEl>
                                        <p:attrNameLst>
                                          <p:attrName>style.visibility</p:attrName>
                                        </p:attrNameLst>
                                      </p:cBhvr>
                                      <p:to>
                                        <p:strVal val="visible"/>
                                      </p:to>
                                    </p:set>
                                    <p:anim calcmode="lin" valueType="num">
                                      <p:cBhvr>
                                        <p:cTn id="22" dur="1000" fill="hold"/>
                                        <p:tgtEl>
                                          <p:spTgt spid="180"/>
                                        </p:tgtEl>
                                        <p:attrNameLst>
                                          <p:attrName>ppt_x</p:attrName>
                                        </p:attrNameLst>
                                      </p:cBhvr>
                                      <p:tavLst>
                                        <p:tav tm="0">
                                          <p:val>
                                            <p:strVal val="0-#ppt_w/2"/>
                                          </p:val>
                                        </p:tav>
                                        <p:tav tm="100000">
                                          <p:val>
                                            <p:strVal val="#ppt_x"/>
                                          </p:val>
                                        </p:tav>
                                      </p:tavLst>
                                    </p:anim>
                                    <p:anim calcmode="lin" valueType="num">
                                      <p:cBhvr>
                                        <p:cTn id="23" dur="1000" fill="hold"/>
                                        <p:tgtEl>
                                          <p:spTgt spid="180"/>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Class="entr" nodeType="clickEffect" presetID="9" grpId="5" fill="hold">
                                  <p:stCondLst>
                                    <p:cond delay="0"/>
                                  </p:stCondLst>
                                  <p:iterate type="el" backwards="0">
                                    <p:tmAbs val="0"/>
                                  </p:iterate>
                                  <p:childTnLst>
                                    <p:set>
                                      <p:cBhvr>
                                        <p:cTn id="27" fill="hold"/>
                                        <p:tgtEl>
                                          <p:spTgt spid="181"/>
                                        </p:tgtEl>
                                        <p:attrNameLst>
                                          <p:attrName>style.visibility</p:attrName>
                                        </p:attrNameLst>
                                      </p:cBhvr>
                                      <p:to>
                                        <p:strVal val="visible"/>
                                      </p:to>
                                    </p:set>
                                    <p:animEffect filter="dissolve" transition="in">
                                      <p:cBhvr>
                                        <p:cTn id="28" dur="2000"/>
                                        <p:tgtEl>
                                          <p:spTgt spid="181"/>
                                        </p:tgtEl>
                                      </p:cBhvr>
                                    </p:animEffect>
                                  </p:childTnLst>
                                </p:cTn>
                              </p:par>
                            </p:childTnLst>
                          </p:cTn>
                        </p:par>
                        <p:par>
                          <p:cTn id="29" fill="hold">
                            <p:stCondLst>
                              <p:cond delay="2000"/>
                            </p:stCondLst>
                            <p:childTnLst>
                              <p:par>
                                <p:cTn id="30" presetClass="entr" nodeType="afterEffect" presetSubtype="8" presetID="2" grpId="6" fill="hold">
                                  <p:stCondLst>
                                    <p:cond delay="0"/>
                                  </p:stCondLst>
                                  <p:iterate type="el" backwards="0">
                                    <p:tmAbs val="0"/>
                                  </p:iterate>
                                  <p:childTnLst>
                                    <p:set>
                                      <p:cBhvr>
                                        <p:cTn id="31" fill="hold"/>
                                        <p:tgtEl>
                                          <p:spTgt spid="183"/>
                                        </p:tgtEl>
                                        <p:attrNameLst>
                                          <p:attrName>style.visibility</p:attrName>
                                        </p:attrNameLst>
                                      </p:cBhvr>
                                      <p:to>
                                        <p:strVal val="visible"/>
                                      </p:to>
                                    </p:set>
                                    <p:anim calcmode="lin" valueType="num">
                                      <p:cBhvr>
                                        <p:cTn id="32" dur="1000" fill="hold"/>
                                        <p:tgtEl>
                                          <p:spTgt spid="183"/>
                                        </p:tgtEl>
                                        <p:attrNameLst>
                                          <p:attrName>ppt_x</p:attrName>
                                        </p:attrNameLst>
                                      </p:cBhvr>
                                      <p:tavLst>
                                        <p:tav tm="0">
                                          <p:val>
                                            <p:strVal val="0-#ppt_w/2"/>
                                          </p:val>
                                        </p:tav>
                                        <p:tav tm="100000">
                                          <p:val>
                                            <p:strVal val="#ppt_x"/>
                                          </p:val>
                                        </p:tav>
                                      </p:tavLst>
                                    </p:anim>
                                    <p:anim calcmode="lin" valueType="num">
                                      <p:cBhvr>
                                        <p:cTn id="33" dur="1000" fill="hold"/>
                                        <p:tgtEl>
                                          <p:spTgt spid="18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80" grpId="4"/>
      <p:bldP build="whole" bldLvl="1" animBg="1" rev="0" advAuto="0" spid="184" grpId="2"/>
      <p:bldP build="whole" bldLvl="1" animBg="1" rev="0" advAuto="0" spid="181" grpId="5"/>
      <p:bldP build="whole" bldLvl="1" animBg="1" rev="0" advAuto="0" spid="183" grpId="6"/>
      <p:bldP build="whole" bldLvl="1" animBg="1" rev="0" advAuto="0" spid="178" grpId="3"/>
      <p:bldP build="whole" bldLvl="1" animBg="1" rev="0" advAuto="0" spid="177" grpId="1"/>
    </p:bldLst>
  </p:timing>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6" name="Supervizate"/>
          <p:cNvSpPr txBox="1"/>
          <p:nvPr/>
        </p:nvSpPr>
        <p:spPr>
          <a:xfrm>
            <a:off x="-7076862" y="7802424"/>
            <a:ext cx="8358424"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Supervizate</a:t>
            </a:r>
          </a:p>
        </p:txBody>
      </p:sp>
      <p:sp>
        <p:nvSpPr>
          <p:cNvPr id="187"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graphicFrame>
        <p:nvGraphicFramePr>
          <p:cNvPr id="188" name="Tabelul 1"/>
          <p:cNvGraphicFramePr/>
          <p:nvPr/>
        </p:nvGraphicFramePr>
        <p:xfrm>
          <a:off x="2314107" y="3914152"/>
          <a:ext cx="15435027" cy="5419038"/>
        </p:xfrm>
        <a:graphic xmlns:a="http://schemas.openxmlformats.org/drawingml/2006/main">
          <a:graphicData uri="http://schemas.openxmlformats.org/drawingml/2006/table">
            <a:tbl>
              <a:tblPr firstCol="0" firstRow="1" lastCol="0" lastRow="0" bandCol="0" bandRow="1" rtl="0">
                <a:tableStyleId>{4C3C2611-4C71-4FC5-86AE-919BDF0F9419}</a:tableStyleId>
              </a:tblPr>
              <a:tblGrid>
                <a:gridCol w="1905000"/>
                <a:gridCol w="1905000"/>
                <a:gridCol w="1905000"/>
                <a:gridCol w="1905000"/>
                <a:gridCol w="1905000"/>
                <a:gridCol w="1905000"/>
                <a:gridCol w="1905000"/>
                <a:gridCol w="1905000"/>
                <a:gridCol w="1905000"/>
                <a:gridCol w="1905000"/>
              </a:tblGrid>
              <a:tr h="860806">
                <a:tc>
                  <a:txBody>
                    <a:bodyPr/>
                    <a:lstStyle/>
                    <a:p>
                      <a:pPr indent="457200">
                        <a:defRPr b="0" sz="1800">
                          <a:solidFill>
                            <a:srgbClr val="000000"/>
                          </a:solidFill>
                        </a:defRPr>
                      </a:pPr>
                      <a:r>
                        <a:rPr sz="2200">
                          <a:solidFill>
                            <a:srgbClr val="FFFFFF"/>
                          </a:solidFill>
                          <a:latin typeface="Canela Text Regular"/>
                          <a:ea typeface="Canela Text Regular"/>
                          <a:cs typeface="Canela Text Regular"/>
                          <a:sym typeface="Canela Text Regular"/>
                        </a:rPr>
                        <a:t>[1] Înălțime</a:t>
                      </a:r>
                    </a:p>
                  </a:txBody>
                  <a:tcPr marL="0" marR="0" marT="0" marB="0" anchor="ctr" anchorCtr="0" horzOverflow="overflow"/>
                </a:tc>
                <a:tc>
                  <a:txBody>
                    <a:bodyPr/>
                    <a:lstStyle/>
                    <a:p>
                      <a:pPr indent="457200">
                        <a:defRPr b="0" sz="1800">
                          <a:solidFill>
                            <a:srgbClr val="000000"/>
                          </a:solidFill>
                        </a:defRPr>
                      </a:pPr>
                      <a:r>
                        <a:rPr sz="2200">
                          <a:solidFill>
                            <a:srgbClr val="FFFFFF"/>
                          </a:solidFill>
                          <a:latin typeface="Canela Text Regular"/>
                          <a:ea typeface="Canela Text Regular"/>
                          <a:cs typeface="Canela Text Regular"/>
                          <a:sym typeface="Canela Text Regular"/>
                        </a:rPr>
                        <a:t>[2] Greutate</a:t>
                      </a:r>
                    </a:p>
                  </a:txBody>
                  <a:tcPr marL="0" marR="0" marT="0" marB="0" anchor="ctr" anchorCtr="0" horzOverflow="overflow"/>
                </a:tc>
                <a:tc>
                  <a:txBody>
                    <a:bodyPr/>
                    <a:lstStyle/>
                    <a:p>
                      <a:pPr indent="457200">
                        <a:defRPr b="0" sz="1800">
                          <a:solidFill>
                            <a:srgbClr val="000000"/>
                          </a:solidFill>
                        </a:defRPr>
                      </a:pPr>
                      <a:r>
                        <a:rPr sz="2200">
                          <a:solidFill>
                            <a:srgbClr val="FFFFFF"/>
                          </a:solidFill>
                          <a:latin typeface="Canela Text Regular"/>
                          <a:ea typeface="Canela Text Regular"/>
                          <a:cs typeface="Canela Text Regular"/>
                          <a:sym typeface="Canela Text Regular"/>
                        </a:rPr>
                        <a:t>[3] Tensiunea arterială medie</a:t>
                      </a:r>
                    </a:p>
                  </a:txBody>
                  <a:tcPr marL="0" marR="0" marT="0" marB="0" anchor="ctr" anchorCtr="0" horzOverflow="overflow"/>
                </a:tc>
                <a:tc>
                  <a:txBody>
                    <a:bodyPr/>
                    <a:lstStyle/>
                    <a:p>
                      <a:pPr indent="457200">
                        <a:defRPr b="0" sz="1800">
                          <a:solidFill>
                            <a:srgbClr val="000000"/>
                          </a:solidFill>
                        </a:defRPr>
                      </a:pPr>
                      <a:r>
                        <a:rPr sz="2200">
                          <a:solidFill>
                            <a:srgbClr val="FFFFFF"/>
                          </a:solidFill>
                          <a:latin typeface="Canela Text Regular"/>
                          <a:ea typeface="Canela Text Regular"/>
                          <a:cs typeface="Canela Text Regular"/>
                          <a:sym typeface="Canela Text Regular"/>
                        </a:rPr>
                        <a:t>[4]     Pulsul mediu</a:t>
                      </a:r>
                    </a:p>
                  </a:txBody>
                  <a:tcPr marL="0" marR="0" marT="0" marB="0" anchor="ctr" anchorCtr="0" horzOverflow="overflow"/>
                </a:tc>
                <a:tc>
                  <a:txBody>
                    <a:bodyPr/>
                    <a:lstStyle/>
                    <a:p>
                      <a:pPr indent="457200">
                        <a:defRPr b="0" sz="1800">
                          <a:solidFill>
                            <a:srgbClr val="000000"/>
                          </a:solidFill>
                        </a:defRPr>
                      </a:pPr>
                      <a:r>
                        <a:rPr sz="2200">
                          <a:solidFill>
                            <a:srgbClr val="FFFFFF"/>
                          </a:solidFill>
                          <a:latin typeface="Canela Text Regular"/>
                          <a:ea typeface="Canela Text Regular"/>
                          <a:cs typeface="Canela Text Regular"/>
                          <a:sym typeface="Canela Text Regular"/>
                        </a:rPr>
                        <a:t>[5]        IMC (Indicele de masă corporală)</a:t>
                      </a:r>
                    </a:p>
                  </a:txBody>
                  <a:tcPr marL="0" marR="0" marT="0" marB="0" anchor="ctr" anchorCtr="0" horzOverflow="overflow"/>
                </a:tc>
                <a:tc>
                  <a:txBody>
                    <a:bodyPr/>
                    <a:lstStyle/>
                    <a:p>
                      <a:pPr indent="457200">
                        <a:defRPr b="0" sz="1800">
                          <a:solidFill>
                            <a:srgbClr val="000000"/>
                          </a:solidFill>
                        </a:defRPr>
                      </a:pPr>
                      <a:r>
                        <a:rPr sz="2200">
                          <a:solidFill>
                            <a:srgbClr val="FFFFFF"/>
                          </a:solidFill>
                          <a:latin typeface="Canela Text Regular"/>
                          <a:ea typeface="Canela Text Regular"/>
                          <a:cs typeface="Canela Text Regular"/>
                          <a:sym typeface="Canela Text Regular"/>
                        </a:rPr>
                        <a:t>[6]   Nivelul colesterolului</a:t>
                      </a:r>
                    </a:p>
                  </a:txBody>
                  <a:tcPr marL="0" marR="0" marT="0" marB="0" anchor="ctr" anchorCtr="0" horzOverflow="overflow"/>
                </a:tc>
                <a:tc>
                  <a:txBody>
                    <a:bodyPr/>
                    <a:lstStyle/>
                    <a:p>
                      <a:pPr indent="457200">
                        <a:defRPr b="0" sz="1800">
                          <a:solidFill>
                            <a:srgbClr val="000000"/>
                          </a:solidFill>
                        </a:defRPr>
                      </a:pPr>
                      <a:r>
                        <a:rPr sz="2200">
                          <a:solidFill>
                            <a:srgbClr val="FFFFFF"/>
                          </a:solidFill>
                          <a:latin typeface="Canela Text Regular"/>
                          <a:ea typeface="Canela Text Regular"/>
                          <a:cs typeface="Canela Text Regular"/>
                          <a:sym typeface="Canela Text Regular"/>
                        </a:rPr>
                        <a:t>[7]    Media țigărilor consumate / zi</a:t>
                      </a:r>
                    </a:p>
                  </a:txBody>
                  <a:tcPr marL="0" marR="0" marT="0" marB="0" anchor="ctr" anchorCtr="0" horzOverflow="overflow"/>
                </a:tc>
                <a:tc>
                  <a:txBody>
                    <a:bodyPr/>
                    <a:lstStyle/>
                    <a:p>
                      <a:pPr indent="457200">
                        <a:defRPr b="0" sz="1800">
                          <a:solidFill>
                            <a:srgbClr val="000000"/>
                          </a:solidFill>
                        </a:defRPr>
                      </a:pPr>
                      <a:r>
                        <a:rPr sz="2200">
                          <a:solidFill>
                            <a:srgbClr val="FFFFFF"/>
                          </a:solidFill>
                          <a:latin typeface="Canela Text Regular"/>
                          <a:ea typeface="Canela Text Regular"/>
                          <a:cs typeface="Canela Text Regular"/>
                          <a:sym typeface="Canela Text Regular"/>
                        </a:rPr>
                        <a:t>…</a:t>
                      </a:r>
                    </a:p>
                  </a:txBody>
                  <a:tcPr marL="0" marR="0" marT="0" marB="0" anchor="ctr" anchorCtr="0" horzOverflow="overflow"/>
                </a:tc>
                <a:tc>
                  <a:txBody>
                    <a:bodyPr/>
                    <a:lstStyle/>
                    <a:p>
                      <a:pPr indent="457200">
                        <a:defRPr b="0" sz="1800">
                          <a:solidFill>
                            <a:srgbClr val="000000"/>
                          </a:solidFill>
                        </a:defRPr>
                      </a:pPr>
                      <a:r>
                        <a:rPr sz="2200">
                          <a:solidFill>
                            <a:srgbClr val="FFFFFF"/>
                          </a:solidFill>
                          <a:latin typeface="Canela Text Regular"/>
                          <a:ea typeface="Canela Text Regular"/>
                          <a:cs typeface="Canela Text Regular"/>
                          <a:sym typeface="Canela Text Regular"/>
                        </a:rPr>
                        <a:t>[200] Nivelul zahărului</a:t>
                      </a:r>
                    </a:p>
                  </a:txBody>
                  <a:tcPr marL="0" marR="0" marT="0" marB="0" anchor="ctr" anchorCtr="0" horzOverflow="overflow"/>
                </a:tc>
                <a:tc>
                  <a:txBody>
                    <a:bodyPr/>
                    <a:lstStyle/>
                    <a:p>
                      <a:pPr indent="457200">
                        <a:defRPr b="0" sz="1800">
                          <a:solidFill>
                            <a:srgbClr val="000000"/>
                          </a:solidFill>
                        </a:defRPr>
                      </a:pPr>
                      <a:r>
                        <a:rPr sz="2200">
                          <a:solidFill>
                            <a:srgbClr val="FFFFFF"/>
                          </a:solidFill>
                          <a:latin typeface="Canela Text Regular"/>
                          <a:ea typeface="Canela Text Regular"/>
                          <a:cs typeface="Canela Text Regular"/>
                          <a:sym typeface="Canela Text Regular"/>
                        </a:rPr>
                        <a:t>Risc</a:t>
                      </a:r>
                    </a:p>
                  </a:txBody>
                  <a:tcPr marL="0" marR="0" marT="0" marB="0" anchor="ctr" anchorCtr="0" horzOverflow="overflow">
                    <a:solidFill>
                      <a:schemeClr val="accent5"/>
                    </a:solidFill>
                  </a:tcPr>
                </a:tc>
              </a:tr>
              <a:tr h="441706">
                <a:tc>
                  <a:txBody>
                    <a:bodyPr/>
                    <a:lstStyle/>
                    <a:p>
                      <a:pPr indent="457200">
                        <a:defRPr b="0" sz="1800"/>
                      </a:pPr>
                      <a:r>
                        <a:rPr sz="2200">
                          <a:latin typeface="Canela Text Regular"/>
                          <a:ea typeface="Canela Text Regular"/>
                          <a:cs typeface="Canela Text Regular"/>
                          <a:sym typeface="Canela Text Regular"/>
                        </a:rPr>
                        <a:t>150</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80</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140/90</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63</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36</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5</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0</a:t>
                      </a:r>
                    </a:p>
                  </a:txBody>
                  <a:tcPr marL="0" marR="0" marT="0" marB="0" anchor="ctr" anchorCtr="0" horzOverflow="overflow"/>
                </a:tc>
                <a:tc>
                  <a:txBody>
                    <a:bodyPr/>
                    <a:lstStyle/>
                    <a:p>
                      <a:pPr indent="457200">
                        <a:defRPr b="0" sz="2200">
                          <a:latin typeface="Canela Text Regular"/>
                          <a:ea typeface="Canela Text Regular"/>
                          <a:cs typeface="Canela Text Regular"/>
                          <a:sym typeface="Canela Text Regular"/>
                        </a:defRPr>
                      </a:pP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99</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0</a:t>
                      </a:r>
                    </a:p>
                  </a:txBody>
                  <a:tcPr marL="0" marR="0" marT="0" marB="0" anchor="ctr" anchorCtr="0" horzOverflow="overflow"/>
                </a:tc>
              </a:tr>
              <a:tr h="429006">
                <a:tc>
                  <a:txBody>
                    <a:bodyPr/>
                    <a:lstStyle/>
                    <a:p>
                      <a:pPr indent="457200">
                        <a:defRPr b="0" sz="1800"/>
                      </a:pPr>
                      <a:r>
                        <a:rPr sz="2200">
                          <a:latin typeface="Canela Text Regular"/>
                          <a:ea typeface="Canela Text Regular"/>
                          <a:cs typeface="Canela Text Regular"/>
                          <a:sym typeface="Canela Text Regular"/>
                        </a:rPr>
                        <a:t>174</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90</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90/60</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100</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32</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4.0</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0</a:t>
                      </a:r>
                    </a:p>
                  </a:txBody>
                  <a:tcPr marL="0" marR="0" marT="0" marB="0" anchor="ctr" anchorCtr="0" horzOverflow="overflow"/>
                </a:tc>
                <a:tc>
                  <a:txBody>
                    <a:bodyPr/>
                    <a:lstStyle/>
                    <a:p>
                      <a:pPr indent="457200">
                        <a:defRPr b="0" sz="2200">
                          <a:latin typeface="Canela Text Regular"/>
                          <a:ea typeface="Canela Text Regular"/>
                          <a:cs typeface="Canela Text Regular"/>
                          <a:sym typeface="Canela Text Regular"/>
                        </a:defRPr>
                      </a:pP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95</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1</a:t>
                      </a:r>
                    </a:p>
                  </a:txBody>
                  <a:tcPr marL="0" marR="0" marT="0" marB="0" anchor="ctr" anchorCtr="0" horzOverflow="overflow"/>
                </a:tc>
              </a:tr>
              <a:tr h="1081267">
                <a:tc>
                  <a:txBody>
                    <a:bodyPr/>
                    <a:lstStyle/>
                    <a:p>
                      <a:pPr indent="457200">
                        <a:defRPr b="0" sz="1800"/>
                      </a:pPr>
                      <a:r>
                        <a:rPr sz="2200">
                          <a:latin typeface="Canela Text Regular"/>
                          <a:ea typeface="Canela Text Regular"/>
                          <a:cs typeface="Canela Text Regular"/>
                          <a:sym typeface="Canela Text Regular"/>
                        </a:rPr>
                        <a:t>180</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82</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92/60</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78</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25</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3.7</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10</a:t>
                      </a:r>
                    </a:p>
                  </a:txBody>
                  <a:tcPr marL="0" marR="0" marT="0" marB="0" anchor="ctr" anchorCtr="0" horzOverflow="overflow"/>
                </a:tc>
                <a:tc>
                  <a:txBody>
                    <a:bodyPr/>
                    <a:lstStyle/>
                    <a:p>
                      <a:pPr indent="457200">
                        <a:defRPr b="0" sz="2200">
                          <a:latin typeface="Canela Text Regular"/>
                          <a:ea typeface="Canela Text Regular"/>
                          <a:cs typeface="Canela Text Regular"/>
                          <a:sym typeface="Canela Text Regular"/>
                        </a:defRPr>
                      </a:pP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112</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2</a:t>
                      </a:r>
                    </a:p>
                  </a:txBody>
                  <a:tcPr marL="0" marR="0" marT="0" marB="0" anchor="ctr" anchorCtr="0" horzOverflow="overflow"/>
                </a:tc>
              </a:tr>
              <a:tr h="1081267">
                <a:tc>
                  <a:txBody>
                    <a:bodyPr/>
                    <a:lstStyle/>
                    <a:p>
                      <a:pPr indent="457200">
                        <a:defRPr b="0" sz="1800"/>
                      </a:pPr>
                      <a:r>
                        <a:rPr sz="2200">
                          <a:latin typeface="Canela Text Regular"/>
                          <a:ea typeface="Canela Text Regular"/>
                          <a:cs typeface="Canela Text Regular"/>
                          <a:sym typeface="Canela Text Regular"/>
                        </a:rPr>
                        <a:t>…</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a:t>
                      </a:r>
                    </a:p>
                  </a:txBody>
                  <a:tcPr marL="0" marR="0" marT="0" marB="0" anchor="ctr" anchorCtr="0" horzOverflow="overflow"/>
                </a:tc>
                <a:tc>
                  <a:txBody>
                    <a:bodyPr/>
                    <a:lstStyle/>
                    <a:p>
                      <a:pPr indent="457200">
                        <a:defRPr b="0" sz="2200">
                          <a:latin typeface="Canela Text Regular"/>
                          <a:ea typeface="Canela Text Regular"/>
                          <a:cs typeface="Canela Text Regular"/>
                          <a:sym typeface="Canela Text Regular"/>
                        </a:defRPr>
                      </a:pPr>
                    </a:p>
                  </a:txBody>
                  <a:tcPr marL="0" marR="0" marT="0" marB="0" anchor="ctr" anchorCtr="0" horzOverflow="overflow"/>
                </a:tc>
                <a:tc>
                  <a:txBody>
                    <a:bodyPr/>
                    <a:lstStyle/>
                    <a:p>
                      <a:pPr indent="457200">
                        <a:defRPr b="0" sz="2200">
                          <a:latin typeface="Canela Text Regular"/>
                          <a:ea typeface="Canela Text Regular"/>
                          <a:cs typeface="Canela Text Regular"/>
                          <a:sym typeface="Canela Text Regular"/>
                        </a:defRPr>
                      </a:pPr>
                    </a:p>
                  </a:txBody>
                  <a:tcPr marL="0" marR="0" marT="0" marB="0" anchor="ctr" anchorCtr="0" horzOverflow="overflow"/>
                </a:tc>
                <a:tc>
                  <a:txBody>
                    <a:bodyPr/>
                    <a:lstStyle/>
                    <a:p>
                      <a:pPr indent="457200">
                        <a:defRPr b="0" sz="2200">
                          <a:latin typeface="Canela Text Regular"/>
                          <a:ea typeface="Canela Text Regular"/>
                          <a:cs typeface="Canela Text Regular"/>
                          <a:sym typeface="Canela Text Regular"/>
                        </a:defRPr>
                      </a:pPr>
                    </a:p>
                  </a:txBody>
                  <a:tcPr marL="0" marR="0" marT="0" marB="0" anchor="ctr" anchorCtr="0" horzOverflow="overflow"/>
                </a:tc>
                <a:tc>
                  <a:txBody>
                    <a:bodyPr/>
                    <a:lstStyle/>
                    <a:p>
                      <a:pPr indent="457200">
                        <a:defRPr b="0" sz="2200">
                          <a:latin typeface="Canela Text Regular"/>
                          <a:ea typeface="Canela Text Regular"/>
                          <a:cs typeface="Canela Text Regular"/>
                          <a:sym typeface="Canela Text Regular"/>
                        </a:defRPr>
                      </a:pPr>
                    </a:p>
                  </a:txBody>
                  <a:tcPr marL="0" marR="0" marT="0" marB="0" anchor="ctr" anchorCtr="0" horzOverflow="overflow"/>
                </a:tc>
                <a:tc>
                  <a:txBody>
                    <a:bodyPr/>
                    <a:lstStyle/>
                    <a:p>
                      <a:pPr indent="457200">
                        <a:defRPr b="0" sz="2200">
                          <a:latin typeface="Canela Text Regular"/>
                          <a:ea typeface="Canela Text Regular"/>
                          <a:cs typeface="Canela Text Regular"/>
                          <a:sym typeface="Canela Text Regular"/>
                        </a:defRPr>
                      </a:pP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a:t>
                      </a:r>
                    </a:p>
                  </a:txBody>
                  <a:tcPr marL="0" marR="0" marT="0" marB="0" anchor="ctr" anchorCtr="0" horzOverflow="overflow"/>
                </a:tc>
              </a:tr>
            </a:tbl>
          </a:graphicData>
        </a:graphic>
      </p:graphicFrame>
      <p:pic>
        <p:nvPicPr>
          <p:cNvPr id="189" name="Linie Linie" descr="Linie Linie"/>
          <p:cNvPicPr>
            <a:picLocks noChangeAspect="0"/>
          </p:cNvPicPr>
          <p:nvPr/>
        </p:nvPicPr>
        <p:blipFill>
          <a:blip r:embed="rId2">
            <a:extLst/>
          </a:blip>
          <a:stretch>
            <a:fillRect/>
          </a:stretch>
        </p:blipFill>
        <p:spPr>
          <a:xfrm>
            <a:off x="2723828" y="9379926"/>
            <a:ext cx="17100442" cy="101601"/>
          </a:xfrm>
          <a:prstGeom prst="rect">
            <a:avLst/>
          </a:prstGeom>
        </p:spPr>
      </p:pic>
      <p:sp>
        <p:nvSpPr>
          <p:cNvPr id="191" name="Caracteristici / Atribute / Features"/>
          <p:cNvSpPr txBox="1"/>
          <p:nvPr/>
        </p:nvSpPr>
        <p:spPr>
          <a:xfrm>
            <a:off x="6741056" y="9795948"/>
            <a:ext cx="8714792"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latin typeface="Canela Text Regular"/>
                <a:ea typeface="Canela Text Regular"/>
                <a:cs typeface="Canela Text Regular"/>
                <a:sym typeface="Canela Text Regular"/>
              </a:defRPr>
            </a:lvl1pPr>
          </a:lstStyle>
          <a:p>
            <a:pPr/>
            <a:r>
              <a:t>Caracteristici / Atribute / Features</a:t>
            </a:r>
          </a:p>
        </p:txBody>
      </p:sp>
      <p:pic>
        <p:nvPicPr>
          <p:cNvPr id="192" name="Linie Linie" descr="Linie Linie"/>
          <p:cNvPicPr>
            <a:picLocks noChangeAspect="0"/>
          </p:cNvPicPr>
          <p:nvPr/>
        </p:nvPicPr>
        <p:blipFill>
          <a:blip r:embed="rId3">
            <a:extLst/>
          </a:blip>
          <a:stretch>
            <a:fillRect/>
          </a:stretch>
        </p:blipFill>
        <p:spPr>
          <a:xfrm>
            <a:off x="19438934" y="9379926"/>
            <a:ext cx="2279220" cy="101601"/>
          </a:xfrm>
          <a:prstGeom prst="rect">
            <a:avLst/>
          </a:prstGeom>
        </p:spPr>
      </p:pic>
      <p:sp>
        <p:nvSpPr>
          <p:cNvPr id="194" name="Etichetă / Clasă"/>
          <p:cNvSpPr txBox="1"/>
          <p:nvPr/>
        </p:nvSpPr>
        <p:spPr>
          <a:xfrm>
            <a:off x="18958734" y="9795948"/>
            <a:ext cx="4167277"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latin typeface="Canela Text Regular"/>
                <a:ea typeface="Canela Text Regular"/>
                <a:cs typeface="Canela Text Regular"/>
                <a:sym typeface="Canela Text Regular"/>
              </a:defRPr>
            </a:lvl1pPr>
          </a:lstStyle>
          <a:p>
            <a:pPr/>
            <a:r>
              <a:t>Etichetă / Clasă</a:t>
            </a:r>
          </a:p>
        </p:txBody>
      </p:sp>
      <p:pic>
        <p:nvPicPr>
          <p:cNvPr id="195" name="Oval Oval" descr="Oval Oval"/>
          <p:cNvPicPr>
            <a:picLocks noChangeAspect="0"/>
          </p:cNvPicPr>
          <p:nvPr/>
        </p:nvPicPr>
        <p:blipFill>
          <a:blip r:embed="rId4">
            <a:extLst/>
          </a:blip>
          <a:stretch>
            <a:fillRect/>
          </a:stretch>
        </p:blipFill>
        <p:spPr>
          <a:xfrm>
            <a:off x="18783081" y="9592836"/>
            <a:ext cx="4518582" cy="1340437"/>
          </a:xfrm>
          <a:prstGeom prst="rect">
            <a:avLst/>
          </a:prstGeom>
        </p:spPr>
      </p:pic>
      <p:sp>
        <p:nvSpPr>
          <p:cNvPr id="197" name="0 - Risc slab"/>
          <p:cNvSpPr txBox="1"/>
          <p:nvPr/>
        </p:nvSpPr>
        <p:spPr>
          <a:xfrm>
            <a:off x="18304833" y="11044582"/>
            <a:ext cx="2830069"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latin typeface="Canela Regular"/>
                <a:ea typeface="Canela Regular"/>
                <a:cs typeface="Canela Regular"/>
                <a:sym typeface="Canela Regular"/>
              </a:defRPr>
            </a:lvl1pPr>
          </a:lstStyle>
          <a:p>
            <a:pPr/>
            <a:r>
              <a:t>0 - Risc slab</a:t>
            </a:r>
          </a:p>
        </p:txBody>
      </p:sp>
      <p:sp>
        <p:nvSpPr>
          <p:cNvPr id="198" name="1 - Risc moderat"/>
          <p:cNvSpPr txBox="1"/>
          <p:nvPr/>
        </p:nvSpPr>
        <p:spPr>
          <a:xfrm>
            <a:off x="18405788" y="11729170"/>
            <a:ext cx="3711296"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latin typeface="Canela Regular"/>
                <a:ea typeface="Canela Regular"/>
                <a:cs typeface="Canela Regular"/>
                <a:sym typeface="Canela Regular"/>
              </a:defRPr>
            </a:lvl1pPr>
          </a:lstStyle>
          <a:p>
            <a:pPr/>
            <a:r>
              <a:t>1 - Risc moderat</a:t>
            </a:r>
          </a:p>
        </p:txBody>
      </p:sp>
      <p:sp>
        <p:nvSpPr>
          <p:cNvPr id="199" name="2 - Risc ridicat"/>
          <p:cNvSpPr txBox="1"/>
          <p:nvPr/>
        </p:nvSpPr>
        <p:spPr>
          <a:xfrm>
            <a:off x="18342289" y="12343102"/>
            <a:ext cx="3318460" cy="93421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latin typeface="Canela Regular"/>
                <a:ea typeface="Canela Regular"/>
                <a:cs typeface="Canela Regular"/>
                <a:sym typeface="Canela Regular"/>
              </a:defRPr>
            </a:lvl1pPr>
          </a:lstStyle>
          <a:p>
            <a:pPr/>
            <a:r>
              <a:t>2 - Risc ridicat</a:t>
            </a:r>
          </a:p>
        </p:txBody>
      </p:sp>
      <p:sp>
        <p:nvSpPr>
          <p:cNvPr id="200" name="Să zicem că vrem să prezicem riscul de moarte al unei persoane pe baza unor features"/>
          <p:cNvSpPr txBox="1"/>
          <p:nvPr/>
        </p:nvSpPr>
        <p:spPr>
          <a:xfrm>
            <a:off x="1217285" y="1864155"/>
            <a:ext cx="21243646"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Să zicem că vrem să prezicem riscul de moarte al unei persoane pe baza unor features </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9" grpId="1" fill="hold">
                                  <p:stCondLst>
                                    <p:cond delay="0"/>
                                  </p:stCondLst>
                                  <p:iterate type="el" backwards="0">
                                    <p:tmAbs val="0"/>
                                  </p:iterate>
                                  <p:childTnLst>
                                    <p:set>
                                      <p:cBhvr>
                                        <p:cTn id="6" fill="hold"/>
                                        <p:tgtEl>
                                          <p:spTgt spid="195"/>
                                        </p:tgtEl>
                                        <p:attrNameLst>
                                          <p:attrName>style.visibility</p:attrName>
                                        </p:attrNameLst>
                                      </p:cBhvr>
                                      <p:to>
                                        <p:strVal val="visible"/>
                                      </p:to>
                                    </p:set>
                                    <p:animEffect filter="dissolve" transition="in">
                                      <p:cBhvr>
                                        <p:cTn id="7" dur="1000"/>
                                        <p:tgtEl>
                                          <p:spTgt spid="195"/>
                                        </p:tgtEl>
                                      </p:cBhvr>
                                    </p:animEffect>
                                  </p:childTnLst>
                                </p:cTn>
                              </p:par>
                            </p:childTnLst>
                          </p:cTn>
                        </p:par>
                        <p:par>
                          <p:cTn id="8" fill="hold">
                            <p:stCondLst>
                              <p:cond delay="1000"/>
                            </p:stCondLst>
                            <p:childTnLst>
                              <p:par>
                                <p:cTn id="9" presetClass="entr" nodeType="afterEffect" presetSubtype="8" presetID="2" grpId="2" fill="hold">
                                  <p:stCondLst>
                                    <p:cond delay="0"/>
                                  </p:stCondLst>
                                  <p:iterate type="el" backwards="0">
                                    <p:tmAbs val="0"/>
                                  </p:iterate>
                                  <p:childTnLst>
                                    <p:set>
                                      <p:cBhvr>
                                        <p:cTn id="10" fill="hold"/>
                                        <p:tgtEl>
                                          <p:spTgt spid="197"/>
                                        </p:tgtEl>
                                        <p:attrNameLst>
                                          <p:attrName>style.visibility</p:attrName>
                                        </p:attrNameLst>
                                      </p:cBhvr>
                                      <p:to>
                                        <p:strVal val="visible"/>
                                      </p:to>
                                    </p:set>
                                    <p:anim calcmode="lin" valueType="num">
                                      <p:cBhvr>
                                        <p:cTn id="11" dur="1000" fill="hold"/>
                                        <p:tgtEl>
                                          <p:spTgt spid="197"/>
                                        </p:tgtEl>
                                        <p:attrNameLst>
                                          <p:attrName>ppt_x</p:attrName>
                                        </p:attrNameLst>
                                      </p:cBhvr>
                                      <p:tavLst>
                                        <p:tav tm="0">
                                          <p:val>
                                            <p:strVal val="0-#ppt_w/2"/>
                                          </p:val>
                                        </p:tav>
                                        <p:tav tm="100000">
                                          <p:val>
                                            <p:strVal val="#ppt_x"/>
                                          </p:val>
                                        </p:tav>
                                      </p:tavLst>
                                    </p:anim>
                                    <p:anim calcmode="lin" valueType="num">
                                      <p:cBhvr>
                                        <p:cTn id="12" dur="1000" fill="hold"/>
                                        <p:tgtEl>
                                          <p:spTgt spid="197"/>
                                        </p:tgtEl>
                                        <p:attrNameLst>
                                          <p:attrName>ppt_y</p:attrName>
                                        </p:attrNameLst>
                                      </p:cBhvr>
                                      <p:tavLst>
                                        <p:tav tm="0">
                                          <p:val>
                                            <p:strVal val="#ppt_y"/>
                                          </p:val>
                                        </p:tav>
                                        <p:tav tm="100000">
                                          <p:val>
                                            <p:strVal val="#ppt_y"/>
                                          </p:val>
                                        </p:tav>
                                      </p:tavLst>
                                    </p:anim>
                                  </p:childTnLst>
                                </p:cTn>
                              </p:par>
                            </p:childTnLst>
                          </p:cTn>
                        </p:par>
                        <p:par>
                          <p:cTn id="13" fill="hold">
                            <p:stCondLst>
                              <p:cond delay="2000"/>
                            </p:stCondLst>
                            <p:childTnLst>
                              <p:par>
                                <p:cTn id="14" presetClass="entr" nodeType="afterEffect" presetSubtype="8" presetID="2" grpId="3" fill="hold">
                                  <p:stCondLst>
                                    <p:cond delay="0"/>
                                  </p:stCondLst>
                                  <p:iterate type="el" backwards="0">
                                    <p:tmAbs val="0"/>
                                  </p:iterate>
                                  <p:childTnLst>
                                    <p:set>
                                      <p:cBhvr>
                                        <p:cTn id="15" fill="hold"/>
                                        <p:tgtEl>
                                          <p:spTgt spid="198"/>
                                        </p:tgtEl>
                                        <p:attrNameLst>
                                          <p:attrName>style.visibility</p:attrName>
                                        </p:attrNameLst>
                                      </p:cBhvr>
                                      <p:to>
                                        <p:strVal val="visible"/>
                                      </p:to>
                                    </p:set>
                                    <p:anim calcmode="lin" valueType="num">
                                      <p:cBhvr>
                                        <p:cTn id="16" dur="1000" fill="hold"/>
                                        <p:tgtEl>
                                          <p:spTgt spid="198"/>
                                        </p:tgtEl>
                                        <p:attrNameLst>
                                          <p:attrName>ppt_x</p:attrName>
                                        </p:attrNameLst>
                                      </p:cBhvr>
                                      <p:tavLst>
                                        <p:tav tm="0">
                                          <p:val>
                                            <p:strVal val="0-#ppt_w/2"/>
                                          </p:val>
                                        </p:tav>
                                        <p:tav tm="100000">
                                          <p:val>
                                            <p:strVal val="#ppt_x"/>
                                          </p:val>
                                        </p:tav>
                                      </p:tavLst>
                                    </p:anim>
                                    <p:anim calcmode="lin" valueType="num">
                                      <p:cBhvr>
                                        <p:cTn id="17" dur="1000" fill="hold"/>
                                        <p:tgtEl>
                                          <p:spTgt spid="198"/>
                                        </p:tgtEl>
                                        <p:attrNameLst>
                                          <p:attrName>ppt_y</p:attrName>
                                        </p:attrNameLst>
                                      </p:cBhvr>
                                      <p:tavLst>
                                        <p:tav tm="0">
                                          <p:val>
                                            <p:strVal val="#ppt_y"/>
                                          </p:val>
                                        </p:tav>
                                        <p:tav tm="100000">
                                          <p:val>
                                            <p:strVal val="#ppt_y"/>
                                          </p:val>
                                        </p:tav>
                                      </p:tavLst>
                                    </p:anim>
                                  </p:childTnLst>
                                </p:cTn>
                              </p:par>
                            </p:childTnLst>
                          </p:cTn>
                        </p:par>
                        <p:par>
                          <p:cTn id="18" fill="hold">
                            <p:stCondLst>
                              <p:cond delay="3000"/>
                            </p:stCondLst>
                            <p:childTnLst>
                              <p:par>
                                <p:cTn id="19" presetClass="entr" nodeType="afterEffect" presetSubtype="8" presetID="2" grpId="4" fill="hold">
                                  <p:stCondLst>
                                    <p:cond delay="0"/>
                                  </p:stCondLst>
                                  <p:iterate type="el" backwards="0">
                                    <p:tmAbs val="0"/>
                                  </p:iterate>
                                  <p:childTnLst>
                                    <p:set>
                                      <p:cBhvr>
                                        <p:cTn id="20" fill="hold"/>
                                        <p:tgtEl>
                                          <p:spTgt spid="199"/>
                                        </p:tgtEl>
                                        <p:attrNameLst>
                                          <p:attrName>style.visibility</p:attrName>
                                        </p:attrNameLst>
                                      </p:cBhvr>
                                      <p:to>
                                        <p:strVal val="visible"/>
                                      </p:to>
                                    </p:set>
                                    <p:anim calcmode="lin" valueType="num">
                                      <p:cBhvr>
                                        <p:cTn id="21" dur="1000" fill="hold"/>
                                        <p:tgtEl>
                                          <p:spTgt spid="199"/>
                                        </p:tgtEl>
                                        <p:attrNameLst>
                                          <p:attrName>ppt_x</p:attrName>
                                        </p:attrNameLst>
                                      </p:cBhvr>
                                      <p:tavLst>
                                        <p:tav tm="0">
                                          <p:val>
                                            <p:strVal val="0-#ppt_w/2"/>
                                          </p:val>
                                        </p:tav>
                                        <p:tav tm="100000">
                                          <p:val>
                                            <p:strVal val="#ppt_x"/>
                                          </p:val>
                                        </p:tav>
                                      </p:tavLst>
                                    </p:anim>
                                    <p:anim calcmode="lin" valueType="num">
                                      <p:cBhvr>
                                        <p:cTn id="22" dur="1000" fill="hold"/>
                                        <p:tgtEl>
                                          <p:spTgt spid="19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95" grpId="1"/>
      <p:bldP build="whole" bldLvl="1" animBg="1" rev="0" advAuto="0" spid="198" grpId="3"/>
      <p:bldP build="whole" bldLvl="1" animBg="1" rev="0" advAuto="0" spid="197" grpId="2"/>
      <p:bldP build="whole" bldLvl="1" animBg="1" rev="0" advAuto="0" spid="199" grpId="4"/>
    </p:bldLst>
  </p:timing>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2" name="Supervizate"/>
          <p:cNvSpPr txBox="1"/>
          <p:nvPr/>
        </p:nvSpPr>
        <p:spPr>
          <a:xfrm>
            <a:off x="-7076862" y="7802424"/>
            <a:ext cx="8358424"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Supervizate</a:t>
            </a:r>
          </a:p>
        </p:txBody>
      </p:sp>
      <p:sp>
        <p:nvSpPr>
          <p:cNvPr id="203"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204" name="În general, sunt două tipuri mari și late:"/>
          <p:cNvSpPr txBox="1"/>
          <p:nvPr>
            <p:ph type="body" sz="quarter" idx="1"/>
          </p:nvPr>
        </p:nvSpPr>
        <p:spPr>
          <a:xfrm>
            <a:off x="1687402" y="2818916"/>
            <a:ext cx="21948579" cy="2006602"/>
          </a:xfrm>
          <a:prstGeom prst="rect">
            <a:avLst/>
          </a:prstGeom>
        </p:spPr>
        <p:txBody>
          <a:bodyPr/>
          <a:lstStyle/>
          <a:p>
            <a:pPr/>
            <a:r>
              <a:t>Ca să întelegem datele ar trebui să le vizualizăm, dar setul de date precedent conține 200 de features</a:t>
            </a:r>
          </a:p>
        </p:txBody>
      </p:sp>
      <p:pic>
        <p:nvPicPr>
          <p:cNvPr id="205" name="Linie Linie" descr="Linie Linie"/>
          <p:cNvPicPr>
            <a:picLocks noChangeAspect="0"/>
          </p:cNvPicPr>
          <p:nvPr/>
        </p:nvPicPr>
        <p:blipFill>
          <a:blip r:embed="rId2">
            <a:extLst/>
          </a:blip>
          <a:stretch>
            <a:fillRect/>
          </a:stretch>
        </p:blipFill>
        <p:spPr>
          <a:xfrm>
            <a:off x="4224728" y="4406313"/>
            <a:ext cx="4212267" cy="101601"/>
          </a:xfrm>
          <a:prstGeom prst="rect">
            <a:avLst/>
          </a:prstGeom>
        </p:spPr>
      </p:pic>
      <p:sp>
        <p:nvSpPr>
          <p:cNvPr id="207" name="În general, sunt două tipuri mari și late:"/>
          <p:cNvSpPr txBox="1"/>
          <p:nvPr/>
        </p:nvSpPr>
        <p:spPr>
          <a:xfrm>
            <a:off x="1687402" y="4740243"/>
            <a:ext cx="21948579" cy="200660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Asta ar însemna să vizualizăm lucrurile din 200D, dar deja din 4D ne cam doare capul</a:t>
            </a:r>
          </a:p>
        </p:txBody>
      </p:sp>
      <p:pic>
        <p:nvPicPr>
          <p:cNvPr id="208" name="Linie Linie" descr="Linie Linie"/>
          <p:cNvPicPr>
            <a:picLocks noChangeAspect="0"/>
          </p:cNvPicPr>
          <p:nvPr/>
        </p:nvPicPr>
        <p:blipFill>
          <a:blip r:embed="rId3">
            <a:extLst/>
          </a:blip>
          <a:stretch>
            <a:fillRect/>
          </a:stretch>
        </p:blipFill>
        <p:spPr>
          <a:xfrm>
            <a:off x="16959278" y="5550658"/>
            <a:ext cx="5271089" cy="101601"/>
          </a:xfrm>
          <a:prstGeom prst="rect">
            <a:avLst/>
          </a:prstGeom>
        </p:spPr>
      </p:pic>
      <p:sp>
        <p:nvSpPr>
          <p:cNvPr id="210" name="În general, sunt două tipuri mari și late:"/>
          <p:cNvSpPr txBox="1"/>
          <p:nvPr/>
        </p:nvSpPr>
        <p:spPr>
          <a:xfrm>
            <a:off x="1687402" y="6800610"/>
            <a:ext cx="21948579" cy="200660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Mai mult, prea multe features duce la „                                                    ”  </a:t>
            </a:r>
          </a:p>
        </p:txBody>
      </p:sp>
      <p:pic>
        <p:nvPicPr>
          <p:cNvPr id="211" name="Linie Linie" descr="Linie Linie"/>
          <p:cNvPicPr>
            <a:picLocks noChangeAspect="0"/>
          </p:cNvPicPr>
          <p:nvPr/>
        </p:nvPicPr>
        <p:blipFill>
          <a:blip r:embed="rId4">
            <a:extLst/>
          </a:blip>
          <a:stretch>
            <a:fillRect/>
          </a:stretch>
        </p:blipFill>
        <p:spPr>
          <a:xfrm>
            <a:off x="1947960" y="6332395"/>
            <a:ext cx="2207442" cy="101601"/>
          </a:xfrm>
          <a:prstGeom prst="rect">
            <a:avLst/>
          </a:prstGeom>
        </p:spPr>
      </p:pic>
      <p:pic>
        <p:nvPicPr>
          <p:cNvPr id="213" name="Linie Linie" descr="Linie Linie"/>
          <p:cNvPicPr>
            <a:picLocks noChangeAspect="0"/>
          </p:cNvPicPr>
          <p:nvPr/>
        </p:nvPicPr>
        <p:blipFill>
          <a:blip r:embed="rId5">
            <a:extLst/>
          </a:blip>
          <a:stretch>
            <a:fillRect/>
          </a:stretch>
        </p:blipFill>
        <p:spPr>
          <a:xfrm>
            <a:off x="11577811" y="7665688"/>
            <a:ext cx="7726601" cy="101601"/>
          </a:xfrm>
          <a:prstGeom prst="rect">
            <a:avLst/>
          </a:prstGeom>
        </p:spPr>
      </p:pic>
      <p:sp>
        <p:nvSpPr>
          <p:cNvPr id="215" name="În general, sunt două tipuri mari și late:"/>
          <p:cNvSpPr txBox="1"/>
          <p:nvPr/>
        </p:nvSpPr>
        <p:spPr>
          <a:xfrm>
            <a:off x="1687402" y="8226080"/>
            <a:ext cx="21948579" cy="200660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18794" indent="-518794" defTabSz="2316421">
              <a:spcBef>
                <a:spcPts val="2200"/>
              </a:spcBef>
              <a:buSzPct val="150000"/>
              <a:buChar char="•"/>
              <a:defRPr sz="4180">
                <a:latin typeface="Canela Text Regular"/>
                <a:ea typeface="Canela Text Regular"/>
                <a:cs typeface="Canela Text Regular"/>
                <a:sym typeface="Canela Text Regular"/>
              </a:defRPr>
            </a:lvl1pPr>
          </a:lstStyle>
          <a:p>
            <a:pPr/>
            <a:r>
              <a:t>Acesta spune că cu cât crește numărul de features (dimensiuni), numărul de date pe care trebuie să le adunăm pentru antrenare pentru o generalizare optimă crește exponențial</a:t>
            </a:r>
          </a:p>
        </p:txBody>
      </p:sp>
      <p:pic>
        <p:nvPicPr>
          <p:cNvPr id="216" name="Linie Linie" descr="Linie Linie"/>
          <p:cNvPicPr>
            <a:picLocks noChangeAspect="0"/>
          </p:cNvPicPr>
          <p:nvPr/>
        </p:nvPicPr>
        <p:blipFill>
          <a:blip r:embed="rId6">
            <a:extLst/>
          </a:blip>
          <a:stretch>
            <a:fillRect/>
          </a:stretch>
        </p:blipFill>
        <p:spPr>
          <a:xfrm>
            <a:off x="18549790" y="9780719"/>
            <a:ext cx="4829880" cy="101601"/>
          </a:xfrm>
          <a:prstGeom prst="rect">
            <a:avLst/>
          </a:prstGeom>
        </p:spPr>
      </p:pic>
      <p:sp>
        <p:nvSpPr>
          <p:cNvPr id="218" name="Blestemul dimensionalității"/>
          <p:cNvSpPr txBox="1"/>
          <p:nvPr/>
        </p:nvSpPr>
        <p:spPr>
          <a:xfrm>
            <a:off x="12067585" y="6782657"/>
            <a:ext cx="6747053" cy="98463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4700">
                <a:latin typeface="Canela Regular"/>
                <a:ea typeface="Canela Regular"/>
                <a:cs typeface="Canela Regular"/>
                <a:sym typeface="Canela Regular"/>
              </a:defRPr>
            </a:lvl1pPr>
          </a:lstStyle>
          <a:p>
            <a:pPr/>
            <a:r>
              <a:t>Blestemul dimensionalității</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8" presetID="2" grpId="1" fill="hold">
                                  <p:stCondLst>
                                    <p:cond delay="0"/>
                                  </p:stCondLst>
                                  <p:iterate type="el" backwards="0">
                                    <p:tmAbs val="0"/>
                                  </p:iterate>
                                  <p:childTnLst>
                                    <p:set>
                                      <p:cBhvr>
                                        <p:cTn id="6" fill="hold"/>
                                        <p:tgtEl>
                                          <p:spTgt spid="204"/>
                                        </p:tgtEl>
                                        <p:attrNameLst>
                                          <p:attrName>style.visibility</p:attrName>
                                        </p:attrNameLst>
                                      </p:cBhvr>
                                      <p:to>
                                        <p:strVal val="visible"/>
                                      </p:to>
                                    </p:set>
                                    <p:anim calcmode="lin" valueType="num">
                                      <p:cBhvr>
                                        <p:cTn id="7" dur="1000" fill="hold"/>
                                        <p:tgtEl>
                                          <p:spTgt spid="204"/>
                                        </p:tgtEl>
                                        <p:attrNameLst>
                                          <p:attrName>ppt_x</p:attrName>
                                        </p:attrNameLst>
                                      </p:cBhvr>
                                      <p:tavLst>
                                        <p:tav tm="0">
                                          <p:val>
                                            <p:strVal val="0-#ppt_w/2"/>
                                          </p:val>
                                        </p:tav>
                                        <p:tav tm="100000">
                                          <p:val>
                                            <p:strVal val="#ppt_x"/>
                                          </p:val>
                                        </p:tav>
                                      </p:tavLst>
                                    </p:anim>
                                    <p:anim calcmode="lin" valueType="num">
                                      <p:cBhvr>
                                        <p:cTn id="8" dur="1000" fill="hold"/>
                                        <p:tgtEl>
                                          <p:spTgt spid="204"/>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Class="entr" nodeType="afterEffect" presetID="9" grpId="2" fill="hold">
                                  <p:stCondLst>
                                    <p:cond delay="0"/>
                                  </p:stCondLst>
                                  <p:iterate type="el" backwards="0">
                                    <p:tmAbs val="0"/>
                                  </p:iterate>
                                  <p:childTnLst>
                                    <p:set>
                                      <p:cBhvr>
                                        <p:cTn id="11" fill="hold"/>
                                        <p:tgtEl>
                                          <p:spTgt spid="205"/>
                                        </p:tgtEl>
                                        <p:attrNameLst>
                                          <p:attrName>style.visibility</p:attrName>
                                        </p:attrNameLst>
                                      </p:cBhvr>
                                      <p:to>
                                        <p:strVal val="visible"/>
                                      </p:to>
                                    </p:set>
                                    <p:animEffect filter="dissolve" transition="in">
                                      <p:cBhvr>
                                        <p:cTn id="12" dur="2000"/>
                                        <p:tgtEl>
                                          <p:spTgt spid="205"/>
                                        </p:tgtEl>
                                      </p:cBhvr>
                                    </p:animEffect>
                                  </p:childTnLst>
                                </p:cTn>
                              </p:par>
                            </p:childTnLst>
                          </p:cTn>
                        </p:par>
                      </p:childTnLst>
                    </p:cTn>
                  </p:par>
                  <p:par>
                    <p:cTn id="13" fill="hold">
                      <p:stCondLst>
                        <p:cond delay="indefinite"/>
                      </p:stCondLst>
                      <p:childTnLst>
                        <p:par>
                          <p:cTn id="14" fill="hold">
                            <p:stCondLst>
                              <p:cond delay="0"/>
                            </p:stCondLst>
                            <p:childTnLst>
                              <p:par>
                                <p:cTn id="15" presetClass="entr" nodeType="clickEffect" presetSubtype="8" presetID="2" grpId="3" fill="hold">
                                  <p:stCondLst>
                                    <p:cond delay="0"/>
                                  </p:stCondLst>
                                  <p:iterate type="el" backwards="0">
                                    <p:tmAbs val="0"/>
                                  </p:iterate>
                                  <p:childTnLst>
                                    <p:set>
                                      <p:cBhvr>
                                        <p:cTn id="16" fill="hold"/>
                                        <p:tgtEl>
                                          <p:spTgt spid="207"/>
                                        </p:tgtEl>
                                        <p:attrNameLst>
                                          <p:attrName>style.visibility</p:attrName>
                                        </p:attrNameLst>
                                      </p:cBhvr>
                                      <p:to>
                                        <p:strVal val="visible"/>
                                      </p:to>
                                    </p:set>
                                    <p:anim calcmode="lin" valueType="num">
                                      <p:cBhvr>
                                        <p:cTn id="17" dur="1000" fill="hold"/>
                                        <p:tgtEl>
                                          <p:spTgt spid="207"/>
                                        </p:tgtEl>
                                        <p:attrNameLst>
                                          <p:attrName>ppt_x</p:attrName>
                                        </p:attrNameLst>
                                      </p:cBhvr>
                                      <p:tavLst>
                                        <p:tav tm="0">
                                          <p:val>
                                            <p:strVal val="0-#ppt_w/2"/>
                                          </p:val>
                                        </p:tav>
                                        <p:tav tm="100000">
                                          <p:val>
                                            <p:strVal val="#ppt_x"/>
                                          </p:val>
                                        </p:tav>
                                      </p:tavLst>
                                    </p:anim>
                                    <p:anim calcmode="lin" valueType="num">
                                      <p:cBhvr>
                                        <p:cTn id="18" dur="1000" fill="hold"/>
                                        <p:tgtEl>
                                          <p:spTgt spid="207"/>
                                        </p:tgtEl>
                                        <p:attrNameLst>
                                          <p:attrName>ppt_y</p:attrName>
                                        </p:attrNameLst>
                                      </p:cBhvr>
                                      <p:tavLst>
                                        <p:tav tm="0">
                                          <p:val>
                                            <p:strVal val="#ppt_y"/>
                                          </p:val>
                                        </p:tav>
                                        <p:tav tm="100000">
                                          <p:val>
                                            <p:strVal val="#ppt_y"/>
                                          </p:val>
                                        </p:tav>
                                      </p:tavLst>
                                    </p:anim>
                                  </p:childTnLst>
                                </p:cTn>
                              </p:par>
                            </p:childTnLst>
                          </p:cTn>
                        </p:par>
                        <p:par>
                          <p:cTn id="19" fill="hold">
                            <p:stCondLst>
                              <p:cond delay="1000"/>
                            </p:stCondLst>
                            <p:childTnLst>
                              <p:par>
                                <p:cTn id="20" presetClass="entr" nodeType="afterEffect" presetID="9" grpId="4" fill="hold">
                                  <p:stCondLst>
                                    <p:cond delay="0"/>
                                  </p:stCondLst>
                                  <p:iterate type="el" backwards="0">
                                    <p:tmAbs val="0"/>
                                  </p:iterate>
                                  <p:childTnLst>
                                    <p:set>
                                      <p:cBhvr>
                                        <p:cTn id="21" fill="hold"/>
                                        <p:tgtEl>
                                          <p:spTgt spid="208"/>
                                        </p:tgtEl>
                                        <p:attrNameLst>
                                          <p:attrName>style.visibility</p:attrName>
                                        </p:attrNameLst>
                                      </p:cBhvr>
                                      <p:to>
                                        <p:strVal val="visible"/>
                                      </p:to>
                                    </p:set>
                                    <p:animEffect filter="dissolve" transition="in">
                                      <p:cBhvr>
                                        <p:cTn id="22" dur="2000"/>
                                        <p:tgtEl>
                                          <p:spTgt spid="208"/>
                                        </p:tgtEl>
                                      </p:cBhvr>
                                    </p:animEffect>
                                  </p:childTnLst>
                                </p:cTn>
                              </p:par>
                            </p:childTnLst>
                          </p:cTn>
                        </p:par>
                        <p:par>
                          <p:cTn id="23" fill="hold">
                            <p:stCondLst>
                              <p:cond delay="3000"/>
                            </p:stCondLst>
                            <p:childTnLst>
                              <p:par>
                                <p:cTn id="24" presetClass="entr" nodeType="afterEffect" presetID="9" grpId="5" fill="hold">
                                  <p:stCondLst>
                                    <p:cond delay="0"/>
                                  </p:stCondLst>
                                  <p:iterate type="el" backwards="0">
                                    <p:tmAbs val="0"/>
                                  </p:iterate>
                                  <p:childTnLst>
                                    <p:set>
                                      <p:cBhvr>
                                        <p:cTn id="25" fill="hold"/>
                                        <p:tgtEl>
                                          <p:spTgt spid="211"/>
                                        </p:tgtEl>
                                        <p:attrNameLst>
                                          <p:attrName>style.visibility</p:attrName>
                                        </p:attrNameLst>
                                      </p:cBhvr>
                                      <p:to>
                                        <p:strVal val="visible"/>
                                      </p:to>
                                    </p:set>
                                    <p:animEffect filter="dissolve" transition="in">
                                      <p:cBhvr>
                                        <p:cTn id="26" dur="2000"/>
                                        <p:tgtEl>
                                          <p:spTgt spid="211"/>
                                        </p:tgtEl>
                                      </p:cBhvr>
                                    </p:animEffect>
                                  </p:childTnLst>
                                </p:cTn>
                              </p:par>
                            </p:childTnLst>
                          </p:cTn>
                        </p:par>
                      </p:childTnLst>
                    </p:cTn>
                  </p:par>
                  <p:par>
                    <p:cTn id="27" fill="hold">
                      <p:stCondLst>
                        <p:cond delay="indefinite"/>
                      </p:stCondLst>
                      <p:childTnLst>
                        <p:par>
                          <p:cTn id="28" fill="hold">
                            <p:stCondLst>
                              <p:cond delay="0"/>
                            </p:stCondLst>
                            <p:childTnLst>
                              <p:par>
                                <p:cTn id="29" presetClass="entr" nodeType="clickEffect" presetSubtype="8" presetID="2" grpId="6" fill="hold">
                                  <p:stCondLst>
                                    <p:cond delay="0"/>
                                  </p:stCondLst>
                                  <p:iterate type="el" backwards="0">
                                    <p:tmAbs val="0"/>
                                  </p:iterate>
                                  <p:childTnLst>
                                    <p:set>
                                      <p:cBhvr>
                                        <p:cTn id="30" fill="hold"/>
                                        <p:tgtEl>
                                          <p:spTgt spid="210"/>
                                        </p:tgtEl>
                                        <p:attrNameLst>
                                          <p:attrName>style.visibility</p:attrName>
                                        </p:attrNameLst>
                                      </p:cBhvr>
                                      <p:to>
                                        <p:strVal val="visible"/>
                                      </p:to>
                                    </p:set>
                                    <p:anim calcmode="lin" valueType="num">
                                      <p:cBhvr>
                                        <p:cTn id="31" dur="1000" fill="hold"/>
                                        <p:tgtEl>
                                          <p:spTgt spid="210"/>
                                        </p:tgtEl>
                                        <p:attrNameLst>
                                          <p:attrName>ppt_x</p:attrName>
                                        </p:attrNameLst>
                                      </p:cBhvr>
                                      <p:tavLst>
                                        <p:tav tm="0">
                                          <p:val>
                                            <p:strVal val="0-#ppt_w/2"/>
                                          </p:val>
                                        </p:tav>
                                        <p:tav tm="100000">
                                          <p:val>
                                            <p:strVal val="#ppt_x"/>
                                          </p:val>
                                        </p:tav>
                                      </p:tavLst>
                                    </p:anim>
                                    <p:anim calcmode="lin" valueType="num">
                                      <p:cBhvr>
                                        <p:cTn id="32" dur="1000" fill="hold"/>
                                        <p:tgtEl>
                                          <p:spTgt spid="210"/>
                                        </p:tgtEl>
                                        <p:attrNameLst>
                                          <p:attrName>ppt_y</p:attrName>
                                        </p:attrNameLst>
                                      </p:cBhvr>
                                      <p:tavLst>
                                        <p:tav tm="0">
                                          <p:val>
                                            <p:strVal val="#ppt_y"/>
                                          </p:val>
                                        </p:tav>
                                        <p:tav tm="100000">
                                          <p:val>
                                            <p:strVal val="#ppt_y"/>
                                          </p:val>
                                        </p:tav>
                                      </p:tavLst>
                                    </p:anim>
                                  </p:childTnLst>
                                </p:cTn>
                              </p:par>
                            </p:childTnLst>
                          </p:cTn>
                        </p:par>
                        <p:par>
                          <p:cTn id="33" fill="hold">
                            <p:stCondLst>
                              <p:cond delay="1000"/>
                            </p:stCondLst>
                            <p:childTnLst>
                              <p:par>
                                <p:cTn id="34" presetClass="entr" nodeType="afterEffect" presetSubtype="8" presetID="2" grpId="7" fill="hold">
                                  <p:stCondLst>
                                    <p:cond delay="0"/>
                                  </p:stCondLst>
                                  <p:iterate type="el" backwards="0">
                                    <p:tmAbs val="0"/>
                                  </p:iterate>
                                  <p:childTnLst>
                                    <p:set>
                                      <p:cBhvr>
                                        <p:cTn id="35" fill="hold"/>
                                        <p:tgtEl>
                                          <p:spTgt spid="218"/>
                                        </p:tgtEl>
                                        <p:attrNameLst>
                                          <p:attrName>style.visibility</p:attrName>
                                        </p:attrNameLst>
                                      </p:cBhvr>
                                      <p:to>
                                        <p:strVal val="visible"/>
                                      </p:to>
                                    </p:set>
                                    <p:anim calcmode="lin" valueType="num">
                                      <p:cBhvr>
                                        <p:cTn id="36" dur="1000" fill="hold"/>
                                        <p:tgtEl>
                                          <p:spTgt spid="218"/>
                                        </p:tgtEl>
                                        <p:attrNameLst>
                                          <p:attrName>ppt_x</p:attrName>
                                        </p:attrNameLst>
                                      </p:cBhvr>
                                      <p:tavLst>
                                        <p:tav tm="0">
                                          <p:val>
                                            <p:strVal val="0-#ppt_w/2"/>
                                          </p:val>
                                        </p:tav>
                                        <p:tav tm="100000">
                                          <p:val>
                                            <p:strVal val="#ppt_x"/>
                                          </p:val>
                                        </p:tav>
                                      </p:tavLst>
                                    </p:anim>
                                    <p:anim calcmode="lin" valueType="num">
                                      <p:cBhvr>
                                        <p:cTn id="37" dur="1000" fill="hold"/>
                                        <p:tgtEl>
                                          <p:spTgt spid="218"/>
                                        </p:tgtEl>
                                        <p:attrNameLst>
                                          <p:attrName>ppt_y</p:attrName>
                                        </p:attrNameLst>
                                      </p:cBhvr>
                                      <p:tavLst>
                                        <p:tav tm="0">
                                          <p:val>
                                            <p:strVal val="#ppt_y"/>
                                          </p:val>
                                        </p:tav>
                                        <p:tav tm="100000">
                                          <p:val>
                                            <p:strVal val="#ppt_y"/>
                                          </p:val>
                                        </p:tav>
                                      </p:tavLst>
                                    </p:anim>
                                  </p:childTnLst>
                                </p:cTn>
                              </p:par>
                            </p:childTnLst>
                          </p:cTn>
                        </p:par>
                        <p:par>
                          <p:cTn id="38" fill="hold">
                            <p:stCondLst>
                              <p:cond delay="2000"/>
                            </p:stCondLst>
                            <p:childTnLst>
                              <p:par>
                                <p:cTn id="39" presetClass="entr" nodeType="afterEffect" presetID="9" grpId="8" fill="hold">
                                  <p:stCondLst>
                                    <p:cond delay="0"/>
                                  </p:stCondLst>
                                  <p:iterate type="el" backwards="0">
                                    <p:tmAbs val="0"/>
                                  </p:iterate>
                                  <p:childTnLst>
                                    <p:set>
                                      <p:cBhvr>
                                        <p:cTn id="40" fill="hold"/>
                                        <p:tgtEl>
                                          <p:spTgt spid="213"/>
                                        </p:tgtEl>
                                        <p:attrNameLst>
                                          <p:attrName>style.visibility</p:attrName>
                                        </p:attrNameLst>
                                      </p:cBhvr>
                                      <p:to>
                                        <p:strVal val="visible"/>
                                      </p:to>
                                    </p:set>
                                    <p:animEffect filter="dissolve" transition="in">
                                      <p:cBhvr>
                                        <p:cTn id="41" dur="2000"/>
                                        <p:tgtEl>
                                          <p:spTgt spid="213"/>
                                        </p:tgtEl>
                                      </p:cBhvr>
                                    </p:animEffect>
                                  </p:childTnLst>
                                </p:cTn>
                              </p:par>
                            </p:childTnLst>
                          </p:cTn>
                        </p:par>
                      </p:childTnLst>
                    </p:cTn>
                  </p:par>
                  <p:par>
                    <p:cTn id="42" fill="hold">
                      <p:stCondLst>
                        <p:cond delay="indefinite"/>
                      </p:stCondLst>
                      <p:childTnLst>
                        <p:par>
                          <p:cTn id="43" fill="hold">
                            <p:stCondLst>
                              <p:cond delay="0"/>
                            </p:stCondLst>
                            <p:childTnLst>
                              <p:par>
                                <p:cTn id="44" presetClass="entr" nodeType="clickEffect" presetSubtype="8" presetID="2" grpId="9" fill="hold">
                                  <p:stCondLst>
                                    <p:cond delay="0"/>
                                  </p:stCondLst>
                                  <p:iterate type="el" backwards="0">
                                    <p:tmAbs val="0"/>
                                  </p:iterate>
                                  <p:childTnLst>
                                    <p:set>
                                      <p:cBhvr>
                                        <p:cTn id="45" fill="hold"/>
                                        <p:tgtEl>
                                          <p:spTgt spid="215"/>
                                        </p:tgtEl>
                                        <p:attrNameLst>
                                          <p:attrName>style.visibility</p:attrName>
                                        </p:attrNameLst>
                                      </p:cBhvr>
                                      <p:to>
                                        <p:strVal val="visible"/>
                                      </p:to>
                                    </p:set>
                                    <p:anim calcmode="lin" valueType="num">
                                      <p:cBhvr>
                                        <p:cTn id="46" dur="1000" fill="hold"/>
                                        <p:tgtEl>
                                          <p:spTgt spid="215"/>
                                        </p:tgtEl>
                                        <p:attrNameLst>
                                          <p:attrName>ppt_x</p:attrName>
                                        </p:attrNameLst>
                                      </p:cBhvr>
                                      <p:tavLst>
                                        <p:tav tm="0">
                                          <p:val>
                                            <p:strVal val="0-#ppt_w/2"/>
                                          </p:val>
                                        </p:tav>
                                        <p:tav tm="100000">
                                          <p:val>
                                            <p:strVal val="#ppt_x"/>
                                          </p:val>
                                        </p:tav>
                                      </p:tavLst>
                                    </p:anim>
                                    <p:anim calcmode="lin" valueType="num">
                                      <p:cBhvr>
                                        <p:cTn id="47" dur="1000" fill="hold"/>
                                        <p:tgtEl>
                                          <p:spTgt spid="215"/>
                                        </p:tgtEl>
                                        <p:attrNameLst>
                                          <p:attrName>ppt_y</p:attrName>
                                        </p:attrNameLst>
                                      </p:cBhvr>
                                      <p:tavLst>
                                        <p:tav tm="0">
                                          <p:val>
                                            <p:strVal val="#ppt_y"/>
                                          </p:val>
                                        </p:tav>
                                        <p:tav tm="100000">
                                          <p:val>
                                            <p:strVal val="#ppt_y"/>
                                          </p:val>
                                        </p:tav>
                                      </p:tavLst>
                                    </p:anim>
                                  </p:childTnLst>
                                </p:cTn>
                              </p:par>
                            </p:childTnLst>
                          </p:cTn>
                        </p:par>
                        <p:par>
                          <p:cTn id="48" fill="hold">
                            <p:stCondLst>
                              <p:cond delay="1000"/>
                            </p:stCondLst>
                            <p:childTnLst>
                              <p:par>
                                <p:cTn id="49" presetClass="entr" nodeType="afterEffect" presetID="9" grpId="10" fill="hold">
                                  <p:stCondLst>
                                    <p:cond delay="0"/>
                                  </p:stCondLst>
                                  <p:iterate type="el" backwards="0">
                                    <p:tmAbs val="0"/>
                                  </p:iterate>
                                  <p:childTnLst>
                                    <p:set>
                                      <p:cBhvr>
                                        <p:cTn id="50" fill="hold"/>
                                        <p:tgtEl>
                                          <p:spTgt spid="216"/>
                                        </p:tgtEl>
                                        <p:attrNameLst>
                                          <p:attrName>style.visibility</p:attrName>
                                        </p:attrNameLst>
                                      </p:cBhvr>
                                      <p:to>
                                        <p:strVal val="visible"/>
                                      </p:to>
                                    </p:set>
                                    <p:animEffect filter="dissolve" transition="in">
                                      <p:cBhvr>
                                        <p:cTn id="51" dur="2000"/>
                                        <p:tgtEl>
                                          <p:spTgt spid="2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18" grpId="7"/>
      <p:bldP build="whole" bldLvl="1" animBg="1" rev="0" advAuto="0" spid="211" grpId="5"/>
      <p:bldP build="whole" bldLvl="1" animBg="1" rev="0" advAuto="0" spid="215" grpId="9"/>
      <p:bldP build="whole" bldLvl="1" animBg="1" rev="0" advAuto="0" spid="208" grpId="4"/>
      <p:bldP build="whole" bldLvl="1" animBg="1" rev="0" advAuto="0" spid="204" grpId="1"/>
      <p:bldP build="whole" bldLvl="1" animBg="1" rev="0" advAuto="0" spid="207" grpId="3"/>
      <p:bldP build="whole" bldLvl="1" animBg="1" rev="0" advAuto="0" spid="216" grpId="10"/>
      <p:bldP build="whole" bldLvl="1" animBg="1" rev="0" advAuto="0" spid="205" grpId="2"/>
      <p:bldP build="whole" bldLvl="1" animBg="1" rev="0" advAuto="0" spid="210" grpId="6"/>
      <p:bldP build="whole" bldLvl="1" animBg="1" rev="0" advAuto="0" spid="213" grpId="8"/>
    </p:bldLst>
  </p:timing>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0"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221" name="Blestemul dimensionalității"/>
          <p:cNvSpPr txBox="1"/>
          <p:nvPr/>
        </p:nvSpPr>
        <p:spPr>
          <a:xfrm>
            <a:off x="5698418" y="739876"/>
            <a:ext cx="12391949" cy="175425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8700">
                <a:latin typeface="Canela Regular"/>
                <a:ea typeface="Canela Regular"/>
                <a:cs typeface="Canela Regular"/>
                <a:sym typeface="Canela Regular"/>
              </a:defRPr>
            </a:lvl1pPr>
          </a:lstStyle>
          <a:p>
            <a:pPr/>
            <a:r>
              <a:t>Blestemul dimensionalității</a:t>
            </a:r>
          </a:p>
        </p:txBody>
      </p:sp>
      <p:sp>
        <p:nvSpPr>
          <p:cNvPr id="222" name="Imaginează-ți că ai un punct în spațiu:"/>
          <p:cNvSpPr txBox="1"/>
          <p:nvPr/>
        </p:nvSpPr>
        <p:spPr>
          <a:xfrm>
            <a:off x="1380260" y="3411715"/>
            <a:ext cx="8627060"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latin typeface="Canela Regular"/>
                <a:ea typeface="Canela Regular"/>
                <a:cs typeface="Canela Regular"/>
                <a:sym typeface="Canela Regular"/>
              </a:defRPr>
            </a:lvl1pPr>
          </a:lstStyle>
          <a:p>
            <a:pPr/>
            <a:r>
              <a:t>Imaginează-ți că ai un punct în spațiu:</a:t>
            </a:r>
          </a:p>
        </p:txBody>
      </p:sp>
      <p:sp>
        <p:nvSpPr>
          <p:cNvPr id="223" name="în 1D, e doar un punct pe o linie"/>
          <p:cNvSpPr txBox="1"/>
          <p:nvPr/>
        </p:nvSpPr>
        <p:spPr>
          <a:xfrm>
            <a:off x="3701601" y="4264858"/>
            <a:ext cx="7615897"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marL="441157" indent="-441157">
              <a:buSzPct val="100000"/>
              <a:buChar char="-"/>
              <a:defRPr>
                <a:latin typeface="Canela Regular"/>
                <a:ea typeface="Canela Regular"/>
                <a:cs typeface="Canela Regular"/>
                <a:sym typeface="Canela Regular"/>
              </a:defRPr>
            </a:lvl1pPr>
          </a:lstStyle>
          <a:p>
            <a:pPr/>
            <a:r>
              <a:t>în 1D, e doar un punct pe o linie</a:t>
            </a:r>
          </a:p>
        </p:txBody>
      </p:sp>
      <p:sp>
        <p:nvSpPr>
          <p:cNvPr id="224" name="în 2D, punctul e într-un plan (ca pe o foaie de hârtie)"/>
          <p:cNvSpPr txBox="1"/>
          <p:nvPr/>
        </p:nvSpPr>
        <p:spPr>
          <a:xfrm>
            <a:off x="3701601" y="5075693"/>
            <a:ext cx="12341110"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marL="441157" indent="-441157">
              <a:buSzPct val="100000"/>
              <a:buChar char="-"/>
              <a:defRPr>
                <a:latin typeface="Canela Regular"/>
                <a:ea typeface="Canela Regular"/>
                <a:cs typeface="Canela Regular"/>
                <a:sym typeface="Canela Regular"/>
              </a:defRPr>
            </a:lvl1pPr>
          </a:lstStyle>
          <a:p>
            <a:pPr/>
            <a:r>
              <a:t>în 2D, punctul e într-un plan (ca pe o foaie de hârtie)</a:t>
            </a:r>
          </a:p>
        </p:txBody>
      </p:sp>
      <p:sp>
        <p:nvSpPr>
          <p:cNvPr id="225" name="în 3D, punctul e într-un cub"/>
          <p:cNvSpPr txBox="1"/>
          <p:nvPr/>
        </p:nvSpPr>
        <p:spPr>
          <a:xfrm>
            <a:off x="3701601" y="6025412"/>
            <a:ext cx="6767080"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marL="441157" indent="-441157">
              <a:buSzPct val="100000"/>
              <a:buChar char="-"/>
              <a:defRPr>
                <a:latin typeface="Canela Regular"/>
                <a:ea typeface="Canela Regular"/>
                <a:cs typeface="Canela Regular"/>
                <a:sym typeface="Canela Regular"/>
              </a:defRPr>
            </a:lvl1pPr>
          </a:lstStyle>
          <a:p>
            <a:pPr/>
            <a:r>
              <a:t>în 3D, punctul e într-un cub</a:t>
            </a:r>
          </a:p>
        </p:txBody>
      </p:sp>
      <p:sp>
        <p:nvSpPr>
          <p:cNvPr id="226" name="Dacă mergem mai departe în 4D și peste, spațiul disponibil pentru date crește atât de mult încât punctele din setul de date devin din ce în ce mai departe unele de altele."/>
          <p:cNvSpPr txBox="1"/>
          <p:nvPr/>
        </p:nvSpPr>
        <p:spPr>
          <a:xfrm>
            <a:off x="256718" y="7924850"/>
            <a:ext cx="23876153" cy="168915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latin typeface="Canela Regular"/>
                <a:ea typeface="Canela Regular"/>
                <a:cs typeface="Canela Regular"/>
                <a:sym typeface="Canela Regular"/>
              </a:defRPr>
            </a:lvl1pPr>
          </a:lstStyle>
          <a:p>
            <a:pPr/>
            <a:r>
              <a:t>Dacă mergem mai departe în 4D și peste, spațiul disponibil pentru date crește atât de mult încât punctele din setul de date devin din ce în ce mai departe unele de altele.</a:t>
            </a:r>
          </a:p>
        </p:txBody>
      </p:sp>
      <p:sp>
        <p:nvSpPr>
          <p:cNvPr id="227" name="Astfel, algoritmii (cum sunt cei de clasificare sau de regresie) au dificultăți în a găsi structuri sau corelații între aceste puncte."/>
          <p:cNvSpPr txBox="1"/>
          <p:nvPr/>
        </p:nvSpPr>
        <p:spPr>
          <a:xfrm>
            <a:off x="343331" y="9877178"/>
            <a:ext cx="23503434" cy="168915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latin typeface="Canela Regular"/>
                <a:ea typeface="Canela Regular"/>
                <a:cs typeface="Canela Regular"/>
                <a:sym typeface="Canela Regular"/>
              </a:defRPr>
            </a:lvl1pPr>
          </a:lstStyle>
          <a:p>
            <a:pPr/>
            <a:r>
              <a:t>Astfel, algoritmii (cum sunt cei de clasificare sau de regresie) au dificultăți în a găsi structuri sau corelații între aceste puncte.</a:t>
            </a:r>
          </a:p>
        </p:txBody>
      </p:sp>
      <p:pic>
        <p:nvPicPr>
          <p:cNvPr id="228" name="Linie Linie" descr="Linie Linie"/>
          <p:cNvPicPr>
            <a:picLocks noChangeAspect="0"/>
          </p:cNvPicPr>
          <p:nvPr/>
        </p:nvPicPr>
        <p:blipFill>
          <a:blip r:embed="rId2">
            <a:extLst/>
          </a:blip>
          <a:stretch>
            <a:fillRect/>
          </a:stretch>
        </p:blipFill>
        <p:spPr>
          <a:xfrm>
            <a:off x="5514362" y="9502513"/>
            <a:ext cx="5196298" cy="101601"/>
          </a:xfrm>
          <a:prstGeom prst="rect">
            <a:avLst/>
          </a:prstGeom>
        </p:spPr>
      </p:pic>
      <p:pic>
        <p:nvPicPr>
          <p:cNvPr id="230" name="Linie Linie" descr="Linie Linie"/>
          <p:cNvPicPr>
            <a:picLocks noChangeAspect="0"/>
          </p:cNvPicPr>
          <p:nvPr/>
        </p:nvPicPr>
        <p:blipFill>
          <a:blip r:embed="rId3">
            <a:extLst/>
          </a:blip>
          <a:stretch>
            <a:fillRect/>
          </a:stretch>
        </p:blipFill>
        <p:spPr>
          <a:xfrm>
            <a:off x="13855338" y="10670954"/>
            <a:ext cx="3238445" cy="10160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8" presetID="2" grpId="1" fill="hold">
                                  <p:stCondLst>
                                    <p:cond delay="0"/>
                                  </p:stCondLst>
                                  <p:iterate type="el" backwards="0">
                                    <p:tmAbs val="0"/>
                                  </p:iterate>
                                  <p:childTnLst>
                                    <p:set>
                                      <p:cBhvr>
                                        <p:cTn id="6" fill="hold"/>
                                        <p:tgtEl>
                                          <p:spTgt spid="222"/>
                                        </p:tgtEl>
                                        <p:attrNameLst>
                                          <p:attrName>style.visibility</p:attrName>
                                        </p:attrNameLst>
                                      </p:cBhvr>
                                      <p:to>
                                        <p:strVal val="visible"/>
                                      </p:to>
                                    </p:set>
                                    <p:anim calcmode="lin" valueType="num">
                                      <p:cBhvr>
                                        <p:cTn id="7" dur="1000" fill="hold"/>
                                        <p:tgtEl>
                                          <p:spTgt spid="222"/>
                                        </p:tgtEl>
                                        <p:attrNameLst>
                                          <p:attrName>ppt_x</p:attrName>
                                        </p:attrNameLst>
                                      </p:cBhvr>
                                      <p:tavLst>
                                        <p:tav tm="0">
                                          <p:val>
                                            <p:strVal val="0-#ppt_w/2"/>
                                          </p:val>
                                        </p:tav>
                                        <p:tav tm="100000">
                                          <p:val>
                                            <p:strVal val="#ppt_x"/>
                                          </p:val>
                                        </p:tav>
                                      </p:tavLst>
                                    </p:anim>
                                    <p:anim calcmode="lin" valueType="num">
                                      <p:cBhvr>
                                        <p:cTn id="8" dur="1000" fill="hold"/>
                                        <p:tgtEl>
                                          <p:spTgt spid="22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Subtype="8" presetID="2" grpId="2" fill="hold">
                                  <p:stCondLst>
                                    <p:cond delay="0"/>
                                  </p:stCondLst>
                                  <p:iterate type="el" backwards="0">
                                    <p:tmAbs val="0"/>
                                  </p:iterate>
                                  <p:childTnLst>
                                    <p:set>
                                      <p:cBhvr>
                                        <p:cTn id="12" fill="hold"/>
                                        <p:tgtEl>
                                          <p:spTgt spid="223"/>
                                        </p:tgtEl>
                                        <p:attrNameLst>
                                          <p:attrName>style.visibility</p:attrName>
                                        </p:attrNameLst>
                                      </p:cBhvr>
                                      <p:to>
                                        <p:strVal val="visible"/>
                                      </p:to>
                                    </p:set>
                                    <p:anim calcmode="lin" valueType="num">
                                      <p:cBhvr>
                                        <p:cTn id="13" dur="1000" fill="hold"/>
                                        <p:tgtEl>
                                          <p:spTgt spid="223"/>
                                        </p:tgtEl>
                                        <p:attrNameLst>
                                          <p:attrName>ppt_x</p:attrName>
                                        </p:attrNameLst>
                                      </p:cBhvr>
                                      <p:tavLst>
                                        <p:tav tm="0">
                                          <p:val>
                                            <p:strVal val="0-#ppt_w/2"/>
                                          </p:val>
                                        </p:tav>
                                        <p:tav tm="100000">
                                          <p:val>
                                            <p:strVal val="#ppt_x"/>
                                          </p:val>
                                        </p:tav>
                                      </p:tavLst>
                                    </p:anim>
                                    <p:anim calcmode="lin" valueType="num">
                                      <p:cBhvr>
                                        <p:cTn id="14" dur="1000" fill="hold"/>
                                        <p:tgtEl>
                                          <p:spTgt spid="22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Class="entr" nodeType="clickEffect" presetSubtype="8" presetID="2" grpId="3" fill="hold">
                                  <p:stCondLst>
                                    <p:cond delay="0"/>
                                  </p:stCondLst>
                                  <p:iterate type="el" backwards="0">
                                    <p:tmAbs val="0"/>
                                  </p:iterate>
                                  <p:childTnLst>
                                    <p:set>
                                      <p:cBhvr>
                                        <p:cTn id="18" fill="hold"/>
                                        <p:tgtEl>
                                          <p:spTgt spid="224"/>
                                        </p:tgtEl>
                                        <p:attrNameLst>
                                          <p:attrName>style.visibility</p:attrName>
                                        </p:attrNameLst>
                                      </p:cBhvr>
                                      <p:to>
                                        <p:strVal val="visible"/>
                                      </p:to>
                                    </p:set>
                                    <p:anim calcmode="lin" valueType="num">
                                      <p:cBhvr>
                                        <p:cTn id="19" dur="1000" fill="hold"/>
                                        <p:tgtEl>
                                          <p:spTgt spid="224"/>
                                        </p:tgtEl>
                                        <p:attrNameLst>
                                          <p:attrName>ppt_x</p:attrName>
                                        </p:attrNameLst>
                                      </p:cBhvr>
                                      <p:tavLst>
                                        <p:tav tm="0">
                                          <p:val>
                                            <p:strVal val="0-#ppt_w/2"/>
                                          </p:val>
                                        </p:tav>
                                        <p:tav tm="100000">
                                          <p:val>
                                            <p:strVal val="#ppt_x"/>
                                          </p:val>
                                        </p:tav>
                                      </p:tavLst>
                                    </p:anim>
                                    <p:anim calcmode="lin" valueType="num">
                                      <p:cBhvr>
                                        <p:cTn id="20" dur="1000" fill="hold"/>
                                        <p:tgtEl>
                                          <p:spTgt spid="224"/>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Class="entr" nodeType="clickEffect" presetSubtype="8" presetID="2" grpId="4" fill="hold">
                                  <p:stCondLst>
                                    <p:cond delay="0"/>
                                  </p:stCondLst>
                                  <p:iterate type="el" backwards="0">
                                    <p:tmAbs val="0"/>
                                  </p:iterate>
                                  <p:childTnLst>
                                    <p:set>
                                      <p:cBhvr>
                                        <p:cTn id="24" fill="hold"/>
                                        <p:tgtEl>
                                          <p:spTgt spid="225"/>
                                        </p:tgtEl>
                                        <p:attrNameLst>
                                          <p:attrName>style.visibility</p:attrName>
                                        </p:attrNameLst>
                                      </p:cBhvr>
                                      <p:to>
                                        <p:strVal val="visible"/>
                                      </p:to>
                                    </p:set>
                                    <p:anim calcmode="lin" valueType="num">
                                      <p:cBhvr>
                                        <p:cTn id="25" dur="1000" fill="hold"/>
                                        <p:tgtEl>
                                          <p:spTgt spid="225"/>
                                        </p:tgtEl>
                                        <p:attrNameLst>
                                          <p:attrName>ppt_x</p:attrName>
                                        </p:attrNameLst>
                                      </p:cBhvr>
                                      <p:tavLst>
                                        <p:tav tm="0">
                                          <p:val>
                                            <p:strVal val="0-#ppt_w/2"/>
                                          </p:val>
                                        </p:tav>
                                        <p:tav tm="100000">
                                          <p:val>
                                            <p:strVal val="#ppt_x"/>
                                          </p:val>
                                        </p:tav>
                                      </p:tavLst>
                                    </p:anim>
                                    <p:anim calcmode="lin" valueType="num">
                                      <p:cBhvr>
                                        <p:cTn id="26" dur="1000" fill="hold"/>
                                        <p:tgtEl>
                                          <p:spTgt spid="225"/>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Class="entr" nodeType="clickEffect" presetSubtype="8" presetID="2" grpId="5" fill="hold">
                                  <p:stCondLst>
                                    <p:cond delay="0"/>
                                  </p:stCondLst>
                                  <p:iterate type="el" backwards="0">
                                    <p:tmAbs val="0"/>
                                  </p:iterate>
                                  <p:childTnLst>
                                    <p:set>
                                      <p:cBhvr>
                                        <p:cTn id="30" fill="hold"/>
                                        <p:tgtEl>
                                          <p:spTgt spid="226"/>
                                        </p:tgtEl>
                                        <p:attrNameLst>
                                          <p:attrName>style.visibility</p:attrName>
                                        </p:attrNameLst>
                                      </p:cBhvr>
                                      <p:to>
                                        <p:strVal val="visible"/>
                                      </p:to>
                                    </p:set>
                                    <p:anim calcmode="lin" valueType="num">
                                      <p:cBhvr>
                                        <p:cTn id="31" dur="1000" fill="hold"/>
                                        <p:tgtEl>
                                          <p:spTgt spid="226"/>
                                        </p:tgtEl>
                                        <p:attrNameLst>
                                          <p:attrName>ppt_x</p:attrName>
                                        </p:attrNameLst>
                                      </p:cBhvr>
                                      <p:tavLst>
                                        <p:tav tm="0">
                                          <p:val>
                                            <p:strVal val="0-#ppt_w/2"/>
                                          </p:val>
                                        </p:tav>
                                        <p:tav tm="100000">
                                          <p:val>
                                            <p:strVal val="#ppt_x"/>
                                          </p:val>
                                        </p:tav>
                                      </p:tavLst>
                                    </p:anim>
                                    <p:anim calcmode="lin" valueType="num">
                                      <p:cBhvr>
                                        <p:cTn id="32" dur="1000" fill="hold"/>
                                        <p:tgtEl>
                                          <p:spTgt spid="226"/>
                                        </p:tgtEl>
                                        <p:attrNameLst>
                                          <p:attrName>ppt_y</p:attrName>
                                        </p:attrNameLst>
                                      </p:cBhvr>
                                      <p:tavLst>
                                        <p:tav tm="0">
                                          <p:val>
                                            <p:strVal val="#ppt_y"/>
                                          </p:val>
                                        </p:tav>
                                        <p:tav tm="100000">
                                          <p:val>
                                            <p:strVal val="#ppt_y"/>
                                          </p:val>
                                        </p:tav>
                                      </p:tavLst>
                                    </p:anim>
                                  </p:childTnLst>
                                </p:cTn>
                              </p:par>
                            </p:childTnLst>
                          </p:cTn>
                        </p:par>
                        <p:par>
                          <p:cTn id="33" fill="hold">
                            <p:stCondLst>
                              <p:cond delay="1000"/>
                            </p:stCondLst>
                            <p:childTnLst>
                              <p:par>
                                <p:cTn id="34" presetClass="entr" nodeType="afterEffect" presetID="9" grpId="6" fill="hold">
                                  <p:stCondLst>
                                    <p:cond delay="0"/>
                                  </p:stCondLst>
                                  <p:iterate type="el" backwards="0">
                                    <p:tmAbs val="0"/>
                                  </p:iterate>
                                  <p:childTnLst>
                                    <p:set>
                                      <p:cBhvr>
                                        <p:cTn id="35" fill="hold"/>
                                        <p:tgtEl>
                                          <p:spTgt spid="228"/>
                                        </p:tgtEl>
                                        <p:attrNameLst>
                                          <p:attrName>style.visibility</p:attrName>
                                        </p:attrNameLst>
                                      </p:cBhvr>
                                      <p:to>
                                        <p:strVal val="visible"/>
                                      </p:to>
                                    </p:set>
                                    <p:animEffect filter="dissolve" transition="in">
                                      <p:cBhvr>
                                        <p:cTn id="36" dur="2000"/>
                                        <p:tgtEl>
                                          <p:spTgt spid="228"/>
                                        </p:tgtEl>
                                      </p:cBhvr>
                                    </p:animEffect>
                                  </p:childTnLst>
                                </p:cTn>
                              </p:par>
                            </p:childTnLst>
                          </p:cTn>
                        </p:par>
                      </p:childTnLst>
                    </p:cTn>
                  </p:par>
                  <p:par>
                    <p:cTn id="37" fill="hold">
                      <p:stCondLst>
                        <p:cond delay="indefinite"/>
                      </p:stCondLst>
                      <p:childTnLst>
                        <p:par>
                          <p:cTn id="38" fill="hold">
                            <p:stCondLst>
                              <p:cond delay="0"/>
                            </p:stCondLst>
                            <p:childTnLst>
                              <p:par>
                                <p:cTn id="39" presetClass="entr" nodeType="clickEffect" presetSubtype="8" presetID="2" grpId="7" fill="hold">
                                  <p:stCondLst>
                                    <p:cond delay="0"/>
                                  </p:stCondLst>
                                  <p:iterate type="el" backwards="0">
                                    <p:tmAbs val="0"/>
                                  </p:iterate>
                                  <p:childTnLst>
                                    <p:set>
                                      <p:cBhvr>
                                        <p:cTn id="40" fill="hold"/>
                                        <p:tgtEl>
                                          <p:spTgt spid="227"/>
                                        </p:tgtEl>
                                        <p:attrNameLst>
                                          <p:attrName>style.visibility</p:attrName>
                                        </p:attrNameLst>
                                      </p:cBhvr>
                                      <p:to>
                                        <p:strVal val="visible"/>
                                      </p:to>
                                    </p:set>
                                    <p:anim calcmode="lin" valueType="num">
                                      <p:cBhvr>
                                        <p:cTn id="41" dur="1000" fill="hold"/>
                                        <p:tgtEl>
                                          <p:spTgt spid="227"/>
                                        </p:tgtEl>
                                        <p:attrNameLst>
                                          <p:attrName>ppt_x</p:attrName>
                                        </p:attrNameLst>
                                      </p:cBhvr>
                                      <p:tavLst>
                                        <p:tav tm="0">
                                          <p:val>
                                            <p:strVal val="0-#ppt_w/2"/>
                                          </p:val>
                                        </p:tav>
                                        <p:tav tm="100000">
                                          <p:val>
                                            <p:strVal val="#ppt_x"/>
                                          </p:val>
                                        </p:tav>
                                      </p:tavLst>
                                    </p:anim>
                                    <p:anim calcmode="lin" valueType="num">
                                      <p:cBhvr>
                                        <p:cTn id="42" dur="1000" fill="hold"/>
                                        <p:tgtEl>
                                          <p:spTgt spid="227"/>
                                        </p:tgtEl>
                                        <p:attrNameLst>
                                          <p:attrName>ppt_y</p:attrName>
                                        </p:attrNameLst>
                                      </p:cBhvr>
                                      <p:tavLst>
                                        <p:tav tm="0">
                                          <p:val>
                                            <p:strVal val="#ppt_y"/>
                                          </p:val>
                                        </p:tav>
                                        <p:tav tm="100000">
                                          <p:val>
                                            <p:strVal val="#ppt_y"/>
                                          </p:val>
                                        </p:tav>
                                      </p:tavLst>
                                    </p:anim>
                                  </p:childTnLst>
                                </p:cTn>
                              </p:par>
                            </p:childTnLst>
                          </p:cTn>
                        </p:par>
                        <p:par>
                          <p:cTn id="43" fill="hold">
                            <p:stCondLst>
                              <p:cond delay="1000"/>
                            </p:stCondLst>
                            <p:childTnLst>
                              <p:par>
                                <p:cTn id="44" presetClass="entr" nodeType="afterEffect" presetID="9" grpId="8" fill="hold">
                                  <p:stCondLst>
                                    <p:cond delay="0"/>
                                  </p:stCondLst>
                                  <p:iterate type="el" backwards="0">
                                    <p:tmAbs val="0"/>
                                  </p:iterate>
                                  <p:childTnLst>
                                    <p:set>
                                      <p:cBhvr>
                                        <p:cTn id="45" fill="hold"/>
                                        <p:tgtEl>
                                          <p:spTgt spid="230"/>
                                        </p:tgtEl>
                                        <p:attrNameLst>
                                          <p:attrName>style.visibility</p:attrName>
                                        </p:attrNameLst>
                                      </p:cBhvr>
                                      <p:to>
                                        <p:strVal val="visible"/>
                                      </p:to>
                                    </p:set>
                                    <p:animEffect filter="dissolve" transition="in">
                                      <p:cBhvr>
                                        <p:cTn id="46" dur="2000"/>
                                        <p:tgtEl>
                                          <p:spTgt spid="2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23" grpId="2"/>
      <p:bldP build="whole" bldLvl="1" animBg="1" rev="0" advAuto="0" spid="228" grpId="6"/>
      <p:bldP build="whole" bldLvl="1" animBg="1" rev="0" advAuto="0" spid="222" grpId="1"/>
      <p:bldP build="whole" bldLvl="1" animBg="1" rev="0" advAuto="0" spid="224" grpId="3"/>
      <p:bldP build="whole" bldLvl="1" animBg="1" rev="0" advAuto="0" spid="227" grpId="7"/>
      <p:bldP build="whole" bldLvl="1" animBg="1" rev="0" advAuto="0" spid="226" grpId="5"/>
      <p:bldP build="whole" bldLvl="1" animBg="1" rev="0" advAuto="0" spid="225" grpId="4"/>
      <p:bldP build="whole" bldLvl="1" animBg="1" rev="0" advAuto="0" spid="230" grpId="8"/>
    </p:bldLst>
  </p:timing>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3"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234" name="Blestemul dimensionalității"/>
          <p:cNvSpPr txBox="1"/>
          <p:nvPr/>
        </p:nvSpPr>
        <p:spPr>
          <a:xfrm>
            <a:off x="5698418" y="739876"/>
            <a:ext cx="12391949" cy="175425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8700">
                <a:latin typeface="Canela Regular"/>
                <a:ea typeface="Canela Regular"/>
                <a:cs typeface="Canela Regular"/>
                <a:sym typeface="Canela Regular"/>
              </a:defRPr>
            </a:lvl1pPr>
          </a:lstStyle>
          <a:p>
            <a:pPr/>
            <a:r>
              <a:t>Blestemul dimensionalității</a:t>
            </a:r>
          </a:p>
        </p:txBody>
      </p:sp>
      <p:sp>
        <p:nvSpPr>
          <p:cNvPr id="235" name="„Frica punctelor de a fi izolate în spațiu”"/>
          <p:cNvSpPr txBox="1"/>
          <p:nvPr/>
        </p:nvSpPr>
        <p:spPr>
          <a:xfrm>
            <a:off x="1348483" y="5318394"/>
            <a:ext cx="21091818" cy="1880490"/>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9300"/>
            </a:lvl1pPr>
          </a:lstStyle>
          <a:p>
            <a:pPr/>
            <a:r>
              <a:t>„Frica punctelor de a fi izolate în spațiu”</a:t>
            </a:r>
          </a:p>
        </p:txBody>
      </p:sp>
      <p:sp>
        <p:nvSpPr>
          <p:cNvPr id="236" name="- Cassie Kozyrkhov, Google"/>
          <p:cNvSpPr txBox="1"/>
          <p:nvPr/>
        </p:nvSpPr>
        <p:spPr>
          <a:xfrm>
            <a:off x="15454293" y="7210020"/>
            <a:ext cx="6894222"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 Cassie Kozyrkhov, Google</a:t>
            </a:r>
          </a:p>
        </p:txBody>
      </p:sp>
    </p:spTree>
  </p:cSld>
  <p:clrMapOvr>
    <a:masterClrMapping/>
  </p:clrMapOvr>
  <mc:AlternateContent xmlns:mc="http://schemas.openxmlformats.org/markup-compatibility/2006">
    <mc:Choice xmlns:p14="http://schemas.microsoft.com/office/powerpoint/2010/main" Requires="p14">
      <p:transition spd="slow" advClick="1" p14:dur="1200">
        <p:blinds dir="ver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10" presetID="19" grpId="1" fill="hold">
                                  <p:stCondLst>
                                    <p:cond delay="0"/>
                                  </p:stCondLst>
                                  <p:iterate type="lt" backwards="0">
                                    <p:tmAbs val="0"/>
                                  </p:iterate>
                                  <p:childTnLst>
                                    <p:set>
                                      <p:cBhvr>
                                        <p:cTn id="6" fill="hold"/>
                                        <p:tgtEl>
                                          <p:spTgt spid="235"/>
                                        </p:tgtEl>
                                        <p:attrNameLst>
                                          <p:attrName>style.visibility</p:attrName>
                                        </p:attrNameLst>
                                      </p:cBhvr>
                                      <p:to>
                                        <p:strVal val="visible"/>
                                      </p:to>
                                    </p:set>
                                    <p:anim calcmode="lin" valueType="num">
                                      <p:cBhvr>
                                        <p:cTn id="7" dur="500" fill="hold"/>
                                        <p:tgtEl>
                                          <p:spTgt spid="235"/>
                                        </p:tgtEl>
                                        <p:attrNameLst>
                                          <p:attrName>ppt_w</p:attrName>
                                        </p:attrNameLst>
                                      </p:cBhvr>
                                      <p:tavLst>
                                        <p:tav tm="0" fmla="#ppt_w*sin(2.5*pi*$)">
                                          <p:val>
                                            <p:fltVal val="0"/>
                                          </p:val>
                                        </p:tav>
                                        <p:tav tm="100000">
                                          <p:val>
                                            <p:fltVal val="1"/>
                                          </p:val>
                                        </p:tav>
                                      </p:tavLst>
                                    </p:anim>
                                    <p:anim calcmode="lin" valueType="num">
                                      <p:cBhvr>
                                        <p:cTn id="8" dur="500" fill="hold"/>
                                        <p:tgtEl>
                                          <p:spTgt spid="235"/>
                                        </p:tgtEl>
                                        <p:attrNameLst>
                                          <p:attrName>ppt_h</p:attrName>
                                        </p:attrNameLst>
                                      </p:cBhvr>
                                      <p:tavLst>
                                        <p:tav tm="0">
                                          <p:val>
                                            <p:strVal val="#ppt_h"/>
                                          </p:val>
                                        </p:tav>
                                        <p:tav tm="100000">
                                          <p:val>
                                            <p:strVal val="#ppt_h"/>
                                          </p:val>
                                        </p:tav>
                                      </p:tavLst>
                                    </p:anim>
                                  </p:childTnLst>
                                </p:cTn>
                              </p:par>
                            </p:childTnLst>
                          </p:cTn>
                        </p:par>
                        <p:par>
                          <p:cTn id="9" fill="hold">
                            <p:stCondLst>
                              <p:cond delay="500"/>
                            </p:stCondLst>
                            <p:childTnLst>
                              <p:par>
                                <p:cTn id="10" presetClass="entr" nodeType="afterEffect" presetSubtype="8" presetID="2" grpId="2" fill="hold">
                                  <p:stCondLst>
                                    <p:cond delay="0"/>
                                  </p:stCondLst>
                                  <p:iterate type="el" backwards="0">
                                    <p:tmAbs val="0"/>
                                  </p:iterate>
                                  <p:childTnLst>
                                    <p:set>
                                      <p:cBhvr>
                                        <p:cTn id="11" fill="hold"/>
                                        <p:tgtEl>
                                          <p:spTgt spid="236"/>
                                        </p:tgtEl>
                                        <p:attrNameLst>
                                          <p:attrName>style.visibility</p:attrName>
                                        </p:attrNameLst>
                                      </p:cBhvr>
                                      <p:to>
                                        <p:strVal val="visible"/>
                                      </p:to>
                                    </p:set>
                                    <p:anim calcmode="lin" valueType="num">
                                      <p:cBhvr>
                                        <p:cTn id="12" dur="1000" fill="hold"/>
                                        <p:tgtEl>
                                          <p:spTgt spid="236"/>
                                        </p:tgtEl>
                                        <p:attrNameLst>
                                          <p:attrName>ppt_x</p:attrName>
                                        </p:attrNameLst>
                                      </p:cBhvr>
                                      <p:tavLst>
                                        <p:tav tm="0">
                                          <p:val>
                                            <p:strVal val="0-#ppt_w/2"/>
                                          </p:val>
                                        </p:tav>
                                        <p:tav tm="100000">
                                          <p:val>
                                            <p:strVal val="#ppt_x"/>
                                          </p:val>
                                        </p:tav>
                                      </p:tavLst>
                                    </p:anim>
                                    <p:anim calcmode="lin" valueType="num">
                                      <p:cBhvr>
                                        <p:cTn id="13" dur="1000" fill="hold"/>
                                        <p:tgtEl>
                                          <p:spTgt spid="23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36" grpId="2"/>
      <p:bldP build="whole" bldLvl="1" animBg="1" rev="0" advAuto="0" spid="235" grpId="1"/>
    </p:bldLst>
  </p:timing>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8"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239" name="Blestemul dimensionalității"/>
          <p:cNvSpPr txBox="1"/>
          <p:nvPr/>
        </p:nvSpPr>
        <p:spPr>
          <a:xfrm>
            <a:off x="5698418" y="739876"/>
            <a:ext cx="12391949" cy="175425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8700">
                <a:latin typeface="Canela Regular"/>
                <a:ea typeface="Canela Regular"/>
                <a:cs typeface="Canela Regular"/>
                <a:sym typeface="Canela Regular"/>
              </a:defRPr>
            </a:lvl1pPr>
          </a:lstStyle>
          <a:p>
            <a:pPr/>
            <a:r>
              <a:t>Blestemul dimensionalității</a:t>
            </a:r>
          </a:p>
        </p:txBody>
      </p:sp>
      <p:sp>
        <p:nvSpPr>
          <p:cNvPr id="240" name="În general, sunt două tipuri mari și late:"/>
          <p:cNvSpPr txBox="1"/>
          <p:nvPr>
            <p:ph type="body" sz="quarter" idx="1"/>
          </p:nvPr>
        </p:nvSpPr>
        <p:spPr>
          <a:xfrm>
            <a:off x="377927" y="3215727"/>
            <a:ext cx="21948579" cy="1201433"/>
          </a:xfrm>
          <a:prstGeom prst="rect">
            <a:avLst/>
          </a:prstGeom>
        </p:spPr>
        <p:txBody>
          <a:bodyPr/>
          <a:lstStyle/>
          <a:p>
            <a:pPr/>
            <a:r>
              <a:t>În dimensiuni mari, majoritatea caracteristicilor sunt irelevante sau zgomot. </a:t>
            </a:r>
          </a:p>
        </p:txBody>
      </p:sp>
      <p:sp>
        <p:nvSpPr>
          <p:cNvPr id="241" name="În general, sunt două tipuri mari și late:"/>
          <p:cNvSpPr txBox="1"/>
          <p:nvPr/>
        </p:nvSpPr>
        <p:spPr>
          <a:xfrm>
            <a:off x="377927" y="4414115"/>
            <a:ext cx="21948579" cy="200660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Asta face ca algoritmii să „învețe” modele care nu generalizează bine pe date noi, ci doar se potrivesc pe datele de antrenament, adică care fac overfitting.</a:t>
            </a:r>
          </a:p>
        </p:txBody>
      </p:sp>
      <p:sp>
        <p:nvSpPr>
          <p:cNvPr id="242" name="În general, sunt două tipuri mari și late:"/>
          <p:cNvSpPr txBox="1"/>
          <p:nvPr/>
        </p:nvSpPr>
        <p:spPr>
          <a:xfrm>
            <a:off x="377927" y="6366443"/>
            <a:ext cx="21948579" cy="200660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 Mai mult, e dificil să avem un număr suficient de date pentru a acoperi un spațiu cu multe dimensiuni.</a:t>
            </a:r>
          </a:p>
        </p:txBody>
      </p:sp>
      <p:sp>
        <p:nvSpPr>
          <p:cNvPr id="243" name="În general, sunt două tipuri mari și late:"/>
          <p:cNvSpPr txBox="1"/>
          <p:nvPr/>
        </p:nvSpPr>
        <p:spPr>
          <a:xfrm>
            <a:off x="377927" y="8340703"/>
            <a:ext cx="21948579" cy="200660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Așa că algoritmii ajung să învețe pe fragmente mici, nefiind capabili să construiască o înțelegere completă a datelor.</a:t>
            </a:r>
          </a:p>
        </p:txBody>
      </p:sp>
      <p:sp>
        <p:nvSpPr>
          <p:cNvPr id="244" name="În general, sunt două tipuri mari și late:"/>
          <p:cNvSpPr txBox="1"/>
          <p:nvPr/>
        </p:nvSpPr>
        <p:spPr>
          <a:xfrm>
            <a:off x="377927" y="10471596"/>
            <a:ext cx="21948579" cy="200660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486029" indent="-486029" defTabSz="2170120">
              <a:spcBef>
                <a:spcPts val="2100"/>
              </a:spcBef>
              <a:buSzPct val="150000"/>
              <a:buChar char="•"/>
              <a:defRPr sz="3916">
                <a:latin typeface="Canela Text Regular"/>
                <a:ea typeface="Canela Text Regular"/>
                <a:cs typeface="Canela Text Regular"/>
                <a:sym typeface="Canela Text Regular"/>
              </a:defRPr>
            </a:lvl1pPr>
          </a:lstStyle>
          <a:p>
            <a:pPr/>
            <a:r>
              <a:t>Pe măsură ce cresc dimensiunile, crește și complexitatea de calcul. Algoritmii care ar funcționa rapid în 2D sau 3D devin foarte lenți în 10D sau 100D, uneori imposibil de utilizat la scara asta.</a:t>
            </a:r>
          </a:p>
        </p:txBody>
      </p:sp>
      <p:pic>
        <p:nvPicPr>
          <p:cNvPr id="245" name="Linie Linie" descr="Linie Linie"/>
          <p:cNvPicPr>
            <a:picLocks noChangeAspect="0"/>
          </p:cNvPicPr>
          <p:nvPr/>
        </p:nvPicPr>
        <p:blipFill>
          <a:blip r:embed="rId2">
            <a:extLst/>
          </a:blip>
          <a:stretch>
            <a:fillRect/>
          </a:stretch>
        </p:blipFill>
        <p:spPr>
          <a:xfrm>
            <a:off x="14025945" y="4026530"/>
            <a:ext cx="5897537" cy="101601"/>
          </a:xfrm>
          <a:prstGeom prst="rect">
            <a:avLst/>
          </a:prstGeom>
        </p:spPr>
      </p:pic>
      <p:pic>
        <p:nvPicPr>
          <p:cNvPr id="247" name="Linie Linie" descr="Linie Linie"/>
          <p:cNvPicPr>
            <a:picLocks noChangeAspect="0"/>
          </p:cNvPicPr>
          <p:nvPr/>
        </p:nvPicPr>
        <p:blipFill>
          <a:blip r:embed="rId3">
            <a:extLst/>
          </a:blip>
          <a:stretch>
            <a:fillRect/>
          </a:stretch>
        </p:blipFill>
        <p:spPr>
          <a:xfrm>
            <a:off x="15712389" y="5951060"/>
            <a:ext cx="3076670" cy="101601"/>
          </a:xfrm>
          <a:prstGeom prst="rect">
            <a:avLst/>
          </a:prstGeom>
        </p:spPr>
      </p:pic>
      <p:pic>
        <p:nvPicPr>
          <p:cNvPr id="249" name="Linie Linie" descr="Linie Linie"/>
          <p:cNvPicPr>
            <a:picLocks noChangeAspect="0"/>
          </p:cNvPicPr>
          <p:nvPr/>
        </p:nvPicPr>
        <p:blipFill>
          <a:blip r:embed="rId4">
            <a:extLst/>
          </a:blip>
          <a:stretch>
            <a:fillRect/>
          </a:stretch>
        </p:blipFill>
        <p:spPr>
          <a:xfrm>
            <a:off x="1506577" y="9919165"/>
            <a:ext cx="5101607" cy="101601"/>
          </a:xfrm>
          <a:prstGeom prst="rect">
            <a:avLst/>
          </a:prstGeom>
        </p:spPr>
      </p:pic>
      <p:pic>
        <p:nvPicPr>
          <p:cNvPr id="251" name="Linie Linie" descr="Linie Linie"/>
          <p:cNvPicPr>
            <a:picLocks noChangeAspect="0"/>
          </p:cNvPicPr>
          <p:nvPr/>
        </p:nvPicPr>
        <p:blipFill>
          <a:blip r:embed="rId5">
            <a:extLst/>
          </a:blip>
          <a:stretch>
            <a:fillRect/>
          </a:stretch>
        </p:blipFill>
        <p:spPr>
          <a:xfrm>
            <a:off x="8172992" y="11169117"/>
            <a:ext cx="7442800" cy="10160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8" presetID="2" grpId="1" fill="hold">
                                  <p:stCondLst>
                                    <p:cond delay="0"/>
                                  </p:stCondLst>
                                  <p:iterate type="el" backwards="0">
                                    <p:tmAbs val="0"/>
                                  </p:iterate>
                                  <p:childTnLst>
                                    <p:set>
                                      <p:cBhvr>
                                        <p:cTn id="6" fill="hold"/>
                                        <p:tgtEl>
                                          <p:spTgt spid="240"/>
                                        </p:tgtEl>
                                        <p:attrNameLst>
                                          <p:attrName>style.visibility</p:attrName>
                                        </p:attrNameLst>
                                      </p:cBhvr>
                                      <p:to>
                                        <p:strVal val="visible"/>
                                      </p:to>
                                    </p:set>
                                    <p:anim calcmode="lin" valueType="num">
                                      <p:cBhvr>
                                        <p:cTn id="7" dur="1000" fill="hold"/>
                                        <p:tgtEl>
                                          <p:spTgt spid="240"/>
                                        </p:tgtEl>
                                        <p:attrNameLst>
                                          <p:attrName>ppt_x</p:attrName>
                                        </p:attrNameLst>
                                      </p:cBhvr>
                                      <p:tavLst>
                                        <p:tav tm="0">
                                          <p:val>
                                            <p:strVal val="0-#ppt_w/2"/>
                                          </p:val>
                                        </p:tav>
                                        <p:tav tm="100000">
                                          <p:val>
                                            <p:strVal val="#ppt_x"/>
                                          </p:val>
                                        </p:tav>
                                      </p:tavLst>
                                    </p:anim>
                                    <p:anim calcmode="lin" valueType="num">
                                      <p:cBhvr>
                                        <p:cTn id="8" dur="1000" fill="hold"/>
                                        <p:tgtEl>
                                          <p:spTgt spid="240"/>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Class="entr" nodeType="afterEffect" presetID="9" grpId="2" fill="hold">
                                  <p:stCondLst>
                                    <p:cond delay="0"/>
                                  </p:stCondLst>
                                  <p:iterate type="el" backwards="0">
                                    <p:tmAbs val="0"/>
                                  </p:iterate>
                                  <p:childTnLst>
                                    <p:set>
                                      <p:cBhvr>
                                        <p:cTn id="11" fill="hold"/>
                                        <p:tgtEl>
                                          <p:spTgt spid="245"/>
                                        </p:tgtEl>
                                        <p:attrNameLst>
                                          <p:attrName>style.visibility</p:attrName>
                                        </p:attrNameLst>
                                      </p:cBhvr>
                                      <p:to>
                                        <p:strVal val="visible"/>
                                      </p:to>
                                    </p:set>
                                    <p:animEffect filter="dissolve" transition="in">
                                      <p:cBhvr>
                                        <p:cTn id="12" dur="2000"/>
                                        <p:tgtEl>
                                          <p:spTgt spid="245"/>
                                        </p:tgtEl>
                                      </p:cBhvr>
                                    </p:animEffect>
                                  </p:childTnLst>
                                </p:cTn>
                              </p:par>
                            </p:childTnLst>
                          </p:cTn>
                        </p:par>
                      </p:childTnLst>
                    </p:cTn>
                  </p:par>
                  <p:par>
                    <p:cTn id="13" fill="hold">
                      <p:stCondLst>
                        <p:cond delay="indefinite"/>
                      </p:stCondLst>
                      <p:childTnLst>
                        <p:par>
                          <p:cTn id="14" fill="hold">
                            <p:stCondLst>
                              <p:cond delay="0"/>
                            </p:stCondLst>
                            <p:childTnLst>
                              <p:par>
                                <p:cTn id="15" presetClass="entr" nodeType="clickEffect" presetSubtype="8" presetID="2" grpId="3" fill="hold">
                                  <p:stCondLst>
                                    <p:cond delay="0"/>
                                  </p:stCondLst>
                                  <p:iterate type="el" backwards="0">
                                    <p:tmAbs val="0"/>
                                  </p:iterate>
                                  <p:childTnLst>
                                    <p:set>
                                      <p:cBhvr>
                                        <p:cTn id="16" fill="hold"/>
                                        <p:tgtEl>
                                          <p:spTgt spid="241"/>
                                        </p:tgtEl>
                                        <p:attrNameLst>
                                          <p:attrName>style.visibility</p:attrName>
                                        </p:attrNameLst>
                                      </p:cBhvr>
                                      <p:to>
                                        <p:strVal val="visible"/>
                                      </p:to>
                                    </p:set>
                                    <p:anim calcmode="lin" valueType="num">
                                      <p:cBhvr>
                                        <p:cTn id="17" dur="1000" fill="hold"/>
                                        <p:tgtEl>
                                          <p:spTgt spid="241"/>
                                        </p:tgtEl>
                                        <p:attrNameLst>
                                          <p:attrName>ppt_x</p:attrName>
                                        </p:attrNameLst>
                                      </p:cBhvr>
                                      <p:tavLst>
                                        <p:tav tm="0">
                                          <p:val>
                                            <p:strVal val="0-#ppt_w/2"/>
                                          </p:val>
                                        </p:tav>
                                        <p:tav tm="100000">
                                          <p:val>
                                            <p:strVal val="#ppt_x"/>
                                          </p:val>
                                        </p:tav>
                                      </p:tavLst>
                                    </p:anim>
                                    <p:anim calcmode="lin" valueType="num">
                                      <p:cBhvr>
                                        <p:cTn id="18" dur="1000" fill="hold"/>
                                        <p:tgtEl>
                                          <p:spTgt spid="241"/>
                                        </p:tgtEl>
                                        <p:attrNameLst>
                                          <p:attrName>ppt_y</p:attrName>
                                        </p:attrNameLst>
                                      </p:cBhvr>
                                      <p:tavLst>
                                        <p:tav tm="0">
                                          <p:val>
                                            <p:strVal val="#ppt_y"/>
                                          </p:val>
                                        </p:tav>
                                        <p:tav tm="100000">
                                          <p:val>
                                            <p:strVal val="#ppt_y"/>
                                          </p:val>
                                        </p:tav>
                                      </p:tavLst>
                                    </p:anim>
                                  </p:childTnLst>
                                </p:cTn>
                              </p:par>
                            </p:childTnLst>
                          </p:cTn>
                        </p:par>
                        <p:par>
                          <p:cTn id="19" fill="hold">
                            <p:stCondLst>
                              <p:cond delay="1000"/>
                            </p:stCondLst>
                            <p:childTnLst>
                              <p:par>
                                <p:cTn id="20" presetClass="entr" nodeType="afterEffect" presetID="9" grpId="4" fill="hold">
                                  <p:stCondLst>
                                    <p:cond delay="0"/>
                                  </p:stCondLst>
                                  <p:iterate type="el" backwards="0">
                                    <p:tmAbs val="0"/>
                                  </p:iterate>
                                  <p:childTnLst>
                                    <p:set>
                                      <p:cBhvr>
                                        <p:cTn id="21" fill="hold"/>
                                        <p:tgtEl>
                                          <p:spTgt spid="247"/>
                                        </p:tgtEl>
                                        <p:attrNameLst>
                                          <p:attrName>style.visibility</p:attrName>
                                        </p:attrNameLst>
                                      </p:cBhvr>
                                      <p:to>
                                        <p:strVal val="visible"/>
                                      </p:to>
                                    </p:set>
                                    <p:animEffect filter="dissolve" transition="in">
                                      <p:cBhvr>
                                        <p:cTn id="22" dur="2000"/>
                                        <p:tgtEl>
                                          <p:spTgt spid="247"/>
                                        </p:tgtEl>
                                      </p:cBhvr>
                                    </p:animEffect>
                                  </p:childTnLst>
                                </p:cTn>
                              </p:par>
                            </p:childTnLst>
                          </p:cTn>
                        </p:par>
                      </p:childTnLst>
                    </p:cTn>
                  </p:par>
                  <p:par>
                    <p:cTn id="23" fill="hold">
                      <p:stCondLst>
                        <p:cond delay="indefinite"/>
                      </p:stCondLst>
                      <p:childTnLst>
                        <p:par>
                          <p:cTn id="24" fill="hold">
                            <p:stCondLst>
                              <p:cond delay="0"/>
                            </p:stCondLst>
                            <p:childTnLst>
                              <p:par>
                                <p:cTn id="25" presetClass="entr" nodeType="clickEffect" presetSubtype="8" presetID="2" grpId="5" fill="hold">
                                  <p:stCondLst>
                                    <p:cond delay="0"/>
                                  </p:stCondLst>
                                  <p:iterate type="el" backwards="0">
                                    <p:tmAbs val="0"/>
                                  </p:iterate>
                                  <p:childTnLst>
                                    <p:set>
                                      <p:cBhvr>
                                        <p:cTn id="26" fill="hold"/>
                                        <p:tgtEl>
                                          <p:spTgt spid="242"/>
                                        </p:tgtEl>
                                        <p:attrNameLst>
                                          <p:attrName>style.visibility</p:attrName>
                                        </p:attrNameLst>
                                      </p:cBhvr>
                                      <p:to>
                                        <p:strVal val="visible"/>
                                      </p:to>
                                    </p:set>
                                    <p:anim calcmode="lin" valueType="num">
                                      <p:cBhvr>
                                        <p:cTn id="27" dur="1000" fill="hold"/>
                                        <p:tgtEl>
                                          <p:spTgt spid="242"/>
                                        </p:tgtEl>
                                        <p:attrNameLst>
                                          <p:attrName>ppt_x</p:attrName>
                                        </p:attrNameLst>
                                      </p:cBhvr>
                                      <p:tavLst>
                                        <p:tav tm="0">
                                          <p:val>
                                            <p:strVal val="0-#ppt_w/2"/>
                                          </p:val>
                                        </p:tav>
                                        <p:tav tm="100000">
                                          <p:val>
                                            <p:strVal val="#ppt_x"/>
                                          </p:val>
                                        </p:tav>
                                      </p:tavLst>
                                    </p:anim>
                                    <p:anim calcmode="lin" valueType="num">
                                      <p:cBhvr>
                                        <p:cTn id="28" dur="1000" fill="hold"/>
                                        <p:tgtEl>
                                          <p:spTgt spid="242"/>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Class="entr" nodeType="clickEffect" presetSubtype="8" presetID="2" grpId="6" fill="hold">
                                  <p:stCondLst>
                                    <p:cond delay="0"/>
                                  </p:stCondLst>
                                  <p:iterate type="el" backwards="0">
                                    <p:tmAbs val="0"/>
                                  </p:iterate>
                                  <p:childTnLst>
                                    <p:set>
                                      <p:cBhvr>
                                        <p:cTn id="32" fill="hold"/>
                                        <p:tgtEl>
                                          <p:spTgt spid="243"/>
                                        </p:tgtEl>
                                        <p:attrNameLst>
                                          <p:attrName>style.visibility</p:attrName>
                                        </p:attrNameLst>
                                      </p:cBhvr>
                                      <p:to>
                                        <p:strVal val="visible"/>
                                      </p:to>
                                    </p:set>
                                    <p:anim calcmode="lin" valueType="num">
                                      <p:cBhvr>
                                        <p:cTn id="33" dur="1000" fill="hold"/>
                                        <p:tgtEl>
                                          <p:spTgt spid="243"/>
                                        </p:tgtEl>
                                        <p:attrNameLst>
                                          <p:attrName>ppt_x</p:attrName>
                                        </p:attrNameLst>
                                      </p:cBhvr>
                                      <p:tavLst>
                                        <p:tav tm="0">
                                          <p:val>
                                            <p:strVal val="0-#ppt_w/2"/>
                                          </p:val>
                                        </p:tav>
                                        <p:tav tm="100000">
                                          <p:val>
                                            <p:strVal val="#ppt_x"/>
                                          </p:val>
                                        </p:tav>
                                      </p:tavLst>
                                    </p:anim>
                                    <p:anim calcmode="lin" valueType="num">
                                      <p:cBhvr>
                                        <p:cTn id="34" dur="1000" fill="hold"/>
                                        <p:tgtEl>
                                          <p:spTgt spid="243"/>
                                        </p:tgtEl>
                                        <p:attrNameLst>
                                          <p:attrName>ppt_y</p:attrName>
                                        </p:attrNameLst>
                                      </p:cBhvr>
                                      <p:tavLst>
                                        <p:tav tm="0">
                                          <p:val>
                                            <p:strVal val="#ppt_y"/>
                                          </p:val>
                                        </p:tav>
                                        <p:tav tm="100000">
                                          <p:val>
                                            <p:strVal val="#ppt_y"/>
                                          </p:val>
                                        </p:tav>
                                      </p:tavLst>
                                    </p:anim>
                                  </p:childTnLst>
                                </p:cTn>
                              </p:par>
                            </p:childTnLst>
                          </p:cTn>
                        </p:par>
                        <p:par>
                          <p:cTn id="35" fill="hold">
                            <p:stCondLst>
                              <p:cond delay="1000"/>
                            </p:stCondLst>
                            <p:childTnLst>
                              <p:par>
                                <p:cTn id="36" presetClass="entr" nodeType="afterEffect" presetID="9" grpId="7" fill="hold">
                                  <p:stCondLst>
                                    <p:cond delay="0"/>
                                  </p:stCondLst>
                                  <p:iterate type="el" backwards="0">
                                    <p:tmAbs val="0"/>
                                  </p:iterate>
                                  <p:childTnLst>
                                    <p:set>
                                      <p:cBhvr>
                                        <p:cTn id="37" fill="hold"/>
                                        <p:tgtEl>
                                          <p:spTgt spid="249"/>
                                        </p:tgtEl>
                                        <p:attrNameLst>
                                          <p:attrName>style.visibility</p:attrName>
                                        </p:attrNameLst>
                                      </p:cBhvr>
                                      <p:to>
                                        <p:strVal val="visible"/>
                                      </p:to>
                                    </p:set>
                                    <p:animEffect filter="dissolve" transition="in">
                                      <p:cBhvr>
                                        <p:cTn id="38" dur="2000"/>
                                        <p:tgtEl>
                                          <p:spTgt spid="249"/>
                                        </p:tgtEl>
                                      </p:cBhvr>
                                    </p:animEffect>
                                  </p:childTnLst>
                                </p:cTn>
                              </p:par>
                            </p:childTnLst>
                          </p:cTn>
                        </p:par>
                      </p:childTnLst>
                    </p:cTn>
                  </p:par>
                  <p:par>
                    <p:cTn id="39" fill="hold">
                      <p:stCondLst>
                        <p:cond delay="indefinite"/>
                      </p:stCondLst>
                      <p:childTnLst>
                        <p:par>
                          <p:cTn id="40" fill="hold">
                            <p:stCondLst>
                              <p:cond delay="0"/>
                            </p:stCondLst>
                            <p:childTnLst>
                              <p:par>
                                <p:cTn id="41" presetClass="entr" nodeType="clickEffect" presetSubtype="8" presetID="2" grpId="8" fill="hold">
                                  <p:stCondLst>
                                    <p:cond delay="0"/>
                                  </p:stCondLst>
                                  <p:iterate type="el" backwards="0">
                                    <p:tmAbs val="0"/>
                                  </p:iterate>
                                  <p:childTnLst>
                                    <p:set>
                                      <p:cBhvr>
                                        <p:cTn id="42" fill="hold"/>
                                        <p:tgtEl>
                                          <p:spTgt spid="244"/>
                                        </p:tgtEl>
                                        <p:attrNameLst>
                                          <p:attrName>style.visibility</p:attrName>
                                        </p:attrNameLst>
                                      </p:cBhvr>
                                      <p:to>
                                        <p:strVal val="visible"/>
                                      </p:to>
                                    </p:set>
                                    <p:anim calcmode="lin" valueType="num">
                                      <p:cBhvr>
                                        <p:cTn id="43" dur="1000" fill="hold"/>
                                        <p:tgtEl>
                                          <p:spTgt spid="244"/>
                                        </p:tgtEl>
                                        <p:attrNameLst>
                                          <p:attrName>ppt_x</p:attrName>
                                        </p:attrNameLst>
                                      </p:cBhvr>
                                      <p:tavLst>
                                        <p:tav tm="0">
                                          <p:val>
                                            <p:strVal val="0-#ppt_w/2"/>
                                          </p:val>
                                        </p:tav>
                                        <p:tav tm="100000">
                                          <p:val>
                                            <p:strVal val="#ppt_x"/>
                                          </p:val>
                                        </p:tav>
                                      </p:tavLst>
                                    </p:anim>
                                    <p:anim calcmode="lin" valueType="num">
                                      <p:cBhvr>
                                        <p:cTn id="44" dur="1000" fill="hold"/>
                                        <p:tgtEl>
                                          <p:spTgt spid="244"/>
                                        </p:tgtEl>
                                        <p:attrNameLst>
                                          <p:attrName>ppt_y</p:attrName>
                                        </p:attrNameLst>
                                      </p:cBhvr>
                                      <p:tavLst>
                                        <p:tav tm="0">
                                          <p:val>
                                            <p:strVal val="#ppt_y"/>
                                          </p:val>
                                        </p:tav>
                                        <p:tav tm="100000">
                                          <p:val>
                                            <p:strVal val="#ppt_y"/>
                                          </p:val>
                                        </p:tav>
                                      </p:tavLst>
                                    </p:anim>
                                  </p:childTnLst>
                                </p:cTn>
                              </p:par>
                            </p:childTnLst>
                          </p:cTn>
                        </p:par>
                        <p:par>
                          <p:cTn id="45" fill="hold">
                            <p:stCondLst>
                              <p:cond delay="1000"/>
                            </p:stCondLst>
                            <p:childTnLst>
                              <p:par>
                                <p:cTn id="46" presetClass="entr" nodeType="afterEffect" presetID="9" grpId="9" fill="hold">
                                  <p:stCondLst>
                                    <p:cond delay="0"/>
                                  </p:stCondLst>
                                  <p:iterate type="el" backwards="0">
                                    <p:tmAbs val="0"/>
                                  </p:iterate>
                                  <p:childTnLst>
                                    <p:set>
                                      <p:cBhvr>
                                        <p:cTn id="47" fill="hold"/>
                                        <p:tgtEl>
                                          <p:spTgt spid="251"/>
                                        </p:tgtEl>
                                        <p:attrNameLst>
                                          <p:attrName>style.visibility</p:attrName>
                                        </p:attrNameLst>
                                      </p:cBhvr>
                                      <p:to>
                                        <p:strVal val="visible"/>
                                      </p:to>
                                    </p:set>
                                    <p:animEffect filter="dissolve" transition="in">
                                      <p:cBhvr>
                                        <p:cTn id="48" dur="2000"/>
                                        <p:tgtEl>
                                          <p:spTgt spid="2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41" grpId="3"/>
      <p:bldP build="whole" bldLvl="1" animBg="1" rev="0" advAuto="0" spid="247" grpId="4"/>
      <p:bldP build="whole" bldLvl="1" animBg="1" rev="0" advAuto="0" spid="249" grpId="7"/>
      <p:bldP build="whole" bldLvl="1" animBg="1" rev="0" advAuto="0" spid="244" grpId="8"/>
      <p:bldP build="whole" bldLvl="1" animBg="1" rev="0" advAuto="0" spid="240" grpId="1"/>
      <p:bldP build="whole" bldLvl="1" animBg="1" rev="0" advAuto="0" spid="251" grpId="9"/>
      <p:bldP build="whole" bldLvl="1" animBg="1" rev="0" advAuto="0" spid="242" grpId="5"/>
      <p:bldP build="whole" bldLvl="1" animBg="1" rev="0" advAuto="0" spid="243" grpId="6"/>
      <p:bldP build="whole" bldLvl="1" animBg="1" rev="0" advAuto="0" spid="245" grpId="2"/>
    </p:bldLst>
  </p:timing>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4"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255" name="Blestemul dimensionalității"/>
          <p:cNvSpPr txBox="1"/>
          <p:nvPr/>
        </p:nvSpPr>
        <p:spPr>
          <a:xfrm>
            <a:off x="5698418" y="739876"/>
            <a:ext cx="12391949" cy="175425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8700">
                <a:latin typeface="Canela Regular"/>
                <a:ea typeface="Canela Regular"/>
                <a:cs typeface="Canela Regular"/>
                <a:sym typeface="Canela Regular"/>
              </a:defRPr>
            </a:lvl1pPr>
          </a:lstStyle>
          <a:p>
            <a:pPr/>
            <a:r>
              <a:t>Blestemul dimensionalității</a:t>
            </a:r>
          </a:p>
        </p:txBody>
      </p:sp>
      <p:sp>
        <p:nvSpPr>
          <p:cNvPr id="256" name="În general, sunt două tipuri mari și late:"/>
          <p:cNvSpPr txBox="1"/>
          <p:nvPr>
            <p:ph type="body" sz="quarter" idx="1"/>
          </p:nvPr>
        </p:nvSpPr>
        <p:spPr>
          <a:xfrm>
            <a:off x="557735" y="3355578"/>
            <a:ext cx="21948580" cy="1201433"/>
          </a:xfrm>
          <a:prstGeom prst="rect">
            <a:avLst/>
          </a:prstGeom>
        </p:spPr>
        <p:txBody>
          <a:bodyPr/>
          <a:lstStyle/>
          <a:p>
            <a:pPr/>
            <a:r>
              <a:t>Un fact interesant al geometriei multidimensionale: </a:t>
            </a:r>
          </a:p>
        </p:txBody>
      </p:sp>
      <p:sp>
        <p:nvSpPr>
          <p:cNvPr id="257" name="În general, sunt două tipuri mari și late:"/>
          <p:cNvSpPr txBox="1"/>
          <p:nvPr/>
        </p:nvSpPr>
        <p:spPr>
          <a:xfrm>
            <a:off x="1703649" y="4427727"/>
            <a:ext cx="21948579" cy="226211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În spații N-dimensionale, cu N destul de mare, distanțele dintre oricare două puncte tind să devină mai uniforme</a:t>
            </a:r>
          </a:p>
        </p:txBody>
      </p:sp>
      <p:sp>
        <p:nvSpPr>
          <p:cNvPr id="258" name="În general, sunt două tipuri mari și late:"/>
          <p:cNvSpPr txBox="1"/>
          <p:nvPr/>
        </p:nvSpPr>
        <p:spPr>
          <a:xfrm>
            <a:off x="1703649" y="6176958"/>
            <a:ext cx="21948579" cy="226211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Deci, cu cât creștem numărul de dimensiuni, cu atât distanțele dintre oricare două puncte tind să se apropie de o valoare unică</a:t>
            </a:r>
          </a:p>
        </p:txBody>
      </p:sp>
      <p:sp>
        <p:nvSpPr>
          <p:cNvPr id="259" name="În general, sunt două tipuri mari și late:"/>
          <p:cNvSpPr txBox="1"/>
          <p:nvPr/>
        </p:nvSpPr>
        <p:spPr>
          <a:xfrm>
            <a:off x="557735" y="8038148"/>
            <a:ext cx="21948580" cy="226211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Consecință:</a:t>
            </a:r>
          </a:p>
        </p:txBody>
      </p:sp>
      <p:sp>
        <p:nvSpPr>
          <p:cNvPr id="260" name="În general, sunt două tipuri mari și late:"/>
          <p:cNvSpPr txBox="1"/>
          <p:nvPr/>
        </p:nvSpPr>
        <p:spPr>
          <a:xfrm>
            <a:off x="1703649" y="8917210"/>
            <a:ext cx="21948579" cy="226211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Această concentrare a distanțelor pune dificultăți la modelele bazate pe distanțe, cum ar fi SVM sau K-Nearest Neighbours</a:t>
            </a:r>
          </a:p>
        </p:txBody>
      </p:sp>
      <p:pic>
        <p:nvPicPr>
          <p:cNvPr id="261" name="Linie Linie" descr="Linie Linie"/>
          <p:cNvPicPr>
            <a:picLocks noChangeAspect="0"/>
          </p:cNvPicPr>
          <p:nvPr/>
        </p:nvPicPr>
        <p:blipFill>
          <a:blip r:embed="rId2">
            <a:extLst/>
          </a:blip>
          <a:stretch>
            <a:fillRect/>
          </a:stretch>
        </p:blipFill>
        <p:spPr>
          <a:xfrm>
            <a:off x="6951057" y="5943797"/>
            <a:ext cx="2508986" cy="101601"/>
          </a:xfrm>
          <a:prstGeom prst="rect">
            <a:avLst/>
          </a:prstGeom>
        </p:spPr>
      </p:pic>
      <p:pic>
        <p:nvPicPr>
          <p:cNvPr id="263" name="Linie Linie" descr="Linie Linie"/>
          <p:cNvPicPr>
            <a:picLocks noChangeAspect="0"/>
          </p:cNvPicPr>
          <p:nvPr/>
        </p:nvPicPr>
        <p:blipFill>
          <a:blip r:embed="rId3">
            <a:extLst/>
          </a:blip>
          <a:stretch>
            <a:fillRect/>
          </a:stretch>
        </p:blipFill>
        <p:spPr>
          <a:xfrm>
            <a:off x="5499739" y="7752724"/>
            <a:ext cx="8066812" cy="101601"/>
          </a:xfrm>
          <a:prstGeom prst="rect">
            <a:avLst/>
          </a:prstGeom>
        </p:spPr>
      </p:pic>
      <p:pic>
        <p:nvPicPr>
          <p:cNvPr id="265" name="Linie Linie" descr="Linie Linie"/>
          <p:cNvPicPr>
            <a:picLocks noChangeAspect="0"/>
          </p:cNvPicPr>
          <p:nvPr/>
        </p:nvPicPr>
        <p:blipFill>
          <a:blip r:embed="rId4">
            <a:extLst/>
          </a:blip>
          <a:stretch>
            <a:fillRect/>
          </a:stretch>
        </p:blipFill>
        <p:spPr>
          <a:xfrm>
            <a:off x="15316407" y="6980683"/>
            <a:ext cx="2839496" cy="101601"/>
          </a:xfrm>
          <a:prstGeom prst="rect">
            <a:avLst/>
          </a:prstGeom>
        </p:spPr>
      </p:pic>
      <p:pic>
        <p:nvPicPr>
          <p:cNvPr id="267" name="Linie Linie" descr="Linie Linie"/>
          <p:cNvPicPr>
            <a:picLocks noChangeAspect="0"/>
          </p:cNvPicPr>
          <p:nvPr/>
        </p:nvPicPr>
        <p:blipFill>
          <a:blip r:embed="rId5">
            <a:extLst/>
          </a:blip>
          <a:stretch>
            <a:fillRect/>
          </a:stretch>
        </p:blipFill>
        <p:spPr>
          <a:xfrm>
            <a:off x="12146922" y="9784828"/>
            <a:ext cx="10877098" cy="10160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8" presetID="2" grpId="1" fill="hold">
                                  <p:stCondLst>
                                    <p:cond delay="0"/>
                                  </p:stCondLst>
                                  <p:iterate type="el" backwards="0">
                                    <p:tmAbs val="0"/>
                                  </p:iterate>
                                  <p:childTnLst>
                                    <p:set>
                                      <p:cBhvr>
                                        <p:cTn id="6" fill="hold"/>
                                        <p:tgtEl>
                                          <p:spTgt spid="256"/>
                                        </p:tgtEl>
                                        <p:attrNameLst>
                                          <p:attrName>style.visibility</p:attrName>
                                        </p:attrNameLst>
                                      </p:cBhvr>
                                      <p:to>
                                        <p:strVal val="visible"/>
                                      </p:to>
                                    </p:set>
                                    <p:anim calcmode="lin" valueType="num">
                                      <p:cBhvr>
                                        <p:cTn id="7" dur="1000" fill="hold"/>
                                        <p:tgtEl>
                                          <p:spTgt spid="256"/>
                                        </p:tgtEl>
                                        <p:attrNameLst>
                                          <p:attrName>ppt_x</p:attrName>
                                        </p:attrNameLst>
                                      </p:cBhvr>
                                      <p:tavLst>
                                        <p:tav tm="0">
                                          <p:val>
                                            <p:strVal val="0-#ppt_w/2"/>
                                          </p:val>
                                        </p:tav>
                                        <p:tav tm="100000">
                                          <p:val>
                                            <p:strVal val="#ppt_x"/>
                                          </p:val>
                                        </p:tav>
                                      </p:tavLst>
                                    </p:anim>
                                    <p:anim calcmode="lin" valueType="num">
                                      <p:cBhvr>
                                        <p:cTn id="8" dur="1000" fill="hold"/>
                                        <p:tgtEl>
                                          <p:spTgt spid="25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Subtype="8" presetID="2" grpId="2" fill="hold">
                                  <p:stCondLst>
                                    <p:cond delay="0"/>
                                  </p:stCondLst>
                                  <p:iterate type="el" backwards="0">
                                    <p:tmAbs val="0"/>
                                  </p:iterate>
                                  <p:childTnLst>
                                    <p:set>
                                      <p:cBhvr>
                                        <p:cTn id="12" fill="hold"/>
                                        <p:tgtEl>
                                          <p:spTgt spid="257"/>
                                        </p:tgtEl>
                                        <p:attrNameLst>
                                          <p:attrName>style.visibility</p:attrName>
                                        </p:attrNameLst>
                                      </p:cBhvr>
                                      <p:to>
                                        <p:strVal val="visible"/>
                                      </p:to>
                                    </p:set>
                                    <p:anim calcmode="lin" valueType="num">
                                      <p:cBhvr>
                                        <p:cTn id="13" dur="1000" fill="hold"/>
                                        <p:tgtEl>
                                          <p:spTgt spid="257"/>
                                        </p:tgtEl>
                                        <p:attrNameLst>
                                          <p:attrName>ppt_x</p:attrName>
                                        </p:attrNameLst>
                                      </p:cBhvr>
                                      <p:tavLst>
                                        <p:tav tm="0">
                                          <p:val>
                                            <p:strVal val="0-#ppt_w/2"/>
                                          </p:val>
                                        </p:tav>
                                        <p:tav tm="100000">
                                          <p:val>
                                            <p:strVal val="#ppt_x"/>
                                          </p:val>
                                        </p:tav>
                                      </p:tavLst>
                                    </p:anim>
                                    <p:anim calcmode="lin" valueType="num">
                                      <p:cBhvr>
                                        <p:cTn id="14" dur="1000" fill="hold"/>
                                        <p:tgtEl>
                                          <p:spTgt spid="257"/>
                                        </p:tgtEl>
                                        <p:attrNameLst>
                                          <p:attrName>ppt_y</p:attrName>
                                        </p:attrNameLst>
                                      </p:cBhvr>
                                      <p:tavLst>
                                        <p:tav tm="0">
                                          <p:val>
                                            <p:strVal val="#ppt_y"/>
                                          </p:val>
                                        </p:tav>
                                        <p:tav tm="100000">
                                          <p:val>
                                            <p:strVal val="#ppt_y"/>
                                          </p:val>
                                        </p:tav>
                                      </p:tavLst>
                                    </p:anim>
                                  </p:childTnLst>
                                </p:cTn>
                              </p:par>
                            </p:childTnLst>
                          </p:cTn>
                        </p:par>
                        <p:par>
                          <p:cTn id="15" fill="hold">
                            <p:stCondLst>
                              <p:cond delay="1000"/>
                            </p:stCondLst>
                            <p:childTnLst>
                              <p:par>
                                <p:cTn id="16" presetClass="entr" nodeType="afterEffect" presetID="9" grpId="3" fill="hold">
                                  <p:stCondLst>
                                    <p:cond delay="0"/>
                                  </p:stCondLst>
                                  <p:iterate type="el" backwards="0">
                                    <p:tmAbs val="0"/>
                                  </p:iterate>
                                  <p:childTnLst>
                                    <p:set>
                                      <p:cBhvr>
                                        <p:cTn id="17" fill="hold"/>
                                        <p:tgtEl>
                                          <p:spTgt spid="261"/>
                                        </p:tgtEl>
                                        <p:attrNameLst>
                                          <p:attrName>style.visibility</p:attrName>
                                        </p:attrNameLst>
                                      </p:cBhvr>
                                      <p:to>
                                        <p:strVal val="visible"/>
                                      </p:to>
                                    </p:set>
                                    <p:animEffect filter="dissolve" transition="in">
                                      <p:cBhvr>
                                        <p:cTn id="18" dur="2000"/>
                                        <p:tgtEl>
                                          <p:spTgt spid="261"/>
                                        </p:tgtEl>
                                      </p:cBhvr>
                                    </p:animEffect>
                                  </p:childTnLst>
                                </p:cTn>
                              </p:par>
                            </p:childTnLst>
                          </p:cTn>
                        </p:par>
                      </p:childTnLst>
                    </p:cTn>
                  </p:par>
                  <p:par>
                    <p:cTn id="19" fill="hold">
                      <p:stCondLst>
                        <p:cond delay="indefinite"/>
                      </p:stCondLst>
                      <p:childTnLst>
                        <p:par>
                          <p:cTn id="20" fill="hold">
                            <p:stCondLst>
                              <p:cond delay="0"/>
                            </p:stCondLst>
                            <p:childTnLst>
                              <p:par>
                                <p:cTn id="21" presetClass="entr" nodeType="clickEffect" presetSubtype="8" presetID="2" grpId="4" fill="hold">
                                  <p:stCondLst>
                                    <p:cond delay="0"/>
                                  </p:stCondLst>
                                  <p:iterate type="el" backwards="0">
                                    <p:tmAbs val="0"/>
                                  </p:iterate>
                                  <p:childTnLst>
                                    <p:set>
                                      <p:cBhvr>
                                        <p:cTn id="22" fill="hold"/>
                                        <p:tgtEl>
                                          <p:spTgt spid="258"/>
                                        </p:tgtEl>
                                        <p:attrNameLst>
                                          <p:attrName>style.visibility</p:attrName>
                                        </p:attrNameLst>
                                      </p:cBhvr>
                                      <p:to>
                                        <p:strVal val="visible"/>
                                      </p:to>
                                    </p:set>
                                    <p:anim calcmode="lin" valueType="num">
                                      <p:cBhvr>
                                        <p:cTn id="23" dur="1000" fill="hold"/>
                                        <p:tgtEl>
                                          <p:spTgt spid="258"/>
                                        </p:tgtEl>
                                        <p:attrNameLst>
                                          <p:attrName>ppt_x</p:attrName>
                                        </p:attrNameLst>
                                      </p:cBhvr>
                                      <p:tavLst>
                                        <p:tav tm="0">
                                          <p:val>
                                            <p:strVal val="0-#ppt_w/2"/>
                                          </p:val>
                                        </p:tav>
                                        <p:tav tm="100000">
                                          <p:val>
                                            <p:strVal val="#ppt_x"/>
                                          </p:val>
                                        </p:tav>
                                      </p:tavLst>
                                    </p:anim>
                                    <p:anim calcmode="lin" valueType="num">
                                      <p:cBhvr>
                                        <p:cTn id="24" dur="1000" fill="hold"/>
                                        <p:tgtEl>
                                          <p:spTgt spid="258"/>
                                        </p:tgtEl>
                                        <p:attrNameLst>
                                          <p:attrName>ppt_y</p:attrName>
                                        </p:attrNameLst>
                                      </p:cBhvr>
                                      <p:tavLst>
                                        <p:tav tm="0">
                                          <p:val>
                                            <p:strVal val="#ppt_y"/>
                                          </p:val>
                                        </p:tav>
                                        <p:tav tm="100000">
                                          <p:val>
                                            <p:strVal val="#ppt_y"/>
                                          </p:val>
                                        </p:tav>
                                      </p:tavLst>
                                    </p:anim>
                                  </p:childTnLst>
                                </p:cTn>
                              </p:par>
                            </p:childTnLst>
                          </p:cTn>
                        </p:par>
                        <p:par>
                          <p:cTn id="25" fill="hold">
                            <p:stCondLst>
                              <p:cond delay="1000"/>
                            </p:stCondLst>
                            <p:childTnLst>
                              <p:par>
                                <p:cTn id="26" presetClass="entr" nodeType="afterEffect" presetID="9" grpId="5" fill="hold">
                                  <p:stCondLst>
                                    <p:cond delay="0"/>
                                  </p:stCondLst>
                                  <p:iterate type="el" backwards="0">
                                    <p:tmAbs val="0"/>
                                  </p:iterate>
                                  <p:childTnLst>
                                    <p:set>
                                      <p:cBhvr>
                                        <p:cTn id="27" fill="hold"/>
                                        <p:tgtEl>
                                          <p:spTgt spid="263"/>
                                        </p:tgtEl>
                                        <p:attrNameLst>
                                          <p:attrName>style.visibility</p:attrName>
                                        </p:attrNameLst>
                                      </p:cBhvr>
                                      <p:to>
                                        <p:strVal val="visible"/>
                                      </p:to>
                                    </p:set>
                                    <p:animEffect filter="dissolve" transition="in">
                                      <p:cBhvr>
                                        <p:cTn id="28" dur="2000"/>
                                        <p:tgtEl>
                                          <p:spTgt spid="263"/>
                                        </p:tgtEl>
                                      </p:cBhvr>
                                    </p:animEffect>
                                  </p:childTnLst>
                                </p:cTn>
                              </p:par>
                            </p:childTnLst>
                          </p:cTn>
                        </p:par>
                        <p:par>
                          <p:cTn id="29" fill="hold">
                            <p:stCondLst>
                              <p:cond delay="3000"/>
                            </p:stCondLst>
                            <p:childTnLst>
                              <p:par>
                                <p:cTn id="30" presetClass="entr" nodeType="afterEffect" presetID="9" grpId="6" fill="hold">
                                  <p:stCondLst>
                                    <p:cond delay="0"/>
                                  </p:stCondLst>
                                  <p:iterate type="el" backwards="0">
                                    <p:tmAbs val="0"/>
                                  </p:iterate>
                                  <p:childTnLst>
                                    <p:set>
                                      <p:cBhvr>
                                        <p:cTn id="31" fill="hold"/>
                                        <p:tgtEl>
                                          <p:spTgt spid="265"/>
                                        </p:tgtEl>
                                        <p:attrNameLst>
                                          <p:attrName>style.visibility</p:attrName>
                                        </p:attrNameLst>
                                      </p:cBhvr>
                                      <p:to>
                                        <p:strVal val="visible"/>
                                      </p:to>
                                    </p:set>
                                    <p:animEffect filter="dissolve" transition="in">
                                      <p:cBhvr>
                                        <p:cTn id="32" dur="2000"/>
                                        <p:tgtEl>
                                          <p:spTgt spid="265"/>
                                        </p:tgtEl>
                                      </p:cBhvr>
                                    </p:animEffect>
                                  </p:childTnLst>
                                </p:cTn>
                              </p:par>
                            </p:childTnLst>
                          </p:cTn>
                        </p:par>
                      </p:childTnLst>
                    </p:cTn>
                  </p:par>
                  <p:par>
                    <p:cTn id="33" fill="hold">
                      <p:stCondLst>
                        <p:cond delay="indefinite"/>
                      </p:stCondLst>
                      <p:childTnLst>
                        <p:par>
                          <p:cTn id="34" fill="hold">
                            <p:stCondLst>
                              <p:cond delay="0"/>
                            </p:stCondLst>
                            <p:childTnLst>
                              <p:par>
                                <p:cTn id="35" presetClass="entr" nodeType="clickEffect" presetSubtype="8" presetID="2" grpId="7" fill="hold">
                                  <p:stCondLst>
                                    <p:cond delay="0"/>
                                  </p:stCondLst>
                                  <p:iterate type="el" backwards="0">
                                    <p:tmAbs val="0"/>
                                  </p:iterate>
                                  <p:childTnLst>
                                    <p:set>
                                      <p:cBhvr>
                                        <p:cTn id="36" fill="hold"/>
                                        <p:tgtEl>
                                          <p:spTgt spid="259"/>
                                        </p:tgtEl>
                                        <p:attrNameLst>
                                          <p:attrName>style.visibility</p:attrName>
                                        </p:attrNameLst>
                                      </p:cBhvr>
                                      <p:to>
                                        <p:strVal val="visible"/>
                                      </p:to>
                                    </p:set>
                                    <p:anim calcmode="lin" valueType="num">
                                      <p:cBhvr>
                                        <p:cTn id="37" dur="1000" fill="hold"/>
                                        <p:tgtEl>
                                          <p:spTgt spid="259"/>
                                        </p:tgtEl>
                                        <p:attrNameLst>
                                          <p:attrName>ppt_x</p:attrName>
                                        </p:attrNameLst>
                                      </p:cBhvr>
                                      <p:tavLst>
                                        <p:tav tm="0">
                                          <p:val>
                                            <p:strVal val="0-#ppt_w/2"/>
                                          </p:val>
                                        </p:tav>
                                        <p:tav tm="100000">
                                          <p:val>
                                            <p:strVal val="#ppt_x"/>
                                          </p:val>
                                        </p:tav>
                                      </p:tavLst>
                                    </p:anim>
                                    <p:anim calcmode="lin" valueType="num">
                                      <p:cBhvr>
                                        <p:cTn id="38" dur="1000" fill="hold"/>
                                        <p:tgtEl>
                                          <p:spTgt spid="259"/>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Class="entr" nodeType="clickEffect" presetSubtype="8" presetID="2" grpId="8" fill="hold">
                                  <p:stCondLst>
                                    <p:cond delay="0"/>
                                  </p:stCondLst>
                                  <p:iterate type="el" backwards="0">
                                    <p:tmAbs val="0"/>
                                  </p:iterate>
                                  <p:childTnLst>
                                    <p:set>
                                      <p:cBhvr>
                                        <p:cTn id="42" fill="hold"/>
                                        <p:tgtEl>
                                          <p:spTgt spid="260"/>
                                        </p:tgtEl>
                                        <p:attrNameLst>
                                          <p:attrName>style.visibility</p:attrName>
                                        </p:attrNameLst>
                                      </p:cBhvr>
                                      <p:to>
                                        <p:strVal val="visible"/>
                                      </p:to>
                                    </p:set>
                                    <p:anim calcmode="lin" valueType="num">
                                      <p:cBhvr>
                                        <p:cTn id="43" dur="1000" fill="hold"/>
                                        <p:tgtEl>
                                          <p:spTgt spid="260"/>
                                        </p:tgtEl>
                                        <p:attrNameLst>
                                          <p:attrName>ppt_x</p:attrName>
                                        </p:attrNameLst>
                                      </p:cBhvr>
                                      <p:tavLst>
                                        <p:tav tm="0">
                                          <p:val>
                                            <p:strVal val="0-#ppt_w/2"/>
                                          </p:val>
                                        </p:tav>
                                        <p:tav tm="100000">
                                          <p:val>
                                            <p:strVal val="#ppt_x"/>
                                          </p:val>
                                        </p:tav>
                                      </p:tavLst>
                                    </p:anim>
                                    <p:anim calcmode="lin" valueType="num">
                                      <p:cBhvr>
                                        <p:cTn id="44" dur="1000" fill="hold"/>
                                        <p:tgtEl>
                                          <p:spTgt spid="260"/>
                                        </p:tgtEl>
                                        <p:attrNameLst>
                                          <p:attrName>ppt_y</p:attrName>
                                        </p:attrNameLst>
                                      </p:cBhvr>
                                      <p:tavLst>
                                        <p:tav tm="0">
                                          <p:val>
                                            <p:strVal val="#ppt_y"/>
                                          </p:val>
                                        </p:tav>
                                        <p:tav tm="100000">
                                          <p:val>
                                            <p:strVal val="#ppt_y"/>
                                          </p:val>
                                        </p:tav>
                                      </p:tavLst>
                                    </p:anim>
                                  </p:childTnLst>
                                </p:cTn>
                              </p:par>
                            </p:childTnLst>
                          </p:cTn>
                        </p:par>
                        <p:par>
                          <p:cTn id="45" fill="hold">
                            <p:stCondLst>
                              <p:cond delay="1000"/>
                            </p:stCondLst>
                            <p:childTnLst>
                              <p:par>
                                <p:cTn id="46" presetClass="entr" nodeType="afterEffect" presetID="9" grpId="9" fill="hold">
                                  <p:stCondLst>
                                    <p:cond delay="0"/>
                                  </p:stCondLst>
                                  <p:iterate type="el" backwards="0">
                                    <p:tmAbs val="0"/>
                                  </p:iterate>
                                  <p:childTnLst>
                                    <p:set>
                                      <p:cBhvr>
                                        <p:cTn id="47" fill="hold"/>
                                        <p:tgtEl>
                                          <p:spTgt spid="267"/>
                                        </p:tgtEl>
                                        <p:attrNameLst>
                                          <p:attrName>style.visibility</p:attrName>
                                        </p:attrNameLst>
                                      </p:cBhvr>
                                      <p:to>
                                        <p:strVal val="visible"/>
                                      </p:to>
                                    </p:set>
                                    <p:animEffect filter="dissolve" transition="in">
                                      <p:cBhvr>
                                        <p:cTn id="48" dur="2000"/>
                                        <p:tgtEl>
                                          <p:spTgt spid="2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58" grpId="4"/>
      <p:bldP build="whole" bldLvl="1" animBg="1" rev="0" advAuto="0" spid="261" grpId="3"/>
      <p:bldP build="whole" bldLvl="1" animBg="1" rev="0" advAuto="0" spid="260" grpId="8"/>
      <p:bldP build="whole" bldLvl="1" animBg="1" rev="0" advAuto="0" spid="265" grpId="6"/>
      <p:bldP build="whole" bldLvl="1" animBg="1" rev="0" advAuto="0" spid="259" grpId="7"/>
      <p:bldP build="whole" bldLvl="1" animBg="1" rev="0" advAuto="0" spid="257" grpId="2"/>
      <p:bldP build="whole" bldLvl="1" animBg="1" rev="0" advAuto="0" spid="267" grpId="9"/>
      <p:bldP build="whole" bldLvl="1" animBg="1" rev="0" advAuto="0" spid="263" grpId="5"/>
      <p:bldP build="whole" bldLvl="1" animBg="1" rev="0" advAuto="0" spid="256" grpId="1"/>
    </p:bldLst>
  </p:timing>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0" name="Supervizate"/>
          <p:cNvSpPr txBox="1"/>
          <p:nvPr/>
        </p:nvSpPr>
        <p:spPr>
          <a:xfrm>
            <a:off x="-6898296" y="6790557"/>
            <a:ext cx="8358423"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Supervizate</a:t>
            </a:r>
          </a:p>
        </p:txBody>
      </p:sp>
      <p:sp>
        <p:nvSpPr>
          <p:cNvPr id="271"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graphicFrame>
        <p:nvGraphicFramePr>
          <p:cNvPr id="272" name="Tabelul 1"/>
          <p:cNvGraphicFramePr/>
          <p:nvPr/>
        </p:nvGraphicFramePr>
        <p:xfrm>
          <a:off x="2034055" y="1269013"/>
          <a:ext cx="15435026" cy="5419038"/>
        </p:xfrm>
        <a:graphic xmlns:a="http://schemas.openxmlformats.org/drawingml/2006/main">
          <a:graphicData uri="http://schemas.openxmlformats.org/drawingml/2006/table">
            <a:tbl>
              <a:tblPr firstCol="0" firstRow="1" lastCol="0" lastRow="0" bandCol="0" bandRow="1" rtl="0">
                <a:tableStyleId>{4C3C2611-4C71-4FC5-86AE-919BDF0F9419}</a:tableStyleId>
              </a:tblPr>
              <a:tblGrid>
                <a:gridCol w="1905000"/>
                <a:gridCol w="1905000"/>
                <a:gridCol w="1905000"/>
                <a:gridCol w="1905000"/>
                <a:gridCol w="1905000"/>
                <a:gridCol w="1905000"/>
                <a:gridCol w="1905000"/>
                <a:gridCol w="1905000"/>
                <a:gridCol w="1905000"/>
                <a:gridCol w="1905000"/>
              </a:tblGrid>
              <a:tr h="860806">
                <a:tc>
                  <a:txBody>
                    <a:bodyPr/>
                    <a:lstStyle/>
                    <a:p>
                      <a:pPr indent="457200">
                        <a:defRPr b="0" sz="1800">
                          <a:solidFill>
                            <a:srgbClr val="000000"/>
                          </a:solidFill>
                        </a:defRPr>
                      </a:pPr>
                      <a:r>
                        <a:rPr sz="2200">
                          <a:solidFill>
                            <a:srgbClr val="FFFFFF"/>
                          </a:solidFill>
                          <a:latin typeface="Canela Text Regular"/>
                          <a:ea typeface="Canela Text Regular"/>
                          <a:cs typeface="Canela Text Regular"/>
                          <a:sym typeface="Canela Text Regular"/>
                        </a:rPr>
                        <a:t>[1] Înălțime</a:t>
                      </a:r>
                    </a:p>
                  </a:txBody>
                  <a:tcPr marL="0" marR="0" marT="0" marB="0" anchor="ctr" anchorCtr="0" horzOverflow="overflow"/>
                </a:tc>
                <a:tc>
                  <a:txBody>
                    <a:bodyPr/>
                    <a:lstStyle/>
                    <a:p>
                      <a:pPr indent="457200">
                        <a:defRPr b="0" sz="1800">
                          <a:solidFill>
                            <a:srgbClr val="000000"/>
                          </a:solidFill>
                        </a:defRPr>
                      </a:pPr>
                      <a:r>
                        <a:rPr sz="2200">
                          <a:solidFill>
                            <a:srgbClr val="FFFFFF"/>
                          </a:solidFill>
                          <a:latin typeface="Canela Text Regular"/>
                          <a:ea typeface="Canela Text Regular"/>
                          <a:cs typeface="Canela Text Regular"/>
                          <a:sym typeface="Canela Text Regular"/>
                        </a:rPr>
                        <a:t>[2] Greutate</a:t>
                      </a:r>
                    </a:p>
                  </a:txBody>
                  <a:tcPr marL="0" marR="0" marT="0" marB="0" anchor="ctr" anchorCtr="0" horzOverflow="overflow"/>
                </a:tc>
                <a:tc>
                  <a:txBody>
                    <a:bodyPr/>
                    <a:lstStyle/>
                    <a:p>
                      <a:pPr indent="457200">
                        <a:defRPr b="0" sz="1800">
                          <a:solidFill>
                            <a:srgbClr val="000000"/>
                          </a:solidFill>
                        </a:defRPr>
                      </a:pPr>
                      <a:r>
                        <a:rPr sz="2200">
                          <a:solidFill>
                            <a:srgbClr val="FFFFFF"/>
                          </a:solidFill>
                          <a:latin typeface="Canela Text Regular"/>
                          <a:ea typeface="Canela Text Regular"/>
                          <a:cs typeface="Canela Text Regular"/>
                          <a:sym typeface="Canela Text Regular"/>
                        </a:rPr>
                        <a:t>[3] Tensiunea arterială medie</a:t>
                      </a:r>
                    </a:p>
                  </a:txBody>
                  <a:tcPr marL="0" marR="0" marT="0" marB="0" anchor="ctr" anchorCtr="0" horzOverflow="overflow"/>
                </a:tc>
                <a:tc>
                  <a:txBody>
                    <a:bodyPr/>
                    <a:lstStyle/>
                    <a:p>
                      <a:pPr indent="457200">
                        <a:defRPr b="0" sz="1800">
                          <a:solidFill>
                            <a:srgbClr val="000000"/>
                          </a:solidFill>
                        </a:defRPr>
                      </a:pPr>
                      <a:r>
                        <a:rPr sz="2200">
                          <a:solidFill>
                            <a:srgbClr val="FFFFFF"/>
                          </a:solidFill>
                          <a:latin typeface="Canela Text Regular"/>
                          <a:ea typeface="Canela Text Regular"/>
                          <a:cs typeface="Canela Text Regular"/>
                          <a:sym typeface="Canela Text Regular"/>
                        </a:rPr>
                        <a:t>[4]     Pulsul mediu</a:t>
                      </a:r>
                    </a:p>
                  </a:txBody>
                  <a:tcPr marL="0" marR="0" marT="0" marB="0" anchor="ctr" anchorCtr="0" horzOverflow="overflow"/>
                </a:tc>
                <a:tc>
                  <a:txBody>
                    <a:bodyPr/>
                    <a:lstStyle/>
                    <a:p>
                      <a:pPr indent="457200">
                        <a:defRPr b="0" sz="1800">
                          <a:solidFill>
                            <a:srgbClr val="000000"/>
                          </a:solidFill>
                        </a:defRPr>
                      </a:pPr>
                      <a:r>
                        <a:rPr sz="2200">
                          <a:solidFill>
                            <a:srgbClr val="FFFFFF"/>
                          </a:solidFill>
                          <a:latin typeface="Canela Text Regular"/>
                          <a:ea typeface="Canela Text Regular"/>
                          <a:cs typeface="Canela Text Regular"/>
                          <a:sym typeface="Canela Text Regular"/>
                        </a:rPr>
                        <a:t>[5]        IMC (Indicele de masă corporală)</a:t>
                      </a:r>
                    </a:p>
                  </a:txBody>
                  <a:tcPr marL="0" marR="0" marT="0" marB="0" anchor="ctr" anchorCtr="0" horzOverflow="overflow"/>
                </a:tc>
                <a:tc>
                  <a:txBody>
                    <a:bodyPr/>
                    <a:lstStyle/>
                    <a:p>
                      <a:pPr indent="457200">
                        <a:defRPr b="0" sz="1800">
                          <a:solidFill>
                            <a:srgbClr val="000000"/>
                          </a:solidFill>
                        </a:defRPr>
                      </a:pPr>
                      <a:r>
                        <a:rPr sz="2200">
                          <a:solidFill>
                            <a:srgbClr val="FFFFFF"/>
                          </a:solidFill>
                          <a:latin typeface="Canela Text Regular"/>
                          <a:ea typeface="Canela Text Regular"/>
                          <a:cs typeface="Canela Text Regular"/>
                          <a:sym typeface="Canela Text Regular"/>
                        </a:rPr>
                        <a:t>[6]   Nivelul colesterolului</a:t>
                      </a:r>
                    </a:p>
                  </a:txBody>
                  <a:tcPr marL="0" marR="0" marT="0" marB="0" anchor="ctr" anchorCtr="0" horzOverflow="overflow"/>
                </a:tc>
                <a:tc>
                  <a:txBody>
                    <a:bodyPr/>
                    <a:lstStyle/>
                    <a:p>
                      <a:pPr indent="457200">
                        <a:defRPr b="0" sz="1800">
                          <a:solidFill>
                            <a:srgbClr val="000000"/>
                          </a:solidFill>
                        </a:defRPr>
                      </a:pPr>
                      <a:r>
                        <a:rPr sz="2200">
                          <a:solidFill>
                            <a:srgbClr val="FFFFFF"/>
                          </a:solidFill>
                          <a:latin typeface="Canela Text Regular"/>
                          <a:ea typeface="Canela Text Regular"/>
                          <a:cs typeface="Canela Text Regular"/>
                          <a:sym typeface="Canela Text Regular"/>
                        </a:rPr>
                        <a:t>[7]    Media țigărilor consumate / zi</a:t>
                      </a:r>
                    </a:p>
                  </a:txBody>
                  <a:tcPr marL="0" marR="0" marT="0" marB="0" anchor="ctr" anchorCtr="0" horzOverflow="overflow"/>
                </a:tc>
                <a:tc>
                  <a:txBody>
                    <a:bodyPr/>
                    <a:lstStyle/>
                    <a:p>
                      <a:pPr indent="457200">
                        <a:defRPr b="0" sz="1800">
                          <a:solidFill>
                            <a:srgbClr val="000000"/>
                          </a:solidFill>
                        </a:defRPr>
                      </a:pPr>
                      <a:r>
                        <a:rPr sz="2200">
                          <a:solidFill>
                            <a:srgbClr val="FFFFFF"/>
                          </a:solidFill>
                          <a:latin typeface="Canela Text Regular"/>
                          <a:ea typeface="Canela Text Regular"/>
                          <a:cs typeface="Canela Text Regular"/>
                          <a:sym typeface="Canela Text Regular"/>
                        </a:rPr>
                        <a:t>…</a:t>
                      </a:r>
                    </a:p>
                  </a:txBody>
                  <a:tcPr marL="0" marR="0" marT="0" marB="0" anchor="ctr" anchorCtr="0" horzOverflow="overflow"/>
                </a:tc>
                <a:tc>
                  <a:txBody>
                    <a:bodyPr/>
                    <a:lstStyle/>
                    <a:p>
                      <a:pPr indent="457200">
                        <a:defRPr b="0" sz="1800">
                          <a:solidFill>
                            <a:srgbClr val="000000"/>
                          </a:solidFill>
                        </a:defRPr>
                      </a:pPr>
                      <a:r>
                        <a:rPr sz="2200">
                          <a:solidFill>
                            <a:srgbClr val="FFFFFF"/>
                          </a:solidFill>
                          <a:latin typeface="Canela Text Regular"/>
                          <a:ea typeface="Canela Text Regular"/>
                          <a:cs typeface="Canela Text Regular"/>
                          <a:sym typeface="Canela Text Regular"/>
                        </a:rPr>
                        <a:t>[200] Nivelul zahărului</a:t>
                      </a:r>
                    </a:p>
                  </a:txBody>
                  <a:tcPr marL="0" marR="0" marT="0" marB="0" anchor="ctr" anchorCtr="0" horzOverflow="overflow"/>
                </a:tc>
                <a:tc>
                  <a:txBody>
                    <a:bodyPr/>
                    <a:lstStyle/>
                    <a:p>
                      <a:pPr indent="457200">
                        <a:defRPr b="0" sz="1800">
                          <a:solidFill>
                            <a:srgbClr val="000000"/>
                          </a:solidFill>
                        </a:defRPr>
                      </a:pPr>
                      <a:r>
                        <a:rPr sz="2200">
                          <a:solidFill>
                            <a:srgbClr val="FFFFFF"/>
                          </a:solidFill>
                          <a:latin typeface="Canela Text Regular"/>
                          <a:ea typeface="Canela Text Regular"/>
                          <a:cs typeface="Canela Text Regular"/>
                          <a:sym typeface="Canela Text Regular"/>
                        </a:rPr>
                        <a:t>Risc</a:t>
                      </a:r>
                    </a:p>
                  </a:txBody>
                  <a:tcPr marL="0" marR="0" marT="0" marB="0" anchor="ctr" anchorCtr="0" horzOverflow="overflow">
                    <a:solidFill>
                      <a:schemeClr val="accent5"/>
                    </a:solidFill>
                  </a:tcPr>
                </a:tc>
              </a:tr>
              <a:tr h="441706">
                <a:tc>
                  <a:txBody>
                    <a:bodyPr/>
                    <a:lstStyle/>
                    <a:p>
                      <a:pPr indent="457200">
                        <a:defRPr b="0" sz="1800"/>
                      </a:pPr>
                      <a:r>
                        <a:rPr sz="2200">
                          <a:latin typeface="Canela Text Regular"/>
                          <a:ea typeface="Canela Text Regular"/>
                          <a:cs typeface="Canela Text Regular"/>
                          <a:sym typeface="Canela Text Regular"/>
                        </a:rPr>
                        <a:t>150</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80</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140/90</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63</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36</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5</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0</a:t>
                      </a:r>
                    </a:p>
                  </a:txBody>
                  <a:tcPr marL="0" marR="0" marT="0" marB="0" anchor="ctr" anchorCtr="0" horzOverflow="overflow"/>
                </a:tc>
                <a:tc>
                  <a:txBody>
                    <a:bodyPr/>
                    <a:lstStyle/>
                    <a:p>
                      <a:pPr indent="457200">
                        <a:defRPr b="0" sz="2200">
                          <a:latin typeface="Canela Text Regular"/>
                          <a:ea typeface="Canela Text Regular"/>
                          <a:cs typeface="Canela Text Regular"/>
                          <a:sym typeface="Canela Text Regular"/>
                        </a:defRPr>
                      </a:pP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99</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0</a:t>
                      </a:r>
                    </a:p>
                  </a:txBody>
                  <a:tcPr marL="0" marR="0" marT="0" marB="0" anchor="ctr" anchorCtr="0" horzOverflow="overflow"/>
                </a:tc>
              </a:tr>
              <a:tr h="429006">
                <a:tc>
                  <a:txBody>
                    <a:bodyPr/>
                    <a:lstStyle/>
                    <a:p>
                      <a:pPr indent="457200">
                        <a:defRPr b="0" sz="1800"/>
                      </a:pPr>
                      <a:r>
                        <a:rPr sz="2200">
                          <a:latin typeface="Canela Text Regular"/>
                          <a:ea typeface="Canela Text Regular"/>
                          <a:cs typeface="Canela Text Regular"/>
                          <a:sym typeface="Canela Text Regular"/>
                        </a:rPr>
                        <a:t>174</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90</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90/60</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100</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32</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4.0</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0</a:t>
                      </a:r>
                    </a:p>
                  </a:txBody>
                  <a:tcPr marL="0" marR="0" marT="0" marB="0" anchor="ctr" anchorCtr="0" horzOverflow="overflow"/>
                </a:tc>
                <a:tc>
                  <a:txBody>
                    <a:bodyPr/>
                    <a:lstStyle/>
                    <a:p>
                      <a:pPr indent="457200">
                        <a:defRPr b="0" sz="2200">
                          <a:latin typeface="Canela Text Regular"/>
                          <a:ea typeface="Canela Text Regular"/>
                          <a:cs typeface="Canela Text Regular"/>
                          <a:sym typeface="Canela Text Regular"/>
                        </a:defRPr>
                      </a:pP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95</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1</a:t>
                      </a:r>
                    </a:p>
                  </a:txBody>
                  <a:tcPr marL="0" marR="0" marT="0" marB="0" anchor="ctr" anchorCtr="0" horzOverflow="overflow"/>
                </a:tc>
              </a:tr>
              <a:tr h="1081267">
                <a:tc>
                  <a:txBody>
                    <a:bodyPr/>
                    <a:lstStyle/>
                    <a:p>
                      <a:pPr indent="457200">
                        <a:defRPr b="0" sz="1800"/>
                      </a:pPr>
                      <a:r>
                        <a:rPr sz="2200">
                          <a:latin typeface="Canela Text Regular"/>
                          <a:ea typeface="Canela Text Regular"/>
                          <a:cs typeface="Canela Text Regular"/>
                          <a:sym typeface="Canela Text Regular"/>
                        </a:rPr>
                        <a:t>180</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82</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92/60</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78</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25</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3.7</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10</a:t>
                      </a:r>
                    </a:p>
                  </a:txBody>
                  <a:tcPr marL="0" marR="0" marT="0" marB="0" anchor="ctr" anchorCtr="0" horzOverflow="overflow"/>
                </a:tc>
                <a:tc>
                  <a:txBody>
                    <a:bodyPr/>
                    <a:lstStyle/>
                    <a:p>
                      <a:pPr indent="457200">
                        <a:defRPr b="0" sz="2200">
                          <a:latin typeface="Canela Text Regular"/>
                          <a:ea typeface="Canela Text Regular"/>
                          <a:cs typeface="Canela Text Regular"/>
                          <a:sym typeface="Canela Text Regular"/>
                        </a:defRPr>
                      </a:pP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112</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2</a:t>
                      </a:r>
                    </a:p>
                  </a:txBody>
                  <a:tcPr marL="0" marR="0" marT="0" marB="0" anchor="ctr" anchorCtr="0" horzOverflow="overflow"/>
                </a:tc>
              </a:tr>
              <a:tr h="1081267">
                <a:tc>
                  <a:txBody>
                    <a:bodyPr/>
                    <a:lstStyle/>
                    <a:p>
                      <a:pPr indent="457200">
                        <a:defRPr b="0" sz="1800"/>
                      </a:pPr>
                      <a:r>
                        <a:rPr sz="2200">
                          <a:latin typeface="Canela Text Regular"/>
                          <a:ea typeface="Canela Text Regular"/>
                          <a:cs typeface="Canela Text Regular"/>
                          <a:sym typeface="Canela Text Regular"/>
                        </a:rPr>
                        <a:t>…</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a:t>
                      </a:r>
                    </a:p>
                  </a:txBody>
                  <a:tcPr marL="0" marR="0" marT="0" marB="0" anchor="ctr" anchorCtr="0" horzOverflow="overflow"/>
                </a:tc>
                <a:tc>
                  <a:txBody>
                    <a:bodyPr/>
                    <a:lstStyle/>
                    <a:p>
                      <a:pPr indent="457200">
                        <a:defRPr b="0" sz="2200">
                          <a:latin typeface="Canela Text Regular"/>
                          <a:ea typeface="Canela Text Regular"/>
                          <a:cs typeface="Canela Text Regular"/>
                          <a:sym typeface="Canela Text Regular"/>
                        </a:defRPr>
                      </a:pPr>
                    </a:p>
                  </a:txBody>
                  <a:tcPr marL="0" marR="0" marT="0" marB="0" anchor="ctr" anchorCtr="0" horzOverflow="overflow"/>
                </a:tc>
                <a:tc>
                  <a:txBody>
                    <a:bodyPr/>
                    <a:lstStyle/>
                    <a:p>
                      <a:pPr indent="457200">
                        <a:defRPr b="0" sz="2200">
                          <a:latin typeface="Canela Text Regular"/>
                          <a:ea typeface="Canela Text Regular"/>
                          <a:cs typeface="Canela Text Regular"/>
                          <a:sym typeface="Canela Text Regular"/>
                        </a:defRPr>
                      </a:pPr>
                    </a:p>
                  </a:txBody>
                  <a:tcPr marL="0" marR="0" marT="0" marB="0" anchor="ctr" anchorCtr="0" horzOverflow="overflow"/>
                </a:tc>
                <a:tc>
                  <a:txBody>
                    <a:bodyPr/>
                    <a:lstStyle/>
                    <a:p>
                      <a:pPr indent="457200">
                        <a:defRPr b="0" sz="2200">
                          <a:latin typeface="Canela Text Regular"/>
                          <a:ea typeface="Canela Text Regular"/>
                          <a:cs typeface="Canela Text Regular"/>
                          <a:sym typeface="Canela Text Regular"/>
                        </a:defRPr>
                      </a:pPr>
                    </a:p>
                  </a:txBody>
                  <a:tcPr marL="0" marR="0" marT="0" marB="0" anchor="ctr" anchorCtr="0" horzOverflow="overflow"/>
                </a:tc>
                <a:tc>
                  <a:txBody>
                    <a:bodyPr/>
                    <a:lstStyle/>
                    <a:p>
                      <a:pPr indent="457200">
                        <a:defRPr b="0" sz="2200">
                          <a:latin typeface="Canela Text Regular"/>
                          <a:ea typeface="Canela Text Regular"/>
                          <a:cs typeface="Canela Text Regular"/>
                          <a:sym typeface="Canela Text Regular"/>
                        </a:defRPr>
                      </a:pPr>
                    </a:p>
                  </a:txBody>
                  <a:tcPr marL="0" marR="0" marT="0" marB="0" anchor="ctr" anchorCtr="0" horzOverflow="overflow"/>
                </a:tc>
                <a:tc>
                  <a:txBody>
                    <a:bodyPr/>
                    <a:lstStyle/>
                    <a:p>
                      <a:pPr indent="457200">
                        <a:defRPr b="0" sz="2200">
                          <a:latin typeface="Canela Text Regular"/>
                          <a:ea typeface="Canela Text Regular"/>
                          <a:cs typeface="Canela Text Regular"/>
                          <a:sym typeface="Canela Text Regular"/>
                        </a:defRPr>
                      </a:pP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a:t>
                      </a:r>
                    </a:p>
                  </a:txBody>
                  <a:tcPr marL="0" marR="0" marT="0" marB="0" anchor="ctr" anchorCtr="0" horzOverflow="overflow"/>
                </a:tc>
              </a:tr>
            </a:tbl>
          </a:graphicData>
        </a:graphic>
      </p:graphicFrame>
      <p:pic>
        <p:nvPicPr>
          <p:cNvPr id="273" name="Linie Linie" descr="Linie Linie"/>
          <p:cNvPicPr>
            <a:picLocks noChangeAspect="0"/>
          </p:cNvPicPr>
          <p:nvPr/>
        </p:nvPicPr>
        <p:blipFill>
          <a:blip r:embed="rId2">
            <a:extLst/>
          </a:blip>
          <a:stretch>
            <a:fillRect/>
          </a:stretch>
        </p:blipFill>
        <p:spPr>
          <a:xfrm>
            <a:off x="2304892" y="6741138"/>
            <a:ext cx="17100442" cy="101601"/>
          </a:xfrm>
          <a:prstGeom prst="rect">
            <a:avLst/>
          </a:prstGeom>
        </p:spPr>
      </p:pic>
      <p:sp>
        <p:nvSpPr>
          <p:cNvPr id="275" name="Caracteristici / Atribute / Features"/>
          <p:cNvSpPr txBox="1"/>
          <p:nvPr/>
        </p:nvSpPr>
        <p:spPr>
          <a:xfrm>
            <a:off x="6322120" y="7157158"/>
            <a:ext cx="8714792"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latin typeface="Canela Text Regular"/>
                <a:ea typeface="Canela Text Regular"/>
                <a:cs typeface="Canela Text Regular"/>
                <a:sym typeface="Canela Text Regular"/>
              </a:defRPr>
            </a:lvl1pPr>
          </a:lstStyle>
          <a:p>
            <a:pPr/>
            <a:r>
              <a:t>Caracteristici / Atribute / Features</a:t>
            </a:r>
          </a:p>
        </p:txBody>
      </p:sp>
      <p:pic>
        <p:nvPicPr>
          <p:cNvPr id="276" name="Linie Linie" descr="Linie Linie"/>
          <p:cNvPicPr>
            <a:picLocks noChangeAspect="0"/>
          </p:cNvPicPr>
          <p:nvPr/>
        </p:nvPicPr>
        <p:blipFill>
          <a:blip r:embed="rId3">
            <a:extLst/>
          </a:blip>
          <a:stretch>
            <a:fillRect/>
          </a:stretch>
        </p:blipFill>
        <p:spPr>
          <a:xfrm>
            <a:off x="19019997" y="6741138"/>
            <a:ext cx="2279220" cy="101601"/>
          </a:xfrm>
          <a:prstGeom prst="rect">
            <a:avLst/>
          </a:prstGeom>
        </p:spPr>
      </p:pic>
      <p:sp>
        <p:nvSpPr>
          <p:cNvPr id="278" name="Etichetă / Clasă"/>
          <p:cNvSpPr txBox="1"/>
          <p:nvPr/>
        </p:nvSpPr>
        <p:spPr>
          <a:xfrm>
            <a:off x="18539797" y="7157158"/>
            <a:ext cx="4167277"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latin typeface="Canela Text Regular"/>
                <a:ea typeface="Canela Text Regular"/>
                <a:cs typeface="Canela Text Regular"/>
                <a:sym typeface="Canela Text Regular"/>
              </a:defRPr>
            </a:lvl1pPr>
          </a:lstStyle>
          <a:p>
            <a:pPr/>
            <a:r>
              <a:t>Etichetă / Clasă</a:t>
            </a:r>
          </a:p>
        </p:txBody>
      </p:sp>
      <p:sp>
        <p:nvSpPr>
          <p:cNvPr id="279" name="Care e soluția?"/>
          <p:cNvSpPr txBox="1"/>
          <p:nvPr/>
        </p:nvSpPr>
        <p:spPr>
          <a:xfrm>
            <a:off x="2372286" y="8887699"/>
            <a:ext cx="3748178"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Care e soluția?</a:t>
            </a:r>
          </a:p>
        </p:txBody>
      </p:sp>
      <p:sp>
        <p:nvSpPr>
          <p:cNvPr id="280" name="În general, sunt două tipuri mari și late:"/>
          <p:cNvSpPr txBox="1"/>
          <p:nvPr>
            <p:ph type="body" sz="quarter" idx="1"/>
          </p:nvPr>
        </p:nvSpPr>
        <p:spPr>
          <a:xfrm>
            <a:off x="10020420" y="9148043"/>
            <a:ext cx="21948580" cy="1201433"/>
          </a:xfrm>
          <a:prstGeom prst="rect">
            <a:avLst/>
          </a:prstGeom>
        </p:spPr>
        <p:txBody>
          <a:bodyPr/>
          <a:lstStyle/>
          <a:p>
            <a:pPr/>
            <a:r>
              <a:t>Reducerea numărului de features </a:t>
            </a:r>
          </a:p>
        </p:txBody>
      </p:sp>
      <p:sp>
        <p:nvSpPr>
          <p:cNvPr id="281" name="În general, sunt două tipuri mari și late:"/>
          <p:cNvSpPr txBox="1"/>
          <p:nvPr/>
        </p:nvSpPr>
        <p:spPr>
          <a:xfrm>
            <a:off x="10020420" y="10108344"/>
            <a:ext cx="21948580" cy="120143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Să păstrăm cât mai multă informație utilă posibilă</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mph" nodeType="afterEffect" presetSubtype="0" presetID="6" grpId="1" accel="50000" decel="50000" fill="hold">
                                  <p:stCondLst>
                                    <p:cond delay="0"/>
                                  </p:stCondLst>
                                  <p:childTnLst>
                                    <p:animScale>
                                      <p:cBhvr>
                                        <p:cTn id="6" dur="1000" fill="hold"/>
                                        <p:tgtEl>
                                          <p:spTgt spid="279"/>
                                        </p:tgtEl>
                                      </p:cBhvr>
                                      <p:by x="196006" y="196006"/>
                                    </p:animScale>
                                  </p:childTnLst>
                                </p:cTn>
                              </p:par>
                            </p:childTnLst>
                          </p:cTn>
                        </p:par>
                        <p:par>
                          <p:cTn id="7" fill="hold">
                            <p:stCondLst>
                              <p:cond delay="0"/>
                            </p:stCondLst>
                            <p:childTnLst>
                              <p:par>
                                <p:cTn id="8" presetClass="path" nodeType="withEffect" presetSubtype="0" presetID="-1" grpId="2" accel="50000" decel="50000" fill="hold">
                                  <p:stCondLst>
                                    <p:cond delay="0"/>
                                  </p:stCondLst>
                                  <p:childTnLst>
                                    <p:animMotion path="M 0.000000 0.000000 L -0.000000 0.027892" origin="layout" pathEditMode="relative">
                                      <p:cBhvr>
                                        <p:cTn id="9" dur="1000" fill="hold"/>
                                        <p:tgtEl>
                                          <p:spTgt spid="279"/>
                                        </p:tgtEl>
                                        <p:attrNameLst>
                                          <p:attrName>ppt_x</p:attrName>
                                          <p:attrName>ppt_y</p:attrName>
                                        </p:attrNameLst>
                                      </p:cBhvr>
                                    </p:animMotion>
                                  </p:childTnLst>
                                </p:cTn>
                              </p:par>
                            </p:childTnLst>
                          </p:cTn>
                        </p:par>
                      </p:childTnLst>
                    </p:cTn>
                  </p:par>
                  <p:par>
                    <p:cTn id="10" fill="hold">
                      <p:stCondLst>
                        <p:cond delay="indefinite"/>
                      </p:stCondLst>
                      <p:childTnLst>
                        <p:par>
                          <p:cTn id="11" fill="hold">
                            <p:stCondLst>
                              <p:cond delay="0"/>
                            </p:stCondLst>
                            <p:childTnLst>
                              <p:par>
                                <p:cTn id="12" presetClass="entr" nodeType="clickEffect" presetSubtype="8" presetID="2" grpId="3" fill="hold">
                                  <p:stCondLst>
                                    <p:cond delay="0"/>
                                  </p:stCondLst>
                                  <p:iterate type="el" backwards="0">
                                    <p:tmAbs val="0"/>
                                  </p:iterate>
                                  <p:childTnLst>
                                    <p:set>
                                      <p:cBhvr>
                                        <p:cTn id="13" fill="hold"/>
                                        <p:tgtEl>
                                          <p:spTgt spid="280"/>
                                        </p:tgtEl>
                                        <p:attrNameLst>
                                          <p:attrName>style.visibility</p:attrName>
                                        </p:attrNameLst>
                                      </p:cBhvr>
                                      <p:to>
                                        <p:strVal val="visible"/>
                                      </p:to>
                                    </p:set>
                                    <p:anim calcmode="lin" valueType="num">
                                      <p:cBhvr>
                                        <p:cTn id="14" dur="1000" fill="hold"/>
                                        <p:tgtEl>
                                          <p:spTgt spid="280"/>
                                        </p:tgtEl>
                                        <p:attrNameLst>
                                          <p:attrName>ppt_x</p:attrName>
                                        </p:attrNameLst>
                                      </p:cBhvr>
                                      <p:tavLst>
                                        <p:tav tm="0">
                                          <p:val>
                                            <p:strVal val="0-#ppt_w/2"/>
                                          </p:val>
                                        </p:tav>
                                        <p:tav tm="100000">
                                          <p:val>
                                            <p:strVal val="#ppt_x"/>
                                          </p:val>
                                        </p:tav>
                                      </p:tavLst>
                                    </p:anim>
                                    <p:anim calcmode="lin" valueType="num">
                                      <p:cBhvr>
                                        <p:cTn id="15" dur="1000" fill="hold"/>
                                        <p:tgtEl>
                                          <p:spTgt spid="280"/>
                                        </p:tgtEl>
                                        <p:attrNameLst>
                                          <p:attrName>ppt_y</p:attrName>
                                        </p:attrNameLst>
                                      </p:cBhvr>
                                      <p:tavLst>
                                        <p:tav tm="0">
                                          <p:val>
                                            <p:strVal val="#ppt_y"/>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Class="entr" nodeType="clickEffect" presetSubtype="8" presetID="2" grpId="4" fill="hold">
                                  <p:stCondLst>
                                    <p:cond delay="0"/>
                                  </p:stCondLst>
                                  <p:iterate type="el" backwards="0">
                                    <p:tmAbs val="0"/>
                                  </p:iterate>
                                  <p:childTnLst>
                                    <p:set>
                                      <p:cBhvr>
                                        <p:cTn id="19" fill="hold"/>
                                        <p:tgtEl>
                                          <p:spTgt spid="281"/>
                                        </p:tgtEl>
                                        <p:attrNameLst>
                                          <p:attrName>style.visibility</p:attrName>
                                        </p:attrNameLst>
                                      </p:cBhvr>
                                      <p:to>
                                        <p:strVal val="visible"/>
                                      </p:to>
                                    </p:set>
                                    <p:anim calcmode="lin" valueType="num">
                                      <p:cBhvr>
                                        <p:cTn id="20" dur="1000" fill="hold"/>
                                        <p:tgtEl>
                                          <p:spTgt spid="281"/>
                                        </p:tgtEl>
                                        <p:attrNameLst>
                                          <p:attrName>ppt_x</p:attrName>
                                        </p:attrNameLst>
                                      </p:cBhvr>
                                      <p:tavLst>
                                        <p:tav tm="0">
                                          <p:val>
                                            <p:strVal val="0-#ppt_w/2"/>
                                          </p:val>
                                        </p:tav>
                                        <p:tav tm="100000">
                                          <p:val>
                                            <p:strVal val="#ppt_x"/>
                                          </p:val>
                                        </p:tav>
                                      </p:tavLst>
                                    </p:anim>
                                    <p:anim calcmode="lin" valueType="num">
                                      <p:cBhvr>
                                        <p:cTn id="21" dur="1000" fill="hold"/>
                                        <p:tgtEl>
                                          <p:spTgt spid="28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81" grpId="4"/>
      <p:bldP build="whole" bldLvl="1" animBg="1" rev="0" advAuto="0" spid="279" grpId="1"/>
      <p:bldP build="whole" bldLvl="1" animBg="1" rev="0" advAuto="0" spid="280" grpId="3"/>
    </p:bldLst>
  </p:timing>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3" name="Supervizate"/>
          <p:cNvSpPr txBox="1"/>
          <p:nvPr/>
        </p:nvSpPr>
        <p:spPr>
          <a:xfrm>
            <a:off x="-7076862" y="7802424"/>
            <a:ext cx="8358424"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Supervizate</a:t>
            </a:r>
          </a:p>
        </p:txBody>
      </p:sp>
      <p:sp>
        <p:nvSpPr>
          <p:cNvPr id="284"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285" name="Principal Component Analysis (PCA)"/>
          <p:cNvSpPr txBox="1"/>
          <p:nvPr/>
        </p:nvSpPr>
        <p:spPr>
          <a:xfrm>
            <a:off x="1499227" y="3463645"/>
            <a:ext cx="22650329" cy="678871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8400">
                <a:latin typeface="Canela Regular"/>
                <a:ea typeface="Canela Regular"/>
                <a:cs typeface="Canela Regular"/>
                <a:sym typeface="Canela Regular"/>
              </a:defRPr>
            </a:lvl1pPr>
          </a:lstStyle>
          <a:p>
            <a:pPr/>
            <a:r>
              <a:t>Principal Component Analysis (PCA)</a:t>
            </a:r>
          </a:p>
        </p:txBody>
      </p:sp>
    </p:spTree>
  </p:cSld>
  <p:clrMapOvr>
    <a:masterClrMapping/>
  </p:clrMapOvr>
  <mc:AlternateContent xmlns:mc="http://schemas.openxmlformats.org/markup-compatibility/2006">
    <mc:Choice xmlns:p14="http://schemas.microsoft.com/office/powerpoint/2010/main" Requires="p14">
      <p:transition spd="slow" advClick="1" p14:dur="2000">
        <p:push dir="l"/>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7"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288" name="Supervizate"/>
          <p:cNvSpPr txBox="1"/>
          <p:nvPr/>
        </p:nvSpPr>
        <p:spPr>
          <a:xfrm>
            <a:off x="3085019" y="558347"/>
            <a:ext cx="19507706"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Principal Component Analysis</a:t>
            </a:r>
          </a:p>
        </p:txBody>
      </p:sp>
      <p:sp>
        <p:nvSpPr>
          <p:cNvPr id="289" name="În general, sunt două tipuri mari și late:"/>
          <p:cNvSpPr txBox="1"/>
          <p:nvPr>
            <p:ph type="body" sz="quarter" idx="1"/>
          </p:nvPr>
        </p:nvSpPr>
        <p:spPr>
          <a:xfrm>
            <a:off x="338246" y="4425998"/>
            <a:ext cx="23045001" cy="2006602"/>
          </a:xfrm>
          <a:prstGeom prst="rect">
            <a:avLst/>
          </a:prstGeom>
        </p:spPr>
        <p:txBody>
          <a:bodyPr/>
          <a:lstStyle/>
          <a:p>
            <a:pPr/>
            <a:r>
              <a:t>Scopul este de a reduce numărul de features, dar să păstram cât mai multă informație.</a:t>
            </a:r>
          </a:p>
        </p:txBody>
      </p:sp>
      <p:pic>
        <p:nvPicPr>
          <p:cNvPr id="290" name="Linie Linie" descr="Linie Linie"/>
          <p:cNvPicPr>
            <a:picLocks noChangeAspect="0"/>
          </p:cNvPicPr>
          <p:nvPr/>
        </p:nvPicPr>
        <p:blipFill>
          <a:blip r:embed="rId2">
            <a:extLst/>
          </a:blip>
          <a:stretch>
            <a:fillRect/>
          </a:stretch>
        </p:blipFill>
        <p:spPr>
          <a:xfrm>
            <a:off x="13994221" y="5296460"/>
            <a:ext cx="8997660" cy="101601"/>
          </a:xfrm>
          <a:prstGeom prst="rect">
            <a:avLst/>
          </a:prstGeom>
        </p:spPr>
      </p:pic>
      <p:pic>
        <p:nvPicPr>
          <p:cNvPr id="292" name="Linie Linie" descr="Linie Linie"/>
          <p:cNvPicPr>
            <a:picLocks noChangeAspect="0"/>
          </p:cNvPicPr>
          <p:nvPr/>
        </p:nvPicPr>
        <p:blipFill>
          <a:blip r:embed="rId3">
            <a:extLst/>
          </a:blip>
          <a:stretch>
            <a:fillRect/>
          </a:stretch>
        </p:blipFill>
        <p:spPr>
          <a:xfrm>
            <a:off x="4974742" y="5296460"/>
            <a:ext cx="2143080" cy="101601"/>
          </a:xfrm>
          <a:prstGeom prst="rect">
            <a:avLst/>
          </a:prstGeom>
        </p:spPr>
      </p:pic>
      <p:sp>
        <p:nvSpPr>
          <p:cNvPr id="294" name="În general, sunt două tipuri mari și late:"/>
          <p:cNvSpPr txBox="1"/>
          <p:nvPr/>
        </p:nvSpPr>
        <p:spPr>
          <a:xfrm>
            <a:off x="338246" y="5763270"/>
            <a:ext cx="23045001" cy="200660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Algoritmul:</a:t>
            </a:r>
          </a:p>
        </p:txBody>
      </p:sp>
      <p:sp>
        <p:nvSpPr>
          <p:cNvPr id="295" name="În general, sunt două tipuri mari și late:"/>
          <p:cNvSpPr txBox="1"/>
          <p:nvPr/>
        </p:nvSpPr>
        <p:spPr>
          <a:xfrm>
            <a:off x="1854083" y="6564848"/>
            <a:ext cx="23045000" cy="135085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Primește ca intrare N features</a:t>
            </a:r>
          </a:p>
        </p:txBody>
      </p:sp>
      <p:sp>
        <p:nvSpPr>
          <p:cNvPr id="296" name="În general, sunt două tipuri mari și late:"/>
          <p:cNvSpPr txBox="1"/>
          <p:nvPr/>
        </p:nvSpPr>
        <p:spPr>
          <a:xfrm>
            <a:off x="1854083" y="7420668"/>
            <a:ext cx="23045000" cy="135085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Creează tot N features, numite componente principale</a:t>
            </a:r>
          </a:p>
        </p:txBody>
      </p:sp>
      <p:pic>
        <p:nvPicPr>
          <p:cNvPr id="297" name="Linie Linie" descr="Linie Linie"/>
          <p:cNvPicPr>
            <a:picLocks noChangeAspect="0"/>
          </p:cNvPicPr>
          <p:nvPr/>
        </p:nvPicPr>
        <p:blipFill>
          <a:blip r:embed="rId4">
            <a:extLst/>
          </a:blip>
          <a:stretch>
            <a:fillRect/>
          </a:stretch>
        </p:blipFill>
        <p:spPr>
          <a:xfrm>
            <a:off x="10319799" y="8330111"/>
            <a:ext cx="6113568" cy="101601"/>
          </a:xfrm>
          <a:prstGeom prst="rect">
            <a:avLst/>
          </a:prstGeom>
        </p:spPr>
      </p:pic>
      <p:sp>
        <p:nvSpPr>
          <p:cNvPr id="299" name="În general, sunt două tipuri mari și late:"/>
          <p:cNvSpPr txBox="1"/>
          <p:nvPr/>
        </p:nvSpPr>
        <p:spPr>
          <a:xfrm>
            <a:off x="1846213" y="8330111"/>
            <a:ext cx="22056929" cy="3348705"/>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Componentele principale sunt create astfel încât dacă iei doar primele 1,2,3 (puține) componente, acestea să conțină cât mai multă informație</a:t>
            </a:r>
          </a:p>
        </p:txBody>
      </p:sp>
      <p:pic>
        <p:nvPicPr>
          <p:cNvPr id="300" name="Linie Linie" descr="Linie Linie"/>
          <p:cNvPicPr>
            <a:picLocks noChangeAspect="0"/>
          </p:cNvPicPr>
          <p:nvPr/>
        </p:nvPicPr>
        <p:blipFill>
          <a:blip r:embed="rId5">
            <a:extLst/>
          </a:blip>
          <a:stretch>
            <a:fillRect/>
          </a:stretch>
        </p:blipFill>
        <p:spPr>
          <a:xfrm>
            <a:off x="10665045" y="9953663"/>
            <a:ext cx="6650503" cy="101601"/>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advClick="1" p14:dur="1200">
        <p:push dir="l"/>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8" presetID="2" grpId="1" fill="hold">
                                  <p:stCondLst>
                                    <p:cond delay="0"/>
                                  </p:stCondLst>
                                  <p:iterate type="el" backwards="0">
                                    <p:tmAbs val="0"/>
                                  </p:iterate>
                                  <p:childTnLst>
                                    <p:set>
                                      <p:cBhvr>
                                        <p:cTn id="6" fill="hold"/>
                                        <p:tgtEl>
                                          <p:spTgt spid="289"/>
                                        </p:tgtEl>
                                        <p:attrNameLst>
                                          <p:attrName>style.visibility</p:attrName>
                                        </p:attrNameLst>
                                      </p:cBhvr>
                                      <p:to>
                                        <p:strVal val="visible"/>
                                      </p:to>
                                    </p:set>
                                    <p:anim calcmode="lin" valueType="num">
                                      <p:cBhvr>
                                        <p:cTn id="7" dur="1000" fill="hold"/>
                                        <p:tgtEl>
                                          <p:spTgt spid="289"/>
                                        </p:tgtEl>
                                        <p:attrNameLst>
                                          <p:attrName>ppt_x</p:attrName>
                                        </p:attrNameLst>
                                      </p:cBhvr>
                                      <p:tavLst>
                                        <p:tav tm="0">
                                          <p:val>
                                            <p:strVal val="0-#ppt_w/2"/>
                                          </p:val>
                                        </p:tav>
                                        <p:tav tm="100000">
                                          <p:val>
                                            <p:strVal val="#ppt_x"/>
                                          </p:val>
                                        </p:tav>
                                      </p:tavLst>
                                    </p:anim>
                                    <p:anim calcmode="lin" valueType="num">
                                      <p:cBhvr>
                                        <p:cTn id="8" dur="1000" fill="hold"/>
                                        <p:tgtEl>
                                          <p:spTgt spid="289"/>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Class="entr" nodeType="afterEffect" presetID="9" grpId="2" fill="hold">
                                  <p:stCondLst>
                                    <p:cond delay="0"/>
                                  </p:stCondLst>
                                  <p:iterate type="el" backwards="0">
                                    <p:tmAbs val="0"/>
                                  </p:iterate>
                                  <p:childTnLst>
                                    <p:set>
                                      <p:cBhvr>
                                        <p:cTn id="11" fill="hold"/>
                                        <p:tgtEl>
                                          <p:spTgt spid="290"/>
                                        </p:tgtEl>
                                        <p:attrNameLst>
                                          <p:attrName>style.visibility</p:attrName>
                                        </p:attrNameLst>
                                      </p:cBhvr>
                                      <p:to>
                                        <p:strVal val="visible"/>
                                      </p:to>
                                    </p:set>
                                    <p:animEffect filter="dissolve" transition="in">
                                      <p:cBhvr>
                                        <p:cTn id="12" dur="2000"/>
                                        <p:tgtEl>
                                          <p:spTgt spid="290"/>
                                        </p:tgtEl>
                                      </p:cBhvr>
                                    </p:animEffect>
                                  </p:childTnLst>
                                </p:cTn>
                              </p:par>
                            </p:childTnLst>
                          </p:cTn>
                        </p:par>
                        <p:par>
                          <p:cTn id="13" fill="hold">
                            <p:stCondLst>
                              <p:cond delay="3000"/>
                            </p:stCondLst>
                            <p:childTnLst>
                              <p:par>
                                <p:cTn id="14" presetClass="entr" nodeType="afterEffect" presetID="9" grpId="3" fill="hold">
                                  <p:stCondLst>
                                    <p:cond delay="0"/>
                                  </p:stCondLst>
                                  <p:iterate type="el" backwards="0">
                                    <p:tmAbs val="0"/>
                                  </p:iterate>
                                  <p:childTnLst>
                                    <p:set>
                                      <p:cBhvr>
                                        <p:cTn id="15" fill="hold"/>
                                        <p:tgtEl>
                                          <p:spTgt spid="292"/>
                                        </p:tgtEl>
                                        <p:attrNameLst>
                                          <p:attrName>style.visibility</p:attrName>
                                        </p:attrNameLst>
                                      </p:cBhvr>
                                      <p:to>
                                        <p:strVal val="visible"/>
                                      </p:to>
                                    </p:set>
                                    <p:animEffect filter="dissolve" transition="in">
                                      <p:cBhvr>
                                        <p:cTn id="16" dur="2000"/>
                                        <p:tgtEl>
                                          <p:spTgt spid="292"/>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Subtype="8" presetID="2" grpId="4" fill="hold">
                                  <p:stCondLst>
                                    <p:cond delay="0"/>
                                  </p:stCondLst>
                                  <p:iterate type="el" backwards="0">
                                    <p:tmAbs val="0"/>
                                  </p:iterate>
                                  <p:childTnLst>
                                    <p:set>
                                      <p:cBhvr>
                                        <p:cTn id="20" fill="hold"/>
                                        <p:tgtEl>
                                          <p:spTgt spid="294"/>
                                        </p:tgtEl>
                                        <p:attrNameLst>
                                          <p:attrName>style.visibility</p:attrName>
                                        </p:attrNameLst>
                                      </p:cBhvr>
                                      <p:to>
                                        <p:strVal val="visible"/>
                                      </p:to>
                                    </p:set>
                                    <p:anim calcmode="lin" valueType="num">
                                      <p:cBhvr>
                                        <p:cTn id="21" dur="1000" fill="hold"/>
                                        <p:tgtEl>
                                          <p:spTgt spid="294"/>
                                        </p:tgtEl>
                                        <p:attrNameLst>
                                          <p:attrName>ppt_x</p:attrName>
                                        </p:attrNameLst>
                                      </p:cBhvr>
                                      <p:tavLst>
                                        <p:tav tm="0">
                                          <p:val>
                                            <p:strVal val="0-#ppt_w/2"/>
                                          </p:val>
                                        </p:tav>
                                        <p:tav tm="100000">
                                          <p:val>
                                            <p:strVal val="#ppt_x"/>
                                          </p:val>
                                        </p:tav>
                                      </p:tavLst>
                                    </p:anim>
                                    <p:anim calcmode="lin" valueType="num">
                                      <p:cBhvr>
                                        <p:cTn id="22" dur="1000" fill="hold"/>
                                        <p:tgtEl>
                                          <p:spTgt spid="294"/>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Class="entr" nodeType="clickEffect" presetSubtype="8" presetID="2" grpId="5" fill="hold">
                                  <p:stCondLst>
                                    <p:cond delay="0"/>
                                  </p:stCondLst>
                                  <p:iterate type="el" backwards="0">
                                    <p:tmAbs val="0"/>
                                  </p:iterate>
                                  <p:childTnLst>
                                    <p:set>
                                      <p:cBhvr>
                                        <p:cTn id="26" fill="hold"/>
                                        <p:tgtEl>
                                          <p:spTgt spid="295"/>
                                        </p:tgtEl>
                                        <p:attrNameLst>
                                          <p:attrName>style.visibility</p:attrName>
                                        </p:attrNameLst>
                                      </p:cBhvr>
                                      <p:to>
                                        <p:strVal val="visible"/>
                                      </p:to>
                                    </p:set>
                                    <p:anim calcmode="lin" valueType="num">
                                      <p:cBhvr>
                                        <p:cTn id="27" dur="1000" fill="hold"/>
                                        <p:tgtEl>
                                          <p:spTgt spid="295"/>
                                        </p:tgtEl>
                                        <p:attrNameLst>
                                          <p:attrName>ppt_x</p:attrName>
                                        </p:attrNameLst>
                                      </p:cBhvr>
                                      <p:tavLst>
                                        <p:tav tm="0">
                                          <p:val>
                                            <p:strVal val="0-#ppt_w/2"/>
                                          </p:val>
                                        </p:tav>
                                        <p:tav tm="100000">
                                          <p:val>
                                            <p:strVal val="#ppt_x"/>
                                          </p:val>
                                        </p:tav>
                                      </p:tavLst>
                                    </p:anim>
                                    <p:anim calcmode="lin" valueType="num">
                                      <p:cBhvr>
                                        <p:cTn id="28" dur="1000" fill="hold"/>
                                        <p:tgtEl>
                                          <p:spTgt spid="295"/>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Class="entr" nodeType="clickEffect" presetSubtype="8" presetID="2" grpId="6" fill="hold">
                                  <p:stCondLst>
                                    <p:cond delay="0"/>
                                  </p:stCondLst>
                                  <p:iterate type="el" backwards="0">
                                    <p:tmAbs val="0"/>
                                  </p:iterate>
                                  <p:childTnLst>
                                    <p:set>
                                      <p:cBhvr>
                                        <p:cTn id="32" fill="hold"/>
                                        <p:tgtEl>
                                          <p:spTgt spid="296"/>
                                        </p:tgtEl>
                                        <p:attrNameLst>
                                          <p:attrName>style.visibility</p:attrName>
                                        </p:attrNameLst>
                                      </p:cBhvr>
                                      <p:to>
                                        <p:strVal val="visible"/>
                                      </p:to>
                                    </p:set>
                                    <p:anim calcmode="lin" valueType="num">
                                      <p:cBhvr>
                                        <p:cTn id="33" dur="1000" fill="hold"/>
                                        <p:tgtEl>
                                          <p:spTgt spid="296"/>
                                        </p:tgtEl>
                                        <p:attrNameLst>
                                          <p:attrName>ppt_x</p:attrName>
                                        </p:attrNameLst>
                                      </p:cBhvr>
                                      <p:tavLst>
                                        <p:tav tm="0">
                                          <p:val>
                                            <p:strVal val="0-#ppt_w/2"/>
                                          </p:val>
                                        </p:tav>
                                        <p:tav tm="100000">
                                          <p:val>
                                            <p:strVal val="#ppt_x"/>
                                          </p:val>
                                        </p:tav>
                                      </p:tavLst>
                                    </p:anim>
                                    <p:anim calcmode="lin" valueType="num">
                                      <p:cBhvr>
                                        <p:cTn id="34" dur="1000" fill="hold"/>
                                        <p:tgtEl>
                                          <p:spTgt spid="296"/>
                                        </p:tgtEl>
                                        <p:attrNameLst>
                                          <p:attrName>ppt_y</p:attrName>
                                        </p:attrNameLst>
                                      </p:cBhvr>
                                      <p:tavLst>
                                        <p:tav tm="0">
                                          <p:val>
                                            <p:strVal val="#ppt_y"/>
                                          </p:val>
                                        </p:tav>
                                        <p:tav tm="100000">
                                          <p:val>
                                            <p:strVal val="#ppt_y"/>
                                          </p:val>
                                        </p:tav>
                                      </p:tavLst>
                                    </p:anim>
                                  </p:childTnLst>
                                </p:cTn>
                              </p:par>
                            </p:childTnLst>
                          </p:cTn>
                        </p:par>
                        <p:par>
                          <p:cTn id="35" fill="hold">
                            <p:stCondLst>
                              <p:cond delay="1000"/>
                            </p:stCondLst>
                            <p:childTnLst>
                              <p:par>
                                <p:cTn id="36" presetClass="entr" nodeType="afterEffect" presetID="9" grpId="7" fill="hold">
                                  <p:stCondLst>
                                    <p:cond delay="0"/>
                                  </p:stCondLst>
                                  <p:iterate type="el" backwards="0">
                                    <p:tmAbs val="0"/>
                                  </p:iterate>
                                  <p:childTnLst>
                                    <p:set>
                                      <p:cBhvr>
                                        <p:cTn id="37" fill="hold"/>
                                        <p:tgtEl>
                                          <p:spTgt spid="297"/>
                                        </p:tgtEl>
                                        <p:attrNameLst>
                                          <p:attrName>style.visibility</p:attrName>
                                        </p:attrNameLst>
                                      </p:cBhvr>
                                      <p:to>
                                        <p:strVal val="visible"/>
                                      </p:to>
                                    </p:set>
                                    <p:animEffect filter="dissolve" transition="in">
                                      <p:cBhvr>
                                        <p:cTn id="38" dur="2000"/>
                                        <p:tgtEl>
                                          <p:spTgt spid="297"/>
                                        </p:tgtEl>
                                      </p:cBhvr>
                                    </p:animEffect>
                                  </p:childTnLst>
                                </p:cTn>
                              </p:par>
                            </p:childTnLst>
                          </p:cTn>
                        </p:par>
                      </p:childTnLst>
                    </p:cTn>
                  </p:par>
                  <p:par>
                    <p:cTn id="39" fill="hold">
                      <p:stCondLst>
                        <p:cond delay="indefinite"/>
                      </p:stCondLst>
                      <p:childTnLst>
                        <p:par>
                          <p:cTn id="40" fill="hold">
                            <p:stCondLst>
                              <p:cond delay="0"/>
                            </p:stCondLst>
                            <p:childTnLst>
                              <p:par>
                                <p:cTn id="41" presetClass="entr" nodeType="clickEffect" presetSubtype="8" presetID="2" grpId="8" fill="hold">
                                  <p:stCondLst>
                                    <p:cond delay="0"/>
                                  </p:stCondLst>
                                  <p:iterate type="el" backwards="0">
                                    <p:tmAbs val="0"/>
                                  </p:iterate>
                                  <p:childTnLst>
                                    <p:set>
                                      <p:cBhvr>
                                        <p:cTn id="42" fill="hold"/>
                                        <p:tgtEl>
                                          <p:spTgt spid="299"/>
                                        </p:tgtEl>
                                        <p:attrNameLst>
                                          <p:attrName>style.visibility</p:attrName>
                                        </p:attrNameLst>
                                      </p:cBhvr>
                                      <p:to>
                                        <p:strVal val="visible"/>
                                      </p:to>
                                    </p:set>
                                    <p:anim calcmode="lin" valueType="num">
                                      <p:cBhvr>
                                        <p:cTn id="43" dur="1000" fill="hold"/>
                                        <p:tgtEl>
                                          <p:spTgt spid="299"/>
                                        </p:tgtEl>
                                        <p:attrNameLst>
                                          <p:attrName>ppt_x</p:attrName>
                                        </p:attrNameLst>
                                      </p:cBhvr>
                                      <p:tavLst>
                                        <p:tav tm="0">
                                          <p:val>
                                            <p:strVal val="0-#ppt_w/2"/>
                                          </p:val>
                                        </p:tav>
                                        <p:tav tm="100000">
                                          <p:val>
                                            <p:strVal val="#ppt_x"/>
                                          </p:val>
                                        </p:tav>
                                      </p:tavLst>
                                    </p:anim>
                                    <p:anim calcmode="lin" valueType="num">
                                      <p:cBhvr>
                                        <p:cTn id="44" dur="1000" fill="hold"/>
                                        <p:tgtEl>
                                          <p:spTgt spid="299"/>
                                        </p:tgtEl>
                                        <p:attrNameLst>
                                          <p:attrName>ppt_y</p:attrName>
                                        </p:attrNameLst>
                                      </p:cBhvr>
                                      <p:tavLst>
                                        <p:tav tm="0">
                                          <p:val>
                                            <p:strVal val="#ppt_y"/>
                                          </p:val>
                                        </p:tav>
                                        <p:tav tm="100000">
                                          <p:val>
                                            <p:strVal val="#ppt_y"/>
                                          </p:val>
                                        </p:tav>
                                      </p:tavLst>
                                    </p:anim>
                                  </p:childTnLst>
                                </p:cTn>
                              </p:par>
                            </p:childTnLst>
                          </p:cTn>
                        </p:par>
                        <p:par>
                          <p:cTn id="45" fill="hold">
                            <p:stCondLst>
                              <p:cond delay="1000"/>
                            </p:stCondLst>
                            <p:childTnLst>
                              <p:par>
                                <p:cTn id="46" presetClass="entr" nodeType="afterEffect" presetID="9" grpId="9" fill="hold">
                                  <p:stCondLst>
                                    <p:cond delay="0"/>
                                  </p:stCondLst>
                                  <p:iterate type="el" backwards="0">
                                    <p:tmAbs val="0"/>
                                  </p:iterate>
                                  <p:childTnLst>
                                    <p:set>
                                      <p:cBhvr>
                                        <p:cTn id="47" fill="hold"/>
                                        <p:tgtEl>
                                          <p:spTgt spid="300"/>
                                        </p:tgtEl>
                                        <p:attrNameLst>
                                          <p:attrName>style.visibility</p:attrName>
                                        </p:attrNameLst>
                                      </p:cBhvr>
                                      <p:to>
                                        <p:strVal val="visible"/>
                                      </p:to>
                                    </p:set>
                                    <p:animEffect filter="dissolve" transition="in">
                                      <p:cBhvr>
                                        <p:cTn id="48" dur="2000"/>
                                        <p:tgtEl>
                                          <p:spTgt spid="3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94" grpId="4"/>
      <p:bldP build="whole" bldLvl="1" animBg="1" rev="0" advAuto="0" spid="295" grpId="5"/>
      <p:bldP build="whole" bldLvl="1" animBg="1" rev="0" advAuto="0" spid="290" grpId="2"/>
      <p:bldP build="whole" bldLvl="1" animBg="1" rev="0" advAuto="0" spid="297" grpId="7"/>
      <p:bldP build="whole" bldLvl="1" animBg="1" rev="0" advAuto="0" spid="289" grpId="1"/>
      <p:bldP build="whole" bldLvl="1" animBg="1" rev="0" advAuto="0" spid="296" grpId="6"/>
      <p:bldP build="whole" bldLvl="1" animBg="1" rev="0" advAuto="0" spid="292" grpId="3"/>
      <p:bldP build="whole" bldLvl="1" animBg="1" rev="0" advAuto="0" spid="299" grpId="8"/>
      <p:bldP build="whole" bldLvl="1" animBg="1" rev="0" advAuto="0" spid="300" grpId="9"/>
    </p:bldLst>
  </p:timing>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3"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graphicFrame>
        <p:nvGraphicFramePr>
          <p:cNvPr id="304" name="Tabelul 1"/>
          <p:cNvGraphicFramePr/>
          <p:nvPr/>
        </p:nvGraphicFramePr>
        <p:xfrm>
          <a:off x="2907038" y="1030927"/>
          <a:ext cx="15435026" cy="5419038"/>
        </p:xfrm>
        <a:graphic xmlns:a="http://schemas.openxmlformats.org/drawingml/2006/main">
          <a:graphicData uri="http://schemas.openxmlformats.org/drawingml/2006/table">
            <a:tbl>
              <a:tblPr firstCol="0" firstRow="1" lastCol="0" lastRow="0" bandCol="0" bandRow="1" rtl="0">
                <a:tableStyleId>{4C3C2611-4C71-4FC5-86AE-919BDF0F9419}</a:tableStyleId>
              </a:tblPr>
              <a:tblGrid>
                <a:gridCol w="1905000"/>
                <a:gridCol w="1905000"/>
                <a:gridCol w="1905000"/>
                <a:gridCol w="1905000"/>
                <a:gridCol w="1905000"/>
                <a:gridCol w="1905000"/>
                <a:gridCol w="1905000"/>
                <a:gridCol w="1905000"/>
                <a:gridCol w="1905000"/>
                <a:gridCol w="1905000"/>
              </a:tblGrid>
              <a:tr h="860806">
                <a:tc>
                  <a:txBody>
                    <a:bodyPr/>
                    <a:lstStyle/>
                    <a:p>
                      <a:pPr indent="457200">
                        <a:defRPr b="0" sz="1800">
                          <a:solidFill>
                            <a:srgbClr val="000000"/>
                          </a:solidFill>
                        </a:defRPr>
                      </a:pPr>
                      <a:r>
                        <a:rPr sz="2200">
                          <a:solidFill>
                            <a:srgbClr val="FFFFFF"/>
                          </a:solidFill>
                          <a:latin typeface="Canela Text Regular"/>
                          <a:ea typeface="Canela Text Regular"/>
                          <a:cs typeface="Canela Text Regular"/>
                          <a:sym typeface="Canela Text Regular"/>
                        </a:rPr>
                        <a:t>[1] Înălțime</a:t>
                      </a:r>
                    </a:p>
                  </a:txBody>
                  <a:tcPr marL="0" marR="0" marT="0" marB="0" anchor="ctr" anchorCtr="0" horzOverflow="overflow"/>
                </a:tc>
                <a:tc>
                  <a:txBody>
                    <a:bodyPr/>
                    <a:lstStyle/>
                    <a:p>
                      <a:pPr indent="457200">
                        <a:defRPr b="0" sz="1800">
                          <a:solidFill>
                            <a:srgbClr val="000000"/>
                          </a:solidFill>
                        </a:defRPr>
                      </a:pPr>
                      <a:r>
                        <a:rPr sz="2200">
                          <a:solidFill>
                            <a:srgbClr val="FFFFFF"/>
                          </a:solidFill>
                          <a:latin typeface="Canela Text Regular"/>
                          <a:ea typeface="Canela Text Regular"/>
                          <a:cs typeface="Canela Text Regular"/>
                          <a:sym typeface="Canela Text Regular"/>
                        </a:rPr>
                        <a:t>[2] Greutate</a:t>
                      </a:r>
                    </a:p>
                  </a:txBody>
                  <a:tcPr marL="0" marR="0" marT="0" marB="0" anchor="ctr" anchorCtr="0" horzOverflow="overflow"/>
                </a:tc>
                <a:tc>
                  <a:txBody>
                    <a:bodyPr/>
                    <a:lstStyle/>
                    <a:p>
                      <a:pPr indent="457200">
                        <a:defRPr b="0" sz="1800">
                          <a:solidFill>
                            <a:srgbClr val="000000"/>
                          </a:solidFill>
                        </a:defRPr>
                      </a:pPr>
                      <a:r>
                        <a:rPr sz="2200">
                          <a:solidFill>
                            <a:srgbClr val="FFFFFF"/>
                          </a:solidFill>
                          <a:latin typeface="Canela Text Regular"/>
                          <a:ea typeface="Canela Text Regular"/>
                          <a:cs typeface="Canela Text Regular"/>
                          <a:sym typeface="Canela Text Regular"/>
                        </a:rPr>
                        <a:t>[3] Tensiunea arterială medie</a:t>
                      </a:r>
                    </a:p>
                  </a:txBody>
                  <a:tcPr marL="0" marR="0" marT="0" marB="0" anchor="ctr" anchorCtr="0" horzOverflow="overflow"/>
                </a:tc>
                <a:tc>
                  <a:txBody>
                    <a:bodyPr/>
                    <a:lstStyle/>
                    <a:p>
                      <a:pPr indent="457200">
                        <a:defRPr b="0" sz="1800">
                          <a:solidFill>
                            <a:srgbClr val="000000"/>
                          </a:solidFill>
                        </a:defRPr>
                      </a:pPr>
                      <a:r>
                        <a:rPr sz="2200">
                          <a:solidFill>
                            <a:srgbClr val="FFFFFF"/>
                          </a:solidFill>
                          <a:latin typeface="Canela Text Regular"/>
                          <a:ea typeface="Canela Text Regular"/>
                          <a:cs typeface="Canela Text Regular"/>
                          <a:sym typeface="Canela Text Regular"/>
                        </a:rPr>
                        <a:t>[4]     Pulsul mediu</a:t>
                      </a:r>
                    </a:p>
                  </a:txBody>
                  <a:tcPr marL="0" marR="0" marT="0" marB="0" anchor="ctr" anchorCtr="0" horzOverflow="overflow"/>
                </a:tc>
                <a:tc>
                  <a:txBody>
                    <a:bodyPr/>
                    <a:lstStyle/>
                    <a:p>
                      <a:pPr indent="457200">
                        <a:defRPr b="0" sz="1800">
                          <a:solidFill>
                            <a:srgbClr val="000000"/>
                          </a:solidFill>
                        </a:defRPr>
                      </a:pPr>
                      <a:r>
                        <a:rPr sz="2200">
                          <a:solidFill>
                            <a:srgbClr val="FFFFFF"/>
                          </a:solidFill>
                          <a:latin typeface="Canela Text Regular"/>
                          <a:ea typeface="Canela Text Regular"/>
                          <a:cs typeface="Canela Text Regular"/>
                          <a:sym typeface="Canela Text Regular"/>
                        </a:rPr>
                        <a:t>[5]        IMC (Indicele de masă corporală)</a:t>
                      </a:r>
                    </a:p>
                  </a:txBody>
                  <a:tcPr marL="0" marR="0" marT="0" marB="0" anchor="ctr" anchorCtr="0" horzOverflow="overflow"/>
                </a:tc>
                <a:tc>
                  <a:txBody>
                    <a:bodyPr/>
                    <a:lstStyle/>
                    <a:p>
                      <a:pPr indent="457200">
                        <a:defRPr b="0" sz="1800">
                          <a:solidFill>
                            <a:srgbClr val="000000"/>
                          </a:solidFill>
                        </a:defRPr>
                      </a:pPr>
                      <a:r>
                        <a:rPr sz="2200">
                          <a:solidFill>
                            <a:srgbClr val="FFFFFF"/>
                          </a:solidFill>
                          <a:latin typeface="Canela Text Regular"/>
                          <a:ea typeface="Canela Text Regular"/>
                          <a:cs typeface="Canela Text Regular"/>
                          <a:sym typeface="Canela Text Regular"/>
                        </a:rPr>
                        <a:t>[6]   Nivelul colesterolului</a:t>
                      </a:r>
                    </a:p>
                  </a:txBody>
                  <a:tcPr marL="0" marR="0" marT="0" marB="0" anchor="ctr" anchorCtr="0" horzOverflow="overflow"/>
                </a:tc>
                <a:tc>
                  <a:txBody>
                    <a:bodyPr/>
                    <a:lstStyle/>
                    <a:p>
                      <a:pPr indent="457200">
                        <a:defRPr b="0" sz="1800">
                          <a:solidFill>
                            <a:srgbClr val="000000"/>
                          </a:solidFill>
                        </a:defRPr>
                      </a:pPr>
                      <a:r>
                        <a:rPr sz="2200">
                          <a:solidFill>
                            <a:srgbClr val="FFFFFF"/>
                          </a:solidFill>
                          <a:latin typeface="Canela Text Regular"/>
                          <a:ea typeface="Canela Text Regular"/>
                          <a:cs typeface="Canela Text Regular"/>
                          <a:sym typeface="Canela Text Regular"/>
                        </a:rPr>
                        <a:t>[7]    Media țigărilor consumate / zi</a:t>
                      </a:r>
                    </a:p>
                  </a:txBody>
                  <a:tcPr marL="0" marR="0" marT="0" marB="0" anchor="ctr" anchorCtr="0" horzOverflow="overflow"/>
                </a:tc>
                <a:tc>
                  <a:txBody>
                    <a:bodyPr/>
                    <a:lstStyle/>
                    <a:p>
                      <a:pPr indent="457200">
                        <a:defRPr b="0" sz="1800">
                          <a:solidFill>
                            <a:srgbClr val="000000"/>
                          </a:solidFill>
                        </a:defRPr>
                      </a:pPr>
                      <a:r>
                        <a:rPr sz="2200">
                          <a:solidFill>
                            <a:srgbClr val="FFFFFF"/>
                          </a:solidFill>
                          <a:latin typeface="Canela Text Regular"/>
                          <a:ea typeface="Canela Text Regular"/>
                          <a:cs typeface="Canela Text Regular"/>
                          <a:sym typeface="Canela Text Regular"/>
                        </a:rPr>
                        <a:t>…</a:t>
                      </a:r>
                    </a:p>
                  </a:txBody>
                  <a:tcPr marL="0" marR="0" marT="0" marB="0" anchor="ctr" anchorCtr="0" horzOverflow="overflow"/>
                </a:tc>
                <a:tc>
                  <a:txBody>
                    <a:bodyPr/>
                    <a:lstStyle/>
                    <a:p>
                      <a:pPr indent="457200">
                        <a:defRPr b="0" sz="1800">
                          <a:solidFill>
                            <a:srgbClr val="000000"/>
                          </a:solidFill>
                        </a:defRPr>
                      </a:pPr>
                      <a:r>
                        <a:rPr sz="2200">
                          <a:solidFill>
                            <a:srgbClr val="FFFFFF"/>
                          </a:solidFill>
                          <a:latin typeface="Canela Text Regular"/>
                          <a:ea typeface="Canela Text Regular"/>
                          <a:cs typeface="Canela Text Regular"/>
                          <a:sym typeface="Canela Text Regular"/>
                        </a:rPr>
                        <a:t>[200] Nivelul zahărului</a:t>
                      </a:r>
                    </a:p>
                  </a:txBody>
                  <a:tcPr marL="0" marR="0" marT="0" marB="0" anchor="ctr" anchorCtr="0" horzOverflow="overflow"/>
                </a:tc>
                <a:tc>
                  <a:txBody>
                    <a:bodyPr/>
                    <a:lstStyle/>
                    <a:p>
                      <a:pPr indent="457200">
                        <a:defRPr b="0" sz="1800">
                          <a:solidFill>
                            <a:srgbClr val="000000"/>
                          </a:solidFill>
                        </a:defRPr>
                      </a:pPr>
                      <a:r>
                        <a:rPr sz="2200">
                          <a:solidFill>
                            <a:srgbClr val="FFFFFF"/>
                          </a:solidFill>
                          <a:latin typeface="Canela Text Regular"/>
                          <a:ea typeface="Canela Text Regular"/>
                          <a:cs typeface="Canela Text Regular"/>
                          <a:sym typeface="Canela Text Regular"/>
                        </a:rPr>
                        <a:t>Risc</a:t>
                      </a:r>
                    </a:p>
                  </a:txBody>
                  <a:tcPr marL="0" marR="0" marT="0" marB="0" anchor="ctr" anchorCtr="0" horzOverflow="overflow">
                    <a:solidFill>
                      <a:schemeClr val="accent5"/>
                    </a:solidFill>
                  </a:tcPr>
                </a:tc>
              </a:tr>
              <a:tr h="441706">
                <a:tc>
                  <a:txBody>
                    <a:bodyPr/>
                    <a:lstStyle/>
                    <a:p>
                      <a:pPr indent="457200">
                        <a:defRPr b="0" sz="1800"/>
                      </a:pPr>
                      <a:r>
                        <a:rPr sz="2200">
                          <a:latin typeface="Canela Text Regular"/>
                          <a:ea typeface="Canela Text Regular"/>
                          <a:cs typeface="Canela Text Regular"/>
                          <a:sym typeface="Canela Text Regular"/>
                        </a:rPr>
                        <a:t>150</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80</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140/90</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63</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36</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5</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0</a:t>
                      </a:r>
                    </a:p>
                  </a:txBody>
                  <a:tcPr marL="0" marR="0" marT="0" marB="0" anchor="ctr" anchorCtr="0" horzOverflow="overflow"/>
                </a:tc>
                <a:tc>
                  <a:txBody>
                    <a:bodyPr/>
                    <a:lstStyle/>
                    <a:p>
                      <a:pPr indent="457200">
                        <a:defRPr b="0" sz="2200">
                          <a:latin typeface="Canela Text Regular"/>
                          <a:ea typeface="Canela Text Regular"/>
                          <a:cs typeface="Canela Text Regular"/>
                          <a:sym typeface="Canela Text Regular"/>
                        </a:defRPr>
                      </a:pP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99</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0</a:t>
                      </a:r>
                    </a:p>
                  </a:txBody>
                  <a:tcPr marL="0" marR="0" marT="0" marB="0" anchor="ctr" anchorCtr="0" horzOverflow="overflow"/>
                </a:tc>
              </a:tr>
              <a:tr h="429006">
                <a:tc>
                  <a:txBody>
                    <a:bodyPr/>
                    <a:lstStyle/>
                    <a:p>
                      <a:pPr indent="457200">
                        <a:defRPr b="0" sz="1800"/>
                      </a:pPr>
                      <a:r>
                        <a:rPr sz="2200">
                          <a:latin typeface="Canela Text Regular"/>
                          <a:ea typeface="Canela Text Regular"/>
                          <a:cs typeface="Canela Text Regular"/>
                          <a:sym typeface="Canela Text Regular"/>
                        </a:rPr>
                        <a:t>174</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90</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90/60</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100</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32</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4.0</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0</a:t>
                      </a:r>
                    </a:p>
                  </a:txBody>
                  <a:tcPr marL="0" marR="0" marT="0" marB="0" anchor="ctr" anchorCtr="0" horzOverflow="overflow"/>
                </a:tc>
                <a:tc>
                  <a:txBody>
                    <a:bodyPr/>
                    <a:lstStyle/>
                    <a:p>
                      <a:pPr indent="457200">
                        <a:defRPr b="0" sz="2200">
                          <a:latin typeface="Canela Text Regular"/>
                          <a:ea typeface="Canela Text Regular"/>
                          <a:cs typeface="Canela Text Regular"/>
                          <a:sym typeface="Canela Text Regular"/>
                        </a:defRPr>
                      </a:pP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95</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1</a:t>
                      </a:r>
                    </a:p>
                  </a:txBody>
                  <a:tcPr marL="0" marR="0" marT="0" marB="0" anchor="ctr" anchorCtr="0" horzOverflow="overflow"/>
                </a:tc>
              </a:tr>
              <a:tr h="1081267">
                <a:tc>
                  <a:txBody>
                    <a:bodyPr/>
                    <a:lstStyle/>
                    <a:p>
                      <a:pPr indent="457200">
                        <a:defRPr b="0" sz="1800"/>
                      </a:pPr>
                      <a:r>
                        <a:rPr sz="2200">
                          <a:latin typeface="Canela Text Regular"/>
                          <a:ea typeface="Canela Text Regular"/>
                          <a:cs typeface="Canela Text Regular"/>
                          <a:sym typeface="Canela Text Regular"/>
                        </a:rPr>
                        <a:t>180</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82</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92/60</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78</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25</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3.7</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10</a:t>
                      </a:r>
                    </a:p>
                  </a:txBody>
                  <a:tcPr marL="0" marR="0" marT="0" marB="0" anchor="ctr" anchorCtr="0" horzOverflow="overflow"/>
                </a:tc>
                <a:tc>
                  <a:txBody>
                    <a:bodyPr/>
                    <a:lstStyle/>
                    <a:p>
                      <a:pPr indent="457200">
                        <a:defRPr b="0" sz="2200">
                          <a:latin typeface="Canela Text Regular"/>
                          <a:ea typeface="Canela Text Regular"/>
                          <a:cs typeface="Canela Text Regular"/>
                          <a:sym typeface="Canela Text Regular"/>
                        </a:defRPr>
                      </a:pP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112</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2</a:t>
                      </a:r>
                    </a:p>
                  </a:txBody>
                  <a:tcPr marL="0" marR="0" marT="0" marB="0" anchor="ctr" anchorCtr="0" horzOverflow="overflow"/>
                </a:tc>
              </a:tr>
              <a:tr h="1081267">
                <a:tc>
                  <a:txBody>
                    <a:bodyPr/>
                    <a:lstStyle/>
                    <a:p>
                      <a:pPr indent="457200">
                        <a:defRPr b="0" sz="1800"/>
                      </a:pPr>
                      <a:r>
                        <a:rPr sz="2200">
                          <a:latin typeface="Canela Text Regular"/>
                          <a:ea typeface="Canela Text Regular"/>
                          <a:cs typeface="Canela Text Regular"/>
                          <a:sym typeface="Canela Text Regular"/>
                        </a:rPr>
                        <a:t>…</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a:t>
                      </a:r>
                    </a:p>
                  </a:txBody>
                  <a:tcPr marL="0" marR="0" marT="0" marB="0" anchor="ctr" anchorCtr="0" horzOverflow="overflow"/>
                </a:tc>
                <a:tc>
                  <a:txBody>
                    <a:bodyPr/>
                    <a:lstStyle/>
                    <a:p>
                      <a:pPr indent="457200">
                        <a:defRPr b="0" sz="2200">
                          <a:latin typeface="Canela Text Regular"/>
                          <a:ea typeface="Canela Text Regular"/>
                          <a:cs typeface="Canela Text Regular"/>
                          <a:sym typeface="Canela Text Regular"/>
                        </a:defRPr>
                      </a:pPr>
                    </a:p>
                  </a:txBody>
                  <a:tcPr marL="0" marR="0" marT="0" marB="0" anchor="ctr" anchorCtr="0" horzOverflow="overflow"/>
                </a:tc>
                <a:tc>
                  <a:txBody>
                    <a:bodyPr/>
                    <a:lstStyle/>
                    <a:p>
                      <a:pPr indent="457200">
                        <a:defRPr b="0" sz="2200">
                          <a:latin typeface="Canela Text Regular"/>
                          <a:ea typeface="Canela Text Regular"/>
                          <a:cs typeface="Canela Text Regular"/>
                          <a:sym typeface="Canela Text Regular"/>
                        </a:defRPr>
                      </a:pPr>
                    </a:p>
                  </a:txBody>
                  <a:tcPr marL="0" marR="0" marT="0" marB="0" anchor="ctr" anchorCtr="0" horzOverflow="overflow"/>
                </a:tc>
                <a:tc>
                  <a:txBody>
                    <a:bodyPr/>
                    <a:lstStyle/>
                    <a:p>
                      <a:pPr indent="457200">
                        <a:defRPr b="0" sz="2200">
                          <a:latin typeface="Canela Text Regular"/>
                          <a:ea typeface="Canela Text Regular"/>
                          <a:cs typeface="Canela Text Regular"/>
                          <a:sym typeface="Canela Text Regular"/>
                        </a:defRPr>
                      </a:pPr>
                    </a:p>
                  </a:txBody>
                  <a:tcPr marL="0" marR="0" marT="0" marB="0" anchor="ctr" anchorCtr="0" horzOverflow="overflow"/>
                </a:tc>
                <a:tc>
                  <a:txBody>
                    <a:bodyPr/>
                    <a:lstStyle/>
                    <a:p>
                      <a:pPr indent="457200">
                        <a:defRPr b="0" sz="2200">
                          <a:latin typeface="Canela Text Regular"/>
                          <a:ea typeface="Canela Text Regular"/>
                          <a:cs typeface="Canela Text Regular"/>
                          <a:sym typeface="Canela Text Regular"/>
                        </a:defRPr>
                      </a:pPr>
                    </a:p>
                  </a:txBody>
                  <a:tcPr marL="0" marR="0" marT="0" marB="0" anchor="ctr" anchorCtr="0" horzOverflow="overflow"/>
                </a:tc>
                <a:tc>
                  <a:txBody>
                    <a:bodyPr/>
                    <a:lstStyle/>
                    <a:p>
                      <a:pPr indent="457200">
                        <a:defRPr b="0" sz="2200">
                          <a:latin typeface="Canela Text Regular"/>
                          <a:ea typeface="Canela Text Regular"/>
                          <a:cs typeface="Canela Text Regular"/>
                          <a:sym typeface="Canela Text Regular"/>
                        </a:defRPr>
                      </a:pP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a:t>
                      </a:r>
                    </a:p>
                  </a:txBody>
                  <a:tcPr marL="0" marR="0" marT="0" marB="0" anchor="ctr" anchorCtr="0" horzOverflow="overflow"/>
                </a:tc>
              </a:tr>
            </a:tbl>
          </a:graphicData>
        </a:graphic>
      </p:graphicFrame>
      <p:sp>
        <p:nvSpPr>
          <p:cNvPr id="305" name="Ecuație"/>
          <p:cNvSpPr txBox="1"/>
          <p:nvPr/>
        </p:nvSpPr>
        <p:spPr>
          <a:xfrm>
            <a:off x="1056436" y="7095921"/>
            <a:ext cx="11266806" cy="5692497"/>
          </a:xfrm>
          <a:prstGeom prst="rect">
            <a:avLst/>
          </a:prstGeom>
          <a:ln w="12700">
            <a:miter lim="400000"/>
          </a:ln>
        </p:spPr>
        <p:txBody>
          <a:bodyPr wrap="none" lIns="0" tIns="0" rIns="0" bIns="0">
            <a:spAutoFit/>
          </a:bodyPr>
          <a:lstStyle/>
          <a:p>
            <a:pPr defTabSz="914400" latinLnBrk="1">
              <a:lnSpc>
                <a:spcPct val="100000"/>
              </a:lnSpc>
              <a:spcBef>
                <a:spcPts val="0"/>
              </a:spcBef>
              <a:defRPr sz="1800"/>
            </a:pPr>
            <a14:m>
              <m:oMathPara>
                <m:oMathParaPr>
                  <m:jc m:val="centerGroup"/>
                </m:oMathParaPr>
                <m:oMath>
                  <m:sSub>
                    <m:e>
                      <m:limUpp>
                        <m:e>
                          <m:r>
                            <a:rPr xmlns:a="http://schemas.openxmlformats.org/drawingml/2006/main" sz="4400" i="1">
                              <a:solidFill>
                                <a:srgbClr val="000000"/>
                              </a:solidFill>
                              <a:latin typeface="Cambria Math" panose="02040503050406030204" pitchFamily="18" charset="0"/>
                            </a:rPr>
                            <m:t>x</m:t>
                          </m:r>
                        </m:e>
                        <m:lim>
                          <m:r>
                            <a:rPr xmlns:a="http://schemas.openxmlformats.org/drawingml/2006/main" sz="4400" i="1">
                              <a:solidFill>
                                <a:srgbClr val="000000"/>
                              </a:solidFill>
                              <a:latin typeface="Cambria Math" panose="02040503050406030204" pitchFamily="18" charset="0"/>
                            </a:rPr>
                            <m:t>⃗</m:t>
                          </m:r>
                        </m:lim>
                      </m:limUpp>
                    </m:e>
                    <m:sub>
                      <m:r>
                        <a:rPr xmlns:a="http://schemas.openxmlformats.org/drawingml/2006/main" sz="4400" i="1">
                          <a:solidFill>
                            <a:srgbClr val="000000"/>
                          </a:solidFill>
                          <a:latin typeface="Cambria Math" panose="02040503050406030204" pitchFamily="18" charset="0"/>
                        </a:rPr>
                        <m:t>1</m:t>
                      </m:r>
                    </m:sub>
                  </m:sSub>
                  <m:r>
                    <a:rPr xmlns:a="http://schemas.openxmlformats.org/drawingml/2006/main" sz="4400" i="1">
                      <a:solidFill>
                        <a:srgbClr val="000000"/>
                      </a:solidFill>
                      <a:latin typeface="Cambria Math" panose="02040503050406030204" pitchFamily="18" charset="0"/>
                    </a:rPr>
                    <m:t>=</m:t>
                  </m:r>
                  <m:d>
                    <m:dPr>
                      <m:ctrlPr>
                        <a:rPr xmlns:a="http://schemas.openxmlformats.org/drawingml/2006/main" sz="4400" i="1">
                          <a:solidFill>
                            <a:srgbClr val="000000"/>
                          </a:solidFill>
                          <a:latin typeface="Cambria Math" panose="02040503050406030204" pitchFamily="18" charset="0"/>
                        </a:rPr>
                      </m:ctrlPr>
                      <m:begChr m:val="["/>
                      <m:endChr m:val="]"/>
                    </m:dPr>
                    <m:e>
                      <m:eqArr>
                        <m:eqArrPr>
                          <m:ctrlPr>
                            <a:rPr xmlns:a="http://schemas.openxmlformats.org/drawingml/2006/main" sz="4400" i="1">
                              <a:solidFill>
                                <a:srgbClr val="000000"/>
                              </a:solidFill>
                              <a:latin typeface="Cambria Math" panose="02040503050406030204" pitchFamily="18" charset="0"/>
                            </a:rPr>
                          </m:ctrlPr>
                        </m:eqArrPr>
                        <m:e>
                          <m:r>
                            <a:rPr xmlns:a="http://schemas.openxmlformats.org/drawingml/2006/main" sz="4400" i="1">
                              <a:solidFill>
                                <a:srgbClr val="000000"/>
                              </a:solidFill>
                              <a:latin typeface="Cambria Math" panose="02040503050406030204" pitchFamily="18" charset="0"/>
                            </a:rPr>
                            <m:t>150</m:t>
                          </m:r>
                        </m:e>
                        <m:e>
                          <m:r>
                            <a:rPr xmlns:a="http://schemas.openxmlformats.org/drawingml/2006/main" sz="4400" i="1">
                              <a:solidFill>
                                <a:srgbClr val="000000"/>
                              </a:solidFill>
                              <a:latin typeface="Cambria Math" panose="02040503050406030204" pitchFamily="18" charset="0"/>
                            </a:rPr>
                            <m:t>80</m:t>
                          </m:r>
                        </m:e>
                        <m:e>
                          <m:r>
                            <a:rPr xmlns:a="http://schemas.openxmlformats.org/drawingml/2006/main" sz="4400" i="1">
                              <a:solidFill>
                                <a:srgbClr val="000000"/>
                              </a:solidFill>
                              <a:latin typeface="Cambria Math" panose="02040503050406030204" pitchFamily="18" charset="0"/>
                            </a:rPr>
                            <m:t>140</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90</m:t>
                          </m:r>
                        </m:e>
                        <m:e>
                          <m:r>
                            <a:rPr xmlns:a="http://schemas.openxmlformats.org/drawingml/2006/main" sz="4400" i="1">
                              <a:solidFill>
                                <a:srgbClr val="000000"/>
                              </a:solidFill>
                              <a:latin typeface="Cambria Math" panose="02040503050406030204" pitchFamily="18" charset="0"/>
                            </a:rPr>
                            <m:t>63</m:t>
                          </m:r>
                        </m:e>
                        <m:e>
                          <m:r>
                            <a:rPr xmlns:a="http://schemas.openxmlformats.org/drawingml/2006/main" sz="4400" i="1">
                              <a:solidFill>
                                <a:srgbClr val="000000"/>
                              </a:solidFill>
                              <a:latin typeface="Cambria Math" panose="02040503050406030204" pitchFamily="18" charset="0"/>
                            </a:rPr>
                            <m:t>36</m:t>
                          </m:r>
                        </m:e>
                        <m:e>
                          <m:r>
                            <a:rPr xmlns:a="http://schemas.openxmlformats.org/drawingml/2006/main" sz="4400" i="1">
                              <a:solidFill>
                                <a:srgbClr val="000000"/>
                              </a:solidFill>
                              <a:latin typeface="Cambria Math" panose="02040503050406030204" pitchFamily="18" charset="0"/>
                            </a:rPr>
                            <m:t>5.0</m:t>
                          </m:r>
                        </m:e>
                        <m:e>
                          <m:r>
                            <a:rPr xmlns:a="http://schemas.openxmlformats.org/drawingml/2006/main" sz="4400" i="1">
                              <a:solidFill>
                                <a:srgbClr val="000000"/>
                              </a:solidFill>
                              <a:latin typeface="Cambria Math" panose="02040503050406030204" pitchFamily="18" charset="0"/>
                            </a:rPr>
                            <m:t>0</m:t>
                          </m:r>
                        </m:e>
                        <m:e>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m:t>
                          </m:r>
                        </m:e>
                        <m:e>
                          <m:r>
                            <a:rPr xmlns:a="http://schemas.openxmlformats.org/drawingml/2006/main" sz="4400" i="1">
                              <a:solidFill>
                                <a:srgbClr val="000000"/>
                              </a:solidFill>
                              <a:latin typeface="Cambria Math" panose="02040503050406030204" pitchFamily="18" charset="0"/>
                            </a:rPr>
                            <m:t>99</m:t>
                          </m:r>
                        </m:e>
                      </m:eqArr>
                    </m:e>
                  </m:d>
                  <m:r>
                    <a:rPr xmlns:a="http://schemas.openxmlformats.org/drawingml/2006/main" sz="4400" i="1">
                      <a:solidFill>
                        <a:srgbClr val="000000"/>
                      </a:solidFill>
                      <a:latin typeface="Cambria Math" panose="02040503050406030204" pitchFamily="18" charset="0"/>
                    </a:rPr>
                    <m:t>,</m:t>
                  </m:r>
                  <m:sSub>
                    <m:e>
                      <m:limUpp>
                        <m:e>
                          <m:r>
                            <a:rPr xmlns:a="http://schemas.openxmlformats.org/drawingml/2006/main" sz="4400" i="1">
                              <a:solidFill>
                                <a:srgbClr val="000000"/>
                              </a:solidFill>
                              <a:latin typeface="Cambria Math" panose="02040503050406030204" pitchFamily="18" charset="0"/>
                            </a:rPr>
                            <m:t>x</m:t>
                          </m:r>
                        </m:e>
                        <m:lim>
                          <m:r>
                            <a:rPr xmlns:a="http://schemas.openxmlformats.org/drawingml/2006/main" sz="4400" i="1">
                              <a:solidFill>
                                <a:srgbClr val="000000"/>
                              </a:solidFill>
                              <a:latin typeface="Cambria Math" panose="02040503050406030204" pitchFamily="18" charset="0"/>
                            </a:rPr>
                            <m:t>⃗</m:t>
                          </m:r>
                        </m:lim>
                      </m:limUpp>
                    </m:e>
                    <m:sub>
                      <m:r>
                        <a:rPr xmlns:a="http://schemas.openxmlformats.org/drawingml/2006/main" sz="4400" i="1">
                          <a:solidFill>
                            <a:srgbClr val="000000"/>
                          </a:solidFill>
                          <a:latin typeface="Cambria Math" panose="02040503050406030204" pitchFamily="18" charset="0"/>
                        </a:rPr>
                        <m:t>2</m:t>
                      </m:r>
                    </m:sub>
                  </m:sSub>
                  <m:r>
                    <a:rPr xmlns:a="http://schemas.openxmlformats.org/drawingml/2006/main" sz="4400" i="1">
                      <a:solidFill>
                        <a:srgbClr val="000000"/>
                      </a:solidFill>
                      <a:latin typeface="Cambria Math" panose="02040503050406030204" pitchFamily="18" charset="0"/>
                    </a:rPr>
                    <m:t>=</m:t>
                  </m:r>
                  <m:d>
                    <m:dPr>
                      <m:ctrlPr>
                        <a:rPr xmlns:a="http://schemas.openxmlformats.org/drawingml/2006/main" sz="4400" i="1">
                          <a:solidFill>
                            <a:srgbClr val="000000"/>
                          </a:solidFill>
                          <a:latin typeface="Cambria Math" panose="02040503050406030204" pitchFamily="18" charset="0"/>
                        </a:rPr>
                      </m:ctrlPr>
                      <m:begChr m:val="["/>
                      <m:endChr m:val="]"/>
                    </m:dPr>
                    <m:e>
                      <m:eqArr>
                        <m:eqArrPr>
                          <m:ctrlPr>
                            <a:rPr xmlns:a="http://schemas.openxmlformats.org/drawingml/2006/main" sz="4400" i="1">
                              <a:solidFill>
                                <a:srgbClr val="000000"/>
                              </a:solidFill>
                              <a:latin typeface="Cambria Math" panose="02040503050406030204" pitchFamily="18" charset="0"/>
                            </a:rPr>
                          </m:ctrlPr>
                        </m:eqArrPr>
                        <m:e>
                          <m:r>
                            <a:rPr xmlns:a="http://schemas.openxmlformats.org/drawingml/2006/main" sz="4400" i="1">
                              <a:solidFill>
                                <a:srgbClr val="000000"/>
                              </a:solidFill>
                              <a:latin typeface="Cambria Math" panose="02040503050406030204" pitchFamily="18" charset="0"/>
                            </a:rPr>
                            <m:t>174</m:t>
                          </m:r>
                        </m:e>
                        <m:e>
                          <m:r>
                            <a:rPr xmlns:a="http://schemas.openxmlformats.org/drawingml/2006/main" sz="4400" i="1">
                              <a:solidFill>
                                <a:srgbClr val="000000"/>
                              </a:solidFill>
                              <a:latin typeface="Cambria Math" panose="02040503050406030204" pitchFamily="18" charset="0"/>
                            </a:rPr>
                            <m:t>90</m:t>
                          </m:r>
                        </m:e>
                        <m:e>
                          <m:r>
                            <a:rPr xmlns:a="http://schemas.openxmlformats.org/drawingml/2006/main" sz="4400" i="1">
                              <a:solidFill>
                                <a:srgbClr val="000000"/>
                              </a:solidFill>
                              <a:latin typeface="Cambria Math" panose="02040503050406030204" pitchFamily="18" charset="0"/>
                            </a:rPr>
                            <m:t>90</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60</m:t>
                          </m:r>
                        </m:e>
                        <m:e>
                          <m:r>
                            <a:rPr xmlns:a="http://schemas.openxmlformats.org/drawingml/2006/main" sz="4400" i="1">
                              <a:solidFill>
                                <a:srgbClr val="000000"/>
                              </a:solidFill>
                              <a:latin typeface="Cambria Math" panose="02040503050406030204" pitchFamily="18" charset="0"/>
                            </a:rPr>
                            <m:t>100</m:t>
                          </m:r>
                        </m:e>
                        <m:e>
                          <m:r>
                            <a:rPr xmlns:a="http://schemas.openxmlformats.org/drawingml/2006/main" sz="4400" i="1">
                              <a:solidFill>
                                <a:srgbClr val="000000"/>
                              </a:solidFill>
                              <a:latin typeface="Cambria Math" panose="02040503050406030204" pitchFamily="18" charset="0"/>
                            </a:rPr>
                            <m:t>32</m:t>
                          </m:r>
                        </m:e>
                        <m:e>
                          <m:r>
                            <a:rPr xmlns:a="http://schemas.openxmlformats.org/drawingml/2006/main" sz="4400" i="1">
                              <a:solidFill>
                                <a:srgbClr val="000000"/>
                              </a:solidFill>
                              <a:latin typeface="Cambria Math" panose="02040503050406030204" pitchFamily="18" charset="0"/>
                            </a:rPr>
                            <m:t>4.0</m:t>
                          </m:r>
                        </m:e>
                        <m:e>
                          <m:r>
                            <a:rPr xmlns:a="http://schemas.openxmlformats.org/drawingml/2006/main" sz="4400" i="1">
                              <a:solidFill>
                                <a:srgbClr val="000000"/>
                              </a:solidFill>
                              <a:latin typeface="Cambria Math" panose="02040503050406030204" pitchFamily="18" charset="0"/>
                            </a:rPr>
                            <m:t>0</m:t>
                          </m:r>
                        </m:e>
                        <m:e>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m:t>
                          </m:r>
                        </m:e>
                        <m:e>
                          <m:r>
                            <a:rPr xmlns:a="http://schemas.openxmlformats.org/drawingml/2006/main" sz="4400" i="1">
                              <a:solidFill>
                                <a:srgbClr val="000000"/>
                              </a:solidFill>
                              <a:latin typeface="Cambria Math" panose="02040503050406030204" pitchFamily="18" charset="0"/>
                            </a:rPr>
                            <m:t>95</m:t>
                          </m:r>
                        </m:e>
                      </m:eqArr>
                    </m:e>
                  </m:d>
                  <m:r>
                    <a:rPr xmlns:a="http://schemas.openxmlformats.org/drawingml/2006/main" sz="4400" i="1">
                      <a:solidFill>
                        <a:srgbClr val="000000"/>
                      </a:solidFill>
                      <a:latin typeface="Cambria Math" panose="02040503050406030204" pitchFamily="18" charset="0"/>
                    </a:rPr>
                    <m:t>,</m:t>
                  </m:r>
                  <m:sSub>
                    <m:e>
                      <m:limUpp>
                        <m:e>
                          <m:r>
                            <a:rPr xmlns:a="http://schemas.openxmlformats.org/drawingml/2006/main" sz="4400" i="1">
                              <a:solidFill>
                                <a:srgbClr val="000000"/>
                              </a:solidFill>
                              <a:latin typeface="Cambria Math" panose="02040503050406030204" pitchFamily="18" charset="0"/>
                            </a:rPr>
                            <m:t>x</m:t>
                          </m:r>
                        </m:e>
                        <m:lim>
                          <m:r>
                            <a:rPr xmlns:a="http://schemas.openxmlformats.org/drawingml/2006/main" sz="4400" i="1">
                              <a:solidFill>
                                <a:srgbClr val="000000"/>
                              </a:solidFill>
                              <a:latin typeface="Cambria Math" panose="02040503050406030204" pitchFamily="18" charset="0"/>
                            </a:rPr>
                            <m:t>⃗</m:t>
                          </m:r>
                        </m:lim>
                      </m:limUpp>
                    </m:e>
                    <m:sub>
                      <m:r>
                        <a:rPr xmlns:a="http://schemas.openxmlformats.org/drawingml/2006/main" sz="4400" i="1">
                          <a:solidFill>
                            <a:srgbClr val="000000"/>
                          </a:solidFill>
                          <a:latin typeface="Cambria Math" panose="02040503050406030204" pitchFamily="18" charset="0"/>
                        </a:rPr>
                        <m:t>3</m:t>
                      </m:r>
                    </m:sub>
                  </m:sSub>
                  <m:r>
                    <a:rPr xmlns:a="http://schemas.openxmlformats.org/drawingml/2006/main" sz="4400" i="1">
                      <a:solidFill>
                        <a:srgbClr val="000000"/>
                      </a:solidFill>
                      <a:latin typeface="Cambria Math" panose="02040503050406030204" pitchFamily="18" charset="0"/>
                    </a:rPr>
                    <m:t>=</m:t>
                  </m:r>
                  <m:d>
                    <m:dPr>
                      <m:ctrlPr>
                        <a:rPr xmlns:a="http://schemas.openxmlformats.org/drawingml/2006/main" sz="4400" i="1">
                          <a:solidFill>
                            <a:srgbClr val="000000"/>
                          </a:solidFill>
                          <a:latin typeface="Cambria Math" panose="02040503050406030204" pitchFamily="18" charset="0"/>
                        </a:rPr>
                      </m:ctrlPr>
                      <m:begChr m:val="["/>
                      <m:endChr m:val="]"/>
                    </m:dPr>
                    <m:e>
                      <m:eqArr>
                        <m:eqArrPr>
                          <m:ctrlPr>
                            <a:rPr xmlns:a="http://schemas.openxmlformats.org/drawingml/2006/main" sz="4400" i="1">
                              <a:solidFill>
                                <a:srgbClr val="000000"/>
                              </a:solidFill>
                              <a:latin typeface="Cambria Math" panose="02040503050406030204" pitchFamily="18" charset="0"/>
                            </a:rPr>
                          </m:ctrlPr>
                        </m:eqArrPr>
                        <m:e>
                          <m:r>
                            <a:rPr xmlns:a="http://schemas.openxmlformats.org/drawingml/2006/main" sz="4400" i="1">
                              <a:solidFill>
                                <a:srgbClr val="000000"/>
                              </a:solidFill>
                              <a:latin typeface="Cambria Math" panose="02040503050406030204" pitchFamily="18" charset="0"/>
                            </a:rPr>
                            <m:t>180</m:t>
                          </m:r>
                        </m:e>
                        <m:e>
                          <m:r>
                            <a:rPr xmlns:a="http://schemas.openxmlformats.org/drawingml/2006/main" sz="4400" i="1">
                              <a:solidFill>
                                <a:srgbClr val="000000"/>
                              </a:solidFill>
                              <a:latin typeface="Cambria Math" panose="02040503050406030204" pitchFamily="18" charset="0"/>
                            </a:rPr>
                            <m:t>82</m:t>
                          </m:r>
                        </m:e>
                        <m:e>
                          <m:r>
                            <a:rPr xmlns:a="http://schemas.openxmlformats.org/drawingml/2006/main" sz="4400" i="1">
                              <a:solidFill>
                                <a:srgbClr val="000000"/>
                              </a:solidFill>
                              <a:latin typeface="Cambria Math" panose="02040503050406030204" pitchFamily="18" charset="0"/>
                            </a:rPr>
                            <m:t>92</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60</m:t>
                          </m:r>
                        </m:e>
                        <m:e>
                          <m:r>
                            <a:rPr xmlns:a="http://schemas.openxmlformats.org/drawingml/2006/main" sz="4400" i="1">
                              <a:solidFill>
                                <a:srgbClr val="000000"/>
                              </a:solidFill>
                              <a:latin typeface="Cambria Math" panose="02040503050406030204" pitchFamily="18" charset="0"/>
                            </a:rPr>
                            <m:t>78</m:t>
                          </m:r>
                        </m:e>
                        <m:e>
                          <m:r>
                            <a:rPr xmlns:a="http://schemas.openxmlformats.org/drawingml/2006/main" sz="4400" i="1">
                              <a:solidFill>
                                <a:srgbClr val="000000"/>
                              </a:solidFill>
                              <a:latin typeface="Cambria Math" panose="02040503050406030204" pitchFamily="18" charset="0"/>
                            </a:rPr>
                            <m:t>25</m:t>
                          </m:r>
                        </m:e>
                        <m:e>
                          <m:r>
                            <a:rPr xmlns:a="http://schemas.openxmlformats.org/drawingml/2006/main" sz="4400" i="1">
                              <a:solidFill>
                                <a:srgbClr val="000000"/>
                              </a:solidFill>
                              <a:latin typeface="Cambria Math" panose="02040503050406030204" pitchFamily="18" charset="0"/>
                            </a:rPr>
                            <m:t>3.7</m:t>
                          </m:r>
                        </m:e>
                        <m:e>
                          <m:r>
                            <a:rPr xmlns:a="http://schemas.openxmlformats.org/drawingml/2006/main" sz="4400" i="1">
                              <a:solidFill>
                                <a:srgbClr val="000000"/>
                              </a:solidFill>
                              <a:latin typeface="Cambria Math" panose="02040503050406030204" pitchFamily="18" charset="0"/>
                            </a:rPr>
                            <m:t>10</m:t>
                          </m:r>
                        </m:e>
                        <m:e>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m:t>
                          </m:r>
                        </m:e>
                        <m:e>
                          <m:r>
                            <a:rPr xmlns:a="http://schemas.openxmlformats.org/drawingml/2006/main" sz="4400" i="1">
                              <a:solidFill>
                                <a:srgbClr val="000000"/>
                              </a:solidFill>
                              <a:latin typeface="Cambria Math" panose="02040503050406030204" pitchFamily="18" charset="0"/>
                            </a:rPr>
                            <m:t>112</m:t>
                          </m:r>
                        </m:e>
                      </m:eqArr>
                    </m:e>
                  </m:d>
                </m:oMath>
              </m:oMathPara>
            </a14:m>
            <a:endParaRPr sz="4400"/>
          </a:p>
        </p:txBody>
      </p:sp>
      <p:sp>
        <p:nvSpPr>
          <p:cNvPr id="306" name="…"/>
          <p:cNvSpPr txBox="1"/>
          <p:nvPr/>
        </p:nvSpPr>
        <p:spPr>
          <a:xfrm>
            <a:off x="12907602" y="9304350"/>
            <a:ext cx="547930"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a:t>
            </a:r>
          </a:p>
        </p:txBody>
      </p:sp>
      <p:sp>
        <p:nvSpPr>
          <p:cNvPr id="307" name="Ecuație"/>
          <p:cNvSpPr txBox="1"/>
          <p:nvPr/>
        </p:nvSpPr>
        <p:spPr>
          <a:xfrm>
            <a:off x="16755181" y="8473514"/>
            <a:ext cx="2436662" cy="3349381"/>
          </a:xfrm>
          <a:prstGeom prst="rect">
            <a:avLst/>
          </a:prstGeom>
          <a:ln w="12700">
            <a:miter lim="400000"/>
          </a:ln>
        </p:spPr>
        <p:txBody>
          <a:bodyPr wrap="none" lIns="0" tIns="0" rIns="0" bIns="0">
            <a:spAutoFit/>
          </a:bodyPr>
          <a:lstStyle/>
          <a:p>
            <a:pPr defTabSz="914400" latinLnBrk="1">
              <a:lnSpc>
                <a:spcPct val="100000"/>
              </a:lnSpc>
              <a:spcBef>
                <a:spcPts val="0"/>
              </a:spcBef>
              <a:defRPr sz="1800"/>
            </a:pPr>
            <a14:m>
              <m:oMathPara>
                <m:oMathParaPr>
                  <m:jc m:val="centerGroup"/>
                </m:oMathParaPr>
                <m:oMath>
                  <m:limUpp>
                    <m:e>
                      <m:r>
                        <a:rPr xmlns:a="http://schemas.openxmlformats.org/drawingml/2006/main" sz="4400" i="1">
                          <a:solidFill>
                            <a:srgbClr val="000000"/>
                          </a:solidFill>
                          <a:latin typeface="Cambria Math" panose="02040503050406030204" pitchFamily="18" charset="0"/>
                        </a:rPr>
                        <m:t>u</m:t>
                      </m:r>
                    </m:e>
                    <m:lim>
                      <m:r>
                        <a:rPr xmlns:a="http://schemas.openxmlformats.org/drawingml/2006/main" sz="4400" i="1">
                          <a:solidFill>
                            <a:srgbClr val="000000"/>
                          </a:solidFill>
                          <a:latin typeface="Cambria Math" panose="02040503050406030204" pitchFamily="18" charset="0"/>
                        </a:rPr>
                        <m:t>⃗</m:t>
                      </m:r>
                    </m:lim>
                  </m:limUpp>
                  <m:r>
                    <a:rPr xmlns:a="http://schemas.openxmlformats.org/drawingml/2006/main" sz="4400" i="1">
                      <a:solidFill>
                        <a:srgbClr val="000000"/>
                      </a:solidFill>
                      <a:latin typeface="Cambria Math" panose="02040503050406030204" pitchFamily="18" charset="0"/>
                    </a:rPr>
                    <m:t>=</m:t>
                  </m:r>
                  <m:d>
                    <m:dPr>
                      <m:ctrlPr>
                        <a:rPr xmlns:a="http://schemas.openxmlformats.org/drawingml/2006/main" sz="4400" i="1">
                          <a:solidFill>
                            <a:srgbClr val="000000"/>
                          </a:solidFill>
                          <a:latin typeface="Cambria Math" panose="02040503050406030204" pitchFamily="18" charset="0"/>
                        </a:rPr>
                      </m:ctrlPr>
                      <m:begChr m:val="["/>
                      <m:endChr m:val="]"/>
                    </m:dPr>
                    <m:e>
                      <m:eqArr>
                        <m:eqArrPr>
                          <m:ctrlPr>
                            <a:rPr xmlns:a="http://schemas.openxmlformats.org/drawingml/2006/main" sz="4400" i="1">
                              <a:solidFill>
                                <a:srgbClr val="000000"/>
                              </a:solidFill>
                              <a:latin typeface="Cambria Math" panose="02040503050406030204" pitchFamily="18" charset="0"/>
                            </a:rPr>
                          </m:ctrlPr>
                        </m:eqArrPr>
                        <m:e>
                          <m:sSub>
                            <m:e>
                              <m:argPr>
                                <m:scrLvl m:val="0"/>
                              </m:argPr>
                              <m:r>
                                <a:rPr xmlns:a="http://schemas.openxmlformats.org/drawingml/2006/main" sz="4400" i="1">
                                  <a:solidFill>
                                    <a:srgbClr val="000000"/>
                                  </a:solidFill>
                                  <a:latin typeface="Cambria Math" panose="02040503050406030204" pitchFamily="18" charset="0"/>
                                </a:rPr>
                                <m:t>u</m:t>
                              </m:r>
                            </m:e>
                            <m:sub>
                              <m:argPr>
                                <m:scrLvl m:val="0"/>
                              </m:argPr>
                              <m:r>
                                <a:rPr xmlns:a="http://schemas.openxmlformats.org/drawingml/2006/main" sz="4400" i="1">
                                  <a:solidFill>
                                    <a:srgbClr val="000000"/>
                                  </a:solidFill>
                                  <a:latin typeface="Cambria Math" panose="02040503050406030204" pitchFamily="18" charset="0"/>
                                </a:rPr>
                                <m:t>1</m:t>
                              </m:r>
                            </m:sub>
                          </m:sSub>
                        </m:e>
                        <m:e>
                          <m:sSub>
                            <m:e>
                              <m:argPr>
                                <m:scrLvl m:val="0"/>
                              </m:argPr>
                              <m:r>
                                <a:rPr xmlns:a="http://schemas.openxmlformats.org/drawingml/2006/main" sz="4400" i="1">
                                  <a:solidFill>
                                    <a:srgbClr val="000000"/>
                                  </a:solidFill>
                                  <a:latin typeface="Cambria Math" panose="02040503050406030204" pitchFamily="18" charset="0"/>
                                </a:rPr>
                                <m:t>u</m:t>
                              </m:r>
                            </m:e>
                            <m:sub>
                              <m:argPr>
                                <m:scrLvl m:val="0"/>
                              </m:argPr>
                              <m:r>
                                <a:rPr xmlns:a="http://schemas.openxmlformats.org/drawingml/2006/main" sz="4400" i="1">
                                  <a:solidFill>
                                    <a:srgbClr val="000000"/>
                                  </a:solidFill>
                                  <a:latin typeface="Cambria Math" panose="02040503050406030204" pitchFamily="18" charset="0"/>
                                </a:rPr>
                                <m:t>2</m:t>
                              </m:r>
                            </m:sub>
                          </m:sSub>
                        </m:e>
                        <m:e>
                          <m:sSub>
                            <m:e>
                              <m:argPr>
                                <m:scrLvl m:val="0"/>
                              </m:argPr>
                              <m:r>
                                <a:rPr xmlns:a="http://schemas.openxmlformats.org/drawingml/2006/main" sz="4400" i="1">
                                  <a:solidFill>
                                    <a:srgbClr val="000000"/>
                                  </a:solidFill>
                                  <a:latin typeface="Cambria Math" panose="02040503050406030204" pitchFamily="18" charset="0"/>
                                </a:rPr>
                                <m:t>u</m:t>
                              </m:r>
                            </m:e>
                            <m:sub>
                              <m:argPr>
                                <m:scrLvl m:val="0"/>
                              </m:argPr>
                              <m:r>
                                <a:rPr xmlns:a="http://schemas.openxmlformats.org/drawingml/2006/main" sz="4400" i="1">
                                  <a:solidFill>
                                    <a:srgbClr val="000000"/>
                                  </a:solidFill>
                                  <a:latin typeface="Cambria Math" panose="02040503050406030204" pitchFamily="18" charset="0"/>
                                </a:rPr>
                                <m:t>3</m:t>
                              </m:r>
                            </m:sub>
                          </m:sSub>
                        </m:e>
                        <m:e>
                          <m:r>
                            <a:rPr xmlns:a="http://schemas.openxmlformats.org/drawingml/2006/main" sz="4400" i="1">
                              <a:solidFill>
                                <a:srgbClr val="000000"/>
                              </a:solidFill>
                              <a:latin typeface="Cambria Math" panose="02040503050406030204" pitchFamily="18" charset="0"/>
                            </a:rPr>
                            <m:t>⋮</m:t>
                          </m:r>
                        </m:e>
                        <m:e>
                          <m:sSub>
                            <m:e>
                              <m:argPr>
                                <m:scrLvl m:val="0"/>
                              </m:argPr>
                              <m:r>
                                <a:rPr xmlns:a="http://schemas.openxmlformats.org/drawingml/2006/main" sz="4400" i="1">
                                  <a:solidFill>
                                    <a:srgbClr val="000000"/>
                                  </a:solidFill>
                                  <a:latin typeface="Cambria Math" panose="02040503050406030204" pitchFamily="18" charset="0"/>
                                </a:rPr>
                                <m:t>u</m:t>
                              </m:r>
                            </m:e>
                            <m:sub>
                              <m:argPr>
                                <m:scrLvl m:val="0"/>
                              </m:argPr>
                              <m:r>
                                <a:rPr xmlns:a="http://schemas.openxmlformats.org/drawingml/2006/main" sz="4400" i="1">
                                  <a:solidFill>
                                    <a:srgbClr val="000000"/>
                                  </a:solidFill>
                                  <a:latin typeface="Cambria Math" panose="02040503050406030204" pitchFamily="18" charset="0"/>
                                </a:rPr>
                                <m:t>200</m:t>
                              </m:r>
                            </m:sub>
                          </m:sSub>
                        </m:e>
                      </m:eqArr>
                    </m:e>
                  </m:d>
                </m:oMath>
              </m:oMathPara>
            </a14:m>
            <a:endParaRPr sz="4400"/>
          </a:p>
        </p:txBody>
      </p:sp>
      <p:sp>
        <p:nvSpPr>
          <p:cNvPr id="308" name="Prima componentă principală:"/>
          <p:cNvSpPr txBox="1"/>
          <p:nvPr/>
        </p:nvSpPr>
        <p:spPr>
          <a:xfrm>
            <a:off x="14316279" y="6863966"/>
            <a:ext cx="7792772"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Prima componentă principală:</a:t>
            </a:r>
          </a:p>
        </p:txBody>
      </p:sp>
    </p:spTree>
  </p:cSld>
  <p:clrMapOvr>
    <a:masterClrMapping/>
  </p:clrMapOvr>
  <mc:AlternateContent xmlns:mc="http://schemas.openxmlformats.org/markup-compatibility/2006">
    <mc:Choice xmlns:p14="http://schemas.microsoft.com/office/powerpoint/2010/main" Requires="p14">
      <p:transition spd="slow" advClick="1" p14:dur="1200">
        <p:dissolve/>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 grpId="1" fill="hold">
                                  <p:stCondLst>
                                    <p:cond delay="0"/>
                                  </p:stCondLst>
                                  <p:iterate type="el" backwards="0">
                                    <p:tmAbs val="0"/>
                                  </p:iterate>
                                  <p:childTnLst>
                                    <p:set>
                                      <p:cBhvr>
                                        <p:cTn id="6" fill="hold"/>
                                        <p:tgtEl>
                                          <p:spTgt spid="305"/>
                                        </p:tgtEl>
                                        <p:attrNameLst>
                                          <p:attrName>style.visibility</p:attrName>
                                        </p:attrNameLst>
                                      </p:cBhvr>
                                      <p:to>
                                        <p:strVal val="visible"/>
                                      </p:to>
                                    </p:set>
                                    <p:anim calcmode="lin" valueType="num">
                                      <p:cBhvr>
                                        <p:cTn id="7" dur="1000" fill="hold"/>
                                        <p:tgtEl>
                                          <p:spTgt spid="305"/>
                                        </p:tgtEl>
                                        <p:attrNameLst>
                                          <p:attrName>ppt_x</p:attrName>
                                        </p:attrNameLst>
                                      </p:cBhvr>
                                      <p:tavLst>
                                        <p:tav tm="0">
                                          <p:val>
                                            <p:strVal val="0-#ppt_w/2"/>
                                          </p:val>
                                        </p:tav>
                                        <p:tav tm="100000">
                                          <p:val>
                                            <p:strVal val="#ppt_x"/>
                                          </p:val>
                                        </p:tav>
                                      </p:tavLst>
                                    </p:anim>
                                    <p:anim calcmode="lin" valueType="num">
                                      <p:cBhvr>
                                        <p:cTn id="8" dur="1000" fill="hold"/>
                                        <p:tgtEl>
                                          <p:spTgt spid="305"/>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Class="entr" nodeType="afterEffect" presetSubtype="8" presetID="2" grpId="2" fill="hold">
                                  <p:stCondLst>
                                    <p:cond delay="0"/>
                                  </p:stCondLst>
                                  <p:iterate type="el" backwards="0">
                                    <p:tmAbs val="0"/>
                                  </p:iterate>
                                  <p:childTnLst>
                                    <p:set>
                                      <p:cBhvr>
                                        <p:cTn id="11" fill="hold"/>
                                        <p:tgtEl>
                                          <p:spTgt spid="306"/>
                                        </p:tgtEl>
                                        <p:attrNameLst>
                                          <p:attrName>style.visibility</p:attrName>
                                        </p:attrNameLst>
                                      </p:cBhvr>
                                      <p:to>
                                        <p:strVal val="visible"/>
                                      </p:to>
                                    </p:set>
                                    <p:anim calcmode="lin" valueType="num">
                                      <p:cBhvr>
                                        <p:cTn id="12" dur="1000" fill="hold"/>
                                        <p:tgtEl>
                                          <p:spTgt spid="306"/>
                                        </p:tgtEl>
                                        <p:attrNameLst>
                                          <p:attrName>ppt_x</p:attrName>
                                        </p:attrNameLst>
                                      </p:cBhvr>
                                      <p:tavLst>
                                        <p:tav tm="0">
                                          <p:val>
                                            <p:strVal val="0-#ppt_w/2"/>
                                          </p:val>
                                        </p:tav>
                                        <p:tav tm="100000">
                                          <p:val>
                                            <p:strVal val="#ppt_x"/>
                                          </p:val>
                                        </p:tav>
                                      </p:tavLst>
                                    </p:anim>
                                    <p:anim calcmode="lin" valueType="num">
                                      <p:cBhvr>
                                        <p:cTn id="13" dur="1000" fill="hold"/>
                                        <p:tgtEl>
                                          <p:spTgt spid="306"/>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Class="entr" nodeType="clickEffect" presetSubtype="8" presetID="2" grpId="3" fill="hold">
                                  <p:stCondLst>
                                    <p:cond delay="0"/>
                                  </p:stCondLst>
                                  <p:iterate type="el" backwards="0">
                                    <p:tmAbs val="0"/>
                                  </p:iterate>
                                  <p:childTnLst>
                                    <p:set>
                                      <p:cBhvr>
                                        <p:cTn id="17" fill="hold"/>
                                        <p:tgtEl>
                                          <p:spTgt spid="308"/>
                                        </p:tgtEl>
                                        <p:attrNameLst>
                                          <p:attrName>style.visibility</p:attrName>
                                        </p:attrNameLst>
                                      </p:cBhvr>
                                      <p:to>
                                        <p:strVal val="visible"/>
                                      </p:to>
                                    </p:set>
                                    <p:anim calcmode="lin" valueType="num">
                                      <p:cBhvr>
                                        <p:cTn id="18" dur="1000" fill="hold"/>
                                        <p:tgtEl>
                                          <p:spTgt spid="308"/>
                                        </p:tgtEl>
                                        <p:attrNameLst>
                                          <p:attrName>ppt_x</p:attrName>
                                        </p:attrNameLst>
                                      </p:cBhvr>
                                      <p:tavLst>
                                        <p:tav tm="0">
                                          <p:val>
                                            <p:strVal val="0-#ppt_w/2"/>
                                          </p:val>
                                        </p:tav>
                                        <p:tav tm="100000">
                                          <p:val>
                                            <p:strVal val="#ppt_x"/>
                                          </p:val>
                                        </p:tav>
                                      </p:tavLst>
                                    </p:anim>
                                    <p:anim calcmode="lin" valueType="num">
                                      <p:cBhvr>
                                        <p:cTn id="19" dur="1000" fill="hold"/>
                                        <p:tgtEl>
                                          <p:spTgt spid="308"/>
                                        </p:tgtEl>
                                        <p:attrNameLst>
                                          <p:attrName>ppt_y</p:attrName>
                                        </p:attrNameLst>
                                      </p:cBhvr>
                                      <p:tavLst>
                                        <p:tav tm="0">
                                          <p:val>
                                            <p:strVal val="#ppt_y"/>
                                          </p:val>
                                        </p:tav>
                                        <p:tav tm="100000">
                                          <p:val>
                                            <p:strVal val="#ppt_y"/>
                                          </p:val>
                                        </p:tav>
                                      </p:tavLst>
                                    </p:anim>
                                  </p:childTnLst>
                                </p:cTn>
                              </p:par>
                            </p:childTnLst>
                          </p:cTn>
                        </p:par>
                        <p:par>
                          <p:cTn id="20" fill="hold">
                            <p:stCondLst>
                              <p:cond delay="1000"/>
                            </p:stCondLst>
                            <p:childTnLst>
                              <p:par>
                                <p:cTn id="21" presetClass="entr" nodeType="afterEffect" presetSubtype="8" presetID="2" grpId="4" fill="hold">
                                  <p:stCondLst>
                                    <p:cond delay="0"/>
                                  </p:stCondLst>
                                  <p:iterate type="el" backwards="0">
                                    <p:tmAbs val="0"/>
                                  </p:iterate>
                                  <p:childTnLst>
                                    <p:set>
                                      <p:cBhvr>
                                        <p:cTn id="22" fill="hold"/>
                                        <p:tgtEl>
                                          <p:spTgt spid="307"/>
                                        </p:tgtEl>
                                        <p:attrNameLst>
                                          <p:attrName>style.visibility</p:attrName>
                                        </p:attrNameLst>
                                      </p:cBhvr>
                                      <p:to>
                                        <p:strVal val="visible"/>
                                      </p:to>
                                    </p:set>
                                    <p:anim calcmode="lin" valueType="num">
                                      <p:cBhvr>
                                        <p:cTn id="23" dur="1000" fill="hold"/>
                                        <p:tgtEl>
                                          <p:spTgt spid="307"/>
                                        </p:tgtEl>
                                        <p:attrNameLst>
                                          <p:attrName>ppt_x</p:attrName>
                                        </p:attrNameLst>
                                      </p:cBhvr>
                                      <p:tavLst>
                                        <p:tav tm="0">
                                          <p:val>
                                            <p:strVal val="0-#ppt_w/2"/>
                                          </p:val>
                                        </p:tav>
                                        <p:tav tm="100000">
                                          <p:val>
                                            <p:strVal val="#ppt_x"/>
                                          </p:val>
                                        </p:tav>
                                      </p:tavLst>
                                    </p:anim>
                                    <p:anim calcmode="lin" valueType="num">
                                      <p:cBhvr>
                                        <p:cTn id="24" dur="1000" fill="hold"/>
                                        <p:tgtEl>
                                          <p:spTgt spid="30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06" grpId="2"/>
      <p:bldP build="whole" bldLvl="1" animBg="1" rev="0" advAuto="0" spid="308" grpId="3"/>
      <p:bldP build="whole" bldLvl="1" animBg="1" rev="0" advAuto="0" spid="305" grpId="1"/>
      <p:bldP build="whole" bldLvl="1" animBg="1" rev="0" advAuto="0" spid="307" grpId="4"/>
    </p:bldLst>
  </p:timing>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0"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311" name="Ecuație"/>
          <p:cNvSpPr txBox="1"/>
          <p:nvPr/>
        </p:nvSpPr>
        <p:spPr>
          <a:xfrm>
            <a:off x="1096117" y="1560416"/>
            <a:ext cx="11266806" cy="5692497"/>
          </a:xfrm>
          <a:prstGeom prst="rect">
            <a:avLst/>
          </a:prstGeom>
          <a:ln w="12700">
            <a:miter lim="400000"/>
          </a:ln>
        </p:spPr>
        <p:txBody>
          <a:bodyPr wrap="none" lIns="0" tIns="0" rIns="0" bIns="0">
            <a:spAutoFit/>
          </a:bodyPr>
          <a:lstStyle/>
          <a:p>
            <a:pPr defTabSz="914400" latinLnBrk="1">
              <a:lnSpc>
                <a:spcPct val="100000"/>
              </a:lnSpc>
              <a:spcBef>
                <a:spcPts val="0"/>
              </a:spcBef>
              <a:defRPr sz="1800"/>
            </a:pPr>
            <a14:m>
              <m:oMathPara>
                <m:oMathParaPr>
                  <m:jc m:val="centerGroup"/>
                </m:oMathParaPr>
                <m:oMath>
                  <m:sSub>
                    <m:e>
                      <m:limUpp>
                        <m:e>
                          <m:r>
                            <a:rPr xmlns:a="http://schemas.openxmlformats.org/drawingml/2006/main" sz="4400" i="1">
                              <a:solidFill>
                                <a:srgbClr val="000000"/>
                              </a:solidFill>
                              <a:latin typeface="Cambria Math" panose="02040503050406030204" pitchFamily="18" charset="0"/>
                            </a:rPr>
                            <m:t>x</m:t>
                          </m:r>
                        </m:e>
                        <m:lim>
                          <m:r>
                            <a:rPr xmlns:a="http://schemas.openxmlformats.org/drawingml/2006/main" sz="4400" i="1">
                              <a:solidFill>
                                <a:srgbClr val="000000"/>
                              </a:solidFill>
                              <a:latin typeface="Cambria Math" panose="02040503050406030204" pitchFamily="18" charset="0"/>
                            </a:rPr>
                            <m:t>⃗</m:t>
                          </m:r>
                        </m:lim>
                      </m:limUpp>
                    </m:e>
                    <m:sub>
                      <m:r>
                        <a:rPr xmlns:a="http://schemas.openxmlformats.org/drawingml/2006/main" sz="4400" i="1">
                          <a:solidFill>
                            <a:srgbClr val="000000"/>
                          </a:solidFill>
                          <a:latin typeface="Cambria Math" panose="02040503050406030204" pitchFamily="18" charset="0"/>
                        </a:rPr>
                        <m:t>1</m:t>
                      </m:r>
                    </m:sub>
                  </m:sSub>
                  <m:r>
                    <a:rPr xmlns:a="http://schemas.openxmlformats.org/drawingml/2006/main" sz="4400" i="1">
                      <a:solidFill>
                        <a:srgbClr val="000000"/>
                      </a:solidFill>
                      <a:latin typeface="Cambria Math" panose="02040503050406030204" pitchFamily="18" charset="0"/>
                    </a:rPr>
                    <m:t>=</m:t>
                  </m:r>
                  <m:d>
                    <m:dPr>
                      <m:ctrlPr>
                        <a:rPr xmlns:a="http://schemas.openxmlformats.org/drawingml/2006/main" sz="4400" i="1">
                          <a:solidFill>
                            <a:srgbClr val="000000"/>
                          </a:solidFill>
                          <a:latin typeface="Cambria Math" panose="02040503050406030204" pitchFamily="18" charset="0"/>
                        </a:rPr>
                      </m:ctrlPr>
                      <m:begChr m:val="["/>
                      <m:endChr m:val="]"/>
                    </m:dPr>
                    <m:e>
                      <m:eqArr>
                        <m:eqArrPr>
                          <m:ctrlPr>
                            <a:rPr xmlns:a="http://schemas.openxmlformats.org/drawingml/2006/main" sz="4400" i="1">
                              <a:solidFill>
                                <a:srgbClr val="000000"/>
                              </a:solidFill>
                              <a:latin typeface="Cambria Math" panose="02040503050406030204" pitchFamily="18" charset="0"/>
                            </a:rPr>
                          </m:ctrlPr>
                        </m:eqArrPr>
                        <m:e>
                          <m:r>
                            <a:rPr xmlns:a="http://schemas.openxmlformats.org/drawingml/2006/main" sz="4400" i="1">
                              <a:solidFill>
                                <a:srgbClr val="000000"/>
                              </a:solidFill>
                              <a:latin typeface="Cambria Math" panose="02040503050406030204" pitchFamily="18" charset="0"/>
                            </a:rPr>
                            <m:t>150</m:t>
                          </m:r>
                        </m:e>
                        <m:e>
                          <m:r>
                            <a:rPr xmlns:a="http://schemas.openxmlformats.org/drawingml/2006/main" sz="4400" i="1">
                              <a:solidFill>
                                <a:srgbClr val="000000"/>
                              </a:solidFill>
                              <a:latin typeface="Cambria Math" panose="02040503050406030204" pitchFamily="18" charset="0"/>
                            </a:rPr>
                            <m:t>80</m:t>
                          </m:r>
                        </m:e>
                        <m:e>
                          <m:r>
                            <a:rPr xmlns:a="http://schemas.openxmlformats.org/drawingml/2006/main" sz="4400" i="1">
                              <a:solidFill>
                                <a:srgbClr val="000000"/>
                              </a:solidFill>
                              <a:latin typeface="Cambria Math" panose="02040503050406030204" pitchFamily="18" charset="0"/>
                            </a:rPr>
                            <m:t>140</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90</m:t>
                          </m:r>
                        </m:e>
                        <m:e>
                          <m:r>
                            <a:rPr xmlns:a="http://schemas.openxmlformats.org/drawingml/2006/main" sz="4400" i="1">
                              <a:solidFill>
                                <a:srgbClr val="000000"/>
                              </a:solidFill>
                              <a:latin typeface="Cambria Math" panose="02040503050406030204" pitchFamily="18" charset="0"/>
                            </a:rPr>
                            <m:t>63</m:t>
                          </m:r>
                        </m:e>
                        <m:e>
                          <m:r>
                            <a:rPr xmlns:a="http://schemas.openxmlformats.org/drawingml/2006/main" sz="4400" i="1">
                              <a:solidFill>
                                <a:srgbClr val="000000"/>
                              </a:solidFill>
                              <a:latin typeface="Cambria Math" panose="02040503050406030204" pitchFamily="18" charset="0"/>
                            </a:rPr>
                            <m:t>36</m:t>
                          </m:r>
                        </m:e>
                        <m:e>
                          <m:r>
                            <a:rPr xmlns:a="http://schemas.openxmlformats.org/drawingml/2006/main" sz="4400" i="1">
                              <a:solidFill>
                                <a:srgbClr val="000000"/>
                              </a:solidFill>
                              <a:latin typeface="Cambria Math" panose="02040503050406030204" pitchFamily="18" charset="0"/>
                            </a:rPr>
                            <m:t>5.0</m:t>
                          </m:r>
                        </m:e>
                        <m:e>
                          <m:r>
                            <a:rPr xmlns:a="http://schemas.openxmlformats.org/drawingml/2006/main" sz="4400" i="1">
                              <a:solidFill>
                                <a:srgbClr val="000000"/>
                              </a:solidFill>
                              <a:latin typeface="Cambria Math" panose="02040503050406030204" pitchFamily="18" charset="0"/>
                            </a:rPr>
                            <m:t>0</m:t>
                          </m:r>
                        </m:e>
                        <m:e>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m:t>
                          </m:r>
                        </m:e>
                        <m:e>
                          <m:r>
                            <a:rPr xmlns:a="http://schemas.openxmlformats.org/drawingml/2006/main" sz="4400" i="1">
                              <a:solidFill>
                                <a:srgbClr val="000000"/>
                              </a:solidFill>
                              <a:latin typeface="Cambria Math" panose="02040503050406030204" pitchFamily="18" charset="0"/>
                            </a:rPr>
                            <m:t>99</m:t>
                          </m:r>
                        </m:e>
                      </m:eqArr>
                    </m:e>
                  </m:d>
                  <m:r>
                    <a:rPr xmlns:a="http://schemas.openxmlformats.org/drawingml/2006/main" sz="4400" i="1">
                      <a:solidFill>
                        <a:srgbClr val="000000"/>
                      </a:solidFill>
                      <a:latin typeface="Cambria Math" panose="02040503050406030204" pitchFamily="18" charset="0"/>
                    </a:rPr>
                    <m:t>,</m:t>
                  </m:r>
                  <m:sSub>
                    <m:e>
                      <m:limUpp>
                        <m:e>
                          <m:r>
                            <a:rPr xmlns:a="http://schemas.openxmlformats.org/drawingml/2006/main" sz="4400" i="1">
                              <a:solidFill>
                                <a:srgbClr val="000000"/>
                              </a:solidFill>
                              <a:latin typeface="Cambria Math" panose="02040503050406030204" pitchFamily="18" charset="0"/>
                            </a:rPr>
                            <m:t>x</m:t>
                          </m:r>
                        </m:e>
                        <m:lim>
                          <m:r>
                            <a:rPr xmlns:a="http://schemas.openxmlformats.org/drawingml/2006/main" sz="4400" i="1">
                              <a:solidFill>
                                <a:srgbClr val="000000"/>
                              </a:solidFill>
                              <a:latin typeface="Cambria Math" panose="02040503050406030204" pitchFamily="18" charset="0"/>
                            </a:rPr>
                            <m:t>⃗</m:t>
                          </m:r>
                        </m:lim>
                      </m:limUpp>
                    </m:e>
                    <m:sub>
                      <m:r>
                        <a:rPr xmlns:a="http://schemas.openxmlformats.org/drawingml/2006/main" sz="4400" i="1">
                          <a:solidFill>
                            <a:srgbClr val="000000"/>
                          </a:solidFill>
                          <a:latin typeface="Cambria Math" panose="02040503050406030204" pitchFamily="18" charset="0"/>
                        </a:rPr>
                        <m:t>2</m:t>
                      </m:r>
                    </m:sub>
                  </m:sSub>
                  <m:r>
                    <a:rPr xmlns:a="http://schemas.openxmlformats.org/drawingml/2006/main" sz="4400" i="1">
                      <a:solidFill>
                        <a:srgbClr val="000000"/>
                      </a:solidFill>
                      <a:latin typeface="Cambria Math" panose="02040503050406030204" pitchFamily="18" charset="0"/>
                    </a:rPr>
                    <m:t>=</m:t>
                  </m:r>
                  <m:d>
                    <m:dPr>
                      <m:ctrlPr>
                        <a:rPr xmlns:a="http://schemas.openxmlformats.org/drawingml/2006/main" sz="4400" i="1">
                          <a:solidFill>
                            <a:srgbClr val="000000"/>
                          </a:solidFill>
                          <a:latin typeface="Cambria Math" panose="02040503050406030204" pitchFamily="18" charset="0"/>
                        </a:rPr>
                      </m:ctrlPr>
                      <m:begChr m:val="["/>
                      <m:endChr m:val="]"/>
                    </m:dPr>
                    <m:e>
                      <m:eqArr>
                        <m:eqArrPr>
                          <m:ctrlPr>
                            <a:rPr xmlns:a="http://schemas.openxmlformats.org/drawingml/2006/main" sz="4400" i="1">
                              <a:solidFill>
                                <a:srgbClr val="000000"/>
                              </a:solidFill>
                              <a:latin typeface="Cambria Math" panose="02040503050406030204" pitchFamily="18" charset="0"/>
                            </a:rPr>
                          </m:ctrlPr>
                        </m:eqArrPr>
                        <m:e>
                          <m:r>
                            <a:rPr xmlns:a="http://schemas.openxmlformats.org/drawingml/2006/main" sz="4400" i="1">
                              <a:solidFill>
                                <a:srgbClr val="000000"/>
                              </a:solidFill>
                              <a:latin typeface="Cambria Math" panose="02040503050406030204" pitchFamily="18" charset="0"/>
                            </a:rPr>
                            <m:t>174</m:t>
                          </m:r>
                        </m:e>
                        <m:e>
                          <m:r>
                            <a:rPr xmlns:a="http://schemas.openxmlformats.org/drawingml/2006/main" sz="4400" i="1">
                              <a:solidFill>
                                <a:srgbClr val="000000"/>
                              </a:solidFill>
                              <a:latin typeface="Cambria Math" panose="02040503050406030204" pitchFamily="18" charset="0"/>
                            </a:rPr>
                            <m:t>90</m:t>
                          </m:r>
                        </m:e>
                        <m:e>
                          <m:r>
                            <a:rPr xmlns:a="http://schemas.openxmlformats.org/drawingml/2006/main" sz="4400" i="1">
                              <a:solidFill>
                                <a:srgbClr val="000000"/>
                              </a:solidFill>
                              <a:latin typeface="Cambria Math" panose="02040503050406030204" pitchFamily="18" charset="0"/>
                            </a:rPr>
                            <m:t>90</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60</m:t>
                          </m:r>
                        </m:e>
                        <m:e>
                          <m:r>
                            <a:rPr xmlns:a="http://schemas.openxmlformats.org/drawingml/2006/main" sz="4400" i="1">
                              <a:solidFill>
                                <a:srgbClr val="000000"/>
                              </a:solidFill>
                              <a:latin typeface="Cambria Math" panose="02040503050406030204" pitchFamily="18" charset="0"/>
                            </a:rPr>
                            <m:t>100</m:t>
                          </m:r>
                        </m:e>
                        <m:e>
                          <m:r>
                            <a:rPr xmlns:a="http://schemas.openxmlformats.org/drawingml/2006/main" sz="4400" i="1">
                              <a:solidFill>
                                <a:srgbClr val="000000"/>
                              </a:solidFill>
                              <a:latin typeface="Cambria Math" panose="02040503050406030204" pitchFamily="18" charset="0"/>
                            </a:rPr>
                            <m:t>32</m:t>
                          </m:r>
                        </m:e>
                        <m:e>
                          <m:r>
                            <a:rPr xmlns:a="http://schemas.openxmlformats.org/drawingml/2006/main" sz="4400" i="1">
                              <a:solidFill>
                                <a:srgbClr val="000000"/>
                              </a:solidFill>
                              <a:latin typeface="Cambria Math" panose="02040503050406030204" pitchFamily="18" charset="0"/>
                            </a:rPr>
                            <m:t>4.0</m:t>
                          </m:r>
                        </m:e>
                        <m:e>
                          <m:r>
                            <a:rPr xmlns:a="http://schemas.openxmlformats.org/drawingml/2006/main" sz="4400" i="1">
                              <a:solidFill>
                                <a:srgbClr val="000000"/>
                              </a:solidFill>
                              <a:latin typeface="Cambria Math" panose="02040503050406030204" pitchFamily="18" charset="0"/>
                            </a:rPr>
                            <m:t>0</m:t>
                          </m:r>
                        </m:e>
                        <m:e>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m:t>
                          </m:r>
                        </m:e>
                        <m:e>
                          <m:r>
                            <a:rPr xmlns:a="http://schemas.openxmlformats.org/drawingml/2006/main" sz="4400" i="1">
                              <a:solidFill>
                                <a:srgbClr val="000000"/>
                              </a:solidFill>
                              <a:latin typeface="Cambria Math" panose="02040503050406030204" pitchFamily="18" charset="0"/>
                            </a:rPr>
                            <m:t>95</m:t>
                          </m:r>
                        </m:e>
                      </m:eqArr>
                    </m:e>
                  </m:d>
                  <m:r>
                    <a:rPr xmlns:a="http://schemas.openxmlformats.org/drawingml/2006/main" sz="4400" i="1">
                      <a:solidFill>
                        <a:srgbClr val="000000"/>
                      </a:solidFill>
                      <a:latin typeface="Cambria Math" panose="02040503050406030204" pitchFamily="18" charset="0"/>
                    </a:rPr>
                    <m:t>,</m:t>
                  </m:r>
                  <m:sSub>
                    <m:e>
                      <m:limUpp>
                        <m:e>
                          <m:r>
                            <a:rPr xmlns:a="http://schemas.openxmlformats.org/drawingml/2006/main" sz="4400" i="1">
                              <a:solidFill>
                                <a:srgbClr val="000000"/>
                              </a:solidFill>
                              <a:latin typeface="Cambria Math" panose="02040503050406030204" pitchFamily="18" charset="0"/>
                            </a:rPr>
                            <m:t>x</m:t>
                          </m:r>
                        </m:e>
                        <m:lim>
                          <m:r>
                            <a:rPr xmlns:a="http://schemas.openxmlformats.org/drawingml/2006/main" sz="4400" i="1">
                              <a:solidFill>
                                <a:srgbClr val="000000"/>
                              </a:solidFill>
                              <a:latin typeface="Cambria Math" panose="02040503050406030204" pitchFamily="18" charset="0"/>
                            </a:rPr>
                            <m:t>⃗</m:t>
                          </m:r>
                        </m:lim>
                      </m:limUpp>
                    </m:e>
                    <m:sub>
                      <m:r>
                        <a:rPr xmlns:a="http://schemas.openxmlformats.org/drawingml/2006/main" sz="4400" i="1">
                          <a:solidFill>
                            <a:srgbClr val="000000"/>
                          </a:solidFill>
                          <a:latin typeface="Cambria Math" panose="02040503050406030204" pitchFamily="18" charset="0"/>
                        </a:rPr>
                        <m:t>3</m:t>
                      </m:r>
                    </m:sub>
                  </m:sSub>
                  <m:r>
                    <a:rPr xmlns:a="http://schemas.openxmlformats.org/drawingml/2006/main" sz="4400" i="1">
                      <a:solidFill>
                        <a:srgbClr val="000000"/>
                      </a:solidFill>
                      <a:latin typeface="Cambria Math" panose="02040503050406030204" pitchFamily="18" charset="0"/>
                    </a:rPr>
                    <m:t>=</m:t>
                  </m:r>
                  <m:d>
                    <m:dPr>
                      <m:ctrlPr>
                        <a:rPr xmlns:a="http://schemas.openxmlformats.org/drawingml/2006/main" sz="4400" i="1">
                          <a:solidFill>
                            <a:srgbClr val="000000"/>
                          </a:solidFill>
                          <a:latin typeface="Cambria Math" panose="02040503050406030204" pitchFamily="18" charset="0"/>
                        </a:rPr>
                      </m:ctrlPr>
                      <m:begChr m:val="["/>
                      <m:endChr m:val="]"/>
                    </m:dPr>
                    <m:e>
                      <m:eqArr>
                        <m:eqArrPr>
                          <m:ctrlPr>
                            <a:rPr xmlns:a="http://schemas.openxmlformats.org/drawingml/2006/main" sz="4400" i="1">
                              <a:solidFill>
                                <a:srgbClr val="000000"/>
                              </a:solidFill>
                              <a:latin typeface="Cambria Math" panose="02040503050406030204" pitchFamily="18" charset="0"/>
                            </a:rPr>
                          </m:ctrlPr>
                        </m:eqArrPr>
                        <m:e>
                          <m:r>
                            <a:rPr xmlns:a="http://schemas.openxmlformats.org/drawingml/2006/main" sz="4400" i="1">
                              <a:solidFill>
                                <a:srgbClr val="000000"/>
                              </a:solidFill>
                              <a:latin typeface="Cambria Math" panose="02040503050406030204" pitchFamily="18" charset="0"/>
                            </a:rPr>
                            <m:t>180</m:t>
                          </m:r>
                        </m:e>
                        <m:e>
                          <m:r>
                            <a:rPr xmlns:a="http://schemas.openxmlformats.org/drawingml/2006/main" sz="4400" i="1">
                              <a:solidFill>
                                <a:srgbClr val="000000"/>
                              </a:solidFill>
                              <a:latin typeface="Cambria Math" panose="02040503050406030204" pitchFamily="18" charset="0"/>
                            </a:rPr>
                            <m:t>82</m:t>
                          </m:r>
                        </m:e>
                        <m:e>
                          <m:r>
                            <a:rPr xmlns:a="http://schemas.openxmlformats.org/drawingml/2006/main" sz="4400" i="1">
                              <a:solidFill>
                                <a:srgbClr val="000000"/>
                              </a:solidFill>
                              <a:latin typeface="Cambria Math" panose="02040503050406030204" pitchFamily="18" charset="0"/>
                            </a:rPr>
                            <m:t>92</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60</m:t>
                          </m:r>
                        </m:e>
                        <m:e>
                          <m:r>
                            <a:rPr xmlns:a="http://schemas.openxmlformats.org/drawingml/2006/main" sz="4400" i="1">
                              <a:solidFill>
                                <a:srgbClr val="000000"/>
                              </a:solidFill>
                              <a:latin typeface="Cambria Math" panose="02040503050406030204" pitchFamily="18" charset="0"/>
                            </a:rPr>
                            <m:t>78</m:t>
                          </m:r>
                        </m:e>
                        <m:e>
                          <m:r>
                            <a:rPr xmlns:a="http://schemas.openxmlformats.org/drawingml/2006/main" sz="4400" i="1">
                              <a:solidFill>
                                <a:srgbClr val="000000"/>
                              </a:solidFill>
                              <a:latin typeface="Cambria Math" panose="02040503050406030204" pitchFamily="18" charset="0"/>
                            </a:rPr>
                            <m:t>25</m:t>
                          </m:r>
                        </m:e>
                        <m:e>
                          <m:r>
                            <a:rPr xmlns:a="http://schemas.openxmlformats.org/drawingml/2006/main" sz="4400" i="1">
                              <a:solidFill>
                                <a:srgbClr val="000000"/>
                              </a:solidFill>
                              <a:latin typeface="Cambria Math" panose="02040503050406030204" pitchFamily="18" charset="0"/>
                            </a:rPr>
                            <m:t>3.7</m:t>
                          </m:r>
                        </m:e>
                        <m:e>
                          <m:r>
                            <a:rPr xmlns:a="http://schemas.openxmlformats.org/drawingml/2006/main" sz="4400" i="1">
                              <a:solidFill>
                                <a:srgbClr val="000000"/>
                              </a:solidFill>
                              <a:latin typeface="Cambria Math" panose="02040503050406030204" pitchFamily="18" charset="0"/>
                            </a:rPr>
                            <m:t>10</m:t>
                          </m:r>
                        </m:e>
                        <m:e>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m:t>
                          </m:r>
                        </m:e>
                        <m:e>
                          <m:r>
                            <a:rPr xmlns:a="http://schemas.openxmlformats.org/drawingml/2006/main" sz="4400" i="1">
                              <a:solidFill>
                                <a:srgbClr val="000000"/>
                              </a:solidFill>
                              <a:latin typeface="Cambria Math" panose="02040503050406030204" pitchFamily="18" charset="0"/>
                            </a:rPr>
                            <m:t>112</m:t>
                          </m:r>
                        </m:e>
                      </m:eqArr>
                    </m:e>
                  </m:d>
                </m:oMath>
              </m:oMathPara>
            </a14:m>
            <a:endParaRPr sz="4400"/>
          </a:p>
        </p:txBody>
      </p:sp>
      <p:sp>
        <p:nvSpPr>
          <p:cNvPr id="312" name="…"/>
          <p:cNvSpPr txBox="1"/>
          <p:nvPr/>
        </p:nvSpPr>
        <p:spPr>
          <a:xfrm>
            <a:off x="12947284" y="3768845"/>
            <a:ext cx="547929"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a:t>
            </a:r>
          </a:p>
        </p:txBody>
      </p:sp>
      <p:sp>
        <p:nvSpPr>
          <p:cNvPr id="313" name="Ecuație"/>
          <p:cNvSpPr txBox="1"/>
          <p:nvPr/>
        </p:nvSpPr>
        <p:spPr>
          <a:xfrm>
            <a:off x="16794863" y="2938009"/>
            <a:ext cx="2436661" cy="3349381"/>
          </a:xfrm>
          <a:prstGeom prst="rect">
            <a:avLst/>
          </a:prstGeom>
          <a:ln w="12700">
            <a:miter lim="400000"/>
          </a:ln>
        </p:spPr>
        <p:txBody>
          <a:bodyPr wrap="none" lIns="0" tIns="0" rIns="0" bIns="0">
            <a:spAutoFit/>
          </a:bodyPr>
          <a:lstStyle/>
          <a:p>
            <a:pPr defTabSz="914400" latinLnBrk="1">
              <a:lnSpc>
                <a:spcPct val="100000"/>
              </a:lnSpc>
              <a:spcBef>
                <a:spcPts val="0"/>
              </a:spcBef>
              <a:defRPr sz="1800"/>
            </a:pPr>
            <a14:m>
              <m:oMathPara>
                <m:oMathParaPr>
                  <m:jc m:val="centerGroup"/>
                </m:oMathParaPr>
                <m:oMath>
                  <m:limUpp>
                    <m:e>
                      <m:r>
                        <a:rPr xmlns:a="http://schemas.openxmlformats.org/drawingml/2006/main" sz="4400" i="1">
                          <a:solidFill>
                            <a:srgbClr val="000000"/>
                          </a:solidFill>
                          <a:latin typeface="Cambria Math" panose="02040503050406030204" pitchFamily="18" charset="0"/>
                        </a:rPr>
                        <m:t>u</m:t>
                      </m:r>
                    </m:e>
                    <m:lim>
                      <m:r>
                        <a:rPr xmlns:a="http://schemas.openxmlformats.org/drawingml/2006/main" sz="4400" i="1">
                          <a:solidFill>
                            <a:srgbClr val="000000"/>
                          </a:solidFill>
                          <a:latin typeface="Cambria Math" panose="02040503050406030204" pitchFamily="18" charset="0"/>
                        </a:rPr>
                        <m:t>⃗</m:t>
                      </m:r>
                    </m:lim>
                  </m:limUpp>
                  <m:r>
                    <a:rPr xmlns:a="http://schemas.openxmlformats.org/drawingml/2006/main" sz="4400" i="1">
                      <a:solidFill>
                        <a:srgbClr val="000000"/>
                      </a:solidFill>
                      <a:latin typeface="Cambria Math" panose="02040503050406030204" pitchFamily="18" charset="0"/>
                    </a:rPr>
                    <m:t>=</m:t>
                  </m:r>
                  <m:d>
                    <m:dPr>
                      <m:ctrlPr>
                        <a:rPr xmlns:a="http://schemas.openxmlformats.org/drawingml/2006/main" sz="4400" i="1">
                          <a:solidFill>
                            <a:srgbClr val="000000"/>
                          </a:solidFill>
                          <a:latin typeface="Cambria Math" panose="02040503050406030204" pitchFamily="18" charset="0"/>
                        </a:rPr>
                      </m:ctrlPr>
                      <m:begChr m:val="["/>
                      <m:endChr m:val="]"/>
                    </m:dPr>
                    <m:e>
                      <m:eqArr>
                        <m:eqArrPr>
                          <m:ctrlPr>
                            <a:rPr xmlns:a="http://schemas.openxmlformats.org/drawingml/2006/main" sz="4400" i="1">
                              <a:solidFill>
                                <a:srgbClr val="000000"/>
                              </a:solidFill>
                              <a:latin typeface="Cambria Math" panose="02040503050406030204" pitchFamily="18" charset="0"/>
                            </a:rPr>
                          </m:ctrlPr>
                        </m:eqArrPr>
                        <m:e>
                          <m:sSub>
                            <m:e>
                              <m:argPr>
                                <m:scrLvl m:val="0"/>
                              </m:argPr>
                              <m:r>
                                <a:rPr xmlns:a="http://schemas.openxmlformats.org/drawingml/2006/main" sz="4400" i="1">
                                  <a:solidFill>
                                    <a:srgbClr val="000000"/>
                                  </a:solidFill>
                                  <a:latin typeface="Cambria Math" panose="02040503050406030204" pitchFamily="18" charset="0"/>
                                </a:rPr>
                                <m:t>u</m:t>
                              </m:r>
                            </m:e>
                            <m:sub>
                              <m:argPr>
                                <m:scrLvl m:val="0"/>
                              </m:argPr>
                              <m:r>
                                <a:rPr xmlns:a="http://schemas.openxmlformats.org/drawingml/2006/main" sz="4400" i="1">
                                  <a:solidFill>
                                    <a:srgbClr val="000000"/>
                                  </a:solidFill>
                                  <a:latin typeface="Cambria Math" panose="02040503050406030204" pitchFamily="18" charset="0"/>
                                </a:rPr>
                                <m:t>1</m:t>
                              </m:r>
                            </m:sub>
                          </m:sSub>
                        </m:e>
                        <m:e>
                          <m:sSub>
                            <m:e>
                              <m:argPr>
                                <m:scrLvl m:val="0"/>
                              </m:argPr>
                              <m:r>
                                <a:rPr xmlns:a="http://schemas.openxmlformats.org/drawingml/2006/main" sz="4400" i="1">
                                  <a:solidFill>
                                    <a:srgbClr val="000000"/>
                                  </a:solidFill>
                                  <a:latin typeface="Cambria Math" panose="02040503050406030204" pitchFamily="18" charset="0"/>
                                </a:rPr>
                                <m:t>u</m:t>
                              </m:r>
                            </m:e>
                            <m:sub>
                              <m:argPr>
                                <m:scrLvl m:val="0"/>
                              </m:argPr>
                              <m:r>
                                <a:rPr xmlns:a="http://schemas.openxmlformats.org/drawingml/2006/main" sz="4400" i="1">
                                  <a:solidFill>
                                    <a:srgbClr val="000000"/>
                                  </a:solidFill>
                                  <a:latin typeface="Cambria Math" panose="02040503050406030204" pitchFamily="18" charset="0"/>
                                </a:rPr>
                                <m:t>2</m:t>
                              </m:r>
                            </m:sub>
                          </m:sSub>
                        </m:e>
                        <m:e>
                          <m:sSub>
                            <m:e>
                              <m:argPr>
                                <m:scrLvl m:val="0"/>
                              </m:argPr>
                              <m:r>
                                <a:rPr xmlns:a="http://schemas.openxmlformats.org/drawingml/2006/main" sz="4400" i="1">
                                  <a:solidFill>
                                    <a:srgbClr val="000000"/>
                                  </a:solidFill>
                                  <a:latin typeface="Cambria Math" panose="02040503050406030204" pitchFamily="18" charset="0"/>
                                </a:rPr>
                                <m:t>u</m:t>
                              </m:r>
                            </m:e>
                            <m:sub>
                              <m:argPr>
                                <m:scrLvl m:val="0"/>
                              </m:argPr>
                              <m:r>
                                <a:rPr xmlns:a="http://schemas.openxmlformats.org/drawingml/2006/main" sz="4400" i="1">
                                  <a:solidFill>
                                    <a:srgbClr val="000000"/>
                                  </a:solidFill>
                                  <a:latin typeface="Cambria Math" panose="02040503050406030204" pitchFamily="18" charset="0"/>
                                </a:rPr>
                                <m:t>3</m:t>
                              </m:r>
                            </m:sub>
                          </m:sSub>
                        </m:e>
                        <m:e>
                          <m:r>
                            <a:rPr xmlns:a="http://schemas.openxmlformats.org/drawingml/2006/main" sz="4400" i="1">
                              <a:solidFill>
                                <a:srgbClr val="000000"/>
                              </a:solidFill>
                              <a:latin typeface="Cambria Math" panose="02040503050406030204" pitchFamily="18" charset="0"/>
                            </a:rPr>
                            <m:t>⋮</m:t>
                          </m:r>
                        </m:e>
                        <m:e>
                          <m:sSub>
                            <m:e>
                              <m:argPr>
                                <m:scrLvl m:val="0"/>
                              </m:argPr>
                              <m:r>
                                <a:rPr xmlns:a="http://schemas.openxmlformats.org/drawingml/2006/main" sz="4400" i="1">
                                  <a:solidFill>
                                    <a:srgbClr val="000000"/>
                                  </a:solidFill>
                                  <a:latin typeface="Cambria Math" panose="02040503050406030204" pitchFamily="18" charset="0"/>
                                </a:rPr>
                                <m:t>u</m:t>
                              </m:r>
                            </m:e>
                            <m:sub>
                              <m:argPr>
                                <m:scrLvl m:val="0"/>
                              </m:argPr>
                              <m:r>
                                <a:rPr xmlns:a="http://schemas.openxmlformats.org/drawingml/2006/main" sz="4400" i="1">
                                  <a:solidFill>
                                    <a:srgbClr val="000000"/>
                                  </a:solidFill>
                                  <a:latin typeface="Cambria Math" panose="02040503050406030204" pitchFamily="18" charset="0"/>
                                </a:rPr>
                                <m:t>200</m:t>
                              </m:r>
                            </m:sub>
                          </m:sSub>
                        </m:e>
                      </m:eqArr>
                    </m:e>
                  </m:d>
                </m:oMath>
              </m:oMathPara>
            </a14:m>
            <a:endParaRPr sz="4400"/>
          </a:p>
        </p:txBody>
      </p:sp>
      <p:sp>
        <p:nvSpPr>
          <p:cNvPr id="314" name="Prima componentă principală:"/>
          <p:cNvSpPr txBox="1"/>
          <p:nvPr/>
        </p:nvSpPr>
        <p:spPr>
          <a:xfrm>
            <a:off x="14355960" y="1328461"/>
            <a:ext cx="7792772"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Prima componentă principală:</a:t>
            </a:r>
          </a:p>
        </p:txBody>
      </p:sp>
      <p:sp>
        <p:nvSpPr>
          <p:cNvPr id="315" name="În general, sunt două tipuri mari și late:"/>
          <p:cNvSpPr txBox="1"/>
          <p:nvPr>
            <p:ph type="body" sz="quarter" idx="1"/>
          </p:nvPr>
        </p:nvSpPr>
        <p:spPr>
          <a:xfrm>
            <a:off x="496970" y="8056814"/>
            <a:ext cx="21948579" cy="2096504"/>
          </a:xfrm>
          <a:prstGeom prst="rect">
            <a:avLst/>
          </a:prstGeom>
        </p:spPr>
        <p:txBody>
          <a:bodyPr/>
          <a:lstStyle/>
          <a:p>
            <a:pPr/>
            <a:r>
              <a:t>Putem considera fiecare exemplar din setul nostru de date N-dimensional ca un vector într-un spațiu N-dimensional</a:t>
            </a:r>
          </a:p>
        </p:txBody>
      </p:sp>
      <p:sp>
        <p:nvSpPr>
          <p:cNvPr id="316" name="În general, sunt două tipuri mari și late:"/>
          <p:cNvSpPr txBox="1"/>
          <p:nvPr/>
        </p:nvSpPr>
        <p:spPr>
          <a:xfrm>
            <a:off x="496970" y="9711534"/>
            <a:ext cx="21948579" cy="209650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Prima componentă principală este tot un vector în acel spațiu</a:t>
            </a:r>
          </a:p>
        </p:txBody>
      </p:sp>
      <p:sp>
        <p:nvSpPr>
          <p:cNvPr id="317" name="În general, sunt două tipuri mari și late:"/>
          <p:cNvSpPr txBox="1"/>
          <p:nvPr/>
        </p:nvSpPr>
        <p:spPr>
          <a:xfrm>
            <a:off x="496970" y="10671836"/>
            <a:ext cx="21948579" cy="209650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0638" indent="-540638" defTabSz="2413954">
              <a:spcBef>
                <a:spcPts val="2300"/>
              </a:spcBef>
              <a:buSzPct val="150000"/>
              <a:buChar char="•"/>
              <a:defRPr sz="4356">
                <a:latin typeface="Canela Text Regular"/>
                <a:ea typeface="Canela Text Regular"/>
                <a:cs typeface="Canela Text Regular"/>
                <a:sym typeface="Canela Text Regular"/>
              </a:defRPr>
            </a:lvl1pPr>
          </a:lstStyle>
          <a:p>
            <a:pPr/>
            <a:r>
              <a:t>Acest vector nou are proprietatea că, dacă proiectăm fiecare vector din setul nostru de date pe el, magnitudinea vectorilor proiectați este maximizată pentru toți vectorii</a:t>
            </a:r>
          </a:p>
        </p:txBody>
      </p:sp>
      <p:pic>
        <p:nvPicPr>
          <p:cNvPr id="318" name="Linie Linie" descr="Linie Linie"/>
          <p:cNvPicPr>
            <a:picLocks noChangeAspect="0"/>
          </p:cNvPicPr>
          <p:nvPr/>
        </p:nvPicPr>
        <p:blipFill>
          <a:blip r:embed="rId2">
            <a:extLst/>
          </a:blip>
          <a:stretch>
            <a:fillRect/>
          </a:stretch>
        </p:blipFill>
        <p:spPr>
          <a:xfrm>
            <a:off x="998680" y="9661374"/>
            <a:ext cx="9684209" cy="101601"/>
          </a:xfrm>
          <a:prstGeom prst="rect">
            <a:avLst/>
          </a:prstGeom>
        </p:spPr>
      </p:pic>
      <p:pic>
        <p:nvPicPr>
          <p:cNvPr id="320" name="Linie Linie" descr="Linie Linie"/>
          <p:cNvPicPr>
            <a:picLocks noChangeAspect="0"/>
          </p:cNvPicPr>
          <p:nvPr/>
        </p:nvPicPr>
        <p:blipFill>
          <a:blip r:embed="rId3">
            <a:extLst/>
          </a:blip>
          <a:stretch>
            <a:fillRect/>
          </a:stretch>
        </p:blipFill>
        <p:spPr>
          <a:xfrm>
            <a:off x="11284027" y="10522473"/>
            <a:ext cx="2255408" cy="101601"/>
          </a:xfrm>
          <a:prstGeom prst="rect">
            <a:avLst/>
          </a:prstGeom>
        </p:spPr>
      </p:pic>
      <p:pic>
        <p:nvPicPr>
          <p:cNvPr id="322" name="Linie Linie" descr="Linie Linie"/>
          <p:cNvPicPr>
            <a:picLocks noChangeAspect="0"/>
          </p:cNvPicPr>
          <p:nvPr/>
        </p:nvPicPr>
        <p:blipFill>
          <a:blip r:embed="rId4">
            <a:extLst/>
          </a:blip>
          <a:stretch>
            <a:fillRect/>
          </a:stretch>
        </p:blipFill>
        <p:spPr>
          <a:xfrm>
            <a:off x="4546207" y="12310321"/>
            <a:ext cx="12985359" cy="10160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 grpId="1" fill="hold">
                                  <p:stCondLst>
                                    <p:cond delay="0"/>
                                  </p:stCondLst>
                                  <p:iterate type="el" backwards="0">
                                    <p:tmAbs val="0"/>
                                  </p:iterate>
                                  <p:childTnLst>
                                    <p:set>
                                      <p:cBhvr>
                                        <p:cTn id="6" fill="hold"/>
                                        <p:tgtEl>
                                          <p:spTgt spid="315"/>
                                        </p:tgtEl>
                                        <p:attrNameLst>
                                          <p:attrName>style.visibility</p:attrName>
                                        </p:attrNameLst>
                                      </p:cBhvr>
                                      <p:to>
                                        <p:strVal val="visible"/>
                                      </p:to>
                                    </p:set>
                                    <p:anim calcmode="lin" valueType="num">
                                      <p:cBhvr>
                                        <p:cTn id="7" dur="1000" fill="hold"/>
                                        <p:tgtEl>
                                          <p:spTgt spid="315"/>
                                        </p:tgtEl>
                                        <p:attrNameLst>
                                          <p:attrName>ppt_x</p:attrName>
                                        </p:attrNameLst>
                                      </p:cBhvr>
                                      <p:tavLst>
                                        <p:tav tm="0">
                                          <p:val>
                                            <p:strVal val="0-#ppt_w/2"/>
                                          </p:val>
                                        </p:tav>
                                        <p:tav tm="100000">
                                          <p:val>
                                            <p:strVal val="#ppt_x"/>
                                          </p:val>
                                        </p:tav>
                                      </p:tavLst>
                                    </p:anim>
                                    <p:anim calcmode="lin" valueType="num">
                                      <p:cBhvr>
                                        <p:cTn id="8" dur="1000" fill="hold"/>
                                        <p:tgtEl>
                                          <p:spTgt spid="315"/>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Class="entr" nodeType="afterEffect" presetID="9" grpId="2" fill="hold">
                                  <p:stCondLst>
                                    <p:cond delay="0"/>
                                  </p:stCondLst>
                                  <p:iterate type="el" backwards="0">
                                    <p:tmAbs val="0"/>
                                  </p:iterate>
                                  <p:childTnLst>
                                    <p:set>
                                      <p:cBhvr>
                                        <p:cTn id="11" fill="hold"/>
                                        <p:tgtEl>
                                          <p:spTgt spid="318"/>
                                        </p:tgtEl>
                                        <p:attrNameLst>
                                          <p:attrName>style.visibility</p:attrName>
                                        </p:attrNameLst>
                                      </p:cBhvr>
                                      <p:to>
                                        <p:strVal val="visible"/>
                                      </p:to>
                                    </p:set>
                                    <p:animEffect filter="dissolve" transition="in">
                                      <p:cBhvr>
                                        <p:cTn id="12" dur="2000"/>
                                        <p:tgtEl>
                                          <p:spTgt spid="318"/>
                                        </p:tgtEl>
                                      </p:cBhvr>
                                    </p:animEffect>
                                  </p:childTnLst>
                                </p:cTn>
                              </p:par>
                            </p:childTnLst>
                          </p:cTn>
                        </p:par>
                      </p:childTnLst>
                    </p:cTn>
                  </p:par>
                  <p:par>
                    <p:cTn id="13" fill="hold">
                      <p:stCondLst>
                        <p:cond delay="indefinite"/>
                      </p:stCondLst>
                      <p:childTnLst>
                        <p:par>
                          <p:cTn id="14" fill="hold">
                            <p:stCondLst>
                              <p:cond delay="0"/>
                            </p:stCondLst>
                            <p:childTnLst>
                              <p:par>
                                <p:cTn id="15" presetClass="entr" nodeType="clickEffect" presetSubtype="8" presetID="2" grpId="3" fill="hold">
                                  <p:stCondLst>
                                    <p:cond delay="0"/>
                                  </p:stCondLst>
                                  <p:iterate type="el" backwards="0">
                                    <p:tmAbs val="0"/>
                                  </p:iterate>
                                  <p:childTnLst>
                                    <p:set>
                                      <p:cBhvr>
                                        <p:cTn id="16" fill="hold"/>
                                        <p:tgtEl>
                                          <p:spTgt spid="316"/>
                                        </p:tgtEl>
                                        <p:attrNameLst>
                                          <p:attrName>style.visibility</p:attrName>
                                        </p:attrNameLst>
                                      </p:cBhvr>
                                      <p:to>
                                        <p:strVal val="visible"/>
                                      </p:to>
                                    </p:set>
                                    <p:anim calcmode="lin" valueType="num">
                                      <p:cBhvr>
                                        <p:cTn id="17" dur="1000" fill="hold"/>
                                        <p:tgtEl>
                                          <p:spTgt spid="316"/>
                                        </p:tgtEl>
                                        <p:attrNameLst>
                                          <p:attrName>ppt_x</p:attrName>
                                        </p:attrNameLst>
                                      </p:cBhvr>
                                      <p:tavLst>
                                        <p:tav tm="0">
                                          <p:val>
                                            <p:strVal val="0-#ppt_w/2"/>
                                          </p:val>
                                        </p:tav>
                                        <p:tav tm="100000">
                                          <p:val>
                                            <p:strVal val="#ppt_x"/>
                                          </p:val>
                                        </p:tav>
                                      </p:tavLst>
                                    </p:anim>
                                    <p:anim calcmode="lin" valueType="num">
                                      <p:cBhvr>
                                        <p:cTn id="18" dur="1000" fill="hold"/>
                                        <p:tgtEl>
                                          <p:spTgt spid="316"/>
                                        </p:tgtEl>
                                        <p:attrNameLst>
                                          <p:attrName>ppt_y</p:attrName>
                                        </p:attrNameLst>
                                      </p:cBhvr>
                                      <p:tavLst>
                                        <p:tav tm="0">
                                          <p:val>
                                            <p:strVal val="#ppt_y"/>
                                          </p:val>
                                        </p:tav>
                                        <p:tav tm="100000">
                                          <p:val>
                                            <p:strVal val="#ppt_y"/>
                                          </p:val>
                                        </p:tav>
                                      </p:tavLst>
                                    </p:anim>
                                  </p:childTnLst>
                                </p:cTn>
                              </p:par>
                            </p:childTnLst>
                          </p:cTn>
                        </p:par>
                        <p:par>
                          <p:cTn id="19" fill="hold">
                            <p:stCondLst>
                              <p:cond delay="1000"/>
                            </p:stCondLst>
                            <p:childTnLst>
                              <p:par>
                                <p:cTn id="20" presetClass="entr" nodeType="afterEffect" presetID="9" grpId="4" fill="hold">
                                  <p:stCondLst>
                                    <p:cond delay="0"/>
                                  </p:stCondLst>
                                  <p:iterate type="el" backwards="0">
                                    <p:tmAbs val="0"/>
                                  </p:iterate>
                                  <p:childTnLst>
                                    <p:set>
                                      <p:cBhvr>
                                        <p:cTn id="21" fill="hold"/>
                                        <p:tgtEl>
                                          <p:spTgt spid="320"/>
                                        </p:tgtEl>
                                        <p:attrNameLst>
                                          <p:attrName>style.visibility</p:attrName>
                                        </p:attrNameLst>
                                      </p:cBhvr>
                                      <p:to>
                                        <p:strVal val="visible"/>
                                      </p:to>
                                    </p:set>
                                    <p:animEffect filter="dissolve" transition="in">
                                      <p:cBhvr>
                                        <p:cTn id="22" dur="2000"/>
                                        <p:tgtEl>
                                          <p:spTgt spid="320"/>
                                        </p:tgtEl>
                                      </p:cBhvr>
                                    </p:animEffect>
                                  </p:childTnLst>
                                </p:cTn>
                              </p:par>
                            </p:childTnLst>
                          </p:cTn>
                        </p:par>
                      </p:childTnLst>
                    </p:cTn>
                  </p:par>
                  <p:par>
                    <p:cTn id="23" fill="hold">
                      <p:stCondLst>
                        <p:cond delay="indefinite"/>
                      </p:stCondLst>
                      <p:childTnLst>
                        <p:par>
                          <p:cTn id="24" fill="hold">
                            <p:stCondLst>
                              <p:cond delay="0"/>
                            </p:stCondLst>
                            <p:childTnLst>
                              <p:par>
                                <p:cTn id="25" presetClass="entr" nodeType="clickEffect" presetSubtype="8" presetID="2" grpId="5" fill="hold">
                                  <p:stCondLst>
                                    <p:cond delay="0"/>
                                  </p:stCondLst>
                                  <p:iterate type="el" backwards="0">
                                    <p:tmAbs val="0"/>
                                  </p:iterate>
                                  <p:childTnLst>
                                    <p:set>
                                      <p:cBhvr>
                                        <p:cTn id="26" fill="hold"/>
                                        <p:tgtEl>
                                          <p:spTgt spid="317"/>
                                        </p:tgtEl>
                                        <p:attrNameLst>
                                          <p:attrName>style.visibility</p:attrName>
                                        </p:attrNameLst>
                                      </p:cBhvr>
                                      <p:to>
                                        <p:strVal val="visible"/>
                                      </p:to>
                                    </p:set>
                                    <p:anim calcmode="lin" valueType="num">
                                      <p:cBhvr>
                                        <p:cTn id="27" dur="1000" fill="hold"/>
                                        <p:tgtEl>
                                          <p:spTgt spid="317"/>
                                        </p:tgtEl>
                                        <p:attrNameLst>
                                          <p:attrName>ppt_x</p:attrName>
                                        </p:attrNameLst>
                                      </p:cBhvr>
                                      <p:tavLst>
                                        <p:tav tm="0">
                                          <p:val>
                                            <p:strVal val="0-#ppt_w/2"/>
                                          </p:val>
                                        </p:tav>
                                        <p:tav tm="100000">
                                          <p:val>
                                            <p:strVal val="#ppt_x"/>
                                          </p:val>
                                        </p:tav>
                                      </p:tavLst>
                                    </p:anim>
                                    <p:anim calcmode="lin" valueType="num">
                                      <p:cBhvr>
                                        <p:cTn id="28" dur="1000" fill="hold"/>
                                        <p:tgtEl>
                                          <p:spTgt spid="317"/>
                                        </p:tgtEl>
                                        <p:attrNameLst>
                                          <p:attrName>ppt_y</p:attrName>
                                        </p:attrNameLst>
                                      </p:cBhvr>
                                      <p:tavLst>
                                        <p:tav tm="0">
                                          <p:val>
                                            <p:strVal val="#ppt_y"/>
                                          </p:val>
                                        </p:tav>
                                        <p:tav tm="100000">
                                          <p:val>
                                            <p:strVal val="#ppt_y"/>
                                          </p:val>
                                        </p:tav>
                                      </p:tavLst>
                                    </p:anim>
                                  </p:childTnLst>
                                </p:cTn>
                              </p:par>
                            </p:childTnLst>
                          </p:cTn>
                        </p:par>
                        <p:par>
                          <p:cTn id="29" fill="hold">
                            <p:stCondLst>
                              <p:cond delay="1000"/>
                            </p:stCondLst>
                            <p:childTnLst>
                              <p:par>
                                <p:cTn id="30" presetClass="entr" nodeType="afterEffect" presetID="9" grpId="6" fill="hold">
                                  <p:stCondLst>
                                    <p:cond delay="0"/>
                                  </p:stCondLst>
                                  <p:iterate type="el" backwards="0">
                                    <p:tmAbs val="0"/>
                                  </p:iterate>
                                  <p:childTnLst>
                                    <p:set>
                                      <p:cBhvr>
                                        <p:cTn id="31" fill="hold"/>
                                        <p:tgtEl>
                                          <p:spTgt spid="322"/>
                                        </p:tgtEl>
                                        <p:attrNameLst>
                                          <p:attrName>style.visibility</p:attrName>
                                        </p:attrNameLst>
                                      </p:cBhvr>
                                      <p:to>
                                        <p:strVal val="visible"/>
                                      </p:to>
                                    </p:set>
                                    <p:animEffect filter="dissolve" transition="in">
                                      <p:cBhvr>
                                        <p:cTn id="32" dur="2000"/>
                                        <p:tgtEl>
                                          <p:spTgt spid="32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18" grpId="2"/>
      <p:bldP build="whole" bldLvl="1" animBg="1" rev="0" advAuto="0" spid="315" grpId="1"/>
      <p:bldP build="whole" bldLvl="1" animBg="1" rev="0" advAuto="0" spid="316" grpId="3"/>
      <p:bldP build="whole" bldLvl="1" animBg="1" rev="0" advAuto="0" spid="320" grpId="4"/>
      <p:bldP build="whole" bldLvl="1" animBg="1" rev="0" advAuto="0" spid="317" grpId="5"/>
      <p:bldP build="whole" bldLvl="1" animBg="1" rev="0" advAuto="0" spid="322" grpId="6"/>
    </p:bldLst>
  </p:timing>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5"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326" name="Ecuație"/>
          <p:cNvSpPr txBox="1"/>
          <p:nvPr/>
        </p:nvSpPr>
        <p:spPr>
          <a:xfrm>
            <a:off x="1096117" y="1560416"/>
            <a:ext cx="11266806" cy="5692497"/>
          </a:xfrm>
          <a:prstGeom prst="rect">
            <a:avLst/>
          </a:prstGeom>
          <a:ln w="12700">
            <a:miter lim="400000"/>
          </a:ln>
        </p:spPr>
        <p:txBody>
          <a:bodyPr wrap="none" lIns="0" tIns="0" rIns="0" bIns="0">
            <a:spAutoFit/>
          </a:bodyPr>
          <a:lstStyle/>
          <a:p>
            <a:pPr defTabSz="914400" latinLnBrk="1">
              <a:lnSpc>
                <a:spcPct val="100000"/>
              </a:lnSpc>
              <a:spcBef>
                <a:spcPts val="0"/>
              </a:spcBef>
              <a:defRPr sz="1800"/>
            </a:pPr>
            <a14:m>
              <m:oMathPara>
                <m:oMathParaPr>
                  <m:jc m:val="centerGroup"/>
                </m:oMathParaPr>
                <m:oMath>
                  <m:sSub>
                    <m:e>
                      <m:limUpp>
                        <m:e>
                          <m:r>
                            <a:rPr xmlns:a="http://schemas.openxmlformats.org/drawingml/2006/main" sz="4400" i="1">
                              <a:solidFill>
                                <a:srgbClr val="000000"/>
                              </a:solidFill>
                              <a:latin typeface="Cambria Math" panose="02040503050406030204" pitchFamily="18" charset="0"/>
                            </a:rPr>
                            <m:t>x</m:t>
                          </m:r>
                        </m:e>
                        <m:lim>
                          <m:r>
                            <a:rPr xmlns:a="http://schemas.openxmlformats.org/drawingml/2006/main" sz="4400" i="1">
                              <a:solidFill>
                                <a:srgbClr val="000000"/>
                              </a:solidFill>
                              <a:latin typeface="Cambria Math" panose="02040503050406030204" pitchFamily="18" charset="0"/>
                            </a:rPr>
                            <m:t>⃗</m:t>
                          </m:r>
                        </m:lim>
                      </m:limUpp>
                    </m:e>
                    <m:sub>
                      <m:r>
                        <a:rPr xmlns:a="http://schemas.openxmlformats.org/drawingml/2006/main" sz="4400" i="1">
                          <a:solidFill>
                            <a:srgbClr val="000000"/>
                          </a:solidFill>
                          <a:latin typeface="Cambria Math" panose="02040503050406030204" pitchFamily="18" charset="0"/>
                        </a:rPr>
                        <m:t>1</m:t>
                      </m:r>
                    </m:sub>
                  </m:sSub>
                  <m:r>
                    <a:rPr xmlns:a="http://schemas.openxmlformats.org/drawingml/2006/main" sz="4400" i="1">
                      <a:solidFill>
                        <a:srgbClr val="000000"/>
                      </a:solidFill>
                      <a:latin typeface="Cambria Math" panose="02040503050406030204" pitchFamily="18" charset="0"/>
                    </a:rPr>
                    <m:t>=</m:t>
                  </m:r>
                  <m:d>
                    <m:dPr>
                      <m:ctrlPr>
                        <a:rPr xmlns:a="http://schemas.openxmlformats.org/drawingml/2006/main" sz="4400" i="1">
                          <a:solidFill>
                            <a:srgbClr val="000000"/>
                          </a:solidFill>
                          <a:latin typeface="Cambria Math" panose="02040503050406030204" pitchFamily="18" charset="0"/>
                        </a:rPr>
                      </m:ctrlPr>
                      <m:begChr m:val="["/>
                      <m:endChr m:val="]"/>
                    </m:dPr>
                    <m:e>
                      <m:eqArr>
                        <m:eqArrPr>
                          <m:ctrlPr>
                            <a:rPr xmlns:a="http://schemas.openxmlformats.org/drawingml/2006/main" sz="4400" i="1">
                              <a:solidFill>
                                <a:srgbClr val="000000"/>
                              </a:solidFill>
                              <a:latin typeface="Cambria Math" panose="02040503050406030204" pitchFamily="18" charset="0"/>
                            </a:rPr>
                          </m:ctrlPr>
                        </m:eqArrPr>
                        <m:e>
                          <m:r>
                            <a:rPr xmlns:a="http://schemas.openxmlformats.org/drawingml/2006/main" sz="4400" i="1">
                              <a:solidFill>
                                <a:srgbClr val="000000"/>
                              </a:solidFill>
                              <a:latin typeface="Cambria Math" panose="02040503050406030204" pitchFamily="18" charset="0"/>
                            </a:rPr>
                            <m:t>150</m:t>
                          </m:r>
                        </m:e>
                        <m:e>
                          <m:r>
                            <a:rPr xmlns:a="http://schemas.openxmlformats.org/drawingml/2006/main" sz="4400" i="1">
                              <a:solidFill>
                                <a:srgbClr val="000000"/>
                              </a:solidFill>
                              <a:latin typeface="Cambria Math" panose="02040503050406030204" pitchFamily="18" charset="0"/>
                            </a:rPr>
                            <m:t>80</m:t>
                          </m:r>
                        </m:e>
                        <m:e>
                          <m:r>
                            <a:rPr xmlns:a="http://schemas.openxmlformats.org/drawingml/2006/main" sz="4400" i="1">
                              <a:solidFill>
                                <a:srgbClr val="000000"/>
                              </a:solidFill>
                              <a:latin typeface="Cambria Math" panose="02040503050406030204" pitchFamily="18" charset="0"/>
                            </a:rPr>
                            <m:t>140</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90</m:t>
                          </m:r>
                        </m:e>
                        <m:e>
                          <m:r>
                            <a:rPr xmlns:a="http://schemas.openxmlformats.org/drawingml/2006/main" sz="4400" i="1">
                              <a:solidFill>
                                <a:srgbClr val="000000"/>
                              </a:solidFill>
                              <a:latin typeface="Cambria Math" panose="02040503050406030204" pitchFamily="18" charset="0"/>
                            </a:rPr>
                            <m:t>63</m:t>
                          </m:r>
                        </m:e>
                        <m:e>
                          <m:r>
                            <a:rPr xmlns:a="http://schemas.openxmlformats.org/drawingml/2006/main" sz="4400" i="1">
                              <a:solidFill>
                                <a:srgbClr val="000000"/>
                              </a:solidFill>
                              <a:latin typeface="Cambria Math" panose="02040503050406030204" pitchFamily="18" charset="0"/>
                            </a:rPr>
                            <m:t>36</m:t>
                          </m:r>
                        </m:e>
                        <m:e>
                          <m:r>
                            <a:rPr xmlns:a="http://schemas.openxmlformats.org/drawingml/2006/main" sz="4400" i="1">
                              <a:solidFill>
                                <a:srgbClr val="000000"/>
                              </a:solidFill>
                              <a:latin typeface="Cambria Math" panose="02040503050406030204" pitchFamily="18" charset="0"/>
                            </a:rPr>
                            <m:t>5.0</m:t>
                          </m:r>
                        </m:e>
                        <m:e>
                          <m:r>
                            <a:rPr xmlns:a="http://schemas.openxmlformats.org/drawingml/2006/main" sz="4400" i="1">
                              <a:solidFill>
                                <a:srgbClr val="000000"/>
                              </a:solidFill>
                              <a:latin typeface="Cambria Math" panose="02040503050406030204" pitchFamily="18" charset="0"/>
                            </a:rPr>
                            <m:t>0</m:t>
                          </m:r>
                        </m:e>
                        <m:e>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m:t>
                          </m:r>
                        </m:e>
                        <m:e>
                          <m:r>
                            <a:rPr xmlns:a="http://schemas.openxmlformats.org/drawingml/2006/main" sz="4400" i="1">
                              <a:solidFill>
                                <a:srgbClr val="000000"/>
                              </a:solidFill>
                              <a:latin typeface="Cambria Math" panose="02040503050406030204" pitchFamily="18" charset="0"/>
                            </a:rPr>
                            <m:t>99</m:t>
                          </m:r>
                        </m:e>
                      </m:eqArr>
                    </m:e>
                  </m:d>
                  <m:r>
                    <a:rPr xmlns:a="http://schemas.openxmlformats.org/drawingml/2006/main" sz="4400" i="1">
                      <a:solidFill>
                        <a:srgbClr val="000000"/>
                      </a:solidFill>
                      <a:latin typeface="Cambria Math" panose="02040503050406030204" pitchFamily="18" charset="0"/>
                    </a:rPr>
                    <m:t>,</m:t>
                  </m:r>
                  <m:sSub>
                    <m:e>
                      <m:limUpp>
                        <m:e>
                          <m:r>
                            <a:rPr xmlns:a="http://schemas.openxmlformats.org/drawingml/2006/main" sz="4400" i="1">
                              <a:solidFill>
                                <a:srgbClr val="000000"/>
                              </a:solidFill>
                              <a:latin typeface="Cambria Math" panose="02040503050406030204" pitchFamily="18" charset="0"/>
                            </a:rPr>
                            <m:t>x</m:t>
                          </m:r>
                        </m:e>
                        <m:lim>
                          <m:r>
                            <a:rPr xmlns:a="http://schemas.openxmlformats.org/drawingml/2006/main" sz="4400" i="1">
                              <a:solidFill>
                                <a:srgbClr val="000000"/>
                              </a:solidFill>
                              <a:latin typeface="Cambria Math" panose="02040503050406030204" pitchFamily="18" charset="0"/>
                            </a:rPr>
                            <m:t>⃗</m:t>
                          </m:r>
                        </m:lim>
                      </m:limUpp>
                    </m:e>
                    <m:sub>
                      <m:r>
                        <a:rPr xmlns:a="http://schemas.openxmlformats.org/drawingml/2006/main" sz="4400" i="1">
                          <a:solidFill>
                            <a:srgbClr val="000000"/>
                          </a:solidFill>
                          <a:latin typeface="Cambria Math" panose="02040503050406030204" pitchFamily="18" charset="0"/>
                        </a:rPr>
                        <m:t>2</m:t>
                      </m:r>
                    </m:sub>
                  </m:sSub>
                  <m:r>
                    <a:rPr xmlns:a="http://schemas.openxmlformats.org/drawingml/2006/main" sz="4400" i="1">
                      <a:solidFill>
                        <a:srgbClr val="000000"/>
                      </a:solidFill>
                      <a:latin typeface="Cambria Math" panose="02040503050406030204" pitchFamily="18" charset="0"/>
                    </a:rPr>
                    <m:t>=</m:t>
                  </m:r>
                  <m:d>
                    <m:dPr>
                      <m:ctrlPr>
                        <a:rPr xmlns:a="http://schemas.openxmlformats.org/drawingml/2006/main" sz="4400" i="1">
                          <a:solidFill>
                            <a:srgbClr val="000000"/>
                          </a:solidFill>
                          <a:latin typeface="Cambria Math" panose="02040503050406030204" pitchFamily="18" charset="0"/>
                        </a:rPr>
                      </m:ctrlPr>
                      <m:begChr m:val="["/>
                      <m:endChr m:val="]"/>
                    </m:dPr>
                    <m:e>
                      <m:eqArr>
                        <m:eqArrPr>
                          <m:ctrlPr>
                            <a:rPr xmlns:a="http://schemas.openxmlformats.org/drawingml/2006/main" sz="4400" i="1">
                              <a:solidFill>
                                <a:srgbClr val="000000"/>
                              </a:solidFill>
                              <a:latin typeface="Cambria Math" panose="02040503050406030204" pitchFamily="18" charset="0"/>
                            </a:rPr>
                          </m:ctrlPr>
                        </m:eqArrPr>
                        <m:e>
                          <m:r>
                            <a:rPr xmlns:a="http://schemas.openxmlformats.org/drawingml/2006/main" sz="4400" i="1">
                              <a:solidFill>
                                <a:srgbClr val="000000"/>
                              </a:solidFill>
                              <a:latin typeface="Cambria Math" panose="02040503050406030204" pitchFamily="18" charset="0"/>
                            </a:rPr>
                            <m:t>174</m:t>
                          </m:r>
                        </m:e>
                        <m:e>
                          <m:r>
                            <a:rPr xmlns:a="http://schemas.openxmlformats.org/drawingml/2006/main" sz="4400" i="1">
                              <a:solidFill>
                                <a:srgbClr val="000000"/>
                              </a:solidFill>
                              <a:latin typeface="Cambria Math" panose="02040503050406030204" pitchFamily="18" charset="0"/>
                            </a:rPr>
                            <m:t>90</m:t>
                          </m:r>
                        </m:e>
                        <m:e>
                          <m:r>
                            <a:rPr xmlns:a="http://schemas.openxmlformats.org/drawingml/2006/main" sz="4400" i="1">
                              <a:solidFill>
                                <a:srgbClr val="000000"/>
                              </a:solidFill>
                              <a:latin typeface="Cambria Math" panose="02040503050406030204" pitchFamily="18" charset="0"/>
                            </a:rPr>
                            <m:t>90</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60</m:t>
                          </m:r>
                        </m:e>
                        <m:e>
                          <m:r>
                            <a:rPr xmlns:a="http://schemas.openxmlformats.org/drawingml/2006/main" sz="4400" i="1">
                              <a:solidFill>
                                <a:srgbClr val="000000"/>
                              </a:solidFill>
                              <a:latin typeface="Cambria Math" panose="02040503050406030204" pitchFamily="18" charset="0"/>
                            </a:rPr>
                            <m:t>100</m:t>
                          </m:r>
                        </m:e>
                        <m:e>
                          <m:r>
                            <a:rPr xmlns:a="http://schemas.openxmlformats.org/drawingml/2006/main" sz="4400" i="1">
                              <a:solidFill>
                                <a:srgbClr val="000000"/>
                              </a:solidFill>
                              <a:latin typeface="Cambria Math" panose="02040503050406030204" pitchFamily="18" charset="0"/>
                            </a:rPr>
                            <m:t>32</m:t>
                          </m:r>
                        </m:e>
                        <m:e>
                          <m:r>
                            <a:rPr xmlns:a="http://schemas.openxmlformats.org/drawingml/2006/main" sz="4400" i="1">
                              <a:solidFill>
                                <a:srgbClr val="000000"/>
                              </a:solidFill>
                              <a:latin typeface="Cambria Math" panose="02040503050406030204" pitchFamily="18" charset="0"/>
                            </a:rPr>
                            <m:t>4.0</m:t>
                          </m:r>
                        </m:e>
                        <m:e>
                          <m:r>
                            <a:rPr xmlns:a="http://schemas.openxmlformats.org/drawingml/2006/main" sz="4400" i="1">
                              <a:solidFill>
                                <a:srgbClr val="000000"/>
                              </a:solidFill>
                              <a:latin typeface="Cambria Math" panose="02040503050406030204" pitchFamily="18" charset="0"/>
                            </a:rPr>
                            <m:t>0</m:t>
                          </m:r>
                        </m:e>
                        <m:e>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m:t>
                          </m:r>
                        </m:e>
                        <m:e>
                          <m:r>
                            <a:rPr xmlns:a="http://schemas.openxmlformats.org/drawingml/2006/main" sz="4400" i="1">
                              <a:solidFill>
                                <a:srgbClr val="000000"/>
                              </a:solidFill>
                              <a:latin typeface="Cambria Math" panose="02040503050406030204" pitchFamily="18" charset="0"/>
                            </a:rPr>
                            <m:t>95</m:t>
                          </m:r>
                        </m:e>
                      </m:eqArr>
                    </m:e>
                  </m:d>
                  <m:r>
                    <a:rPr xmlns:a="http://schemas.openxmlformats.org/drawingml/2006/main" sz="4400" i="1">
                      <a:solidFill>
                        <a:srgbClr val="000000"/>
                      </a:solidFill>
                      <a:latin typeface="Cambria Math" panose="02040503050406030204" pitchFamily="18" charset="0"/>
                    </a:rPr>
                    <m:t>,</m:t>
                  </m:r>
                  <m:sSub>
                    <m:e>
                      <m:limUpp>
                        <m:e>
                          <m:r>
                            <a:rPr xmlns:a="http://schemas.openxmlformats.org/drawingml/2006/main" sz="4400" i="1">
                              <a:solidFill>
                                <a:srgbClr val="000000"/>
                              </a:solidFill>
                              <a:latin typeface="Cambria Math" panose="02040503050406030204" pitchFamily="18" charset="0"/>
                            </a:rPr>
                            <m:t>x</m:t>
                          </m:r>
                        </m:e>
                        <m:lim>
                          <m:r>
                            <a:rPr xmlns:a="http://schemas.openxmlformats.org/drawingml/2006/main" sz="4400" i="1">
                              <a:solidFill>
                                <a:srgbClr val="000000"/>
                              </a:solidFill>
                              <a:latin typeface="Cambria Math" panose="02040503050406030204" pitchFamily="18" charset="0"/>
                            </a:rPr>
                            <m:t>⃗</m:t>
                          </m:r>
                        </m:lim>
                      </m:limUpp>
                    </m:e>
                    <m:sub>
                      <m:r>
                        <a:rPr xmlns:a="http://schemas.openxmlformats.org/drawingml/2006/main" sz="4400" i="1">
                          <a:solidFill>
                            <a:srgbClr val="000000"/>
                          </a:solidFill>
                          <a:latin typeface="Cambria Math" panose="02040503050406030204" pitchFamily="18" charset="0"/>
                        </a:rPr>
                        <m:t>3</m:t>
                      </m:r>
                    </m:sub>
                  </m:sSub>
                  <m:r>
                    <a:rPr xmlns:a="http://schemas.openxmlformats.org/drawingml/2006/main" sz="4400" i="1">
                      <a:solidFill>
                        <a:srgbClr val="000000"/>
                      </a:solidFill>
                      <a:latin typeface="Cambria Math" panose="02040503050406030204" pitchFamily="18" charset="0"/>
                    </a:rPr>
                    <m:t>=</m:t>
                  </m:r>
                  <m:d>
                    <m:dPr>
                      <m:ctrlPr>
                        <a:rPr xmlns:a="http://schemas.openxmlformats.org/drawingml/2006/main" sz="4400" i="1">
                          <a:solidFill>
                            <a:srgbClr val="000000"/>
                          </a:solidFill>
                          <a:latin typeface="Cambria Math" panose="02040503050406030204" pitchFamily="18" charset="0"/>
                        </a:rPr>
                      </m:ctrlPr>
                      <m:begChr m:val="["/>
                      <m:endChr m:val="]"/>
                    </m:dPr>
                    <m:e>
                      <m:eqArr>
                        <m:eqArrPr>
                          <m:ctrlPr>
                            <a:rPr xmlns:a="http://schemas.openxmlformats.org/drawingml/2006/main" sz="4400" i="1">
                              <a:solidFill>
                                <a:srgbClr val="000000"/>
                              </a:solidFill>
                              <a:latin typeface="Cambria Math" panose="02040503050406030204" pitchFamily="18" charset="0"/>
                            </a:rPr>
                          </m:ctrlPr>
                        </m:eqArrPr>
                        <m:e>
                          <m:r>
                            <a:rPr xmlns:a="http://schemas.openxmlformats.org/drawingml/2006/main" sz="4400" i="1">
                              <a:solidFill>
                                <a:srgbClr val="000000"/>
                              </a:solidFill>
                              <a:latin typeface="Cambria Math" panose="02040503050406030204" pitchFamily="18" charset="0"/>
                            </a:rPr>
                            <m:t>180</m:t>
                          </m:r>
                        </m:e>
                        <m:e>
                          <m:r>
                            <a:rPr xmlns:a="http://schemas.openxmlformats.org/drawingml/2006/main" sz="4400" i="1">
                              <a:solidFill>
                                <a:srgbClr val="000000"/>
                              </a:solidFill>
                              <a:latin typeface="Cambria Math" panose="02040503050406030204" pitchFamily="18" charset="0"/>
                            </a:rPr>
                            <m:t>82</m:t>
                          </m:r>
                        </m:e>
                        <m:e>
                          <m:r>
                            <a:rPr xmlns:a="http://schemas.openxmlformats.org/drawingml/2006/main" sz="4400" i="1">
                              <a:solidFill>
                                <a:srgbClr val="000000"/>
                              </a:solidFill>
                              <a:latin typeface="Cambria Math" panose="02040503050406030204" pitchFamily="18" charset="0"/>
                            </a:rPr>
                            <m:t>92</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60</m:t>
                          </m:r>
                        </m:e>
                        <m:e>
                          <m:r>
                            <a:rPr xmlns:a="http://schemas.openxmlformats.org/drawingml/2006/main" sz="4400" i="1">
                              <a:solidFill>
                                <a:srgbClr val="000000"/>
                              </a:solidFill>
                              <a:latin typeface="Cambria Math" panose="02040503050406030204" pitchFamily="18" charset="0"/>
                            </a:rPr>
                            <m:t>78</m:t>
                          </m:r>
                        </m:e>
                        <m:e>
                          <m:r>
                            <a:rPr xmlns:a="http://schemas.openxmlformats.org/drawingml/2006/main" sz="4400" i="1">
                              <a:solidFill>
                                <a:srgbClr val="000000"/>
                              </a:solidFill>
                              <a:latin typeface="Cambria Math" panose="02040503050406030204" pitchFamily="18" charset="0"/>
                            </a:rPr>
                            <m:t>25</m:t>
                          </m:r>
                        </m:e>
                        <m:e>
                          <m:r>
                            <a:rPr xmlns:a="http://schemas.openxmlformats.org/drawingml/2006/main" sz="4400" i="1">
                              <a:solidFill>
                                <a:srgbClr val="000000"/>
                              </a:solidFill>
                              <a:latin typeface="Cambria Math" panose="02040503050406030204" pitchFamily="18" charset="0"/>
                            </a:rPr>
                            <m:t>3.7</m:t>
                          </m:r>
                        </m:e>
                        <m:e>
                          <m:r>
                            <a:rPr xmlns:a="http://schemas.openxmlformats.org/drawingml/2006/main" sz="4400" i="1">
                              <a:solidFill>
                                <a:srgbClr val="000000"/>
                              </a:solidFill>
                              <a:latin typeface="Cambria Math" panose="02040503050406030204" pitchFamily="18" charset="0"/>
                            </a:rPr>
                            <m:t>10</m:t>
                          </m:r>
                        </m:e>
                        <m:e>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m:t>
                          </m:r>
                        </m:e>
                        <m:e>
                          <m:r>
                            <a:rPr xmlns:a="http://schemas.openxmlformats.org/drawingml/2006/main" sz="4400" i="1">
                              <a:solidFill>
                                <a:srgbClr val="000000"/>
                              </a:solidFill>
                              <a:latin typeface="Cambria Math" panose="02040503050406030204" pitchFamily="18" charset="0"/>
                            </a:rPr>
                            <m:t>112</m:t>
                          </m:r>
                        </m:e>
                      </m:eqArr>
                    </m:e>
                  </m:d>
                </m:oMath>
              </m:oMathPara>
            </a14:m>
            <a:endParaRPr sz="4400"/>
          </a:p>
        </p:txBody>
      </p:sp>
      <p:sp>
        <p:nvSpPr>
          <p:cNvPr id="327" name="…"/>
          <p:cNvSpPr txBox="1"/>
          <p:nvPr/>
        </p:nvSpPr>
        <p:spPr>
          <a:xfrm>
            <a:off x="12947284" y="3768845"/>
            <a:ext cx="547929"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a:t>
            </a:r>
          </a:p>
        </p:txBody>
      </p:sp>
      <p:sp>
        <p:nvSpPr>
          <p:cNvPr id="328" name="Ecuație"/>
          <p:cNvSpPr txBox="1"/>
          <p:nvPr/>
        </p:nvSpPr>
        <p:spPr>
          <a:xfrm>
            <a:off x="16794863" y="2938009"/>
            <a:ext cx="2436661" cy="3349381"/>
          </a:xfrm>
          <a:prstGeom prst="rect">
            <a:avLst/>
          </a:prstGeom>
          <a:ln w="12700">
            <a:miter lim="400000"/>
          </a:ln>
        </p:spPr>
        <p:txBody>
          <a:bodyPr wrap="none" lIns="0" tIns="0" rIns="0" bIns="0">
            <a:spAutoFit/>
          </a:bodyPr>
          <a:lstStyle/>
          <a:p>
            <a:pPr defTabSz="914400" latinLnBrk="1">
              <a:lnSpc>
                <a:spcPct val="100000"/>
              </a:lnSpc>
              <a:spcBef>
                <a:spcPts val="0"/>
              </a:spcBef>
              <a:defRPr sz="1800"/>
            </a:pPr>
            <a14:m>
              <m:oMathPara>
                <m:oMathParaPr>
                  <m:jc m:val="centerGroup"/>
                </m:oMathParaPr>
                <m:oMath>
                  <m:limUpp>
                    <m:e>
                      <m:r>
                        <a:rPr xmlns:a="http://schemas.openxmlformats.org/drawingml/2006/main" sz="4400" i="1">
                          <a:solidFill>
                            <a:srgbClr val="000000"/>
                          </a:solidFill>
                          <a:latin typeface="Cambria Math" panose="02040503050406030204" pitchFamily="18" charset="0"/>
                        </a:rPr>
                        <m:t>u</m:t>
                      </m:r>
                    </m:e>
                    <m:lim>
                      <m:r>
                        <a:rPr xmlns:a="http://schemas.openxmlformats.org/drawingml/2006/main" sz="4400" i="1">
                          <a:solidFill>
                            <a:srgbClr val="000000"/>
                          </a:solidFill>
                          <a:latin typeface="Cambria Math" panose="02040503050406030204" pitchFamily="18" charset="0"/>
                        </a:rPr>
                        <m:t>⃗</m:t>
                      </m:r>
                    </m:lim>
                  </m:limUpp>
                  <m:r>
                    <a:rPr xmlns:a="http://schemas.openxmlformats.org/drawingml/2006/main" sz="4400" i="1">
                      <a:solidFill>
                        <a:srgbClr val="000000"/>
                      </a:solidFill>
                      <a:latin typeface="Cambria Math" panose="02040503050406030204" pitchFamily="18" charset="0"/>
                    </a:rPr>
                    <m:t>=</m:t>
                  </m:r>
                  <m:d>
                    <m:dPr>
                      <m:ctrlPr>
                        <a:rPr xmlns:a="http://schemas.openxmlformats.org/drawingml/2006/main" sz="4400" i="1">
                          <a:solidFill>
                            <a:srgbClr val="000000"/>
                          </a:solidFill>
                          <a:latin typeface="Cambria Math" panose="02040503050406030204" pitchFamily="18" charset="0"/>
                        </a:rPr>
                      </m:ctrlPr>
                      <m:begChr m:val="["/>
                      <m:endChr m:val="]"/>
                    </m:dPr>
                    <m:e>
                      <m:eqArr>
                        <m:eqArrPr>
                          <m:ctrlPr>
                            <a:rPr xmlns:a="http://schemas.openxmlformats.org/drawingml/2006/main" sz="4400" i="1">
                              <a:solidFill>
                                <a:srgbClr val="000000"/>
                              </a:solidFill>
                              <a:latin typeface="Cambria Math" panose="02040503050406030204" pitchFamily="18" charset="0"/>
                            </a:rPr>
                          </m:ctrlPr>
                        </m:eqArrPr>
                        <m:e>
                          <m:sSub>
                            <m:e>
                              <m:argPr>
                                <m:scrLvl m:val="0"/>
                              </m:argPr>
                              <m:r>
                                <a:rPr xmlns:a="http://schemas.openxmlformats.org/drawingml/2006/main" sz="4400" i="1">
                                  <a:solidFill>
                                    <a:srgbClr val="000000"/>
                                  </a:solidFill>
                                  <a:latin typeface="Cambria Math" panose="02040503050406030204" pitchFamily="18" charset="0"/>
                                </a:rPr>
                                <m:t>u</m:t>
                              </m:r>
                            </m:e>
                            <m:sub>
                              <m:argPr>
                                <m:scrLvl m:val="0"/>
                              </m:argPr>
                              <m:r>
                                <a:rPr xmlns:a="http://schemas.openxmlformats.org/drawingml/2006/main" sz="4400" i="1">
                                  <a:solidFill>
                                    <a:srgbClr val="000000"/>
                                  </a:solidFill>
                                  <a:latin typeface="Cambria Math" panose="02040503050406030204" pitchFamily="18" charset="0"/>
                                </a:rPr>
                                <m:t>1</m:t>
                              </m:r>
                            </m:sub>
                          </m:sSub>
                        </m:e>
                        <m:e>
                          <m:sSub>
                            <m:e>
                              <m:argPr>
                                <m:scrLvl m:val="0"/>
                              </m:argPr>
                              <m:r>
                                <a:rPr xmlns:a="http://schemas.openxmlformats.org/drawingml/2006/main" sz="4400" i="1">
                                  <a:solidFill>
                                    <a:srgbClr val="000000"/>
                                  </a:solidFill>
                                  <a:latin typeface="Cambria Math" panose="02040503050406030204" pitchFamily="18" charset="0"/>
                                </a:rPr>
                                <m:t>u</m:t>
                              </m:r>
                            </m:e>
                            <m:sub>
                              <m:argPr>
                                <m:scrLvl m:val="0"/>
                              </m:argPr>
                              <m:r>
                                <a:rPr xmlns:a="http://schemas.openxmlformats.org/drawingml/2006/main" sz="4400" i="1">
                                  <a:solidFill>
                                    <a:srgbClr val="000000"/>
                                  </a:solidFill>
                                  <a:latin typeface="Cambria Math" panose="02040503050406030204" pitchFamily="18" charset="0"/>
                                </a:rPr>
                                <m:t>2</m:t>
                              </m:r>
                            </m:sub>
                          </m:sSub>
                        </m:e>
                        <m:e>
                          <m:sSub>
                            <m:e>
                              <m:argPr>
                                <m:scrLvl m:val="0"/>
                              </m:argPr>
                              <m:r>
                                <a:rPr xmlns:a="http://schemas.openxmlformats.org/drawingml/2006/main" sz="4400" i="1">
                                  <a:solidFill>
                                    <a:srgbClr val="000000"/>
                                  </a:solidFill>
                                  <a:latin typeface="Cambria Math" panose="02040503050406030204" pitchFamily="18" charset="0"/>
                                </a:rPr>
                                <m:t>u</m:t>
                              </m:r>
                            </m:e>
                            <m:sub>
                              <m:argPr>
                                <m:scrLvl m:val="0"/>
                              </m:argPr>
                              <m:r>
                                <a:rPr xmlns:a="http://schemas.openxmlformats.org/drawingml/2006/main" sz="4400" i="1">
                                  <a:solidFill>
                                    <a:srgbClr val="000000"/>
                                  </a:solidFill>
                                  <a:latin typeface="Cambria Math" panose="02040503050406030204" pitchFamily="18" charset="0"/>
                                </a:rPr>
                                <m:t>3</m:t>
                              </m:r>
                            </m:sub>
                          </m:sSub>
                        </m:e>
                        <m:e>
                          <m:r>
                            <a:rPr xmlns:a="http://schemas.openxmlformats.org/drawingml/2006/main" sz="4400" i="1">
                              <a:solidFill>
                                <a:srgbClr val="000000"/>
                              </a:solidFill>
                              <a:latin typeface="Cambria Math" panose="02040503050406030204" pitchFamily="18" charset="0"/>
                            </a:rPr>
                            <m:t>⋮</m:t>
                          </m:r>
                        </m:e>
                        <m:e>
                          <m:sSub>
                            <m:e>
                              <m:argPr>
                                <m:scrLvl m:val="0"/>
                              </m:argPr>
                              <m:r>
                                <a:rPr xmlns:a="http://schemas.openxmlformats.org/drawingml/2006/main" sz="4400" i="1">
                                  <a:solidFill>
                                    <a:srgbClr val="000000"/>
                                  </a:solidFill>
                                  <a:latin typeface="Cambria Math" panose="02040503050406030204" pitchFamily="18" charset="0"/>
                                </a:rPr>
                                <m:t>u</m:t>
                              </m:r>
                            </m:e>
                            <m:sub>
                              <m:argPr>
                                <m:scrLvl m:val="0"/>
                              </m:argPr>
                              <m:r>
                                <a:rPr xmlns:a="http://schemas.openxmlformats.org/drawingml/2006/main" sz="4400" i="1">
                                  <a:solidFill>
                                    <a:srgbClr val="000000"/>
                                  </a:solidFill>
                                  <a:latin typeface="Cambria Math" panose="02040503050406030204" pitchFamily="18" charset="0"/>
                                </a:rPr>
                                <m:t>200</m:t>
                              </m:r>
                            </m:sub>
                          </m:sSub>
                        </m:e>
                      </m:eqArr>
                    </m:e>
                  </m:d>
                </m:oMath>
              </m:oMathPara>
            </a14:m>
            <a:endParaRPr sz="4400"/>
          </a:p>
        </p:txBody>
      </p:sp>
      <p:sp>
        <p:nvSpPr>
          <p:cNvPr id="329" name="Prima componentă principală:"/>
          <p:cNvSpPr txBox="1"/>
          <p:nvPr/>
        </p:nvSpPr>
        <p:spPr>
          <a:xfrm>
            <a:off x="14355960" y="1328461"/>
            <a:ext cx="7792772"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Prima componentă principală:</a:t>
            </a:r>
          </a:p>
        </p:txBody>
      </p:sp>
      <p:sp>
        <p:nvSpPr>
          <p:cNvPr id="330" name="În general, sunt două tipuri mari și late:"/>
          <p:cNvSpPr txBox="1"/>
          <p:nvPr>
            <p:ph type="body" sz="quarter" idx="1"/>
          </p:nvPr>
        </p:nvSpPr>
        <p:spPr>
          <a:xfrm>
            <a:off x="496970" y="8056814"/>
            <a:ext cx="21948579" cy="2096504"/>
          </a:xfrm>
          <a:prstGeom prst="rect">
            <a:avLst/>
          </a:prstGeom>
        </p:spPr>
        <p:txBody>
          <a:bodyPr/>
          <a:lstStyle/>
          <a:p>
            <a:pPr/>
            <a:r>
              <a:t>Prin magnitudinea vectorilor proiectați măsurăm informația rămasă din acei vectori după proiecție</a:t>
            </a:r>
          </a:p>
        </p:txBody>
      </p:sp>
      <p:sp>
        <p:nvSpPr>
          <p:cNvPr id="331" name="În general, sunt două tipuri mari și late:"/>
          <p:cNvSpPr txBox="1"/>
          <p:nvPr/>
        </p:nvSpPr>
        <p:spPr>
          <a:xfrm>
            <a:off x="496970" y="9711534"/>
            <a:ext cx="21948579" cy="209650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Ne interesează ca atunci când avem toți vectorii proiectați pe prima componentă, magnitudinile proiecțiilor să fie cât mai împrăștiate</a:t>
            </a:r>
          </a:p>
        </p:txBody>
      </p:sp>
      <p:sp>
        <p:nvSpPr>
          <p:cNvPr id="332" name="În general, sunt două tipuri mari și late:"/>
          <p:cNvSpPr txBox="1"/>
          <p:nvPr/>
        </p:nvSpPr>
        <p:spPr>
          <a:xfrm>
            <a:off x="496970" y="11312869"/>
            <a:ext cx="21948579" cy="2096505"/>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Împrăștierea aceasta mai poartă numele și de variație. Ne dorim o variație cât mai mare deoarece astfel păstrăm cât mai multă informație din toate punctele</a:t>
            </a:r>
          </a:p>
        </p:txBody>
      </p:sp>
      <p:pic>
        <p:nvPicPr>
          <p:cNvPr id="333" name="Linie Linie" descr="Linie Linie"/>
          <p:cNvPicPr>
            <a:picLocks noChangeAspect="0"/>
          </p:cNvPicPr>
          <p:nvPr/>
        </p:nvPicPr>
        <p:blipFill>
          <a:blip r:embed="rId2">
            <a:extLst/>
          </a:blip>
          <a:stretch>
            <a:fillRect/>
          </a:stretch>
        </p:blipFill>
        <p:spPr>
          <a:xfrm>
            <a:off x="13339484" y="8904749"/>
            <a:ext cx="4993616" cy="101601"/>
          </a:xfrm>
          <a:prstGeom prst="rect">
            <a:avLst/>
          </a:prstGeom>
        </p:spPr>
      </p:pic>
      <p:pic>
        <p:nvPicPr>
          <p:cNvPr id="335" name="Linie Linie" descr="Linie Linie"/>
          <p:cNvPicPr>
            <a:picLocks noChangeAspect="0"/>
          </p:cNvPicPr>
          <p:nvPr/>
        </p:nvPicPr>
        <p:blipFill>
          <a:blip r:embed="rId3">
            <a:extLst/>
          </a:blip>
          <a:stretch>
            <a:fillRect/>
          </a:stretch>
        </p:blipFill>
        <p:spPr>
          <a:xfrm>
            <a:off x="8871440" y="11318295"/>
            <a:ext cx="5199639" cy="101601"/>
          </a:xfrm>
          <a:prstGeom prst="rect">
            <a:avLst/>
          </a:prstGeom>
        </p:spPr>
      </p:pic>
      <p:pic>
        <p:nvPicPr>
          <p:cNvPr id="337" name="Linie Linie" descr="Linie Linie"/>
          <p:cNvPicPr>
            <a:picLocks noChangeAspect="0"/>
          </p:cNvPicPr>
          <p:nvPr/>
        </p:nvPicPr>
        <p:blipFill>
          <a:blip r:embed="rId4">
            <a:extLst/>
          </a:blip>
          <a:stretch>
            <a:fillRect/>
          </a:stretch>
        </p:blipFill>
        <p:spPr>
          <a:xfrm>
            <a:off x="12530053" y="12100032"/>
            <a:ext cx="2144580" cy="101601"/>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advClick="1" p14:dur="2000">
        <p:dissolve/>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 grpId="1" fill="hold">
                                  <p:stCondLst>
                                    <p:cond delay="0"/>
                                  </p:stCondLst>
                                  <p:iterate type="el" backwards="0">
                                    <p:tmAbs val="0"/>
                                  </p:iterate>
                                  <p:childTnLst>
                                    <p:set>
                                      <p:cBhvr>
                                        <p:cTn id="6" fill="hold"/>
                                        <p:tgtEl>
                                          <p:spTgt spid="330"/>
                                        </p:tgtEl>
                                        <p:attrNameLst>
                                          <p:attrName>style.visibility</p:attrName>
                                        </p:attrNameLst>
                                      </p:cBhvr>
                                      <p:to>
                                        <p:strVal val="visible"/>
                                      </p:to>
                                    </p:set>
                                    <p:anim calcmode="lin" valueType="num">
                                      <p:cBhvr>
                                        <p:cTn id="7" dur="1000" fill="hold"/>
                                        <p:tgtEl>
                                          <p:spTgt spid="330"/>
                                        </p:tgtEl>
                                        <p:attrNameLst>
                                          <p:attrName>ppt_x</p:attrName>
                                        </p:attrNameLst>
                                      </p:cBhvr>
                                      <p:tavLst>
                                        <p:tav tm="0">
                                          <p:val>
                                            <p:strVal val="0-#ppt_w/2"/>
                                          </p:val>
                                        </p:tav>
                                        <p:tav tm="100000">
                                          <p:val>
                                            <p:strVal val="#ppt_x"/>
                                          </p:val>
                                        </p:tav>
                                      </p:tavLst>
                                    </p:anim>
                                    <p:anim calcmode="lin" valueType="num">
                                      <p:cBhvr>
                                        <p:cTn id="8" dur="1000" fill="hold"/>
                                        <p:tgtEl>
                                          <p:spTgt spid="330"/>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Class="entr" nodeType="afterEffect" presetID="9" grpId="2" fill="hold">
                                  <p:stCondLst>
                                    <p:cond delay="0"/>
                                  </p:stCondLst>
                                  <p:iterate type="el" backwards="0">
                                    <p:tmAbs val="0"/>
                                  </p:iterate>
                                  <p:childTnLst>
                                    <p:set>
                                      <p:cBhvr>
                                        <p:cTn id="11" fill="hold"/>
                                        <p:tgtEl>
                                          <p:spTgt spid="333"/>
                                        </p:tgtEl>
                                        <p:attrNameLst>
                                          <p:attrName>style.visibility</p:attrName>
                                        </p:attrNameLst>
                                      </p:cBhvr>
                                      <p:to>
                                        <p:strVal val="visible"/>
                                      </p:to>
                                    </p:set>
                                    <p:animEffect filter="dissolve" transition="in">
                                      <p:cBhvr>
                                        <p:cTn id="12" dur="2000"/>
                                        <p:tgtEl>
                                          <p:spTgt spid="333"/>
                                        </p:tgtEl>
                                      </p:cBhvr>
                                    </p:animEffect>
                                  </p:childTnLst>
                                </p:cTn>
                              </p:par>
                            </p:childTnLst>
                          </p:cTn>
                        </p:par>
                      </p:childTnLst>
                    </p:cTn>
                  </p:par>
                  <p:par>
                    <p:cTn id="13" fill="hold">
                      <p:stCondLst>
                        <p:cond delay="indefinite"/>
                      </p:stCondLst>
                      <p:childTnLst>
                        <p:par>
                          <p:cTn id="14" fill="hold">
                            <p:stCondLst>
                              <p:cond delay="0"/>
                            </p:stCondLst>
                            <p:childTnLst>
                              <p:par>
                                <p:cTn id="15" presetClass="entr" nodeType="clickEffect" presetSubtype="8" presetID="2" grpId="3" fill="hold">
                                  <p:stCondLst>
                                    <p:cond delay="0"/>
                                  </p:stCondLst>
                                  <p:iterate type="el" backwards="0">
                                    <p:tmAbs val="0"/>
                                  </p:iterate>
                                  <p:childTnLst>
                                    <p:set>
                                      <p:cBhvr>
                                        <p:cTn id="16" fill="hold"/>
                                        <p:tgtEl>
                                          <p:spTgt spid="331"/>
                                        </p:tgtEl>
                                        <p:attrNameLst>
                                          <p:attrName>style.visibility</p:attrName>
                                        </p:attrNameLst>
                                      </p:cBhvr>
                                      <p:to>
                                        <p:strVal val="visible"/>
                                      </p:to>
                                    </p:set>
                                    <p:anim calcmode="lin" valueType="num">
                                      <p:cBhvr>
                                        <p:cTn id="17" dur="1000" fill="hold"/>
                                        <p:tgtEl>
                                          <p:spTgt spid="331"/>
                                        </p:tgtEl>
                                        <p:attrNameLst>
                                          <p:attrName>ppt_x</p:attrName>
                                        </p:attrNameLst>
                                      </p:cBhvr>
                                      <p:tavLst>
                                        <p:tav tm="0">
                                          <p:val>
                                            <p:strVal val="0-#ppt_w/2"/>
                                          </p:val>
                                        </p:tav>
                                        <p:tav tm="100000">
                                          <p:val>
                                            <p:strVal val="#ppt_x"/>
                                          </p:val>
                                        </p:tav>
                                      </p:tavLst>
                                    </p:anim>
                                    <p:anim calcmode="lin" valueType="num">
                                      <p:cBhvr>
                                        <p:cTn id="18" dur="1000" fill="hold"/>
                                        <p:tgtEl>
                                          <p:spTgt spid="331"/>
                                        </p:tgtEl>
                                        <p:attrNameLst>
                                          <p:attrName>ppt_y</p:attrName>
                                        </p:attrNameLst>
                                      </p:cBhvr>
                                      <p:tavLst>
                                        <p:tav tm="0">
                                          <p:val>
                                            <p:strVal val="#ppt_y"/>
                                          </p:val>
                                        </p:tav>
                                        <p:tav tm="100000">
                                          <p:val>
                                            <p:strVal val="#ppt_y"/>
                                          </p:val>
                                        </p:tav>
                                      </p:tavLst>
                                    </p:anim>
                                  </p:childTnLst>
                                </p:cTn>
                              </p:par>
                            </p:childTnLst>
                          </p:cTn>
                        </p:par>
                        <p:par>
                          <p:cTn id="19" fill="hold">
                            <p:stCondLst>
                              <p:cond delay="1000"/>
                            </p:stCondLst>
                            <p:childTnLst>
                              <p:par>
                                <p:cTn id="20" presetClass="entr" nodeType="afterEffect" presetID="9" grpId="4" fill="hold">
                                  <p:stCondLst>
                                    <p:cond delay="0"/>
                                  </p:stCondLst>
                                  <p:iterate type="el" backwards="0">
                                    <p:tmAbs val="0"/>
                                  </p:iterate>
                                  <p:childTnLst>
                                    <p:set>
                                      <p:cBhvr>
                                        <p:cTn id="21" fill="hold"/>
                                        <p:tgtEl>
                                          <p:spTgt spid="335"/>
                                        </p:tgtEl>
                                        <p:attrNameLst>
                                          <p:attrName>style.visibility</p:attrName>
                                        </p:attrNameLst>
                                      </p:cBhvr>
                                      <p:to>
                                        <p:strVal val="visible"/>
                                      </p:to>
                                    </p:set>
                                    <p:animEffect filter="dissolve" transition="in">
                                      <p:cBhvr>
                                        <p:cTn id="22" dur="2000"/>
                                        <p:tgtEl>
                                          <p:spTgt spid="335"/>
                                        </p:tgtEl>
                                      </p:cBhvr>
                                    </p:animEffect>
                                  </p:childTnLst>
                                </p:cTn>
                              </p:par>
                            </p:childTnLst>
                          </p:cTn>
                        </p:par>
                      </p:childTnLst>
                    </p:cTn>
                  </p:par>
                  <p:par>
                    <p:cTn id="23" fill="hold">
                      <p:stCondLst>
                        <p:cond delay="indefinite"/>
                      </p:stCondLst>
                      <p:childTnLst>
                        <p:par>
                          <p:cTn id="24" fill="hold">
                            <p:stCondLst>
                              <p:cond delay="0"/>
                            </p:stCondLst>
                            <p:childTnLst>
                              <p:par>
                                <p:cTn id="25" presetClass="entr" nodeType="clickEffect" presetSubtype="8" presetID="2" grpId="5" fill="hold">
                                  <p:stCondLst>
                                    <p:cond delay="0"/>
                                  </p:stCondLst>
                                  <p:iterate type="el" backwards="0">
                                    <p:tmAbs val="0"/>
                                  </p:iterate>
                                  <p:childTnLst>
                                    <p:set>
                                      <p:cBhvr>
                                        <p:cTn id="26" fill="hold"/>
                                        <p:tgtEl>
                                          <p:spTgt spid="332"/>
                                        </p:tgtEl>
                                        <p:attrNameLst>
                                          <p:attrName>style.visibility</p:attrName>
                                        </p:attrNameLst>
                                      </p:cBhvr>
                                      <p:to>
                                        <p:strVal val="visible"/>
                                      </p:to>
                                    </p:set>
                                    <p:anim calcmode="lin" valueType="num">
                                      <p:cBhvr>
                                        <p:cTn id="27" dur="1000" fill="hold"/>
                                        <p:tgtEl>
                                          <p:spTgt spid="332"/>
                                        </p:tgtEl>
                                        <p:attrNameLst>
                                          <p:attrName>ppt_x</p:attrName>
                                        </p:attrNameLst>
                                      </p:cBhvr>
                                      <p:tavLst>
                                        <p:tav tm="0">
                                          <p:val>
                                            <p:strVal val="0-#ppt_w/2"/>
                                          </p:val>
                                        </p:tav>
                                        <p:tav tm="100000">
                                          <p:val>
                                            <p:strVal val="#ppt_x"/>
                                          </p:val>
                                        </p:tav>
                                      </p:tavLst>
                                    </p:anim>
                                    <p:anim calcmode="lin" valueType="num">
                                      <p:cBhvr>
                                        <p:cTn id="28" dur="1000" fill="hold"/>
                                        <p:tgtEl>
                                          <p:spTgt spid="332"/>
                                        </p:tgtEl>
                                        <p:attrNameLst>
                                          <p:attrName>ppt_y</p:attrName>
                                        </p:attrNameLst>
                                      </p:cBhvr>
                                      <p:tavLst>
                                        <p:tav tm="0">
                                          <p:val>
                                            <p:strVal val="#ppt_y"/>
                                          </p:val>
                                        </p:tav>
                                        <p:tav tm="100000">
                                          <p:val>
                                            <p:strVal val="#ppt_y"/>
                                          </p:val>
                                        </p:tav>
                                      </p:tavLst>
                                    </p:anim>
                                  </p:childTnLst>
                                </p:cTn>
                              </p:par>
                            </p:childTnLst>
                          </p:cTn>
                        </p:par>
                        <p:par>
                          <p:cTn id="29" fill="hold">
                            <p:stCondLst>
                              <p:cond delay="1000"/>
                            </p:stCondLst>
                            <p:childTnLst>
                              <p:par>
                                <p:cTn id="30" presetClass="entr" nodeType="afterEffect" presetID="9" grpId="6" fill="hold">
                                  <p:stCondLst>
                                    <p:cond delay="0"/>
                                  </p:stCondLst>
                                  <p:iterate type="el" backwards="0">
                                    <p:tmAbs val="0"/>
                                  </p:iterate>
                                  <p:childTnLst>
                                    <p:set>
                                      <p:cBhvr>
                                        <p:cTn id="31" fill="hold"/>
                                        <p:tgtEl>
                                          <p:spTgt spid="337"/>
                                        </p:tgtEl>
                                        <p:attrNameLst>
                                          <p:attrName>style.visibility</p:attrName>
                                        </p:attrNameLst>
                                      </p:cBhvr>
                                      <p:to>
                                        <p:strVal val="visible"/>
                                      </p:to>
                                    </p:set>
                                    <p:animEffect filter="dissolve" transition="in">
                                      <p:cBhvr>
                                        <p:cTn id="32" dur="2000"/>
                                        <p:tgtEl>
                                          <p:spTgt spid="3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37" grpId="6"/>
      <p:bldP build="whole" bldLvl="1" animBg="1" rev="0" advAuto="0" spid="331" grpId="3"/>
      <p:bldP build="whole" bldLvl="1" animBg="1" rev="0" advAuto="0" spid="330" grpId="1"/>
      <p:bldP build="whole" bldLvl="1" animBg="1" rev="0" advAuto="0" spid="333" grpId="2"/>
      <p:bldP build="whole" bldLvl="1" animBg="1" rev="0" advAuto="0" spid="335" grpId="4"/>
      <p:bldP build="whole" bldLvl="1" animBg="1" rev="0" advAuto="0" spid="332" grpId="5"/>
    </p:bldLst>
  </p:timing>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0" name="Titlu diapozitiv"/>
          <p:cNvSpPr txBox="1"/>
          <p:nvPr>
            <p:ph type="title"/>
          </p:nvPr>
        </p:nvSpPr>
        <p:spPr>
          <a:prstGeom prst="rect">
            <a:avLst/>
          </a:prstGeom>
        </p:spPr>
        <p:txBody>
          <a:bodyPr/>
          <a:lstStyle/>
          <a:p>
            <a:pPr/>
          </a:p>
        </p:txBody>
      </p:sp>
      <p:sp>
        <p:nvSpPr>
          <p:cNvPr id="341" name="Text marcator diapozitiv"/>
          <p:cNvSpPr txBox="1"/>
          <p:nvPr>
            <p:ph type="body" idx="1"/>
          </p:nvPr>
        </p:nvSpPr>
        <p:spPr>
          <a:prstGeom prst="rect">
            <a:avLst/>
          </a:prstGeom>
        </p:spPr>
        <p:txBody>
          <a:bodyPr/>
          <a:lstStyle/>
          <a:p>
            <a:pPr/>
          </a:p>
        </p:txBody>
      </p:sp>
      <p:sp>
        <p:nvSpPr>
          <p:cNvPr id="342" name="Subtitlu diapozitiv"/>
          <p:cNvSpPr txBox="1"/>
          <p:nvPr>
            <p:ph type="body" idx="21"/>
          </p:nvPr>
        </p:nvSpPr>
        <p:spPr>
          <a:prstGeom prst="rect">
            <a:avLst/>
          </a:prstGeom>
        </p:spPr>
        <p:txBody>
          <a:bodyPr/>
          <a:lstStyle/>
          <a:p>
            <a:pPr/>
          </a:p>
        </p:txBody>
      </p:sp>
    </p:spTree>
  </p:cSld>
  <p:clrMapOvr>
    <a:masterClrMapping/>
  </p:clrMapOvr>
  <mc:AlternateContent xmlns:mc="http://schemas.openxmlformats.org/markup-compatibility/2006">
    <mc:Choice xmlns:p14="http://schemas.microsoft.com/office/powerpoint/2010/main" Requires="p14">
      <p:transition spd="slow" advClick="1" p14:dur="2000">
        <p:dissolv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4"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345" name="Ecuație"/>
          <p:cNvSpPr txBox="1"/>
          <p:nvPr/>
        </p:nvSpPr>
        <p:spPr>
          <a:xfrm>
            <a:off x="1096117" y="1560416"/>
            <a:ext cx="11266806" cy="5692497"/>
          </a:xfrm>
          <a:prstGeom prst="rect">
            <a:avLst/>
          </a:prstGeom>
          <a:ln w="12700">
            <a:miter lim="400000"/>
          </a:ln>
        </p:spPr>
        <p:txBody>
          <a:bodyPr wrap="none" lIns="0" tIns="0" rIns="0" bIns="0">
            <a:spAutoFit/>
          </a:bodyPr>
          <a:lstStyle/>
          <a:p>
            <a:pPr defTabSz="914400" latinLnBrk="1">
              <a:lnSpc>
                <a:spcPct val="100000"/>
              </a:lnSpc>
              <a:spcBef>
                <a:spcPts val="0"/>
              </a:spcBef>
              <a:defRPr sz="1800"/>
            </a:pPr>
            <a14:m>
              <m:oMathPara>
                <m:oMathParaPr>
                  <m:jc m:val="centerGroup"/>
                </m:oMathParaPr>
                <m:oMath>
                  <m:sSub>
                    <m:e>
                      <m:limUpp>
                        <m:e>
                          <m:r>
                            <a:rPr xmlns:a="http://schemas.openxmlformats.org/drawingml/2006/main" sz="4400" i="1">
                              <a:solidFill>
                                <a:srgbClr val="000000"/>
                              </a:solidFill>
                              <a:latin typeface="Cambria Math" panose="02040503050406030204" pitchFamily="18" charset="0"/>
                            </a:rPr>
                            <m:t>x</m:t>
                          </m:r>
                        </m:e>
                        <m:lim>
                          <m:r>
                            <a:rPr xmlns:a="http://schemas.openxmlformats.org/drawingml/2006/main" sz="4400" i="1">
                              <a:solidFill>
                                <a:srgbClr val="000000"/>
                              </a:solidFill>
                              <a:latin typeface="Cambria Math" panose="02040503050406030204" pitchFamily="18" charset="0"/>
                            </a:rPr>
                            <m:t>⃗</m:t>
                          </m:r>
                        </m:lim>
                      </m:limUpp>
                    </m:e>
                    <m:sub>
                      <m:r>
                        <a:rPr xmlns:a="http://schemas.openxmlformats.org/drawingml/2006/main" sz="4400" i="1">
                          <a:solidFill>
                            <a:srgbClr val="000000"/>
                          </a:solidFill>
                          <a:latin typeface="Cambria Math" panose="02040503050406030204" pitchFamily="18" charset="0"/>
                        </a:rPr>
                        <m:t>1</m:t>
                      </m:r>
                    </m:sub>
                  </m:sSub>
                  <m:r>
                    <a:rPr xmlns:a="http://schemas.openxmlformats.org/drawingml/2006/main" sz="4400" i="1">
                      <a:solidFill>
                        <a:srgbClr val="000000"/>
                      </a:solidFill>
                      <a:latin typeface="Cambria Math" panose="02040503050406030204" pitchFamily="18" charset="0"/>
                    </a:rPr>
                    <m:t>=</m:t>
                  </m:r>
                  <m:d>
                    <m:dPr>
                      <m:ctrlPr>
                        <a:rPr xmlns:a="http://schemas.openxmlformats.org/drawingml/2006/main" sz="4400" i="1">
                          <a:solidFill>
                            <a:srgbClr val="000000"/>
                          </a:solidFill>
                          <a:latin typeface="Cambria Math" panose="02040503050406030204" pitchFamily="18" charset="0"/>
                        </a:rPr>
                      </m:ctrlPr>
                      <m:begChr m:val="["/>
                      <m:endChr m:val="]"/>
                    </m:dPr>
                    <m:e>
                      <m:eqArr>
                        <m:eqArrPr>
                          <m:ctrlPr>
                            <a:rPr xmlns:a="http://schemas.openxmlformats.org/drawingml/2006/main" sz="4400" i="1">
                              <a:solidFill>
                                <a:srgbClr val="000000"/>
                              </a:solidFill>
                              <a:latin typeface="Cambria Math" panose="02040503050406030204" pitchFamily="18" charset="0"/>
                            </a:rPr>
                          </m:ctrlPr>
                        </m:eqArrPr>
                        <m:e>
                          <m:r>
                            <a:rPr xmlns:a="http://schemas.openxmlformats.org/drawingml/2006/main" sz="4400" i="1">
                              <a:solidFill>
                                <a:srgbClr val="000000"/>
                              </a:solidFill>
                              <a:latin typeface="Cambria Math" panose="02040503050406030204" pitchFamily="18" charset="0"/>
                            </a:rPr>
                            <m:t>150</m:t>
                          </m:r>
                        </m:e>
                        <m:e>
                          <m:r>
                            <a:rPr xmlns:a="http://schemas.openxmlformats.org/drawingml/2006/main" sz="4400" i="1">
                              <a:solidFill>
                                <a:srgbClr val="000000"/>
                              </a:solidFill>
                              <a:latin typeface="Cambria Math" panose="02040503050406030204" pitchFamily="18" charset="0"/>
                            </a:rPr>
                            <m:t>80</m:t>
                          </m:r>
                        </m:e>
                        <m:e>
                          <m:r>
                            <a:rPr xmlns:a="http://schemas.openxmlformats.org/drawingml/2006/main" sz="4400" i="1">
                              <a:solidFill>
                                <a:srgbClr val="000000"/>
                              </a:solidFill>
                              <a:latin typeface="Cambria Math" panose="02040503050406030204" pitchFamily="18" charset="0"/>
                            </a:rPr>
                            <m:t>140</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90</m:t>
                          </m:r>
                        </m:e>
                        <m:e>
                          <m:r>
                            <a:rPr xmlns:a="http://schemas.openxmlformats.org/drawingml/2006/main" sz="4400" i="1">
                              <a:solidFill>
                                <a:srgbClr val="000000"/>
                              </a:solidFill>
                              <a:latin typeface="Cambria Math" panose="02040503050406030204" pitchFamily="18" charset="0"/>
                            </a:rPr>
                            <m:t>63</m:t>
                          </m:r>
                        </m:e>
                        <m:e>
                          <m:r>
                            <a:rPr xmlns:a="http://schemas.openxmlformats.org/drawingml/2006/main" sz="4400" i="1">
                              <a:solidFill>
                                <a:srgbClr val="000000"/>
                              </a:solidFill>
                              <a:latin typeface="Cambria Math" panose="02040503050406030204" pitchFamily="18" charset="0"/>
                            </a:rPr>
                            <m:t>36</m:t>
                          </m:r>
                        </m:e>
                        <m:e>
                          <m:r>
                            <a:rPr xmlns:a="http://schemas.openxmlformats.org/drawingml/2006/main" sz="4400" i="1">
                              <a:solidFill>
                                <a:srgbClr val="000000"/>
                              </a:solidFill>
                              <a:latin typeface="Cambria Math" panose="02040503050406030204" pitchFamily="18" charset="0"/>
                            </a:rPr>
                            <m:t>5.0</m:t>
                          </m:r>
                        </m:e>
                        <m:e>
                          <m:r>
                            <a:rPr xmlns:a="http://schemas.openxmlformats.org/drawingml/2006/main" sz="4400" i="1">
                              <a:solidFill>
                                <a:srgbClr val="000000"/>
                              </a:solidFill>
                              <a:latin typeface="Cambria Math" panose="02040503050406030204" pitchFamily="18" charset="0"/>
                            </a:rPr>
                            <m:t>0</m:t>
                          </m:r>
                        </m:e>
                        <m:e>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m:t>
                          </m:r>
                        </m:e>
                        <m:e>
                          <m:r>
                            <a:rPr xmlns:a="http://schemas.openxmlformats.org/drawingml/2006/main" sz="4400" i="1">
                              <a:solidFill>
                                <a:srgbClr val="000000"/>
                              </a:solidFill>
                              <a:latin typeface="Cambria Math" panose="02040503050406030204" pitchFamily="18" charset="0"/>
                            </a:rPr>
                            <m:t>99</m:t>
                          </m:r>
                        </m:e>
                      </m:eqArr>
                    </m:e>
                  </m:d>
                  <m:r>
                    <a:rPr xmlns:a="http://schemas.openxmlformats.org/drawingml/2006/main" sz="4400" i="1">
                      <a:solidFill>
                        <a:srgbClr val="000000"/>
                      </a:solidFill>
                      <a:latin typeface="Cambria Math" panose="02040503050406030204" pitchFamily="18" charset="0"/>
                    </a:rPr>
                    <m:t>,</m:t>
                  </m:r>
                  <m:sSub>
                    <m:e>
                      <m:limUpp>
                        <m:e>
                          <m:r>
                            <a:rPr xmlns:a="http://schemas.openxmlformats.org/drawingml/2006/main" sz="4400" i="1">
                              <a:solidFill>
                                <a:srgbClr val="000000"/>
                              </a:solidFill>
                              <a:latin typeface="Cambria Math" panose="02040503050406030204" pitchFamily="18" charset="0"/>
                            </a:rPr>
                            <m:t>x</m:t>
                          </m:r>
                        </m:e>
                        <m:lim>
                          <m:r>
                            <a:rPr xmlns:a="http://schemas.openxmlformats.org/drawingml/2006/main" sz="4400" i="1">
                              <a:solidFill>
                                <a:srgbClr val="000000"/>
                              </a:solidFill>
                              <a:latin typeface="Cambria Math" panose="02040503050406030204" pitchFamily="18" charset="0"/>
                            </a:rPr>
                            <m:t>⃗</m:t>
                          </m:r>
                        </m:lim>
                      </m:limUpp>
                    </m:e>
                    <m:sub>
                      <m:r>
                        <a:rPr xmlns:a="http://schemas.openxmlformats.org/drawingml/2006/main" sz="4400" i="1">
                          <a:solidFill>
                            <a:srgbClr val="000000"/>
                          </a:solidFill>
                          <a:latin typeface="Cambria Math" panose="02040503050406030204" pitchFamily="18" charset="0"/>
                        </a:rPr>
                        <m:t>2</m:t>
                      </m:r>
                    </m:sub>
                  </m:sSub>
                  <m:r>
                    <a:rPr xmlns:a="http://schemas.openxmlformats.org/drawingml/2006/main" sz="4400" i="1">
                      <a:solidFill>
                        <a:srgbClr val="000000"/>
                      </a:solidFill>
                      <a:latin typeface="Cambria Math" panose="02040503050406030204" pitchFamily="18" charset="0"/>
                    </a:rPr>
                    <m:t>=</m:t>
                  </m:r>
                  <m:d>
                    <m:dPr>
                      <m:ctrlPr>
                        <a:rPr xmlns:a="http://schemas.openxmlformats.org/drawingml/2006/main" sz="4400" i="1">
                          <a:solidFill>
                            <a:srgbClr val="000000"/>
                          </a:solidFill>
                          <a:latin typeface="Cambria Math" panose="02040503050406030204" pitchFamily="18" charset="0"/>
                        </a:rPr>
                      </m:ctrlPr>
                      <m:begChr m:val="["/>
                      <m:endChr m:val="]"/>
                    </m:dPr>
                    <m:e>
                      <m:eqArr>
                        <m:eqArrPr>
                          <m:ctrlPr>
                            <a:rPr xmlns:a="http://schemas.openxmlformats.org/drawingml/2006/main" sz="4400" i="1">
                              <a:solidFill>
                                <a:srgbClr val="000000"/>
                              </a:solidFill>
                              <a:latin typeface="Cambria Math" panose="02040503050406030204" pitchFamily="18" charset="0"/>
                            </a:rPr>
                          </m:ctrlPr>
                        </m:eqArrPr>
                        <m:e>
                          <m:r>
                            <a:rPr xmlns:a="http://schemas.openxmlformats.org/drawingml/2006/main" sz="4400" i="1">
                              <a:solidFill>
                                <a:srgbClr val="000000"/>
                              </a:solidFill>
                              <a:latin typeface="Cambria Math" panose="02040503050406030204" pitchFamily="18" charset="0"/>
                            </a:rPr>
                            <m:t>174</m:t>
                          </m:r>
                        </m:e>
                        <m:e>
                          <m:r>
                            <a:rPr xmlns:a="http://schemas.openxmlformats.org/drawingml/2006/main" sz="4400" i="1">
                              <a:solidFill>
                                <a:srgbClr val="000000"/>
                              </a:solidFill>
                              <a:latin typeface="Cambria Math" panose="02040503050406030204" pitchFamily="18" charset="0"/>
                            </a:rPr>
                            <m:t>90</m:t>
                          </m:r>
                        </m:e>
                        <m:e>
                          <m:r>
                            <a:rPr xmlns:a="http://schemas.openxmlformats.org/drawingml/2006/main" sz="4400" i="1">
                              <a:solidFill>
                                <a:srgbClr val="000000"/>
                              </a:solidFill>
                              <a:latin typeface="Cambria Math" panose="02040503050406030204" pitchFamily="18" charset="0"/>
                            </a:rPr>
                            <m:t>90</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60</m:t>
                          </m:r>
                        </m:e>
                        <m:e>
                          <m:r>
                            <a:rPr xmlns:a="http://schemas.openxmlformats.org/drawingml/2006/main" sz="4400" i="1">
                              <a:solidFill>
                                <a:srgbClr val="000000"/>
                              </a:solidFill>
                              <a:latin typeface="Cambria Math" panose="02040503050406030204" pitchFamily="18" charset="0"/>
                            </a:rPr>
                            <m:t>100</m:t>
                          </m:r>
                        </m:e>
                        <m:e>
                          <m:r>
                            <a:rPr xmlns:a="http://schemas.openxmlformats.org/drawingml/2006/main" sz="4400" i="1">
                              <a:solidFill>
                                <a:srgbClr val="000000"/>
                              </a:solidFill>
                              <a:latin typeface="Cambria Math" panose="02040503050406030204" pitchFamily="18" charset="0"/>
                            </a:rPr>
                            <m:t>32</m:t>
                          </m:r>
                        </m:e>
                        <m:e>
                          <m:r>
                            <a:rPr xmlns:a="http://schemas.openxmlformats.org/drawingml/2006/main" sz="4400" i="1">
                              <a:solidFill>
                                <a:srgbClr val="000000"/>
                              </a:solidFill>
                              <a:latin typeface="Cambria Math" panose="02040503050406030204" pitchFamily="18" charset="0"/>
                            </a:rPr>
                            <m:t>4.0</m:t>
                          </m:r>
                        </m:e>
                        <m:e>
                          <m:r>
                            <a:rPr xmlns:a="http://schemas.openxmlformats.org/drawingml/2006/main" sz="4400" i="1">
                              <a:solidFill>
                                <a:srgbClr val="000000"/>
                              </a:solidFill>
                              <a:latin typeface="Cambria Math" panose="02040503050406030204" pitchFamily="18" charset="0"/>
                            </a:rPr>
                            <m:t>0</m:t>
                          </m:r>
                        </m:e>
                        <m:e>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m:t>
                          </m:r>
                        </m:e>
                        <m:e>
                          <m:r>
                            <a:rPr xmlns:a="http://schemas.openxmlformats.org/drawingml/2006/main" sz="4400" i="1">
                              <a:solidFill>
                                <a:srgbClr val="000000"/>
                              </a:solidFill>
                              <a:latin typeface="Cambria Math" panose="02040503050406030204" pitchFamily="18" charset="0"/>
                            </a:rPr>
                            <m:t>95</m:t>
                          </m:r>
                        </m:e>
                      </m:eqArr>
                    </m:e>
                  </m:d>
                  <m:r>
                    <a:rPr xmlns:a="http://schemas.openxmlformats.org/drawingml/2006/main" sz="4400" i="1">
                      <a:solidFill>
                        <a:srgbClr val="000000"/>
                      </a:solidFill>
                      <a:latin typeface="Cambria Math" panose="02040503050406030204" pitchFamily="18" charset="0"/>
                    </a:rPr>
                    <m:t>,</m:t>
                  </m:r>
                  <m:sSub>
                    <m:e>
                      <m:limUpp>
                        <m:e>
                          <m:r>
                            <a:rPr xmlns:a="http://schemas.openxmlformats.org/drawingml/2006/main" sz="4400" i="1">
                              <a:solidFill>
                                <a:srgbClr val="000000"/>
                              </a:solidFill>
                              <a:latin typeface="Cambria Math" panose="02040503050406030204" pitchFamily="18" charset="0"/>
                            </a:rPr>
                            <m:t>x</m:t>
                          </m:r>
                        </m:e>
                        <m:lim>
                          <m:r>
                            <a:rPr xmlns:a="http://schemas.openxmlformats.org/drawingml/2006/main" sz="4400" i="1">
                              <a:solidFill>
                                <a:srgbClr val="000000"/>
                              </a:solidFill>
                              <a:latin typeface="Cambria Math" panose="02040503050406030204" pitchFamily="18" charset="0"/>
                            </a:rPr>
                            <m:t>⃗</m:t>
                          </m:r>
                        </m:lim>
                      </m:limUpp>
                    </m:e>
                    <m:sub>
                      <m:r>
                        <a:rPr xmlns:a="http://schemas.openxmlformats.org/drawingml/2006/main" sz="4400" i="1">
                          <a:solidFill>
                            <a:srgbClr val="000000"/>
                          </a:solidFill>
                          <a:latin typeface="Cambria Math" panose="02040503050406030204" pitchFamily="18" charset="0"/>
                        </a:rPr>
                        <m:t>3</m:t>
                      </m:r>
                    </m:sub>
                  </m:sSub>
                  <m:r>
                    <a:rPr xmlns:a="http://schemas.openxmlformats.org/drawingml/2006/main" sz="4400" i="1">
                      <a:solidFill>
                        <a:srgbClr val="000000"/>
                      </a:solidFill>
                      <a:latin typeface="Cambria Math" panose="02040503050406030204" pitchFamily="18" charset="0"/>
                    </a:rPr>
                    <m:t>=</m:t>
                  </m:r>
                  <m:d>
                    <m:dPr>
                      <m:ctrlPr>
                        <a:rPr xmlns:a="http://schemas.openxmlformats.org/drawingml/2006/main" sz="4400" i="1">
                          <a:solidFill>
                            <a:srgbClr val="000000"/>
                          </a:solidFill>
                          <a:latin typeface="Cambria Math" panose="02040503050406030204" pitchFamily="18" charset="0"/>
                        </a:rPr>
                      </m:ctrlPr>
                      <m:begChr m:val="["/>
                      <m:endChr m:val="]"/>
                    </m:dPr>
                    <m:e>
                      <m:eqArr>
                        <m:eqArrPr>
                          <m:ctrlPr>
                            <a:rPr xmlns:a="http://schemas.openxmlformats.org/drawingml/2006/main" sz="4400" i="1">
                              <a:solidFill>
                                <a:srgbClr val="000000"/>
                              </a:solidFill>
                              <a:latin typeface="Cambria Math" panose="02040503050406030204" pitchFamily="18" charset="0"/>
                            </a:rPr>
                          </m:ctrlPr>
                        </m:eqArrPr>
                        <m:e>
                          <m:r>
                            <a:rPr xmlns:a="http://schemas.openxmlformats.org/drawingml/2006/main" sz="4400" i="1">
                              <a:solidFill>
                                <a:srgbClr val="000000"/>
                              </a:solidFill>
                              <a:latin typeface="Cambria Math" panose="02040503050406030204" pitchFamily="18" charset="0"/>
                            </a:rPr>
                            <m:t>180</m:t>
                          </m:r>
                        </m:e>
                        <m:e>
                          <m:r>
                            <a:rPr xmlns:a="http://schemas.openxmlformats.org/drawingml/2006/main" sz="4400" i="1">
                              <a:solidFill>
                                <a:srgbClr val="000000"/>
                              </a:solidFill>
                              <a:latin typeface="Cambria Math" panose="02040503050406030204" pitchFamily="18" charset="0"/>
                            </a:rPr>
                            <m:t>82</m:t>
                          </m:r>
                        </m:e>
                        <m:e>
                          <m:r>
                            <a:rPr xmlns:a="http://schemas.openxmlformats.org/drawingml/2006/main" sz="4400" i="1">
                              <a:solidFill>
                                <a:srgbClr val="000000"/>
                              </a:solidFill>
                              <a:latin typeface="Cambria Math" panose="02040503050406030204" pitchFamily="18" charset="0"/>
                            </a:rPr>
                            <m:t>92</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60</m:t>
                          </m:r>
                        </m:e>
                        <m:e>
                          <m:r>
                            <a:rPr xmlns:a="http://schemas.openxmlformats.org/drawingml/2006/main" sz="4400" i="1">
                              <a:solidFill>
                                <a:srgbClr val="000000"/>
                              </a:solidFill>
                              <a:latin typeface="Cambria Math" panose="02040503050406030204" pitchFamily="18" charset="0"/>
                            </a:rPr>
                            <m:t>78</m:t>
                          </m:r>
                        </m:e>
                        <m:e>
                          <m:r>
                            <a:rPr xmlns:a="http://schemas.openxmlformats.org/drawingml/2006/main" sz="4400" i="1">
                              <a:solidFill>
                                <a:srgbClr val="000000"/>
                              </a:solidFill>
                              <a:latin typeface="Cambria Math" panose="02040503050406030204" pitchFamily="18" charset="0"/>
                            </a:rPr>
                            <m:t>25</m:t>
                          </m:r>
                        </m:e>
                        <m:e>
                          <m:r>
                            <a:rPr xmlns:a="http://schemas.openxmlformats.org/drawingml/2006/main" sz="4400" i="1">
                              <a:solidFill>
                                <a:srgbClr val="000000"/>
                              </a:solidFill>
                              <a:latin typeface="Cambria Math" panose="02040503050406030204" pitchFamily="18" charset="0"/>
                            </a:rPr>
                            <m:t>3.7</m:t>
                          </m:r>
                        </m:e>
                        <m:e>
                          <m:r>
                            <a:rPr xmlns:a="http://schemas.openxmlformats.org/drawingml/2006/main" sz="4400" i="1">
                              <a:solidFill>
                                <a:srgbClr val="000000"/>
                              </a:solidFill>
                              <a:latin typeface="Cambria Math" panose="02040503050406030204" pitchFamily="18" charset="0"/>
                            </a:rPr>
                            <m:t>10</m:t>
                          </m:r>
                        </m:e>
                        <m:e>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m:t>
                          </m:r>
                        </m:e>
                        <m:e>
                          <m:r>
                            <a:rPr xmlns:a="http://schemas.openxmlformats.org/drawingml/2006/main" sz="4400" i="1">
                              <a:solidFill>
                                <a:srgbClr val="000000"/>
                              </a:solidFill>
                              <a:latin typeface="Cambria Math" panose="02040503050406030204" pitchFamily="18" charset="0"/>
                            </a:rPr>
                            <m:t>112</m:t>
                          </m:r>
                        </m:e>
                      </m:eqArr>
                    </m:e>
                  </m:d>
                </m:oMath>
              </m:oMathPara>
            </a14:m>
            <a:endParaRPr sz="4400"/>
          </a:p>
        </p:txBody>
      </p:sp>
      <p:sp>
        <p:nvSpPr>
          <p:cNvPr id="346" name="…"/>
          <p:cNvSpPr txBox="1"/>
          <p:nvPr/>
        </p:nvSpPr>
        <p:spPr>
          <a:xfrm>
            <a:off x="12947284" y="3768845"/>
            <a:ext cx="547929"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a:t>
            </a:r>
          </a:p>
        </p:txBody>
      </p:sp>
      <p:sp>
        <p:nvSpPr>
          <p:cNvPr id="347" name="Ecuație"/>
          <p:cNvSpPr txBox="1"/>
          <p:nvPr/>
        </p:nvSpPr>
        <p:spPr>
          <a:xfrm>
            <a:off x="16794863" y="2938009"/>
            <a:ext cx="2436661" cy="3349381"/>
          </a:xfrm>
          <a:prstGeom prst="rect">
            <a:avLst/>
          </a:prstGeom>
          <a:ln w="12700">
            <a:miter lim="400000"/>
          </a:ln>
        </p:spPr>
        <p:txBody>
          <a:bodyPr wrap="none" lIns="0" tIns="0" rIns="0" bIns="0">
            <a:spAutoFit/>
          </a:bodyPr>
          <a:lstStyle/>
          <a:p>
            <a:pPr defTabSz="914400" latinLnBrk="1">
              <a:lnSpc>
                <a:spcPct val="100000"/>
              </a:lnSpc>
              <a:spcBef>
                <a:spcPts val="0"/>
              </a:spcBef>
              <a:defRPr sz="1800"/>
            </a:pPr>
            <a14:m>
              <m:oMathPara>
                <m:oMathParaPr>
                  <m:jc m:val="centerGroup"/>
                </m:oMathParaPr>
                <m:oMath>
                  <m:limUpp>
                    <m:e>
                      <m:r>
                        <a:rPr xmlns:a="http://schemas.openxmlformats.org/drawingml/2006/main" sz="4400" i="1">
                          <a:solidFill>
                            <a:srgbClr val="000000"/>
                          </a:solidFill>
                          <a:latin typeface="Cambria Math" panose="02040503050406030204" pitchFamily="18" charset="0"/>
                        </a:rPr>
                        <m:t>u</m:t>
                      </m:r>
                    </m:e>
                    <m:lim>
                      <m:r>
                        <a:rPr xmlns:a="http://schemas.openxmlformats.org/drawingml/2006/main" sz="4400" i="1">
                          <a:solidFill>
                            <a:srgbClr val="000000"/>
                          </a:solidFill>
                          <a:latin typeface="Cambria Math" panose="02040503050406030204" pitchFamily="18" charset="0"/>
                        </a:rPr>
                        <m:t>⃗</m:t>
                      </m:r>
                    </m:lim>
                  </m:limUpp>
                  <m:r>
                    <a:rPr xmlns:a="http://schemas.openxmlformats.org/drawingml/2006/main" sz="4400" i="1">
                      <a:solidFill>
                        <a:srgbClr val="000000"/>
                      </a:solidFill>
                      <a:latin typeface="Cambria Math" panose="02040503050406030204" pitchFamily="18" charset="0"/>
                    </a:rPr>
                    <m:t>=</m:t>
                  </m:r>
                  <m:d>
                    <m:dPr>
                      <m:ctrlPr>
                        <a:rPr xmlns:a="http://schemas.openxmlformats.org/drawingml/2006/main" sz="4400" i="1">
                          <a:solidFill>
                            <a:srgbClr val="000000"/>
                          </a:solidFill>
                          <a:latin typeface="Cambria Math" panose="02040503050406030204" pitchFamily="18" charset="0"/>
                        </a:rPr>
                      </m:ctrlPr>
                      <m:begChr m:val="["/>
                      <m:endChr m:val="]"/>
                    </m:dPr>
                    <m:e>
                      <m:eqArr>
                        <m:eqArrPr>
                          <m:ctrlPr>
                            <a:rPr xmlns:a="http://schemas.openxmlformats.org/drawingml/2006/main" sz="4400" i="1">
                              <a:solidFill>
                                <a:srgbClr val="000000"/>
                              </a:solidFill>
                              <a:latin typeface="Cambria Math" panose="02040503050406030204" pitchFamily="18" charset="0"/>
                            </a:rPr>
                          </m:ctrlPr>
                        </m:eqArrPr>
                        <m:e>
                          <m:sSub>
                            <m:e>
                              <m:argPr>
                                <m:scrLvl m:val="0"/>
                              </m:argPr>
                              <m:r>
                                <a:rPr xmlns:a="http://schemas.openxmlformats.org/drawingml/2006/main" sz="4400" i="1">
                                  <a:solidFill>
                                    <a:srgbClr val="000000"/>
                                  </a:solidFill>
                                  <a:latin typeface="Cambria Math" panose="02040503050406030204" pitchFamily="18" charset="0"/>
                                </a:rPr>
                                <m:t>u</m:t>
                              </m:r>
                            </m:e>
                            <m:sub>
                              <m:argPr>
                                <m:scrLvl m:val="0"/>
                              </m:argPr>
                              <m:r>
                                <a:rPr xmlns:a="http://schemas.openxmlformats.org/drawingml/2006/main" sz="4400" i="1">
                                  <a:solidFill>
                                    <a:srgbClr val="000000"/>
                                  </a:solidFill>
                                  <a:latin typeface="Cambria Math" panose="02040503050406030204" pitchFamily="18" charset="0"/>
                                </a:rPr>
                                <m:t>1</m:t>
                              </m:r>
                            </m:sub>
                          </m:sSub>
                        </m:e>
                        <m:e>
                          <m:sSub>
                            <m:e>
                              <m:argPr>
                                <m:scrLvl m:val="0"/>
                              </m:argPr>
                              <m:r>
                                <a:rPr xmlns:a="http://schemas.openxmlformats.org/drawingml/2006/main" sz="4400" i="1">
                                  <a:solidFill>
                                    <a:srgbClr val="000000"/>
                                  </a:solidFill>
                                  <a:latin typeface="Cambria Math" panose="02040503050406030204" pitchFamily="18" charset="0"/>
                                </a:rPr>
                                <m:t>u</m:t>
                              </m:r>
                            </m:e>
                            <m:sub>
                              <m:argPr>
                                <m:scrLvl m:val="0"/>
                              </m:argPr>
                              <m:r>
                                <a:rPr xmlns:a="http://schemas.openxmlformats.org/drawingml/2006/main" sz="4400" i="1">
                                  <a:solidFill>
                                    <a:srgbClr val="000000"/>
                                  </a:solidFill>
                                  <a:latin typeface="Cambria Math" panose="02040503050406030204" pitchFamily="18" charset="0"/>
                                </a:rPr>
                                <m:t>2</m:t>
                              </m:r>
                            </m:sub>
                          </m:sSub>
                        </m:e>
                        <m:e>
                          <m:sSub>
                            <m:e>
                              <m:argPr>
                                <m:scrLvl m:val="0"/>
                              </m:argPr>
                              <m:r>
                                <a:rPr xmlns:a="http://schemas.openxmlformats.org/drawingml/2006/main" sz="4400" i="1">
                                  <a:solidFill>
                                    <a:srgbClr val="000000"/>
                                  </a:solidFill>
                                  <a:latin typeface="Cambria Math" panose="02040503050406030204" pitchFamily="18" charset="0"/>
                                </a:rPr>
                                <m:t>u</m:t>
                              </m:r>
                            </m:e>
                            <m:sub>
                              <m:argPr>
                                <m:scrLvl m:val="0"/>
                              </m:argPr>
                              <m:r>
                                <a:rPr xmlns:a="http://schemas.openxmlformats.org/drawingml/2006/main" sz="4400" i="1">
                                  <a:solidFill>
                                    <a:srgbClr val="000000"/>
                                  </a:solidFill>
                                  <a:latin typeface="Cambria Math" panose="02040503050406030204" pitchFamily="18" charset="0"/>
                                </a:rPr>
                                <m:t>3</m:t>
                              </m:r>
                            </m:sub>
                          </m:sSub>
                        </m:e>
                        <m:e>
                          <m:r>
                            <a:rPr xmlns:a="http://schemas.openxmlformats.org/drawingml/2006/main" sz="4400" i="1">
                              <a:solidFill>
                                <a:srgbClr val="000000"/>
                              </a:solidFill>
                              <a:latin typeface="Cambria Math" panose="02040503050406030204" pitchFamily="18" charset="0"/>
                            </a:rPr>
                            <m:t>⋮</m:t>
                          </m:r>
                        </m:e>
                        <m:e>
                          <m:sSub>
                            <m:e>
                              <m:argPr>
                                <m:scrLvl m:val="0"/>
                              </m:argPr>
                              <m:r>
                                <a:rPr xmlns:a="http://schemas.openxmlformats.org/drawingml/2006/main" sz="4400" i="1">
                                  <a:solidFill>
                                    <a:srgbClr val="000000"/>
                                  </a:solidFill>
                                  <a:latin typeface="Cambria Math" panose="02040503050406030204" pitchFamily="18" charset="0"/>
                                </a:rPr>
                                <m:t>u</m:t>
                              </m:r>
                            </m:e>
                            <m:sub>
                              <m:argPr>
                                <m:scrLvl m:val="0"/>
                              </m:argPr>
                              <m:r>
                                <a:rPr xmlns:a="http://schemas.openxmlformats.org/drawingml/2006/main" sz="4400" i="1">
                                  <a:solidFill>
                                    <a:srgbClr val="000000"/>
                                  </a:solidFill>
                                  <a:latin typeface="Cambria Math" panose="02040503050406030204" pitchFamily="18" charset="0"/>
                                </a:rPr>
                                <m:t>200</m:t>
                              </m:r>
                            </m:sub>
                          </m:sSub>
                        </m:e>
                      </m:eqArr>
                    </m:e>
                  </m:d>
                </m:oMath>
              </m:oMathPara>
            </a14:m>
            <a:endParaRPr sz="4400"/>
          </a:p>
        </p:txBody>
      </p:sp>
      <p:sp>
        <p:nvSpPr>
          <p:cNvPr id="348" name="Prima componentă principală:"/>
          <p:cNvSpPr txBox="1"/>
          <p:nvPr/>
        </p:nvSpPr>
        <p:spPr>
          <a:xfrm>
            <a:off x="14355960" y="1328461"/>
            <a:ext cx="7792772"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Prima componentă principală:</a:t>
            </a:r>
          </a:p>
        </p:txBody>
      </p:sp>
      <p:sp>
        <p:nvSpPr>
          <p:cNvPr id="349" name="În general, sunt două tipuri mari și late:"/>
          <p:cNvSpPr txBox="1"/>
          <p:nvPr>
            <p:ph type="body" sz="half" idx="1"/>
          </p:nvPr>
        </p:nvSpPr>
        <p:spPr>
          <a:xfrm>
            <a:off x="496970" y="7598340"/>
            <a:ext cx="21948579" cy="3700254"/>
          </a:xfrm>
          <a:prstGeom prst="rect">
            <a:avLst/>
          </a:prstGeom>
        </p:spPr>
        <p:txBody>
          <a:bodyPr/>
          <a:lstStyle/>
          <a:p>
            <a:pPr/>
            <a:r>
              <a:t>După ce obținem prima componentă principală, a doua componentă principală are proprietatea că este ortogonală pe prima. A treia componentă principală va fi ortogonală  pe primele două și așa mai departe</a:t>
            </a:r>
          </a:p>
        </p:txBody>
      </p:sp>
      <p:sp>
        <p:nvSpPr>
          <p:cNvPr id="350" name="În general, sunt două tipuri mari și late:"/>
          <p:cNvSpPr txBox="1"/>
          <p:nvPr/>
        </p:nvSpPr>
        <p:spPr>
          <a:xfrm>
            <a:off x="496970" y="10009142"/>
            <a:ext cx="21948579" cy="200660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Dacă nu ar fi ortogonale, atunci două componente s-ar putea să prezinte informații comune, lucru care este evitat</a:t>
            </a:r>
          </a:p>
        </p:txBody>
      </p:sp>
      <p:sp>
        <p:nvSpPr>
          <p:cNvPr id="351" name="În general, sunt două tipuri mari și late:"/>
          <p:cNvSpPr txBox="1"/>
          <p:nvPr/>
        </p:nvSpPr>
        <p:spPr>
          <a:xfrm>
            <a:off x="496970" y="11644021"/>
            <a:ext cx="21948579" cy="200660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Se repetă același proces discutat, dar pentru noile componente principale</a:t>
            </a:r>
          </a:p>
        </p:txBody>
      </p:sp>
      <p:pic>
        <p:nvPicPr>
          <p:cNvPr id="352" name="Linie Linie" descr="Linie Linie"/>
          <p:cNvPicPr>
            <a:picLocks noChangeAspect="0"/>
          </p:cNvPicPr>
          <p:nvPr/>
        </p:nvPicPr>
        <p:blipFill>
          <a:blip r:embed="rId2">
            <a:extLst/>
          </a:blip>
          <a:stretch>
            <a:fillRect/>
          </a:stretch>
        </p:blipFill>
        <p:spPr>
          <a:xfrm>
            <a:off x="6137376" y="9162676"/>
            <a:ext cx="3193417" cy="101601"/>
          </a:xfrm>
          <a:prstGeom prst="rect">
            <a:avLst/>
          </a:prstGeom>
        </p:spPr>
      </p:pic>
      <p:pic>
        <p:nvPicPr>
          <p:cNvPr id="354" name="Linie Linie" descr="Linie Linie"/>
          <p:cNvPicPr>
            <a:picLocks noChangeAspect="0"/>
          </p:cNvPicPr>
          <p:nvPr/>
        </p:nvPicPr>
        <p:blipFill>
          <a:blip r:embed="rId3">
            <a:extLst/>
          </a:blip>
          <a:stretch>
            <a:fillRect/>
          </a:stretch>
        </p:blipFill>
        <p:spPr>
          <a:xfrm>
            <a:off x="19536996" y="10749918"/>
            <a:ext cx="2764340" cy="101601"/>
          </a:xfrm>
          <a:prstGeom prst="rect">
            <a:avLst/>
          </a:prstGeom>
        </p:spPr>
      </p:pic>
      <p:pic>
        <p:nvPicPr>
          <p:cNvPr id="356" name="Linie Linie" descr="Linie Linie"/>
          <p:cNvPicPr>
            <a:picLocks noChangeAspect="0"/>
          </p:cNvPicPr>
          <p:nvPr/>
        </p:nvPicPr>
        <p:blipFill>
          <a:blip r:embed="rId4">
            <a:extLst/>
          </a:blip>
          <a:stretch>
            <a:fillRect/>
          </a:stretch>
        </p:blipFill>
        <p:spPr>
          <a:xfrm>
            <a:off x="1022282" y="11644021"/>
            <a:ext cx="2436661" cy="101601"/>
          </a:xfrm>
          <a:prstGeom prst="rect">
            <a:avLst/>
          </a:prstGeom>
        </p:spPr>
      </p:pic>
      <p:pic>
        <p:nvPicPr>
          <p:cNvPr id="358" name="Linie Linie" descr="Linie Linie"/>
          <p:cNvPicPr>
            <a:picLocks noChangeAspect="0"/>
          </p:cNvPicPr>
          <p:nvPr/>
        </p:nvPicPr>
        <p:blipFill>
          <a:blip r:embed="rId5">
            <a:extLst/>
          </a:blip>
          <a:stretch>
            <a:fillRect/>
          </a:stretch>
        </p:blipFill>
        <p:spPr>
          <a:xfrm>
            <a:off x="1625455" y="12457638"/>
            <a:ext cx="2106348" cy="101601"/>
          </a:xfrm>
          <a:prstGeom prst="rect">
            <a:avLst/>
          </a:prstGeom>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 grpId="1" fill="hold">
                                  <p:stCondLst>
                                    <p:cond delay="0"/>
                                  </p:stCondLst>
                                  <p:iterate type="el" backwards="0">
                                    <p:tmAbs val="0"/>
                                  </p:iterate>
                                  <p:childTnLst>
                                    <p:set>
                                      <p:cBhvr>
                                        <p:cTn id="6" fill="hold"/>
                                        <p:tgtEl>
                                          <p:spTgt spid="349"/>
                                        </p:tgtEl>
                                        <p:attrNameLst>
                                          <p:attrName>style.visibility</p:attrName>
                                        </p:attrNameLst>
                                      </p:cBhvr>
                                      <p:to>
                                        <p:strVal val="visible"/>
                                      </p:to>
                                    </p:set>
                                    <p:anim calcmode="lin" valueType="num">
                                      <p:cBhvr>
                                        <p:cTn id="7" dur="1000" fill="hold"/>
                                        <p:tgtEl>
                                          <p:spTgt spid="349"/>
                                        </p:tgtEl>
                                        <p:attrNameLst>
                                          <p:attrName>ppt_x</p:attrName>
                                        </p:attrNameLst>
                                      </p:cBhvr>
                                      <p:tavLst>
                                        <p:tav tm="0">
                                          <p:val>
                                            <p:strVal val="0-#ppt_w/2"/>
                                          </p:val>
                                        </p:tav>
                                        <p:tav tm="100000">
                                          <p:val>
                                            <p:strVal val="#ppt_x"/>
                                          </p:val>
                                        </p:tav>
                                      </p:tavLst>
                                    </p:anim>
                                    <p:anim calcmode="lin" valueType="num">
                                      <p:cBhvr>
                                        <p:cTn id="8" dur="1000" fill="hold"/>
                                        <p:tgtEl>
                                          <p:spTgt spid="349"/>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Class="entr" nodeType="afterEffect" presetID="9" grpId="2" fill="hold">
                                  <p:stCondLst>
                                    <p:cond delay="0"/>
                                  </p:stCondLst>
                                  <p:iterate type="el" backwards="0">
                                    <p:tmAbs val="0"/>
                                  </p:iterate>
                                  <p:childTnLst>
                                    <p:set>
                                      <p:cBhvr>
                                        <p:cTn id="11" fill="hold"/>
                                        <p:tgtEl>
                                          <p:spTgt spid="352"/>
                                        </p:tgtEl>
                                        <p:attrNameLst>
                                          <p:attrName>style.visibility</p:attrName>
                                        </p:attrNameLst>
                                      </p:cBhvr>
                                      <p:to>
                                        <p:strVal val="visible"/>
                                      </p:to>
                                    </p:set>
                                    <p:animEffect filter="dissolve" transition="in">
                                      <p:cBhvr>
                                        <p:cTn id="12" dur="2000"/>
                                        <p:tgtEl>
                                          <p:spTgt spid="352"/>
                                        </p:tgtEl>
                                      </p:cBhvr>
                                    </p:animEffect>
                                  </p:childTnLst>
                                </p:cTn>
                              </p:par>
                            </p:childTnLst>
                          </p:cTn>
                        </p:par>
                      </p:childTnLst>
                    </p:cTn>
                  </p:par>
                  <p:par>
                    <p:cTn id="13" fill="hold">
                      <p:stCondLst>
                        <p:cond delay="indefinite"/>
                      </p:stCondLst>
                      <p:childTnLst>
                        <p:par>
                          <p:cTn id="14" fill="hold">
                            <p:stCondLst>
                              <p:cond delay="0"/>
                            </p:stCondLst>
                            <p:childTnLst>
                              <p:par>
                                <p:cTn id="15" presetClass="entr" nodeType="clickEffect" presetSubtype="8" presetID="2" grpId="3" fill="hold">
                                  <p:stCondLst>
                                    <p:cond delay="0"/>
                                  </p:stCondLst>
                                  <p:iterate type="el" backwards="0">
                                    <p:tmAbs val="0"/>
                                  </p:iterate>
                                  <p:childTnLst>
                                    <p:set>
                                      <p:cBhvr>
                                        <p:cTn id="16" fill="hold"/>
                                        <p:tgtEl>
                                          <p:spTgt spid="350"/>
                                        </p:tgtEl>
                                        <p:attrNameLst>
                                          <p:attrName>style.visibility</p:attrName>
                                        </p:attrNameLst>
                                      </p:cBhvr>
                                      <p:to>
                                        <p:strVal val="visible"/>
                                      </p:to>
                                    </p:set>
                                    <p:anim calcmode="lin" valueType="num">
                                      <p:cBhvr>
                                        <p:cTn id="17" dur="1000" fill="hold"/>
                                        <p:tgtEl>
                                          <p:spTgt spid="350"/>
                                        </p:tgtEl>
                                        <p:attrNameLst>
                                          <p:attrName>ppt_x</p:attrName>
                                        </p:attrNameLst>
                                      </p:cBhvr>
                                      <p:tavLst>
                                        <p:tav tm="0">
                                          <p:val>
                                            <p:strVal val="0-#ppt_w/2"/>
                                          </p:val>
                                        </p:tav>
                                        <p:tav tm="100000">
                                          <p:val>
                                            <p:strVal val="#ppt_x"/>
                                          </p:val>
                                        </p:tav>
                                      </p:tavLst>
                                    </p:anim>
                                    <p:anim calcmode="lin" valueType="num">
                                      <p:cBhvr>
                                        <p:cTn id="18" dur="1000" fill="hold"/>
                                        <p:tgtEl>
                                          <p:spTgt spid="350"/>
                                        </p:tgtEl>
                                        <p:attrNameLst>
                                          <p:attrName>ppt_y</p:attrName>
                                        </p:attrNameLst>
                                      </p:cBhvr>
                                      <p:tavLst>
                                        <p:tav tm="0">
                                          <p:val>
                                            <p:strVal val="#ppt_y"/>
                                          </p:val>
                                        </p:tav>
                                        <p:tav tm="100000">
                                          <p:val>
                                            <p:strVal val="#ppt_y"/>
                                          </p:val>
                                        </p:tav>
                                      </p:tavLst>
                                    </p:anim>
                                  </p:childTnLst>
                                </p:cTn>
                              </p:par>
                            </p:childTnLst>
                          </p:cTn>
                        </p:par>
                        <p:par>
                          <p:cTn id="19" fill="hold">
                            <p:stCondLst>
                              <p:cond delay="1000"/>
                            </p:stCondLst>
                            <p:childTnLst>
                              <p:par>
                                <p:cTn id="20" presetClass="entr" nodeType="afterEffect" presetID="9" grpId="4" fill="hold">
                                  <p:stCondLst>
                                    <p:cond delay="0"/>
                                  </p:stCondLst>
                                  <p:iterate type="el" backwards="0">
                                    <p:tmAbs val="0"/>
                                  </p:iterate>
                                  <p:childTnLst>
                                    <p:set>
                                      <p:cBhvr>
                                        <p:cTn id="21" fill="hold"/>
                                        <p:tgtEl>
                                          <p:spTgt spid="354"/>
                                        </p:tgtEl>
                                        <p:attrNameLst>
                                          <p:attrName>style.visibility</p:attrName>
                                        </p:attrNameLst>
                                      </p:cBhvr>
                                      <p:to>
                                        <p:strVal val="visible"/>
                                      </p:to>
                                    </p:set>
                                    <p:animEffect filter="dissolve" transition="in">
                                      <p:cBhvr>
                                        <p:cTn id="22" dur="2000"/>
                                        <p:tgtEl>
                                          <p:spTgt spid="354"/>
                                        </p:tgtEl>
                                      </p:cBhvr>
                                    </p:animEffect>
                                  </p:childTnLst>
                                </p:cTn>
                              </p:par>
                            </p:childTnLst>
                          </p:cTn>
                        </p:par>
                        <p:par>
                          <p:cTn id="23" fill="hold">
                            <p:stCondLst>
                              <p:cond delay="3000"/>
                            </p:stCondLst>
                            <p:childTnLst>
                              <p:par>
                                <p:cTn id="24" presetClass="entr" nodeType="afterEffect" presetID="9" grpId="5" fill="hold">
                                  <p:stCondLst>
                                    <p:cond delay="0"/>
                                  </p:stCondLst>
                                  <p:iterate type="el" backwards="0">
                                    <p:tmAbs val="0"/>
                                  </p:iterate>
                                  <p:childTnLst>
                                    <p:set>
                                      <p:cBhvr>
                                        <p:cTn id="25" fill="hold"/>
                                        <p:tgtEl>
                                          <p:spTgt spid="356"/>
                                        </p:tgtEl>
                                        <p:attrNameLst>
                                          <p:attrName>style.visibility</p:attrName>
                                        </p:attrNameLst>
                                      </p:cBhvr>
                                      <p:to>
                                        <p:strVal val="visible"/>
                                      </p:to>
                                    </p:set>
                                    <p:animEffect filter="dissolve" transition="in">
                                      <p:cBhvr>
                                        <p:cTn id="26" dur="2000"/>
                                        <p:tgtEl>
                                          <p:spTgt spid="356"/>
                                        </p:tgtEl>
                                      </p:cBhvr>
                                    </p:animEffect>
                                  </p:childTnLst>
                                </p:cTn>
                              </p:par>
                            </p:childTnLst>
                          </p:cTn>
                        </p:par>
                      </p:childTnLst>
                    </p:cTn>
                  </p:par>
                  <p:par>
                    <p:cTn id="27" fill="hold">
                      <p:stCondLst>
                        <p:cond delay="indefinite"/>
                      </p:stCondLst>
                      <p:childTnLst>
                        <p:par>
                          <p:cTn id="28" fill="hold">
                            <p:stCondLst>
                              <p:cond delay="0"/>
                            </p:stCondLst>
                            <p:childTnLst>
                              <p:par>
                                <p:cTn id="29" presetClass="entr" nodeType="clickEffect" presetSubtype="8" presetID="2" grpId="6" fill="hold">
                                  <p:stCondLst>
                                    <p:cond delay="0"/>
                                  </p:stCondLst>
                                  <p:iterate type="el" backwards="0">
                                    <p:tmAbs val="0"/>
                                  </p:iterate>
                                  <p:childTnLst>
                                    <p:set>
                                      <p:cBhvr>
                                        <p:cTn id="30" fill="hold"/>
                                        <p:tgtEl>
                                          <p:spTgt spid="351"/>
                                        </p:tgtEl>
                                        <p:attrNameLst>
                                          <p:attrName>style.visibility</p:attrName>
                                        </p:attrNameLst>
                                      </p:cBhvr>
                                      <p:to>
                                        <p:strVal val="visible"/>
                                      </p:to>
                                    </p:set>
                                    <p:anim calcmode="lin" valueType="num">
                                      <p:cBhvr>
                                        <p:cTn id="31" dur="1000" fill="hold"/>
                                        <p:tgtEl>
                                          <p:spTgt spid="351"/>
                                        </p:tgtEl>
                                        <p:attrNameLst>
                                          <p:attrName>ppt_x</p:attrName>
                                        </p:attrNameLst>
                                      </p:cBhvr>
                                      <p:tavLst>
                                        <p:tav tm="0">
                                          <p:val>
                                            <p:strVal val="0-#ppt_w/2"/>
                                          </p:val>
                                        </p:tav>
                                        <p:tav tm="100000">
                                          <p:val>
                                            <p:strVal val="#ppt_x"/>
                                          </p:val>
                                        </p:tav>
                                      </p:tavLst>
                                    </p:anim>
                                    <p:anim calcmode="lin" valueType="num">
                                      <p:cBhvr>
                                        <p:cTn id="32" dur="1000" fill="hold"/>
                                        <p:tgtEl>
                                          <p:spTgt spid="351"/>
                                        </p:tgtEl>
                                        <p:attrNameLst>
                                          <p:attrName>ppt_y</p:attrName>
                                        </p:attrNameLst>
                                      </p:cBhvr>
                                      <p:tavLst>
                                        <p:tav tm="0">
                                          <p:val>
                                            <p:strVal val="#ppt_y"/>
                                          </p:val>
                                        </p:tav>
                                        <p:tav tm="100000">
                                          <p:val>
                                            <p:strVal val="#ppt_y"/>
                                          </p:val>
                                        </p:tav>
                                      </p:tavLst>
                                    </p:anim>
                                  </p:childTnLst>
                                </p:cTn>
                              </p:par>
                            </p:childTnLst>
                          </p:cTn>
                        </p:par>
                        <p:par>
                          <p:cTn id="33" fill="hold">
                            <p:stCondLst>
                              <p:cond delay="1000"/>
                            </p:stCondLst>
                            <p:childTnLst>
                              <p:par>
                                <p:cTn id="34" presetClass="entr" nodeType="afterEffect" presetID="9" grpId="7" fill="hold">
                                  <p:stCondLst>
                                    <p:cond delay="0"/>
                                  </p:stCondLst>
                                  <p:iterate type="el" backwards="0">
                                    <p:tmAbs val="0"/>
                                  </p:iterate>
                                  <p:childTnLst>
                                    <p:set>
                                      <p:cBhvr>
                                        <p:cTn id="35" fill="hold"/>
                                        <p:tgtEl>
                                          <p:spTgt spid="358"/>
                                        </p:tgtEl>
                                        <p:attrNameLst>
                                          <p:attrName>style.visibility</p:attrName>
                                        </p:attrNameLst>
                                      </p:cBhvr>
                                      <p:to>
                                        <p:strVal val="visible"/>
                                      </p:to>
                                    </p:set>
                                    <p:animEffect filter="dissolve" transition="in">
                                      <p:cBhvr>
                                        <p:cTn id="36" dur="2000"/>
                                        <p:tgtEl>
                                          <p:spTgt spid="35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51" grpId="6"/>
      <p:bldP build="whole" bldLvl="1" animBg="1" rev="0" advAuto="0" spid="352" grpId="2"/>
      <p:bldP build="whole" bldLvl="1" animBg="1" rev="0" advAuto="0" spid="358" grpId="7"/>
      <p:bldP build="whole" bldLvl="1" animBg="1" rev="0" advAuto="0" spid="350" grpId="3"/>
      <p:bldP build="whole" bldLvl="1" animBg="1" rev="0" advAuto="0" spid="349" grpId="1"/>
      <p:bldP build="whole" bldLvl="1" animBg="1" rev="0" advAuto="0" spid="354" grpId="4"/>
      <p:bldP build="whole" bldLvl="1" animBg="1" rev="0" advAuto="0" spid="356" grpId="5"/>
    </p:bldLst>
  </p:timing>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1"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graphicFrame>
        <p:nvGraphicFramePr>
          <p:cNvPr id="362" name="Tabelul 1"/>
          <p:cNvGraphicFramePr/>
          <p:nvPr/>
        </p:nvGraphicFramePr>
        <p:xfrm>
          <a:off x="2907038" y="1030927"/>
          <a:ext cx="15435026" cy="5419038"/>
        </p:xfrm>
        <a:graphic xmlns:a="http://schemas.openxmlformats.org/drawingml/2006/main">
          <a:graphicData uri="http://schemas.openxmlformats.org/drawingml/2006/table">
            <a:tbl>
              <a:tblPr firstCol="0" firstRow="1" lastCol="0" lastRow="0" bandCol="0" bandRow="1" rtl="0">
                <a:tableStyleId>{4C3C2611-4C71-4FC5-86AE-919BDF0F9419}</a:tableStyleId>
              </a:tblPr>
              <a:tblGrid>
                <a:gridCol w="1905000"/>
                <a:gridCol w="1905000"/>
                <a:gridCol w="1905000"/>
                <a:gridCol w="1905000"/>
                <a:gridCol w="1905000"/>
                <a:gridCol w="1905000"/>
                <a:gridCol w="1905000"/>
                <a:gridCol w="1905000"/>
                <a:gridCol w="1905000"/>
                <a:gridCol w="1905000"/>
              </a:tblGrid>
              <a:tr h="860806">
                <a:tc>
                  <a:txBody>
                    <a:bodyPr/>
                    <a:lstStyle/>
                    <a:p>
                      <a:pPr indent="457200">
                        <a:defRPr b="0" sz="1800">
                          <a:solidFill>
                            <a:srgbClr val="000000"/>
                          </a:solidFill>
                        </a:defRPr>
                      </a:pPr>
                      <a:r>
                        <a:rPr sz="2200">
                          <a:solidFill>
                            <a:srgbClr val="FFFFFF"/>
                          </a:solidFill>
                          <a:latin typeface="Canela Text Regular"/>
                          <a:ea typeface="Canela Text Regular"/>
                          <a:cs typeface="Canela Text Regular"/>
                          <a:sym typeface="Canela Text Regular"/>
                        </a:rPr>
                        <a:t>[1] Înălțime</a:t>
                      </a:r>
                    </a:p>
                  </a:txBody>
                  <a:tcPr marL="0" marR="0" marT="0" marB="0" anchor="ctr" anchorCtr="0" horzOverflow="overflow"/>
                </a:tc>
                <a:tc>
                  <a:txBody>
                    <a:bodyPr/>
                    <a:lstStyle/>
                    <a:p>
                      <a:pPr indent="457200">
                        <a:defRPr b="0" sz="1800">
                          <a:solidFill>
                            <a:srgbClr val="000000"/>
                          </a:solidFill>
                        </a:defRPr>
                      </a:pPr>
                      <a:r>
                        <a:rPr sz="2200">
                          <a:solidFill>
                            <a:srgbClr val="FFFFFF"/>
                          </a:solidFill>
                          <a:latin typeface="Canela Text Regular"/>
                          <a:ea typeface="Canela Text Regular"/>
                          <a:cs typeface="Canela Text Regular"/>
                          <a:sym typeface="Canela Text Regular"/>
                        </a:rPr>
                        <a:t>[2] Greutate</a:t>
                      </a:r>
                    </a:p>
                  </a:txBody>
                  <a:tcPr marL="0" marR="0" marT="0" marB="0" anchor="ctr" anchorCtr="0" horzOverflow="overflow"/>
                </a:tc>
                <a:tc>
                  <a:txBody>
                    <a:bodyPr/>
                    <a:lstStyle/>
                    <a:p>
                      <a:pPr indent="457200">
                        <a:defRPr b="0" sz="1800">
                          <a:solidFill>
                            <a:srgbClr val="000000"/>
                          </a:solidFill>
                        </a:defRPr>
                      </a:pPr>
                      <a:r>
                        <a:rPr sz="2200">
                          <a:solidFill>
                            <a:srgbClr val="FFFFFF"/>
                          </a:solidFill>
                          <a:latin typeface="Canela Text Regular"/>
                          <a:ea typeface="Canela Text Regular"/>
                          <a:cs typeface="Canela Text Regular"/>
                          <a:sym typeface="Canela Text Regular"/>
                        </a:rPr>
                        <a:t>[3] Tensiunea arterială medie</a:t>
                      </a:r>
                    </a:p>
                  </a:txBody>
                  <a:tcPr marL="0" marR="0" marT="0" marB="0" anchor="ctr" anchorCtr="0" horzOverflow="overflow"/>
                </a:tc>
                <a:tc>
                  <a:txBody>
                    <a:bodyPr/>
                    <a:lstStyle/>
                    <a:p>
                      <a:pPr indent="457200">
                        <a:defRPr b="0" sz="1800">
                          <a:solidFill>
                            <a:srgbClr val="000000"/>
                          </a:solidFill>
                        </a:defRPr>
                      </a:pPr>
                      <a:r>
                        <a:rPr sz="2200">
                          <a:solidFill>
                            <a:srgbClr val="FFFFFF"/>
                          </a:solidFill>
                          <a:latin typeface="Canela Text Regular"/>
                          <a:ea typeface="Canela Text Regular"/>
                          <a:cs typeface="Canela Text Regular"/>
                          <a:sym typeface="Canela Text Regular"/>
                        </a:rPr>
                        <a:t>[4]     Pulsul mediu</a:t>
                      </a:r>
                    </a:p>
                  </a:txBody>
                  <a:tcPr marL="0" marR="0" marT="0" marB="0" anchor="ctr" anchorCtr="0" horzOverflow="overflow"/>
                </a:tc>
                <a:tc>
                  <a:txBody>
                    <a:bodyPr/>
                    <a:lstStyle/>
                    <a:p>
                      <a:pPr indent="457200">
                        <a:defRPr b="0" sz="1800">
                          <a:solidFill>
                            <a:srgbClr val="000000"/>
                          </a:solidFill>
                        </a:defRPr>
                      </a:pPr>
                      <a:r>
                        <a:rPr sz="2200">
                          <a:solidFill>
                            <a:srgbClr val="FFFFFF"/>
                          </a:solidFill>
                          <a:latin typeface="Canela Text Regular"/>
                          <a:ea typeface="Canela Text Regular"/>
                          <a:cs typeface="Canela Text Regular"/>
                          <a:sym typeface="Canela Text Regular"/>
                        </a:rPr>
                        <a:t>[5]        IMC (Indicele de masă corporală)</a:t>
                      </a:r>
                    </a:p>
                  </a:txBody>
                  <a:tcPr marL="0" marR="0" marT="0" marB="0" anchor="ctr" anchorCtr="0" horzOverflow="overflow"/>
                </a:tc>
                <a:tc>
                  <a:txBody>
                    <a:bodyPr/>
                    <a:lstStyle/>
                    <a:p>
                      <a:pPr indent="457200">
                        <a:defRPr b="0" sz="1800">
                          <a:solidFill>
                            <a:srgbClr val="000000"/>
                          </a:solidFill>
                        </a:defRPr>
                      </a:pPr>
                      <a:r>
                        <a:rPr sz="2200">
                          <a:solidFill>
                            <a:srgbClr val="FFFFFF"/>
                          </a:solidFill>
                          <a:latin typeface="Canela Text Regular"/>
                          <a:ea typeface="Canela Text Regular"/>
                          <a:cs typeface="Canela Text Regular"/>
                          <a:sym typeface="Canela Text Regular"/>
                        </a:rPr>
                        <a:t>[6]   Nivelul colesterolului</a:t>
                      </a:r>
                    </a:p>
                  </a:txBody>
                  <a:tcPr marL="0" marR="0" marT="0" marB="0" anchor="ctr" anchorCtr="0" horzOverflow="overflow"/>
                </a:tc>
                <a:tc>
                  <a:txBody>
                    <a:bodyPr/>
                    <a:lstStyle/>
                    <a:p>
                      <a:pPr indent="457200">
                        <a:defRPr b="0" sz="1800">
                          <a:solidFill>
                            <a:srgbClr val="000000"/>
                          </a:solidFill>
                        </a:defRPr>
                      </a:pPr>
                      <a:r>
                        <a:rPr sz="2200">
                          <a:solidFill>
                            <a:srgbClr val="FFFFFF"/>
                          </a:solidFill>
                          <a:latin typeface="Canela Text Regular"/>
                          <a:ea typeface="Canela Text Regular"/>
                          <a:cs typeface="Canela Text Regular"/>
                          <a:sym typeface="Canela Text Regular"/>
                        </a:rPr>
                        <a:t>[7]    Media țigărilor consumate / zi</a:t>
                      </a:r>
                    </a:p>
                  </a:txBody>
                  <a:tcPr marL="0" marR="0" marT="0" marB="0" anchor="ctr" anchorCtr="0" horzOverflow="overflow"/>
                </a:tc>
                <a:tc>
                  <a:txBody>
                    <a:bodyPr/>
                    <a:lstStyle/>
                    <a:p>
                      <a:pPr indent="457200">
                        <a:defRPr b="0" sz="1800">
                          <a:solidFill>
                            <a:srgbClr val="000000"/>
                          </a:solidFill>
                        </a:defRPr>
                      </a:pPr>
                      <a:r>
                        <a:rPr sz="2200">
                          <a:solidFill>
                            <a:srgbClr val="FFFFFF"/>
                          </a:solidFill>
                          <a:latin typeface="Canela Text Regular"/>
                          <a:ea typeface="Canela Text Regular"/>
                          <a:cs typeface="Canela Text Regular"/>
                          <a:sym typeface="Canela Text Regular"/>
                        </a:rPr>
                        <a:t>…</a:t>
                      </a:r>
                    </a:p>
                  </a:txBody>
                  <a:tcPr marL="0" marR="0" marT="0" marB="0" anchor="ctr" anchorCtr="0" horzOverflow="overflow"/>
                </a:tc>
                <a:tc>
                  <a:txBody>
                    <a:bodyPr/>
                    <a:lstStyle/>
                    <a:p>
                      <a:pPr indent="457200">
                        <a:defRPr b="0" sz="1800">
                          <a:solidFill>
                            <a:srgbClr val="000000"/>
                          </a:solidFill>
                        </a:defRPr>
                      </a:pPr>
                      <a:r>
                        <a:rPr sz="2200">
                          <a:solidFill>
                            <a:srgbClr val="FFFFFF"/>
                          </a:solidFill>
                          <a:latin typeface="Canela Text Regular"/>
                          <a:ea typeface="Canela Text Regular"/>
                          <a:cs typeface="Canela Text Regular"/>
                          <a:sym typeface="Canela Text Regular"/>
                        </a:rPr>
                        <a:t>[200] Nivelul zahărului</a:t>
                      </a:r>
                    </a:p>
                  </a:txBody>
                  <a:tcPr marL="0" marR="0" marT="0" marB="0" anchor="ctr" anchorCtr="0" horzOverflow="overflow"/>
                </a:tc>
                <a:tc>
                  <a:txBody>
                    <a:bodyPr/>
                    <a:lstStyle/>
                    <a:p>
                      <a:pPr indent="457200">
                        <a:defRPr b="0" sz="1800">
                          <a:solidFill>
                            <a:srgbClr val="000000"/>
                          </a:solidFill>
                        </a:defRPr>
                      </a:pPr>
                      <a:r>
                        <a:rPr sz="2200">
                          <a:solidFill>
                            <a:srgbClr val="FFFFFF"/>
                          </a:solidFill>
                          <a:latin typeface="Canela Text Regular"/>
                          <a:ea typeface="Canela Text Regular"/>
                          <a:cs typeface="Canela Text Regular"/>
                          <a:sym typeface="Canela Text Regular"/>
                        </a:rPr>
                        <a:t>Risc</a:t>
                      </a:r>
                    </a:p>
                  </a:txBody>
                  <a:tcPr marL="0" marR="0" marT="0" marB="0" anchor="ctr" anchorCtr="0" horzOverflow="overflow">
                    <a:solidFill>
                      <a:schemeClr val="accent5"/>
                    </a:solidFill>
                  </a:tcPr>
                </a:tc>
              </a:tr>
              <a:tr h="441706">
                <a:tc>
                  <a:txBody>
                    <a:bodyPr/>
                    <a:lstStyle/>
                    <a:p>
                      <a:pPr indent="457200">
                        <a:defRPr b="0" sz="1800"/>
                      </a:pPr>
                      <a:r>
                        <a:rPr sz="2200">
                          <a:latin typeface="Canela Text Regular"/>
                          <a:ea typeface="Canela Text Regular"/>
                          <a:cs typeface="Canela Text Regular"/>
                          <a:sym typeface="Canela Text Regular"/>
                        </a:rPr>
                        <a:t>150</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80</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140/90</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63</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36</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5</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0</a:t>
                      </a:r>
                    </a:p>
                  </a:txBody>
                  <a:tcPr marL="0" marR="0" marT="0" marB="0" anchor="ctr" anchorCtr="0" horzOverflow="overflow"/>
                </a:tc>
                <a:tc>
                  <a:txBody>
                    <a:bodyPr/>
                    <a:lstStyle/>
                    <a:p>
                      <a:pPr indent="457200">
                        <a:defRPr b="0" sz="2200">
                          <a:latin typeface="Canela Text Regular"/>
                          <a:ea typeface="Canela Text Regular"/>
                          <a:cs typeface="Canela Text Regular"/>
                          <a:sym typeface="Canela Text Regular"/>
                        </a:defRPr>
                      </a:pP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99</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0</a:t>
                      </a:r>
                    </a:p>
                  </a:txBody>
                  <a:tcPr marL="0" marR="0" marT="0" marB="0" anchor="ctr" anchorCtr="0" horzOverflow="overflow"/>
                </a:tc>
              </a:tr>
              <a:tr h="429006">
                <a:tc>
                  <a:txBody>
                    <a:bodyPr/>
                    <a:lstStyle/>
                    <a:p>
                      <a:pPr indent="457200">
                        <a:defRPr b="0" sz="1800"/>
                      </a:pPr>
                      <a:r>
                        <a:rPr sz="2200">
                          <a:latin typeface="Canela Text Regular"/>
                          <a:ea typeface="Canela Text Regular"/>
                          <a:cs typeface="Canela Text Regular"/>
                          <a:sym typeface="Canela Text Regular"/>
                        </a:rPr>
                        <a:t>174</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90</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90/60</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100</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32</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4.0</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0</a:t>
                      </a:r>
                    </a:p>
                  </a:txBody>
                  <a:tcPr marL="0" marR="0" marT="0" marB="0" anchor="ctr" anchorCtr="0" horzOverflow="overflow"/>
                </a:tc>
                <a:tc>
                  <a:txBody>
                    <a:bodyPr/>
                    <a:lstStyle/>
                    <a:p>
                      <a:pPr indent="457200">
                        <a:defRPr b="0" sz="2200">
                          <a:latin typeface="Canela Text Regular"/>
                          <a:ea typeface="Canela Text Regular"/>
                          <a:cs typeface="Canela Text Regular"/>
                          <a:sym typeface="Canela Text Regular"/>
                        </a:defRPr>
                      </a:pP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95</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1</a:t>
                      </a:r>
                    </a:p>
                  </a:txBody>
                  <a:tcPr marL="0" marR="0" marT="0" marB="0" anchor="ctr" anchorCtr="0" horzOverflow="overflow"/>
                </a:tc>
              </a:tr>
              <a:tr h="1081267">
                <a:tc>
                  <a:txBody>
                    <a:bodyPr/>
                    <a:lstStyle/>
                    <a:p>
                      <a:pPr indent="457200">
                        <a:defRPr b="0" sz="1800"/>
                      </a:pPr>
                      <a:r>
                        <a:rPr sz="2200">
                          <a:latin typeface="Canela Text Regular"/>
                          <a:ea typeface="Canela Text Regular"/>
                          <a:cs typeface="Canela Text Regular"/>
                          <a:sym typeface="Canela Text Regular"/>
                        </a:rPr>
                        <a:t>180</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82</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92/60</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78</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25</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3.7</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10</a:t>
                      </a:r>
                    </a:p>
                  </a:txBody>
                  <a:tcPr marL="0" marR="0" marT="0" marB="0" anchor="ctr" anchorCtr="0" horzOverflow="overflow"/>
                </a:tc>
                <a:tc>
                  <a:txBody>
                    <a:bodyPr/>
                    <a:lstStyle/>
                    <a:p>
                      <a:pPr indent="457200">
                        <a:defRPr b="0" sz="2200">
                          <a:latin typeface="Canela Text Regular"/>
                          <a:ea typeface="Canela Text Regular"/>
                          <a:cs typeface="Canela Text Regular"/>
                          <a:sym typeface="Canela Text Regular"/>
                        </a:defRPr>
                      </a:pP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112</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2</a:t>
                      </a:r>
                    </a:p>
                  </a:txBody>
                  <a:tcPr marL="0" marR="0" marT="0" marB="0" anchor="ctr" anchorCtr="0" horzOverflow="overflow"/>
                </a:tc>
              </a:tr>
              <a:tr h="1081267">
                <a:tc>
                  <a:txBody>
                    <a:bodyPr/>
                    <a:lstStyle/>
                    <a:p>
                      <a:pPr indent="457200">
                        <a:defRPr b="0" sz="1800"/>
                      </a:pPr>
                      <a:r>
                        <a:rPr sz="2200">
                          <a:latin typeface="Canela Text Regular"/>
                          <a:ea typeface="Canela Text Regular"/>
                          <a:cs typeface="Canela Text Regular"/>
                          <a:sym typeface="Canela Text Regular"/>
                        </a:rPr>
                        <a:t>…</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a:t>
                      </a:r>
                    </a:p>
                  </a:txBody>
                  <a:tcPr marL="0" marR="0" marT="0" marB="0" anchor="ctr" anchorCtr="0" horzOverflow="overflow"/>
                </a:tc>
                <a:tc>
                  <a:txBody>
                    <a:bodyPr/>
                    <a:lstStyle/>
                    <a:p>
                      <a:pPr indent="457200">
                        <a:defRPr b="0" sz="2200">
                          <a:latin typeface="Canela Text Regular"/>
                          <a:ea typeface="Canela Text Regular"/>
                          <a:cs typeface="Canela Text Regular"/>
                          <a:sym typeface="Canela Text Regular"/>
                        </a:defRPr>
                      </a:pPr>
                    </a:p>
                  </a:txBody>
                  <a:tcPr marL="0" marR="0" marT="0" marB="0" anchor="ctr" anchorCtr="0" horzOverflow="overflow"/>
                </a:tc>
                <a:tc>
                  <a:txBody>
                    <a:bodyPr/>
                    <a:lstStyle/>
                    <a:p>
                      <a:pPr indent="457200">
                        <a:defRPr b="0" sz="2200">
                          <a:latin typeface="Canela Text Regular"/>
                          <a:ea typeface="Canela Text Regular"/>
                          <a:cs typeface="Canela Text Regular"/>
                          <a:sym typeface="Canela Text Regular"/>
                        </a:defRPr>
                      </a:pPr>
                    </a:p>
                  </a:txBody>
                  <a:tcPr marL="0" marR="0" marT="0" marB="0" anchor="ctr" anchorCtr="0" horzOverflow="overflow"/>
                </a:tc>
                <a:tc>
                  <a:txBody>
                    <a:bodyPr/>
                    <a:lstStyle/>
                    <a:p>
                      <a:pPr indent="457200">
                        <a:defRPr b="0" sz="2200">
                          <a:latin typeface="Canela Text Regular"/>
                          <a:ea typeface="Canela Text Regular"/>
                          <a:cs typeface="Canela Text Regular"/>
                          <a:sym typeface="Canela Text Regular"/>
                        </a:defRPr>
                      </a:pPr>
                    </a:p>
                  </a:txBody>
                  <a:tcPr marL="0" marR="0" marT="0" marB="0" anchor="ctr" anchorCtr="0" horzOverflow="overflow"/>
                </a:tc>
                <a:tc>
                  <a:txBody>
                    <a:bodyPr/>
                    <a:lstStyle/>
                    <a:p>
                      <a:pPr indent="457200">
                        <a:defRPr b="0" sz="2200">
                          <a:latin typeface="Canela Text Regular"/>
                          <a:ea typeface="Canela Text Regular"/>
                          <a:cs typeface="Canela Text Regular"/>
                          <a:sym typeface="Canela Text Regular"/>
                        </a:defRPr>
                      </a:pPr>
                    </a:p>
                  </a:txBody>
                  <a:tcPr marL="0" marR="0" marT="0" marB="0" anchor="ctr" anchorCtr="0" horzOverflow="overflow"/>
                </a:tc>
                <a:tc>
                  <a:txBody>
                    <a:bodyPr/>
                    <a:lstStyle/>
                    <a:p>
                      <a:pPr indent="457200">
                        <a:defRPr b="0" sz="2200">
                          <a:latin typeface="Canela Text Regular"/>
                          <a:ea typeface="Canela Text Regular"/>
                          <a:cs typeface="Canela Text Regular"/>
                          <a:sym typeface="Canela Text Regular"/>
                        </a:defRPr>
                      </a:pP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a:t>
                      </a:r>
                    </a:p>
                  </a:txBody>
                  <a:tcPr marL="0" marR="0" marT="0" marB="0" anchor="ctr" anchorCtr="0" horzOverflow="overflow"/>
                </a:tc>
              </a:tr>
            </a:tbl>
          </a:graphicData>
        </a:graphic>
      </p:graphicFrame>
      <p:sp>
        <p:nvSpPr>
          <p:cNvPr id="363" name="Ca să ajungem de la 200D la 2D de exemplu, vom păstra doar primele două componente principale"/>
          <p:cNvSpPr txBox="1"/>
          <p:nvPr/>
        </p:nvSpPr>
        <p:spPr>
          <a:xfrm>
            <a:off x="447756" y="6625880"/>
            <a:ext cx="22780905"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latin typeface="Canela Regular"/>
                <a:ea typeface="Canela Regular"/>
                <a:cs typeface="Canela Regular"/>
                <a:sym typeface="Canela Regular"/>
              </a:defRPr>
            </a:lvl1pPr>
          </a:lstStyle>
          <a:p>
            <a:pPr/>
            <a:r>
              <a:t>Ca să ajungem de la 200D la 2D de exemplu, vom păstra doar primele două componente principale </a:t>
            </a:r>
          </a:p>
        </p:txBody>
      </p:sp>
      <p:sp>
        <p:nvSpPr>
          <p:cNvPr id="364" name="Așa va arăta setul de date acum:"/>
          <p:cNvSpPr txBox="1"/>
          <p:nvPr/>
        </p:nvSpPr>
        <p:spPr>
          <a:xfrm>
            <a:off x="408075" y="7725066"/>
            <a:ext cx="7286499"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latin typeface="Canela Regular"/>
                <a:ea typeface="Canela Regular"/>
                <a:cs typeface="Canela Regular"/>
                <a:sym typeface="Canela Regular"/>
              </a:defRPr>
            </a:lvl1pPr>
          </a:lstStyle>
          <a:p>
            <a:pPr/>
            <a:r>
              <a:t>Așa va arăta setul de date acum:</a:t>
            </a:r>
          </a:p>
        </p:txBody>
      </p:sp>
      <p:graphicFrame>
        <p:nvGraphicFramePr>
          <p:cNvPr id="365" name="Tabelul 1-1"/>
          <p:cNvGraphicFramePr/>
          <p:nvPr/>
        </p:nvGraphicFramePr>
        <p:xfrm>
          <a:off x="8787789" y="8419557"/>
          <a:ext cx="15435026" cy="5419038"/>
        </p:xfrm>
        <a:graphic xmlns:a="http://schemas.openxmlformats.org/drawingml/2006/main">
          <a:graphicData uri="http://schemas.openxmlformats.org/drawingml/2006/table">
            <a:tbl>
              <a:tblPr firstCol="0" firstRow="1" lastCol="0" lastRow="0" bandCol="0" bandRow="1" rtl="0">
                <a:tableStyleId>{4C3C2611-4C71-4FC5-86AE-919BDF0F9419}</a:tableStyleId>
              </a:tblPr>
              <a:tblGrid>
                <a:gridCol w="1905000"/>
                <a:gridCol w="1905000"/>
                <a:gridCol w="1905000"/>
              </a:tblGrid>
              <a:tr h="860806">
                <a:tc>
                  <a:txBody>
                    <a:bodyPr/>
                    <a:lstStyle/>
                    <a:p>
                      <a:pPr indent="457200">
                        <a:defRPr b="0" sz="1800">
                          <a:solidFill>
                            <a:srgbClr val="000000"/>
                          </a:solidFill>
                        </a:defRPr>
                      </a:pPr>
                      <a:r>
                        <a:rPr sz="2200">
                          <a:solidFill>
                            <a:srgbClr val="FFFFFF"/>
                          </a:solidFill>
                          <a:latin typeface="Canela Text Regular"/>
                          <a:ea typeface="Canela Text Regular"/>
                          <a:cs typeface="Canela Text Regular"/>
                          <a:sym typeface="Canela Text Regular"/>
                        </a:rPr>
                        <a:t>[1] PC1</a:t>
                      </a:r>
                    </a:p>
                  </a:txBody>
                  <a:tcPr marL="0" marR="0" marT="0" marB="0" anchor="ctr" anchorCtr="0" horzOverflow="overflow"/>
                </a:tc>
                <a:tc>
                  <a:txBody>
                    <a:bodyPr/>
                    <a:lstStyle/>
                    <a:p>
                      <a:pPr indent="457200">
                        <a:defRPr b="0" sz="1800">
                          <a:solidFill>
                            <a:srgbClr val="000000"/>
                          </a:solidFill>
                        </a:defRPr>
                      </a:pPr>
                      <a:r>
                        <a:rPr sz="2200">
                          <a:solidFill>
                            <a:srgbClr val="FFFFFF"/>
                          </a:solidFill>
                          <a:latin typeface="Canela Text Regular"/>
                          <a:ea typeface="Canela Text Regular"/>
                          <a:cs typeface="Canela Text Regular"/>
                          <a:sym typeface="Canela Text Regular"/>
                        </a:rPr>
                        <a:t>[2] PC2</a:t>
                      </a:r>
                    </a:p>
                  </a:txBody>
                  <a:tcPr marL="0" marR="0" marT="0" marB="0" anchor="ctr" anchorCtr="0" horzOverflow="overflow"/>
                </a:tc>
                <a:tc>
                  <a:txBody>
                    <a:bodyPr/>
                    <a:lstStyle/>
                    <a:p>
                      <a:pPr indent="457200">
                        <a:defRPr b="0" sz="1800">
                          <a:solidFill>
                            <a:srgbClr val="000000"/>
                          </a:solidFill>
                        </a:defRPr>
                      </a:pPr>
                      <a:r>
                        <a:rPr sz="2200">
                          <a:solidFill>
                            <a:srgbClr val="FFFFFF"/>
                          </a:solidFill>
                          <a:latin typeface="Canela Text Regular"/>
                          <a:ea typeface="Canela Text Regular"/>
                          <a:cs typeface="Canela Text Regular"/>
                          <a:sym typeface="Canela Text Regular"/>
                        </a:rPr>
                        <a:t>Risc</a:t>
                      </a:r>
                    </a:p>
                  </a:txBody>
                  <a:tcPr marL="0" marR="0" marT="0" marB="0" anchor="ctr" anchorCtr="0" horzOverflow="overflow">
                    <a:solidFill>
                      <a:schemeClr val="accent5"/>
                    </a:solidFill>
                  </a:tcPr>
                </a:tc>
              </a:tr>
              <a:tr h="441706">
                <a:tc>
                  <a:txBody>
                    <a:bodyPr/>
                    <a:lstStyle/>
                    <a:p>
                      <a:pPr indent="457200">
                        <a:defRPr b="0" sz="1800"/>
                      </a:pPr>
                      <a:r>
                        <a:rPr sz="2200">
                          <a:latin typeface="Canela Text Regular"/>
                          <a:ea typeface="Canela Text Regular"/>
                          <a:cs typeface="Canela Text Regular"/>
                          <a:sym typeface="Canela Text Regular"/>
                        </a:rPr>
                        <a:t>-1</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3</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0</a:t>
                      </a:r>
                    </a:p>
                  </a:txBody>
                  <a:tcPr marL="0" marR="0" marT="0" marB="0" anchor="ctr" anchorCtr="0" horzOverflow="overflow"/>
                </a:tc>
              </a:tr>
              <a:tr h="429006">
                <a:tc>
                  <a:txBody>
                    <a:bodyPr/>
                    <a:lstStyle/>
                    <a:p>
                      <a:pPr indent="457200">
                        <a:defRPr b="0" sz="1800"/>
                      </a:pPr>
                      <a:r>
                        <a:rPr sz="2200">
                          <a:latin typeface="Canela Text Regular"/>
                          <a:ea typeface="Canela Text Regular"/>
                          <a:cs typeface="Canela Text Regular"/>
                          <a:sym typeface="Canela Text Regular"/>
                        </a:rPr>
                        <a:t>2</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4</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1</a:t>
                      </a:r>
                    </a:p>
                  </a:txBody>
                  <a:tcPr marL="0" marR="0" marT="0" marB="0" anchor="ctr" anchorCtr="0" horzOverflow="overflow"/>
                </a:tc>
              </a:tr>
              <a:tr h="1081267">
                <a:tc>
                  <a:txBody>
                    <a:bodyPr/>
                    <a:lstStyle/>
                    <a:p>
                      <a:pPr indent="457200">
                        <a:defRPr b="0" sz="1800"/>
                      </a:pPr>
                      <a:r>
                        <a:rPr sz="2200">
                          <a:latin typeface="Canela Text Regular"/>
                          <a:ea typeface="Canela Text Regular"/>
                          <a:cs typeface="Canela Text Regular"/>
                          <a:sym typeface="Canela Text Regular"/>
                        </a:rPr>
                        <a:t>3</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2</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2</a:t>
                      </a:r>
                    </a:p>
                  </a:txBody>
                  <a:tcPr marL="0" marR="0" marT="0" marB="0" anchor="ctr" anchorCtr="0" horzOverflow="overflow"/>
                </a:tc>
              </a:tr>
              <a:tr h="1081267">
                <a:tc>
                  <a:txBody>
                    <a:bodyPr/>
                    <a:lstStyle/>
                    <a:p>
                      <a:pPr indent="457200">
                        <a:defRPr b="0" sz="1800"/>
                      </a:pPr>
                      <a:r>
                        <a:rPr sz="2200">
                          <a:latin typeface="Canela Text Regular"/>
                          <a:ea typeface="Canela Text Regular"/>
                          <a:cs typeface="Canela Text Regular"/>
                          <a:sym typeface="Canela Text Regular"/>
                        </a:rPr>
                        <a:t>…</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a:t>
                      </a:r>
                    </a:p>
                  </a:txBody>
                  <a:tcPr marL="0" marR="0" marT="0" marB="0" anchor="ctr" anchorCtr="0" horzOverflow="overflow"/>
                </a:tc>
              </a:tr>
            </a:tbl>
          </a:graphicData>
        </a:graphic>
      </p:graphicFrame>
    </p:spTree>
  </p:cSld>
  <p:clrMapOvr>
    <a:masterClrMapping/>
  </p:clrMapOvr>
  <mc:AlternateContent xmlns:mc="http://schemas.openxmlformats.org/markup-compatibility/2006">
    <mc:Choice xmlns:p14="http://schemas.microsoft.com/office/powerpoint/2010/main" Requires="p14">
      <p:transition spd="slow" advClick="1" p14:dur="2000">
        <p14:prism dir="r"/>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 grpId="1" fill="hold">
                                  <p:stCondLst>
                                    <p:cond delay="0"/>
                                  </p:stCondLst>
                                  <p:iterate type="el" backwards="0">
                                    <p:tmAbs val="0"/>
                                  </p:iterate>
                                  <p:childTnLst>
                                    <p:set>
                                      <p:cBhvr>
                                        <p:cTn id="6" fill="hold"/>
                                        <p:tgtEl>
                                          <p:spTgt spid="363"/>
                                        </p:tgtEl>
                                        <p:attrNameLst>
                                          <p:attrName>style.visibility</p:attrName>
                                        </p:attrNameLst>
                                      </p:cBhvr>
                                      <p:to>
                                        <p:strVal val="visible"/>
                                      </p:to>
                                    </p:set>
                                    <p:anim calcmode="lin" valueType="num">
                                      <p:cBhvr>
                                        <p:cTn id="7" dur="1000" fill="hold"/>
                                        <p:tgtEl>
                                          <p:spTgt spid="363"/>
                                        </p:tgtEl>
                                        <p:attrNameLst>
                                          <p:attrName>ppt_x</p:attrName>
                                        </p:attrNameLst>
                                      </p:cBhvr>
                                      <p:tavLst>
                                        <p:tav tm="0">
                                          <p:val>
                                            <p:strVal val="0-#ppt_w/2"/>
                                          </p:val>
                                        </p:tav>
                                        <p:tav tm="100000">
                                          <p:val>
                                            <p:strVal val="#ppt_x"/>
                                          </p:val>
                                        </p:tav>
                                      </p:tavLst>
                                    </p:anim>
                                    <p:anim calcmode="lin" valueType="num">
                                      <p:cBhvr>
                                        <p:cTn id="8" dur="1000" fill="hold"/>
                                        <p:tgtEl>
                                          <p:spTgt spid="36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Subtype="8" presetID="2" grpId="2" fill="hold">
                                  <p:stCondLst>
                                    <p:cond delay="0"/>
                                  </p:stCondLst>
                                  <p:iterate type="el" backwards="0">
                                    <p:tmAbs val="0"/>
                                  </p:iterate>
                                  <p:childTnLst>
                                    <p:set>
                                      <p:cBhvr>
                                        <p:cTn id="12" fill="hold"/>
                                        <p:tgtEl>
                                          <p:spTgt spid="364"/>
                                        </p:tgtEl>
                                        <p:attrNameLst>
                                          <p:attrName>style.visibility</p:attrName>
                                        </p:attrNameLst>
                                      </p:cBhvr>
                                      <p:to>
                                        <p:strVal val="visible"/>
                                      </p:to>
                                    </p:set>
                                    <p:anim calcmode="lin" valueType="num">
                                      <p:cBhvr>
                                        <p:cTn id="13" dur="1000" fill="hold"/>
                                        <p:tgtEl>
                                          <p:spTgt spid="364"/>
                                        </p:tgtEl>
                                        <p:attrNameLst>
                                          <p:attrName>ppt_x</p:attrName>
                                        </p:attrNameLst>
                                      </p:cBhvr>
                                      <p:tavLst>
                                        <p:tav tm="0">
                                          <p:val>
                                            <p:strVal val="0-#ppt_w/2"/>
                                          </p:val>
                                        </p:tav>
                                        <p:tav tm="100000">
                                          <p:val>
                                            <p:strVal val="#ppt_x"/>
                                          </p:val>
                                        </p:tav>
                                      </p:tavLst>
                                    </p:anim>
                                    <p:anim calcmode="lin" valueType="num">
                                      <p:cBhvr>
                                        <p:cTn id="14" dur="1000" fill="hold"/>
                                        <p:tgtEl>
                                          <p:spTgt spid="364"/>
                                        </p:tgtEl>
                                        <p:attrNameLst>
                                          <p:attrName>ppt_y</p:attrName>
                                        </p:attrNameLst>
                                      </p:cBhvr>
                                      <p:tavLst>
                                        <p:tav tm="0">
                                          <p:val>
                                            <p:strVal val="#ppt_y"/>
                                          </p:val>
                                        </p:tav>
                                        <p:tav tm="100000">
                                          <p:val>
                                            <p:strVal val="#ppt_y"/>
                                          </p:val>
                                        </p:tav>
                                      </p:tavLst>
                                    </p:anim>
                                  </p:childTnLst>
                                </p:cTn>
                              </p:par>
                            </p:childTnLst>
                          </p:cTn>
                        </p:par>
                        <p:par>
                          <p:cTn id="15" fill="hold">
                            <p:stCondLst>
                              <p:cond delay="1000"/>
                            </p:stCondLst>
                            <p:childTnLst>
                              <p:par>
                                <p:cTn id="16" presetClass="entr" nodeType="afterEffect" presetSubtype="8" presetID="2" grpId="3" fill="hold">
                                  <p:stCondLst>
                                    <p:cond delay="0"/>
                                  </p:stCondLst>
                                  <p:iterate type="el" backwards="0">
                                    <p:tmAbs val="0"/>
                                  </p:iterate>
                                  <p:childTnLst>
                                    <p:set>
                                      <p:cBhvr>
                                        <p:cTn id="17" fill="hold"/>
                                        <p:tgtEl>
                                          <p:spTgt spid="365"/>
                                        </p:tgtEl>
                                        <p:attrNameLst>
                                          <p:attrName>style.visibility</p:attrName>
                                        </p:attrNameLst>
                                      </p:cBhvr>
                                      <p:to>
                                        <p:strVal val="visible"/>
                                      </p:to>
                                    </p:set>
                                    <p:anim calcmode="lin" valueType="num">
                                      <p:cBhvr>
                                        <p:cTn id="18" dur="1000" fill="hold"/>
                                        <p:tgtEl>
                                          <p:spTgt spid="365"/>
                                        </p:tgtEl>
                                        <p:attrNameLst>
                                          <p:attrName>ppt_x</p:attrName>
                                        </p:attrNameLst>
                                      </p:cBhvr>
                                      <p:tavLst>
                                        <p:tav tm="0">
                                          <p:val>
                                            <p:strVal val="0-#ppt_w/2"/>
                                          </p:val>
                                        </p:tav>
                                        <p:tav tm="100000">
                                          <p:val>
                                            <p:strVal val="#ppt_x"/>
                                          </p:val>
                                        </p:tav>
                                      </p:tavLst>
                                    </p:anim>
                                    <p:anim calcmode="lin" valueType="num">
                                      <p:cBhvr>
                                        <p:cTn id="19" dur="1000" fill="hold"/>
                                        <p:tgtEl>
                                          <p:spTgt spid="36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63" grpId="1"/>
      <p:bldP build="whole" bldLvl="1" animBg="1" rev="0" advAuto="0" spid="364" grpId="2"/>
      <p:bldP build="whole" bldLvl="1" animBg="1" rev="0" advAuto="0" spid="365" grpId="3"/>
    </p:bldLst>
  </p:timing>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7"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368" name="Așa va arăta setul de date acum:"/>
          <p:cNvSpPr txBox="1"/>
          <p:nvPr/>
        </p:nvSpPr>
        <p:spPr>
          <a:xfrm>
            <a:off x="1221536" y="999129"/>
            <a:ext cx="7286499"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latin typeface="Canela Regular"/>
                <a:ea typeface="Canela Regular"/>
                <a:cs typeface="Canela Regular"/>
                <a:sym typeface="Canela Regular"/>
              </a:defRPr>
            </a:lvl1pPr>
          </a:lstStyle>
          <a:p>
            <a:pPr/>
            <a:r>
              <a:t>Așa va arăta setul de date acum:</a:t>
            </a:r>
          </a:p>
        </p:txBody>
      </p:sp>
      <p:graphicFrame>
        <p:nvGraphicFramePr>
          <p:cNvPr id="369" name="Tabelul 1-1"/>
          <p:cNvGraphicFramePr/>
          <p:nvPr/>
        </p:nvGraphicFramePr>
        <p:xfrm>
          <a:off x="15434363" y="1157926"/>
          <a:ext cx="15435026" cy="5419039"/>
        </p:xfrm>
        <a:graphic xmlns:a="http://schemas.openxmlformats.org/drawingml/2006/main">
          <a:graphicData uri="http://schemas.openxmlformats.org/drawingml/2006/table">
            <a:tbl>
              <a:tblPr firstCol="0" firstRow="1" lastCol="0" lastRow="0" bandCol="0" bandRow="1" rtl="0">
                <a:tableStyleId>{4C3C2611-4C71-4FC5-86AE-919BDF0F9419}</a:tableStyleId>
              </a:tblPr>
              <a:tblGrid>
                <a:gridCol w="1905000"/>
                <a:gridCol w="1905000"/>
                <a:gridCol w="1905000"/>
              </a:tblGrid>
              <a:tr h="860806">
                <a:tc>
                  <a:txBody>
                    <a:bodyPr/>
                    <a:lstStyle/>
                    <a:p>
                      <a:pPr indent="457200">
                        <a:defRPr b="0" sz="1800">
                          <a:solidFill>
                            <a:srgbClr val="000000"/>
                          </a:solidFill>
                        </a:defRPr>
                      </a:pPr>
                      <a:r>
                        <a:rPr sz="2200">
                          <a:solidFill>
                            <a:srgbClr val="FFFFFF"/>
                          </a:solidFill>
                          <a:latin typeface="Canela Text Regular"/>
                          <a:ea typeface="Canela Text Regular"/>
                          <a:cs typeface="Canela Text Regular"/>
                          <a:sym typeface="Canela Text Regular"/>
                        </a:rPr>
                        <a:t>[1] PC1</a:t>
                      </a:r>
                    </a:p>
                  </a:txBody>
                  <a:tcPr marL="0" marR="0" marT="0" marB="0" anchor="ctr" anchorCtr="0" horzOverflow="overflow"/>
                </a:tc>
                <a:tc>
                  <a:txBody>
                    <a:bodyPr/>
                    <a:lstStyle/>
                    <a:p>
                      <a:pPr indent="457200">
                        <a:defRPr b="0" sz="1800">
                          <a:solidFill>
                            <a:srgbClr val="000000"/>
                          </a:solidFill>
                        </a:defRPr>
                      </a:pPr>
                      <a:r>
                        <a:rPr sz="2200">
                          <a:solidFill>
                            <a:srgbClr val="FFFFFF"/>
                          </a:solidFill>
                          <a:latin typeface="Canela Text Regular"/>
                          <a:ea typeface="Canela Text Regular"/>
                          <a:cs typeface="Canela Text Regular"/>
                          <a:sym typeface="Canela Text Regular"/>
                        </a:rPr>
                        <a:t>[2] PC2</a:t>
                      </a:r>
                    </a:p>
                  </a:txBody>
                  <a:tcPr marL="0" marR="0" marT="0" marB="0" anchor="ctr" anchorCtr="0" horzOverflow="overflow"/>
                </a:tc>
                <a:tc>
                  <a:txBody>
                    <a:bodyPr/>
                    <a:lstStyle/>
                    <a:p>
                      <a:pPr indent="457200">
                        <a:defRPr b="0" sz="1800">
                          <a:solidFill>
                            <a:srgbClr val="000000"/>
                          </a:solidFill>
                        </a:defRPr>
                      </a:pPr>
                      <a:r>
                        <a:rPr sz="2200">
                          <a:solidFill>
                            <a:srgbClr val="FFFFFF"/>
                          </a:solidFill>
                          <a:latin typeface="Canela Text Regular"/>
                          <a:ea typeface="Canela Text Regular"/>
                          <a:cs typeface="Canela Text Regular"/>
                          <a:sym typeface="Canela Text Regular"/>
                        </a:rPr>
                        <a:t>Risc</a:t>
                      </a:r>
                    </a:p>
                  </a:txBody>
                  <a:tcPr marL="0" marR="0" marT="0" marB="0" anchor="ctr" anchorCtr="0" horzOverflow="overflow">
                    <a:solidFill>
                      <a:schemeClr val="accent5"/>
                    </a:solidFill>
                  </a:tcPr>
                </a:tc>
              </a:tr>
              <a:tr h="441706">
                <a:tc>
                  <a:txBody>
                    <a:bodyPr/>
                    <a:lstStyle/>
                    <a:p>
                      <a:pPr indent="457200">
                        <a:defRPr b="0" sz="1800"/>
                      </a:pPr>
                      <a:r>
                        <a:rPr sz="2200">
                          <a:latin typeface="Canela Text Regular"/>
                          <a:ea typeface="Canela Text Regular"/>
                          <a:cs typeface="Canela Text Regular"/>
                          <a:sym typeface="Canela Text Regular"/>
                        </a:rPr>
                        <a:t>-1</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3</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0</a:t>
                      </a:r>
                    </a:p>
                  </a:txBody>
                  <a:tcPr marL="0" marR="0" marT="0" marB="0" anchor="ctr" anchorCtr="0" horzOverflow="overflow"/>
                </a:tc>
              </a:tr>
              <a:tr h="429006">
                <a:tc>
                  <a:txBody>
                    <a:bodyPr/>
                    <a:lstStyle/>
                    <a:p>
                      <a:pPr indent="457200">
                        <a:defRPr b="0" sz="1800"/>
                      </a:pPr>
                      <a:r>
                        <a:rPr sz="2200">
                          <a:latin typeface="Canela Text Regular"/>
                          <a:ea typeface="Canela Text Regular"/>
                          <a:cs typeface="Canela Text Regular"/>
                          <a:sym typeface="Canela Text Regular"/>
                        </a:rPr>
                        <a:t>2</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4</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1</a:t>
                      </a:r>
                    </a:p>
                  </a:txBody>
                  <a:tcPr marL="0" marR="0" marT="0" marB="0" anchor="ctr" anchorCtr="0" horzOverflow="overflow"/>
                </a:tc>
              </a:tr>
              <a:tr h="1081267">
                <a:tc>
                  <a:txBody>
                    <a:bodyPr/>
                    <a:lstStyle/>
                    <a:p>
                      <a:pPr indent="457200">
                        <a:defRPr b="0" sz="1800"/>
                      </a:pPr>
                      <a:r>
                        <a:rPr sz="2200">
                          <a:latin typeface="Canela Text Regular"/>
                          <a:ea typeface="Canela Text Regular"/>
                          <a:cs typeface="Canela Text Regular"/>
                          <a:sym typeface="Canela Text Regular"/>
                        </a:rPr>
                        <a:t>3</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2</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2</a:t>
                      </a:r>
                    </a:p>
                  </a:txBody>
                  <a:tcPr marL="0" marR="0" marT="0" marB="0" anchor="ctr" anchorCtr="0" horzOverflow="overflow"/>
                </a:tc>
              </a:tr>
              <a:tr h="1081267">
                <a:tc>
                  <a:txBody>
                    <a:bodyPr/>
                    <a:lstStyle/>
                    <a:p>
                      <a:pPr indent="457200">
                        <a:defRPr b="0" sz="1800"/>
                      </a:pPr>
                      <a:r>
                        <a:rPr sz="2200">
                          <a:latin typeface="Canela Text Regular"/>
                          <a:ea typeface="Canela Text Regular"/>
                          <a:cs typeface="Canela Text Regular"/>
                          <a:sym typeface="Canela Text Regular"/>
                        </a:rPr>
                        <a:t>…</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a:t>
                      </a:r>
                    </a:p>
                  </a:txBody>
                  <a:tcPr marL="0" marR="0" marT="0" marB="0" anchor="ctr" anchorCtr="0" horzOverflow="overflow"/>
                </a:tc>
                <a:tc>
                  <a:txBody>
                    <a:bodyPr/>
                    <a:lstStyle/>
                    <a:p>
                      <a:pPr indent="457200">
                        <a:defRPr b="0" sz="1800"/>
                      </a:pPr>
                      <a:r>
                        <a:rPr sz="2200">
                          <a:latin typeface="Canela Text Regular"/>
                          <a:ea typeface="Canela Text Regular"/>
                          <a:cs typeface="Canela Text Regular"/>
                          <a:sym typeface="Canela Text Regular"/>
                        </a:rPr>
                        <a:t>…</a:t>
                      </a:r>
                    </a:p>
                  </a:txBody>
                  <a:tcPr marL="0" marR="0" marT="0" marB="0" anchor="ctr" anchorCtr="0" horzOverflow="overflow"/>
                </a:tc>
              </a:tr>
            </a:tbl>
          </a:graphicData>
        </a:graphic>
      </p:graphicFrame>
      <p:pic>
        <p:nvPicPr>
          <p:cNvPr id="370" name="Captură de ecran din 2024-10-27 la 22.30.20.png" descr="Captură de ecran din 2024-10-27 la 22.30.20.png"/>
          <p:cNvPicPr>
            <a:picLocks noChangeAspect="1"/>
          </p:cNvPicPr>
          <p:nvPr/>
        </p:nvPicPr>
        <p:blipFill>
          <a:blip r:embed="rId2">
            <a:extLst/>
          </a:blip>
          <a:stretch>
            <a:fillRect/>
          </a:stretch>
        </p:blipFill>
        <p:spPr>
          <a:xfrm>
            <a:off x="1019297" y="2412884"/>
            <a:ext cx="12251110" cy="9600087"/>
          </a:xfrm>
          <a:prstGeom prst="rect">
            <a:avLst/>
          </a:prstGeom>
          <a:ln w="12700">
            <a:miter lim="400000"/>
          </a:ln>
        </p:spPr>
      </p:pic>
      <p:sp>
        <p:nvSpPr>
          <p:cNvPr id="371" name="- Acum putem observa ușor cum arată datele"/>
          <p:cNvSpPr txBox="1"/>
          <p:nvPr/>
        </p:nvSpPr>
        <p:spPr>
          <a:xfrm>
            <a:off x="14157555" y="6368352"/>
            <a:ext cx="9416244" cy="168915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a:latin typeface="Canela Regular"/>
                <a:ea typeface="Canela Regular"/>
                <a:cs typeface="Canela Regular"/>
                <a:sym typeface="Canela Regular"/>
              </a:defRPr>
            </a:lvl1pPr>
          </a:lstStyle>
          <a:p>
            <a:pPr/>
            <a:r>
              <a:t>- Acum putem observa ușor cum arată datele</a:t>
            </a:r>
          </a:p>
        </p:txBody>
      </p:sp>
      <p:sp>
        <p:nvSpPr>
          <p:cNvPr id="372" name="- Ne putem da seama că pentru clasificare putem aplica un algoritm gen K-Nearest Neighbours sau SVM"/>
          <p:cNvSpPr txBox="1"/>
          <p:nvPr/>
        </p:nvSpPr>
        <p:spPr>
          <a:xfrm>
            <a:off x="14157555" y="8031112"/>
            <a:ext cx="9416244" cy="244409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a:latin typeface="Canela Regular"/>
                <a:ea typeface="Canela Regular"/>
                <a:cs typeface="Canela Regular"/>
                <a:sym typeface="Canela Regular"/>
              </a:defRPr>
            </a:lvl1pPr>
          </a:lstStyle>
          <a:p>
            <a:pPr/>
            <a:r>
              <a:t>- Ne putem da seama că pentru clasificare putem aplica un algoritm gen K-Nearest Neighbours sau SVM </a:t>
            </a:r>
          </a:p>
        </p:txBody>
      </p:sp>
      <p:pic>
        <p:nvPicPr>
          <p:cNvPr id="373" name="Oval Oval" descr="Oval Oval"/>
          <p:cNvPicPr>
            <a:picLocks noChangeAspect="0"/>
          </p:cNvPicPr>
          <p:nvPr/>
        </p:nvPicPr>
        <p:blipFill>
          <a:blip r:embed="rId3">
            <a:extLst/>
          </a:blip>
          <a:stretch>
            <a:fillRect/>
          </a:stretch>
        </p:blipFill>
        <p:spPr>
          <a:xfrm>
            <a:off x="3629513" y="6367505"/>
            <a:ext cx="3152210" cy="3129889"/>
          </a:xfrm>
          <a:prstGeom prst="rect">
            <a:avLst/>
          </a:prstGeom>
        </p:spPr>
      </p:pic>
      <p:pic>
        <p:nvPicPr>
          <p:cNvPr id="375" name="Oval Oval" descr="Oval Oval"/>
          <p:cNvPicPr>
            <a:picLocks noChangeAspect="0"/>
          </p:cNvPicPr>
          <p:nvPr/>
        </p:nvPicPr>
        <p:blipFill>
          <a:blip r:embed="rId3">
            <a:extLst/>
          </a:blip>
          <a:stretch>
            <a:fillRect/>
          </a:stretch>
        </p:blipFill>
        <p:spPr>
          <a:xfrm>
            <a:off x="7526211" y="6018332"/>
            <a:ext cx="3152211" cy="3129890"/>
          </a:xfrm>
          <a:prstGeom prst="rect">
            <a:avLst/>
          </a:prstGeom>
        </p:spPr>
      </p:pic>
      <p:pic>
        <p:nvPicPr>
          <p:cNvPr id="377" name="Oval Oval" descr="Oval Oval"/>
          <p:cNvPicPr>
            <a:picLocks noChangeAspect="0"/>
          </p:cNvPicPr>
          <p:nvPr/>
        </p:nvPicPr>
        <p:blipFill>
          <a:blip r:embed="rId4">
            <a:extLst/>
          </a:blip>
          <a:stretch>
            <a:fillRect/>
          </a:stretch>
        </p:blipFill>
        <p:spPr>
          <a:xfrm>
            <a:off x="9212656" y="3458905"/>
            <a:ext cx="2864987" cy="2547927"/>
          </a:xfrm>
          <a:prstGeom prst="rect">
            <a:avLst/>
          </a:prstGeom>
        </p:spPr>
      </p:pic>
      <p:sp>
        <p:nvSpPr>
          <p:cNvPr id="379" name="- Grupurile observate nu erau vizibile în spații mai mari"/>
          <p:cNvSpPr txBox="1"/>
          <p:nvPr/>
        </p:nvSpPr>
        <p:spPr>
          <a:xfrm>
            <a:off x="14157555" y="10369449"/>
            <a:ext cx="9416244" cy="168915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a:latin typeface="Canela Regular"/>
                <a:ea typeface="Canela Regular"/>
                <a:cs typeface="Canela Regular"/>
                <a:sym typeface="Canela Regular"/>
              </a:defRPr>
            </a:lvl1pPr>
          </a:lstStyle>
          <a:p>
            <a:pPr/>
            <a:r>
              <a:t>- Grupurile observate nu erau vizibile în spații mai mari</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ID="10" grpId="1" fill="hold">
                                  <p:stCondLst>
                                    <p:cond delay="0"/>
                                  </p:stCondLst>
                                  <p:iterate type="el" backwards="0">
                                    <p:tmAbs val="0"/>
                                  </p:iterate>
                                  <p:childTnLst>
                                    <p:set>
                                      <p:cBhvr>
                                        <p:cTn id="6" fill="hold"/>
                                        <p:tgtEl>
                                          <p:spTgt spid="370"/>
                                        </p:tgtEl>
                                        <p:attrNameLst>
                                          <p:attrName>style.visibility</p:attrName>
                                        </p:attrNameLst>
                                      </p:cBhvr>
                                      <p:to>
                                        <p:strVal val="visible"/>
                                      </p:to>
                                    </p:set>
                                    <p:animEffect filter="fade" transition="in">
                                      <p:cBhvr>
                                        <p:cTn id="7" dur="1000"/>
                                        <p:tgtEl>
                                          <p:spTgt spid="370"/>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Subtype="8" presetID="2" grpId="2" fill="hold">
                                  <p:stCondLst>
                                    <p:cond delay="0"/>
                                  </p:stCondLst>
                                  <p:iterate type="el" backwards="0">
                                    <p:tmAbs val="0"/>
                                  </p:iterate>
                                  <p:childTnLst>
                                    <p:set>
                                      <p:cBhvr>
                                        <p:cTn id="11" fill="hold"/>
                                        <p:tgtEl>
                                          <p:spTgt spid="371"/>
                                        </p:tgtEl>
                                        <p:attrNameLst>
                                          <p:attrName>style.visibility</p:attrName>
                                        </p:attrNameLst>
                                      </p:cBhvr>
                                      <p:to>
                                        <p:strVal val="visible"/>
                                      </p:to>
                                    </p:set>
                                    <p:anim calcmode="lin" valueType="num">
                                      <p:cBhvr>
                                        <p:cTn id="12" dur="1000" fill="hold"/>
                                        <p:tgtEl>
                                          <p:spTgt spid="371"/>
                                        </p:tgtEl>
                                        <p:attrNameLst>
                                          <p:attrName>ppt_x</p:attrName>
                                        </p:attrNameLst>
                                      </p:cBhvr>
                                      <p:tavLst>
                                        <p:tav tm="0">
                                          <p:val>
                                            <p:strVal val="0-#ppt_w/2"/>
                                          </p:val>
                                        </p:tav>
                                        <p:tav tm="100000">
                                          <p:val>
                                            <p:strVal val="#ppt_x"/>
                                          </p:val>
                                        </p:tav>
                                      </p:tavLst>
                                    </p:anim>
                                    <p:anim calcmode="lin" valueType="num">
                                      <p:cBhvr>
                                        <p:cTn id="13" dur="1000" fill="hold"/>
                                        <p:tgtEl>
                                          <p:spTgt spid="371"/>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Class="entr" nodeType="clickEffect" presetSubtype="8" presetID="2" grpId="3" fill="hold">
                                  <p:stCondLst>
                                    <p:cond delay="0"/>
                                  </p:stCondLst>
                                  <p:iterate type="el" backwards="0">
                                    <p:tmAbs val="0"/>
                                  </p:iterate>
                                  <p:childTnLst>
                                    <p:set>
                                      <p:cBhvr>
                                        <p:cTn id="17" fill="hold"/>
                                        <p:tgtEl>
                                          <p:spTgt spid="372"/>
                                        </p:tgtEl>
                                        <p:attrNameLst>
                                          <p:attrName>style.visibility</p:attrName>
                                        </p:attrNameLst>
                                      </p:cBhvr>
                                      <p:to>
                                        <p:strVal val="visible"/>
                                      </p:to>
                                    </p:set>
                                    <p:anim calcmode="lin" valueType="num">
                                      <p:cBhvr>
                                        <p:cTn id="18" dur="1000" fill="hold"/>
                                        <p:tgtEl>
                                          <p:spTgt spid="372"/>
                                        </p:tgtEl>
                                        <p:attrNameLst>
                                          <p:attrName>ppt_x</p:attrName>
                                        </p:attrNameLst>
                                      </p:cBhvr>
                                      <p:tavLst>
                                        <p:tav tm="0">
                                          <p:val>
                                            <p:strVal val="0-#ppt_w/2"/>
                                          </p:val>
                                        </p:tav>
                                        <p:tav tm="100000">
                                          <p:val>
                                            <p:strVal val="#ppt_x"/>
                                          </p:val>
                                        </p:tav>
                                      </p:tavLst>
                                    </p:anim>
                                    <p:anim calcmode="lin" valueType="num">
                                      <p:cBhvr>
                                        <p:cTn id="19" dur="1000" fill="hold"/>
                                        <p:tgtEl>
                                          <p:spTgt spid="372"/>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Class="entr" nodeType="clickEffect" presetID="9" grpId="4" fill="hold">
                                  <p:stCondLst>
                                    <p:cond delay="0"/>
                                  </p:stCondLst>
                                  <p:iterate type="el" backwards="0">
                                    <p:tmAbs val="0"/>
                                  </p:iterate>
                                  <p:childTnLst>
                                    <p:set>
                                      <p:cBhvr>
                                        <p:cTn id="23" fill="hold"/>
                                        <p:tgtEl>
                                          <p:spTgt spid="373"/>
                                        </p:tgtEl>
                                        <p:attrNameLst>
                                          <p:attrName>style.visibility</p:attrName>
                                        </p:attrNameLst>
                                      </p:cBhvr>
                                      <p:to>
                                        <p:strVal val="visible"/>
                                      </p:to>
                                    </p:set>
                                    <p:animEffect filter="dissolve" transition="in">
                                      <p:cBhvr>
                                        <p:cTn id="24" dur="2000"/>
                                        <p:tgtEl>
                                          <p:spTgt spid="373"/>
                                        </p:tgtEl>
                                      </p:cBhvr>
                                    </p:animEffect>
                                  </p:childTnLst>
                                </p:cTn>
                              </p:par>
                            </p:childTnLst>
                          </p:cTn>
                        </p:par>
                        <p:par>
                          <p:cTn id="25" fill="hold">
                            <p:stCondLst>
                              <p:cond delay="2000"/>
                            </p:stCondLst>
                            <p:childTnLst>
                              <p:par>
                                <p:cTn id="26" presetClass="entr" nodeType="afterEffect" presetID="9" grpId="5" fill="hold">
                                  <p:stCondLst>
                                    <p:cond delay="0"/>
                                  </p:stCondLst>
                                  <p:iterate type="el" backwards="0">
                                    <p:tmAbs val="0"/>
                                  </p:iterate>
                                  <p:childTnLst>
                                    <p:set>
                                      <p:cBhvr>
                                        <p:cTn id="27" fill="hold"/>
                                        <p:tgtEl>
                                          <p:spTgt spid="375"/>
                                        </p:tgtEl>
                                        <p:attrNameLst>
                                          <p:attrName>style.visibility</p:attrName>
                                        </p:attrNameLst>
                                      </p:cBhvr>
                                      <p:to>
                                        <p:strVal val="visible"/>
                                      </p:to>
                                    </p:set>
                                    <p:animEffect filter="dissolve" transition="in">
                                      <p:cBhvr>
                                        <p:cTn id="28" dur="2000"/>
                                        <p:tgtEl>
                                          <p:spTgt spid="375"/>
                                        </p:tgtEl>
                                      </p:cBhvr>
                                    </p:animEffect>
                                  </p:childTnLst>
                                </p:cTn>
                              </p:par>
                            </p:childTnLst>
                          </p:cTn>
                        </p:par>
                        <p:par>
                          <p:cTn id="29" fill="hold">
                            <p:stCondLst>
                              <p:cond delay="4000"/>
                            </p:stCondLst>
                            <p:childTnLst>
                              <p:par>
                                <p:cTn id="30" presetClass="entr" nodeType="afterEffect" presetID="9" grpId="6" fill="hold">
                                  <p:stCondLst>
                                    <p:cond delay="0"/>
                                  </p:stCondLst>
                                  <p:iterate type="el" backwards="0">
                                    <p:tmAbs val="0"/>
                                  </p:iterate>
                                  <p:childTnLst>
                                    <p:set>
                                      <p:cBhvr>
                                        <p:cTn id="31" fill="hold"/>
                                        <p:tgtEl>
                                          <p:spTgt spid="377"/>
                                        </p:tgtEl>
                                        <p:attrNameLst>
                                          <p:attrName>style.visibility</p:attrName>
                                        </p:attrNameLst>
                                      </p:cBhvr>
                                      <p:to>
                                        <p:strVal val="visible"/>
                                      </p:to>
                                    </p:set>
                                    <p:animEffect filter="dissolve" transition="in">
                                      <p:cBhvr>
                                        <p:cTn id="32" dur="2000"/>
                                        <p:tgtEl>
                                          <p:spTgt spid="377"/>
                                        </p:tgtEl>
                                      </p:cBhvr>
                                    </p:animEffect>
                                  </p:childTnLst>
                                </p:cTn>
                              </p:par>
                            </p:childTnLst>
                          </p:cTn>
                        </p:par>
                        <p:par>
                          <p:cTn id="33" fill="hold">
                            <p:stCondLst>
                              <p:cond delay="6000"/>
                            </p:stCondLst>
                            <p:childTnLst>
                              <p:par>
                                <p:cTn id="34" presetClass="entr" nodeType="afterEffect" presetSubtype="8" presetID="2" grpId="7" fill="hold">
                                  <p:stCondLst>
                                    <p:cond delay="0"/>
                                  </p:stCondLst>
                                  <p:iterate type="el" backwards="0">
                                    <p:tmAbs val="0"/>
                                  </p:iterate>
                                  <p:childTnLst>
                                    <p:set>
                                      <p:cBhvr>
                                        <p:cTn id="35" fill="hold"/>
                                        <p:tgtEl>
                                          <p:spTgt spid="379"/>
                                        </p:tgtEl>
                                        <p:attrNameLst>
                                          <p:attrName>style.visibility</p:attrName>
                                        </p:attrNameLst>
                                      </p:cBhvr>
                                      <p:to>
                                        <p:strVal val="visible"/>
                                      </p:to>
                                    </p:set>
                                    <p:anim calcmode="lin" valueType="num">
                                      <p:cBhvr>
                                        <p:cTn id="36" dur="1000" fill="hold"/>
                                        <p:tgtEl>
                                          <p:spTgt spid="379"/>
                                        </p:tgtEl>
                                        <p:attrNameLst>
                                          <p:attrName>ppt_x</p:attrName>
                                        </p:attrNameLst>
                                      </p:cBhvr>
                                      <p:tavLst>
                                        <p:tav tm="0">
                                          <p:val>
                                            <p:strVal val="0-#ppt_w/2"/>
                                          </p:val>
                                        </p:tav>
                                        <p:tav tm="100000">
                                          <p:val>
                                            <p:strVal val="#ppt_x"/>
                                          </p:val>
                                        </p:tav>
                                      </p:tavLst>
                                    </p:anim>
                                    <p:anim calcmode="lin" valueType="num">
                                      <p:cBhvr>
                                        <p:cTn id="37" dur="1000" fill="hold"/>
                                        <p:tgtEl>
                                          <p:spTgt spid="37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77" grpId="6"/>
      <p:bldP build="whole" bldLvl="1" animBg="1" rev="0" advAuto="0" spid="375" grpId="5"/>
      <p:bldP build="whole" bldLvl="1" animBg="1" rev="0" advAuto="0" spid="371" grpId="2"/>
      <p:bldP build="whole" bldLvl="1" animBg="1" rev="0" advAuto="0" spid="379" grpId="7"/>
      <p:bldP build="whole" bldLvl="1" animBg="1" rev="0" advAuto="0" spid="370" grpId="1"/>
      <p:bldP build="whole" bldLvl="1" animBg="1" rev="0" advAuto="0" spid="373" grpId="4"/>
      <p:bldP build="whole" bldLvl="1" animBg="1" rev="0" advAuto="0" spid="372" grpId="3"/>
    </p:bldLst>
  </p:timing>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81"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382" name="- Grupurile observate nu erau vizibile în spații mai mari"/>
          <p:cNvSpPr txBox="1"/>
          <p:nvPr/>
        </p:nvSpPr>
        <p:spPr>
          <a:xfrm>
            <a:off x="7483878" y="1222969"/>
            <a:ext cx="9416244" cy="168915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a:latin typeface="Canela Regular"/>
                <a:ea typeface="Canela Regular"/>
                <a:cs typeface="Canela Regular"/>
                <a:sym typeface="Canela Regular"/>
              </a:defRPr>
            </a:lvl1pPr>
          </a:lstStyle>
          <a:p>
            <a:pPr/>
            <a:r>
              <a:t>- Grupurile observate nu erau vizibile în spații mai mari</a:t>
            </a:r>
          </a:p>
        </p:txBody>
      </p:sp>
      <p:sp>
        <p:nvSpPr>
          <p:cNvPr id="383" name="În general, sunt două tipuri mari și late:"/>
          <p:cNvSpPr txBox="1"/>
          <p:nvPr>
            <p:ph type="body" sz="quarter" idx="1"/>
          </p:nvPr>
        </p:nvSpPr>
        <p:spPr>
          <a:xfrm>
            <a:off x="338246" y="4425998"/>
            <a:ext cx="23045001" cy="2006602"/>
          </a:xfrm>
          <a:prstGeom prst="rect">
            <a:avLst/>
          </a:prstGeom>
        </p:spPr>
        <p:txBody>
          <a:bodyPr/>
          <a:lstStyle/>
          <a:p>
            <a:pPr/>
            <a:r>
              <a:t>Țineți minte că cu cât creștem numărul de features, cu atât riscăm să izolăm puncte în noul spațiu</a:t>
            </a:r>
          </a:p>
        </p:txBody>
      </p:sp>
      <p:sp>
        <p:nvSpPr>
          <p:cNvPr id="384" name="În general, sunt două tipuri mari și late:"/>
          <p:cNvSpPr txBox="1"/>
          <p:nvPr/>
        </p:nvSpPr>
        <p:spPr>
          <a:xfrm>
            <a:off x="338246" y="6219602"/>
            <a:ext cx="23045001" cy="200660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Astfel că atunci când scădem numărul de features, ajungem într-un spațiu mai mic unde punctele sunt mai împreunate</a:t>
            </a:r>
          </a:p>
        </p:txBody>
      </p:sp>
      <p:sp>
        <p:nvSpPr>
          <p:cNvPr id="385" name="În general, sunt două tipuri mari și late:"/>
          <p:cNvSpPr txBox="1"/>
          <p:nvPr/>
        </p:nvSpPr>
        <p:spPr>
          <a:xfrm>
            <a:off x="338246" y="8249856"/>
            <a:ext cx="23045001" cy="200660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Astfel ne poate fi mai ușor să găsim tipare sau reguli în date</a:t>
            </a:r>
          </a:p>
        </p:txBody>
      </p:sp>
      <p:pic>
        <p:nvPicPr>
          <p:cNvPr id="386" name="Linie Linie" descr="Linie Linie"/>
          <p:cNvPicPr>
            <a:picLocks noChangeAspect="0"/>
          </p:cNvPicPr>
          <p:nvPr/>
        </p:nvPicPr>
        <p:blipFill>
          <a:blip r:embed="rId2">
            <a:extLst/>
          </a:blip>
          <a:stretch>
            <a:fillRect/>
          </a:stretch>
        </p:blipFill>
        <p:spPr>
          <a:xfrm>
            <a:off x="17518615" y="5180094"/>
            <a:ext cx="4579591" cy="101601"/>
          </a:xfrm>
          <a:prstGeom prst="rect">
            <a:avLst/>
          </a:prstGeom>
        </p:spPr>
      </p:pic>
      <p:pic>
        <p:nvPicPr>
          <p:cNvPr id="388" name="Linie Linie" descr="Linie Linie"/>
          <p:cNvPicPr>
            <a:picLocks noChangeAspect="0"/>
          </p:cNvPicPr>
          <p:nvPr/>
        </p:nvPicPr>
        <p:blipFill>
          <a:blip r:embed="rId2">
            <a:extLst/>
          </a:blip>
          <a:stretch>
            <a:fillRect/>
          </a:stretch>
        </p:blipFill>
        <p:spPr>
          <a:xfrm>
            <a:off x="4252526" y="7776525"/>
            <a:ext cx="4579590" cy="101601"/>
          </a:xfrm>
          <a:prstGeom prst="rect">
            <a:avLst/>
          </a:prstGeom>
        </p:spPr>
      </p:pic>
      <p:pic>
        <p:nvPicPr>
          <p:cNvPr id="390" name="Linie Linie" descr="Linie Linie"/>
          <p:cNvPicPr>
            <a:picLocks noChangeAspect="0"/>
          </p:cNvPicPr>
          <p:nvPr/>
        </p:nvPicPr>
        <p:blipFill>
          <a:blip r:embed="rId3">
            <a:extLst/>
          </a:blip>
          <a:stretch>
            <a:fillRect/>
          </a:stretch>
        </p:blipFill>
        <p:spPr>
          <a:xfrm>
            <a:off x="9748350" y="9164111"/>
            <a:ext cx="4224793" cy="10160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8" presetID="2" grpId="1" fill="hold">
                                  <p:stCondLst>
                                    <p:cond delay="0"/>
                                  </p:stCondLst>
                                  <p:iterate type="el" backwards="0">
                                    <p:tmAbs val="0"/>
                                  </p:iterate>
                                  <p:childTnLst>
                                    <p:set>
                                      <p:cBhvr>
                                        <p:cTn id="6" fill="hold"/>
                                        <p:tgtEl>
                                          <p:spTgt spid="383"/>
                                        </p:tgtEl>
                                        <p:attrNameLst>
                                          <p:attrName>style.visibility</p:attrName>
                                        </p:attrNameLst>
                                      </p:cBhvr>
                                      <p:to>
                                        <p:strVal val="visible"/>
                                      </p:to>
                                    </p:set>
                                    <p:anim calcmode="lin" valueType="num">
                                      <p:cBhvr>
                                        <p:cTn id="7" dur="1000" fill="hold"/>
                                        <p:tgtEl>
                                          <p:spTgt spid="383"/>
                                        </p:tgtEl>
                                        <p:attrNameLst>
                                          <p:attrName>ppt_x</p:attrName>
                                        </p:attrNameLst>
                                      </p:cBhvr>
                                      <p:tavLst>
                                        <p:tav tm="0">
                                          <p:val>
                                            <p:strVal val="0-#ppt_w/2"/>
                                          </p:val>
                                        </p:tav>
                                        <p:tav tm="100000">
                                          <p:val>
                                            <p:strVal val="#ppt_x"/>
                                          </p:val>
                                        </p:tav>
                                      </p:tavLst>
                                    </p:anim>
                                    <p:anim calcmode="lin" valueType="num">
                                      <p:cBhvr>
                                        <p:cTn id="8" dur="1000" fill="hold"/>
                                        <p:tgtEl>
                                          <p:spTgt spid="383"/>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Class="entr" nodeType="afterEffect" presetID="9" grpId="2" fill="hold">
                                  <p:stCondLst>
                                    <p:cond delay="0"/>
                                  </p:stCondLst>
                                  <p:iterate type="el" backwards="0">
                                    <p:tmAbs val="0"/>
                                  </p:iterate>
                                  <p:childTnLst>
                                    <p:set>
                                      <p:cBhvr>
                                        <p:cTn id="11" fill="hold"/>
                                        <p:tgtEl>
                                          <p:spTgt spid="386"/>
                                        </p:tgtEl>
                                        <p:attrNameLst>
                                          <p:attrName>style.visibility</p:attrName>
                                        </p:attrNameLst>
                                      </p:cBhvr>
                                      <p:to>
                                        <p:strVal val="visible"/>
                                      </p:to>
                                    </p:set>
                                    <p:animEffect filter="dissolve" transition="in">
                                      <p:cBhvr>
                                        <p:cTn id="12" dur="2000"/>
                                        <p:tgtEl>
                                          <p:spTgt spid="386"/>
                                        </p:tgtEl>
                                      </p:cBhvr>
                                    </p:animEffect>
                                  </p:childTnLst>
                                </p:cTn>
                              </p:par>
                            </p:childTnLst>
                          </p:cTn>
                        </p:par>
                      </p:childTnLst>
                    </p:cTn>
                  </p:par>
                  <p:par>
                    <p:cTn id="13" fill="hold">
                      <p:stCondLst>
                        <p:cond delay="indefinite"/>
                      </p:stCondLst>
                      <p:childTnLst>
                        <p:par>
                          <p:cTn id="14" fill="hold">
                            <p:stCondLst>
                              <p:cond delay="0"/>
                            </p:stCondLst>
                            <p:childTnLst>
                              <p:par>
                                <p:cTn id="15" presetClass="entr" nodeType="clickEffect" presetSubtype="8" presetID="2" grpId="3" fill="hold">
                                  <p:stCondLst>
                                    <p:cond delay="0"/>
                                  </p:stCondLst>
                                  <p:iterate type="el" backwards="0">
                                    <p:tmAbs val="0"/>
                                  </p:iterate>
                                  <p:childTnLst>
                                    <p:set>
                                      <p:cBhvr>
                                        <p:cTn id="16" fill="hold"/>
                                        <p:tgtEl>
                                          <p:spTgt spid="384"/>
                                        </p:tgtEl>
                                        <p:attrNameLst>
                                          <p:attrName>style.visibility</p:attrName>
                                        </p:attrNameLst>
                                      </p:cBhvr>
                                      <p:to>
                                        <p:strVal val="visible"/>
                                      </p:to>
                                    </p:set>
                                    <p:anim calcmode="lin" valueType="num">
                                      <p:cBhvr>
                                        <p:cTn id="17" dur="1000" fill="hold"/>
                                        <p:tgtEl>
                                          <p:spTgt spid="384"/>
                                        </p:tgtEl>
                                        <p:attrNameLst>
                                          <p:attrName>ppt_x</p:attrName>
                                        </p:attrNameLst>
                                      </p:cBhvr>
                                      <p:tavLst>
                                        <p:tav tm="0">
                                          <p:val>
                                            <p:strVal val="0-#ppt_w/2"/>
                                          </p:val>
                                        </p:tav>
                                        <p:tav tm="100000">
                                          <p:val>
                                            <p:strVal val="#ppt_x"/>
                                          </p:val>
                                        </p:tav>
                                      </p:tavLst>
                                    </p:anim>
                                    <p:anim calcmode="lin" valueType="num">
                                      <p:cBhvr>
                                        <p:cTn id="18" dur="1000" fill="hold"/>
                                        <p:tgtEl>
                                          <p:spTgt spid="384"/>
                                        </p:tgtEl>
                                        <p:attrNameLst>
                                          <p:attrName>ppt_y</p:attrName>
                                        </p:attrNameLst>
                                      </p:cBhvr>
                                      <p:tavLst>
                                        <p:tav tm="0">
                                          <p:val>
                                            <p:strVal val="#ppt_y"/>
                                          </p:val>
                                        </p:tav>
                                        <p:tav tm="100000">
                                          <p:val>
                                            <p:strVal val="#ppt_y"/>
                                          </p:val>
                                        </p:tav>
                                      </p:tavLst>
                                    </p:anim>
                                  </p:childTnLst>
                                </p:cTn>
                              </p:par>
                            </p:childTnLst>
                          </p:cTn>
                        </p:par>
                        <p:par>
                          <p:cTn id="19" fill="hold">
                            <p:stCondLst>
                              <p:cond delay="1000"/>
                            </p:stCondLst>
                            <p:childTnLst>
                              <p:par>
                                <p:cTn id="20" presetClass="entr" nodeType="afterEffect" presetID="9" grpId="4" fill="hold">
                                  <p:stCondLst>
                                    <p:cond delay="0"/>
                                  </p:stCondLst>
                                  <p:iterate type="el" backwards="0">
                                    <p:tmAbs val="0"/>
                                  </p:iterate>
                                  <p:childTnLst>
                                    <p:set>
                                      <p:cBhvr>
                                        <p:cTn id="21" fill="hold"/>
                                        <p:tgtEl>
                                          <p:spTgt spid="388"/>
                                        </p:tgtEl>
                                        <p:attrNameLst>
                                          <p:attrName>style.visibility</p:attrName>
                                        </p:attrNameLst>
                                      </p:cBhvr>
                                      <p:to>
                                        <p:strVal val="visible"/>
                                      </p:to>
                                    </p:set>
                                    <p:animEffect filter="dissolve" transition="in">
                                      <p:cBhvr>
                                        <p:cTn id="22" dur="2000"/>
                                        <p:tgtEl>
                                          <p:spTgt spid="388"/>
                                        </p:tgtEl>
                                      </p:cBhvr>
                                    </p:animEffect>
                                  </p:childTnLst>
                                </p:cTn>
                              </p:par>
                            </p:childTnLst>
                          </p:cTn>
                        </p:par>
                      </p:childTnLst>
                    </p:cTn>
                  </p:par>
                  <p:par>
                    <p:cTn id="23" fill="hold">
                      <p:stCondLst>
                        <p:cond delay="indefinite"/>
                      </p:stCondLst>
                      <p:childTnLst>
                        <p:par>
                          <p:cTn id="24" fill="hold">
                            <p:stCondLst>
                              <p:cond delay="0"/>
                            </p:stCondLst>
                            <p:childTnLst>
                              <p:par>
                                <p:cTn id="25" presetClass="entr" nodeType="clickEffect" presetSubtype="8" presetID="2" grpId="5" fill="hold">
                                  <p:stCondLst>
                                    <p:cond delay="0"/>
                                  </p:stCondLst>
                                  <p:iterate type="el" backwards="0">
                                    <p:tmAbs val="0"/>
                                  </p:iterate>
                                  <p:childTnLst>
                                    <p:set>
                                      <p:cBhvr>
                                        <p:cTn id="26" fill="hold"/>
                                        <p:tgtEl>
                                          <p:spTgt spid="385"/>
                                        </p:tgtEl>
                                        <p:attrNameLst>
                                          <p:attrName>style.visibility</p:attrName>
                                        </p:attrNameLst>
                                      </p:cBhvr>
                                      <p:to>
                                        <p:strVal val="visible"/>
                                      </p:to>
                                    </p:set>
                                    <p:anim calcmode="lin" valueType="num">
                                      <p:cBhvr>
                                        <p:cTn id="27" dur="1000" fill="hold"/>
                                        <p:tgtEl>
                                          <p:spTgt spid="385"/>
                                        </p:tgtEl>
                                        <p:attrNameLst>
                                          <p:attrName>ppt_x</p:attrName>
                                        </p:attrNameLst>
                                      </p:cBhvr>
                                      <p:tavLst>
                                        <p:tav tm="0">
                                          <p:val>
                                            <p:strVal val="0-#ppt_w/2"/>
                                          </p:val>
                                        </p:tav>
                                        <p:tav tm="100000">
                                          <p:val>
                                            <p:strVal val="#ppt_x"/>
                                          </p:val>
                                        </p:tav>
                                      </p:tavLst>
                                    </p:anim>
                                    <p:anim calcmode="lin" valueType="num">
                                      <p:cBhvr>
                                        <p:cTn id="28" dur="1000" fill="hold"/>
                                        <p:tgtEl>
                                          <p:spTgt spid="385"/>
                                        </p:tgtEl>
                                        <p:attrNameLst>
                                          <p:attrName>ppt_y</p:attrName>
                                        </p:attrNameLst>
                                      </p:cBhvr>
                                      <p:tavLst>
                                        <p:tav tm="0">
                                          <p:val>
                                            <p:strVal val="#ppt_y"/>
                                          </p:val>
                                        </p:tav>
                                        <p:tav tm="100000">
                                          <p:val>
                                            <p:strVal val="#ppt_y"/>
                                          </p:val>
                                        </p:tav>
                                      </p:tavLst>
                                    </p:anim>
                                  </p:childTnLst>
                                </p:cTn>
                              </p:par>
                            </p:childTnLst>
                          </p:cTn>
                        </p:par>
                        <p:par>
                          <p:cTn id="29" fill="hold">
                            <p:stCondLst>
                              <p:cond delay="1000"/>
                            </p:stCondLst>
                            <p:childTnLst>
                              <p:par>
                                <p:cTn id="30" presetClass="entr" nodeType="afterEffect" presetID="9" grpId="6" fill="hold">
                                  <p:stCondLst>
                                    <p:cond delay="0"/>
                                  </p:stCondLst>
                                  <p:iterate type="el" backwards="0">
                                    <p:tmAbs val="0"/>
                                  </p:iterate>
                                  <p:childTnLst>
                                    <p:set>
                                      <p:cBhvr>
                                        <p:cTn id="31" fill="hold"/>
                                        <p:tgtEl>
                                          <p:spTgt spid="390"/>
                                        </p:tgtEl>
                                        <p:attrNameLst>
                                          <p:attrName>style.visibility</p:attrName>
                                        </p:attrNameLst>
                                      </p:cBhvr>
                                      <p:to>
                                        <p:strVal val="visible"/>
                                      </p:to>
                                    </p:set>
                                    <p:animEffect filter="dissolve" transition="in">
                                      <p:cBhvr>
                                        <p:cTn id="32" dur="2000"/>
                                        <p:tgtEl>
                                          <p:spTgt spid="3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83" grpId="1"/>
      <p:bldP build="whole" bldLvl="1" animBg="1" rev="0" advAuto="0" spid="386" grpId="2"/>
      <p:bldP build="whole" bldLvl="1" animBg="1" rev="0" advAuto="0" spid="388" grpId="4"/>
      <p:bldP build="whole" bldLvl="1" animBg="1" rev="0" advAuto="0" spid="384" grpId="3"/>
      <p:bldP build="whole" bldLvl="1" animBg="1" rev="0" advAuto="0" spid="385" grpId="5"/>
      <p:bldP build="whole" bldLvl="1" animBg="1" rev="0" advAuto="0" spid="390" grpId="6"/>
    </p:bldLst>
  </p:timing>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3"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394" name="Supervizate"/>
          <p:cNvSpPr txBox="1"/>
          <p:nvPr/>
        </p:nvSpPr>
        <p:spPr>
          <a:xfrm>
            <a:off x="4215928" y="181241"/>
            <a:ext cx="19507707" cy="172910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8500">
                <a:latin typeface="Canela Text Regular"/>
                <a:ea typeface="Canela Text Regular"/>
                <a:cs typeface="Canela Text Regular"/>
                <a:sym typeface="Canela Text Regular"/>
              </a:defRPr>
            </a:lvl1pPr>
          </a:lstStyle>
          <a:p>
            <a:pPr/>
            <a:r>
              <a:t>Principal Component Analysis</a:t>
            </a:r>
          </a:p>
        </p:txBody>
      </p:sp>
      <p:pic>
        <p:nvPicPr>
          <p:cNvPr id="395" name="Captură de ecran din 2024-10-27 la 22.56.03.png" descr="Captură de ecran din 2024-10-27 la 22.56.03.png"/>
          <p:cNvPicPr>
            <a:picLocks noChangeAspect="1"/>
          </p:cNvPicPr>
          <p:nvPr/>
        </p:nvPicPr>
        <p:blipFill>
          <a:blip r:embed="rId2">
            <a:extLst/>
          </a:blip>
          <a:stretch>
            <a:fillRect/>
          </a:stretch>
        </p:blipFill>
        <p:spPr>
          <a:xfrm>
            <a:off x="5668084" y="2117681"/>
            <a:ext cx="13047832" cy="11311250"/>
          </a:xfrm>
          <a:prstGeom prst="rect">
            <a:avLst/>
          </a:prstGeom>
          <a:ln w="12700">
            <a:miter lim="400000"/>
          </a:ln>
        </p:spPr>
      </p:pic>
      <p:sp>
        <p:nvSpPr>
          <p:cNvPr id="396" name="pca = PCA(n_components=1)"/>
          <p:cNvSpPr txBox="1"/>
          <p:nvPr/>
        </p:nvSpPr>
        <p:spPr>
          <a:xfrm>
            <a:off x="6439593" y="7283403"/>
            <a:ext cx="3293263" cy="373107"/>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1900">
                <a:solidFill>
                  <a:srgbClr val="FFFFFF"/>
                </a:solidFill>
                <a:latin typeface="Arial"/>
                <a:ea typeface="Arial"/>
                <a:cs typeface="Arial"/>
                <a:sym typeface="Arial"/>
              </a:defRPr>
            </a:lvl1pPr>
          </a:lstStyle>
          <a:p>
            <a:pPr/>
            <a:r>
              <a:t>pca = PCA(n_components=1)</a:t>
            </a:r>
          </a:p>
        </p:txBody>
      </p:sp>
      <p:pic>
        <p:nvPicPr>
          <p:cNvPr id="397" name="Dreptunghi Dreptunghi" descr="Dreptunghi Dreptunghi"/>
          <p:cNvPicPr>
            <a:picLocks noChangeAspect="0"/>
          </p:cNvPicPr>
          <p:nvPr/>
        </p:nvPicPr>
        <p:blipFill>
          <a:blip r:embed="rId3">
            <a:extLst/>
          </a:blip>
          <a:stretch>
            <a:fillRect/>
          </a:stretch>
        </p:blipFill>
        <p:spPr>
          <a:xfrm>
            <a:off x="6327824" y="3569991"/>
            <a:ext cx="4112615" cy="1187922"/>
          </a:xfrm>
          <a:prstGeom prst="rect">
            <a:avLst/>
          </a:prstGeom>
        </p:spPr>
      </p:pic>
      <p:sp>
        <p:nvSpPr>
          <p:cNvPr id="399" name="Încărcare set Iris"/>
          <p:cNvSpPr txBox="1"/>
          <p:nvPr/>
        </p:nvSpPr>
        <p:spPr>
          <a:xfrm>
            <a:off x="10546581" y="3772537"/>
            <a:ext cx="3497581" cy="782829"/>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3600">
                <a:solidFill>
                  <a:srgbClr val="FFFFFF"/>
                </a:solidFill>
              </a:defRPr>
            </a:lvl1pPr>
          </a:lstStyle>
          <a:p>
            <a:pPr/>
            <a:r>
              <a:t>Încărcare set Iris</a:t>
            </a:r>
          </a:p>
        </p:txBody>
      </p:sp>
      <p:pic>
        <p:nvPicPr>
          <p:cNvPr id="400" name="Dreptunghi Dreptunghi" descr="Dreptunghi Dreptunghi"/>
          <p:cNvPicPr>
            <a:picLocks noChangeAspect="0"/>
          </p:cNvPicPr>
          <p:nvPr/>
        </p:nvPicPr>
        <p:blipFill>
          <a:blip r:embed="rId4">
            <a:extLst/>
          </a:blip>
          <a:stretch>
            <a:fillRect/>
          </a:stretch>
        </p:blipFill>
        <p:spPr>
          <a:xfrm>
            <a:off x="6327824" y="4843523"/>
            <a:ext cx="10711448" cy="781534"/>
          </a:xfrm>
          <a:prstGeom prst="rect">
            <a:avLst/>
          </a:prstGeom>
        </p:spPr>
      </p:pic>
      <p:sp>
        <p:nvSpPr>
          <p:cNvPr id="402" name="Split 75% train, 25% test"/>
          <p:cNvSpPr txBox="1"/>
          <p:nvPr/>
        </p:nvSpPr>
        <p:spPr>
          <a:xfrm>
            <a:off x="13570297" y="5506619"/>
            <a:ext cx="4994454" cy="782829"/>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3600">
                <a:solidFill>
                  <a:srgbClr val="FFFFFF"/>
                </a:solidFill>
              </a:defRPr>
            </a:lvl1pPr>
          </a:lstStyle>
          <a:p>
            <a:pPr/>
            <a:r>
              <a:t>Split 75% train, 25% test</a:t>
            </a:r>
          </a:p>
        </p:txBody>
      </p:sp>
      <p:pic>
        <p:nvPicPr>
          <p:cNvPr id="403" name="Dreptunghi Dreptunghi" descr="Dreptunghi Dreptunghi"/>
          <p:cNvPicPr>
            <a:picLocks noChangeAspect="0"/>
          </p:cNvPicPr>
          <p:nvPr/>
        </p:nvPicPr>
        <p:blipFill>
          <a:blip r:embed="rId5">
            <a:extLst/>
          </a:blip>
          <a:stretch>
            <a:fillRect/>
          </a:stretch>
        </p:blipFill>
        <p:spPr>
          <a:xfrm>
            <a:off x="6327824" y="5710668"/>
            <a:ext cx="10711448" cy="1348771"/>
          </a:xfrm>
          <a:prstGeom prst="rect">
            <a:avLst/>
          </a:prstGeom>
        </p:spPr>
      </p:pic>
      <p:sp>
        <p:nvSpPr>
          <p:cNvPr id="405" name="Antrenare și testare fără PCA"/>
          <p:cNvSpPr txBox="1"/>
          <p:nvPr/>
        </p:nvSpPr>
        <p:spPr>
          <a:xfrm>
            <a:off x="12566387" y="6248676"/>
            <a:ext cx="6073903" cy="782829"/>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3600">
                <a:solidFill>
                  <a:srgbClr val="FFFFFF"/>
                </a:solidFill>
              </a:defRPr>
            </a:lvl1pPr>
          </a:lstStyle>
          <a:p>
            <a:pPr/>
            <a:r>
              <a:t>Antrenare și testare fără PCA</a:t>
            </a:r>
          </a:p>
        </p:txBody>
      </p:sp>
      <p:pic>
        <p:nvPicPr>
          <p:cNvPr id="406" name="Dreptunghi Dreptunghi" descr="Dreptunghi Dreptunghi"/>
          <p:cNvPicPr>
            <a:picLocks noChangeAspect="0"/>
          </p:cNvPicPr>
          <p:nvPr/>
        </p:nvPicPr>
        <p:blipFill>
          <a:blip r:embed="rId6">
            <a:extLst/>
          </a:blip>
          <a:stretch>
            <a:fillRect/>
          </a:stretch>
        </p:blipFill>
        <p:spPr>
          <a:xfrm>
            <a:off x="6327824" y="7283403"/>
            <a:ext cx="10711448" cy="2580434"/>
          </a:xfrm>
          <a:prstGeom prst="rect">
            <a:avLst/>
          </a:prstGeom>
        </p:spPr>
      </p:pic>
      <p:sp>
        <p:nvSpPr>
          <p:cNvPr id="408" name="Antrenare și testare cu PCA"/>
          <p:cNvSpPr txBox="1"/>
          <p:nvPr/>
        </p:nvSpPr>
        <p:spPr>
          <a:xfrm>
            <a:off x="11248384" y="7283402"/>
            <a:ext cx="5743805" cy="782829"/>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3600">
                <a:solidFill>
                  <a:srgbClr val="FFFFFF"/>
                </a:solidFill>
              </a:defRPr>
            </a:lvl1pPr>
          </a:lstStyle>
          <a:p>
            <a:pPr/>
            <a:r>
              <a:t>Antrenare și testare cu PCA</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9" grpId="1" fill="hold">
                                  <p:stCondLst>
                                    <p:cond delay="0"/>
                                  </p:stCondLst>
                                  <p:iterate type="el" backwards="0">
                                    <p:tmAbs val="0"/>
                                  </p:iterate>
                                  <p:childTnLst>
                                    <p:set>
                                      <p:cBhvr>
                                        <p:cTn id="6" fill="hold"/>
                                        <p:tgtEl>
                                          <p:spTgt spid="397"/>
                                        </p:tgtEl>
                                        <p:attrNameLst>
                                          <p:attrName>style.visibility</p:attrName>
                                        </p:attrNameLst>
                                      </p:cBhvr>
                                      <p:to>
                                        <p:strVal val="visible"/>
                                      </p:to>
                                    </p:set>
                                    <p:animEffect filter="dissolve" transition="in">
                                      <p:cBhvr>
                                        <p:cTn id="7" dur="2000"/>
                                        <p:tgtEl>
                                          <p:spTgt spid="397"/>
                                        </p:tgtEl>
                                      </p:cBhvr>
                                    </p:animEffect>
                                  </p:childTnLst>
                                </p:cTn>
                              </p:par>
                            </p:childTnLst>
                          </p:cTn>
                        </p:par>
                        <p:par>
                          <p:cTn id="8" fill="hold">
                            <p:stCondLst>
                              <p:cond delay="2000"/>
                            </p:stCondLst>
                            <p:childTnLst>
                              <p:par>
                                <p:cTn id="9" presetClass="entr" nodeType="afterEffect" presetSubtype="8" presetID="2" grpId="2" fill="hold">
                                  <p:stCondLst>
                                    <p:cond delay="0"/>
                                  </p:stCondLst>
                                  <p:iterate type="el" backwards="0">
                                    <p:tmAbs val="0"/>
                                  </p:iterate>
                                  <p:childTnLst>
                                    <p:set>
                                      <p:cBhvr>
                                        <p:cTn id="10" fill="hold"/>
                                        <p:tgtEl>
                                          <p:spTgt spid="399"/>
                                        </p:tgtEl>
                                        <p:attrNameLst>
                                          <p:attrName>style.visibility</p:attrName>
                                        </p:attrNameLst>
                                      </p:cBhvr>
                                      <p:to>
                                        <p:strVal val="visible"/>
                                      </p:to>
                                    </p:set>
                                    <p:anim calcmode="lin" valueType="num">
                                      <p:cBhvr>
                                        <p:cTn id="11" dur="1000" fill="hold"/>
                                        <p:tgtEl>
                                          <p:spTgt spid="399"/>
                                        </p:tgtEl>
                                        <p:attrNameLst>
                                          <p:attrName>ppt_x</p:attrName>
                                        </p:attrNameLst>
                                      </p:cBhvr>
                                      <p:tavLst>
                                        <p:tav tm="0">
                                          <p:val>
                                            <p:strVal val="0-#ppt_w/2"/>
                                          </p:val>
                                        </p:tav>
                                        <p:tav tm="100000">
                                          <p:val>
                                            <p:strVal val="#ppt_x"/>
                                          </p:val>
                                        </p:tav>
                                      </p:tavLst>
                                    </p:anim>
                                    <p:anim calcmode="lin" valueType="num">
                                      <p:cBhvr>
                                        <p:cTn id="12" dur="1000" fill="hold"/>
                                        <p:tgtEl>
                                          <p:spTgt spid="399"/>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Class="exit" nodeType="clickEffect" presetID="9" grpId="3" fill="hold">
                                  <p:stCondLst>
                                    <p:cond delay="0"/>
                                  </p:stCondLst>
                                  <p:iterate type="el" backwards="0">
                                    <p:tmAbs val="0"/>
                                  </p:iterate>
                                  <p:childTnLst>
                                    <p:animEffect filter="dissolve" transition="out">
                                      <p:cBhvr>
                                        <p:cTn id="16" dur="2000" fill="hold"/>
                                        <p:tgtEl>
                                          <p:spTgt spid="397"/>
                                        </p:tgtEl>
                                      </p:cBhvr>
                                    </p:animEffect>
                                    <p:set>
                                      <p:cBhvr>
                                        <p:cTn id="17" fill="hold">
                                          <p:stCondLst>
                                            <p:cond delay="1999"/>
                                          </p:stCondLst>
                                        </p:cTn>
                                        <p:tgtEl>
                                          <p:spTgt spid="397"/>
                                        </p:tgtEl>
                                        <p:attrNameLst>
                                          <p:attrName>style.visibility</p:attrName>
                                        </p:attrNameLst>
                                      </p:cBhvr>
                                      <p:to>
                                        <p:strVal val="hidden"/>
                                      </p:to>
                                    </p:set>
                                  </p:childTnLst>
                                </p:cTn>
                              </p:par>
                            </p:childTnLst>
                          </p:cTn>
                        </p:par>
                        <p:par>
                          <p:cTn id="18" fill="hold">
                            <p:stCondLst>
                              <p:cond delay="2000"/>
                            </p:stCondLst>
                            <p:childTnLst>
                              <p:par>
                                <p:cTn id="19" presetClass="exit" nodeType="afterEffect" presetSubtype="2" presetID="2" grpId="4" fill="hold">
                                  <p:stCondLst>
                                    <p:cond delay="0"/>
                                  </p:stCondLst>
                                  <p:iterate type="el" backwards="0">
                                    <p:tmAbs val="0"/>
                                  </p:iterate>
                                  <p:childTnLst>
                                    <p:anim calcmode="lin" valueType="num">
                                      <p:cBhvr>
                                        <p:cTn id="20" dur="1000" fill="hold"/>
                                        <p:tgtEl>
                                          <p:spTgt spid="399"/>
                                        </p:tgtEl>
                                        <p:attrNameLst>
                                          <p:attrName>ppt_x</p:attrName>
                                        </p:attrNameLst>
                                      </p:cBhvr>
                                      <p:tavLst>
                                        <p:tav tm="0">
                                          <p:val>
                                            <p:strVal val="ppt_x"/>
                                          </p:val>
                                        </p:tav>
                                        <p:tav tm="100000">
                                          <p:val>
                                            <p:strVal val="1+ppt_w/2"/>
                                          </p:val>
                                        </p:tav>
                                      </p:tavLst>
                                    </p:anim>
                                    <p:anim calcmode="lin" valueType="num">
                                      <p:cBhvr>
                                        <p:cTn id="21" dur="1000" fill="hold"/>
                                        <p:tgtEl>
                                          <p:spTgt spid="399"/>
                                        </p:tgtEl>
                                        <p:attrNameLst>
                                          <p:attrName>ppt_y</p:attrName>
                                        </p:attrNameLst>
                                      </p:cBhvr>
                                      <p:tavLst>
                                        <p:tav tm="0">
                                          <p:val>
                                            <p:strVal val="ppt_y"/>
                                          </p:val>
                                        </p:tav>
                                        <p:tav tm="100000">
                                          <p:val>
                                            <p:strVal val="ppt_y"/>
                                          </p:val>
                                        </p:tav>
                                      </p:tavLst>
                                    </p:anim>
                                    <p:set>
                                      <p:cBhvr>
                                        <p:cTn id="22" fill="hold">
                                          <p:stCondLst>
                                            <p:cond delay="999"/>
                                          </p:stCondLst>
                                        </p:cTn>
                                        <p:tgtEl>
                                          <p:spTgt spid="399"/>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Class="entr" nodeType="clickEffect" presetID="9" grpId="5" fill="hold">
                                  <p:stCondLst>
                                    <p:cond delay="0"/>
                                  </p:stCondLst>
                                  <p:iterate type="el" backwards="0">
                                    <p:tmAbs val="0"/>
                                  </p:iterate>
                                  <p:childTnLst>
                                    <p:set>
                                      <p:cBhvr>
                                        <p:cTn id="26" fill="hold"/>
                                        <p:tgtEl>
                                          <p:spTgt spid="400"/>
                                        </p:tgtEl>
                                        <p:attrNameLst>
                                          <p:attrName>style.visibility</p:attrName>
                                        </p:attrNameLst>
                                      </p:cBhvr>
                                      <p:to>
                                        <p:strVal val="visible"/>
                                      </p:to>
                                    </p:set>
                                    <p:animEffect filter="dissolve" transition="in">
                                      <p:cBhvr>
                                        <p:cTn id="27" dur="2000"/>
                                        <p:tgtEl>
                                          <p:spTgt spid="400"/>
                                        </p:tgtEl>
                                      </p:cBhvr>
                                    </p:animEffect>
                                  </p:childTnLst>
                                </p:cTn>
                              </p:par>
                            </p:childTnLst>
                          </p:cTn>
                        </p:par>
                        <p:par>
                          <p:cTn id="28" fill="hold">
                            <p:stCondLst>
                              <p:cond delay="2000"/>
                            </p:stCondLst>
                            <p:childTnLst>
                              <p:par>
                                <p:cTn id="29" presetClass="entr" nodeType="afterEffect" presetSubtype="8" presetID="2" grpId="6" fill="hold">
                                  <p:stCondLst>
                                    <p:cond delay="0"/>
                                  </p:stCondLst>
                                  <p:iterate type="el" backwards="0">
                                    <p:tmAbs val="0"/>
                                  </p:iterate>
                                  <p:childTnLst>
                                    <p:set>
                                      <p:cBhvr>
                                        <p:cTn id="30" fill="hold"/>
                                        <p:tgtEl>
                                          <p:spTgt spid="402"/>
                                        </p:tgtEl>
                                        <p:attrNameLst>
                                          <p:attrName>style.visibility</p:attrName>
                                        </p:attrNameLst>
                                      </p:cBhvr>
                                      <p:to>
                                        <p:strVal val="visible"/>
                                      </p:to>
                                    </p:set>
                                    <p:anim calcmode="lin" valueType="num">
                                      <p:cBhvr>
                                        <p:cTn id="31" dur="1000" fill="hold"/>
                                        <p:tgtEl>
                                          <p:spTgt spid="402"/>
                                        </p:tgtEl>
                                        <p:attrNameLst>
                                          <p:attrName>ppt_x</p:attrName>
                                        </p:attrNameLst>
                                      </p:cBhvr>
                                      <p:tavLst>
                                        <p:tav tm="0">
                                          <p:val>
                                            <p:strVal val="0-#ppt_w/2"/>
                                          </p:val>
                                        </p:tav>
                                        <p:tav tm="100000">
                                          <p:val>
                                            <p:strVal val="#ppt_x"/>
                                          </p:val>
                                        </p:tav>
                                      </p:tavLst>
                                    </p:anim>
                                    <p:anim calcmode="lin" valueType="num">
                                      <p:cBhvr>
                                        <p:cTn id="32" dur="1000" fill="hold"/>
                                        <p:tgtEl>
                                          <p:spTgt spid="402"/>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Class="exit" nodeType="clickEffect" presetID="9" grpId="7" fill="hold">
                                  <p:stCondLst>
                                    <p:cond delay="0"/>
                                  </p:stCondLst>
                                  <p:iterate type="el" backwards="0">
                                    <p:tmAbs val="0"/>
                                  </p:iterate>
                                  <p:childTnLst>
                                    <p:animEffect filter="dissolve" transition="out">
                                      <p:cBhvr>
                                        <p:cTn id="36" dur="2000" fill="hold"/>
                                        <p:tgtEl>
                                          <p:spTgt spid="400"/>
                                        </p:tgtEl>
                                      </p:cBhvr>
                                    </p:animEffect>
                                    <p:set>
                                      <p:cBhvr>
                                        <p:cTn id="37" fill="hold">
                                          <p:stCondLst>
                                            <p:cond delay="1999"/>
                                          </p:stCondLst>
                                        </p:cTn>
                                        <p:tgtEl>
                                          <p:spTgt spid="400"/>
                                        </p:tgtEl>
                                        <p:attrNameLst>
                                          <p:attrName>style.visibility</p:attrName>
                                        </p:attrNameLst>
                                      </p:cBhvr>
                                      <p:to>
                                        <p:strVal val="hidden"/>
                                      </p:to>
                                    </p:set>
                                  </p:childTnLst>
                                </p:cTn>
                              </p:par>
                            </p:childTnLst>
                          </p:cTn>
                        </p:par>
                        <p:par>
                          <p:cTn id="38" fill="hold">
                            <p:stCondLst>
                              <p:cond delay="2000"/>
                            </p:stCondLst>
                            <p:childTnLst>
                              <p:par>
                                <p:cTn id="39" presetClass="exit" nodeType="afterEffect" presetSubtype="2" presetID="2" grpId="8" fill="hold">
                                  <p:stCondLst>
                                    <p:cond delay="0"/>
                                  </p:stCondLst>
                                  <p:iterate type="el" backwards="0">
                                    <p:tmAbs val="0"/>
                                  </p:iterate>
                                  <p:childTnLst>
                                    <p:anim calcmode="lin" valueType="num">
                                      <p:cBhvr>
                                        <p:cTn id="40" dur="1000" fill="hold"/>
                                        <p:tgtEl>
                                          <p:spTgt spid="402"/>
                                        </p:tgtEl>
                                        <p:attrNameLst>
                                          <p:attrName>ppt_x</p:attrName>
                                        </p:attrNameLst>
                                      </p:cBhvr>
                                      <p:tavLst>
                                        <p:tav tm="0">
                                          <p:val>
                                            <p:strVal val="ppt_x"/>
                                          </p:val>
                                        </p:tav>
                                        <p:tav tm="100000">
                                          <p:val>
                                            <p:strVal val="1+ppt_w/2"/>
                                          </p:val>
                                        </p:tav>
                                      </p:tavLst>
                                    </p:anim>
                                    <p:anim calcmode="lin" valueType="num">
                                      <p:cBhvr>
                                        <p:cTn id="41" dur="1000" fill="hold"/>
                                        <p:tgtEl>
                                          <p:spTgt spid="402"/>
                                        </p:tgtEl>
                                        <p:attrNameLst>
                                          <p:attrName>ppt_y</p:attrName>
                                        </p:attrNameLst>
                                      </p:cBhvr>
                                      <p:tavLst>
                                        <p:tav tm="0">
                                          <p:val>
                                            <p:strVal val="ppt_y"/>
                                          </p:val>
                                        </p:tav>
                                        <p:tav tm="100000">
                                          <p:val>
                                            <p:strVal val="ppt_y"/>
                                          </p:val>
                                        </p:tav>
                                      </p:tavLst>
                                    </p:anim>
                                    <p:set>
                                      <p:cBhvr>
                                        <p:cTn id="42" fill="hold">
                                          <p:stCondLst>
                                            <p:cond delay="999"/>
                                          </p:stCondLst>
                                        </p:cTn>
                                        <p:tgtEl>
                                          <p:spTgt spid="402"/>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Class="entr" nodeType="clickEffect" presetID="9" grpId="9" fill="hold">
                                  <p:stCondLst>
                                    <p:cond delay="0"/>
                                  </p:stCondLst>
                                  <p:iterate type="el" backwards="0">
                                    <p:tmAbs val="0"/>
                                  </p:iterate>
                                  <p:childTnLst>
                                    <p:set>
                                      <p:cBhvr>
                                        <p:cTn id="46" fill="hold"/>
                                        <p:tgtEl>
                                          <p:spTgt spid="403"/>
                                        </p:tgtEl>
                                        <p:attrNameLst>
                                          <p:attrName>style.visibility</p:attrName>
                                        </p:attrNameLst>
                                      </p:cBhvr>
                                      <p:to>
                                        <p:strVal val="visible"/>
                                      </p:to>
                                    </p:set>
                                    <p:animEffect filter="dissolve" transition="in">
                                      <p:cBhvr>
                                        <p:cTn id="47" dur="2000"/>
                                        <p:tgtEl>
                                          <p:spTgt spid="403"/>
                                        </p:tgtEl>
                                      </p:cBhvr>
                                    </p:animEffect>
                                  </p:childTnLst>
                                </p:cTn>
                              </p:par>
                            </p:childTnLst>
                          </p:cTn>
                        </p:par>
                        <p:par>
                          <p:cTn id="48" fill="hold">
                            <p:stCondLst>
                              <p:cond delay="2000"/>
                            </p:stCondLst>
                            <p:childTnLst>
                              <p:par>
                                <p:cTn id="49" presetClass="entr" nodeType="afterEffect" presetSubtype="8" presetID="2" grpId="10" fill="hold">
                                  <p:stCondLst>
                                    <p:cond delay="0"/>
                                  </p:stCondLst>
                                  <p:iterate type="el" backwards="0">
                                    <p:tmAbs val="0"/>
                                  </p:iterate>
                                  <p:childTnLst>
                                    <p:set>
                                      <p:cBhvr>
                                        <p:cTn id="50" fill="hold"/>
                                        <p:tgtEl>
                                          <p:spTgt spid="405"/>
                                        </p:tgtEl>
                                        <p:attrNameLst>
                                          <p:attrName>style.visibility</p:attrName>
                                        </p:attrNameLst>
                                      </p:cBhvr>
                                      <p:to>
                                        <p:strVal val="visible"/>
                                      </p:to>
                                    </p:set>
                                    <p:anim calcmode="lin" valueType="num">
                                      <p:cBhvr>
                                        <p:cTn id="51" dur="1000" fill="hold"/>
                                        <p:tgtEl>
                                          <p:spTgt spid="405"/>
                                        </p:tgtEl>
                                        <p:attrNameLst>
                                          <p:attrName>ppt_x</p:attrName>
                                        </p:attrNameLst>
                                      </p:cBhvr>
                                      <p:tavLst>
                                        <p:tav tm="0">
                                          <p:val>
                                            <p:strVal val="0-#ppt_w/2"/>
                                          </p:val>
                                        </p:tav>
                                        <p:tav tm="100000">
                                          <p:val>
                                            <p:strVal val="#ppt_x"/>
                                          </p:val>
                                        </p:tav>
                                      </p:tavLst>
                                    </p:anim>
                                    <p:anim calcmode="lin" valueType="num">
                                      <p:cBhvr>
                                        <p:cTn id="52" dur="1000" fill="hold"/>
                                        <p:tgtEl>
                                          <p:spTgt spid="405"/>
                                        </p:tgtEl>
                                        <p:attrNameLst>
                                          <p:attrName>ppt_y</p:attrName>
                                        </p:attrNameLst>
                                      </p:cBhvr>
                                      <p:tavLst>
                                        <p:tav tm="0">
                                          <p:val>
                                            <p:strVal val="#ppt_y"/>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Class="exit" nodeType="clickEffect" presetID="9" grpId="11" fill="hold">
                                  <p:stCondLst>
                                    <p:cond delay="0"/>
                                  </p:stCondLst>
                                  <p:iterate type="el" backwards="0">
                                    <p:tmAbs val="0"/>
                                  </p:iterate>
                                  <p:childTnLst>
                                    <p:animEffect filter="dissolve" transition="out">
                                      <p:cBhvr>
                                        <p:cTn id="56" dur="2000" fill="hold"/>
                                        <p:tgtEl>
                                          <p:spTgt spid="403"/>
                                        </p:tgtEl>
                                      </p:cBhvr>
                                    </p:animEffect>
                                    <p:set>
                                      <p:cBhvr>
                                        <p:cTn id="57" fill="hold">
                                          <p:stCondLst>
                                            <p:cond delay="1999"/>
                                          </p:stCondLst>
                                        </p:cTn>
                                        <p:tgtEl>
                                          <p:spTgt spid="403"/>
                                        </p:tgtEl>
                                        <p:attrNameLst>
                                          <p:attrName>style.visibility</p:attrName>
                                        </p:attrNameLst>
                                      </p:cBhvr>
                                      <p:to>
                                        <p:strVal val="hidden"/>
                                      </p:to>
                                    </p:set>
                                  </p:childTnLst>
                                </p:cTn>
                              </p:par>
                            </p:childTnLst>
                          </p:cTn>
                        </p:par>
                        <p:par>
                          <p:cTn id="58" fill="hold">
                            <p:stCondLst>
                              <p:cond delay="2000"/>
                            </p:stCondLst>
                            <p:childTnLst>
                              <p:par>
                                <p:cTn id="59" presetClass="exit" nodeType="afterEffect" presetSubtype="2" presetID="2" grpId="12" fill="hold">
                                  <p:stCondLst>
                                    <p:cond delay="0"/>
                                  </p:stCondLst>
                                  <p:iterate type="el" backwards="0">
                                    <p:tmAbs val="0"/>
                                  </p:iterate>
                                  <p:childTnLst>
                                    <p:anim calcmode="lin" valueType="num">
                                      <p:cBhvr>
                                        <p:cTn id="60" dur="1000" fill="hold"/>
                                        <p:tgtEl>
                                          <p:spTgt spid="405"/>
                                        </p:tgtEl>
                                        <p:attrNameLst>
                                          <p:attrName>ppt_x</p:attrName>
                                        </p:attrNameLst>
                                      </p:cBhvr>
                                      <p:tavLst>
                                        <p:tav tm="0">
                                          <p:val>
                                            <p:strVal val="ppt_x"/>
                                          </p:val>
                                        </p:tav>
                                        <p:tav tm="100000">
                                          <p:val>
                                            <p:strVal val="1+ppt_w/2"/>
                                          </p:val>
                                        </p:tav>
                                      </p:tavLst>
                                    </p:anim>
                                    <p:anim calcmode="lin" valueType="num">
                                      <p:cBhvr>
                                        <p:cTn id="61" dur="1000" fill="hold"/>
                                        <p:tgtEl>
                                          <p:spTgt spid="405"/>
                                        </p:tgtEl>
                                        <p:attrNameLst>
                                          <p:attrName>ppt_y</p:attrName>
                                        </p:attrNameLst>
                                      </p:cBhvr>
                                      <p:tavLst>
                                        <p:tav tm="0">
                                          <p:val>
                                            <p:strVal val="ppt_y"/>
                                          </p:val>
                                        </p:tav>
                                        <p:tav tm="100000">
                                          <p:val>
                                            <p:strVal val="ppt_y"/>
                                          </p:val>
                                        </p:tav>
                                      </p:tavLst>
                                    </p:anim>
                                    <p:set>
                                      <p:cBhvr>
                                        <p:cTn id="62" fill="hold">
                                          <p:stCondLst>
                                            <p:cond delay="999"/>
                                          </p:stCondLst>
                                        </p:cTn>
                                        <p:tgtEl>
                                          <p:spTgt spid="405"/>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Class="entr" nodeType="clickEffect" presetID="9" grpId="13" fill="hold">
                                  <p:stCondLst>
                                    <p:cond delay="0"/>
                                  </p:stCondLst>
                                  <p:iterate type="el" backwards="0">
                                    <p:tmAbs val="0"/>
                                  </p:iterate>
                                  <p:childTnLst>
                                    <p:set>
                                      <p:cBhvr>
                                        <p:cTn id="66" fill="hold"/>
                                        <p:tgtEl>
                                          <p:spTgt spid="406"/>
                                        </p:tgtEl>
                                        <p:attrNameLst>
                                          <p:attrName>style.visibility</p:attrName>
                                        </p:attrNameLst>
                                      </p:cBhvr>
                                      <p:to>
                                        <p:strVal val="visible"/>
                                      </p:to>
                                    </p:set>
                                    <p:animEffect filter="dissolve" transition="in">
                                      <p:cBhvr>
                                        <p:cTn id="67" dur="2000"/>
                                        <p:tgtEl>
                                          <p:spTgt spid="406"/>
                                        </p:tgtEl>
                                      </p:cBhvr>
                                    </p:animEffect>
                                  </p:childTnLst>
                                </p:cTn>
                              </p:par>
                            </p:childTnLst>
                          </p:cTn>
                        </p:par>
                        <p:par>
                          <p:cTn id="68" fill="hold">
                            <p:stCondLst>
                              <p:cond delay="2000"/>
                            </p:stCondLst>
                            <p:childTnLst>
                              <p:par>
                                <p:cTn id="69" presetClass="entr" nodeType="afterEffect" presetSubtype="8" presetID="2" grpId="14" fill="hold">
                                  <p:stCondLst>
                                    <p:cond delay="0"/>
                                  </p:stCondLst>
                                  <p:iterate type="el" backwards="0">
                                    <p:tmAbs val="0"/>
                                  </p:iterate>
                                  <p:childTnLst>
                                    <p:set>
                                      <p:cBhvr>
                                        <p:cTn id="70" fill="hold"/>
                                        <p:tgtEl>
                                          <p:spTgt spid="408"/>
                                        </p:tgtEl>
                                        <p:attrNameLst>
                                          <p:attrName>style.visibility</p:attrName>
                                        </p:attrNameLst>
                                      </p:cBhvr>
                                      <p:to>
                                        <p:strVal val="visible"/>
                                      </p:to>
                                    </p:set>
                                    <p:anim calcmode="lin" valueType="num">
                                      <p:cBhvr>
                                        <p:cTn id="71" dur="1000" fill="hold"/>
                                        <p:tgtEl>
                                          <p:spTgt spid="408"/>
                                        </p:tgtEl>
                                        <p:attrNameLst>
                                          <p:attrName>ppt_x</p:attrName>
                                        </p:attrNameLst>
                                      </p:cBhvr>
                                      <p:tavLst>
                                        <p:tav tm="0">
                                          <p:val>
                                            <p:strVal val="0-#ppt_w/2"/>
                                          </p:val>
                                        </p:tav>
                                        <p:tav tm="100000">
                                          <p:val>
                                            <p:strVal val="#ppt_x"/>
                                          </p:val>
                                        </p:tav>
                                      </p:tavLst>
                                    </p:anim>
                                    <p:anim calcmode="lin" valueType="num">
                                      <p:cBhvr>
                                        <p:cTn id="72" dur="1000" fill="hold"/>
                                        <p:tgtEl>
                                          <p:spTgt spid="40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403" grpId="9"/>
      <p:bldP build="whole" bldLvl="1" animBg="1" rev="0" advAuto="0" spid="405" grpId="10"/>
      <p:bldP build="whole" bldLvl="1" animBg="1" rev="0" advAuto="0" spid="399" grpId="2"/>
      <p:bldP build="whole" bldLvl="1" animBg="1" rev="0" advAuto="0" spid="397" grpId="1"/>
      <p:bldP build="whole" bldLvl="1" animBg="1" rev="0" advAuto="0" spid="399" grpId="4"/>
      <p:bldP build="whole" bldLvl="1" animBg="1" rev="0" advAuto="0" spid="397" grpId="3"/>
      <p:bldP build="whole" bldLvl="1" animBg="1" rev="0" advAuto="0" spid="403" grpId="11"/>
      <p:bldP build="whole" bldLvl="1" animBg="1" rev="0" advAuto="0" spid="400" grpId="5"/>
      <p:bldP build="whole" bldLvl="1" animBg="1" rev="0" advAuto="0" spid="400" grpId="7"/>
      <p:bldP build="whole" bldLvl="1" animBg="1" rev="0" advAuto="0" spid="405" grpId="12"/>
      <p:bldP build="whole" bldLvl="1" animBg="1" rev="0" advAuto="0" spid="406" grpId="13"/>
      <p:bldP build="whole" bldLvl="1" animBg="1" rev="0" advAuto="0" spid="408" grpId="14"/>
      <p:bldP build="whole" bldLvl="1" animBg="1" rev="0" advAuto="0" spid="402" grpId="6"/>
      <p:bldP build="whole" bldLvl="1" animBg="1" rev="0" advAuto="0" spid="402" grpId="8"/>
    </p:bldLst>
  </p:timing>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0"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411" name="Supervizate"/>
          <p:cNvSpPr txBox="1"/>
          <p:nvPr/>
        </p:nvSpPr>
        <p:spPr>
          <a:xfrm>
            <a:off x="4215928" y="181241"/>
            <a:ext cx="19507707" cy="172910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8500">
                <a:latin typeface="Canela Text Regular"/>
                <a:ea typeface="Canela Text Regular"/>
                <a:cs typeface="Canela Text Regular"/>
                <a:sym typeface="Canela Text Regular"/>
              </a:defRPr>
            </a:lvl1pPr>
          </a:lstStyle>
          <a:p>
            <a:pPr/>
            <a:r>
              <a:t>Principal Component Analysis</a:t>
            </a:r>
          </a:p>
        </p:txBody>
      </p:sp>
      <p:sp>
        <p:nvSpPr>
          <p:cNvPr id="412" name="pca = PCA(n_components=1)"/>
          <p:cNvSpPr txBox="1"/>
          <p:nvPr/>
        </p:nvSpPr>
        <p:spPr>
          <a:xfrm>
            <a:off x="7199092" y="3106349"/>
            <a:ext cx="9985816" cy="940688"/>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5900">
                <a:latin typeface="Arial"/>
                <a:ea typeface="Arial"/>
                <a:cs typeface="Arial"/>
                <a:sym typeface="Arial"/>
              </a:defRPr>
            </a:lvl1pPr>
          </a:lstStyle>
          <a:p>
            <a:pPr/>
            <a:r>
              <a:t>pca = PCA(n_components=1)</a:t>
            </a:r>
          </a:p>
        </p:txBody>
      </p:sp>
      <p:pic>
        <p:nvPicPr>
          <p:cNvPr id="413" name="Linie Linie" descr="Linie Linie"/>
          <p:cNvPicPr>
            <a:picLocks noChangeAspect="0"/>
          </p:cNvPicPr>
          <p:nvPr/>
        </p:nvPicPr>
        <p:blipFill>
          <a:blip r:embed="rId2">
            <a:extLst/>
          </a:blip>
          <a:stretch>
            <a:fillRect/>
          </a:stretch>
        </p:blipFill>
        <p:spPr>
          <a:xfrm rot="19244291">
            <a:off x="14132804" y="4842720"/>
            <a:ext cx="2498513" cy="405591"/>
          </a:xfrm>
          <a:prstGeom prst="rect">
            <a:avLst/>
          </a:prstGeom>
        </p:spPr>
      </p:pic>
      <p:sp>
        <p:nvSpPr>
          <p:cNvPr id="415" name="PCA îmi va da doar prima componentă"/>
          <p:cNvSpPr txBox="1"/>
          <p:nvPr/>
        </p:nvSpPr>
        <p:spPr>
          <a:xfrm>
            <a:off x="9415671" y="6084461"/>
            <a:ext cx="9774277"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PCA îmi va da doar prima componentă</a:t>
            </a:r>
          </a:p>
        </p:txBody>
      </p:sp>
      <p:sp>
        <p:nvSpPr>
          <p:cNvPr id="416" name="În general, sunt două tipuri mari și late:"/>
          <p:cNvSpPr txBox="1"/>
          <p:nvPr>
            <p:ph type="body" sz="quarter" idx="1"/>
          </p:nvPr>
        </p:nvSpPr>
        <p:spPr>
          <a:xfrm>
            <a:off x="754897" y="7952248"/>
            <a:ext cx="21948579" cy="1217089"/>
          </a:xfrm>
          <a:prstGeom prst="rect">
            <a:avLst/>
          </a:prstGeom>
        </p:spPr>
        <p:txBody>
          <a:bodyPr/>
          <a:lstStyle/>
          <a:p>
            <a:pPr/>
            <a:r>
              <a:t>Dacă foloseam n_components=2 mi-ar fi dat primele două și tot așa</a:t>
            </a:r>
          </a:p>
        </p:txBody>
      </p:sp>
      <p:sp>
        <p:nvSpPr>
          <p:cNvPr id="417" name="În general, sunt două tipuri mari și late:"/>
          <p:cNvSpPr txBox="1"/>
          <p:nvPr/>
        </p:nvSpPr>
        <p:spPr>
          <a:xfrm>
            <a:off x="754897" y="9349041"/>
            <a:ext cx="21948579" cy="1217089"/>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Putem da și valori &lt; 1 ca parametru, de exemplu n_components=0.95</a:t>
            </a:r>
          </a:p>
        </p:txBody>
      </p:sp>
      <p:sp>
        <p:nvSpPr>
          <p:cNvPr id="418" name="În general, sunt două tipuri mari și late:"/>
          <p:cNvSpPr txBox="1"/>
          <p:nvPr/>
        </p:nvSpPr>
        <p:spPr>
          <a:xfrm>
            <a:off x="2032647" y="10368865"/>
            <a:ext cx="21948579" cy="220175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În acest caz, PCA îmi va da atâtea componente necesare astfel încât să se păstreze 95% informație din setul original, dacă se poate</a:t>
            </a:r>
          </a:p>
        </p:txBody>
      </p:sp>
      <p:pic>
        <p:nvPicPr>
          <p:cNvPr id="419" name="Linie Linie" descr="Linie Linie"/>
          <p:cNvPicPr>
            <a:picLocks noChangeAspect="0"/>
          </p:cNvPicPr>
          <p:nvPr/>
        </p:nvPicPr>
        <p:blipFill>
          <a:blip r:embed="rId3">
            <a:extLst/>
          </a:blip>
          <a:stretch>
            <a:fillRect/>
          </a:stretch>
        </p:blipFill>
        <p:spPr>
          <a:xfrm>
            <a:off x="4185047" y="10102912"/>
            <a:ext cx="6139216" cy="101601"/>
          </a:xfrm>
          <a:prstGeom prst="rect">
            <a:avLst/>
          </a:prstGeom>
        </p:spPr>
      </p:pic>
      <p:pic>
        <p:nvPicPr>
          <p:cNvPr id="421" name="Linie Linie" descr="Linie Linie"/>
          <p:cNvPicPr>
            <a:picLocks noChangeAspect="0"/>
          </p:cNvPicPr>
          <p:nvPr/>
        </p:nvPicPr>
        <p:blipFill>
          <a:blip r:embed="rId4">
            <a:extLst/>
          </a:blip>
          <a:stretch>
            <a:fillRect/>
          </a:stretch>
        </p:blipFill>
        <p:spPr>
          <a:xfrm>
            <a:off x="2486719" y="12055240"/>
            <a:ext cx="4079073" cy="101601"/>
          </a:xfrm>
          <a:prstGeom prst="rect">
            <a:avLst/>
          </a:prstGeom>
        </p:spPr>
      </p:pic>
      <p:pic>
        <p:nvPicPr>
          <p:cNvPr id="423" name="Linie Linie" descr="Linie Linie"/>
          <p:cNvPicPr>
            <a:picLocks noChangeAspect="0"/>
          </p:cNvPicPr>
          <p:nvPr/>
        </p:nvPicPr>
        <p:blipFill>
          <a:blip r:embed="rId5">
            <a:extLst/>
          </a:blip>
          <a:stretch>
            <a:fillRect/>
          </a:stretch>
        </p:blipFill>
        <p:spPr>
          <a:xfrm>
            <a:off x="9260294" y="11192788"/>
            <a:ext cx="7831804" cy="101601"/>
          </a:xfrm>
          <a:prstGeom prst="rect">
            <a:avLst/>
          </a:prstGeom>
        </p:spPr>
      </p:pic>
      <p:sp>
        <p:nvSpPr>
          <p:cNvPr id="425" name="Astfel reducem dimensionalitatea la 1D"/>
          <p:cNvSpPr txBox="1"/>
          <p:nvPr/>
        </p:nvSpPr>
        <p:spPr>
          <a:xfrm>
            <a:off x="9371805" y="6925719"/>
            <a:ext cx="9862008"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Astfel reducem dimensionalitatea la 1D</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9" grpId="1" fill="hold">
                                  <p:stCondLst>
                                    <p:cond delay="0"/>
                                  </p:stCondLst>
                                  <p:iterate type="el" backwards="0">
                                    <p:tmAbs val="0"/>
                                  </p:iterate>
                                  <p:childTnLst>
                                    <p:set>
                                      <p:cBhvr>
                                        <p:cTn id="6" fill="hold"/>
                                        <p:tgtEl>
                                          <p:spTgt spid="413"/>
                                        </p:tgtEl>
                                        <p:attrNameLst>
                                          <p:attrName>style.visibility</p:attrName>
                                        </p:attrNameLst>
                                      </p:cBhvr>
                                      <p:to>
                                        <p:strVal val="visible"/>
                                      </p:to>
                                    </p:set>
                                    <p:animEffect filter="dissolve" transition="in">
                                      <p:cBhvr>
                                        <p:cTn id="7" dur="2000"/>
                                        <p:tgtEl>
                                          <p:spTgt spid="413"/>
                                        </p:tgtEl>
                                      </p:cBhvr>
                                    </p:animEffect>
                                  </p:childTnLst>
                                </p:cTn>
                              </p:par>
                            </p:childTnLst>
                          </p:cTn>
                        </p:par>
                        <p:par>
                          <p:cTn id="8" fill="hold">
                            <p:stCondLst>
                              <p:cond delay="2000"/>
                            </p:stCondLst>
                            <p:childTnLst>
                              <p:par>
                                <p:cTn id="9" presetClass="entr" nodeType="afterEffect" presetSubtype="8" presetID="2" grpId="2" fill="hold">
                                  <p:stCondLst>
                                    <p:cond delay="0"/>
                                  </p:stCondLst>
                                  <p:iterate type="el" backwards="0">
                                    <p:tmAbs val="0"/>
                                  </p:iterate>
                                  <p:childTnLst>
                                    <p:set>
                                      <p:cBhvr>
                                        <p:cTn id="10" fill="hold"/>
                                        <p:tgtEl>
                                          <p:spTgt spid="415"/>
                                        </p:tgtEl>
                                        <p:attrNameLst>
                                          <p:attrName>style.visibility</p:attrName>
                                        </p:attrNameLst>
                                      </p:cBhvr>
                                      <p:to>
                                        <p:strVal val="visible"/>
                                      </p:to>
                                    </p:set>
                                    <p:anim calcmode="lin" valueType="num">
                                      <p:cBhvr>
                                        <p:cTn id="11" dur="1000" fill="hold"/>
                                        <p:tgtEl>
                                          <p:spTgt spid="415"/>
                                        </p:tgtEl>
                                        <p:attrNameLst>
                                          <p:attrName>ppt_x</p:attrName>
                                        </p:attrNameLst>
                                      </p:cBhvr>
                                      <p:tavLst>
                                        <p:tav tm="0">
                                          <p:val>
                                            <p:strVal val="0-#ppt_w/2"/>
                                          </p:val>
                                        </p:tav>
                                        <p:tav tm="100000">
                                          <p:val>
                                            <p:strVal val="#ppt_x"/>
                                          </p:val>
                                        </p:tav>
                                      </p:tavLst>
                                    </p:anim>
                                    <p:anim calcmode="lin" valueType="num">
                                      <p:cBhvr>
                                        <p:cTn id="12" dur="1000" fill="hold"/>
                                        <p:tgtEl>
                                          <p:spTgt spid="415"/>
                                        </p:tgtEl>
                                        <p:attrNameLst>
                                          <p:attrName>ppt_y</p:attrName>
                                        </p:attrNameLst>
                                      </p:cBhvr>
                                      <p:tavLst>
                                        <p:tav tm="0">
                                          <p:val>
                                            <p:strVal val="#ppt_y"/>
                                          </p:val>
                                        </p:tav>
                                        <p:tav tm="100000">
                                          <p:val>
                                            <p:strVal val="#ppt_y"/>
                                          </p:val>
                                        </p:tav>
                                      </p:tavLst>
                                    </p:anim>
                                  </p:childTnLst>
                                </p:cTn>
                              </p:par>
                            </p:childTnLst>
                          </p:cTn>
                        </p:par>
                        <p:par>
                          <p:cTn id="13" fill="hold">
                            <p:stCondLst>
                              <p:cond delay="3000"/>
                            </p:stCondLst>
                            <p:childTnLst>
                              <p:par>
                                <p:cTn id="14" presetClass="entr" nodeType="afterEffect" presetSubtype="8" presetID="2" grpId="3" fill="hold">
                                  <p:stCondLst>
                                    <p:cond delay="0"/>
                                  </p:stCondLst>
                                  <p:iterate type="el" backwards="0">
                                    <p:tmAbs val="0"/>
                                  </p:iterate>
                                  <p:childTnLst>
                                    <p:set>
                                      <p:cBhvr>
                                        <p:cTn id="15" fill="hold"/>
                                        <p:tgtEl>
                                          <p:spTgt spid="425"/>
                                        </p:tgtEl>
                                        <p:attrNameLst>
                                          <p:attrName>style.visibility</p:attrName>
                                        </p:attrNameLst>
                                      </p:cBhvr>
                                      <p:to>
                                        <p:strVal val="visible"/>
                                      </p:to>
                                    </p:set>
                                    <p:anim calcmode="lin" valueType="num">
                                      <p:cBhvr>
                                        <p:cTn id="16" dur="1000" fill="hold"/>
                                        <p:tgtEl>
                                          <p:spTgt spid="425"/>
                                        </p:tgtEl>
                                        <p:attrNameLst>
                                          <p:attrName>ppt_x</p:attrName>
                                        </p:attrNameLst>
                                      </p:cBhvr>
                                      <p:tavLst>
                                        <p:tav tm="0">
                                          <p:val>
                                            <p:strVal val="0-#ppt_w/2"/>
                                          </p:val>
                                        </p:tav>
                                        <p:tav tm="100000">
                                          <p:val>
                                            <p:strVal val="#ppt_x"/>
                                          </p:val>
                                        </p:tav>
                                      </p:tavLst>
                                    </p:anim>
                                    <p:anim calcmode="lin" valueType="num">
                                      <p:cBhvr>
                                        <p:cTn id="17" dur="1000" fill="hold"/>
                                        <p:tgtEl>
                                          <p:spTgt spid="425"/>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Class="entr" nodeType="clickEffect" presetSubtype="8" presetID="2" grpId="4" fill="hold">
                                  <p:stCondLst>
                                    <p:cond delay="0"/>
                                  </p:stCondLst>
                                  <p:iterate type="el" backwards="0">
                                    <p:tmAbs val="0"/>
                                  </p:iterate>
                                  <p:childTnLst>
                                    <p:set>
                                      <p:cBhvr>
                                        <p:cTn id="21" fill="hold"/>
                                        <p:tgtEl>
                                          <p:spTgt spid="416"/>
                                        </p:tgtEl>
                                        <p:attrNameLst>
                                          <p:attrName>style.visibility</p:attrName>
                                        </p:attrNameLst>
                                      </p:cBhvr>
                                      <p:to>
                                        <p:strVal val="visible"/>
                                      </p:to>
                                    </p:set>
                                    <p:anim calcmode="lin" valueType="num">
                                      <p:cBhvr>
                                        <p:cTn id="22" dur="1000" fill="hold"/>
                                        <p:tgtEl>
                                          <p:spTgt spid="416"/>
                                        </p:tgtEl>
                                        <p:attrNameLst>
                                          <p:attrName>ppt_x</p:attrName>
                                        </p:attrNameLst>
                                      </p:cBhvr>
                                      <p:tavLst>
                                        <p:tav tm="0">
                                          <p:val>
                                            <p:strVal val="0-#ppt_w/2"/>
                                          </p:val>
                                        </p:tav>
                                        <p:tav tm="100000">
                                          <p:val>
                                            <p:strVal val="#ppt_x"/>
                                          </p:val>
                                        </p:tav>
                                      </p:tavLst>
                                    </p:anim>
                                    <p:anim calcmode="lin" valueType="num">
                                      <p:cBhvr>
                                        <p:cTn id="23" dur="1000" fill="hold"/>
                                        <p:tgtEl>
                                          <p:spTgt spid="416"/>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Class="entr" nodeType="clickEffect" presetSubtype="8" presetID="2" grpId="5" fill="hold">
                                  <p:stCondLst>
                                    <p:cond delay="0"/>
                                  </p:stCondLst>
                                  <p:iterate type="el" backwards="0">
                                    <p:tmAbs val="0"/>
                                  </p:iterate>
                                  <p:childTnLst>
                                    <p:set>
                                      <p:cBhvr>
                                        <p:cTn id="27" fill="hold"/>
                                        <p:tgtEl>
                                          <p:spTgt spid="417"/>
                                        </p:tgtEl>
                                        <p:attrNameLst>
                                          <p:attrName>style.visibility</p:attrName>
                                        </p:attrNameLst>
                                      </p:cBhvr>
                                      <p:to>
                                        <p:strVal val="visible"/>
                                      </p:to>
                                    </p:set>
                                    <p:anim calcmode="lin" valueType="num">
                                      <p:cBhvr>
                                        <p:cTn id="28" dur="1000" fill="hold"/>
                                        <p:tgtEl>
                                          <p:spTgt spid="417"/>
                                        </p:tgtEl>
                                        <p:attrNameLst>
                                          <p:attrName>ppt_x</p:attrName>
                                        </p:attrNameLst>
                                      </p:cBhvr>
                                      <p:tavLst>
                                        <p:tav tm="0">
                                          <p:val>
                                            <p:strVal val="0-#ppt_w/2"/>
                                          </p:val>
                                        </p:tav>
                                        <p:tav tm="100000">
                                          <p:val>
                                            <p:strVal val="#ppt_x"/>
                                          </p:val>
                                        </p:tav>
                                      </p:tavLst>
                                    </p:anim>
                                    <p:anim calcmode="lin" valueType="num">
                                      <p:cBhvr>
                                        <p:cTn id="29" dur="1000" fill="hold"/>
                                        <p:tgtEl>
                                          <p:spTgt spid="417"/>
                                        </p:tgtEl>
                                        <p:attrNameLst>
                                          <p:attrName>ppt_y</p:attrName>
                                        </p:attrNameLst>
                                      </p:cBhvr>
                                      <p:tavLst>
                                        <p:tav tm="0">
                                          <p:val>
                                            <p:strVal val="#ppt_y"/>
                                          </p:val>
                                        </p:tav>
                                        <p:tav tm="100000">
                                          <p:val>
                                            <p:strVal val="#ppt_y"/>
                                          </p:val>
                                        </p:tav>
                                      </p:tavLst>
                                    </p:anim>
                                  </p:childTnLst>
                                </p:cTn>
                              </p:par>
                            </p:childTnLst>
                          </p:cTn>
                        </p:par>
                        <p:par>
                          <p:cTn id="30" fill="hold">
                            <p:stCondLst>
                              <p:cond delay="1000"/>
                            </p:stCondLst>
                            <p:childTnLst>
                              <p:par>
                                <p:cTn id="31" presetClass="entr" nodeType="afterEffect" presetID="9" grpId="6" fill="hold">
                                  <p:stCondLst>
                                    <p:cond delay="0"/>
                                  </p:stCondLst>
                                  <p:iterate type="el" backwards="0">
                                    <p:tmAbs val="0"/>
                                  </p:iterate>
                                  <p:childTnLst>
                                    <p:set>
                                      <p:cBhvr>
                                        <p:cTn id="32" fill="hold"/>
                                        <p:tgtEl>
                                          <p:spTgt spid="419"/>
                                        </p:tgtEl>
                                        <p:attrNameLst>
                                          <p:attrName>style.visibility</p:attrName>
                                        </p:attrNameLst>
                                      </p:cBhvr>
                                      <p:to>
                                        <p:strVal val="visible"/>
                                      </p:to>
                                    </p:set>
                                    <p:animEffect filter="dissolve" transition="in">
                                      <p:cBhvr>
                                        <p:cTn id="33" dur="2000"/>
                                        <p:tgtEl>
                                          <p:spTgt spid="419"/>
                                        </p:tgtEl>
                                      </p:cBhvr>
                                    </p:animEffect>
                                  </p:childTnLst>
                                </p:cTn>
                              </p:par>
                            </p:childTnLst>
                          </p:cTn>
                        </p:par>
                      </p:childTnLst>
                    </p:cTn>
                  </p:par>
                  <p:par>
                    <p:cTn id="34" fill="hold">
                      <p:stCondLst>
                        <p:cond delay="indefinite"/>
                      </p:stCondLst>
                      <p:childTnLst>
                        <p:par>
                          <p:cTn id="35" fill="hold">
                            <p:stCondLst>
                              <p:cond delay="0"/>
                            </p:stCondLst>
                            <p:childTnLst>
                              <p:par>
                                <p:cTn id="36" presetClass="entr" nodeType="clickEffect" presetSubtype="8" presetID="2" grpId="7" fill="hold">
                                  <p:stCondLst>
                                    <p:cond delay="0"/>
                                  </p:stCondLst>
                                  <p:iterate type="el" backwards="0">
                                    <p:tmAbs val="0"/>
                                  </p:iterate>
                                  <p:childTnLst>
                                    <p:set>
                                      <p:cBhvr>
                                        <p:cTn id="37" fill="hold"/>
                                        <p:tgtEl>
                                          <p:spTgt spid="418"/>
                                        </p:tgtEl>
                                        <p:attrNameLst>
                                          <p:attrName>style.visibility</p:attrName>
                                        </p:attrNameLst>
                                      </p:cBhvr>
                                      <p:to>
                                        <p:strVal val="visible"/>
                                      </p:to>
                                    </p:set>
                                    <p:anim calcmode="lin" valueType="num">
                                      <p:cBhvr>
                                        <p:cTn id="38" dur="1000" fill="hold"/>
                                        <p:tgtEl>
                                          <p:spTgt spid="418"/>
                                        </p:tgtEl>
                                        <p:attrNameLst>
                                          <p:attrName>ppt_x</p:attrName>
                                        </p:attrNameLst>
                                      </p:cBhvr>
                                      <p:tavLst>
                                        <p:tav tm="0">
                                          <p:val>
                                            <p:strVal val="0-#ppt_w/2"/>
                                          </p:val>
                                        </p:tav>
                                        <p:tav tm="100000">
                                          <p:val>
                                            <p:strVal val="#ppt_x"/>
                                          </p:val>
                                        </p:tav>
                                      </p:tavLst>
                                    </p:anim>
                                    <p:anim calcmode="lin" valueType="num">
                                      <p:cBhvr>
                                        <p:cTn id="39" dur="1000" fill="hold"/>
                                        <p:tgtEl>
                                          <p:spTgt spid="418"/>
                                        </p:tgtEl>
                                        <p:attrNameLst>
                                          <p:attrName>ppt_y</p:attrName>
                                        </p:attrNameLst>
                                      </p:cBhvr>
                                      <p:tavLst>
                                        <p:tav tm="0">
                                          <p:val>
                                            <p:strVal val="#ppt_y"/>
                                          </p:val>
                                        </p:tav>
                                        <p:tav tm="100000">
                                          <p:val>
                                            <p:strVal val="#ppt_y"/>
                                          </p:val>
                                        </p:tav>
                                      </p:tavLst>
                                    </p:anim>
                                  </p:childTnLst>
                                </p:cTn>
                              </p:par>
                            </p:childTnLst>
                          </p:cTn>
                        </p:par>
                        <p:par>
                          <p:cTn id="40" fill="hold">
                            <p:stCondLst>
                              <p:cond delay="1000"/>
                            </p:stCondLst>
                            <p:childTnLst>
                              <p:par>
                                <p:cTn id="41" presetClass="entr" nodeType="afterEffect" presetID="9" grpId="8" fill="hold">
                                  <p:stCondLst>
                                    <p:cond delay="0"/>
                                  </p:stCondLst>
                                  <p:iterate type="el" backwards="0">
                                    <p:tmAbs val="0"/>
                                  </p:iterate>
                                  <p:childTnLst>
                                    <p:set>
                                      <p:cBhvr>
                                        <p:cTn id="42" fill="hold"/>
                                        <p:tgtEl>
                                          <p:spTgt spid="423"/>
                                        </p:tgtEl>
                                        <p:attrNameLst>
                                          <p:attrName>style.visibility</p:attrName>
                                        </p:attrNameLst>
                                      </p:cBhvr>
                                      <p:to>
                                        <p:strVal val="visible"/>
                                      </p:to>
                                    </p:set>
                                    <p:animEffect filter="dissolve" transition="in">
                                      <p:cBhvr>
                                        <p:cTn id="43" dur="2000"/>
                                        <p:tgtEl>
                                          <p:spTgt spid="423"/>
                                        </p:tgtEl>
                                      </p:cBhvr>
                                    </p:animEffect>
                                  </p:childTnLst>
                                </p:cTn>
                              </p:par>
                            </p:childTnLst>
                          </p:cTn>
                        </p:par>
                        <p:par>
                          <p:cTn id="44" fill="hold">
                            <p:stCondLst>
                              <p:cond delay="3000"/>
                            </p:stCondLst>
                            <p:childTnLst>
                              <p:par>
                                <p:cTn id="45" presetClass="entr" nodeType="afterEffect" presetID="9" grpId="9" fill="hold">
                                  <p:stCondLst>
                                    <p:cond delay="0"/>
                                  </p:stCondLst>
                                  <p:iterate type="el" backwards="0">
                                    <p:tmAbs val="0"/>
                                  </p:iterate>
                                  <p:childTnLst>
                                    <p:set>
                                      <p:cBhvr>
                                        <p:cTn id="46" fill="hold"/>
                                        <p:tgtEl>
                                          <p:spTgt spid="421"/>
                                        </p:tgtEl>
                                        <p:attrNameLst>
                                          <p:attrName>style.visibility</p:attrName>
                                        </p:attrNameLst>
                                      </p:cBhvr>
                                      <p:to>
                                        <p:strVal val="visible"/>
                                      </p:to>
                                    </p:set>
                                    <p:animEffect filter="dissolve" transition="in">
                                      <p:cBhvr>
                                        <p:cTn id="47" dur="2000"/>
                                        <p:tgtEl>
                                          <p:spTgt spid="4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421" grpId="9"/>
      <p:bldP build="whole" bldLvl="1" animBg="1" rev="0" advAuto="0" spid="418" grpId="7"/>
      <p:bldP build="whole" bldLvl="1" animBg="1" rev="0" advAuto="0" spid="419" grpId="6"/>
      <p:bldP build="whole" bldLvl="1" animBg="1" rev="0" advAuto="0" spid="425" grpId="3"/>
      <p:bldP build="whole" bldLvl="1" animBg="1" rev="0" advAuto="0" spid="413" grpId="1"/>
      <p:bldP build="whole" bldLvl="1" animBg="1" rev="0" advAuto="0" spid="415" grpId="2"/>
      <p:bldP build="whole" bldLvl="1" animBg="1" rev="0" advAuto="0" spid="416" grpId="4"/>
      <p:bldP build="whole" bldLvl="1" animBg="1" rev="0" advAuto="0" spid="417" grpId="5"/>
      <p:bldP build="whole" bldLvl="1" animBg="1" rev="0" advAuto="0" spid="423" grpId="8"/>
    </p:bldLst>
  </p:timing>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27"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428" name="Supervizate"/>
          <p:cNvSpPr txBox="1"/>
          <p:nvPr/>
        </p:nvSpPr>
        <p:spPr>
          <a:xfrm>
            <a:off x="4215928" y="181241"/>
            <a:ext cx="19507707" cy="172910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8500">
                <a:latin typeface="Canela Text Regular"/>
                <a:ea typeface="Canela Text Regular"/>
                <a:cs typeface="Canela Text Regular"/>
                <a:sym typeface="Canela Text Regular"/>
              </a:defRPr>
            </a:lvl1pPr>
          </a:lstStyle>
          <a:p>
            <a:pPr/>
            <a:r>
              <a:t>Principal Component Analysis</a:t>
            </a:r>
          </a:p>
        </p:txBody>
      </p:sp>
      <p:sp>
        <p:nvSpPr>
          <p:cNvPr id="429" name="pca = PCA(n_components=1)"/>
          <p:cNvSpPr txBox="1"/>
          <p:nvPr/>
        </p:nvSpPr>
        <p:spPr>
          <a:xfrm>
            <a:off x="7199092" y="3106349"/>
            <a:ext cx="9985816" cy="940688"/>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5900">
                <a:latin typeface="Arial"/>
                <a:ea typeface="Arial"/>
                <a:cs typeface="Arial"/>
                <a:sym typeface="Arial"/>
              </a:defRPr>
            </a:lvl1pPr>
          </a:lstStyle>
          <a:p>
            <a:pPr/>
            <a:r>
              <a:t>pca = PCA(n_components=1)</a:t>
            </a:r>
          </a:p>
        </p:txBody>
      </p:sp>
      <p:sp>
        <p:nvSpPr>
          <p:cNvPr id="430" name="În general, sunt două tipuri mari și late:"/>
          <p:cNvSpPr txBox="1"/>
          <p:nvPr>
            <p:ph type="body" sz="quarter" idx="1"/>
          </p:nvPr>
        </p:nvSpPr>
        <p:spPr>
          <a:xfrm>
            <a:off x="655694" y="5243039"/>
            <a:ext cx="21948580" cy="1217089"/>
          </a:xfrm>
          <a:prstGeom prst="rect">
            <a:avLst/>
          </a:prstGeom>
        </p:spPr>
        <p:txBody>
          <a:bodyPr/>
          <a:lstStyle/>
          <a:p>
            <a:pPr/>
            <a:r>
              <a:t>Pe acest obiect, având un set de date X, putem aplica diverse metode:</a:t>
            </a:r>
          </a:p>
        </p:txBody>
      </p:sp>
      <p:sp>
        <p:nvSpPr>
          <p:cNvPr id="431" name="În general, sunt două tipuri mari și late:"/>
          <p:cNvSpPr txBox="1"/>
          <p:nvPr/>
        </p:nvSpPr>
        <p:spPr>
          <a:xfrm>
            <a:off x="655694" y="6249456"/>
            <a:ext cx="21948580" cy="121708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pca.fit(X) îmi calculeaza componentele principale pe baza lui X</a:t>
            </a:r>
          </a:p>
        </p:txBody>
      </p:sp>
      <p:sp>
        <p:nvSpPr>
          <p:cNvPr id="432" name="În general, sunt două tipuri mari și late:"/>
          <p:cNvSpPr txBox="1"/>
          <p:nvPr/>
        </p:nvSpPr>
        <p:spPr>
          <a:xfrm>
            <a:off x="655694" y="7090715"/>
            <a:ext cx="21948580" cy="301350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X_new = pca.transform(X) folosește componentele principale calculate anterior ca să transforme setul de date X astfel încât să conțină dimensionalitatea cerută</a:t>
            </a:r>
          </a:p>
        </p:txBody>
      </p:sp>
      <p:sp>
        <p:nvSpPr>
          <p:cNvPr id="433" name="În general, sunt două tipuri mari și late:"/>
          <p:cNvSpPr txBox="1"/>
          <p:nvPr/>
        </p:nvSpPr>
        <p:spPr>
          <a:xfrm>
            <a:off x="655694" y="9380332"/>
            <a:ext cx="21948580" cy="172910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Cele două pot fi combinate într-o singură linie: X_new = pca.fit_transform(X)</a:t>
            </a:r>
          </a:p>
        </p:txBody>
      </p:sp>
      <p:pic>
        <p:nvPicPr>
          <p:cNvPr id="434" name="Linie Linie" descr="Linie Linie"/>
          <p:cNvPicPr>
            <a:picLocks noChangeAspect="0"/>
          </p:cNvPicPr>
          <p:nvPr/>
        </p:nvPicPr>
        <p:blipFill>
          <a:blip r:embed="rId2">
            <a:extLst/>
          </a:blip>
          <a:stretch>
            <a:fillRect/>
          </a:stretch>
        </p:blipFill>
        <p:spPr>
          <a:xfrm>
            <a:off x="7399211" y="7047472"/>
            <a:ext cx="6454500" cy="101601"/>
          </a:xfrm>
          <a:prstGeom prst="rect">
            <a:avLst/>
          </a:prstGeom>
        </p:spPr>
      </p:pic>
      <p:pic>
        <p:nvPicPr>
          <p:cNvPr id="436" name="Linie Linie" descr="Linie Linie"/>
          <p:cNvPicPr>
            <a:picLocks noChangeAspect="0"/>
          </p:cNvPicPr>
          <p:nvPr/>
        </p:nvPicPr>
        <p:blipFill>
          <a:blip r:embed="rId3">
            <a:extLst/>
          </a:blip>
          <a:stretch>
            <a:fillRect/>
          </a:stretch>
        </p:blipFill>
        <p:spPr>
          <a:xfrm>
            <a:off x="1645460" y="8694235"/>
            <a:ext cx="3272457" cy="101601"/>
          </a:xfrm>
          <a:prstGeom prst="rect">
            <a:avLst/>
          </a:prstGeom>
        </p:spPr>
      </p:pic>
      <p:pic>
        <p:nvPicPr>
          <p:cNvPr id="438" name="Linie Linie" descr="Linie Linie"/>
          <p:cNvPicPr>
            <a:picLocks noChangeAspect="0"/>
          </p:cNvPicPr>
          <p:nvPr/>
        </p:nvPicPr>
        <p:blipFill>
          <a:blip r:embed="rId4">
            <a:extLst/>
          </a:blip>
          <a:stretch>
            <a:fillRect/>
          </a:stretch>
        </p:blipFill>
        <p:spPr>
          <a:xfrm>
            <a:off x="11783966" y="8691386"/>
            <a:ext cx="9018562" cy="101601"/>
          </a:xfrm>
          <a:prstGeom prst="rect">
            <a:avLst/>
          </a:prstGeom>
        </p:spPr>
      </p:pic>
      <p:pic>
        <p:nvPicPr>
          <p:cNvPr id="440" name="Linie Linie" descr="Linie Linie"/>
          <p:cNvPicPr>
            <a:picLocks noChangeAspect="0"/>
          </p:cNvPicPr>
          <p:nvPr/>
        </p:nvPicPr>
        <p:blipFill>
          <a:blip r:embed="rId5">
            <a:extLst/>
          </a:blip>
          <a:stretch>
            <a:fillRect/>
          </a:stretch>
        </p:blipFill>
        <p:spPr>
          <a:xfrm>
            <a:off x="12597428" y="10335300"/>
            <a:ext cx="7663741" cy="101601"/>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advClick="1" p14:dur="2000">
        <p14:prism dir="l"/>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 grpId="1" fill="hold">
                                  <p:stCondLst>
                                    <p:cond delay="0"/>
                                  </p:stCondLst>
                                  <p:iterate type="el" backwards="0">
                                    <p:tmAbs val="0"/>
                                  </p:iterate>
                                  <p:childTnLst>
                                    <p:set>
                                      <p:cBhvr>
                                        <p:cTn id="6" fill="hold"/>
                                        <p:tgtEl>
                                          <p:spTgt spid="430"/>
                                        </p:tgtEl>
                                        <p:attrNameLst>
                                          <p:attrName>style.visibility</p:attrName>
                                        </p:attrNameLst>
                                      </p:cBhvr>
                                      <p:to>
                                        <p:strVal val="visible"/>
                                      </p:to>
                                    </p:set>
                                    <p:anim calcmode="lin" valueType="num">
                                      <p:cBhvr>
                                        <p:cTn id="7" dur="1000" fill="hold"/>
                                        <p:tgtEl>
                                          <p:spTgt spid="430"/>
                                        </p:tgtEl>
                                        <p:attrNameLst>
                                          <p:attrName>ppt_x</p:attrName>
                                        </p:attrNameLst>
                                      </p:cBhvr>
                                      <p:tavLst>
                                        <p:tav tm="0">
                                          <p:val>
                                            <p:strVal val="0-#ppt_w/2"/>
                                          </p:val>
                                        </p:tav>
                                        <p:tav tm="100000">
                                          <p:val>
                                            <p:strVal val="#ppt_x"/>
                                          </p:val>
                                        </p:tav>
                                      </p:tavLst>
                                    </p:anim>
                                    <p:anim calcmode="lin" valueType="num">
                                      <p:cBhvr>
                                        <p:cTn id="8" dur="1000" fill="hold"/>
                                        <p:tgtEl>
                                          <p:spTgt spid="43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Subtype="8" presetID="2" grpId="2" fill="hold">
                                  <p:stCondLst>
                                    <p:cond delay="0"/>
                                  </p:stCondLst>
                                  <p:iterate type="el" backwards="0">
                                    <p:tmAbs val="0"/>
                                  </p:iterate>
                                  <p:childTnLst>
                                    <p:set>
                                      <p:cBhvr>
                                        <p:cTn id="12" fill="hold"/>
                                        <p:tgtEl>
                                          <p:spTgt spid="431"/>
                                        </p:tgtEl>
                                        <p:attrNameLst>
                                          <p:attrName>style.visibility</p:attrName>
                                        </p:attrNameLst>
                                      </p:cBhvr>
                                      <p:to>
                                        <p:strVal val="visible"/>
                                      </p:to>
                                    </p:set>
                                    <p:anim calcmode="lin" valueType="num">
                                      <p:cBhvr>
                                        <p:cTn id="13" dur="1000" fill="hold"/>
                                        <p:tgtEl>
                                          <p:spTgt spid="431"/>
                                        </p:tgtEl>
                                        <p:attrNameLst>
                                          <p:attrName>ppt_x</p:attrName>
                                        </p:attrNameLst>
                                      </p:cBhvr>
                                      <p:tavLst>
                                        <p:tav tm="0">
                                          <p:val>
                                            <p:strVal val="0-#ppt_w/2"/>
                                          </p:val>
                                        </p:tav>
                                        <p:tav tm="100000">
                                          <p:val>
                                            <p:strVal val="#ppt_x"/>
                                          </p:val>
                                        </p:tav>
                                      </p:tavLst>
                                    </p:anim>
                                    <p:anim calcmode="lin" valueType="num">
                                      <p:cBhvr>
                                        <p:cTn id="14" dur="1000" fill="hold"/>
                                        <p:tgtEl>
                                          <p:spTgt spid="431"/>
                                        </p:tgtEl>
                                        <p:attrNameLst>
                                          <p:attrName>ppt_y</p:attrName>
                                        </p:attrNameLst>
                                      </p:cBhvr>
                                      <p:tavLst>
                                        <p:tav tm="0">
                                          <p:val>
                                            <p:strVal val="#ppt_y"/>
                                          </p:val>
                                        </p:tav>
                                        <p:tav tm="100000">
                                          <p:val>
                                            <p:strVal val="#ppt_y"/>
                                          </p:val>
                                        </p:tav>
                                      </p:tavLst>
                                    </p:anim>
                                  </p:childTnLst>
                                </p:cTn>
                              </p:par>
                            </p:childTnLst>
                          </p:cTn>
                        </p:par>
                        <p:par>
                          <p:cTn id="15" fill="hold">
                            <p:stCondLst>
                              <p:cond delay="1000"/>
                            </p:stCondLst>
                            <p:childTnLst>
                              <p:par>
                                <p:cTn id="16" presetClass="entr" nodeType="afterEffect" presetID="9" grpId="3" fill="hold">
                                  <p:stCondLst>
                                    <p:cond delay="0"/>
                                  </p:stCondLst>
                                  <p:iterate type="el" backwards="0">
                                    <p:tmAbs val="0"/>
                                  </p:iterate>
                                  <p:childTnLst>
                                    <p:set>
                                      <p:cBhvr>
                                        <p:cTn id="17" fill="hold"/>
                                        <p:tgtEl>
                                          <p:spTgt spid="434"/>
                                        </p:tgtEl>
                                        <p:attrNameLst>
                                          <p:attrName>style.visibility</p:attrName>
                                        </p:attrNameLst>
                                      </p:cBhvr>
                                      <p:to>
                                        <p:strVal val="visible"/>
                                      </p:to>
                                    </p:set>
                                    <p:animEffect filter="dissolve" transition="in">
                                      <p:cBhvr>
                                        <p:cTn id="18" dur="2000"/>
                                        <p:tgtEl>
                                          <p:spTgt spid="434"/>
                                        </p:tgtEl>
                                      </p:cBhvr>
                                    </p:animEffect>
                                  </p:childTnLst>
                                </p:cTn>
                              </p:par>
                            </p:childTnLst>
                          </p:cTn>
                        </p:par>
                      </p:childTnLst>
                    </p:cTn>
                  </p:par>
                  <p:par>
                    <p:cTn id="19" fill="hold">
                      <p:stCondLst>
                        <p:cond delay="indefinite"/>
                      </p:stCondLst>
                      <p:childTnLst>
                        <p:par>
                          <p:cTn id="20" fill="hold">
                            <p:stCondLst>
                              <p:cond delay="0"/>
                            </p:stCondLst>
                            <p:childTnLst>
                              <p:par>
                                <p:cTn id="21" presetClass="entr" nodeType="clickEffect" presetSubtype="8" presetID="2" grpId="4" fill="hold">
                                  <p:stCondLst>
                                    <p:cond delay="0"/>
                                  </p:stCondLst>
                                  <p:iterate type="el" backwards="0">
                                    <p:tmAbs val="0"/>
                                  </p:iterate>
                                  <p:childTnLst>
                                    <p:set>
                                      <p:cBhvr>
                                        <p:cTn id="22" fill="hold"/>
                                        <p:tgtEl>
                                          <p:spTgt spid="432"/>
                                        </p:tgtEl>
                                        <p:attrNameLst>
                                          <p:attrName>style.visibility</p:attrName>
                                        </p:attrNameLst>
                                      </p:cBhvr>
                                      <p:to>
                                        <p:strVal val="visible"/>
                                      </p:to>
                                    </p:set>
                                    <p:anim calcmode="lin" valueType="num">
                                      <p:cBhvr>
                                        <p:cTn id="23" dur="1000" fill="hold"/>
                                        <p:tgtEl>
                                          <p:spTgt spid="432"/>
                                        </p:tgtEl>
                                        <p:attrNameLst>
                                          <p:attrName>ppt_x</p:attrName>
                                        </p:attrNameLst>
                                      </p:cBhvr>
                                      <p:tavLst>
                                        <p:tav tm="0">
                                          <p:val>
                                            <p:strVal val="0-#ppt_w/2"/>
                                          </p:val>
                                        </p:tav>
                                        <p:tav tm="100000">
                                          <p:val>
                                            <p:strVal val="#ppt_x"/>
                                          </p:val>
                                        </p:tav>
                                      </p:tavLst>
                                    </p:anim>
                                    <p:anim calcmode="lin" valueType="num">
                                      <p:cBhvr>
                                        <p:cTn id="24" dur="1000" fill="hold"/>
                                        <p:tgtEl>
                                          <p:spTgt spid="432"/>
                                        </p:tgtEl>
                                        <p:attrNameLst>
                                          <p:attrName>ppt_y</p:attrName>
                                        </p:attrNameLst>
                                      </p:cBhvr>
                                      <p:tavLst>
                                        <p:tav tm="0">
                                          <p:val>
                                            <p:strVal val="#ppt_y"/>
                                          </p:val>
                                        </p:tav>
                                        <p:tav tm="100000">
                                          <p:val>
                                            <p:strVal val="#ppt_y"/>
                                          </p:val>
                                        </p:tav>
                                      </p:tavLst>
                                    </p:anim>
                                  </p:childTnLst>
                                </p:cTn>
                              </p:par>
                            </p:childTnLst>
                          </p:cTn>
                        </p:par>
                        <p:par>
                          <p:cTn id="25" fill="hold">
                            <p:stCondLst>
                              <p:cond delay="1000"/>
                            </p:stCondLst>
                            <p:childTnLst>
                              <p:par>
                                <p:cTn id="26" presetClass="entr" nodeType="afterEffect" presetID="9" grpId="5" fill="hold">
                                  <p:stCondLst>
                                    <p:cond delay="0"/>
                                  </p:stCondLst>
                                  <p:iterate type="el" backwards="0">
                                    <p:tmAbs val="0"/>
                                  </p:iterate>
                                  <p:childTnLst>
                                    <p:set>
                                      <p:cBhvr>
                                        <p:cTn id="27" fill="hold"/>
                                        <p:tgtEl>
                                          <p:spTgt spid="436"/>
                                        </p:tgtEl>
                                        <p:attrNameLst>
                                          <p:attrName>style.visibility</p:attrName>
                                        </p:attrNameLst>
                                      </p:cBhvr>
                                      <p:to>
                                        <p:strVal val="visible"/>
                                      </p:to>
                                    </p:set>
                                    <p:animEffect filter="dissolve" transition="in">
                                      <p:cBhvr>
                                        <p:cTn id="28" dur="2000"/>
                                        <p:tgtEl>
                                          <p:spTgt spid="436"/>
                                        </p:tgtEl>
                                      </p:cBhvr>
                                    </p:animEffect>
                                  </p:childTnLst>
                                </p:cTn>
                              </p:par>
                            </p:childTnLst>
                          </p:cTn>
                        </p:par>
                        <p:par>
                          <p:cTn id="29" fill="hold">
                            <p:stCondLst>
                              <p:cond delay="3000"/>
                            </p:stCondLst>
                            <p:childTnLst>
                              <p:par>
                                <p:cTn id="30" presetClass="entr" nodeType="afterEffect" presetID="9" grpId="6" fill="hold">
                                  <p:stCondLst>
                                    <p:cond delay="0"/>
                                  </p:stCondLst>
                                  <p:iterate type="el" backwards="0">
                                    <p:tmAbs val="0"/>
                                  </p:iterate>
                                  <p:childTnLst>
                                    <p:set>
                                      <p:cBhvr>
                                        <p:cTn id="31" fill="hold"/>
                                        <p:tgtEl>
                                          <p:spTgt spid="438"/>
                                        </p:tgtEl>
                                        <p:attrNameLst>
                                          <p:attrName>style.visibility</p:attrName>
                                        </p:attrNameLst>
                                      </p:cBhvr>
                                      <p:to>
                                        <p:strVal val="visible"/>
                                      </p:to>
                                    </p:set>
                                    <p:animEffect filter="dissolve" transition="in">
                                      <p:cBhvr>
                                        <p:cTn id="32" dur="2000"/>
                                        <p:tgtEl>
                                          <p:spTgt spid="438"/>
                                        </p:tgtEl>
                                      </p:cBhvr>
                                    </p:animEffect>
                                  </p:childTnLst>
                                </p:cTn>
                              </p:par>
                            </p:childTnLst>
                          </p:cTn>
                        </p:par>
                      </p:childTnLst>
                    </p:cTn>
                  </p:par>
                  <p:par>
                    <p:cTn id="33" fill="hold">
                      <p:stCondLst>
                        <p:cond delay="indefinite"/>
                      </p:stCondLst>
                      <p:childTnLst>
                        <p:par>
                          <p:cTn id="34" fill="hold">
                            <p:stCondLst>
                              <p:cond delay="0"/>
                            </p:stCondLst>
                            <p:childTnLst>
                              <p:par>
                                <p:cTn id="35" presetClass="entr" nodeType="clickEffect" presetSubtype="8" presetID="2" grpId="7" fill="hold">
                                  <p:stCondLst>
                                    <p:cond delay="0"/>
                                  </p:stCondLst>
                                  <p:iterate type="el" backwards="0">
                                    <p:tmAbs val="0"/>
                                  </p:iterate>
                                  <p:childTnLst>
                                    <p:set>
                                      <p:cBhvr>
                                        <p:cTn id="36" fill="hold"/>
                                        <p:tgtEl>
                                          <p:spTgt spid="433"/>
                                        </p:tgtEl>
                                        <p:attrNameLst>
                                          <p:attrName>style.visibility</p:attrName>
                                        </p:attrNameLst>
                                      </p:cBhvr>
                                      <p:to>
                                        <p:strVal val="visible"/>
                                      </p:to>
                                    </p:set>
                                    <p:anim calcmode="lin" valueType="num">
                                      <p:cBhvr>
                                        <p:cTn id="37" dur="1000" fill="hold"/>
                                        <p:tgtEl>
                                          <p:spTgt spid="433"/>
                                        </p:tgtEl>
                                        <p:attrNameLst>
                                          <p:attrName>ppt_x</p:attrName>
                                        </p:attrNameLst>
                                      </p:cBhvr>
                                      <p:tavLst>
                                        <p:tav tm="0">
                                          <p:val>
                                            <p:strVal val="0-#ppt_w/2"/>
                                          </p:val>
                                        </p:tav>
                                        <p:tav tm="100000">
                                          <p:val>
                                            <p:strVal val="#ppt_x"/>
                                          </p:val>
                                        </p:tav>
                                      </p:tavLst>
                                    </p:anim>
                                    <p:anim calcmode="lin" valueType="num">
                                      <p:cBhvr>
                                        <p:cTn id="38" dur="1000" fill="hold"/>
                                        <p:tgtEl>
                                          <p:spTgt spid="433"/>
                                        </p:tgtEl>
                                        <p:attrNameLst>
                                          <p:attrName>ppt_y</p:attrName>
                                        </p:attrNameLst>
                                      </p:cBhvr>
                                      <p:tavLst>
                                        <p:tav tm="0">
                                          <p:val>
                                            <p:strVal val="#ppt_y"/>
                                          </p:val>
                                        </p:tav>
                                        <p:tav tm="100000">
                                          <p:val>
                                            <p:strVal val="#ppt_y"/>
                                          </p:val>
                                        </p:tav>
                                      </p:tavLst>
                                    </p:anim>
                                  </p:childTnLst>
                                </p:cTn>
                              </p:par>
                            </p:childTnLst>
                          </p:cTn>
                        </p:par>
                        <p:par>
                          <p:cTn id="39" fill="hold">
                            <p:stCondLst>
                              <p:cond delay="1000"/>
                            </p:stCondLst>
                            <p:childTnLst>
                              <p:par>
                                <p:cTn id="40" presetClass="entr" nodeType="afterEffect" presetID="9" grpId="8" fill="hold">
                                  <p:stCondLst>
                                    <p:cond delay="0"/>
                                  </p:stCondLst>
                                  <p:iterate type="el" backwards="0">
                                    <p:tmAbs val="0"/>
                                  </p:iterate>
                                  <p:childTnLst>
                                    <p:set>
                                      <p:cBhvr>
                                        <p:cTn id="41" fill="hold"/>
                                        <p:tgtEl>
                                          <p:spTgt spid="440"/>
                                        </p:tgtEl>
                                        <p:attrNameLst>
                                          <p:attrName>style.visibility</p:attrName>
                                        </p:attrNameLst>
                                      </p:cBhvr>
                                      <p:to>
                                        <p:strVal val="visible"/>
                                      </p:to>
                                    </p:set>
                                    <p:animEffect filter="dissolve" transition="in">
                                      <p:cBhvr>
                                        <p:cTn id="42" dur="2000"/>
                                        <p:tgtEl>
                                          <p:spTgt spid="4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432" grpId="4"/>
      <p:bldP build="whole" bldLvl="1" animBg="1" rev="0" advAuto="0" spid="434" grpId="3"/>
      <p:bldP build="whole" bldLvl="1" animBg="1" rev="0" advAuto="0" spid="436" grpId="5"/>
      <p:bldP build="whole" bldLvl="1" animBg="1" rev="0" advAuto="0" spid="440" grpId="8"/>
      <p:bldP build="whole" bldLvl="1" animBg="1" rev="0" advAuto="0" spid="433" grpId="7"/>
      <p:bldP build="whole" bldLvl="1" animBg="1" rev="0" advAuto="0" spid="438" grpId="6"/>
      <p:bldP build="whole" bldLvl="1" animBg="1" rev="0" advAuto="0" spid="430" grpId="1"/>
      <p:bldP build="whole" bldLvl="1" animBg="1" rev="0" advAuto="0" spid="431" grpId="2"/>
    </p:bldLst>
  </p:timing>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43"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444" name="Supervizate"/>
          <p:cNvSpPr txBox="1"/>
          <p:nvPr/>
        </p:nvSpPr>
        <p:spPr>
          <a:xfrm>
            <a:off x="4215928" y="181241"/>
            <a:ext cx="19507707" cy="172910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8500">
                <a:latin typeface="Canela Text Regular"/>
                <a:ea typeface="Canela Text Regular"/>
                <a:cs typeface="Canela Text Regular"/>
                <a:sym typeface="Canela Text Regular"/>
              </a:defRPr>
            </a:lvl1pPr>
          </a:lstStyle>
          <a:p>
            <a:pPr/>
            <a:r>
              <a:t>Principal Component Analysis</a:t>
            </a:r>
          </a:p>
        </p:txBody>
      </p:sp>
      <p:pic>
        <p:nvPicPr>
          <p:cNvPr id="445" name="Captură de ecran din 2024-10-27 la 22.56.03.png" descr="Captură de ecran din 2024-10-27 la 22.56.03.png"/>
          <p:cNvPicPr>
            <a:picLocks noChangeAspect="1"/>
          </p:cNvPicPr>
          <p:nvPr/>
        </p:nvPicPr>
        <p:blipFill>
          <a:blip r:embed="rId2">
            <a:extLst/>
          </a:blip>
          <a:stretch>
            <a:fillRect/>
          </a:stretch>
        </p:blipFill>
        <p:spPr>
          <a:xfrm>
            <a:off x="5668084" y="2117681"/>
            <a:ext cx="13047832" cy="11311250"/>
          </a:xfrm>
          <a:prstGeom prst="rect">
            <a:avLst/>
          </a:prstGeom>
          <a:ln w="12700">
            <a:miter lim="400000"/>
          </a:ln>
        </p:spPr>
      </p:pic>
      <p:sp>
        <p:nvSpPr>
          <p:cNvPr id="446" name="pca = PCA(n_components=1)"/>
          <p:cNvSpPr txBox="1"/>
          <p:nvPr/>
        </p:nvSpPr>
        <p:spPr>
          <a:xfrm>
            <a:off x="6439593" y="7283403"/>
            <a:ext cx="3293263" cy="373107"/>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1900">
                <a:solidFill>
                  <a:srgbClr val="FFFFFF"/>
                </a:solidFill>
                <a:latin typeface="Arial"/>
                <a:ea typeface="Arial"/>
                <a:cs typeface="Arial"/>
                <a:sym typeface="Arial"/>
              </a:defRPr>
            </a:lvl1pPr>
          </a:lstStyle>
          <a:p>
            <a:pPr/>
            <a:r>
              <a:t>pca = PCA(n_components=1)</a:t>
            </a:r>
          </a:p>
        </p:txBody>
      </p:sp>
      <p:pic>
        <p:nvPicPr>
          <p:cNvPr id="447" name="Linie Linie" descr="Linie Linie"/>
          <p:cNvPicPr>
            <a:picLocks noChangeAspect="0"/>
          </p:cNvPicPr>
          <p:nvPr/>
        </p:nvPicPr>
        <p:blipFill>
          <a:blip r:embed="rId3">
            <a:extLst/>
          </a:blip>
          <a:stretch>
            <a:fillRect/>
          </a:stretch>
        </p:blipFill>
        <p:spPr>
          <a:xfrm>
            <a:off x="6473420" y="7881731"/>
            <a:ext cx="4670518" cy="101601"/>
          </a:xfrm>
          <a:prstGeom prst="rect">
            <a:avLst/>
          </a:prstGeom>
        </p:spPr>
      </p:pic>
      <p:sp>
        <p:nvSpPr>
          <p:cNvPr id="449" name="Aplicăm fit_transform pe train"/>
          <p:cNvSpPr txBox="1"/>
          <p:nvPr/>
        </p:nvSpPr>
        <p:spPr>
          <a:xfrm>
            <a:off x="11228908" y="7222104"/>
            <a:ext cx="7320718" cy="782829"/>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600">
                <a:solidFill>
                  <a:srgbClr val="FFFFFF"/>
                </a:solidFill>
              </a:defRPr>
            </a:lvl1pPr>
          </a:lstStyle>
          <a:p>
            <a:pPr/>
            <a:r>
              <a:t>Aplicăm fit_transform pe train</a:t>
            </a:r>
          </a:p>
        </p:txBody>
      </p:sp>
      <p:pic>
        <p:nvPicPr>
          <p:cNvPr id="450" name="Linie Linie" descr="Linie Linie"/>
          <p:cNvPicPr>
            <a:picLocks noChangeAspect="0"/>
          </p:cNvPicPr>
          <p:nvPr/>
        </p:nvPicPr>
        <p:blipFill>
          <a:blip r:embed="rId4">
            <a:extLst/>
          </a:blip>
          <a:stretch>
            <a:fillRect/>
          </a:stretch>
        </p:blipFill>
        <p:spPr>
          <a:xfrm>
            <a:off x="6473420" y="8388326"/>
            <a:ext cx="4153481" cy="101601"/>
          </a:xfrm>
          <a:prstGeom prst="rect">
            <a:avLst/>
          </a:prstGeom>
        </p:spPr>
      </p:pic>
      <p:sp>
        <p:nvSpPr>
          <p:cNvPr id="452" name="Trebuie transformat și setul de test"/>
          <p:cNvSpPr txBox="1"/>
          <p:nvPr/>
        </p:nvSpPr>
        <p:spPr>
          <a:xfrm>
            <a:off x="10496824" y="7828593"/>
            <a:ext cx="7320718" cy="782829"/>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600">
                <a:solidFill>
                  <a:srgbClr val="FFFFFF"/>
                </a:solidFill>
              </a:defRPr>
            </a:lvl1pPr>
          </a:lstStyle>
          <a:p>
            <a:pPr/>
            <a:r>
              <a:t>Trebuie transformat și setul de test</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9" grpId="1" fill="hold">
                                  <p:stCondLst>
                                    <p:cond delay="0"/>
                                  </p:stCondLst>
                                  <p:iterate type="el" backwards="0">
                                    <p:tmAbs val="0"/>
                                  </p:iterate>
                                  <p:childTnLst>
                                    <p:set>
                                      <p:cBhvr>
                                        <p:cTn id="6" fill="hold"/>
                                        <p:tgtEl>
                                          <p:spTgt spid="447"/>
                                        </p:tgtEl>
                                        <p:attrNameLst>
                                          <p:attrName>style.visibility</p:attrName>
                                        </p:attrNameLst>
                                      </p:cBhvr>
                                      <p:to>
                                        <p:strVal val="visible"/>
                                      </p:to>
                                    </p:set>
                                    <p:animEffect filter="dissolve" transition="in">
                                      <p:cBhvr>
                                        <p:cTn id="7" dur="2000"/>
                                        <p:tgtEl>
                                          <p:spTgt spid="447"/>
                                        </p:tgtEl>
                                      </p:cBhvr>
                                    </p:animEffect>
                                  </p:childTnLst>
                                </p:cTn>
                              </p:par>
                            </p:childTnLst>
                          </p:cTn>
                        </p:par>
                        <p:par>
                          <p:cTn id="8" fill="hold">
                            <p:stCondLst>
                              <p:cond delay="2000"/>
                            </p:stCondLst>
                            <p:childTnLst>
                              <p:par>
                                <p:cTn id="9" presetClass="entr" nodeType="afterEffect" presetSubtype="8" presetID="2" grpId="2" fill="hold">
                                  <p:stCondLst>
                                    <p:cond delay="0"/>
                                  </p:stCondLst>
                                  <p:iterate type="el" backwards="0">
                                    <p:tmAbs val="0"/>
                                  </p:iterate>
                                  <p:childTnLst>
                                    <p:set>
                                      <p:cBhvr>
                                        <p:cTn id="10" fill="hold"/>
                                        <p:tgtEl>
                                          <p:spTgt spid="449"/>
                                        </p:tgtEl>
                                        <p:attrNameLst>
                                          <p:attrName>style.visibility</p:attrName>
                                        </p:attrNameLst>
                                      </p:cBhvr>
                                      <p:to>
                                        <p:strVal val="visible"/>
                                      </p:to>
                                    </p:set>
                                    <p:anim calcmode="lin" valueType="num">
                                      <p:cBhvr>
                                        <p:cTn id="11" dur="1000" fill="hold"/>
                                        <p:tgtEl>
                                          <p:spTgt spid="449"/>
                                        </p:tgtEl>
                                        <p:attrNameLst>
                                          <p:attrName>ppt_x</p:attrName>
                                        </p:attrNameLst>
                                      </p:cBhvr>
                                      <p:tavLst>
                                        <p:tav tm="0">
                                          <p:val>
                                            <p:strVal val="0-#ppt_w/2"/>
                                          </p:val>
                                        </p:tav>
                                        <p:tav tm="100000">
                                          <p:val>
                                            <p:strVal val="#ppt_x"/>
                                          </p:val>
                                        </p:tav>
                                      </p:tavLst>
                                    </p:anim>
                                    <p:anim calcmode="lin" valueType="num">
                                      <p:cBhvr>
                                        <p:cTn id="12" dur="1000" fill="hold"/>
                                        <p:tgtEl>
                                          <p:spTgt spid="449"/>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Class="exit" nodeType="clickEffect" presetID="9" grpId="3" fill="hold">
                                  <p:stCondLst>
                                    <p:cond delay="0"/>
                                  </p:stCondLst>
                                  <p:iterate type="el" backwards="0">
                                    <p:tmAbs val="0"/>
                                  </p:iterate>
                                  <p:childTnLst>
                                    <p:animEffect filter="dissolve" transition="out">
                                      <p:cBhvr>
                                        <p:cTn id="16" dur="2000" fill="hold"/>
                                        <p:tgtEl>
                                          <p:spTgt spid="447"/>
                                        </p:tgtEl>
                                      </p:cBhvr>
                                    </p:animEffect>
                                    <p:set>
                                      <p:cBhvr>
                                        <p:cTn id="17" fill="hold">
                                          <p:stCondLst>
                                            <p:cond delay="1999"/>
                                          </p:stCondLst>
                                        </p:cTn>
                                        <p:tgtEl>
                                          <p:spTgt spid="447"/>
                                        </p:tgtEl>
                                        <p:attrNameLst>
                                          <p:attrName>style.visibility</p:attrName>
                                        </p:attrNameLst>
                                      </p:cBhvr>
                                      <p:to>
                                        <p:strVal val="hidden"/>
                                      </p:to>
                                    </p:set>
                                  </p:childTnLst>
                                </p:cTn>
                              </p:par>
                            </p:childTnLst>
                          </p:cTn>
                        </p:par>
                        <p:par>
                          <p:cTn id="18" fill="hold">
                            <p:stCondLst>
                              <p:cond delay="2000"/>
                            </p:stCondLst>
                            <p:childTnLst>
                              <p:par>
                                <p:cTn id="19" presetClass="exit" nodeType="afterEffect" presetSubtype="2" presetID="2" grpId="4" fill="hold">
                                  <p:stCondLst>
                                    <p:cond delay="0"/>
                                  </p:stCondLst>
                                  <p:iterate type="el" backwards="0">
                                    <p:tmAbs val="0"/>
                                  </p:iterate>
                                  <p:childTnLst>
                                    <p:anim calcmode="lin" valueType="num">
                                      <p:cBhvr>
                                        <p:cTn id="20" dur="1000" fill="hold"/>
                                        <p:tgtEl>
                                          <p:spTgt spid="449"/>
                                        </p:tgtEl>
                                        <p:attrNameLst>
                                          <p:attrName>ppt_x</p:attrName>
                                        </p:attrNameLst>
                                      </p:cBhvr>
                                      <p:tavLst>
                                        <p:tav tm="0">
                                          <p:val>
                                            <p:strVal val="ppt_x"/>
                                          </p:val>
                                        </p:tav>
                                        <p:tav tm="100000">
                                          <p:val>
                                            <p:strVal val="1+ppt_w/2"/>
                                          </p:val>
                                        </p:tav>
                                      </p:tavLst>
                                    </p:anim>
                                    <p:anim calcmode="lin" valueType="num">
                                      <p:cBhvr>
                                        <p:cTn id="21" dur="1000" fill="hold"/>
                                        <p:tgtEl>
                                          <p:spTgt spid="449"/>
                                        </p:tgtEl>
                                        <p:attrNameLst>
                                          <p:attrName>ppt_y</p:attrName>
                                        </p:attrNameLst>
                                      </p:cBhvr>
                                      <p:tavLst>
                                        <p:tav tm="0">
                                          <p:val>
                                            <p:strVal val="ppt_y"/>
                                          </p:val>
                                        </p:tav>
                                        <p:tav tm="100000">
                                          <p:val>
                                            <p:strVal val="ppt_y"/>
                                          </p:val>
                                        </p:tav>
                                      </p:tavLst>
                                    </p:anim>
                                    <p:set>
                                      <p:cBhvr>
                                        <p:cTn id="22" fill="hold">
                                          <p:stCondLst>
                                            <p:cond delay="999"/>
                                          </p:stCondLst>
                                        </p:cTn>
                                        <p:tgtEl>
                                          <p:spTgt spid="449"/>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Class="entr" nodeType="clickEffect" presetID="9" grpId="5" fill="hold">
                                  <p:stCondLst>
                                    <p:cond delay="0"/>
                                  </p:stCondLst>
                                  <p:iterate type="el" backwards="0">
                                    <p:tmAbs val="0"/>
                                  </p:iterate>
                                  <p:childTnLst>
                                    <p:set>
                                      <p:cBhvr>
                                        <p:cTn id="26" fill="hold"/>
                                        <p:tgtEl>
                                          <p:spTgt spid="450"/>
                                        </p:tgtEl>
                                        <p:attrNameLst>
                                          <p:attrName>style.visibility</p:attrName>
                                        </p:attrNameLst>
                                      </p:cBhvr>
                                      <p:to>
                                        <p:strVal val="visible"/>
                                      </p:to>
                                    </p:set>
                                    <p:animEffect filter="dissolve" transition="in">
                                      <p:cBhvr>
                                        <p:cTn id="27" dur="2000"/>
                                        <p:tgtEl>
                                          <p:spTgt spid="450"/>
                                        </p:tgtEl>
                                      </p:cBhvr>
                                    </p:animEffect>
                                  </p:childTnLst>
                                </p:cTn>
                              </p:par>
                            </p:childTnLst>
                          </p:cTn>
                        </p:par>
                        <p:par>
                          <p:cTn id="28" fill="hold">
                            <p:stCondLst>
                              <p:cond delay="2000"/>
                            </p:stCondLst>
                            <p:childTnLst>
                              <p:par>
                                <p:cTn id="29" presetClass="entr" nodeType="afterEffect" presetSubtype="8" presetID="2" grpId="6" fill="hold">
                                  <p:stCondLst>
                                    <p:cond delay="0"/>
                                  </p:stCondLst>
                                  <p:iterate type="el" backwards="0">
                                    <p:tmAbs val="0"/>
                                  </p:iterate>
                                  <p:childTnLst>
                                    <p:set>
                                      <p:cBhvr>
                                        <p:cTn id="30" fill="hold"/>
                                        <p:tgtEl>
                                          <p:spTgt spid="452"/>
                                        </p:tgtEl>
                                        <p:attrNameLst>
                                          <p:attrName>style.visibility</p:attrName>
                                        </p:attrNameLst>
                                      </p:cBhvr>
                                      <p:to>
                                        <p:strVal val="visible"/>
                                      </p:to>
                                    </p:set>
                                    <p:anim calcmode="lin" valueType="num">
                                      <p:cBhvr>
                                        <p:cTn id="31" dur="1000" fill="hold"/>
                                        <p:tgtEl>
                                          <p:spTgt spid="452"/>
                                        </p:tgtEl>
                                        <p:attrNameLst>
                                          <p:attrName>ppt_x</p:attrName>
                                        </p:attrNameLst>
                                      </p:cBhvr>
                                      <p:tavLst>
                                        <p:tav tm="0">
                                          <p:val>
                                            <p:strVal val="0-#ppt_w/2"/>
                                          </p:val>
                                        </p:tav>
                                        <p:tav tm="100000">
                                          <p:val>
                                            <p:strVal val="#ppt_x"/>
                                          </p:val>
                                        </p:tav>
                                      </p:tavLst>
                                    </p:anim>
                                    <p:anim calcmode="lin" valueType="num">
                                      <p:cBhvr>
                                        <p:cTn id="32" dur="1000" fill="hold"/>
                                        <p:tgtEl>
                                          <p:spTgt spid="452"/>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Class="exit" nodeType="clickEffect" presetID="9" grpId="7" fill="hold">
                                  <p:stCondLst>
                                    <p:cond delay="0"/>
                                  </p:stCondLst>
                                  <p:iterate type="el" backwards="0">
                                    <p:tmAbs val="0"/>
                                  </p:iterate>
                                  <p:childTnLst>
                                    <p:animEffect filter="dissolve" transition="out">
                                      <p:cBhvr>
                                        <p:cTn id="36" dur="2000" fill="hold"/>
                                        <p:tgtEl>
                                          <p:spTgt spid="450"/>
                                        </p:tgtEl>
                                      </p:cBhvr>
                                    </p:animEffect>
                                    <p:set>
                                      <p:cBhvr>
                                        <p:cTn id="37" fill="hold">
                                          <p:stCondLst>
                                            <p:cond delay="1999"/>
                                          </p:stCondLst>
                                        </p:cTn>
                                        <p:tgtEl>
                                          <p:spTgt spid="450"/>
                                        </p:tgtEl>
                                        <p:attrNameLst>
                                          <p:attrName>style.visibility</p:attrName>
                                        </p:attrNameLst>
                                      </p:cBhvr>
                                      <p:to>
                                        <p:strVal val="hidden"/>
                                      </p:to>
                                    </p:set>
                                  </p:childTnLst>
                                </p:cTn>
                              </p:par>
                            </p:childTnLst>
                          </p:cTn>
                        </p:par>
                        <p:par>
                          <p:cTn id="38" fill="hold">
                            <p:stCondLst>
                              <p:cond delay="2000"/>
                            </p:stCondLst>
                            <p:childTnLst>
                              <p:par>
                                <p:cTn id="39" presetClass="exit" nodeType="afterEffect" presetSubtype="2" presetID="2" grpId="8" fill="hold">
                                  <p:stCondLst>
                                    <p:cond delay="0"/>
                                  </p:stCondLst>
                                  <p:iterate type="el" backwards="0">
                                    <p:tmAbs val="0"/>
                                  </p:iterate>
                                  <p:childTnLst>
                                    <p:anim calcmode="lin" valueType="num">
                                      <p:cBhvr>
                                        <p:cTn id="40" dur="1000" fill="hold"/>
                                        <p:tgtEl>
                                          <p:spTgt spid="452"/>
                                        </p:tgtEl>
                                        <p:attrNameLst>
                                          <p:attrName>ppt_x</p:attrName>
                                        </p:attrNameLst>
                                      </p:cBhvr>
                                      <p:tavLst>
                                        <p:tav tm="0">
                                          <p:val>
                                            <p:strVal val="ppt_x"/>
                                          </p:val>
                                        </p:tav>
                                        <p:tav tm="100000">
                                          <p:val>
                                            <p:strVal val="1+ppt_w/2"/>
                                          </p:val>
                                        </p:tav>
                                      </p:tavLst>
                                    </p:anim>
                                    <p:anim calcmode="lin" valueType="num">
                                      <p:cBhvr>
                                        <p:cTn id="41" dur="1000" fill="hold"/>
                                        <p:tgtEl>
                                          <p:spTgt spid="452"/>
                                        </p:tgtEl>
                                        <p:attrNameLst>
                                          <p:attrName>ppt_y</p:attrName>
                                        </p:attrNameLst>
                                      </p:cBhvr>
                                      <p:tavLst>
                                        <p:tav tm="0">
                                          <p:val>
                                            <p:strVal val="ppt_y"/>
                                          </p:val>
                                        </p:tav>
                                        <p:tav tm="100000">
                                          <p:val>
                                            <p:strVal val="ppt_y"/>
                                          </p:val>
                                        </p:tav>
                                      </p:tavLst>
                                    </p:anim>
                                    <p:set>
                                      <p:cBhvr>
                                        <p:cTn id="42" fill="hold">
                                          <p:stCondLst>
                                            <p:cond delay="999"/>
                                          </p:stCondLst>
                                        </p:cTn>
                                        <p:tgtEl>
                                          <p:spTgt spid="452"/>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449" grpId="4"/>
      <p:bldP build="whole" bldLvl="1" animBg="1" rev="0" advAuto="0" spid="447" grpId="3"/>
      <p:bldP build="whole" bldLvl="1" animBg="1" rev="0" advAuto="0" spid="450" grpId="5"/>
      <p:bldP build="whole" bldLvl="1" animBg="1" rev="0" advAuto="0" spid="450" grpId="7"/>
      <p:bldP build="whole" bldLvl="1" animBg="1" rev="0" advAuto="0" spid="452" grpId="6"/>
      <p:bldP build="whole" bldLvl="1" animBg="1" rev="0" advAuto="0" spid="452" grpId="8"/>
      <p:bldP build="whole" bldLvl="1" animBg="1" rev="0" advAuto="0" spid="449" grpId="2"/>
      <p:bldP build="whole" bldLvl="1" animBg="1" rev="0" advAuto="0" spid="447" grpId="1"/>
    </p:bldLst>
  </p:timing>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54"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455" name="Supervizate"/>
          <p:cNvSpPr txBox="1"/>
          <p:nvPr/>
        </p:nvSpPr>
        <p:spPr>
          <a:xfrm>
            <a:off x="4215928" y="181241"/>
            <a:ext cx="19507707" cy="172910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8500">
                <a:latin typeface="Canela Text Regular"/>
                <a:ea typeface="Canela Text Regular"/>
                <a:cs typeface="Canela Text Regular"/>
                <a:sym typeface="Canela Text Regular"/>
              </a:defRPr>
            </a:lvl1pPr>
          </a:lstStyle>
          <a:p>
            <a:pPr/>
            <a:r>
              <a:t>Principal Component Analysis</a:t>
            </a:r>
          </a:p>
        </p:txBody>
      </p:sp>
      <p:pic>
        <p:nvPicPr>
          <p:cNvPr id="456" name="Captură de ecran din 2024-10-27 la 22.56.03.png" descr="Captură de ecran din 2024-10-27 la 22.56.03.png"/>
          <p:cNvPicPr>
            <a:picLocks noChangeAspect="1"/>
          </p:cNvPicPr>
          <p:nvPr/>
        </p:nvPicPr>
        <p:blipFill>
          <a:blip r:embed="rId2">
            <a:extLst/>
          </a:blip>
          <a:stretch>
            <a:fillRect/>
          </a:stretch>
        </p:blipFill>
        <p:spPr>
          <a:xfrm>
            <a:off x="473622" y="1917893"/>
            <a:ext cx="13047833" cy="11311251"/>
          </a:xfrm>
          <a:prstGeom prst="rect">
            <a:avLst/>
          </a:prstGeom>
          <a:ln w="12700">
            <a:miter lim="400000"/>
          </a:ln>
        </p:spPr>
      </p:pic>
      <p:sp>
        <p:nvSpPr>
          <p:cNvPr id="457" name="pca = PCA(n_components=1)"/>
          <p:cNvSpPr txBox="1"/>
          <p:nvPr/>
        </p:nvSpPr>
        <p:spPr>
          <a:xfrm>
            <a:off x="1205174" y="7103595"/>
            <a:ext cx="3293264" cy="373107"/>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1900">
                <a:solidFill>
                  <a:srgbClr val="FFFFFF"/>
                </a:solidFill>
                <a:latin typeface="Arial"/>
                <a:ea typeface="Arial"/>
                <a:cs typeface="Arial"/>
                <a:sym typeface="Arial"/>
              </a:defRPr>
            </a:lvl1pPr>
          </a:lstStyle>
          <a:p>
            <a:pPr/>
            <a:r>
              <a:t>pca = PCA(n_components=1)</a:t>
            </a:r>
          </a:p>
        </p:txBody>
      </p:sp>
      <p:sp>
        <p:nvSpPr>
          <p:cNvPr id="458" name="În general, sunt două tipuri mari și late:"/>
          <p:cNvSpPr txBox="1"/>
          <p:nvPr>
            <p:ph type="body" sz="quarter" idx="1"/>
          </p:nvPr>
        </p:nvSpPr>
        <p:spPr>
          <a:xfrm>
            <a:off x="13659608" y="2824004"/>
            <a:ext cx="11352191" cy="2424493"/>
          </a:xfrm>
          <a:prstGeom prst="rect">
            <a:avLst/>
          </a:prstGeom>
        </p:spPr>
        <p:txBody>
          <a:bodyPr/>
          <a:lstStyle/>
          <a:p>
            <a:pPr/>
            <a:r>
              <a:t>Prima dată facem fit_transform pe setul de train</a:t>
            </a:r>
          </a:p>
        </p:txBody>
      </p:sp>
      <p:sp>
        <p:nvSpPr>
          <p:cNvPr id="459" name="În general, sunt două tipuri mari și late:"/>
          <p:cNvSpPr txBox="1"/>
          <p:nvPr/>
        </p:nvSpPr>
        <p:spPr>
          <a:xfrm>
            <a:off x="13726782" y="4419045"/>
            <a:ext cx="10126466" cy="534263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Asta face ca PCA să obțină componentele principale doar pe baza datelor din train, și după convertește setul de train astfel încât să aibă n_components features</a:t>
            </a:r>
          </a:p>
        </p:txBody>
      </p:sp>
      <p:sp>
        <p:nvSpPr>
          <p:cNvPr id="460" name="În general, sunt două tipuri mari și late:"/>
          <p:cNvSpPr txBox="1"/>
          <p:nvPr/>
        </p:nvSpPr>
        <p:spPr>
          <a:xfrm>
            <a:off x="13726782" y="8381955"/>
            <a:ext cx="10126466" cy="550737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Dar setul de test rămâne cel vechi, așa că trebuie să îl transformăm și pe el astfel încât să conțină n_components features</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8" presetID="2" grpId="1" fill="hold">
                                  <p:stCondLst>
                                    <p:cond delay="0"/>
                                  </p:stCondLst>
                                  <p:iterate type="el" backwards="0">
                                    <p:tmAbs val="0"/>
                                  </p:iterate>
                                  <p:childTnLst>
                                    <p:set>
                                      <p:cBhvr>
                                        <p:cTn id="6" fill="hold"/>
                                        <p:tgtEl>
                                          <p:spTgt spid="458"/>
                                        </p:tgtEl>
                                        <p:attrNameLst>
                                          <p:attrName>style.visibility</p:attrName>
                                        </p:attrNameLst>
                                      </p:cBhvr>
                                      <p:to>
                                        <p:strVal val="visible"/>
                                      </p:to>
                                    </p:set>
                                    <p:anim calcmode="lin" valueType="num">
                                      <p:cBhvr>
                                        <p:cTn id="7" dur="1000" fill="hold"/>
                                        <p:tgtEl>
                                          <p:spTgt spid="458"/>
                                        </p:tgtEl>
                                        <p:attrNameLst>
                                          <p:attrName>ppt_x</p:attrName>
                                        </p:attrNameLst>
                                      </p:cBhvr>
                                      <p:tavLst>
                                        <p:tav tm="0">
                                          <p:val>
                                            <p:strVal val="0-#ppt_w/2"/>
                                          </p:val>
                                        </p:tav>
                                        <p:tav tm="100000">
                                          <p:val>
                                            <p:strVal val="#ppt_x"/>
                                          </p:val>
                                        </p:tav>
                                      </p:tavLst>
                                    </p:anim>
                                    <p:anim calcmode="lin" valueType="num">
                                      <p:cBhvr>
                                        <p:cTn id="8" dur="1000" fill="hold"/>
                                        <p:tgtEl>
                                          <p:spTgt spid="45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Subtype="8" presetID="2" grpId="2" fill="hold">
                                  <p:stCondLst>
                                    <p:cond delay="0"/>
                                  </p:stCondLst>
                                  <p:iterate type="el" backwards="0">
                                    <p:tmAbs val="0"/>
                                  </p:iterate>
                                  <p:childTnLst>
                                    <p:set>
                                      <p:cBhvr>
                                        <p:cTn id="12" fill="hold"/>
                                        <p:tgtEl>
                                          <p:spTgt spid="459"/>
                                        </p:tgtEl>
                                        <p:attrNameLst>
                                          <p:attrName>style.visibility</p:attrName>
                                        </p:attrNameLst>
                                      </p:cBhvr>
                                      <p:to>
                                        <p:strVal val="visible"/>
                                      </p:to>
                                    </p:set>
                                    <p:anim calcmode="lin" valueType="num">
                                      <p:cBhvr>
                                        <p:cTn id="13" dur="1000" fill="hold"/>
                                        <p:tgtEl>
                                          <p:spTgt spid="459"/>
                                        </p:tgtEl>
                                        <p:attrNameLst>
                                          <p:attrName>ppt_x</p:attrName>
                                        </p:attrNameLst>
                                      </p:cBhvr>
                                      <p:tavLst>
                                        <p:tav tm="0">
                                          <p:val>
                                            <p:strVal val="0-#ppt_w/2"/>
                                          </p:val>
                                        </p:tav>
                                        <p:tav tm="100000">
                                          <p:val>
                                            <p:strVal val="#ppt_x"/>
                                          </p:val>
                                        </p:tav>
                                      </p:tavLst>
                                    </p:anim>
                                    <p:anim calcmode="lin" valueType="num">
                                      <p:cBhvr>
                                        <p:cTn id="14" dur="1000" fill="hold"/>
                                        <p:tgtEl>
                                          <p:spTgt spid="459"/>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Class="entr" nodeType="clickEffect" presetSubtype="8" presetID="2" grpId="3" fill="hold">
                                  <p:stCondLst>
                                    <p:cond delay="0"/>
                                  </p:stCondLst>
                                  <p:iterate type="el" backwards="0">
                                    <p:tmAbs val="0"/>
                                  </p:iterate>
                                  <p:childTnLst>
                                    <p:set>
                                      <p:cBhvr>
                                        <p:cTn id="18" fill="hold"/>
                                        <p:tgtEl>
                                          <p:spTgt spid="460"/>
                                        </p:tgtEl>
                                        <p:attrNameLst>
                                          <p:attrName>style.visibility</p:attrName>
                                        </p:attrNameLst>
                                      </p:cBhvr>
                                      <p:to>
                                        <p:strVal val="visible"/>
                                      </p:to>
                                    </p:set>
                                    <p:anim calcmode="lin" valueType="num">
                                      <p:cBhvr>
                                        <p:cTn id="19" dur="1000" fill="hold"/>
                                        <p:tgtEl>
                                          <p:spTgt spid="460"/>
                                        </p:tgtEl>
                                        <p:attrNameLst>
                                          <p:attrName>ppt_x</p:attrName>
                                        </p:attrNameLst>
                                      </p:cBhvr>
                                      <p:tavLst>
                                        <p:tav tm="0">
                                          <p:val>
                                            <p:strVal val="0-#ppt_w/2"/>
                                          </p:val>
                                        </p:tav>
                                        <p:tav tm="100000">
                                          <p:val>
                                            <p:strVal val="#ppt_x"/>
                                          </p:val>
                                        </p:tav>
                                      </p:tavLst>
                                    </p:anim>
                                    <p:anim calcmode="lin" valueType="num">
                                      <p:cBhvr>
                                        <p:cTn id="20" dur="1000" fill="hold"/>
                                        <p:tgtEl>
                                          <p:spTgt spid="46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458" grpId="1"/>
      <p:bldP build="whole" bldLvl="1" animBg="1" rev="0" advAuto="0" spid="459" grpId="2"/>
      <p:bldP build="whole" bldLvl="1" animBg="1" rev="0" advAuto="0" spid="460" grpId="3"/>
    </p:bldLst>
  </p:timing>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62"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463" name="Supervizate"/>
          <p:cNvSpPr txBox="1"/>
          <p:nvPr/>
        </p:nvSpPr>
        <p:spPr>
          <a:xfrm>
            <a:off x="4215928" y="181241"/>
            <a:ext cx="19507707" cy="172910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8500">
                <a:latin typeface="Canela Text Regular"/>
                <a:ea typeface="Canela Text Regular"/>
                <a:cs typeface="Canela Text Regular"/>
                <a:sym typeface="Canela Text Regular"/>
              </a:defRPr>
            </a:lvl1pPr>
          </a:lstStyle>
          <a:p>
            <a:pPr/>
            <a:r>
              <a:t>Principal Component Analysis</a:t>
            </a:r>
          </a:p>
        </p:txBody>
      </p:sp>
      <p:pic>
        <p:nvPicPr>
          <p:cNvPr id="464" name="Captură de ecran din 2024-10-27 la 22.56.03.png" descr="Captură de ecran din 2024-10-27 la 22.56.03.png"/>
          <p:cNvPicPr>
            <a:picLocks noChangeAspect="1"/>
          </p:cNvPicPr>
          <p:nvPr/>
        </p:nvPicPr>
        <p:blipFill>
          <a:blip r:embed="rId2">
            <a:extLst/>
          </a:blip>
          <a:stretch>
            <a:fillRect/>
          </a:stretch>
        </p:blipFill>
        <p:spPr>
          <a:xfrm>
            <a:off x="608751" y="2058159"/>
            <a:ext cx="13047832" cy="11311250"/>
          </a:xfrm>
          <a:prstGeom prst="rect">
            <a:avLst/>
          </a:prstGeom>
          <a:ln w="12700">
            <a:miter lim="400000"/>
          </a:ln>
        </p:spPr>
      </p:pic>
      <p:sp>
        <p:nvSpPr>
          <p:cNvPr id="465" name="pca = PCA(n_components=1)"/>
          <p:cNvSpPr txBox="1"/>
          <p:nvPr/>
        </p:nvSpPr>
        <p:spPr>
          <a:xfrm>
            <a:off x="1300207" y="7243998"/>
            <a:ext cx="3293264" cy="373107"/>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1900">
                <a:solidFill>
                  <a:srgbClr val="FFFFFF"/>
                </a:solidFill>
                <a:latin typeface="Arial"/>
                <a:ea typeface="Arial"/>
                <a:cs typeface="Arial"/>
                <a:sym typeface="Arial"/>
              </a:defRPr>
            </a:lvl1pPr>
          </a:lstStyle>
          <a:p>
            <a:pPr/>
            <a:r>
              <a:t>pca = PCA(n_components=1)</a:t>
            </a:r>
          </a:p>
        </p:txBody>
      </p:sp>
      <p:sp>
        <p:nvSpPr>
          <p:cNvPr id="466" name="În general, sunt două tipuri mari și late:"/>
          <p:cNvSpPr txBox="1"/>
          <p:nvPr>
            <p:ph type="body" sz="quarter" idx="1"/>
          </p:nvPr>
        </p:nvSpPr>
        <p:spPr>
          <a:xfrm>
            <a:off x="13712307" y="2943876"/>
            <a:ext cx="11352191" cy="2424493"/>
          </a:xfrm>
          <a:prstGeom prst="rect">
            <a:avLst/>
          </a:prstGeom>
        </p:spPr>
        <p:txBody>
          <a:bodyPr/>
          <a:lstStyle/>
          <a:p>
            <a:pPr/>
            <a:r>
              <a:t>Putem apela inverse_transform pe ceva redus ca să îl recuperăm </a:t>
            </a:r>
          </a:p>
        </p:txBody>
      </p:sp>
      <p:sp>
        <p:nvSpPr>
          <p:cNvPr id="467" name="În general, sunt două tipuri mari și late:"/>
          <p:cNvSpPr txBox="1"/>
          <p:nvPr/>
        </p:nvSpPr>
        <p:spPr>
          <a:xfrm>
            <a:off x="13712307" y="4616100"/>
            <a:ext cx="10449757" cy="230630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29717" indent="-529717" defTabSz="2365187">
              <a:spcBef>
                <a:spcPts val="2300"/>
              </a:spcBef>
              <a:buSzPct val="150000"/>
              <a:buChar char="•"/>
              <a:defRPr sz="4268">
                <a:latin typeface="Canela Text Regular"/>
                <a:ea typeface="Canela Text Regular"/>
                <a:cs typeface="Canela Text Regular"/>
                <a:sym typeface="Canela Text Regular"/>
              </a:defRPr>
            </a:lvl1pPr>
          </a:lstStyle>
          <a:p>
            <a:pPr/>
            <a:r>
              <a:t>Adică să trecem de la dimensionalitatea mică dată de PCA la cea originală</a:t>
            </a:r>
          </a:p>
        </p:txBody>
      </p:sp>
      <p:sp>
        <p:nvSpPr>
          <p:cNvPr id="468" name="În general, sunt două tipuri mari și late:"/>
          <p:cNvSpPr txBox="1"/>
          <p:nvPr/>
        </p:nvSpPr>
        <p:spPr>
          <a:xfrm>
            <a:off x="13712307" y="6223333"/>
            <a:ext cx="10449757" cy="482953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Trecerea de la dimensiunea mare la dimensiunea mică duce deja la pierdere de informație, așa că atunci când recuperăm vectorul s-ar putea să nu fie același cu cel așteptat</a:t>
            </a:r>
          </a:p>
        </p:txBody>
      </p:sp>
      <p:pic>
        <p:nvPicPr>
          <p:cNvPr id="469" name="Linie Linie" descr="Linie Linie"/>
          <p:cNvPicPr>
            <a:picLocks noChangeAspect="0"/>
          </p:cNvPicPr>
          <p:nvPr/>
        </p:nvPicPr>
        <p:blipFill>
          <a:blip r:embed="rId3">
            <a:extLst/>
          </a:blip>
          <a:stretch>
            <a:fillRect/>
          </a:stretch>
        </p:blipFill>
        <p:spPr>
          <a:xfrm>
            <a:off x="1347853" y="11089755"/>
            <a:ext cx="6198210" cy="101601"/>
          </a:xfrm>
          <a:prstGeom prst="rect">
            <a:avLst/>
          </a:prstGeom>
        </p:spPr>
      </p:pic>
      <p:pic>
        <p:nvPicPr>
          <p:cNvPr id="471" name="Dreptunghi Dreptunghi" descr="Dreptunghi Dreptunghi"/>
          <p:cNvPicPr>
            <a:picLocks noChangeAspect="0"/>
          </p:cNvPicPr>
          <p:nvPr/>
        </p:nvPicPr>
        <p:blipFill>
          <a:blip r:embed="rId4">
            <a:extLst/>
          </a:blip>
          <a:stretch>
            <a:fillRect/>
          </a:stretch>
        </p:blipFill>
        <p:spPr>
          <a:xfrm>
            <a:off x="1298516" y="9734174"/>
            <a:ext cx="5788752" cy="782043"/>
          </a:xfrm>
          <a:prstGeom prst="rect">
            <a:avLst/>
          </a:prstGeom>
        </p:spPr>
      </p:pic>
      <p:sp>
        <p:nvSpPr>
          <p:cNvPr id="473" name="Transformăm doar al 16-lea exemplar din setul de test"/>
          <p:cNvSpPr txBox="1"/>
          <p:nvPr/>
        </p:nvSpPr>
        <p:spPr>
          <a:xfrm>
            <a:off x="7208556" y="9254163"/>
            <a:ext cx="5904338" cy="140050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600">
                <a:solidFill>
                  <a:srgbClr val="FFFFFF"/>
                </a:solidFill>
              </a:defRPr>
            </a:lvl1pPr>
          </a:lstStyle>
          <a:p>
            <a:pPr/>
            <a:r>
              <a:t>Transformăm doar al 16-lea exemplar din setul de test</a:t>
            </a:r>
          </a:p>
        </p:txBody>
      </p:sp>
    </p:spTree>
  </p:cSld>
  <p:clrMapOvr>
    <a:masterClrMapping/>
  </p:clrMapOvr>
  <mc:AlternateContent xmlns:mc="http://schemas.openxmlformats.org/markup-compatibility/2006">
    <mc:Choice xmlns:p14="http://schemas.microsoft.com/office/powerpoint/2010/main" Requires="p14">
      <p:transition spd="slow" advClick="1" p14:dur="2000">
        <p:dissolve/>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xit" nodeType="clickEffect" presetID="9" grpId="1" fill="hold">
                                  <p:stCondLst>
                                    <p:cond delay="0"/>
                                  </p:stCondLst>
                                  <p:iterate type="el" backwards="0">
                                    <p:tmAbs val="0"/>
                                  </p:iterate>
                                  <p:childTnLst>
                                    <p:animEffect filter="dissolve" transition="out">
                                      <p:cBhvr>
                                        <p:cTn id="6" dur="2000" fill="hold"/>
                                        <p:tgtEl>
                                          <p:spTgt spid="471"/>
                                        </p:tgtEl>
                                      </p:cBhvr>
                                    </p:animEffect>
                                    <p:set>
                                      <p:cBhvr>
                                        <p:cTn id="7" fill="hold">
                                          <p:stCondLst>
                                            <p:cond delay="1999"/>
                                          </p:stCondLst>
                                        </p:cTn>
                                        <p:tgtEl>
                                          <p:spTgt spid="471"/>
                                        </p:tgtEl>
                                        <p:attrNameLst>
                                          <p:attrName>style.visibility</p:attrName>
                                        </p:attrNameLst>
                                      </p:cBhvr>
                                      <p:to>
                                        <p:strVal val="hidden"/>
                                      </p:to>
                                    </p:set>
                                  </p:childTnLst>
                                </p:cTn>
                              </p:par>
                            </p:childTnLst>
                          </p:cTn>
                        </p:par>
                        <p:par>
                          <p:cTn id="8" fill="hold">
                            <p:stCondLst>
                              <p:cond delay="2000"/>
                            </p:stCondLst>
                            <p:childTnLst>
                              <p:par>
                                <p:cTn id="9" presetClass="entr" nodeType="afterEffect" presetSubtype="8" presetID="2" grpId="2" fill="hold">
                                  <p:stCondLst>
                                    <p:cond delay="0"/>
                                  </p:stCondLst>
                                  <p:iterate type="el" backwards="0">
                                    <p:tmAbs val="0"/>
                                  </p:iterate>
                                  <p:childTnLst>
                                    <p:set>
                                      <p:cBhvr>
                                        <p:cTn id="10" fill="hold"/>
                                        <p:tgtEl>
                                          <p:spTgt spid="473"/>
                                        </p:tgtEl>
                                        <p:attrNameLst>
                                          <p:attrName>style.visibility</p:attrName>
                                        </p:attrNameLst>
                                      </p:cBhvr>
                                      <p:to>
                                        <p:strVal val="visible"/>
                                      </p:to>
                                    </p:set>
                                    <p:anim calcmode="lin" valueType="num">
                                      <p:cBhvr>
                                        <p:cTn id="11" dur="1000" fill="hold"/>
                                        <p:tgtEl>
                                          <p:spTgt spid="473"/>
                                        </p:tgtEl>
                                        <p:attrNameLst>
                                          <p:attrName>ppt_x</p:attrName>
                                        </p:attrNameLst>
                                      </p:cBhvr>
                                      <p:tavLst>
                                        <p:tav tm="0">
                                          <p:val>
                                            <p:strVal val="0-#ppt_w/2"/>
                                          </p:val>
                                        </p:tav>
                                        <p:tav tm="100000">
                                          <p:val>
                                            <p:strVal val="#ppt_x"/>
                                          </p:val>
                                        </p:tav>
                                      </p:tavLst>
                                    </p:anim>
                                    <p:anim calcmode="lin" valueType="num">
                                      <p:cBhvr>
                                        <p:cTn id="12" dur="1000" fill="hold"/>
                                        <p:tgtEl>
                                          <p:spTgt spid="473"/>
                                        </p:tgtEl>
                                        <p:attrNameLst>
                                          <p:attrName>ppt_y</p:attrName>
                                        </p:attrNameLst>
                                      </p:cBhvr>
                                      <p:tavLst>
                                        <p:tav tm="0">
                                          <p:val>
                                            <p:strVal val="#ppt_y"/>
                                          </p:val>
                                        </p:tav>
                                        <p:tav tm="100000">
                                          <p:val>
                                            <p:strVal val="#ppt_y"/>
                                          </p:val>
                                        </p:tav>
                                      </p:tavLst>
                                    </p:anim>
                                  </p:childTnLst>
                                </p:cTn>
                              </p:par>
                            </p:childTnLst>
                          </p:cTn>
                        </p:par>
                        <p:par>
                          <p:cTn id="13" fill="hold">
                            <p:stCondLst>
                              <p:cond delay="3000"/>
                            </p:stCondLst>
                            <p:childTnLst>
                              <p:par>
                                <p:cTn id="14" presetClass="exit" nodeType="afterEffect" presetSubtype="2" presetID="2" grpId="3" fill="hold">
                                  <p:stCondLst>
                                    <p:cond delay="0"/>
                                  </p:stCondLst>
                                  <p:iterate type="el" backwards="0">
                                    <p:tmAbs val="0"/>
                                  </p:iterate>
                                  <p:childTnLst>
                                    <p:anim calcmode="lin" valueType="num">
                                      <p:cBhvr>
                                        <p:cTn id="15" dur="1000" fill="hold"/>
                                        <p:tgtEl>
                                          <p:spTgt spid="473"/>
                                        </p:tgtEl>
                                        <p:attrNameLst>
                                          <p:attrName>ppt_x</p:attrName>
                                        </p:attrNameLst>
                                      </p:cBhvr>
                                      <p:tavLst>
                                        <p:tav tm="0">
                                          <p:val>
                                            <p:strVal val="ppt_x"/>
                                          </p:val>
                                        </p:tav>
                                        <p:tav tm="100000">
                                          <p:val>
                                            <p:strVal val="1+ppt_w/2"/>
                                          </p:val>
                                        </p:tav>
                                      </p:tavLst>
                                    </p:anim>
                                    <p:anim calcmode="lin" valueType="num">
                                      <p:cBhvr>
                                        <p:cTn id="16" dur="1000" fill="hold"/>
                                        <p:tgtEl>
                                          <p:spTgt spid="473"/>
                                        </p:tgtEl>
                                        <p:attrNameLst>
                                          <p:attrName>ppt_y</p:attrName>
                                        </p:attrNameLst>
                                      </p:cBhvr>
                                      <p:tavLst>
                                        <p:tav tm="0">
                                          <p:val>
                                            <p:strVal val="ppt_y"/>
                                          </p:val>
                                        </p:tav>
                                        <p:tav tm="100000">
                                          <p:val>
                                            <p:strVal val="ppt_y"/>
                                          </p:val>
                                        </p:tav>
                                      </p:tavLst>
                                    </p:anim>
                                    <p:set>
                                      <p:cBhvr>
                                        <p:cTn id="17" fill="hold">
                                          <p:stCondLst>
                                            <p:cond delay="999"/>
                                          </p:stCondLst>
                                        </p:cTn>
                                        <p:tgtEl>
                                          <p:spTgt spid="473"/>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Class="entr" nodeType="clickEffect" presetID="9" grpId="4" fill="hold">
                                  <p:stCondLst>
                                    <p:cond delay="0"/>
                                  </p:stCondLst>
                                  <p:iterate type="el" backwards="0">
                                    <p:tmAbs val="0"/>
                                  </p:iterate>
                                  <p:childTnLst>
                                    <p:set>
                                      <p:cBhvr>
                                        <p:cTn id="21" fill="hold"/>
                                        <p:tgtEl>
                                          <p:spTgt spid="469"/>
                                        </p:tgtEl>
                                        <p:attrNameLst>
                                          <p:attrName>style.visibility</p:attrName>
                                        </p:attrNameLst>
                                      </p:cBhvr>
                                      <p:to>
                                        <p:strVal val="visible"/>
                                      </p:to>
                                    </p:set>
                                    <p:animEffect filter="dissolve" transition="in">
                                      <p:cBhvr>
                                        <p:cTn id="22" dur="2000"/>
                                        <p:tgtEl>
                                          <p:spTgt spid="469"/>
                                        </p:tgtEl>
                                      </p:cBhvr>
                                    </p:animEffect>
                                  </p:childTnLst>
                                </p:cTn>
                              </p:par>
                            </p:childTnLst>
                          </p:cTn>
                        </p:par>
                        <p:par>
                          <p:cTn id="23" fill="hold">
                            <p:stCondLst>
                              <p:cond delay="2000"/>
                            </p:stCondLst>
                            <p:childTnLst>
                              <p:par>
                                <p:cTn id="24" presetClass="entr" nodeType="afterEffect" presetSubtype="8" presetID="2" grpId="5" fill="hold">
                                  <p:stCondLst>
                                    <p:cond delay="0"/>
                                  </p:stCondLst>
                                  <p:iterate type="el" backwards="0">
                                    <p:tmAbs val="0"/>
                                  </p:iterate>
                                  <p:childTnLst>
                                    <p:set>
                                      <p:cBhvr>
                                        <p:cTn id="25" fill="hold"/>
                                        <p:tgtEl>
                                          <p:spTgt spid="466"/>
                                        </p:tgtEl>
                                        <p:attrNameLst>
                                          <p:attrName>style.visibility</p:attrName>
                                        </p:attrNameLst>
                                      </p:cBhvr>
                                      <p:to>
                                        <p:strVal val="visible"/>
                                      </p:to>
                                    </p:set>
                                    <p:anim calcmode="lin" valueType="num">
                                      <p:cBhvr>
                                        <p:cTn id="26" dur="1000" fill="hold"/>
                                        <p:tgtEl>
                                          <p:spTgt spid="466"/>
                                        </p:tgtEl>
                                        <p:attrNameLst>
                                          <p:attrName>ppt_x</p:attrName>
                                        </p:attrNameLst>
                                      </p:cBhvr>
                                      <p:tavLst>
                                        <p:tav tm="0">
                                          <p:val>
                                            <p:strVal val="0-#ppt_w/2"/>
                                          </p:val>
                                        </p:tav>
                                        <p:tav tm="100000">
                                          <p:val>
                                            <p:strVal val="#ppt_x"/>
                                          </p:val>
                                        </p:tav>
                                      </p:tavLst>
                                    </p:anim>
                                    <p:anim calcmode="lin" valueType="num">
                                      <p:cBhvr>
                                        <p:cTn id="27" dur="1000" fill="hold"/>
                                        <p:tgtEl>
                                          <p:spTgt spid="466"/>
                                        </p:tgtEl>
                                        <p:attrNameLst>
                                          <p:attrName>ppt_y</p:attrName>
                                        </p:attrNameLst>
                                      </p:cBhvr>
                                      <p:tavLst>
                                        <p:tav tm="0">
                                          <p:val>
                                            <p:strVal val="#ppt_y"/>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Class="entr" nodeType="clickEffect" presetSubtype="8" presetID="2" grpId="6" fill="hold">
                                  <p:stCondLst>
                                    <p:cond delay="0"/>
                                  </p:stCondLst>
                                  <p:iterate type="el" backwards="0">
                                    <p:tmAbs val="0"/>
                                  </p:iterate>
                                  <p:childTnLst>
                                    <p:set>
                                      <p:cBhvr>
                                        <p:cTn id="31" fill="hold"/>
                                        <p:tgtEl>
                                          <p:spTgt spid="467"/>
                                        </p:tgtEl>
                                        <p:attrNameLst>
                                          <p:attrName>style.visibility</p:attrName>
                                        </p:attrNameLst>
                                      </p:cBhvr>
                                      <p:to>
                                        <p:strVal val="visible"/>
                                      </p:to>
                                    </p:set>
                                    <p:anim calcmode="lin" valueType="num">
                                      <p:cBhvr>
                                        <p:cTn id="32" dur="1000" fill="hold"/>
                                        <p:tgtEl>
                                          <p:spTgt spid="467"/>
                                        </p:tgtEl>
                                        <p:attrNameLst>
                                          <p:attrName>ppt_x</p:attrName>
                                        </p:attrNameLst>
                                      </p:cBhvr>
                                      <p:tavLst>
                                        <p:tav tm="0">
                                          <p:val>
                                            <p:strVal val="0-#ppt_w/2"/>
                                          </p:val>
                                        </p:tav>
                                        <p:tav tm="100000">
                                          <p:val>
                                            <p:strVal val="#ppt_x"/>
                                          </p:val>
                                        </p:tav>
                                      </p:tavLst>
                                    </p:anim>
                                    <p:anim calcmode="lin" valueType="num">
                                      <p:cBhvr>
                                        <p:cTn id="33" dur="1000" fill="hold"/>
                                        <p:tgtEl>
                                          <p:spTgt spid="467"/>
                                        </p:tgtEl>
                                        <p:attrNameLst>
                                          <p:attrName>ppt_y</p:attrName>
                                        </p:attrNameLst>
                                      </p:cBhvr>
                                      <p:tavLst>
                                        <p:tav tm="0">
                                          <p:val>
                                            <p:strVal val="#ppt_y"/>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Class="entr" nodeType="clickEffect" presetSubtype="8" presetID="2" grpId="7" fill="hold">
                                  <p:stCondLst>
                                    <p:cond delay="0"/>
                                  </p:stCondLst>
                                  <p:iterate type="el" backwards="0">
                                    <p:tmAbs val="0"/>
                                  </p:iterate>
                                  <p:childTnLst>
                                    <p:set>
                                      <p:cBhvr>
                                        <p:cTn id="37" fill="hold"/>
                                        <p:tgtEl>
                                          <p:spTgt spid="468"/>
                                        </p:tgtEl>
                                        <p:attrNameLst>
                                          <p:attrName>style.visibility</p:attrName>
                                        </p:attrNameLst>
                                      </p:cBhvr>
                                      <p:to>
                                        <p:strVal val="visible"/>
                                      </p:to>
                                    </p:set>
                                    <p:anim calcmode="lin" valueType="num">
                                      <p:cBhvr>
                                        <p:cTn id="38" dur="1000" fill="hold"/>
                                        <p:tgtEl>
                                          <p:spTgt spid="468"/>
                                        </p:tgtEl>
                                        <p:attrNameLst>
                                          <p:attrName>ppt_x</p:attrName>
                                        </p:attrNameLst>
                                      </p:cBhvr>
                                      <p:tavLst>
                                        <p:tav tm="0">
                                          <p:val>
                                            <p:strVal val="0-#ppt_w/2"/>
                                          </p:val>
                                        </p:tav>
                                        <p:tav tm="100000">
                                          <p:val>
                                            <p:strVal val="#ppt_x"/>
                                          </p:val>
                                        </p:tav>
                                      </p:tavLst>
                                    </p:anim>
                                    <p:anim calcmode="lin" valueType="num">
                                      <p:cBhvr>
                                        <p:cTn id="39" dur="1000" fill="hold"/>
                                        <p:tgtEl>
                                          <p:spTgt spid="468"/>
                                        </p:tgtEl>
                                        <p:attrNameLst>
                                          <p:attrName>ppt_y</p:attrName>
                                        </p:attrNameLst>
                                      </p:cBhvr>
                                      <p:tavLst>
                                        <p:tav tm="0">
                                          <p:val>
                                            <p:strVal val="#ppt_y"/>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Class="entr" nodeType="clickEffect" presetID="9" grpId="8" fill="hold">
                                  <p:stCondLst>
                                    <p:cond delay="0"/>
                                  </p:stCondLst>
                                  <p:iterate type="el" backwards="0">
                                    <p:tmAbs val="0"/>
                                  </p:iterate>
                                  <p:childTnLst>
                                    <p:set>
                                      <p:cBhvr>
                                        <p:cTn id="43" fill="hold"/>
                                        <p:tgtEl>
                                          <p:spTgt spid="471"/>
                                        </p:tgtEl>
                                        <p:attrNameLst>
                                          <p:attrName>style.visibility</p:attrName>
                                        </p:attrNameLst>
                                      </p:cBhvr>
                                      <p:to>
                                        <p:strVal val="visible"/>
                                      </p:to>
                                    </p:set>
                                    <p:animEffect filter="dissolve" transition="in">
                                      <p:cBhvr>
                                        <p:cTn id="44" dur="2000"/>
                                        <p:tgtEl>
                                          <p:spTgt spid="4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473" grpId="2"/>
      <p:bldP build="whole" bldLvl="1" animBg="1" rev="0" advAuto="0" spid="473" grpId="3"/>
      <p:bldP build="whole" bldLvl="1" animBg="1" rev="0" advAuto="0" spid="471" grpId="8"/>
      <p:bldP build="whole" bldLvl="1" animBg="1" rev="0" advAuto="0" spid="466" grpId="5"/>
      <p:bldP build="whole" bldLvl="1" animBg="1" rev="0" advAuto="0" spid="467" grpId="6"/>
      <p:bldP build="whole" bldLvl="1" animBg="1" rev="0" advAuto="0" spid="471" grpId="1"/>
      <p:bldP build="whole" bldLvl="1" animBg="1" rev="0" advAuto="0" spid="468" grpId="7"/>
      <p:bldP build="whole" bldLvl="1" animBg="1" rev="0" advAuto="0" spid="469" grpId="4"/>
    </p:bldLst>
  </p:timing>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75"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476" name="Supervizate"/>
          <p:cNvSpPr txBox="1"/>
          <p:nvPr/>
        </p:nvSpPr>
        <p:spPr>
          <a:xfrm>
            <a:off x="4215928" y="181241"/>
            <a:ext cx="19507707" cy="172910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8500">
                <a:latin typeface="Canela Text Regular"/>
                <a:ea typeface="Canela Text Regular"/>
                <a:cs typeface="Canela Text Regular"/>
                <a:sym typeface="Canela Text Regular"/>
              </a:defRPr>
            </a:lvl1pPr>
          </a:lstStyle>
          <a:p>
            <a:pPr/>
            <a:r>
              <a:t>Principal Component Analysis</a:t>
            </a:r>
          </a:p>
        </p:txBody>
      </p:sp>
      <p:pic>
        <p:nvPicPr>
          <p:cNvPr id="477" name="Captură de ecran din 2024-10-27 la 22.56.03.png" descr="Captură de ecran din 2024-10-27 la 22.56.03.png"/>
          <p:cNvPicPr>
            <a:picLocks noChangeAspect="1"/>
          </p:cNvPicPr>
          <p:nvPr/>
        </p:nvPicPr>
        <p:blipFill>
          <a:blip r:embed="rId2">
            <a:extLst/>
          </a:blip>
          <a:stretch>
            <a:fillRect/>
          </a:stretch>
        </p:blipFill>
        <p:spPr>
          <a:xfrm>
            <a:off x="608751" y="2058159"/>
            <a:ext cx="13047832" cy="11311250"/>
          </a:xfrm>
          <a:prstGeom prst="rect">
            <a:avLst/>
          </a:prstGeom>
          <a:ln w="12700">
            <a:miter lim="400000"/>
          </a:ln>
        </p:spPr>
      </p:pic>
      <p:sp>
        <p:nvSpPr>
          <p:cNvPr id="478" name="pca = PCA(n_components=1)"/>
          <p:cNvSpPr txBox="1"/>
          <p:nvPr/>
        </p:nvSpPr>
        <p:spPr>
          <a:xfrm>
            <a:off x="1380260" y="7157008"/>
            <a:ext cx="3293264" cy="373107"/>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1900">
                <a:solidFill>
                  <a:srgbClr val="FFFFFF"/>
                </a:solidFill>
                <a:latin typeface="Arial"/>
                <a:ea typeface="Arial"/>
                <a:cs typeface="Arial"/>
                <a:sym typeface="Arial"/>
              </a:defRPr>
            </a:lvl1pPr>
          </a:lstStyle>
          <a:p>
            <a:pPr/>
            <a:r>
              <a:t>pca = PCA(n_components=1)</a:t>
            </a:r>
          </a:p>
        </p:txBody>
      </p:sp>
      <p:sp>
        <p:nvSpPr>
          <p:cNvPr id="479" name="În general, sunt două tipuri mari și late:"/>
          <p:cNvSpPr txBox="1"/>
          <p:nvPr>
            <p:ph type="body" sz="quarter" idx="1"/>
          </p:nvPr>
        </p:nvSpPr>
        <p:spPr>
          <a:xfrm>
            <a:off x="13712307" y="2943876"/>
            <a:ext cx="11352191" cy="1255220"/>
          </a:xfrm>
          <a:prstGeom prst="rect">
            <a:avLst/>
          </a:prstGeom>
        </p:spPr>
        <p:txBody>
          <a:bodyPr/>
          <a:lstStyle/>
          <a:p>
            <a:pPr/>
            <a:r>
              <a:t>Am afișat:</a:t>
            </a:r>
          </a:p>
        </p:txBody>
      </p:sp>
      <p:sp>
        <p:nvSpPr>
          <p:cNvPr id="480" name="În general, sunt două tipuri mari și late:"/>
          <p:cNvSpPr txBox="1"/>
          <p:nvPr/>
        </p:nvSpPr>
        <p:spPr>
          <a:xfrm>
            <a:off x="14394842" y="3705773"/>
            <a:ext cx="11352191" cy="1255219"/>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solidFill>
                  <a:schemeClr val="accent5"/>
                </a:solidFill>
                <a:latin typeface="Canela Text Regular"/>
                <a:ea typeface="Canela Text Regular"/>
                <a:cs typeface="Canela Text Regular"/>
                <a:sym typeface="Canela Text Regular"/>
              </a:defRPr>
            </a:lvl1pPr>
          </a:lstStyle>
          <a:p>
            <a:pPr/>
            <a:r>
              <a:t>Acuratețea pe test fără PCA</a:t>
            </a:r>
          </a:p>
        </p:txBody>
      </p:sp>
      <p:sp>
        <p:nvSpPr>
          <p:cNvPr id="481" name="În general, sunt două tipuri mari și late:"/>
          <p:cNvSpPr txBox="1"/>
          <p:nvPr/>
        </p:nvSpPr>
        <p:spPr>
          <a:xfrm>
            <a:off x="14394842" y="4487510"/>
            <a:ext cx="11352191" cy="1255219"/>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solidFill>
                  <a:schemeClr val="accent1"/>
                </a:solidFill>
                <a:latin typeface="Canela Text Regular"/>
                <a:ea typeface="Canela Text Regular"/>
                <a:cs typeface="Canela Text Regular"/>
                <a:sym typeface="Canela Text Regular"/>
              </a:defRPr>
            </a:lvl1pPr>
          </a:lstStyle>
          <a:p>
            <a:pPr/>
            <a:r>
              <a:t>Acuratețea pe test cu PCA</a:t>
            </a:r>
          </a:p>
        </p:txBody>
      </p:sp>
      <p:sp>
        <p:nvSpPr>
          <p:cNvPr id="482" name="În general, sunt două tipuri mari și late:"/>
          <p:cNvSpPr txBox="1"/>
          <p:nvPr/>
        </p:nvSpPr>
        <p:spPr>
          <a:xfrm>
            <a:off x="14394842" y="5447812"/>
            <a:ext cx="11352191" cy="1255219"/>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solidFill>
                  <a:schemeClr val="accent2"/>
                </a:solidFill>
                <a:latin typeface="Canela Text Regular"/>
                <a:ea typeface="Canela Text Regular"/>
                <a:cs typeface="Canela Text Regular"/>
                <a:sym typeface="Canela Text Regular"/>
              </a:defRPr>
            </a:lvl1pPr>
          </a:lstStyle>
          <a:p>
            <a:pPr/>
            <a:r>
              <a:t>Numărul de componente</a:t>
            </a:r>
          </a:p>
        </p:txBody>
      </p:sp>
      <p:sp>
        <p:nvSpPr>
          <p:cNvPr id="483" name="În general, sunt două tipuri mari și late:"/>
          <p:cNvSpPr txBox="1"/>
          <p:nvPr/>
        </p:nvSpPr>
        <p:spPr>
          <a:xfrm>
            <a:off x="14394842" y="6408113"/>
            <a:ext cx="11352191" cy="1870895"/>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solidFill>
                  <a:schemeClr val="accent3"/>
                </a:solidFill>
                <a:latin typeface="Canela Text Regular"/>
                <a:ea typeface="Canela Text Regular"/>
                <a:cs typeface="Canela Text Regular"/>
                <a:sym typeface="Canela Text Regular"/>
              </a:defRPr>
            </a:lvl1pPr>
          </a:lstStyle>
          <a:p>
            <a:pPr/>
            <a:r>
              <a:t>Câtă informație păstrează fiecare componentă</a:t>
            </a:r>
          </a:p>
        </p:txBody>
      </p:sp>
      <p:sp>
        <p:nvSpPr>
          <p:cNvPr id="484" name="În general, sunt două tipuri mari și late:"/>
          <p:cNvSpPr txBox="1"/>
          <p:nvPr/>
        </p:nvSpPr>
        <p:spPr>
          <a:xfrm>
            <a:off x="14255957" y="7951747"/>
            <a:ext cx="9818581" cy="348541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solidFill>
                  <a:schemeClr val="accent4"/>
                </a:solidFill>
                <a:latin typeface="Canela Text Regular"/>
                <a:ea typeface="Canela Text Regular"/>
                <a:cs typeface="Canela Text Regular"/>
                <a:sym typeface="Canela Text Regular"/>
              </a:defRPr>
            </a:lvl1pPr>
          </a:lstStyle>
          <a:p>
            <a:pPr/>
            <a:r>
              <a:t>Al șaisprezecelea exemplar din setul de test (înainte de PCA)</a:t>
            </a:r>
          </a:p>
        </p:txBody>
      </p:sp>
      <p:sp>
        <p:nvSpPr>
          <p:cNvPr id="485" name="În general, sunt două tipuri mari și late:"/>
          <p:cNvSpPr txBox="1"/>
          <p:nvPr/>
        </p:nvSpPr>
        <p:spPr>
          <a:xfrm>
            <a:off x="14255957" y="9427903"/>
            <a:ext cx="9818581" cy="348541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solidFill>
                  <a:schemeClr val="accent6"/>
                </a:solidFill>
                <a:latin typeface="Canela Text Regular"/>
                <a:ea typeface="Canela Text Regular"/>
                <a:cs typeface="Canela Text Regular"/>
                <a:sym typeface="Canela Text Regular"/>
              </a:defRPr>
            </a:lvl1pPr>
          </a:lstStyle>
          <a:p>
            <a:pPr/>
            <a:r>
              <a:t>Al șaisprezecelea exemplar din setul de test (trecut prin PCA, si după transpus iară în dimensionalitatea mare)</a:t>
            </a:r>
          </a:p>
        </p:txBody>
      </p:sp>
      <p:pic>
        <p:nvPicPr>
          <p:cNvPr id="486" name="Linie Linie" descr="Linie Linie"/>
          <p:cNvPicPr>
            <a:picLocks noChangeAspect="0"/>
          </p:cNvPicPr>
          <p:nvPr/>
        </p:nvPicPr>
        <p:blipFill>
          <a:blip r:embed="rId3">
            <a:extLst/>
          </a:blip>
          <a:stretch>
            <a:fillRect/>
          </a:stretch>
        </p:blipFill>
        <p:spPr>
          <a:xfrm>
            <a:off x="1407374" y="11585768"/>
            <a:ext cx="1882196" cy="101601"/>
          </a:xfrm>
          <a:prstGeom prst="rect">
            <a:avLst/>
          </a:prstGeom>
        </p:spPr>
      </p:pic>
      <p:pic>
        <p:nvPicPr>
          <p:cNvPr id="488" name="Linie Linie" descr="Linie Linie"/>
          <p:cNvPicPr>
            <a:picLocks noChangeAspect="0"/>
          </p:cNvPicPr>
          <p:nvPr/>
        </p:nvPicPr>
        <p:blipFill>
          <a:blip r:embed="rId4">
            <a:extLst/>
          </a:blip>
          <a:stretch>
            <a:fillRect/>
          </a:stretch>
        </p:blipFill>
        <p:spPr>
          <a:xfrm>
            <a:off x="3339862" y="11585768"/>
            <a:ext cx="1516980" cy="101601"/>
          </a:xfrm>
          <a:prstGeom prst="rect">
            <a:avLst/>
          </a:prstGeom>
        </p:spPr>
      </p:pic>
      <p:pic>
        <p:nvPicPr>
          <p:cNvPr id="490" name="Linie Linie" descr="Linie Linie"/>
          <p:cNvPicPr>
            <a:picLocks noChangeAspect="0"/>
          </p:cNvPicPr>
          <p:nvPr/>
        </p:nvPicPr>
        <p:blipFill>
          <a:blip r:embed="rId5">
            <a:extLst/>
          </a:blip>
          <a:stretch>
            <a:fillRect/>
          </a:stretch>
        </p:blipFill>
        <p:spPr>
          <a:xfrm>
            <a:off x="4912734" y="11585768"/>
            <a:ext cx="1882196" cy="101601"/>
          </a:xfrm>
          <a:prstGeom prst="rect">
            <a:avLst/>
          </a:prstGeom>
        </p:spPr>
      </p:pic>
      <p:pic>
        <p:nvPicPr>
          <p:cNvPr id="492" name="Linie Linie" descr="Linie Linie"/>
          <p:cNvPicPr>
            <a:picLocks noChangeAspect="0"/>
          </p:cNvPicPr>
          <p:nvPr/>
        </p:nvPicPr>
        <p:blipFill>
          <a:blip r:embed="rId6">
            <a:extLst/>
          </a:blip>
          <a:stretch>
            <a:fillRect/>
          </a:stretch>
        </p:blipFill>
        <p:spPr>
          <a:xfrm>
            <a:off x="6850822" y="11585768"/>
            <a:ext cx="3293264" cy="101601"/>
          </a:xfrm>
          <a:prstGeom prst="rect">
            <a:avLst/>
          </a:prstGeom>
        </p:spPr>
      </p:pic>
      <p:pic>
        <p:nvPicPr>
          <p:cNvPr id="494" name="Linie Linie" descr="Linie Linie"/>
          <p:cNvPicPr>
            <a:picLocks noChangeAspect="0"/>
          </p:cNvPicPr>
          <p:nvPr/>
        </p:nvPicPr>
        <p:blipFill>
          <a:blip r:embed="rId7">
            <a:extLst/>
          </a:blip>
          <a:stretch>
            <a:fillRect/>
          </a:stretch>
        </p:blipFill>
        <p:spPr>
          <a:xfrm>
            <a:off x="10350711" y="11585768"/>
            <a:ext cx="1326175" cy="101601"/>
          </a:xfrm>
          <a:prstGeom prst="rect">
            <a:avLst/>
          </a:prstGeom>
        </p:spPr>
      </p:pic>
      <p:pic>
        <p:nvPicPr>
          <p:cNvPr id="496" name="Linie Linie" descr="Linie Linie"/>
          <p:cNvPicPr>
            <a:picLocks noChangeAspect="0"/>
          </p:cNvPicPr>
          <p:nvPr/>
        </p:nvPicPr>
        <p:blipFill>
          <a:blip r:embed="rId8">
            <a:extLst/>
          </a:blip>
          <a:stretch>
            <a:fillRect/>
          </a:stretch>
        </p:blipFill>
        <p:spPr>
          <a:xfrm>
            <a:off x="11854200" y="11585768"/>
            <a:ext cx="1516980" cy="101601"/>
          </a:xfrm>
          <a:prstGeom prst="rect">
            <a:avLst/>
          </a:prstGeom>
        </p:spPr>
      </p:pic>
      <p:pic>
        <p:nvPicPr>
          <p:cNvPr id="498" name="Linie Linie" descr="Linie Linie"/>
          <p:cNvPicPr>
            <a:picLocks noChangeAspect="0"/>
          </p:cNvPicPr>
          <p:nvPr/>
        </p:nvPicPr>
        <p:blipFill>
          <a:blip r:embed="rId9">
            <a:extLst/>
          </a:blip>
          <a:stretch>
            <a:fillRect/>
          </a:stretch>
        </p:blipFill>
        <p:spPr>
          <a:xfrm rot="9436912">
            <a:off x="1777809" y="11695731"/>
            <a:ext cx="826439" cy="218396"/>
          </a:xfrm>
          <a:prstGeom prst="rect">
            <a:avLst/>
          </a:prstGeom>
        </p:spPr>
      </p:pic>
      <p:pic>
        <p:nvPicPr>
          <p:cNvPr id="500" name="Linie Linie" descr="Linie Linie"/>
          <p:cNvPicPr>
            <a:picLocks noChangeAspect="0"/>
          </p:cNvPicPr>
          <p:nvPr/>
        </p:nvPicPr>
        <p:blipFill>
          <a:blip r:embed="rId10">
            <a:extLst/>
          </a:blip>
          <a:stretch>
            <a:fillRect/>
          </a:stretch>
        </p:blipFill>
        <p:spPr>
          <a:xfrm rot="9186110">
            <a:off x="3341557" y="11710639"/>
            <a:ext cx="778781" cy="218396"/>
          </a:xfrm>
          <a:prstGeom prst="rect">
            <a:avLst/>
          </a:prstGeom>
        </p:spPr>
      </p:pic>
      <p:pic>
        <p:nvPicPr>
          <p:cNvPr id="502" name="Linie Linie" descr="Linie Linie"/>
          <p:cNvPicPr>
            <a:picLocks noChangeAspect="0"/>
          </p:cNvPicPr>
          <p:nvPr/>
        </p:nvPicPr>
        <p:blipFill>
          <a:blip r:embed="rId11">
            <a:extLst/>
          </a:blip>
          <a:stretch>
            <a:fillRect/>
          </a:stretch>
        </p:blipFill>
        <p:spPr>
          <a:xfrm rot="10064791">
            <a:off x="1697559" y="11915489"/>
            <a:ext cx="3609899" cy="218396"/>
          </a:xfrm>
          <a:prstGeom prst="rect">
            <a:avLst/>
          </a:prstGeom>
        </p:spPr>
      </p:pic>
      <p:pic>
        <p:nvPicPr>
          <p:cNvPr id="504" name="Linie Linie" descr="Linie Linie"/>
          <p:cNvPicPr>
            <a:picLocks noChangeAspect="0"/>
          </p:cNvPicPr>
          <p:nvPr/>
        </p:nvPicPr>
        <p:blipFill>
          <a:blip r:embed="rId12">
            <a:extLst/>
          </a:blip>
          <a:stretch>
            <a:fillRect/>
          </a:stretch>
        </p:blipFill>
        <p:spPr>
          <a:xfrm rot="10213018">
            <a:off x="3744402" y="11915910"/>
            <a:ext cx="4501316" cy="218396"/>
          </a:xfrm>
          <a:prstGeom prst="rect">
            <a:avLst/>
          </a:prstGeom>
        </p:spPr>
      </p:pic>
      <p:pic>
        <p:nvPicPr>
          <p:cNvPr id="506" name="Linie Linie" descr="Linie Linie"/>
          <p:cNvPicPr>
            <a:picLocks noChangeAspect="0"/>
          </p:cNvPicPr>
          <p:nvPr/>
        </p:nvPicPr>
        <p:blipFill>
          <a:blip r:embed="rId13">
            <a:extLst/>
          </a:blip>
          <a:stretch>
            <a:fillRect/>
          </a:stretch>
        </p:blipFill>
        <p:spPr>
          <a:xfrm rot="10164523">
            <a:off x="4786567" y="12119920"/>
            <a:ext cx="6334839" cy="218396"/>
          </a:xfrm>
          <a:prstGeom prst="rect">
            <a:avLst/>
          </a:prstGeom>
        </p:spPr>
      </p:pic>
      <p:pic>
        <p:nvPicPr>
          <p:cNvPr id="508" name="Linie Linie" descr="Linie Linie"/>
          <p:cNvPicPr>
            <a:picLocks noChangeAspect="0"/>
          </p:cNvPicPr>
          <p:nvPr/>
        </p:nvPicPr>
        <p:blipFill>
          <a:blip r:embed="rId14">
            <a:extLst/>
          </a:blip>
          <a:stretch>
            <a:fillRect/>
          </a:stretch>
        </p:blipFill>
        <p:spPr>
          <a:xfrm rot="10126746">
            <a:off x="6909686" y="12122120"/>
            <a:ext cx="6008983" cy="21839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advClick="1" p14:dur="2000">
        <p14:flip dir="r"/>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8" presetID="2" grpId="1" fill="hold">
                                  <p:stCondLst>
                                    <p:cond delay="0"/>
                                  </p:stCondLst>
                                  <p:iterate type="el" backwards="0">
                                    <p:tmAbs val="0"/>
                                  </p:iterate>
                                  <p:childTnLst>
                                    <p:set>
                                      <p:cBhvr>
                                        <p:cTn id="6" fill="hold"/>
                                        <p:tgtEl>
                                          <p:spTgt spid="479"/>
                                        </p:tgtEl>
                                        <p:attrNameLst>
                                          <p:attrName>style.visibility</p:attrName>
                                        </p:attrNameLst>
                                      </p:cBhvr>
                                      <p:to>
                                        <p:strVal val="visible"/>
                                      </p:to>
                                    </p:set>
                                    <p:anim calcmode="lin" valueType="num">
                                      <p:cBhvr>
                                        <p:cTn id="7" dur="1000" fill="hold"/>
                                        <p:tgtEl>
                                          <p:spTgt spid="479"/>
                                        </p:tgtEl>
                                        <p:attrNameLst>
                                          <p:attrName>ppt_x</p:attrName>
                                        </p:attrNameLst>
                                      </p:cBhvr>
                                      <p:tavLst>
                                        <p:tav tm="0">
                                          <p:val>
                                            <p:strVal val="0-#ppt_w/2"/>
                                          </p:val>
                                        </p:tav>
                                        <p:tav tm="100000">
                                          <p:val>
                                            <p:strVal val="#ppt_x"/>
                                          </p:val>
                                        </p:tav>
                                      </p:tavLst>
                                    </p:anim>
                                    <p:anim calcmode="lin" valueType="num">
                                      <p:cBhvr>
                                        <p:cTn id="8" dur="1000" fill="hold"/>
                                        <p:tgtEl>
                                          <p:spTgt spid="47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ID="9" grpId="2" fill="hold">
                                  <p:stCondLst>
                                    <p:cond delay="0"/>
                                  </p:stCondLst>
                                  <p:iterate type="el" backwards="0">
                                    <p:tmAbs val="0"/>
                                  </p:iterate>
                                  <p:childTnLst>
                                    <p:set>
                                      <p:cBhvr>
                                        <p:cTn id="12" fill="hold"/>
                                        <p:tgtEl>
                                          <p:spTgt spid="486"/>
                                        </p:tgtEl>
                                        <p:attrNameLst>
                                          <p:attrName>style.visibility</p:attrName>
                                        </p:attrNameLst>
                                      </p:cBhvr>
                                      <p:to>
                                        <p:strVal val="visible"/>
                                      </p:to>
                                    </p:set>
                                    <p:animEffect filter="dissolve" transition="in">
                                      <p:cBhvr>
                                        <p:cTn id="13" dur="2000"/>
                                        <p:tgtEl>
                                          <p:spTgt spid="486"/>
                                        </p:tgtEl>
                                      </p:cBhvr>
                                    </p:animEffect>
                                  </p:childTnLst>
                                </p:cTn>
                              </p:par>
                            </p:childTnLst>
                          </p:cTn>
                        </p:par>
                        <p:par>
                          <p:cTn id="14" fill="hold">
                            <p:stCondLst>
                              <p:cond delay="2000"/>
                            </p:stCondLst>
                            <p:childTnLst>
                              <p:par>
                                <p:cTn id="15" presetClass="entr" nodeType="afterEffect" presetSubtype="8" presetID="2" grpId="3" fill="hold">
                                  <p:stCondLst>
                                    <p:cond delay="0"/>
                                  </p:stCondLst>
                                  <p:iterate type="el" backwards="0">
                                    <p:tmAbs val="0"/>
                                  </p:iterate>
                                  <p:childTnLst>
                                    <p:set>
                                      <p:cBhvr>
                                        <p:cTn id="16" fill="hold"/>
                                        <p:tgtEl>
                                          <p:spTgt spid="480"/>
                                        </p:tgtEl>
                                        <p:attrNameLst>
                                          <p:attrName>style.visibility</p:attrName>
                                        </p:attrNameLst>
                                      </p:cBhvr>
                                      <p:to>
                                        <p:strVal val="visible"/>
                                      </p:to>
                                    </p:set>
                                    <p:anim calcmode="lin" valueType="num">
                                      <p:cBhvr>
                                        <p:cTn id="17" dur="1000" fill="hold"/>
                                        <p:tgtEl>
                                          <p:spTgt spid="480"/>
                                        </p:tgtEl>
                                        <p:attrNameLst>
                                          <p:attrName>ppt_x</p:attrName>
                                        </p:attrNameLst>
                                      </p:cBhvr>
                                      <p:tavLst>
                                        <p:tav tm="0">
                                          <p:val>
                                            <p:strVal val="0-#ppt_w/2"/>
                                          </p:val>
                                        </p:tav>
                                        <p:tav tm="100000">
                                          <p:val>
                                            <p:strVal val="#ppt_x"/>
                                          </p:val>
                                        </p:tav>
                                      </p:tavLst>
                                    </p:anim>
                                    <p:anim calcmode="lin" valueType="num">
                                      <p:cBhvr>
                                        <p:cTn id="18" dur="1000" fill="hold"/>
                                        <p:tgtEl>
                                          <p:spTgt spid="480"/>
                                        </p:tgtEl>
                                        <p:attrNameLst>
                                          <p:attrName>ppt_y</p:attrName>
                                        </p:attrNameLst>
                                      </p:cBhvr>
                                      <p:tavLst>
                                        <p:tav tm="0">
                                          <p:val>
                                            <p:strVal val="#ppt_y"/>
                                          </p:val>
                                        </p:tav>
                                        <p:tav tm="100000">
                                          <p:val>
                                            <p:strVal val="#ppt_y"/>
                                          </p:val>
                                        </p:tav>
                                      </p:tavLst>
                                    </p:anim>
                                  </p:childTnLst>
                                </p:cTn>
                              </p:par>
                            </p:childTnLst>
                          </p:cTn>
                        </p:par>
                        <p:par>
                          <p:cTn id="19" fill="hold">
                            <p:stCondLst>
                              <p:cond delay="3000"/>
                            </p:stCondLst>
                            <p:childTnLst>
                              <p:par>
                                <p:cTn id="20" presetClass="entr" nodeType="afterEffect" presetID="9" grpId="4" fill="hold">
                                  <p:stCondLst>
                                    <p:cond delay="0"/>
                                  </p:stCondLst>
                                  <p:iterate type="el" backwards="0">
                                    <p:tmAbs val="0"/>
                                  </p:iterate>
                                  <p:childTnLst>
                                    <p:set>
                                      <p:cBhvr>
                                        <p:cTn id="21" fill="hold"/>
                                        <p:tgtEl>
                                          <p:spTgt spid="498"/>
                                        </p:tgtEl>
                                        <p:attrNameLst>
                                          <p:attrName>style.visibility</p:attrName>
                                        </p:attrNameLst>
                                      </p:cBhvr>
                                      <p:to>
                                        <p:strVal val="visible"/>
                                      </p:to>
                                    </p:set>
                                    <p:animEffect filter="dissolve" transition="in">
                                      <p:cBhvr>
                                        <p:cTn id="22" dur="2000"/>
                                        <p:tgtEl>
                                          <p:spTgt spid="498"/>
                                        </p:tgtEl>
                                      </p:cBhvr>
                                    </p:animEffect>
                                  </p:childTnLst>
                                </p:cTn>
                              </p:par>
                            </p:childTnLst>
                          </p:cTn>
                        </p:par>
                      </p:childTnLst>
                    </p:cTn>
                  </p:par>
                  <p:par>
                    <p:cTn id="23" fill="hold">
                      <p:stCondLst>
                        <p:cond delay="indefinite"/>
                      </p:stCondLst>
                      <p:childTnLst>
                        <p:par>
                          <p:cTn id="24" fill="hold">
                            <p:stCondLst>
                              <p:cond delay="0"/>
                            </p:stCondLst>
                            <p:childTnLst>
                              <p:par>
                                <p:cTn id="25" presetClass="entr" nodeType="clickEffect" presetID="9" grpId="5" fill="hold">
                                  <p:stCondLst>
                                    <p:cond delay="0"/>
                                  </p:stCondLst>
                                  <p:iterate type="el" backwards="0">
                                    <p:tmAbs val="0"/>
                                  </p:iterate>
                                  <p:childTnLst>
                                    <p:set>
                                      <p:cBhvr>
                                        <p:cTn id="26" fill="hold"/>
                                        <p:tgtEl>
                                          <p:spTgt spid="488"/>
                                        </p:tgtEl>
                                        <p:attrNameLst>
                                          <p:attrName>style.visibility</p:attrName>
                                        </p:attrNameLst>
                                      </p:cBhvr>
                                      <p:to>
                                        <p:strVal val="visible"/>
                                      </p:to>
                                    </p:set>
                                    <p:animEffect filter="dissolve" transition="in">
                                      <p:cBhvr>
                                        <p:cTn id="27" dur="2000"/>
                                        <p:tgtEl>
                                          <p:spTgt spid="488"/>
                                        </p:tgtEl>
                                      </p:cBhvr>
                                    </p:animEffect>
                                  </p:childTnLst>
                                </p:cTn>
                              </p:par>
                            </p:childTnLst>
                          </p:cTn>
                        </p:par>
                        <p:par>
                          <p:cTn id="28" fill="hold">
                            <p:stCondLst>
                              <p:cond delay="2000"/>
                            </p:stCondLst>
                            <p:childTnLst>
                              <p:par>
                                <p:cTn id="29" presetClass="entr" nodeType="afterEffect" presetSubtype="8" presetID="2" grpId="6" fill="hold">
                                  <p:stCondLst>
                                    <p:cond delay="0"/>
                                  </p:stCondLst>
                                  <p:iterate type="el" backwards="0">
                                    <p:tmAbs val="0"/>
                                  </p:iterate>
                                  <p:childTnLst>
                                    <p:set>
                                      <p:cBhvr>
                                        <p:cTn id="30" fill="hold"/>
                                        <p:tgtEl>
                                          <p:spTgt spid="481"/>
                                        </p:tgtEl>
                                        <p:attrNameLst>
                                          <p:attrName>style.visibility</p:attrName>
                                        </p:attrNameLst>
                                      </p:cBhvr>
                                      <p:to>
                                        <p:strVal val="visible"/>
                                      </p:to>
                                    </p:set>
                                    <p:anim calcmode="lin" valueType="num">
                                      <p:cBhvr>
                                        <p:cTn id="31" dur="1000" fill="hold"/>
                                        <p:tgtEl>
                                          <p:spTgt spid="481"/>
                                        </p:tgtEl>
                                        <p:attrNameLst>
                                          <p:attrName>ppt_x</p:attrName>
                                        </p:attrNameLst>
                                      </p:cBhvr>
                                      <p:tavLst>
                                        <p:tav tm="0">
                                          <p:val>
                                            <p:strVal val="0-#ppt_w/2"/>
                                          </p:val>
                                        </p:tav>
                                        <p:tav tm="100000">
                                          <p:val>
                                            <p:strVal val="#ppt_x"/>
                                          </p:val>
                                        </p:tav>
                                      </p:tavLst>
                                    </p:anim>
                                    <p:anim calcmode="lin" valueType="num">
                                      <p:cBhvr>
                                        <p:cTn id="32" dur="1000" fill="hold"/>
                                        <p:tgtEl>
                                          <p:spTgt spid="481"/>
                                        </p:tgtEl>
                                        <p:attrNameLst>
                                          <p:attrName>ppt_y</p:attrName>
                                        </p:attrNameLst>
                                      </p:cBhvr>
                                      <p:tavLst>
                                        <p:tav tm="0">
                                          <p:val>
                                            <p:strVal val="#ppt_y"/>
                                          </p:val>
                                        </p:tav>
                                        <p:tav tm="100000">
                                          <p:val>
                                            <p:strVal val="#ppt_y"/>
                                          </p:val>
                                        </p:tav>
                                      </p:tavLst>
                                    </p:anim>
                                  </p:childTnLst>
                                </p:cTn>
                              </p:par>
                            </p:childTnLst>
                          </p:cTn>
                        </p:par>
                        <p:par>
                          <p:cTn id="33" fill="hold">
                            <p:stCondLst>
                              <p:cond delay="3000"/>
                            </p:stCondLst>
                            <p:childTnLst>
                              <p:par>
                                <p:cTn id="34" presetClass="entr" nodeType="afterEffect" presetID="9" grpId="7" fill="hold">
                                  <p:stCondLst>
                                    <p:cond delay="0"/>
                                  </p:stCondLst>
                                  <p:iterate type="el" backwards="0">
                                    <p:tmAbs val="0"/>
                                  </p:iterate>
                                  <p:childTnLst>
                                    <p:set>
                                      <p:cBhvr>
                                        <p:cTn id="35" fill="hold"/>
                                        <p:tgtEl>
                                          <p:spTgt spid="500"/>
                                        </p:tgtEl>
                                        <p:attrNameLst>
                                          <p:attrName>style.visibility</p:attrName>
                                        </p:attrNameLst>
                                      </p:cBhvr>
                                      <p:to>
                                        <p:strVal val="visible"/>
                                      </p:to>
                                    </p:set>
                                    <p:animEffect filter="dissolve" transition="in">
                                      <p:cBhvr>
                                        <p:cTn id="36" dur="2000"/>
                                        <p:tgtEl>
                                          <p:spTgt spid="500"/>
                                        </p:tgtEl>
                                      </p:cBhvr>
                                    </p:animEffect>
                                  </p:childTnLst>
                                </p:cTn>
                              </p:par>
                            </p:childTnLst>
                          </p:cTn>
                        </p:par>
                      </p:childTnLst>
                    </p:cTn>
                  </p:par>
                  <p:par>
                    <p:cTn id="37" fill="hold">
                      <p:stCondLst>
                        <p:cond delay="indefinite"/>
                      </p:stCondLst>
                      <p:childTnLst>
                        <p:par>
                          <p:cTn id="38" fill="hold">
                            <p:stCondLst>
                              <p:cond delay="0"/>
                            </p:stCondLst>
                            <p:childTnLst>
                              <p:par>
                                <p:cTn id="39" presetClass="entr" nodeType="clickEffect" presetID="9" grpId="8" fill="hold">
                                  <p:stCondLst>
                                    <p:cond delay="0"/>
                                  </p:stCondLst>
                                  <p:iterate type="el" backwards="0">
                                    <p:tmAbs val="0"/>
                                  </p:iterate>
                                  <p:childTnLst>
                                    <p:set>
                                      <p:cBhvr>
                                        <p:cTn id="40" fill="hold"/>
                                        <p:tgtEl>
                                          <p:spTgt spid="490"/>
                                        </p:tgtEl>
                                        <p:attrNameLst>
                                          <p:attrName>style.visibility</p:attrName>
                                        </p:attrNameLst>
                                      </p:cBhvr>
                                      <p:to>
                                        <p:strVal val="visible"/>
                                      </p:to>
                                    </p:set>
                                    <p:animEffect filter="dissolve" transition="in">
                                      <p:cBhvr>
                                        <p:cTn id="41" dur="2000"/>
                                        <p:tgtEl>
                                          <p:spTgt spid="490"/>
                                        </p:tgtEl>
                                      </p:cBhvr>
                                    </p:animEffect>
                                  </p:childTnLst>
                                </p:cTn>
                              </p:par>
                            </p:childTnLst>
                          </p:cTn>
                        </p:par>
                        <p:par>
                          <p:cTn id="42" fill="hold">
                            <p:stCondLst>
                              <p:cond delay="2000"/>
                            </p:stCondLst>
                            <p:childTnLst>
                              <p:par>
                                <p:cTn id="43" presetClass="entr" nodeType="afterEffect" presetSubtype="8" presetID="2" grpId="9" fill="hold">
                                  <p:stCondLst>
                                    <p:cond delay="0"/>
                                  </p:stCondLst>
                                  <p:iterate type="el" backwards="0">
                                    <p:tmAbs val="0"/>
                                  </p:iterate>
                                  <p:childTnLst>
                                    <p:set>
                                      <p:cBhvr>
                                        <p:cTn id="44" fill="hold"/>
                                        <p:tgtEl>
                                          <p:spTgt spid="482"/>
                                        </p:tgtEl>
                                        <p:attrNameLst>
                                          <p:attrName>style.visibility</p:attrName>
                                        </p:attrNameLst>
                                      </p:cBhvr>
                                      <p:to>
                                        <p:strVal val="visible"/>
                                      </p:to>
                                    </p:set>
                                    <p:anim calcmode="lin" valueType="num">
                                      <p:cBhvr>
                                        <p:cTn id="45" dur="1000" fill="hold"/>
                                        <p:tgtEl>
                                          <p:spTgt spid="482"/>
                                        </p:tgtEl>
                                        <p:attrNameLst>
                                          <p:attrName>ppt_x</p:attrName>
                                        </p:attrNameLst>
                                      </p:cBhvr>
                                      <p:tavLst>
                                        <p:tav tm="0">
                                          <p:val>
                                            <p:strVal val="0-#ppt_w/2"/>
                                          </p:val>
                                        </p:tav>
                                        <p:tav tm="100000">
                                          <p:val>
                                            <p:strVal val="#ppt_x"/>
                                          </p:val>
                                        </p:tav>
                                      </p:tavLst>
                                    </p:anim>
                                    <p:anim calcmode="lin" valueType="num">
                                      <p:cBhvr>
                                        <p:cTn id="46" dur="1000" fill="hold"/>
                                        <p:tgtEl>
                                          <p:spTgt spid="482"/>
                                        </p:tgtEl>
                                        <p:attrNameLst>
                                          <p:attrName>ppt_y</p:attrName>
                                        </p:attrNameLst>
                                      </p:cBhvr>
                                      <p:tavLst>
                                        <p:tav tm="0">
                                          <p:val>
                                            <p:strVal val="#ppt_y"/>
                                          </p:val>
                                        </p:tav>
                                        <p:tav tm="100000">
                                          <p:val>
                                            <p:strVal val="#ppt_y"/>
                                          </p:val>
                                        </p:tav>
                                      </p:tavLst>
                                    </p:anim>
                                  </p:childTnLst>
                                </p:cTn>
                              </p:par>
                            </p:childTnLst>
                          </p:cTn>
                        </p:par>
                        <p:par>
                          <p:cTn id="47" fill="hold">
                            <p:stCondLst>
                              <p:cond delay="3000"/>
                            </p:stCondLst>
                            <p:childTnLst>
                              <p:par>
                                <p:cTn id="48" presetClass="entr" nodeType="afterEffect" presetID="9" grpId="10" fill="hold">
                                  <p:stCondLst>
                                    <p:cond delay="0"/>
                                  </p:stCondLst>
                                  <p:iterate type="el" backwards="0">
                                    <p:tmAbs val="0"/>
                                  </p:iterate>
                                  <p:childTnLst>
                                    <p:set>
                                      <p:cBhvr>
                                        <p:cTn id="49" fill="hold"/>
                                        <p:tgtEl>
                                          <p:spTgt spid="502"/>
                                        </p:tgtEl>
                                        <p:attrNameLst>
                                          <p:attrName>style.visibility</p:attrName>
                                        </p:attrNameLst>
                                      </p:cBhvr>
                                      <p:to>
                                        <p:strVal val="visible"/>
                                      </p:to>
                                    </p:set>
                                    <p:animEffect filter="dissolve" transition="in">
                                      <p:cBhvr>
                                        <p:cTn id="50" dur="2000"/>
                                        <p:tgtEl>
                                          <p:spTgt spid="502"/>
                                        </p:tgtEl>
                                      </p:cBhvr>
                                    </p:animEffect>
                                  </p:childTnLst>
                                </p:cTn>
                              </p:par>
                            </p:childTnLst>
                          </p:cTn>
                        </p:par>
                      </p:childTnLst>
                    </p:cTn>
                  </p:par>
                  <p:par>
                    <p:cTn id="51" fill="hold">
                      <p:stCondLst>
                        <p:cond delay="indefinite"/>
                      </p:stCondLst>
                      <p:childTnLst>
                        <p:par>
                          <p:cTn id="52" fill="hold">
                            <p:stCondLst>
                              <p:cond delay="0"/>
                            </p:stCondLst>
                            <p:childTnLst>
                              <p:par>
                                <p:cTn id="53" presetClass="entr" nodeType="clickEffect" presetID="9" grpId="11" fill="hold">
                                  <p:stCondLst>
                                    <p:cond delay="0"/>
                                  </p:stCondLst>
                                  <p:iterate type="el" backwards="0">
                                    <p:tmAbs val="0"/>
                                  </p:iterate>
                                  <p:childTnLst>
                                    <p:set>
                                      <p:cBhvr>
                                        <p:cTn id="54" fill="hold"/>
                                        <p:tgtEl>
                                          <p:spTgt spid="492"/>
                                        </p:tgtEl>
                                        <p:attrNameLst>
                                          <p:attrName>style.visibility</p:attrName>
                                        </p:attrNameLst>
                                      </p:cBhvr>
                                      <p:to>
                                        <p:strVal val="visible"/>
                                      </p:to>
                                    </p:set>
                                    <p:animEffect filter="dissolve" transition="in">
                                      <p:cBhvr>
                                        <p:cTn id="55" dur="2000"/>
                                        <p:tgtEl>
                                          <p:spTgt spid="492"/>
                                        </p:tgtEl>
                                      </p:cBhvr>
                                    </p:animEffect>
                                  </p:childTnLst>
                                </p:cTn>
                              </p:par>
                            </p:childTnLst>
                          </p:cTn>
                        </p:par>
                        <p:par>
                          <p:cTn id="56" fill="hold">
                            <p:stCondLst>
                              <p:cond delay="2000"/>
                            </p:stCondLst>
                            <p:childTnLst>
                              <p:par>
                                <p:cTn id="57" presetClass="entr" nodeType="afterEffect" presetSubtype="8" presetID="2" grpId="12" fill="hold">
                                  <p:stCondLst>
                                    <p:cond delay="0"/>
                                  </p:stCondLst>
                                  <p:iterate type="el" backwards="0">
                                    <p:tmAbs val="0"/>
                                  </p:iterate>
                                  <p:childTnLst>
                                    <p:set>
                                      <p:cBhvr>
                                        <p:cTn id="58" fill="hold"/>
                                        <p:tgtEl>
                                          <p:spTgt spid="483"/>
                                        </p:tgtEl>
                                        <p:attrNameLst>
                                          <p:attrName>style.visibility</p:attrName>
                                        </p:attrNameLst>
                                      </p:cBhvr>
                                      <p:to>
                                        <p:strVal val="visible"/>
                                      </p:to>
                                    </p:set>
                                    <p:anim calcmode="lin" valueType="num">
                                      <p:cBhvr>
                                        <p:cTn id="59" dur="1000" fill="hold"/>
                                        <p:tgtEl>
                                          <p:spTgt spid="483"/>
                                        </p:tgtEl>
                                        <p:attrNameLst>
                                          <p:attrName>ppt_x</p:attrName>
                                        </p:attrNameLst>
                                      </p:cBhvr>
                                      <p:tavLst>
                                        <p:tav tm="0">
                                          <p:val>
                                            <p:strVal val="0-#ppt_w/2"/>
                                          </p:val>
                                        </p:tav>
                                        <p:tav tm="100000">
                                          <p:val>
                                            <p:strVal val="#ppt_x"/>
                                          </p:val>
                                        </p:tav>
                                      </p:tavLst>
                                    </p:anim>
                                    <p:anim calcmode="lin" valueType="num">
                                      <p:cBhvr>
                                        <p:cTn id="60" dur="1000" fill="hold"/>
                                        <p:tgtEl>
                                          <p:spTgt spid="483"/>
                                        </p:tgtEl>
                                        <p:attrNameLst>
                                          <p:attrName>ppt_y</p:attrName>
                                        </p:attrNameLst>
                                      </p:cBhvr>
                                      <p:tavLst>
                                        <p:tav tm="0">
                                          <p:val>
                                            <p:strVal val="#ppt_y"/>
                                          </p:val>
                                        </p:tav>
                                        <p:tav tm="100000">
                                          <p:val>
                                            <p:strVal val="#ppt_y"/>
                                          </p:val>
                                        </p:tav>
                                      </p:tavLst>
                                    </p:anim>
                                  </p:childTnLst>
                                </p:cTn>
                              </p:par>
                            </p:childTnLst>
                          </p:cTn>
                        </p:par>
                        <p:par>
                          <p:cTn id="61" fill="hold">
                            <p:stCondLst>
                              <p:cond delay="3000"/>
                            </p:stCondLst>
                            <p:childTnLst>
                              <p:par>
                                <p:cTn id="62" presetClass="entr" nodeType="afterEffect" presetID="9" grpId="13" fill="hold">
                                  <p:stCondLst>
                                    <p:cond delay="0"/>
                                  </p:stCondLst>
                                  <p:iterate type="el" backwards="0">
                                    <p:tmAbs val="0"/>
                                  </p:iterate>
                                  <p:childTnLst>
                                    <p:set>
                                      <p:cBhvr>
                                        <p:cTn id="63" fill="hold"/>
                                        <p:tgtEl>
                                          <p:spTgt spid="504"/>
                                        </p:tgtEl>
                                        <p:attrNameLst>
                                          <p:attrName>style.visibility</p:attrName>
                                        </p:attrNameLst>
                                      </p:cBhvr>
                                      <p:to>
                                        <p:strVal val="visible"/>
                                      </p:to>
                                    </p:set>
                                    <p:animEffect filter="dissolve" transition="in">
                                      <p:cBhvr>
                                        <p:cTn id="64" dur="2000"/>
                                        <p:tgtEl>
                                          <p:spTgt spid="504"/>
                                        </p:tgtEl>
                                      </p:cBhvr>
                                    </p:animEffect>
                                  </p:childTnLst>
                                </p:cTn>
                              </p:par>
                            </p:childTnLst>
                          </p:cTn>
                        </p:par>
                      </p:childTnLst>
                    </p:cTn>
                  </p:par>
                  <p:par>
                    <p:cTn id="65" fill="hold">
                      <p:stCondLst>
                        <p:cond delay="indefinite"/>
                      </p:stCondLst>
                      <p:childTnLst>
                        <p:par>
                          <p:cTn id="66" fill="hold">
                            <p:stCondLst>
                              <p:cond delay="0"/>
                            </p:stCondLst>
                            <p:childTnLst>
                              <p:par>
                                <p:cTn id="67" presetClass="entr" nodeType="clickEffect" presetID="9" grpId="14" fill="hold">
                                  <p:stCondLst>
                                    <p:cond delay="0"/>
                                  </p:stCondLst>
                                  <p:iterate type="el" backwards="0">
                                    <p:tmAbs val="0"/>
                                  </p:iterate>
                                  <p:childTnLst>
                                    <p:set>
                                      <p:cBhvr>
                                        <p:cTn id="68" fill="hold"/>
                                        <p:tgtEl>
                                          <p:spTgt spid="494"/>
                                        </p:tgtEl>
                                        <p:attrNameLst>
                                          <p:attrName>style.visibility</p:attrName>
                                        </p:attrNameLst>
                                      </p:cBhvr>
                                      <p:to>
                                        <p:strVal val="visible"/>
                                      </p:to>
                                    </p:set>
                                    <p:animEffect filter="dissolve" transition="in">
                                      <p:cBhvr>
                                        <p:cTn id="69" dur="2000"/>
                                        <p:tgtEl>
                                          <p:spTgt spid="494"/>
                                        </p:tgtEl>
                                      </p:cBhvr>
                                    </p:animEffect>
                                  </p:childTnLst>
                                </p:cTn>
                              </p:par>
                            </p:childTnLst>
                          </p:cTn>
                        </p:par>
                        <p:par>
                          <p:cTn id="70" fill="hold">
                            <p:stCondLst>
                              <p:cond delay="2000"/>
                            </p:stCondLst>
                            <p:childTnLst>
                              <p:par>
                                <p:cTn id="71" presetClass="entr" nodeType="afterEffect" presetSubtype="8" presetID="2" grpId="15" fill="hold">
                                  <p:stCondLst>
                                    <p:cond delay="0"/>
                                  </p:stCondLst>
                                  <p:iterate type="el" backwards="0">
                                    <p:tmAbs val="0"/>
                                  </p:iterate>
                                  <p:childTnLst>
                                    <p:set>
                                      <p:cBhvr>
                                        <p:cTn id="72" fill="hold"/>
                                        <p:tgtEl>
                                          <p:spTgt spid="484"/>
                                        </p:tgtEl>
                                        <p:attrNameLst>
                                          <p:attrName>style.visibility</p:attrName>
                                        </p:attrNameLst>
                                      </p:cBhvr>
                                      <p:to>
                                        <p:strVal val="visible"/>
                                      </p:to>
                                    </p:set>
                                    <p:anim calcmode="lin" valueType="num">
                                      <p:cBhvr>
                                        <p:cTn id="73" dur="1000" fill="hold"/>
                                        <p:tgtEl>
                                          <p:spTgt spid="484"/>
                                        </p:tgtEl>
                                        <p:attrNameLst>
                                          <p:attrName>ppt_x</p:attrName>
                                        </p:attrNameLst>
                                      </p:cBhvr>
                                      <p:tavLst>
                                        <p:tav tm="0">
                                          <p:val>
                                            <p:strVal val="0-#ppt_w/2"/>
                                          </p:val>
                                        </p:tav>
                                        <p:tav tm="100000">
                                          <p:val>
                                            <p:strVal val="#ppt_x"/>
                                          </p:val>
                                        </p:tav>
                                      </p:tavLst>
                                    </p:anim>
                                    <p:anim calcmode="lin" valueType="num">
                                      <p:cBhvr>
                                        <p:cTn id="74" dur="1000" fill="hold"/>
                                        <p:tgtEl>
                                          <p:spTgt spid="484"/>
                                        </p:tgtEl>
                                        <p:attrNameLst>
                                          <p:attrName>ppt_y</p:attrName>
                                        </p:attrNameLst>
                                      </p:cBhvr>
                                      <p:tavLst>
                                        <p:tav tm="0">
                                          <p:val>
                                            <p:strVal val="#ppt_y"/>
                                          </p:val>
                                        </p:tav>
                                        <p:tav tm="100000">
                                          <p:val>
                                            <p:strVal val="#ppt_y"/>
                                          </p:val>
                                        </p:tav>
                                      </p:tavLst>
                                    </p:anim>
                                  </p:childTnLst>
                                </p:cTn>
                              </p:par>
                            </p:childTnLst>
                          </p:cTn>
                        </p:par>
                        <p:par>
                          <p:cTn id="75" fill="hold">
                            <p:stCondLst>
                              <p:cond delay="3000"/>
                            </p:stCondLst>
                            <p:childTnLst>
                              <p:par>
                                <p:cTn id="76" presetClass="entr" nodeType="afterEffect" presetID="9" grpId="16" fill="hold">
                                  <p:stCondLst>
                                    <p:cond delay="0"/>
                                  </p:stCondLst>
                                  <p:iterate type="el" backwards="0">
                                    <p:tmAbs val="0"/>
                                  </p:iterate>
                                  <p:childTnLst>
                                    <p:set>
                                      <p:cBhvr>
                                        <p:cTn id="77" fill="hold"/>
                                        <p:tgtEl>
                                          <p:spTgt spid="506"/>
                                        </p:tgtEl>
                                        <p:attrNameLst>
                                          <p:attrName>style.visibility</p:attrName>
                                        </p:attrNameLst>
                                      </p:cBhvr>
                                      <p:to>
                                        <p:strVal val="visible"/>
                                      </p:to>
                                    </p:set>
                                    <p:animEffect filter="dissolve" transition="in">
                                      <p:cBhvr>
                                        <p:cTn id="78" dur="2000"/>
                                        <p:tgtEl>
                                          <p:spTgt spid="506"/>
                                        </p:tgtEl>
                                      </p:cBhvr>
                                    </p:animEffect>
                                  </p:childTnLst>
                                </p:cTn>
                              </p:par>
                            </p:childTnLst>
                          </p:cTn>
                        </p:par>
                      </p:childTnLst>
                    </p:cTn>
                  </p:par>
                  <p:par>
                    <p:cTn id="79" fill="hold">
                      <p:stCondLst>
                        <p:cond delay="indefinite"/>
                      </p:stCondLst>
                      <p:childTnLst>
                        <p:par>
                          <p:cTn id="80" fill="hold">
                            <p:stCondLst>
                              <p:cond delay="0"/>
                            </p:stCondLst>
                            <p:childTnLst>
                              <p:par>
                                <p:cTn id="81" presetClass="entr" nodeType="clickEffect" presetID="9" grpId="17" fill="hold">
                                  <p:stCondLst>
                                    <p:cond delay="0"/>
                                  </p:stCondLst>
                                  <p:iterate type="el" backwards="0">
                                    <p:tmAbs val="0"/>
                                  </p:iterate>
                                  <p:childTnLst>
                                    <p:set>
                                      <p:cBhvr>
                                        <p:cTn id="82" fill="hold"/>
                                        <p:tgtEl>
                                          <p:spTgt spid="496"/>
                                        </p:tgtEl>
                                        <p:attrNameLst>
                                          <p:attrName>style.visibility</p:attrName>
                                        </p:attrNameLst>
                                      </p:cBhvr>
                                      <p:to>
                                        <p:strVal val="visible"/>
                                      </p:to>
                                    </p:set>
                                    <p:animEffect filter="dissolve" transition="in">
                                      <p:cBhvr>
                                        <p:cTn id="83" dur="2000"/>
                                        <p:tgtEl>
                                          <p:spTgt spid="496"/>
                                        </p:tgtEl>
                                      </p:cBhvr>
                                    </p:animEffect>
                                  </p:childTnLst>
                                </p:cTn>
                              </p:par>
                            </p:childTnLst>
                          </p:cTn>
                        </p:par>
                        <p:par>
                          <p:cTn id="84" fill="hold">
                            <p:stCondLst>
                              <p:cond delay="2000"/>
                            </p:stCondLst>
                            <p:childTnLst>
                              <p:par>
                                <p:cTn id="85" presetClass="entr" nodeType="afterEffect" presetSubtype="8" presetID="2" grpId="18" fill="hold">
                                  <p:stCondLst>
                                    <p:cond delay="0"/>
                                  </p:stCondLst>
                                  <p:iterate type="el" backwards="0">
                                    <p:tmAbs val="0"/>
                                  </p:iterate>
                                  <p:childTnLst>
                                    <p:set>
                                      <p:cBhvr>
                                        <p:cTn id="86" fill="hold"/>
                                        <p:tgtEl>
                                          <p:spTgt spid="485"/>
                                        </p:tgtEl>
                                        <p:attrNameLst>
                                          <p:attrName>style.visibility</p:attrName>
                                        </p:attrNameLst>
                                      </p:cBhvr>
                                      <p:to>
                                        <p:strVal val="visible"/>
                                      </p:to>
                                    </p:set>
                                    <p:anim calcmode="lin" valueType="num">
                                      <p:cBhvr>
                                        <p:cTn id="87" dur="1000" fill="hold"/>
                                        <p:tgtEl>
                                          <p:spTgt spid="485"/>
                                        </p:tgtEl>
                                        <p:attrNameLst>
                                          <p:attrName>ppt_x</p:attrName>
                                        </p:attrNameLst>
                                      </p:cBhvr>
                                      <p:tavLst>
                                        <p:tav tm="0">
                                          <p:val>
                                            <p:strVal val="0-#ppt_w/2"/>
                                          </p:val>
                                        </p:tav>
                                        <p:tav tm="100000">
                                          <p:val>
                                            <p:strVal val="#ppt_x"/>
                                          </p:val>
                                        </p:tav>
                                      </p:tavLst>
                                    </p:anim>
                                    <p:anim calcmode="lin" valueType="num">
                                      <p:cBhvr>
                                        <p:cTn id="88" dur="1000" fill="hold"/>
                                        <p:tgtEl>
                                          <p:spTgt spid="485"/>
                                        </p:tgtEl>
                                        <p:attrNameLst>
                                          <p:attrName>ppt_y</p:attrName>
                                        </p:attrNameLst>
                                      </p:cBhvr>
                                      <p:tavLst>
                                        <p:tav tm="0">
                                          <p:val>
                                            <p:strVal val="#ppt_y"/>
                                          </p:val>
                                        </p:tav>
                                        <p:tav tm="100000">
                                          <p:val>
                                            <p:strVal val="#ppt_y"/>
                                          </p:val>
                                        </p:tav>
                                      </p:tavLst>
                                    </p:anim>
                                  </p:childTnLst>
                                </p:cTn>
                              </p:par>
                            </p:childTnLst>
                          </p:cTn>
                        </p:par>
                        <p:par>
                          <p:cTn id="89" fill="hold">
                            <p:stCondLst>
                              <p:cond delay="3000"/>
                            </p:stCondLst>
                            <p:childTnLst>
                              <p:par>
                                <p:cTn id="90" presetClass="entr" nodeType="afterEffect" presetID="9" grpId="19" fill="hold">
                                  <p:stCondLst>
                                    <p:cond delay="0"/>
                                  </p:stCondLst>
                                  <p:iterate type="el" backwards="0">
                                    <p:tmAbs val="0"/>
                                  </p:iterate>
                                  <p:childTnLst>
                                    <p:set>
                                      <p:cBhvr>
                                        <p:cTn id="91" fill="hold"/>
                                        <p:tgtEl>
                                          <p:spTgt spid="508"/>
                                        </p:tgtEl>
                                        <p:attrNameLst>
                                          <p:attrName>style.visibility</p:attrName>
                                        </p:attrNameLst>
                                      </p:cBhvr>
                                      <p:to>
                                        <p:strVal val="visible"/>
                                      </p:to>
                                    </p:set>
                                    <p:animEffect filter="dissolve" transition="in">
                                      <p:cBhvr>
                                        <p:cTn id="92" dur="2000"/>
                                        <p:tgtEl>
                                          <p:spTgt spid="5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484" grpId="15"/>
      <p:bldP build="whole" bldLvl="1" animBg="1" rev="0" advAuto="0" spid="480" grpId="3"/>
      <p:bldP build="whole" bldLvl="1" animBg="1" rev="0" advAuto="0" spid="498" grpId="4"/>
      <p:bldP build="whole" bldLvl="1" animBg="1" rev="0" advAuto="0" spid="492" grpId="11"/>
      <p:bldP build="whole" bldLvl="1" animBg="1" rev="0" advAuto="0" spid="481" grpId="6"/>
      <p:bldP build="whole" bldLvl="1" animBg="1" rev="0" advAuto="0" spid="494" grpId="14"/>
      <p:bldP build="whole" bldLvl="1" animBg="1" rev="0" advAuto="0" spid="502" grpId="10"/>
      <p:bldP build="whole" bldLvl="1" animBg="1" rev="0" advAuto="0" spid="483" grpId="12"/>
      <p:bldP build="whole" bldLvl="1" animBg="1" rev="0" advAuto="0" spid="490" grpId="8"/>
      <p:bldP build="whole" bldLvl="1" animBg="1" rev="0" advAuto="0" spid="486" grpId="2"/>
      <p:bldP build="whole" bldLvl="1" animBg="1" rev="0" advAuto="0" spid="506" grpId="16"/>
      <p:bldP build="whole" bldLvl="1" animBg="1" rev="0" advAuto="0" spid="485" grpId="18"/>
      <p:bldP build="whole" bldLvl="1" animBg="1" rev="0" advAuto="0" spid="488" grpId="5"/>
      <p:bldP build="whole" bldLvl="1" animBg="1" rev="0" advAuto="0" spid="479" grpId="1"/>
      <p:bldP build="whole" bldLvl="1" animBg="1" rev="0" advAuto="0" spid="508" grpId="19"/>
      <p:bldP build="whole" bldLvl="1" animBg="1" rev="0" advAuto="0" spid="482" grpId="9"/>
      <p:bldP build="whole" bldLvl="1" animBg="1" rev="0" advAuto="0" spid="500" grpId="7"/>
      <p:bldP build="whole" bldLvl="1" animBg="1" rev="0" advAuto="0" spid="496" grpId="17"/>
      <p:bldP build="whole" bldLvl="1" animBg="1" rev="0" advAuto="0" spid="504" grpId="13"/>
    </p:bldLst>
  </p:timing>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11" name="Supervizate"/>
          <p:cNvSpPr txBox="1"/>
          <p:nvPr/>
        </p:nvSpPr>
        <p:spPr>
          <a:xfrm>
            <a:off x="-7076862" y="7802424"/>
            <a:ext cx="8358424"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Supervizate</a:t>
            </a:r>
          </a:p>
        </p:txBody>
      </p:sp>
      <p:sp>
        <p:nvSpPr>
          <p:cNvPr id="512"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513" name="În general, sunt două tipuri mari și late:"/>
          <p:cNvSpPr txBox="1"/>
          <p:nvPr>
            <p:ph type="body" sz="quarter" idx="1"/>
          </p:nvPr>
        </p:nvSpPr>
        <p:spPr>
          <a:xfrm>
            <a:off x="1687402" y="2818916"/>
            <a:ext cx="21948579" cy="2006602"/>
          </a:xfrm>
          <a:prstGeom prst="rect">
            <a:avLst/>
          </a:prstGeom>
        </p:spPr>
        <p:txBody>
          <a:bodyPr/>
          <a:lstStyle/>
          <a:p>
            <a:pPr/>
            <a:r>
              <a:t>PCA se uită mereu la ansamblul datelor atunci când obține o componentă principală</a:t>
            </a:r>
          </a:p>
        </p:txBody>
      </p:sp>
      <p:pic>
        <p:nvPicPr>
          <p:cNvPr id="514" name="Linie Linie" descr="Linie Linie"/>
          <p:cNvPicPr>
            <a:picLocks noChangeAspect="0"/>
          </p:cNvPicPr>
          <p:nvPr/>
        </p:nvPicPr>
        <p:blipFill>
          <a:blip r:embed="rId2">
            <a:extLst/>
          </a:blip>
          <a:stretch>
            <a:fillRect/>
          </a:stretch>
        </p:blipFill>
        <p:spPr>
          <a:xfrm>
            <a:off x="7379371" y="3720617"/>
            <a:ext cx="3185740" cy="101601"/>
          </a:xfrm>
          <a:prstGeom prst="rect">
            <a:avLst/>
          </a:prstGeom>
        </p:spPr>
      </p:pic>
      <p:sp>
        <p:nvSpPr>
          <p:cNvPr id="516" name="În general, sunt două tipuri mari și late:"/>
          <p:cNvSpPr txBox="1"/>
          <p:nvPr/>
        </p:nvSpPr>
        <p:spPr>
          <a:xfrm>
            <a:off x="1687402" y="4740243"/>
            <a:ext cx="21948579" cy="200660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Altă metodă, numită LLE (Locally Linear Embedding), se uită la relațiile locale dintre puncte</a:t>
            </a:r>
          </a:p>
        </p:txBody>
      </p:sp>
      <p:pic>
        <p:nvPicPr>
          <p:cNvPr id="517" name="Linie Linie" descr="Linie Linie"/>
          <p:cNvPicPr>
            <a:picLocks noChangeAspect="0"/>
          </p:cNvPicPr>
          <p:nvPr/>
        </p:nvPicPr>
        <p:blipFill>
          <a:blip r:embed="rId3">
            <a:extLst/>
          </a:blip>
          <a:stretch>
            <a:fillRect/>
          </a:stretch>
        </p:blipFill>
        <p:spPr>
          <a:xfrm>
            <a:off x="18320013" y="5550658"/>
            <a:ext cx="3989717" cy="101601"/>
          </a:xfrm>
          <a:prstGeom prst="rect">
            <a:avLst/>
          </a:prstGeom>
        </p:spPr>
      </p:pic>
      <p:sp>
        <p:nvSpPr>
          <p:cNvPr id="519" name="În general, sunt două tipuri mari și late:"/>
          <p:cNvSpPr txBox="1"/>
          <p:nvPr/>
        </p:nvSpPr>
        <p:spPr>
          <a:xfrm>
            <a:off x="1687402" y="6800610"/>
            <a:ext cx="21948579" cy="200660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LLE, la fel ca PCA, contribuie la reducerea dimensionalității, dar pe alt principiu</a:t>
            </a:r>
          </a:p>
        </p:txBody>
      </p:sp>
      <p:pic>
        <p:nvPicPr>
          <p:cNvPr id="520" name="Linie Linie" descr="Linie Linie"/>
          <p:cNvPicPr>
            <a:picLocks noChangeAspect="0"/>
          </p:cNvPicPr>
          <p:nvPr/>
        </p:nvPicPr>
        <p:blipFill>
          <a:blip r:embed="rId4">
            <a:extLst/>
          </a:blip>
          <a:stretch>
            <a:fillRect/>
          </a:stretch>
        </p:blipFill>
        <p:spPr>
          <a:xfrm>
            <a:off x="10308018" y="7664871"/>
            <a:ext cx="7726601" cy="101601"/>
          </a:xfrm>
          <a:prstGeom prst="rect">
            <a:avLst/>
          </a:prstGeom>
        </p:spPr>
      </p:pic>
      <p:sp>
        <p:nvSpPr>
          <p:cNvPr id="522" name="În general, sunt două tipuri mari și late:"/>
          <p:cNvSpPr txBox="1"/>
          <p:nvPr/>
        </p:nvSpPr>
        <p:spPr>
          <a:xfrm>
            <a:off x="1687402" y="8226080"/>
            <a:ext cx="21948579" cy="200660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marL="546100" indent="-546100">
              <a:buSzPct val="150000"/>
              <a:buChar char="•"/>
              <a:defRPr>
                <a:latin typeface="Canela Text Regular"/>
                <a:ea typeface="Canela Text Regular"/>
                <a:cs typeface="Canela Text Regular"/>
                <a:sym typeface="Canela Text Regular"/>
              </a:defRPr>
            </a:pPr>
            <a:r>
              <a:t>LLE identifică </a:t>
            </a:r>
            <a:r>
              <a:rPr i="1"/>
              <a:t>vecinii</a:t>
            </a:r>
            <a:r>
              <a:t> fiecărui punct și încearcă să păstreze această structură locală în noua dimensiune mai mică.</a:t>
            </a:r>
          </a:p>
        </p:txBody>
      </p:sp>
      <p:pic>
        <p:nvPicPr>
          <p:cNvPr id="523" name="Linie Linie" descr="Linie Linie"/>
          <p:cNvPicPr>
            <a:picLocks noChangeAspect="0"/>
          </p:cNvPicPr>
          <p:nvPr/>
        </p:nvPicPr>
        <p:blipFill>
          <a:blip r:embed="rId5">
            <a:extLst/>
          </a:blip>
          <a:stretch>
            <a:fillRect/>
          </a:stretch>
        </p:blipFill>
        <p:spPr>
          <a:xfrm>
            <a:off x="14085673" y="9178581"/>
            <a:ext cx="9031034" cy="10160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8" presetID="2" grpId="1" fill="hold">
                                  <p:stCondLst>
                                    <p:cond delay="0"/>
                                  </p:stCondLst>
                                  <p:iterate type="el" backwards="0">
                                    <p:tmAbs val="0"/>
                                  </p:iterate>
                                  <p:childTnLst>
                                    <p:set>
                                      <p:cBhvr>
                                        <p:cTn id="6" fill="hold"/>
                                        <p:tgtEl>
                                          <p:spTgt spid="513"/>
                                        </p:tgtEl>
                                        <p:attrNameLst>
                                          <p:attrName>style.visibility</p:attrName>
                                        </p:attrNameLst>
                                      </p:cBhvr>
                                      <p:to>
                                        <p:strVal val="visible"/>
                                      </p:to>
                                    </p:set>
                                    <p:anim calcmode="lin" valueType="num">
                                      <p:cBhvr>
                                        <p:cTn id="7" dur="1000" fill="hold"/>
                                        <p:tgtEl>
                                          <p:spTgt spid="513"/>
                                        </p:tgtEl>
                                        <p:attrNameLst>
                                          <p:attrName>ppt_x</p:attrName>
                                        </p:attrNameLst>
                                      </p:cBhvr>
                                      <p:tavLst>
                                        <p:tav tm="0">
                                          <p:val>
                                            <p:strVal val="0-#ppt_w/2"/>
                                          </p:val>
                                        </p:tav>
                                        <p:tav tm="100000">
                                          <p:val>
                                            <p:strVal val="#ppt_x"/>
                                          </p:val>
                                        </p:tav>
                                      </p:tavLst>
                                    </p:anim>
                                    <p:anim calcmode="lin" valueType="num">
                                      <p:cBhvr>
                                        <p:cTn id="8" dur="1000" fill="hold"/>
                                        <p:tgtEl>
                                          <p:spTgt spid="513"/>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Class="entr" nodeType="afterEffect" presetID="9" grpId="2" fill="hold">
                                  <p:stCondLst>
                                    <p:cond delay="0"/>
                                  </p:stCondLst>
                                  <p:iterate type="el" backwards="0">
                                    <p:tmAbs val="0"/>
                                  </p:iterate>
                                  <p:childTnLst>
                                    <p:set>
                                      <p:cBhvr>
                                        <p:cTn id="11" fill="hold"/>
                                        <p:tgtEl>
                                          <p:spTgt spid="514"/>
                                        </p:tgtEl>
                                        <p:attrNameLst>
                                          <p:attrName>style.visibility</p:attrName>
                                        </p:attrNameLst>
                                      </p:cBhvr>
                                      <p:to>
                                        <p:strVal val="visible"/>
                                      </p:to>
                                    </p:set>
                                    <p:animEffect filter="dissolve" transition="in">
                                      <p:cBhvr>
                                        <p:cTn id="12" dur="2000"/>
                                        <p:tgtEl>
                                          <p:spTgt spid="514"/>
                                        </p:tgtEl>
                                      </p:cBhvr>
                                    </p:animEffect>
                                  </p:childTnLst>
                                </p:cTn>
                              </p:par>
                            </p:childTnLst>
                          </p:cTn>
                        </p:par>
                      </p:childTnLst>
                    </p:cTn>
                  </p:par>
                  <p:par>
                    <p:cTn id="13" fill="hold">
                      <p:stCondLst>
                        <p:cond delay="indefinite"/>
                      </p:stCondLst>
                      <p:childTnLst>
                        <p:par>
                          <p:cTn id="14" fill="hold">
                            <p:stCondLst>
                              <p:cond delay="0"/>
                            </p:stCondLst>
                            <p:childTnLst>
                              <p:par>
                                <p:cTn id="15" presetClass="entr" nodeType="clickEffect" presetSubtype="8" presetID="2" grpId="3" fill="hold">
                                  <p:stCondLst>
                                    <p:cond delay="0"/>
                                  </p:stCondLst>
                                  <p:iterate type="el" backwards="0">
                                    <p:tmAbs val="0"/>
                                  </p:iterate>
                                  <p:childTnLst>
                                    <p:set>
                                      <p:cBhvr>
                                        <p:cTn id="16" fill="hold"/>
                                        <p:tgtEl>
                                          <p:spTgt spid="516"/>
                                        </p:tgtEl>
                                        <p:attrNameLst>
                                          <p:attrName>style.visibility</p:attrName>
                                        </p:attrNameLst>
                                      </p:cBhvr>
                                      <p:to>
                                        <p:strVal val="visible"/>
                                      </p:to>
                                    </p:set>
                                    <p:anim calcmode="lin" valueType="num">
                                      <p:cBhvr>
                                        <p:cTn id="17" dur="1000" fill="hold"/>
                                        <p:tgtEl>
                                          <p:spTgt spid="516"/>
                                        </p:tgtEl>
                                        <p:attrNameLst>
                                          <p:attrName>ppt_x</p:attrName>
                                        </p:attrNameLst>
                                      </p:cBhvr>
                                      <p:tavLst>
                                        <p:tav tm="0">
                                          <p:val>
                                            <p:strVal val="0-#ppt_w/2"/>
                                          </p:val>
                                        </p:tav>
                                        <p:tav tm="100000">
                                          <p:val>
                                            <p:strVal val="#ppt_x"/>
                                          </p:val>
                                        </p:tav>
                                      </p:tavLst>
                                    </p:anim>
                                    <p:anim calcmode="lin" valueType="num">
                                      <p:cBhvr>
                                        <p:cTn id="18" dur="1000" fill="hold"/>
                                        <p:tgtEl>
                                          <p:spTgt spid="516"/>
                                        </p:tgtEl>
                                        <p:attrNameLst>
                                          <p:attrName>ppt_y</p:attrName>
                                        </p:attrNameLst>
                                      </p:cBhvr>
                                      <p:tavLst>
                                        <p:tav tm="0">
                                          <p:val>
                                            <p:strVal val="#ppt_y"/>
                                          </p:val>
                                        </p:tav>
                                        <p:tav tm="100000">
                                          <p:val>
                                            <p:strVal val="#ppt_y"/>
                                          </p:val>
                                        </p:tav>
                                      </p:tavLst>
                                    </p:anim>
                                  </p:childTnLst>
                                </p:cTn>
                              </p:par>
                            </p:childTnLst>
                          </p:cTn>
                        </p:par>
                        <p:par>
                          <p:cTn id="19" fill="hold">
                            <p:stCondLst>
                              <p:cond delay="1000"/>
                            </p:stCondLst>
                            <p:childTnLst>
                              <p:par>
                                <p:cTn id="20" presetClass="entr" nodeType="afterEffect" presetID="9" grpId="4" fill="hold">
                                  <p:stCondLst>
                                    <p:cond delay="0"/>
                                  </p:stCondLst>
                                  <p:iterate type="el" backwards="0">
                                    <p:tmAbs val="0"/>
                                  </p:iterate>
                                  <p:childTnLst>
                                    <p:set>
                                      <p:cBhvr>
                                        <p:cTn id="21" fill="hold"/>
                                        <p:tgtEl>
                                          <p:spTgt spid="517"/>
                                        </p:tgtEl>
                                        <p:attrNameLst>
                                          <p:attrName>style.visibility</p:attrName>
                                        </p:attrNameLst>
                                      </p:cBhvr>
                                      <p:to>
                                        <p:strVal val="visible"/>
                                      </p:to>
                                    </p:set>
                                    <p:animEffect filter="dissolve" transition="in">
                                      <p:cBhvr>
                                        <p:cTn id="22" dur="2000"/>
                                        <p:tgtEl>
                                          <p:spTgt spid="517"/>
                                        </p:tgtEl>
                                      </p:cBhvr>
                                    </p:animEffect>
                                  </p:childTnLst>
                                </p:cTn>
                              </p:par>
                            </p:childTnLst>
                          </p:cTn>
                        </p:par>
                      </p:childTnLst>
                    </p:cTn>
                  </p:par>
                  <p:par>
                    <p:cTn id="23" fill="hold">
                      <p:stCondLst>
                        <p:cond delay="indefinite"/>
                      </p:stCondLst>
                      <p:childTnLst>
                        <p:par>
                          <p:cTn id="24" fill="hold">
                            <p:stCondLst>
                              <p:cond delay="0"/>
                            </p:stCondLst>
                            <p:childTnLst>
                              <p:par>
                                <p:cTn id="25" presetClass="entr" nodeType="clickEffect" presetSubtype="8" presetID="2" grpId="5" fill="hold">
                                  <p:stCondLst>
                                    <p:cond delay="0"/>
                                  </p:stCondLst>
                                  <p:iterate type="el" backwards="0">
                                    <p:tmAbs val="0"/>
                                  </p:iterate>
                                  <p:childTnLst>
                                    <p:set>
                                      <p:cBhvr>
                                        <p:cTn id="26" fill="hold"/>
                                        <p:tgtEl>
                                          <p:spTgt spid="519"/>
                                        </p:tgtEl>
                                        <p:attrNameLst>
                                          <p:attrName>style.visibility</p:attrName>
                                        </p:attrNameLst>
                                      </p:cBhvr>
                                      <p:to>
                                        <p:strVal val="visible"/>
                                      </p:to>
                                    </p:set>
                                    <p:anim calcmode="lin" valueType="num">
                                      <p:cBhvr>
                                        <p:cTn id="27" dur="1000" fill="hold"/>
                                        <p:tgtEl>
                                          <p:spTgt spid="519"/>
                                        </p:tgtEl>
                                        <p:attrNameLst>
                                          <p:attrName>ppt_x</p:attrName>
                                        </p:attrNameLst>
                                      </p:cBhvr>
                                      <p:tavLst>
                                        <p:tav tm="0">
                                          <p:val>
                                            <p:strVal val="0-#ppt_w/2"/>
                                          </p:val>
                                        </p:tav>
                                        <p:tav tm="100000">
                                          <p:val>
                                            <p:strVal val="#ppt_x"/>
                                          </p:val>
                                        </p:tav>
                                      </p:tavLst>
                                    </p:anim>
                                    <p:anim calcmode="lin" valueType="num">
                                      <p:cBhvr>
                                        <p:cTn id="28" dur="1000" fill="hold"/>
                                        <p:tgtEl>
                                          <p:spTgt spid="519"/>
                                        </p:tgtEl>
                                        <p:attrNameLst>
                                          <p:attrName>ppt_y</p:attrName>
                                        </p:attrNameLst>
                                      </p:cBhvr>
                                      <p:tavLst>
                                        <p:tav tm="0">
                                          <p:val>
                                            <p:strVal val="#ppt_y"/>
                                          </p:val>
                                        </p:tav>
                                        <p:tav tm="100000">
                                          <p:val>
                                            <p:strVal val="#ppt_y"/>
                                          </p:val>
                                        </p:tav>
                                      </p:tavLst>
                                    </p:anim>
                                  </p:childTnLst>
                                </p:cTn>
                              </p:par>
                            </p:childTnLst>
                          </p:cTn>
                        </p:par>
                        <p:par>
                          <p:cTn id="29" fill="hold">
                            <p:stCondLst>
                              <p:cond delay="1000"/>
                            </p:stCondLst>
                            <p:childTnLst>
                              <p:par>
                                <p:cTn id="30" presetClass="entr" nodeType="afterEffect" presetID="9" grpId="6" fill="hold">
                                  <p:stCondLst>
                                    <p:cond delay="0"/>
                                  </p:stCondLst>
                                  <p:iterate type="el" backwards="0">
                                    <p:tmAbs val="0"/>
                                  </p:iterate>
                                  <p:childTnLst>
                                    <p:set>
                                      <p:cBhvr>
                                        <p:cTn id="31" fill="hold"/>
                                        <p:tgtEl>
                                          <p:spTgt spid="520"/>
                                        </p:tgtEl>
                                        <p:attrNameLst>
                                          <p:attrName>style.visibility</p:attrName>
                                        </p:attrNameLst>
                                      </p:cBhvr>
                                      <p:to>
                                        <p:strVal val="visible"/>
                                      </p:to>
                                    </p:set>
                                    <p:animEffect filter="dissolve" transition="in">
                                      <p:cBhvr>
                                        <p:cTn id="32" dur="2000"/>
                                        <p:tgtEl>
                                          <p:spTgt spid="520"/>
                                        </p:tgtEl>
                                      </p:cBhvr>
                                    </p:animEffect>
                                  </p:childTnLst>
                                </p:cTn>
                              </p:par>
                            </p:childTnLst>
                          </p:cTn>
                        </p:par>
                      </p:childTnLst>
                    </p:cTn>
                  </p:par>
                  <p:par>
                    <p:cTn id="33" fill="hold">
                      <p:stCondLst>
                        <p:cond delay="indefinite"/>
                      </p:stCondLst>
                      <p:childTnLst>
                        <p:par>
                          <p:cTn id="34" fill="hold">
                            <p:stCondLst>
                              <p:cond delay="0"/>
                            </p:stCondLst>
                            <p:childTnLst>
                              <p:par>
                                <p:cTn id="35" presetClass="entr" nodeType="clickEffect" presetSubtype="8" presetID="2" grpId="7" fill="hold">
                                  <p:stCondLst>
                                    <p:cond delay="0"/>
                                  </p:stCondLst>
                                  <p:iterate type="el" backwards="0">
                                    <p:tmAbs val="0"/>
                                  </p:iterate>
                                  <p:childTnLst>
                                    <p:set>
                                      <p:cBhvr>
                                        <p:cTn id="36" fill="hold"/>
                                        <p:tgtEl>
                                          <p:spTgt spid="522"/>
                                        </p:tgtEl>
                                        <p:attrNameLst>
                                          <p:attrName>style.visibility</p:attrName>
                                        </p:attrNameLst>
                                      </p:cBhvr>
                                      <p:to>
                                        <p:strVal val="visible"/>
                                      </p:to>
                                    </p:set>
                                    <p:anim calcmode="lin" valueType="num">
                                      <p:cBhvr>
                                        <p:cTn id="37" dur="1000" fill="hold"/>
                                        <p:tgtEl>
                                          <p:spTgt spid="522"/>
                                        </p:tgtEl>
                                        <p:attrNameLst>
                                          <p:attrName>ppt_x</p:attrName>
                                        </p:attrNameLst>
                                      </p:cBhvr>
                                      <p:tavLst>
                                        <p:tav tm="0">
                                          <p:val>
                                            <p:strVal val="0-#ppt_w/2"/>
                                          </p:val>
                                        </p:tav>
                                        <p:tav tm="100000">
                                          <p:val>
                                            <p:strVal val="#ppt_x"/>
                                          </p:val>
                                        </p:tav>
                                      </p:tavLst>
                                    </p:anim>
                                    <p:anim calcmode="lin" valueType="num">
                                      <p:cBhvr>
                                        <p:cTn id="38" dur="1000" fill="hold"/>
                                        <p:tgtEl>
                                          <p:spTgt spid="522"/>
                                        </p:tgtEl>
                                        <p:attrNameLst>
                                          <p:attrName>ppt_y</p:attrName>
                                        </p:attrNameLst>
                                      </p:cBhvr>
                                      <p:tavLst>
                                        <p:tav tm="0">
                                          <p:val>
                                            <p:strVal val="#ppt_y"/>
                                          </p:val>
                                        </p:tav>
                                        <p:tav tm="100000">
                                          <p:val>
                                            <p:strVal val="#ppt_y"/>
                                          </p:val>
                                        </p:tav>
                                      </p:tavLst>
                                    </p:anim>
                                  </p:childTnLst>
                                </p:cTn>
                              </p:par>
                            </p:childTnLst>
                          </p:cTn>
                        </p:par>
                        <p:par>
                          <p:cTn id="39" fill="hold">
                            <p:stCondLst>
                              <p:cond delay="1000"/>
                            </p:stCondLst>
                            <p:childTnLst>
                              <p:par>
                                <p:cTn id="40" presetClass="entr" nodeType="afterEffect" presetID="9" grpId="8" fill="hold">
                                  <p:stCondLst>
                                    <p:cond delay="0"/>
                                  </p:stCondLst>
                                  <p:iterate type="el" backwards="0">
                                    <p:tmAbs val="0"/>
                                  </p:iterate>
                                  <p:childTnLst>
                                    <p:set>
                                      <p:cBhvr>
                                        <p:cTn id="41" fill="hold"/>
                                        <p:tgtEl>
                                          <p:spTgt spid="523"/>
                                        </p:tgtEl>
                                        <p:attrNameLst>
                                          <p:attrName>style.visibility</p:attrName>
                                        </p:attrNameLst>
                                      </p:cBhvr>
                                      <p:to>
                                        <p:strVal val="visible"/>
                                      </p:to>
                                    </p:set>
                                    <p:animEffect filter="dissolve" transition="in">
                                      <p:cBhvr>
                                        <p:cTn id="42" dur="2000"/>
                                        <p:tgtEl>
                                          <p:spTgt spid="52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517" grpId="4"/>
      <p:bldP build="whole" bldLvl="1" animBg="1" rev="0" advAuto="0" spid="516" grpId="3"/>
      <p:bldP build="whole" bldLvl="1" animBg="1" rev="0" advAuto="0" spid="514" grpId="2"/>
      <p:bldP build="whole" bldLvl="1" animBg="1" rev="0" advAuto="0" spid="513" grpId="1"/>
      <p:bldP build="whole" bldLvl="1" animBg="1" rev="0" advAuto="0" spid="523" grpId="8"/>
      <p:bldP build="whole" bldLvl="1" animBg="1" rev="0" advAuto="0" spid="519" grpId="5"/>
      <p:bldP build="whole" bldLvl="1" animBg="1" rev="0" advAuto="0" spid="520" grpId="6"/>
      <p:bldP build="whole" bldLvl="1" animBg="1" rev="0" advAuto="0" spid="522" grpId="7"/>
    </p:bldLst>
  </p:timing>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26" name="Supervizate"/>
          <p:cNvSpPr txBox="1"/>
          <p:nvPr/>
        </p:nvSpPr>
        <p:spPr>
          <a:xfrm>
            <a:off x="-7076862" y="7802424"/>
            <a:ext cx="8358424"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Supervizate</a:t>
            </a:r>
          </a:p>
        </p:txBody>
      </p:sp>
      <p:sp>
        <p:nvSpPr>
          <p:cNvPr id="527"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528" name="În general, sunt două tipuri mari și late:"/>
          <p:cNvSpPr txBox="1"/>
          <p:nvPr>
            <p:ph type="body" sz="quarter" idx="1"/>
          </p:nvPr>
        </p:nvSpPr>
        <p:spPr>
          <a:xfrm>
            <a:off x="1058986" y="1549123"/>
            <a:ext cx="21948579" cy="2006602"/>
          </a:xfrm>
          <a:prstGeom prst="rect">
            <a:avLst/>
          </a:prstGeom>
        </p:spPr>
        <p:txBody>
          <a:bodyPr/>
          <a:lstStyle/>
          <a:p>
            <a:pPr/>
            <a:r>
              <a:t>Pentru fiecare punct </a:t>
            </a:r>
            <a14:m>
              <m:oMath>
                <m:sSub>
                  <m:e>
                    <m:r>
                      <a:rPr xmlns:a="http://schemas.openxmlformats.org/drawingml/2006/main" sz="5200" i="1">
                        <a:solidFill>
                          <a:srgbClr val="000000"/>
                        </a:solidFill>
                        <a:latin typeface="Cambria Math" panose="02040503050406030204" pitchFamily="18" charset="0"/>
                      </a:rPr>
                      <m:t>x</m:t>
                    </m:r>
                  </m:e>
                  <m:sub>
                    <m:r>
                      <a:rPr xmlns:a="http://schemas.openxmlformats.org/drawingml/2006/main" sz="5200" i="1">
                        <a:solidFill>
                          <a:srgbClr val="000000"/>
                        </a:solidFill>
                        <a:latin typeface="Cambria Math" panose="02040503050406030204" pitchFamily="18" charset="0"/>
                      </a:rPr>
                      <m:t>i</m:t>
                    </m:r>
                  </m:sub>
                </m:sSub>
              </m:oMath>
            </a14:m>
            <a:r>
              <a:t> din date, LLE determină K vecini apropiați (unde K e un număr prestabilit). Vecinii sunt identificați de obicei pe baza distanței euclidiene.</a:t>
            </a:r>
          </a:p>
        </p:txBody>
      </p:sp>
      <p:sp>
        <p:nvSpPr>
          <p:cNvPr id="529" name="În general, sunt două tipuri mari și late:"/>
          <p:cNvSpPr txBox="1"/>
          <p:nvPr/>
        </p:nvSpPr>
        <p:spPr>
          <a:xfrm>
            <a:off x="1058986" y="3677344"/>
            <a:ext cx="21948579" cy="200660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marL="546100" indent="-546100">
              <a:buSzPct val="150000"/>
              <a:buChar char="•"/>
              <a:defRPr>
                <a:latin typeface="Canela Text Regular"/>
                <a:ea typeface="Canela Text Regular"/>
                <a:cs typeface="Canela Text Regular"/>
                <a:sym typeface="Canela Text Regular"/>
              </a:defRPr>
            </a:pPr>
            <a:r>
              <a:t>Apoi, LLE încearcă să reconstruiască fiecare punct </a:t>
            </a:r>
            <a14:m>
              <m:oMath>
                <m:sSub>
                  <m:e>
                    <m:r>
                      <a:rPr xmlns:a="http://schemas.openxmlformats.org/drawingml/2006/main" sz="5200" i="1">
                        <a:solidFill>
                          <a:srgbClr val="000000"/>
                        </a:solidFill>
                        <a:latin typeface="Cambria Math" panose="02040503050406030204" pitchFamily="18" charset="0"/>
                      </a:rPr>
                      <m:t>x</m:t>
                    </m:r>
                  </m:e>
                  <m:sub>
                    <m:r>
                      <a:rPr xmlns:a="http://schemas.openxmlformats.org/drawingml/2006/main" sz="5200" i="1">
                        <a:solidFill>
                          <a:srgbClr val="000000"/>
                        </a:solidFill>
                        <a:latin typeface="Cambria Math" panose="02040503050406030204" pitchFamily="18" charset="0"/>
                      </a:rPr>
                      <m:t>i</m:t>
                    </m:r>
                  </m:sub>
                </m:sSub>
              </m:oMath>
            </a14:m>
            <a:r>
              <a:t> ca o combinație liniară a vecinilor săi. Practic, găsește coeficienți de ponderare </a:t>
            </a:r>
            <a14:m>
              <m:oMath>
                <m:sSub>
                  <m:e>
                    <m:r>
                      <a:rPr xmlns:a="http://schemas.openxmlformats.org/drawingml/2006/main" sz="5200" i="1">
                        <a:solidFill>
                          <a:srgbClr val="000000"/>
                        </a:solidFill>
                        <a:latin typeface="Cambria Math" panose="02040503050406030204" pitchFamily="18" charset="0"/>
                      </a:rPr>
                      <m:t>w</m:t>
                    </m:r>
                  </m:e>
                  <m:sub>
                    <m:r>
                      <a:rPr xmlns:a="http://schemas.openxmlformats.org/drawingml/2006/main" sz="5200" i="1">
                        <a:solidFill>
                          <a:srgbClr val="000000"/>
                        </a:solidFill>
                        <a:latin typeface="Cambria Math" panose="02040503050406030204" pitchFamily="18" charset="0"/>
                      </a:rPr>
                      <m:t>i</m:t>
                    </m:r>
                    <m:r>
                      <a:rPr xmlns:a="http://schemas.openxmlformats.org/drawingml/2006/main" sz="5200" i="1">
                        <a:solidFill>
                          <a:srgbClr val="000000"/>
                        </a:solidFill>
                        <a:latin typeface="Cambria Math" panose="02040503050406030204" pitchFamily="18" charset="0"/>
                      </a:rPr>
                      <m:t>j</m:t>
                    </m:r>
                  </m:sub>
                </m:sSub>
              </m:oMath>
            </a14:m>
            <a:r>
              <a:t> astfel încât:</a:t>
            </a:r>
          </a:p>
        </p:txBody>
      </p:sp>
      <p:sp>
        <p:nvSpPr>
          <p:cNvPr id="530" name="În general, sunt două tipuri mari și late:"/>
          <p:cNvSpPr txBox="1"/>
          <p:nvPr/>
        </p:nvSpPr>
        <p:spPr>
          <a:xfrm>
            <a:off x="1217710" y="7754287"/>
            <a:ext cx="21948580" cy="436390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marL="546100" indent="-546100">
              <a:buSzPct val="150000"/>
              <a:buChar char="•"/>
              <a:defRPr>
                <a:latin typeface="Canela Text Regular"/>
                <a:ea typeface="Canela Text Regular"/>
                <a:cs typeface="Canela Text Regular"/>
                <a:sym typeface="Canela Text Regular"/>
              </a:defRPr>
            </a:pPr>
            <a:r>
              <a:t>După ce sunt obținute ponderile </a:t>
            </a:r>
            <a14:m>
              <m:oMath>
                <m:sSub>
                  <m:e>
                    <m:r>
                      <a:rPr xmlns:a="http://schemas.openxmlformats.org/drawingml/2006/main" sz="5200" i="1">
                        <a:solidFill>
                          <a:srgbClr val="000000"/>
                        </a:solidFill>
                        <a:latin typeface="Cambria Math" panose="02040503050406030204" pitchFamily="18" charset="0"/>
                      </a:rPr>
                      <m:t>w</m:t>
                    </m:r>
                  </m:e>
                  <m:sub>
                    <m:r>
                      <a:rPr xmlns:a="http://schemas.openxmlformats.org/drawingml/2006/main" sz="5200" i="1">
                        <a:solidFill>
                          <a:srgbClr val="000000"/>
                        </a:solidFill>
                        <a:latin typeface="Cambria Math" panose="02040503050406030204" pitchFamily="18" charset="0"/>
                      </a:rPr>
                      <m:t>i</m:t>
                    </m:r>
                    <m:r>
                      <a:rPr xmlns:a="http://schemas.openxmlformats.org/drawingml/2006/main" sz="5200" i="1">
                        <a:solidFill>
                          <a:srgbClr val="000000"/>
                        </a:solidFill>
                        <a:latin typeface="Cambria Math" panose="02040503050406030204" pitchFamily="18" charset="0"/>
                      </a:rPr>
                      <m:t>j</m:t>
                    </m:r>
                  </m:sub>
                </m:sSub>
              </m:oMath>
            </a14:m>
            <a:r>
              <a:t> în spațiul original, se caută un set de puncte în noul spațiu (cu dimensiune redusă) care păstrează aceste relații de reconstrucție. Scopul este să obținem punctele </a:t>
            </a:r>
            <a14:m>
              <m:oMath>
                <m:sSub>
                  <m:e>
                    <m:r>
                      <a:rPr xmlns:a="http://schemas.openxmlformats.org/drawingml/2006/main" sz="5200" i="1">
                        <a:solidFill>
                          <a:srgbClr val="000000"/>
                        </a:solidFill>
                        <a:latin typeface="Cambria Math" panose="02040503050406030204" pitchFamily="18" charset="0"/>
                      </a:rPr>
                      <m:t>y</m:t>
                    </m:r>
                  </m:e>
                  <m:sub>
                    <m:r>
                      <a:rPr xmlns:a="http://schemas.openxmlformats.org/drawingml/2006/main" sz="5200" i="1">
                        <a:solidFill>
                          <a:srgbClr val="000000"/>
                        </a:solidFill>
                        <a:latin typeface="Cambria Math" panose="02040503050406030204" pitchFamily="18" charset="0"/>
                      </a:rPr>
                      <m:t>i</m:t>
                    </m:r>
                  </m:sub>
                </m:sSub>
              </m:oMath>
            </a14:m>
            <a:r>
              <a:t> într-un spațiu de dimensiune redusă astfel încât:</a:t>
            </a:r>
          </a:p>
        </p:txBody>
      </p:sp>
      <p:sp>
        <p:nvSpPr>
          <p:cNvPr id="531" name="Ecuație"/>
          <p:cNvSpPr txBox="1"/>
          <p:nvPr/>
        </p:nvSpPr>
        <p:spPr>
          <a:xfrm>
            <a:off x="9912528" y="6020764"/>
            <a:ext cx="4558945" cy="1396705"/>
          </a:xfrm>
          <a:prstGeom prst="rect">
            <a:avLst/>
          </a:prstGeom>
          <a:ln w="12700">
            <a:miter lim="400000"/>
          </a:ln>
        </p:spPr>
        <p:txBody>
          <a:bodyPr wrap="none" lIns="0" tIns="0" rIns="0" bIns="0">
            <a:spAutoFit/>
          </a:bodyPr>
          <a:lstStyle/>
          <a:p>
            <a:pPr defTabSz="914400" latinLnBrk="1">
              <a:lnSpc>
                <a:spcPct val="100000"/>
              </a:lnSpc>
              <a:spcBef>
                <a:spcPts val="0"/>
              </a:spcBef>
              <a:defRPr sz="1800"/>
            </a:pPr>
            <a14:m>
              <m:oMathPara>
                <m:oMathParaPr>
                  <m:jc m:val="centerGroup"/>
                </m:oMathParaPr>
                <m:oMath>
                  <m:sSub>
                    <m:e>
                      <m:r>
                        <a:rPr xmlns:a="http://schemas.openxmlformats.org/drawingml/2006/main" sz="4400" i="1">
                          <a:solidFill>
                            <a:srgbClr val="000000"/>
                          </a:solidFill>
                          <a:latin typeface="Cambria Math" panose="02040503050406030204" pitchFamily="18" charset="0"/>
                        </a:rPr>
                        <m:t>x</m:t>
                      </m:r>
                    </m:e>
                    <m:sub>
                      <m:r>
                        <a:rPr xmlns:a="http://schemas.openxmlformats.org/drawingml/2006/main" sz="4400" i="1">
                          <a:solidFill>
                            <a:srgbClr val="000000"/>
                          </a:solidFill>
                          <a:latin typeface="Cambria Math" panose="02040503050406030204" pitchFamily="18" charset="0"/>
                        </a:rPr>
                        <m:t>i</m:t>
                      </m:r>
                    </m:sub>
                  </m:sSub>
                  <m:r>
                    <a:rPr xmlns:a="http://schemas.openxmlformats.org/drawingml/2006/main" sz="4400" i="1">
                      <a:solidFill>
                        <a:srgbClr val="000000"/>
                      </a:solidFill>
                      <a:latin typeface="Cambria Math" panose="02040503050406030204" pitchFamily="18" charset="0"/>
                    </a:rPr>
                    <m:t>≈</m:t>
                  </m:r>
                  <m:limLow>
                    <m:e>
                      <m:r>
                        <a:rPr xmlns:a="http://schemas.openxmlformats.org/drawingml/2006/main" sz="4400" i="1">
                          <a:solidFill>
                            <a:srgbClr val="000000"/>
                          </a:solidFill>
                          <a:latin typeface="Cambria Math" panose="02040503050406030204" pitchFamily="18" charset="0"/>
                        </a:rPr>
                        <m:t>∑</m:t>
                      </m:r>
                    </m:e>
                    <m:lim>
                      <m:r>
                        <a:rPr xmlns:a="http://schemas.openxmlformats.org/drawingml/2006/main" sz="4400" i="1">
                          <a:solidFill>
                            <a:srgbClr val="000000"/>
                          </a:solidFill>
                          <a:latin typeface="Cambria Math" panose="02040503050406030204" pitchFamily="18" charset="0"/>
                        </a:rPr>
                        <m:t>j</m:t>
                      </m:r>
                      <m:r>
                        <a:rPr xmlns:a="http://schemas.openxmlformats.org/drawingml/2006/main" sz="4400" i="1">
                          <a:solidFill>
                            <a:srgbClr val="000000"/>
                          </a:solidFill>
                          <a:latin typeface="Cambria Math" panose="02040503050406030204" pitchFamily="18" charset="0"/>
                        </a:rPr>
                        <m:t>∈</m:t>
                      </m:r>
                      <m:r>
                        <m:rPr>
                          <m:nor/>
                        </m:rPr>
                        <a:rPr xmlns:a="http://schemas.openxmlformats.org/drawingml/2006/main" sz="4400" i="1">
                          <a:solidFill>
                            <a:srgbClr val="000000"/>
                          </a:solidFill>
                          <a:latin typeface="Cambria Math" panose="02040503050406030204" pitchFamily="18" charset="0"/>
                        </a:rPr>
                        <m:t>Vecinii</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i</m:t>
                      </m:r>
                      <m:r>
                        <a:rPr xmlns:a="http://schemas.openxmlformats.org/drawingml/2006/main" sz="4400" i="1">
                          <a:solidFill>
                            <a:srgbClr val="000000"/>
                          </a:solidFill>
                          <a:latin typeface="Cambria Math" panose="02040503050406030204" pitchFamily="18" charset="0"/>
                        </a:rPr>
                        <m:t>)</m:t>
                      </m:r>
                    </m:lim>
                  </m:limLow>
                  <m:sSub>
                    <m:e>
                      <m:r>
                        <a:rPr xmlns:a="http://schemas.openxmlformats.org/drawingml/2006/main" sz="4400" i="1">
                          <a:solidFill>
                            <a:srgbClr val="000000"/>
                          </a:solidFill>
                          <a:latin typeface="Cambria Math" panose="02040503050406030204" pitchFamily="18" charset="0"/>
                        </a:rPr>
                        <m:t>w</m:t>
                      </m:r>
                    </m:e>
                    <m:sub>
                      <m:r>
                        <a:rPr xmlns:a="http://schemas.openxmlformats.org/drawingml/2006/main" sz="4400" i="1">
                          <a:solidFill>
                            <a:srgbClr val="000000"/>
                          </a:solidFill>
                          <a:latin typeface="Cambria Math" panose="02040503050406030204" pitchFamily="18" charset="0"/>
                        </a:rPr>
                        <m:t>i</m:t>
                      </m:r>
                      <m:r>
                        <a:rPr xmlns:a="http://schemas.openxmlformats.org/drawingml/2006/main" sz="4400" i="1">
                          <a:solidFill>
                            <a:srgbClr val="000000"/>
                          </a:solidFill>
                          <a:latin typeface="Cambria Math" panose="02040503050406030204" pitchFamily="18" charset="0"/>
                        </a:rPr>
                        <m:t>j</m:t>
                      </m:r>
                    </m:sub>
                  </m:sSub>
                  <m:sSub>
                    <m:e>
                      <m:r>
                        <a:rPr xmlns:a="http://schemas.openxmlformats.org/drawingml/2006/main" sz="4400" i="1">
                          <a:solidFill>
                            <a:srgbClr val="000000"/>
                          </a:solidFill>
                          <a:latin typeface="Cambria Math" panose="02040503050406030204" pitchFamily="18" charset="0"/>
                        </a:rPr>
                        <m:t>x</m:t>
                      </m:r>
                    </m:e>
                    <m:sub>
                      <m:r>
                        <a:rPr xmlns:a="http://schemas.openxmlformats.org/drawingml/2006/main" sz="4400" i="1">
                          <a:solidFill>
                            <a:srgbClr val="000000"/>
                          </a:solidFill>
                          <a:latin typeface="Cambria Math" panose="02040503050406030204" pitchFamily="18" charset="0"/>
                        </a:rPr>
                        <m:t>j</m:t>
                      </m:r>
                    </m:sub>
                  </m:sSub>
                </m:oMath>
              </m:oMathPara>
            </a14:m>
            <a:endParaRPr sz="4400"/>
          </a:p>
        </p:txBody>
      </p:sp>
      <p:sp>
        <p:nvSpPr>
          <p:cNvPr id="532" name="Ecuație"/>
          <p:cNvSpPr txBox="1"/>
          <p:nvPr/>
        </p:nvSpPr>
        <p:spPr>
          <a:xfrm>
            <a:off x="9914204" y="10957954"/>
            <a:ext cx="4555592" cy="1396705"/>
          </a:xfrm>
          <a:prstGeom prst="rect">
            <a:avLst/>
          </a:prstGeom>
          <a:ln w="12700">
            <a:miter lim="400000"/>
          </a:ln>
        </p:spPr>
        <p:txBody>
          <a:bodyPr wrap="none" lIns="0" tIns="0" rIns="0" bIns="0">
            <a:spAutoFit/>
          </a:bodyPr>
          <a:lstStyle/>
          <a:p>
            <a:pPr defTabSz="914400" latinLnBrk="1">
              <a:lnSpc>
                <a:spcPct val="100000"/>
              </a:lnSpc>
              <a:spcBef>
                <a:spcPts val="0"/>
              </a:spcBef>
              <a:defRPr sz="1800"/>
            </a:pPr>
            <a14:m>
              <m:oMathPara>
                <m:oMathParaPr>
                  <m:jc m:val="centerGroup"/>
                </m:oMathParaPr>
                <m:oMath>
                  <m:sSub>
                    <m:e>
                      <m:r>
                        <a:rPr xmlns:a="http://schemas.openxmlformats.org/drawingml/2006/main" sz="4400" i="1">
                          <a:solidFill>
                            <a:srgbClr val="000000"/>
                          </a:solidFill>
                          <a:latin typeface="Cambria Math" panose="02040503050406030204" pitchFamily="18" charset="0"/>
                        </a:rPr>
                        <m:t>y</m:t>
                      </m:r>
                    </m:e>
                    <m:sub>
                      <m:r>
                        <a:rPr xmlns:a="http://schemas.openxmlformats.org/drawingml/2006/main" sz="4400" i="1">
                          <a:solidFill>
                            <a:srgbClr val="000000"/>
                          </a:solidFill>
                          <a:latin typeface="Cambria Math" panose="02040503050406030204" pitchFamily="18" charset="0"/>
                        </a:rPr>
                        <m:t>i</m:t>
                      </m:r>
                    </m:sub>
                  </m:sSub>
                  <m:r>
                    <a:rPr xmlns:a="http://schemas.openxmlformats.org/drawingml/2006/main" sz="4400" i="1">
                      <a:solidFill>
                        <a:srgbClr val="000000"/>
                      </a:solidFill>
                      <a:latin typeface="Cambria Math" panose="02040503050406030204" pitchFamily="18" charset="0"/>
                    </a:rPr>
                    <m:t>≈</m:t>
                  </m:r>
                  <m:limLow>
                    <m:e>
                      <m:r>
                        <a:rPr xmlns:a="http://schemas.openxmlformats.org/drawingml/2006/main" sz="4400" i="1">
                          <a:solidFill>
                            <a:srgbClr val="000000"/>
                          </a:solidFill>
                          <a:latin typeface="Cambria Math" panose="02040503050406030204" pitchFamily="18" charset="0"/>
                        </a:rPr>
                        <m:t>∑</m:t>
                      </m:r>
                    </m:e>
                    <m:lim>
                      <m:r>
                        <a:rPr xmlns:a="http://schemas.openxmlformats.org/drawingml/2006/main" sz="4400" i="1">
                          <a:solidFill>
                            <a:srgbClr val="000000"/>
                          </a:solidFill>
                          <a:latin typeface="Cambria Math" panose="02040503050406030204" pitchFamily="18" charset="0"/>
                        </a:rPr>
                        <m:t>j</m:t>
                      </m:r>
                      <m:r>
                        <a:rPr xmlns:a="http://schemas.openxmlformats.org/drawingml/2006/main" sz="4400" i="1">
                          <a:solidFill>
                            <a:srgbClr val="000000"/>
                          </a:solidFill>
                          <a:latin typeface="Cambria Math" panose="02040503050406030204" pitchFamily="18" charset="0"/>
                        </a:rPr>
                        <m:t>∈</m:t>
                      </m:r>
                      <m:r>
                        <m:rPr>
                          <m:nor/>
                        </m:rPr>
                        <a:rPr xmlns:a="http://schemas.openxmlformats.org/drawingml/2006/main" sz="4400" i="1">
                          <a:solidFill>
                            <a:srgbClr val="000000"/>
                          </a:solidFill>
                          <a:latin typeface="Cambria Math" panose="02040503050406030204" pitchFamily="18" charset="0"/>
                        </a:rPr>
                        <m:t>Vecinii</m:t>
                      </m:r>
                      <m:r>
                        <a:rPr xmlns:a="http://schemas.openxmlformats.org/drawingml/2006/main" sz="4400" i="1">
                          <a:solidFill>
                            <a:srgbClr val="000000"/>
                          </a:solidFill>
                          <a:latin typeface="Cambria Math" panose="02040503050406030204" pitchFamily="18" charset="0"/>
                        </a:rPr>
                        <m:t>(</m:t>
                      </m:r>
                      <m:r>
                        <a:rPr xmlns:a="http://schemas.openxmlformats.org/drawingml/2006/main" sz="4400" i="1">
                          <a:solidFill>
                            <a:srgbClr val="000000"/>
                          </a:solidFill>
                          <a:latin typeface="Cambria Math" panose="02040503050406030204" pitchFamily="18" charset="0"/>
                        </a:rPr>
                        <m:t>i</m:t>
                      </m:r>
                      <m:r>
                        <a:rPr xmlns:a="http://schemas.openxmlformats.org/drawingml/2006/main" sz="4400" i="1">
                          <a:solidFill>
                            <a:srgbClr val="000000"/>
                          </a:solidFill>
                          <a:latin typeface="Cambria Math" panose="02040503050406030204" pitchFamily="18" charset="0"/>
                        </a:rPr>
                        <m:t>)</m:t>
                      </m:r>
                    </m:lim>
                  </m:limLow>
                  <m:sSub>
                    <m:e>
                      <m:r>
                        <a:rPr xmlns:a="http://schemas.openxmlformats.org/drawingml/2006/main" sz="4400" i="1">
                          <a:solidFill>
                            <a:srgbClr val="000000"/>
                          </a:solidFill>
                          <a:latin typeface="Cambria Math" panose="02040503050406030204" pitchFamily="18" charset="0"/>
                        </a:rPr>
                        <m:t>w</m:t>
                      </m:r>
                    </m:e>
                    <m:sub>
                      <m:r>
                        <a:rPr xmlns:a="http://schemas.openxmlformats.org/drawingml/2006/main" sz="4400" i="1">
                          <a:solidFill>
                            <a:srgbClr val="000000"/>
                          </a:solidFill>
                          <a:latin typeface="Cambria Math" panose="02040503050406030204" pitchFamily="18" charset="0"/>
                        </a:rPr>
                        <m:t>i</m:t>
                      </m:r>
                      <m:r>
                        <a:rPr xmlns:a="http://schemas.openxmlformats.org/drawingml/2006/main" sz="4400" i="1">
                          <a:solidFill>
                            <a:srgbClr val="000000"/>
                          </a:solidFill>
                          <a:latin typeface="Cambria Math" panose="02040503050406030204" pitchFamily="18" charset="0"/>
                        </a:rPr>
                        <m:t>j</m:t>
                      </m:r>
                    </m:sub>
                  </m:sSub>
                  <m:sSub>
                    <m:e>
                      <m:r>
                        <a:rPr xmlns:a="http://schemas.openxmlformats.org/drawingml/2006/main" sz="4400" i="1">
                          <a:solidFill>
                            <a:srgbClr val="000000"/>
                          </a:solidFill>
                          <a:latin typeface="Cambria Math" panose="02040503050406030204" pitchFamily="18" charset="0"/>
                        </a:rPr>
                        <m:t>y</m:t>
                      </m:r>
                    </m:e>
                    <m:sub>
                      <m:r>
                        <a:rPr xmlns:a="http://schemas.openxmlformats.org/drawingml/2006/main" sz="4400" i="1">
                          <a:solidFill>
                            <a:srgbClr val="000000"/>
                          </a:solidFill>
                          <a:latin typeface="Cambria Math" panose="02040503050406030204" pitchFamily="18" charset="0"/>
                        </a:rPr>
                        <m:t>j</m:t>
                      </m:r>
                    </m:sub>
                  </m:sSub>
                </m:oMath>
              </m:oMathPara>
            </a14:m>
            <a:endParaRPr sz="4400"/>
          </a:p>
        </p:txBody>
      </p:sp>
      <p:pic>
        <p:nvPicPr>
          <p:cNvPr id="533" name="Linie Linie" descr="Linie Linie"/>
          <p:cNvPicPr>
            <a:picLocks noChangeAspect="0"/>
          </p:cNvPicPr>
          <p:nvPr/>
        </p:nvPicPr>
        <p:blipFill>
          <a:blip r:embed="rId2">
            <a:extLst/>
          </a:blip>
          <a:stretch>
            <a:fillRect/>
          </a:stretch>
        </p:blipFill>
        <p:spPr>
          <a:xfrm>
            <a:off x="13526270" y="2501623"/>
            <a:ext cx="4840975" cy="101601"/>
          </a:xfrm>
          <a:prstGeom prst="rect">
            <a:avLst/>
          </a:prstGeom>
        </p:spPr>
      </p:pic>
      <p:pic>
        <p:nvPicPr>
          <p:cNvPr id="535" name="Linie Linie" descr="Linie Linie"/>
          <p:cNvPicPr>
            <a:picLocks noChangeAspect="0"/>
          </p:cNvPicPr>
          <p:nvPr/>
        </p:nvPicPr>
        <p:blipFill>
          <a:blip r:embed="rId3">
            <a:extLst/>
          </a:blip>
          <a:stretch>
            <a:fillRect/>
          </a:stretch>
        </p:blipFill>
        <p:spPr>
          <a:xfrm>
            <a:off x="15471331" y="3238926"/>
            <a:ext cx="6477487" cy="101601"/>
          </a:xfrm>
          <a:prstGeom prst="rect">
            <a:avLst/>
          </a:prstGeom>
        </p:spPr>
      </p:pic>
      <p:pic>
        <p:nvPicPr>
          <p:cNvPr id="537" name="Linie Linie" descr="Linie Linie"/>
          <p:cNvPicPr>
            <a:picLocks noChangeAspect="0"/>
          </p:cNvPicPr>
          <p:nvPr/>
        </p:nvPicPr>
        <p:blipFill>
          <a:blip r:embed="rId4">
            <a:extLst/>
          </a:blip>
          <a:stretch>
            <a:fillRect/>
          </a:stretch>
        </p:blipFill>
        <p:spPr>
          <a:xfrm>
            <a:off x="16197691" y="4629845"/>
            <a:ext cx="5371336" cy="101601"/>
          </a:xfrm>
          <a:prstGeom prst="rect">
            <a:avLst/>
          </a:prstGeom>
        </p:spPr>
      </p:pic>
      <p:pic>
        <p:nvPicPr>
          <p:cNvPr id="539" name="Linie Linie" descr="Linie Linie"/>
          <p:cNvPicPr>
            <a:picLocks noChangeAspect="0"/>
          </p:cNvPicPr>
          <p:nvPr/>
        </p:nvPicPr>
        <p:blipFill>
          <a:blip r:embed="rId5">
            <a:extLst/>
          </a:blip>
          <a:stretch>
            <a:fillRect/>
          </a:stretch>
        </p:blipFill>
        <p:spPr>
          <a:xfrm>
            <a:off x="1420583" y="5604205"/>
            <a:ext cx="3449955" cy="101601"/>
          </a:xfrm>
          <a:prstGeom prst="rect">
            <a:avLst/>
          </a:prstGeom>
        </p:spPr>
      </p:pic>
      <p:pic>
        <p:nvPicPr>
          <p:cNvPr id="541" name="Linie Linie" descr="Linie Linie"/>
          <p:cNvPicPr>
            <a:picLocks noChangeAspect="0"/>
          </p:cNvPicPr>
          <p:nvPr/>
        </p:nvPicPr>
        <p:blipFill>
          <a:blip r:embed="rId6">
            <a:extLst/>
          </a:blip>
          <a:stretch>
            <a:fillRect/>
          </a:stretch>
        </p:blipFill>
        <p:spPr>
          <a:xfrm>
            <a:off x="11929378" y="9391902"/>
            <a:ext cx="2992854" cy="10160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8" presetID="2" grpId="1" fill="hold">
                                  <p:stCondLst>
                                    <p:cond delay="0"/>
                                  </p:stCondLst>
                                  <p:iterate type="el" backwards="0">
                                    <p:tmAbs val="0"/>
                                  </p:iterate>
                                  <p:childTnLst>
                                    <p:set>
                                      <p:cBhvr>
                                        <p:cTn id="6" fill="hold"/>
                                        <p:tgtEl>
                                          <p:spTgt spid="528"/>
                                        </p:tgtEl>
                                        <p:attrNameLst>
                                          <p:attrName>style.visibility</p:attrName>
                                        </p:attrNameLst>
                                      </p:cBhvr>
                                      <p:to>
                                        <p:strVal val="visible"/>
                                      </p:to>
                                    </p:set>
                                    <p:anim calcmode="lin" valueType="num">
                                      <p:cBhvr>
                                        <p:cTn id="7" dur="1000" fill="hold"/>
                                        <p:tgtEl>
                                          <p:spTgt spid="528"/>
                                        </p:tgtEl>
                                        <p:attrNameLst>
                                          <p:attrName>ppt_x</p:attrName>
                                        </p:attrNameLst>
                                      </p:cBhvr>
                                      <p:tavLst>
                                        <p:tav tm="0">
                                          <p:val>
                                            <p:strVal val="0-#ppt_w/2"/>
                                          </p:val>
                                        </p:tav>
                                        <p:tav tm="100000">
                                          <p:val>
                                            <p:strVal val="#ppt_x"/>
                                          </p:val>
                                        </p:tav>
                                      </p:tavLst>
                                    </p:anim>
                                    <p:anim calcmode="lin" valueType="num">
                                      <p:cBhvr>
                                        <p:cTn id="8" dur="1000" fill="hold"/>
                                        <p:tgtEl>
                                          <p:spTgt spid="528"/>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Class="entr" nodeType="afterEffect" presetID="9" grpId="2" fill="hold">
                                  <p:stCondLst>
                                    <p:cond delay="0"/>
                                  </p:stCondLst>
                                  <p:iterate type="el" backwards="0">
                                    <p:tmAbs val="0"/>
                                  </p:iterate>
                                  <p:childTnLst>
                                    <p:set>
                                      <p:cBhvr>
                                        <p:cTn id="11" fill="hold"/>
                                        <p:tgtEl>
                                          <p:spTgt spid="533"/>
                                        </p:tgtEl>
                                        <p:attrNameLst>
                                          <p:attrName>style.visibility</p:attrName>
                                        </p:attrNameLst>
                                      </p:cBhvr>
                                      <p:to>
                                        <p:strVal val="visible"/>
                                      </p:to>
                                    </p:set>
                                    <p:animEffect filter="dissolve" transition="in">
                                      <p:cBhvr>
                                        <p:cTn id="12" dur="2000"/>
                                        <p:tgtEl>
                                          <p:spTgt spid="533"/>
                                        </p:tgtEl>
                                      </p:cBhvr>
                                    </p:animEffect>
                                  </p:childTnLst>
                                </p:cTn>
                              </p:par>
                            </p:childTnLst>
                          </p:cTn>
                        </p:par>
                        <p:par>
                          <p:cTn id="13" fill="hold">
                            <p:stCondLst>
                              <p:cond delay="3000"/>
                            </p:stCondLst>
                            <p:childTnLst>
                              <p:par>
                                <p:cTn id="14" presetClass="entr" nodeType="afterEffect" presetID="9" grpId="3" fill="hold">
                                  <p:stCondLst>
                                    <p:cond delay="0"/>
                                  </p:stCondLst>
                                  <p:iterate type="el" backwards="0">
                                    <p:tmAbs val="0"/>
                                  </p:iterate>
                                  <p:childTnLst>
                                    <p:set>
                                      <p:cBhvr>
                                        <p:cTn id="15" fill="hold"/>
                                        <p:tgtEl>
                                          <p:spTgt spid="535"/>
                                        </p:tgtEl>
                                        <p:attrNameLst>
                                          <p:attrName>style.visibility</p:attrName>
                                        </p:attrNameLst>
                                      </p:cBhvr>
                                      <p:to>
                                        <p:strVal val="visible"/>
                                      </p:to>
                                    </p:set>
                                    <p:animEffect filter="dissolve" transition="in">
                                      <p:cBhvr>
                                        <p:cTn id="16" dur="2000"/>
                                        <p:tgtEl>
                                          <p:spTgt spid="535"/>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Subtype="8" presetID="2" grpId="4" fill="hold">
                                  <p:stCondLst>
                                    <p:cond delay="0"/>
                                  </p:stCondLst>
                                  <p:iterate type="el" backwards="0">
                                    <p:tmAbs val="0"/>
                                  </p:iterate>
                                  <p:childTnLst>
                                    <p:set>
                                      <p:cBhvr>
                                        <p:cTn id="20" fill="hold"/>
                                        <p:tgtEl>
                                          <p:spTgt spid="529"/>
                                        </p:tgtEl>
                                        <p:attrNameLst>
                                          <p:attrName>style.visibility</p:attrName>
                                        </p:attrNameLst>
                                      </p:cBhvr>
                                      <p:to>
                                        <p:strVal val="visible"/>
                                      </p:to>
                                    </p:set>
                                    <p:anim calcmode="lin" valueType="num">
                                      <p:cBhvr>
                                        <p:cTn id="21" dur="1000" fill="hold"/>
                                        <p:tgtEl>
                                          <p:spTgt spid="529"/>
                                        </p:tgtEl>
                                        <p:attrNameLst>
                                          <p:attrName>ppt_x</p:attrName>
                                        </p:attrNameLst>
                                      </p:cBhvr>
                                      <p:tavLst>
                                        <p:tav tm="0">
                                          <p:val>
                                            <p:strVal val="0-#ppt_w/2"/>
                                          </p:val>
                                        </p:tav>
                                        <p:tav tm="100000">
                                          <p:val>
                                            <p:strVal val="#ppt_x"/>
                                          </p:val>
                                        </p:tav>
                                      </p:tavLst>
                                    </p:anim>
                                    <p:anim calcmode="lin" valueType="num">
                                      <p:cBhvr>
                                        <p:cTn id="22" dur="1000" fill="hold"/>
                                        <p:tgtEl>
                                          <p:spTgt spid="529"/>
                                        </p:tgtEl>
                                        <p:attrNameLst>
                                          <p:attrName>ppt_y</p:attrName>
                                        </p:attrNameLst>
                                      </p:cBhvr>
                                      <p:tavLst>
                                        <p:tav tm="0">
                                          <p:val>
                                            <p:strVal val="#ppt_y"/>
                                          </p:val>
                                        </p:tav>
                                        <p:tav tm="100000">
                                          <p:val>
                                            <p:strVal val="#ppt_y"/>
                                          </p:val>
                                        </p:tav>
                                      </p:tavLst>
                                    </p:anim>
                                  </p:childTnLst>
                                </p:cTn>
                              </p:par>
                            </p:childTnLst>
                          </p:cTn>
                        </p:par>
                        <p:par>
                          <p:cTn id="23" fill="hold">
                            <p:stCondLst>
                              <p:cond delay="1000"/>
                            </p:stCondLst>
                            <p:childTnLst>
                              <p:par>
                                <p:cTn id="24" presetClass="entr" nodeType="afterEffect" presetID="9" grpId="5" fill="hold">
                                  <p:stCondLst>
                                    <p:cond delay="0"/>
                                  </p:stCondLst>
                                  <p:iterate type="el" backwards="0">
                                    <p:tmAbs val="0"/>
                                  </p:iterate>
                                  <p:childTnLst>
                                    <p:set>
                                      <p:cBhvr>
                                        <p:cTn id="25" fill="hold"/>
                                        <p:tgtEl>
                                          <p:spTgt spid="537"/>
                                        </p:tgtEl>
                                        <p:attrNameLst>
                                          <p:attrName>style.visibility</p:attrName>
                                        </p:attrNameLst>
                                      </p:cBhvr>
                                      <p:to>
                                        <p:strVal val="visible"/>
                                      </p:to>
                                    </p:set>
                                    <p:animEffect filter="dissolve" transition="in">
                                      <p:cBhvr>
                                        <p:cTn id="26" dur="2000"/>
                                        <p:tgtEl>
                                          <p:spTgt spid="537"/>
                                        </p:tgtEl>
                                      </p:cBhvr>
                                    </p:animEffect>
                                  </p:childTnLst>
                                </p:cTn>
                              </p:par>
                            </p:childTnLst>
                          </p:cTn>
                        </p:par>
                        <p:par>
                          <p:cTn id="27" fill="hold">
                            <p:stCondLst>
                              <p:cond delay="3000"/>
                            </p:stCondLst>
                            <p:childTnLst>
                              <p:par>
                                <p:cTn id="28" presetClass="entr" nodeType="afterEffect" presetID="9" grpId="6" fill="hold">
                                  <p:stCondLst>
                                    <p:cond delay="0"/>
                                  </p:stCondLst>
                                  <p:iterate type="el" backwards="0">
                                    <p:tmAbs val="0"/>
                                  </p:iterate>
                                  <p:childTnLst>
                                    <p:set>
                                      <p:cBhvr>
                                        <p:cTn id="29" fill="hold"/>
                                        <p:tgtEl>
                                          <p:spTgt spid="539"/>
                                        </p:tgtEl>
                                        <p:attrNameLst>
                                          <p:attrName>style.visibility</p:attrName>
                                        </p:attrNameLst>
                                      </p:cBhvr>
                                      <p:to>
                                        <p:strVal val="visible"/>
                                      </p:to>
                                    </p:set>
                                    <p:animEffect filter="dissolve" transition="in">
                                      <p:cBhvr>
                                        <p:cTn id="30" dur="2000"/>
                                        <p:tgtEl>
                                          <p:spTgt spid="539"/>
                                        </p:tgtEl>
                                      </p:cBhvr>
                                    </p:animEffect>
                                  </p:childTnLst>
                                </p:cTn>
                              </p:par>
                            </p:childTnLst>
                          </p:cTn>
                        </p:par>
                        <p:par>
                          <p:cTn id="31" fill="hold">
                            <p:stCondLst>
                              <p:cond delay="5000"/>
                            </p:stCondLst>
                            <p:childTnLst>
                              <p:par>
                                <p:cTn id="32" presetClass="entr" nodeType="afterEffect" presetSubtype="8" presetID="2" grpId="7" fill="hold">
                                  <p:stCondLst>
                                    <p:cond delay="0"/>
                                  </p:stCondLst>
                                  <p:iterate type="el" backwards="0">
                                    <p:tmAbs val="0"/>
                                  </p:iterate>
                                  <p:childTnLst>
                                    <p:set>
                                      <p:cBhvr>
                                        <p:cTn id="33" fill="hold"/>
                                        <p:tgtEl>
                                          <p:spTgt spid="531"/>
                                        </p:tgtEl>
                                        <p:attrNameLst>
                                          <p:attrName>style.visibility</p:attrName>
                                        </p:attrNameLst>
                                      </p:cBhvr>
                                      <p:to>
                                        <p:strVal val="visible"/>
                                      </p:to>
                                    </p:set>
                                    <p:anim calcmode="lin" valueType="num">
                                      <p:cBhvr>
                                        <p:cTn id="34" dur="1000" fill="hold"/>
                                        <p:tgtEl>
                                          <p:spTgt spid="531"/>
                                        </p:tgtEl>
                                        <p:attrNameLst>
                                          <p:attrName>ppt_x</p:attrName>
                                        </p:attrNameLst>
                                      </p:cBhvr>
                                      <p:tavLst>
                                        <p:tav tm="0">
                                          <p:val>
                                            <p:strVal val="0-#ppt_w/2"/>
                                          </p:val>
                                        </p:tav>
                                        <p:tav tm="100000">
                                          <p:val>
                                            <p:strVal val="#ppt_x"/>
                                          </p:val>
                                        </p:tav>
                                      </p:tavLst>
                                    </p:anim>
                                    <p:anim calcmode="lin" valueType="num">
                                      <p:cBhvr>
                                        <p:cTn id="35" dur="1000" fill="hold"/>
                                        <p:tgtEl>
                                          <p:spTgt spid="531"/>
                                        </p:tgtEl>
                                        <p:attrNameLst>
                                          <p:attrName>ppt_y</p:attrName>
                                        </p:attrNameLst>
                                      </p:cBhvr>
                                      <p:tavLst>
                                        <p:tav tm="0">
                                          <p:val>
                                            <p:strVal val="#ppt_y"/>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Class="entr" nodeType="clickEffect" presetSubtype="8" presetID="2" grpId="8" fill="hold">
                                  <p:stCondLst>
                                    <p:cond delay="0"/>
                                  </p:stCondLst>
                                  <p:iterate type="el" backwards="0">
                                    <p:tmAbs val="0"/>
                                  </p:iterate>
                                  <p:childTnLst>
                                    <p:set>
                                      <p:cBhvr>
                                        <p:cTn id="39" fill="hold"/>
                                        <p:tgtEl>
                                          <p:spTgt spid="530"/>
                                        </p:tgtEl>
                                        <p:attrNameLst>
                                          <p:attrName>style.visibility</p:attrName>
                                        </p:attrNameLst>
                                      </p:cBhvr>
                                      <p:to>
                                        <p:strVal val="visible"/>
                                      </p:to>
                                    </p:set>
                                    <p:anim calcmode="lin" valueType="num">
                                      <p:cBhvr>
                                        <p:cTn id="40" dur="1000" fill="hold"/>
                                        <p:tgtEl>
                                          <p:spTgt spid="530"/>
                                        </p:tgtEl>
                                        <p:attrNameLst>
                                          <p:attrName>ppt_x</p:attrName>
                                        </p:attrNameLst>
                                      </p:cBhvr>
                                      <p:tavLst>
                                        <p:tav tm="0">
                                          <p:val>
                                            <p:strVal val="0-#ppt_w/2"/>
                                          </p:val>
                                        </p:tav>
                                        <p:tav tm="100000">
                                          <p:val>
                                            <p:strVal val="#ppt_x"/>
                                          </p:val>
                                        </p:tav>
                                      </p:tavLst>
                                    </p:anim>
                                    <p:anim calcmode="lin" valueType="num">
                                      <p:cBhvr>
                                        <p:cTn id="41" dur="1000" fill="hold"/>
                                        <p:tgtEl>
                                          <p:spTgt spid="530"/>
                                        </p:tgtEl>
                                        <p:attrNameLst>
                                          <p:attrName>ppt_y</p:attrName>
                                        </p:attrNameLst>
                                      </p:cBhvr>
                                      <p:tavLst>
                                        <p:tav tm="0">
                                          <p:val>
                                            <p:strVal val="#ppt_y"/>
                                          </p:val>
                                        </p:tav>
                                        <p:tav tm="100000">
                                          <p:val>
                                            <p:strVal val="#ppt_y"/>
                                          </p:val>
                                        </p:tav>
                                      </p:tavLst>
                                    </p:anim>
                                  </p:childTnLst>
                                </p:cTn>
                              </p:par>
                            </p:childTnLst>
                          </p:cTn>
                        </p:par>
                        <p:par>
                          <p:cTn id="42" fill="hold">
                            <p:stCondLst>
                              <p:cond delay="1000"/>
                            </p:stCondLst>
                            <p:childTnLst>
                              <p:par>
                                <p:cTn id="43" presetClass="entr" nodeType="afterEffect" presetID="9" grpId="9" fill="hold">
                                  <p:stCondLst>
                                    <p:cond delay="0"/>
                                  </p:stCondLst>
                                  <p:iterate type="el" backwards="0">
                                    <p:tmAbs val="0"/>
                                  </p:iterate>
                                  <p:childTnLst>
                                    <p:set>
                                      <p:cBhvr>
                                        <p:cTn id="44" fill="hold"/>
                                        <p:tgtEl>
                                          <p:spTgt spid="541"/>
                                        </p:tgtEl>
                                        <p:attrNameLst>
                                          <p:attrName>style.visibility</p:attrName>
                                        </p:attrNameLst>
                                      </p:cBhvr>
                                      <p:to>
                                        <p:strVal val="visible"/>
                                      </p:to>
                                    </p:set>
                                    <p:animEffect filter="dissolve" transition="in">
                                      <p:cBhvr>
                                        <p:cTn id="45" dur="2000"/>
                                        <p:tgtEl>
                                          <p:spTgt spid="541"/>
                                        </p:tgtEl>
                                      </p:cBhvr>
                                    </p:animEffect>
                                  </p:childTnLst>
                                </p:cTn>
                              </p:par>
                            </p:childTnLst>
                          </p:cTn>
                        </p:par>
                        <p:par>
                          <p:cTn id="46" fill="hold">
                            <p:stCondLst>
                              <p:cond delay="3000"/>
                            </p:stCondLst>
                            <p:childTnLst>
                              <p:par>
                                <p:cTn id="47" presetClass="entr" nodeType="afterEffect" presetSubtype="8" presetID="2" grpId="10" fill="hold">
                                  <p:stCondLst>
                                    <p:cond delay="0"/>
                                  </p:stCondLst>
                                  <p:iterate type="el" backwards="0">
                                    <p:tmAbs val="0"/>
                                  </p:iterate>
                                  <p:childTnLst>
                                    <p:set>
                                      <p:cBhvr>
                                        <p:cTn id="48" fill="hold"/>
                                        <p:tgtEl>
                                          <p:spTgt spid="532"/>
                                        </p:tgtEl>
                                        <p:attrNameLst>
                                          <p:attrName>style.visibility</p:attrName>
                                        </p:attrNameLst>
                                      </p:cBhvr>
                                      <p:to>
                                        <p:strVal val="visible"/>
                                      </p:to>
                                    </p:set>
                                    <p:anim calcmode="lin" valueType="num">
                                      <p:cBhvr>
                                        <p:cTn id="49" dur="1000" fill="hold"/>
                                        <p:tgtEl>
                                          <p:spTgt spid="532"/>
                                        </p:tgtEl>
                                        <p:attrNameLst>
                                          <p:attrName>ppt_x</p:attrName>
                                        </p:attrNameLst>
                                      </p:cBhvr>
                                      <p:tavLst>
                                        <p:tav tm="0">
                                          <p:val>
                                            <p:strVal val="0-#ppt_w/2"/>
                                          </p:val>
                                        </p:tav>
                                        <p:tav tm="100000">
                                          <p:val>
                                            <p:strVal val="#ppt_x"/>
                                          </p:val>
                                        </p:tav>
                                      </p:tavLst>
                                    </p:anim>
                                    <p:anim calcmode="lin" valueType="num">
                                      <p:cBhvr>
                                        <p:cTn id="50" dur="1000" fill="hold"/>
                                        <p:tgtEl>
                                          <p:spTgt spid="53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539" grpId="6"/>
      <p:bldP build="whole" bldLvl="1" animBg="1" rev="0" advAuto="0" spid="533" grpId="2"/>
      <p:bldP build="whole" bldLvl="1" animBg="1" rev="0" advAuto="0" spid="537" grpId="5"/>
      <p:bldP build="whole" bldLvl="1" animBg="1" rev="0" advAuto="0" spid="530" grpId="8"/>
      <p:bldP build="whole" bldLvl="1" animBg="1" rev="0" advAuto="0" spid="541" grpId="9"/>
      <p:bldP build="whole" bldLvl="1" animBg="1" rev="0" advAuto="0" spid="532" grpId="10"/>
      <p:bldP build="whole" bldLvl="1" animBg="1" rev="0" advAuto="0" spid="528" grpId="1"/>
      <p:bldP build="whole" bldLvl="1" animBg="1" rev="0" advAuto="0" spid="535" grpId="3"/>
      <p:bldP build="whole" bldLvl="1" animBg="1" rev="0" advAuto="0" spid="529" grpId="4"/>
      <p:bldP build="whole" bldLvl="1" animBg="1" rev="0" advAuto="0" spid="531" grpId="7"/>
    </p:bldLst>
  </p:timing>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44"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pic>
        <p:nvPicPr>
          <p:cNvPr id="545" name="Captură de ecran din 2024-10-27 la 23.59.07.png" descr="Captură de ecran din 2024-10-27 la 23.59.07.png"/>
          <p:cNvPicPr>
            <a:picLocks noChangeAspect="1"/>
          </p:cNvPicPr>
          <p:nvPr/>
        </p:nvPicPr>
        <p:blipFill>
          <a:blip r:embed="rId2">
            <a:extLst/>
          </a:blip>
          <a:stretch>
            <a:fillRect/>
          </a:stretch>
        </p:blipFill>
        <p:spPr>
          <a:xfrm>
            <a:off x="1343204" y="1433072"/>
            <a:ext cx="21697592" cy="5570129"/>
          </a:xfrm>
          <a:prstGeom prst="rect">
            <a:avLst/>
          </a:prstGeom>
          <a:ln w="12700">
            <a:miter lim="400000"/>
          </a:ln>
        </p:spPr>
      </p:pic>
      <p:sp>
        <p:nvSpPr>
          <p:cNvPr id="546" name="În general, sunt două tipuri mari și late:"/>
          <p:cNvSpPr txBox="1"/>
          <p:nvPr/>
        </p:nvSpPr>
        <p:spPr>
          <a:xfrm>
            <a:off x="1217710" y="7833980"/>
            <a:ext cx="21948580" cy="134032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Util când apare efectul de manifold</a:t>
            </a:r>
          </a:p>
        </p:txBody>
      </p:sp>
      <p:sp>
        <p:nvSpPr>
          <p:cNvPr id="547" name="În general, sunt două tipuri mari și late:"/>
          <p:cNvSpPr txBox="1"/>
          <p:nvPr/>
        </p:nvSpPr>
        <p:spPr>
          <a:xfrm>
            <a:off x="1217710" y="8933262"/>
            <a:ext cx="21948580" cy="200660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Un manifold este ca o suprafață de dimensiune mai mică care se întinde într-un spațiu de dimensiuni mai mari</a:t>
            </a:r>
          </a:p>
        </p:txBody>
      </p:sp>
      <p:sp>
        <p:nvSpPr>
          <p:cNvPr id="548" name="În general, sunt două tipuri mari și late:"/>
          <p:cNvSpPr txBox="1"/>
          <p:nvPr/>
        </p:nvSpPr>
        <p:spPr>
          <a:xfrm>
            <a:off x="1217710" y="10628301"/>
            <a:ext cx="21948580" cy="200660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De exemplu, poza din stânga poate fi văzută ca o foaie de hârtie (un plan în 2D) dar curbată astfel încât să arate în 3D</a:t>
            </a:r>
          </a:p>
        </p:txBody>
      </p:sp>
    </p:spTree>
  </p:cSld>
  <p:clrMapOvr>
    <a:masterClrMapping/>
  </p:clrMapOvr>
  <mc:AlternateContent xmlns:mc="http://schemas.openxmlformats.org/markup-compatibility/2006">
    <mc:Choice xmlns:p14="http://schemas.microsoft.com/office/powerpoint/2010/main" Requires="p14">
      <p:transition spd="slow" advClick="1" p14:dur="1200">
        <p14:warp dir="in"/>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8" presetID="2" grpId="1" fill="hold">
                                  <p:stCondLst>
                                    <p:cond delay="0"/>
                                  </p:stCondLst>
                                  <p:iterate type="el" backwards="0">
                                    <p:tmAbs val="0"/>
                                  </p:iterate>
                                  <p:childTnLst>
                                    <p:set>
                                      <p:cBhvr>
                                        <p:cTn id="6" fill="hold"/>
                                        <p:tgtEl>
                                          <p:spTgt spid="546"/>
                                        </p:tgtEl>
                                        <p:attrNameLst>
                                          <p:attrName>style.visibility</p:attrName>
                                        </p:attrNameLst>
                                      </p:cBhvr>
                                      <p:to>
                                        <p:strVal val="visible"/>
                                      </p:to>
                                    </p:set>
                                    <p:anim calcmode="lin" valueType="num">
                                      <p:cBhvr>
                                        <p:cTn id="7" dur="1000" fill="hold"/>
                                        <p:tgtEl>
                                          <p:spTgt spid="546"/>
                                        </p:tgtEl>
                                        <p:attrNameLst>
                                          <p:attrName>ppt_x</p:attrName>
                                        </p:attrNameLst>
                                      </p:cBhvr>
                                      <p:tavLst>
                                        <p:tav tm="0">
                                          <p:val>
                                            <p:strVal val="0-#ppt_w/2"/>
                                          </p:val>
                                        </p:tav>
                                        <p:tav tm="100000">
                                          <p:val>
                                            <p:strVal val="#ppt_x"/>
                                          </p:val>
                                        </p:tav>
                                      </p:tavLst>
                                    </p:anim>
                                    <p:anim calcmode="lin" valueType="num">
                                      <p:cBhvr>
                                        <p:cTn id="8" dur="1000" fill="hold"/>
                                        <p:tgtEl>
                                          <p:spTgt spid="54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Subtype="8" presetID="2" grpId="2" fill="hold">
                                  <p:stCondLst>
                                    <p:cond delay="0"/>
                                  </p:stCondLst>
                                  <p:iterate type="el" backwards="0">
                                    <p:tmAbs val="0"/>
                                  </p:iterate>
                                  <p:childTnLst>
                                    <p:set>
                                      <p:cBhvr>
                                        <p:cTn id="12" fill="hold"/>
                                        <p:tgtEl>
                                          <p:spTgt spid="547"/>
                                        </p:tgtEl>
                                        <p:attrNameLst>
                                          <p:attrName>style.visibility</p:attrName>
                                        </p:attrNameLst>
                                      </p:cBhvr>
                                      <p:to>
                                        <p:strVal val="visible"/>
                                      </p:to>
                                    </p:set>
                                    <p:anim calcmode="lin" valueType="num">
                                      <p:cBhvr>
                                        <p:cTn id="13" dur="1000" fill="hold"/>
                                        <p:tgtEl>
                                          <p:spTgt spid="547"/>
                                        </p:tgtEl>
                                        <p:attrNameLst>
                                          <p:attrName>ppt_x</p:attrName>
                                        </p:attrNameLst>
                                      </p:cBhvr>
                                      <p:tavLst>
                                        <p:tav tm="0">
                                          <p:val>
                                            <p:strVal val="0-#ppt_w/2"/>
                                          </p:val>
                                        </p:tav>
                                        <p:tav tm="100000">
                                          <p:val>
                                            <p:strVal val="#ppt_x"/>
                                          </p:val>
                                        </p:tav>
                                      </p:tavLst>
                                    </p:anim>
                                    <p:anim calcmode="lin" valueType="num">
                                      <p:cBhvr>
                                        <p:cTn id="14" dur="1000" fill="hold"/>
                                        <p:tgtEl>
                                          <p:spTgt spid="547"/>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Class="entr" nodeType="clickEffect" presetSubtype="8" presetID="2" grpId="3" fill="hold">
                                  <p:stCondLst>
                                    <p:cond delay="0"/>
                                  </p:stCondLst>
                                  <p:iterate type="el" backwards="0">
                                    <p:tmAbs val="0"/>
                                  </p:iterate>
                                  <p:childTnLst>
                                    <p:set>
                                      <p:cBhvr>
                                        <p:cTn id="18" fill="hold"/>
                                        <p:tgtEl>
                                          <p:spTgt spid="548"/>
                                        </p:tgtEl>
                                        <p:attrNameLst>
                                          <p:attrName>style.visibility</p:attrName>
                                        </p:attrNameLst>
                                      </p:cBhvr>
                                      <p:to>
                                        <p:strVal val="visible"/>
                                      </p:to>
                                    </p:set>
                                    <p:anim calcmode="lin" valueType="num">
                                      <p:cBhvr>
                                        <p:cTn id="19" dur="1000" fill="hold"/>
                                        <p:tgtEl>
                                          <p:spTgt spid="548"/>
                                        </p:tgtEl>
                                        <p:attrNameLst>
                                          <p:attrName>ppt_x</p:attrName>
                                        </p:attrNameLst>
                                      </p:cBhvr>
                                      <p:tavLst>
                                        <p:tav tm="0">
                                          <p:val>
                                            <p:strVal val="0-#ppt_w/2"/>
                                          </p:val>
                                        </p:tav>
                                        <p:tav tm="100000">
                                          <p:val>
                                            <p:strVal val="#ppt_x"/>
                                          </p:val>
                                        </p:tav>
                                      </p:tavLst>
                                    </p:anim>
                                    <p:anim calcmode="lin" valueType="num">
                                      <p:cBhvr>
                                        <p:cTn id="20" dur="1000" fill="hold"/>
                                        <p:tgtEl>
                                          <p:spTgt spid="54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546" grpId="1"/>
      <p:bldP build="whole" bldLvl="1" animBg="1" rev="0" advAuto="0" spid="548" grpId="3"/>
      <p:bldP build="whole" bldLvl="1" animBg="1" rev="0" advAuto="0" spid="547" grpId="2"/>
    </p:bldLst>
  </p:timing>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50"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551" name="Supervizate"/>
          <p:cNvSpPr txBox="1"/>
          <p:nvPr/>
        </p:nvSpPr>
        <p:spPr>
          <a:xfrm>
            <a:off x="5168661" y="518667"/>
            <a:ext cx="19507706" cy="172910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8500">
                <a:latin typeface="Canela Text Regular"/>
                <a:ea typeface="Canela Text Regular"/>
                <a:cs typeface="Canela Text Regular"/>
                <a:sym typeface="Canela Text Regular"/>
              </a:defRPr>
            </a:lvl1pPr>
          </a:lstStyle>
          <a:p>
            <a:pPr/>
            <a:r>
              <a:t>Locally Linear Embedding</a:t>
            </a:r>
          </a:p>
        </p:txBody>
      </p:sp>
      <p:pic>
        <p:nvPicPr>
          <p:cNvPr id="552" name="Captură de ecran din 2024-10-28 la 00.09.25.png" descr="Captură de ecran din 2024-10-28 la 00.09.25.png"/>
          <p:cNvPicPr>
            <a:picLocks noChangeAspect="1"/>
          </p:cNvPicPr>
          <p:nvPr/>
        </p:nvPicPr>
        <p:blipFill>
          <a:blip r:embed="rId2">
            <a:extLst/>
          </a:blip>
          <a:stretch>
            <a:fillRect/>
          </a:stretch>
        </p:blipFill>
        <p:spPr>
          <a:xfrm>
            <a:off x="2474732" y="3168618"/>
            <a:ext cx="19053552" cy="6783306"/>
          </a:xfrm>
          <a:prstGeom prst="rect">
            <a:avLst/>
          </a:prstGeom>
          <a:ln w="12700">
            <a:miter lim="400000"/>
          </a:ln>
        </p:spPr>
      </p:pic>
      <p:pic>
        <p:nvPicPr>
          <p:cNvPr id="553" name="Linie Linie" descr="Linie Linie"/>
          <p:cNvPicPr>
            <a:picLocks noChangeAspect="0"/>
          </p:cNvPicPr>
          <p:nvPr/>
        </p:nvPicPr>
        <p:blipFill>
          <a:blip r:embed="rId3">
            <a:extLst/>
          </a:blip>
          <a:stretch>
            <a:fillRect/>
          </a:stretch>
        </p:blipFill>
        <p:spPr>
          <a:xfrm>
            <a:off x="10513769" y="5199308"/>
            <a:ext cx="4312930" cy="101601"/>
          </a:xfrm>
          <a:prstGeom prst="rect">
            <a:avLst/>
          </a:prstGeom>
        </p:spPr>
      </p:pic>
      <p:pic>
        <p:nvPicPr>
          <p:cNvPr id="555" name="Linie Linie" descr="Linie Linie"/>
          <p:cNvPicPr>
            <a:picLocks noChangeAspect="0"/>
          </p:cNvPicPr>
          <p:nvPr/>
        </p:nvPicPr>
        <p:blipFill>
          <a:blip r:embed="rId4">
            <a:extLst/>
          </a:blip>
          <a:stretch>
            <a:fillRect/>
          </a:stretch>
        </p:blipFill>
        <p:spPr>
          <a:xfrm>
            <a:off x="5400740" y="8144809"/>
            <a:ext cx="5001826" cy="101601"/>
          </a:xfrm>
          <a:prstGeom prst="rect">
            <a:avLst/>
          </a:prstGeom>
        </p:spPr>
      </p:pic>
      <p:sp>
        <p:nvSpPr>
          <p:cNvPr id="557" name="Parametri utili la LocallyLinearEmbedding:"/>
          <p:cNvSpPr txBox="1"/>
          <p:nvPr/>
        </p:nvSpPr>
        <p:spPr>
          <a:xfrm>
            <a:off x="1098237" y="10142278"/>
            <a:ext cx="9927947"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latin typeface="Canela Regular"/>
                <a:ea typeface="Canela Regular"/>
                <a:cs typeface="Canela Regular"/>
                <a:sym typeface="Canela Regular"/>
              </a:defRPr>
            </a:lvl1pPr>
          </a:lstStyle>
          <a:p>
            <a:pPr/>
            <a:r>
              <a:t>Parametri utili la LocallyLinearEmbedding:</a:t>
            </a:r>
          </a:p>
        </p:txBody>
      </p:sp>
      <p:sp>
        <p:nvSpPr>
          <p:cNvPr id="558" name="În general, sunt două tipuri mari și late:"/>
          <p:cNvSpPr txBox="1"/>
          <p:nvPr/>
        </p:nvSpPr>
        <p:spPr>
          <a:xfrm>
            <a:off x="1872714" y="10872769"/>
            <a:ext cx="21948579" cy="103554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solidFill>
                  <a:schemeClr val="accent1"/>
                </a:solidFill>
                <a:latin typeface="Canela Text Regular"/>
                <a:ea typeface="Canela Text Regular"/>
                <a:cs typeface="Canela Text Regular"/>
                <a:sym typeface="Canela Text Regular"/>
              </a:defRPr>
            </a:lvl1pPr>
          </a:lstStyle>
          <a:p>
            <a:pPr/>
            <a:r>
              <a:t>n_neighbors: câți vecini să ia în calcul</a:t>
            </a:r>
          </a:p>
        </p:txBody>
      </p:sp>
      <p:sp>
        <p:nvSpPr>
          <p:cNvPr id="559" name="În general, sunt două tipuri mari și late:"/>
          <p:cNvSpPr txBox="1"/>
          <p:nvPr/>
        </p:nvSpPr>
        <p:spPr>
          <a:xfrm>
            <a:off x="1872714" y="11634924"/>
            <a:ext cx="21948579" cy="103554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solidFill>
                  <a:schemeClr val="accent3"/>
                </a:solidFill>
                <a:latin typeface="Canela Text Regular"/>
                <a:ea typeface="Canela Text Regular"/>
                <a:cs typeface="Canela Text Regular"/>
                <a:sym typeface="Canela Text Regular"/>
              </a:defRPr>
            </a:lvl1pPr>
          </a:lstStyle>
          <a:p>
            <a:pPr/>
            <a:r>
              <a:t>n_components: dimensionalitatea finală</a:t>
            </a:r>
          </a:p>
        </p:txBody>
      </p:sp>
      <p:pic>
        <p:nvPicPr>
          <p:cNvPr id="560" name="Linie Linie" descr="Linie Linie"/>
          <p:cNvPicPr>
            <a:picLocks noChangeAspect="0"/>
          </p:cNvPicPr>
          <p:nvPr/>
        </p:nvPicPr>
        <p:blipFill>
          <a:blip r:embed="rId5">
            <a:extLst/>
          </a:blip>
          <a:stretch>
            <a:fillRect/>
          </a:stretch>
        </p:blipFill>
        <p:spPr>
          <a:xfrm>
            <a:off x="10346090" y="8144809"/>
            <a:ext cx="3310836" cy="101601"/>
          </a:xfrm>
          <a:prstGeom prst="rect">
            <a:avLst/>
          </a:prstGeom>
        </p:spPr>
      </p:pic>
      <p:pic>
        <p:nvPicPr>
          <p:cNvPr id="562" name="Linie Linie" descr="Linie Linie"/>
          <p:cNvPicPr>
            <a:picLocks noChangeAspect="0"/>
          </p:cNvPicPr>
          <p:nvPr/>
        </p:nvPicPr>
        <p:blipFill>
          <a:blip r:embed="rId6">
            <a:extLst/>
          </a:blip>
          <a:stretch>
            <a:fillRect/>
          </a:stretch>
        </p:blipFill>
        <p:spPr>
          <a:xfrm>
            <a:off x="13589320" y="8144809"/>
            <a:ext cx="3310835" cy="10160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9" grpId="1" fill="hold">
                                  <p:stCondLst>
                                    <p:cond delay="0"/>
                                  </p:stCondLst>
                                  <p:iterate type="el" backwards="0">
                                    <p:tmAbs val="0"/>
                                  </p:iterate>
                                  <p:childTnLst>
                                    <p:set>
                                      <p:cBhvr>
                                        <p:cTn id="6" fill="hold"/>
                                        <p:tgtEl>
                                          <p:spTgt spid="553"/>
                                        </p:tgtEl>
                                        <p:attrNameLst>
                                          <p:attrName>style.visibility</p:attrName>
                                        </p:attrNameLst>
                                      </p:cBhvr>
                                      <p:to>
                                        <p:strVal val="visible"/>
                                      </p:to>
                                    </p:set>
                                    <p:animEffect filter="dissolve" transition="in">
                                      <p:cBhvr>
                                        <p:cTn id="7" dur="2000"/>
                                        <p:tgtEl>
                                          <p:spTgt spid="553"/>
                                        </p:tgtEl>
                                      </p:cBhvr>
                                    </p:animEffect>
                                  </p:childTnLst>
                                </p:cTn>
                              </p:par>
                            </p:childTnLst>
                          </p:cTn>
                        </p:par>
                        <p:par>
                          <p:cTn id="8" fill="hold">
                            <p:stCondLst>
                              <p:cond delay="2000"/>
                            </p:stCondLst>
                            <p:childTnLst>
                              <p:par>
                                <p:cTn id="9" presetClass="entr" nodeType="afterEffect" presetID="9" grpId="2" fill="hold">
                                  <p:stCondLst>
                                    <p:cond delay="0"/>
                                  </p:stCondLst>
                                  <p:iterate type="el" backwards="0">
                                    <p:tmAbs val="0"/>
                                  </p:iterate>
                                  <p:childTnLst>
                                    <p:set>
                                      <p:cBhvr>
                                        <p:cTn id="10" fill="hold"/>
                                        <p:tgtEl>
                                          <p:spTgt spid="555"/>
                                        </p:tgtEl>
                                        <p:attrNameLst>
                                          <p:attrName>style.visibility</p:attrName>
                                        </p:attrNameLst>
                                      </p:cBhvr>
                                      <p:to>
                                        <p:strVal val="visible"/>
                                      </p:to>
                                    </p:set>
                                    <p:animEffect filter="dissolve" transition="in">
                                      <p:cBhvr>
                                        <p:cTn id="11" dur="2000"/>
                                        <p:tgtEl>
                                          <p:spTgt spid="555"/>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Subtype="8" presetID="2" grpId="3" fill="hold">
                                  <p:stCondLst>
                                    <p:cond delay="0"/>
                                  </p:stCondLst>
                                  <p:iterate type="el" backwards="0">
                                    <p:tmAbs val="0"/>
                                  </p:iterate>
                                  <p:childTnLst>
                                    <p:set>
                                      <p:cBhvr>
                                        <p:cTn id="15" fill="hold"/>
                                        <p:tgtEl>
                                          <p:spTgt spid="557"/>
                                        </p:tgtEl>
                                        <p:attrNameLst>
                                          <p:attrName>style.visibility</p:attrName>
                                        </p:attrNameLst>
                                      </p:cBhvr>
                                      <p:to>
                                        <p:strVal val="visible"/>
                                      </p:to>
                                    </p:set>
                                    <p:anim calcmode="lin" valueType="num">
                                      <p:cBhvr>
                                        <p:cTn id="16" dur="1000" fill="hold"/>
                                        <p:tgtEl>
                                          <p:spTgt spid="557"/>
                                        </p:tgtEl>
                                        <p:attrNameLst>
                                          <p:attrName>ppt_x</p:attrName>
                                        </p:attrNameLst>
                                      </p:cBhvr>
                                      <p:tavLst>
                                        <p:tav tm="0">
                                          <p:val>
                                            <p:strVal val="0-#ppt_w/2"/>
                                          </p:val>
                                        </p:tav>
                                        <p:tav tm="100000">
                                          <p:val>
                                            <p:strVal val="#ppt_x"/>
                                          </p:val>
                                        </p:tav>
                                      </p:tavLst>
                                    </p:anim>
                                    <p:anim calcmode="lin" valueType="num">
                                      <p:cBhvr>
                                        <p:cTn id="17" dur="1000" fill="hold"/>
                                        <p:tgtEl>
                                          <p:spTgt spid="557"/>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Class="entr" nodeType="clickEffect" presetID="9" grpId="4" fill="hold">
                                  <p:stCondLst>
                                    <p:cond delay="0"/>
                                  </p:stCondLst>
                                  <p:iterate type="el" backwards="0">
                                    <p:tmAbs val="0"/>
                                  </p:iterate>
                                  <p:childTnLst>
                                    <p:set>
                                      <p:cBhvr>
                                        <p:cTn id="21" fill="hold"/>
                                        <p:tgtEl>
                                          <p:spTgt spid="560"/>
                                        </p:tgtEl>
                                        <p:attrNameLst>
                                          <p:attrName>style.visibility</p:attrName>
                                        </p:attrNameLst>
                                      </p:cBhvr>
                                      <p:to>
                                        <p:strVal val="visible"/>
                                      </p:to>
                                    </p:set>
                                    <p:animEffect filter="dissolve" transition="in">
                                      <p:cBhvr>
                                        <p:cTn id="22" dur="2000"/>
                                        <p:tgtEl>
                                          <p:spTgt spid="560"/>
                                        </p:tgtEl>
                                      </p:cBhvr>
                                    </p:animEffect>
                                  </p:childTnLst>
                                </p:cTn>
                              </p:par>
                            </p:childTnLst>
                          </p:cTn>
                        </p:par>
                        <p:par>
                          <p:cTn id="23" fill="hold">
                            <p:stCondLst>
                              <p:cond delay="2000"/>
                            </p:stCondLst>
                            <p:childTnLst>
                              <p:par>
                                <p:cTn id="24" presetClass="entr" nodeType="afterEffect" presetSubtype="8" presetID="2" grpId="5" fill="hold">
                                  <p:stCondLst>
                                    <p:cond delay="0"/>
                                  </p:stCondLst>
                                  <p:iterate type="el" backwards="0">
                                    <p:tmAbs val="0"/>
                                  </p:iterate>
                                  <p:childTnLst>
                                    <p:set>
                                      <p:cBhvr>
                                        <p:cTn id="25" fill="hold"/>
                                        <p:tgtEl>
                                          <p:spTgt spid="558"/>
                                        </p:tgtEl>
                                        <p:attrNameLst>
                                          <p:attrName>style.visibility</p:attrName>
                                        </p:attrNameLst>
                                      </p:cBhvr>
                                      <p:to>
                                        <p:strVal val="visible"/>
                                      </p:to>
                                    </p:set>
                                    <p:anim calcmode="lin" valueType="num">
                                      <p:cBhvr>
                                        <p:cTn id="26" dur="1000" fill="hold"/>
                                        <p:tgtEl>
                                          <p:spTgt spid="558"/>
                                        </p:tgtEl>
                                        <p:attrNameLst>
                                          <p:attrName>ppt_x</p:attrName>
                                        </p:attrNameLst>
                                      </p:cBhvr>
                                      <p:tavLst>
                                        <p:tav tm="0">
                                          <p:val>
                                            <p:strVal val="0-#ppt_w/2"/>
                                          </p:val>
                                        </p:tav>
                                        <p:tav tm="100000">
                                          <p:val>
                                            <p:strVal val="#ppt_x"/>
                                          </p:val>
                                        </p:tav>
                                      </p:tavLst>
                                    </p:anim>
                                    <p:anim calcmode="lin" valueType="num">
                                      <p:cBhvr>
                                        <p:cTn id="27" dur="1000" fill="hold"/>
                                        <p:tgtEl>
                                          <p:spTgt spid="558"/>
                                        </p:tgtEl>
                                        <p:attrNameLst>
                                          <p:attrName>ppt_y</p:attrName>
                                        </p:attrNameLst>
                                      </p:cBhvr>
                                      <p:tavLst>
                                        <p:tav tm="0">
                                          <p:val>
                                            <p:strVal val="#ppt_y"/>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Class="entr" nodeType="clickEffect" presetID="9" grpId="6" fill="hold">
                                  <p:stCondLst>
                                    <p:cond delay="0"/>
                                  </p:stCondLst>
                                  <p:iterate type="el" backwards="0">
                                    <p:tmAbs val="0"/>
                                  </p:iterate>
                                  <p:childTnLst>
                                    <p:set>
                                      <p:cBhvr>
                                        <p:cTn id="31" fill="hold"/>
                                        <p:tgtEl>
                                          <p:spTgt spid="562"/>
                                        </p:tgtEl>
                                        <p:attrNameLst>
                                          <p:attrName>style.visibility</p:attrName>
                                        </p:attrNameLst>
                                      </p:cBhvr>
                                      <p:to>
                                        <p:strVal val="visible"/>
                                      </p:to>
                                    </p:set>
                                    <p:animEffect filter="dissolve" transition="in">
                                      <p:cBhvr>
                                        <p:cTn id="32" dur="2000"/>
                                        <p:tgtEl>
                                          <p:spTgt spid="562"/>
                                        </p:tgtEl>
                                      </p:cBhvr>
                                    </p:animEffect>
                                  </p:childTnLst>
                                </p:cTn>
                              </p:par>
                            </p:childTnLst>
                          </p:cTn>
                        </p:par>
                        <p:par>
                          <p:cTn id="33" fill="hold">
                            <p:stCondLst>
                              <p:cond delay="2000"/>
                            </p:stCondLst>
                            <p:childTnLst>
                              <p:par>
                                <p:cTn id="34" presetClass="entr" nodeType="afterEffect" presetSubtype="8" presetID="2" grpId="7" fill="hold">
                                  <p:stCondLst>
                                    <p:cond delay="0"/>
                                  </p:stCondLst>
                                  <p:iterate type="el" backwards="0">
                                    <p:tmAbs val="0"/>
                                  </p:iterate>
                                  <p:childTnLst>
                                    <p:set>
                                      <p:cBhvr>
                                        <p:cTn id="35" fill="hold"/>
                                        <p:tgtEl>
                                          <p:spTgt spid="559"/>
                                        </p:tgtEl>
                                        <p:attrNameLst>
                                          <p:attrName>style.visibility</p:attrName>
                                        </p:attrNameLst>
                                      </p:cBhvr>
                                      <p:to>
                                        <p:strVal val="visible"/>
                                      </p:to>
                                    </p:set>
                                    <p:anim calcmode="lin" valueType="num">
                                      <p:cBhvr>
                                        <p:cTn id="36" dur="1000" fill="hold"/>
                                        <p:tgtEl>
                                          <p:spTgt spid="559"/>
                                        </p:tgtEl>
                                        <p:attrNameLst>
                                          <p:attrName>ppt_x</p:attrName>
                                        </p:attrNameLst>
                                      </p:cBhvr>
                                      <p:tavLst>
                                        <p:tav tm="0">
                                          <p:val>
                                            <p:strVal val="0-#ppt_w/2"/>
                                          </p:val>
                                        </p:tav>
                                        <p:tav tm="100000">
                                          <p:val>
                                            <p:strVal val="#ppt_x"/>
                                          </p:val>
                                        </p:tav>
                                      </p:tavLst>
                                    </p:anim>
                                    <p:anim calcmode="lin" valueType="num">
                                      <p:cBhvr>
                                        <p:cTn id="37" dur="1000" fill="hold"/>
                                        <p:tgtEl>
                                          <p:spTgt spid="55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558" grpId="5"/>
      <p:bldP build="whole" bldLvl="1" animBg="1" rev="0" advAuto="0" spid="553" grpId="1"/>
      <p:bldP build="whole" bldLvl="1" animBg="1" rev="0" advAuto="0" spid="562" grpId="6"/>
      <p:bldP build="whole" bldLvl="1" animBg="1" rev="0" advAuto="0" spid="559" grpId="7"/>
      <p:bldP build="whole" bldLvl="1" animBg="1" rev="0" advAuto="0" spid="560" grpId="4"/>
      <p:bldP build="whole" bldLvl="1" animBg="1" rev="0" advAuto="0" spid="557" grpId="3"/>
      <p:bldP build="whole" bldLvl="1" animBg="1" rev="0" advAuto="0" spid="555" grpId="2"/>
    </p:bldLst>
  </p:timing>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65"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566" name="În general, sunt două tipuri mari și late:"/>
          <p:cNvSpPr txBox="1"/>
          <p:nvPr>
            <p:ph type="body" sz="quarter" idx="1"/>
          </p:nvPr>
        </p:nvSpPr>
        <p:spPr>
          <a:xfrm>
            <a:off x="897148" y="4676347"/>
            <a:ext cx="23820317" cy="2006602"/>
          </a:xfrm>
          <a:prstGeom prst="rect">
            <a:avLst/>
          </a:prstGeom>
        </p:spPr>
        <p:txBody>
          <a:bodyPr/>
          <a:lstStyle/>
          <a:p>
            <a:pPr/>
            <a:r>
              <a:t>Pe lângă PCA și LLE, mai există și t-Distributed stochastic neighbour embedding (t-SNE)</a:t>
            </a:r>
          </a:p>
        </p:txBody>
      </p:sp>
      <p:sp>
        <p:nvSpPr>
          <p:cNvPr id="567" name="În general, sunt două tipuri mari și late:"/>
          <p:cNvSpPr txBox="1"/>
          <p:nvPr/>
        </p:nvSpPr>
        <p:spPr>
          <a:xfrm>
            <a:off x="913306" y="5926300"/>
            <a:ext cx="21948579" cy="200660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Acesta este folosit cel mai mult la vizualizarea datelor</a:t>
            </a:r>
          </a:p>
        </p:txBody>
      </p:sp>
      <p:pic>
        <p:nvPicPr>
          <p:cNvPr id="568" name="Linie Linie" descr="Linie Linie"/>
          <p:cNvPicPr>
            <a:picLocks noChangeAspect="0"/>
          </p:cNvPicPr>
          <p:nvPr/>
        </p:nvPicPr>
        <p:blipFill>
          <a:blip r:embed="rId2">
            <a:extLst/>
          </a:blip>
          <a:stretch>
            <a:fillRect/>
          </a:stretch>
        </p:blipFill>
        <p:spPr>
          <a:xfrm>
            <a:off x="10091223" y="6807200"/>
            <a:ext cx="5432166" cy="101600"/>
          </a:xfrm>
          <a:prstGeom prst="rect">
            <a:avLst/>
          </a:prstGeom>
        </p:spPr>
      </p:pic>
      <p:sp>
        <p:nvSpPr>
          <p:cNvPr id="570" name="În general, sunt două tipuri mari și late:"/>
          <p:cNvSpPr txBox="1"/>
          <p:nvPr/>
        </p:nvSpPr>
        <p:spPr>
          <a:xfrm>
            <a:off x="913306" y="7310931"/>
            <a:ext cx="21948579" cy="200660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t-SNE reduce dimensionalitatea încercând să mențină exemplarele similare apropiate în noul spațiu și cele disimilare să fie depărtate</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8" presetID="2" grpId="1" fill="hold">
                                  <p:stCondLst>
                                    <p:cond delay="0"/>
                                  </p:stCondLst>
                                  <p:iterate type="el" backwards="0">
                                    <p:tmAbs val="0"/>
                                  </p:iterate>
                                  <p:childTnLst>
                                    <p:set>
                                      <p:cBhvr>
                                        <p:cTn id="6" fill="hold"/>
                                        <p:tgtEl>
                                          <p:spTgt spid="566"/>
                                        </p:tgtEl>
                                        <p:attrNameLst>
                                          <p:attrName>style.visibility</p:attrName>
                                        </p:attrNameLst>
                                      </p:cBhvr>
                                      <p:to>
                                        <p:strVal val="visible"/>
                                      </p:to>
                                    </p:set>
                                    <p:anim calcmode="lin" valueType="num">
                                      <p:cBhvr>
                                        <p:cTn id="7" dur="1000" fill="hold"/>
                                        <p:tgtEl>
                                          <p:spTgt spid="566"/>
                                        </p:tgtEl>
                                        <p:attrNameLst>
                                          <p:attrName>ppt_x</p:attrName>
                                        </p:attrNameLst>
                                      </p:cBhvr>
                                      <p:tavLst>
                                        <p:tav tm="0">
                                          <p:val>
                                            <p:strVal val="0-#ppt_w/2"/>
                                          </p:val>
                                        </p:tav>
                                        <p:tav tm="100000">
                                          <p:val>
                                            <p:strVal val="#ppt_x"/>
                                          </p:val>
                                        </p:tav>
                                      </p:tavLst>
                                    </p:anim>
                                    <p:anim calcmode="lin" valueType="num">
                                      <p:cBhvr>
                                        <p:cTn id="8" dur="1000" fill="hold"/>
                                        <p:tgtEl>
                                          <p:spTgt spid="56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Subtype="8" presetID="2" grpId="2" fill="hold">
                                  <p:stCondLst>
                                    <p:cond delay="0"/>
                                  </p:stCondLst>
                                  <p:iterate type="el" backwards="0">
                                    <p:tmAbs val="0"/>
                                  </p:iterate>
                                  <p:childTnLst>
                                    <p:set>
                                      <p:cBhvr>
                                        <p:cTn id="12" fill="hold"/>
                                        <p:tgtEl>
                                          <p:spTgt spid="567"/>
                                        </p:tgtEl>
                                        <p:attrNameLst>
                                          <p:attrName>style.visibility</p:attrName>
                                        </p:attrNameLst>
                                      </p:cBhvr>
                                      <p:to>
                                        <p:strVal val="visible"/>
                                      </p:to>
                                    </p:set>
                                    <p:anim calcmode="lin" valueType="num">
                                      <p:cBhvr>
                                        <p:cTn id="13" dur="1000" fill="hold"/>
                                        <p:tgtEl>
                                          <p:spTgt spid="567"/>
                                        </p:tgtEl>
                                        <p:attrNameLst>
                                          <p:attrName>ppt_x</p:attrName>
                                        </p:attrNameLst>
                                      </p:cBhvr>
                                      <p:tavLst>
                                        <p:tav tm="0">
                                          <p:val>
                                            <p:strVal val="0-#ppt_w/2"/>
                                          </p:val>
                                        </p:tav>
                                        <p:tav tm="100000">
                                          <p:val>
                                            <p:strVal val="#ppt_x"/>
                                          </p:val>
                                        </p:tav>
                                      </p:tavLst>
                                    </p:anim>
                                    <p:anim calcmode="lin" valueType="num">
                                      <p:cBhvr>
                                        <p:cTn id="14" dur="1000" fill="hold"/>
                                        <p:tgtEl>
                                          <p:spTgt spid="567"/>
                                        </p:tgtEl>
                                        <p:attrNameLst>
                                          <p:attrName>ppt_y</p:attrName>
                                        </p:attrNameLst>
                                      </p:cBhvr>
                                      <p:tavLst>
                                        <p:tav tm="0">
                                          <p:val>
                                            <p:strVal val="#ppt_y"/>
                                          </p:val>
                                        </p:tav>
                                        <p:tav tm="100000">
                                          <p:val>
                                            <p:strVal val="#ppt_y"/>
                                          </p:val>
                                        </p:tav>
                                      </p:tavLst>
                                    </p:anim>
                                  </p:childTnLst>
                                </p:cTn>
                              </p:par>
                            </p:childTnLst>
                          </p:cTn>
                        </p:par>
                        <p:par>
                          <p:cTn id="15" fill="hold">
                            <p:stCondLst>
                              <p:cond delay="1000"/>
                            </p:stCondLst>
                            <p:childTnLst>
                              <p:par>
                                <p:cTn id="16" presetClass="entr" nodeType="afterEffect" presetID="9" grpId="3" fill="hold">
                                  <p:stCondLst>
                                    <p:cond delay="0"/>
                                  </p:stCondLst>
                                  <p:iterate type="el" backwards="0">
                                    <p:tmAbs val="0"/>
                                  </p:iterate>
                                  <p:childTnLst>
                                    <p:set>
                                      <p:cBhvr>
                                        <p:cTn id="17" fill="hold"/>
                                        <p:tgtEl>
                                          <p:spTgt spid="568"/>
                                        </p:tgtEl>
                                        <p:attrNameLst>
                                          <p:attrName>style.visibility</p:attrName>
                                        </p:attrNameLst>
                                      </p:cBhvr>
                                      <p:to>
                                        <p:strVal val="visible"/>
                                      </p:to>
                                    </p:set>
                                    <p:animEffect filter="dissolve" transition="in">
                                      <p:cBhvr>
                                        <p:cTn id="18" dur="2000"/>
                                        <p:tgtEl>
                                          <p:spTgt spid="568"/>
                                        </p:tgtEl>
                                      </p:cBhvr>
                                    </p:animEffect>
                                  </p:childTnLst>
                                </p:cTn>
                              </p:par>
                            </p:childTnLst>
                          </p:cTn>
                        </p:par>
                      </p:childTnLst>
                    </p:cTn>
                  </p:par>
                  <p:par>
                    <p:cTn id="19" fill="hold">
                      <p:stCondLst>
                        <p:cond delay="indefinite"/>
                      </p:stCondLst>
                      <p:childTnLst>
                        <p:par>
                          <p:cTn id="20" fill="hold">
                            <p:stCondLst>
                              <p:cond delay="0"/>
                            </p:stCondLst>
                            <p:childTnLst>
                              <p:par>
                                <p:cTn id="21" presetClass="entr" nodeType="clickEffect" presetSubtype="8" presetID="2" grpId="4" fill="hold">
                                  <p:stCondLst>
                                    <p:cond delay="0"/>
                                  </p:stCondLst>
                                  <p:iterate type="el" backwards="0">
                                    <p:tmAbs val="0"/>
                                  </p:iterate>
                                  <p:childTnLst>
                                    <p:set>
                                      <p:cBhvr>
                                        <p:cTn id="22" fill="hold"/>
                                        <p:tgtEl>
                                          <p:spTgt spid="570"/>
                                        </p:tgtEl>
                                        <p:attrNameLst>
                                          <p:attrName>style.visibility</p:attrName>
                                        </p:attrNameLst>
                                      </p:cBhvr>
                                      <p:to>
                                        <p:strVal val="visible"/>
                                      </p:to>
                                    </p:set>
                                    <p:anim calcmode="lin" valueType="num">
                                      <p:cBhvr>
                                        <p:cTn id="23" dur="1000" fill="hold"/>
                                        <p:tgtEl>
                                          <p:spTgt spid="570"/>
                                        </p:tgtEl>
                                        <p:attrNameLst>
                                          <p:attrName>ppt_x</p:attrName>
                                        </p:attrNameLst>
                                      </p:cBhvr>
                                      <p:tavLst>
                                        <p:tav tm="0">
                                          <p:val>
                                            <p:strVal val="0-#ppt_w/2"/>
                                          </p:val>
                                        </p:tav>
                                        <p:tav tm="100000">
                                          <p:val>
                                            <p:strVal val="#ppt_x"/>
                                          </p:val>
                                        </p:tav>
                                      </p:tavLst>
                                    </p:anim>
                                    <p:anim calcmode="lin" valueType="num">
                                      <p:cBhvr>
                                        <p:cTn id="24" dur="1000" fill="hold"/>
                                        <p:tgtEl>
                                          <p:spTgt spid="57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568" grpId="3"/>
      <p:bldP build="whole" bldLvl="1" animBg="1" rev="0" advAuto="0" spid="566" grpId="1"/>
      <p:bldP build="whole" bldLvl="1" animBg="1" rev="0" advAuto="0" spid="567" grpId="2"/>
      <p:bldP build="whole" bldLvl="1" animBg="1" rev="0" advAuto="0" spid="570" grpId="4"/>
    </p:bldLst>
  </p:timing>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72"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pic>
        <p:nvPicPr>
          <p:cNvPr id="573" name="Captură de ecran din 2024-10-28 la 00.29.58.png" descr="Captură de ecran din 2024-10-28 la 00.29.58.png"/>
          <p:cNvPicPr>
            <a:picLocks noChangeAspect="1"/>
          </p:cNvPicPr>
          <p:nvPr/>
        </p:nvPicPr>
        <p:blipFill>
          <a:blip r:embed="rId2">
            <a:extLst/>
          </a:blip>
          <a:stretch>
            <a:fillRect/>
          </a:stretch>
        </p:blipFill>
        <p:spPr>
          <a:xfrm>
            <a:off x="12790551" y="3813704"/>
            <a:ext cx="7384631" cy="7307973"/>
          </a:xfrm>
          <a:prstGeom prst="rect">
            <a:avLst/>
          </a:prstGeom>
          <a:ln w="12700">
            <a:miter lim="400000"/>
          </a:ln>
        </p:spPr>
      </p:pic>
      <p:pic>
        <p:nvPicPr>
          <p:cNvPr id="574" name="Captură de ecran din 2024-10-28 la 00.30.24.png" descr="Captură de ecran din 2024-10-28 la 00.30.24.png"/>
          <p:cNvPicPr>
            <a:picLocks noChangeAspect="1"/>
          </p:cNvPicPr>
          <p:nvPr/>
        </p:nvPicPr>
        <p:blipFill>
          <a:blip r:embed="rId3">
            <a:extLst/>
          </a:blip>
          <a:stretch>
            <a:fillRect/>
          </a:stretch>
        </p:blipFill>
        <p:spPr>
          <a:xfrm>
            <a:off x="2999743" y="4178284"/>
            <a:ext cx="8358423" cy="5970303"/>
          </a:xfrm>
          <a:prstGeom prst="rect">
            <a:avLst/>
          </a:prstGeom>
          <a:ln w="12700">
            <a:miter lim="400000"/>
          </a:ln>
        </p:spPr>
      </p:pic>
      <p:sp>
        <p:nvSpPr>
          <p:cNvPr id="575" name="Supervizate"/>
          <p:cNvSpPr txBox="1"/>
          <p:nvPr/>
        </p:nvSpPr>
        <p:spPr>
          <a:xfrm>
            <a:off x="9773535" y="955336"/>
            <a:ext cx="19507706" cy="172910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8500">
                <a:latin typeface="Canela Text Regular"/>
                <a:ea typeface="Canela Text Regular"/>
                <a:cs typeface="Canela Text Regular"/>
                <a:sym typeface="Canela Text Regular"/>
              </a:defRPr>
            </a:lvl1pPr>
          </a:lstStyle>
          <a:p>
            <a:pPr/>
            <a:r>
              <a:t>t-SNE</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77"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578" name="Supervizate"/>
          <p:cNvSpPr txBox="1"/>
          <p:nvPr/>
        </p:nvSpPr>
        <p:spPr>
          <a:xfrm>
            <a:off x="9773535" y="955336"/>
            <a:ext cx="19507706" cy="172910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8500">
                <a:latin typeface="Canela Text Regular"/>
                <a:ea typeface="Canela Text Regular"/>
                <a:cs typeface="Canela Text Regular"/>
                <a:sym typeface="Canela Text Regular"/>
              </a:defRPr>
            </a:lvl1pPr>
          </a:lstStyle>
          <a:p>
            <a:pPr/>
            <a:r>
              <a:t>t-SNE</a:t>
            </a:r>
          </a:p>
        </p:txBody>
      </p:sp>
      <p:pic>
        <p:nvPicPr>
          <p:cNvPr id="579" name="Captură de ecran din 2024-10-28 la 00.32.03.png" descr="Captură de ecran din 2024-10-28 la 00.32.03.png"/>
          <p:cNvPicPr>
            <a:picLocks noChangeAspect="1"/>
          </p:cNvPicPr>
          <p:nvPr/>
        </p:nvPicPr>
        <p:blipFill>
          <a:blip r:embed="rId2">
            <a:extLst/>
          </a:blip>
          <a:stretch>
            <a:fillRect/>
          </a:stretch>
        </p:blipFill>
        <p:spPr>
          <a:xfrm>
            <a:off x="3742010" y="5238074"/>
            <a:ext cx="16068338" cy="7117374"/>
          </a:xfrm>
          <a:prstGeom prst="rect">
            <a:avLst/>
          </a:prstGeom>
          <a:ln w="12700">
            <a:miter lim="400000"/>
          </a:ln>
        </p:spPr>
      </p:pic>
      <p:sp>
        <p:nvSpPr>
          <p:cNvPr id="580" name="Aplicare pe setul de date MNIST:"/>
          <p:cNvSpPr txBox="1"/>
          <p:nvPr/>
        </p:nvSpPr>
        <p:spPr>
          <a:xfrm>
            <a:off x="1356269" y="3314361"/>
            <a:ext cx="8220813"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Aplicare pe setul de date MNIST:</a:t>
            </a:r>
          </a:p>
        </p:txBody>
      </p:sp>
      <p:sp>
        <p:nvSpPr>
          <p:cNvPr id="581" name="- conține poze cu cifre și este folosit pentru a antrena modele simple să detecteze cifre"/>
          <p:cNvSpPr txBox="1"/>
          <p:nvPr/>
        </p:nvSpPr>
        <p:spPr>
          <a:xfrm>
            <a:off x="2118424" y="3977273"/>
            <a:ext cx="21233588"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 conține poze cu cifre și este folosit pentru a antrena modele simple să detecteze cifre</a:t>
            </a:r>
          </a:p>
        </p:txBody>
      </p:sp>
      <p:sp>
        <p:nvSpPr>
          <p:cNvPr id="582" name="cu PCA"/>
          <p:cNvSpPr txBox="1"/>
          <p:nvPr/>
        </p:nvSpPr>
        <p:spPr>
          <a:xfrm>
            <a:off x="6894028" y="12345472"/>
            <a:ext cx="1995780"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cu PCA</a:t>
            </a:r>
          </a:p>
        </p:txBody>
      </p:sp>
      <p:sp>
        <p:nvSpPr>
          <p:cNvPr id="583" name="cu t-SNE"/>
          <p:cNvSpPr txBox="1"/>
          <p:nvPr/>
        </p:nvSpPr>
        <p:spPr>
          <a:xfrm>
            <a:off x="14980315" y="12135046"/>
            <a:ext cx="2277415"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cu t-SNE</a:t>
            </a: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advClick="1" p14:dur="1200">
        <p15:prstTrans prst="peelOff" invX="1"/>
      </p:transition>
    </mc:Choice>
    <mc:Choice xmlns:p14="http://schemas.microsoft.com/office/powerpoint/2010/main" Requires="p14">
      <p:transition spd="slow" advClick="1" p14:dur="1200">
        <p:peelOff/>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85" name="That’s it for today!…"/>
          <p:cNvSpPr txBox="1"/>
          <p:nvPr>
            <p:ph type="title"/>
          </p:nvPr>
        </p:nvSpPr>
        <p:spPr>
          <a:xfrm>
            <a:off x="1219200" y="5994400"/>
            <a:ext cx="21945600" cy="1727200"/>
          </a:xfrm>
          <a:prstGeom prst="rect">
            <a:avLst/>
          </a:prstGeom>
        </p:spPr>
        <p:txBody>
          <a:bodyPr/>
          <a:lstStyle/>
          <a:p>
            <a:pPr defTabSz="1389888">
              <a:defRPr spc="-99" sz="4700"/>
            </a:pPr>
            <a:r>
              <a:t>That’s it for today!</a:t>
            </a:r>
          </a:p>
          <a:p>
            <a:pPr defTabSz="1389888">
              <a:defRPr spc="-99" sz="4700"/>
            </a:pPr>
            <a:r>
              <a:t>Now let’s do some exercises.</a:t>
            </a:r>
          </a:p>
        </p:txBody>
      </p:sp>
    </p:spTree>
  </p:cSld>
  <p:clrMapOvr>
    <a:masterClrMapping/>
  </p:clrMapOvr>
  <mc:AlternateContent xmlns:mc="http://schemas.openxmlformats.org/markup-compatibility/2006">
    <mc:Choice xmlns:p14="http://schemas.microsoft.com/office/powerpoint/2010/main" Requires="p14">
      <p:transition spd="slow" advClick="1" p14:dur="1200">
        <p14:flip dir="r"/>
      </p:transition>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87" name="That’s it for today!…"/>
          <p:cNvSpPr txBox="1"/>
          <p:nvPr>
            <p:ph type="title"/>
          </p:nvPr>
        </p:nvSpPr>
        <p:spPr>
          <a:xfrm>
            <a:off x="1219200" y="419213"/>
            <a:ext cx="21945600" cy="1727201"/>
          </a:xfrm>
          <a:prstGeom prst="rect">
            <a:avLst/>
          </a:prstGeom>
        </p:spPr>
        <p:txBody>
          <a:bodyPr/>
          <a:lstStyle/>
          <a:p>
            <a:pPr defTabSz="1389888">
              <a:defRPr spc="-99" sz="4700"/>
            </a:pPr>
            <a:r>
              <a:t>That’s it for today!</a:t>
            </a:r>
          </a:p>
          <a:p>
            <a:pPr defTabSz="1389888">
              <a:defRPr spc="-99" sz="4700"/>
            </a:pPr>
            <a:r>
              <a:t>Now let’s do some exercises.</a:t>
            </a:r>
          </a:p>
        </p:txBody>
      </p:sp>
      <p:pic>
        <p:nvPicPr>
          <p:cNvPr id="588" name="Captură de ecran din 2024-10-28 la 00.34.49.png" descr="Captură de ecran din 2024-10-28 la 00.34.49.png"/>
          <p:cNvPicPr>
            <a:picLocks noChangeAspect="1"/>
          </p:cNvPicPr>
          <p:nvPr/>
        </p:nvPicPr>
        <p:blipFill>
          <a:blip r:embed="rId2">
            <a:extLst/>
          </a:blip>
          <a:stretch>
            <a:fillRect/>
          </a:stretch>
        </p:blipFill>
        <p:spPr>
          <a:xfrm>
            <a:off x="5480173" y="2595141"/>
            <a:ext cx="13423654" cy="9081356"/>
          </a:xfrm>
          <a:prstGeom prst="rect">
            <a:avLst/>
          </a:prstGeom>
          <a:ln w="12700">
            <a:miter lim="400000"/>
          </a:ln>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23_ClassicWhite">
  <a:themeElements>
    <a:clrScheme name="23_ClassicWhite">
      <a:dk1>
        <a:srgbClr val="000000"/>
      </a:dk1>
      <a:lt1>
        <a:srgbClr val="FFFFFF"/>
      </a:lt1>
      <a:dk2>
        <a:srgbClr val="A7A7A7"/>
      </a:dk2>
      <a:lt2>
        <a:srgbClr val="535353"/>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Helvetica"/>
        <a:ea typeface="Helvetica"/>
        <a:cs typeface="Helvetica"/>
      </a:majorFont>
      <a:minorFont>
        <a:latin typeface="Helvetica Neue"/>
        <a:ea typeface="Helvetica Neue"/>
        <a:cs typeface="Helvetica Neue"/>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7"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Bold"/>
            <a:ea typeface="Canela Bold"/>
            <a:cs typeface="Canela Bold"/>
            <a:sym typeface="Canela Bold"/>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7"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Bold"/>
            <a:ea typeface="Canela Bold"/>
            <a:cs typeface="Canela Bold"/>
            <a:sym typeface="Canela Bold"/>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23_ClassicWhite">
  <a:themeElements>
    <a:clrScheme name="23_ClassicWhite">
      <a:dk1>
        <a:srgbClr val="000000"/>
      </a:dk1>
      <a:lt1>
        <a:srgbClr val="FFFFFF"/>
      </a:lt1>
      <a:dk2>
        <a:srgbClr val="A7A7A7"/>
      </a:dk2>
      <a:lt2>
        <a:srgbClr val="535353"/>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Helvetica"/>
        <a:ea typeface="Helvetica"/>
        <a:cs typeface="Helvetica"/>
      </a:majorFont>
      <a:minorFont>
        <a:latin typeface="Helvetica Neue"/>
        <a:ea typeface="Helvetica Neue"/>
        <a:cs typeface="Helvetica Neue"/>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7"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Bold"/>
            <a:ea typeface="Canela Bold"/>
            <a:cs typeface="Canela Bold"/>
            <a:sym typeface="Canela Bold"/>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7"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Bold"/>
            <a:ea typeface="Canela Bold"/>
            <a:cs typeface="Canela Bold"/>
            <a:sym typeface="Canela Bold"/>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